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</p:sldIdLst>
  <p:sldSz cx="13716000" cy="180975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2.xlsx"/></Relationships>
</file>

<file path=ppt/charts/chart1.xml><?xml version="1.0" encoding="utf-8"?>
<ns0:chartSpace xmlns:ns0="http://schemas.openxmlformats.org/drawingml/2006/chart" xmlns:ns1="http://schemas.openxmlformats.org/markup-compatibility/2006" xmlns:ns2="http://schemas.microsoft.com/office/drawing/2007/8/2/chart" xmlns:ns3="http://schemas.openxmlformats.org/drawingml/2006/main" xmlns:ns4="https://web.wps.cn/et/2018/main" xmlns:ns5="http://schemas.openxmlformats.org/officeDocument/2006/relationships">
  <ns0:date1904 val="0"/>
  <ns0:lang val="zh-CN"/>
  <ns0:roundedCorners val="0"/>
  <ns1:AlternateContent>
    <ns1:Choice Requires="c14">
      <ns2:style val="102"/>
    </ns1:Choice>
    <ns1:Fallback>
      <ns0:style val="2"/>
    </ns1:Fallback>
  </ns1:AlternateContent>
  <ns0:chart>
    <ns0:autoTitleDeleted val="1"/>
    <ns0:plotArea>
      <ns0:layout/>
      <ns0:scatterChart>
        <ns0:scatterStyle val="lineMarker"/>
        <ns0:varyColors val="0"/>
        <ns0:ser>
          <ns0:idx val="0"/>
          <ns0:order val="0"/>
          <ns0:tx>
            <ns0:strRef>
              <ns0:f>Best feasible recovery</ns0:f>
              <ns0:strCache>
                <ns0:ptCount val="1"/>
                <ns0:pt idx="0">
                  <ns0:v>Best feasible recovery</ns0:v>
                </ns0:pt>
              </ns0:strCache>
            </ns0:strRef>
          </ns0:tx>
          <ns0:spPr>
            <ns3:ln w="23813" cap="rnd">
              <ns3:solidFill>
                <ns3:srgbClr val="0066DB"/>
              </ns3:solidFill>
              <ns3:prstDash val="solid"/>
              <ns3:round/>
            </ns3:ln>
          </ns0:spPr>
          <ns0:marker>
            <ns0:symbol val="none"/>
          </ns0:marker>
          <ns0:dLbls>
            <ns0:delete val="1"/>
          </ns0:dLbls>
          <ns0:xVal>
            <ns0:numRef>
              <ns0:f>'Chart Data'!$A$2:$A$24</ns0:f>
              <ns0:numCache>
                <ns0:formatCode>General</ns0:formatCode>
                <ns0:ptCount val="23"/>
                <ns0:pt idx="0">
                  <ns0:v>1</ns0:v>
                </ns0:pt>
                <ns0:pt idx="1">
                  <ns0:v>2</ns0:v>
                </ns0:pt>
                <ns0:pt idx="2">
                  <ns0:v>2</ns0:v>
                </ns0:pt>
                <ns0:pt idx="3">
                  <ns0:v>3</ns0:v>
                </ns0:pt>
                <ns0:pt idx="4">
                  <ns0:v>3</ns0:v>
                </ns0:pt>
                <ns0:pt idx="5">
                  <ns0:v>4</ns0:v>
                </ns0:pt>
                <ns0:pt idx="6">
                  <ns0:v>4</ns0:v>
                </ns0:pt>
                <ns0:pt idx="7">
                  <ns0:v>5</ns0:v>
                </ns0:pt>
                <ns0:pt idx="8">
                  <ns0:v>5</ns0:v>
                </ns0:pt>
                <ns0:pt idx="9">
                  <ns0:v>6</ns0:v>
                </ns0:pt>
                <ns0:pt idx="10">
                  <ns0:v>6</ns0:v>
                </ns0:pt>
                <ns0:pt idx="11">
                  <ns0:v>7</ns0:v>
                </ns0:pt>
                <ns0:pt idx="12">
                  <ns0:v>7</ns0:v>
                </ns0:pt>
                <ns0:pt idx="13">
                  <ns0:v>8</ns0:v>
                </ns0:pt>
                <ns0:pt idx="14">
                  <ns0:v>8</ns0:v>
                </ns0:pt>
                <ns0:pt idx="15">
                  <ns0:v>9</ns0:v>
                </ns0:pt>
                <ns0:pt idx="16">
                  <ns0:v>9</ns0:v>
                </ns0:pt>
                <ns0:pt idx="17">
                  <ns0:v>10</ns0:v>
                </ns0:pt>
                <ns0:pt idx="18">
                  <ns0:v>10</ns0:v>
                </ns0:pt>
                <ns0:pt idx="19">
                  <ns0:v>11</ns0:v>
                </ns0:pt>
                <ns0:pt idx="20">
                  <ns0:v>11</ns0:v>
                </ns0:pt>
                <ns0:pt idx="21">
                  <ns0:v>12</ns0:v>
                </ns0:pt>
                <ns0:pt idx="22">
                  <ns0:v>12</ns0:v>
                </ns0:pt>
              </ns0:numCache>
            </ns0:numRef>
          </ns0:xVal>
          <ns0:yVal>
            <ns0:numRef>
              <ns0:f>'Chart Data'!$B$2:$B$24</ns0:f>
              <ns0:numCache>
                <ns0:formatCode>0</ns0:formatCode>
                <ns0:ptCount val="23"/>
                <ns0:pt idx="0">
                  <ns0:v>34.6996903419</ns0:v>
                </ns0:pt>
                <ns0:pt idx="1">
                  <ns0:v>34.6996903419</ns0:v>
                </ns0:pt>
                <ns0:pt idx="2">
                  <ns0:v>34.6996903419</ns0:v>
                </ns0:pt>
                <ns0:pt idx="3">
                  <ns0:v>34.6996903419</ns0:v>
                </ns0:pt>
                <ns0:pt idx="4">
                  <ns0:v>34.6996903419</ns0:v>
                </ns0:pt>
                <ns0:pt idx="5">
                  <ns0:v>34.6996903419</ns0:v>
                </ns0:pt>
                <ns0:pt idx="6">
                  <ns0:v>37.7448230982</ns0:v>
                </ns0:pt>
                <ns0:pt idx="7">
                  <ns0:v>37.7448230982</ns0:v>
                </ns0:pt>
                <ns0:pt idx="8">
                  <ns0:v>37.7448230982</ns0:v>
                </ns0:pt>
                <ns0:pt idx="9">
                  <ns0:v>37.7448230982</ns0:v>
                </ns0:pt>
                <ns0:pt idx="10">
                  <ns0:v>45.8717465401</ns0:v>
                </ns0:pt>
                <ns0:pt idx="11">
                  <ns0:v>45.8717465401</ns0:v>
                </ns0:pt>
                <ns0:pt idx="12">
                  <ns0:v>45.8717465401</ns0:v>
                </ns0:pt>
                <ns0:pt idx="13">
                  <ns0:v>45.8717465401</ns0:v>
                </ns0:pt>
                <ns0:pt idx="14">
                  <ns0:v>49.1521984339</ns0:v>
                </ns0:pt>
                <ns0:pt idx="15">
                  <ns0:v>49.1521984339</ns0:v>
                </ns0:pt>
                <ns0:pt idx="16">
                  <ns0:v>49.8474687338</ns0:v>
                </ns0:pt>
                <ns0:pt idx="17">
                  <ns0:v>49.8474687338</ns0:v>
                </ns0:pt>
                <ns0:pt idx="18">
                  <ns0:v>51.1735856533</ns0:v>
                </ns0:pt>
                <ns0:pt idx="19">
                  <ns0:v>51.1735856533</ns0:v>
                </ns0:pt>
                <ns0:pt idx="20">
                  <ns0:v>51.1735856533</ns0:v>
                </ns0:pt>
                <ns0:pt idx="21">
                  <ns0:v>51.1735856533</ns0:v>
                </ns0:pt>
                <ns0:pt idx="22">
                  <ns0:v>51.1735856533</ns0:v>
                </ns0:pt>
              </ns0:numCache>
            </ns0:numRef>
          </ns0:yVal>
          <ns0:smooth val="0"/>
        </ns0:ser>
        <ns0:ser>
          <ns0:idx val="1"/>
          <ns0:order val="1"/>
          <ns0:tx>
            <ns0:strRef>
              <ns0:f>Feasible observations</ns0:f>
              <ns0:strCache>
                <ns0:ptCount val="1"/>
                <ns0:pt idx="0">
                  <ns0:v>Feasible observations</ns0:v>
                </ns0:pt>
              </ns0:strCache>
            </ns0:strRef>
          </ns0:tx>
          <ns0:spPr>
            <ns3:ln w="0" cap="rnd">
              <ns3:noFill/>
              <ns3:prstDash val="solid"/>
              <ns3:round/>
            </ns3:ln>
          </ns0:spPr>
          <ns0:marker>
            <ns0:symbol val="circle"/>
            <ns0:size val="8"/>
            <ns0:spPr>
              <ns3:solidFill>
                <ns3:srgbClr val="0066DB"/>
              </ns3:solidFill>
              <ns3:ln w="0">
                <ns3:noFill/>
                <ns3:prstDash val="solid"/>
                <ns3:round/>
              </ns3:ln>
            </ns0:spPr>
          </ns0:marker>
          <ns0:dLbls>
            <ns0:delete val="1"/>
          </ns0:dLbls>
          <ns0:xVal>
            <ns0:numRef>
              <ns0:f>'Chart Data'!$C$2:$C$11</ns0:f>
              <ns0:numCache>
                <ns0:formatCode>General</ns0:formatCode>
                <ns0:ptCount val="10"/>
                <ns0:pt idx="0">
                  <ns0:v>1</ns0:v>
                </ns0:pt>
                <ns0:pt idx="1">
                  <ns0:v>2</ns0:v>
                </ns0:pt>
                <ns0:pt idx="2">
                  <ns0:v>3</ns0:v>
                </ns0:pt>
                <ns0:pt idx="3">
                  <ns0:v>4</ns0:v>
                </ns0:pt>
                <ns0:pt idx="4">
                  <ns0:v>6</ns0:v>
                </ns0:pt>
                <ns0:pt idx="5">
                  <ns0:v>8</ns0:v>
                </ns0:pt>
                <ns0:pt idx="6">
                  <ns0:v>9</ns0:v>
                </ns0:pt>
                <ns0:pt idx="7">
                  <ns0:v>10</ns0:v>
                </ns0:pt>
                <ns0:pt idx="8">
                  <ns0:v>11</ns0:v>
                </ns0:pt>
                <ns0:pt idx="9">
                  <ns0:v>12</ns0:v>
                </ns0:pt>
              </ns0:numCache>
            </ns0:numRef>
          </ns0:xVal>
          <ns0:yVal>
            <ns0:numRef>
              <ns0:f>'Chart Data'!$D$2:$D$11</ns0:f>
              <ns0:numCache>
                <ns0:formatCode>0</ns0:formatCode>
                <ns0:ptCount val="10"/>
                <ns0:pt idx="0">
                  <ns0:v>34.6996903419</ns0:v>
                </ns0:pt>
                <ns0:pt idx="1">
                  <ns0:v>30.7044506073</ns0:v>
                </ns0:pt>
                <ns0:pt idx="2">
                  <ns0:v>31.3552498817</ns0:v>
                </ns0:pt>
                <ns0:pt idx="3">
                  <ns0:v>37.7448230982</ns0:v>
                </ns0:pt>
                <ns0:pt idx="4">
                  <ns0:v>45.8717465401</ns0:v>
                </ns0:pt>
                <ns0:pt idx="5">
                  <ns0:v>49.1521984339</ns0:v>
                </ns0:pt>
                <ns0:pt idx="6">
                  <ns0:v>49.8474687338</ns0:v>
                </ns0:pt>
                <ns0:pt idx="7">
                  <ns0:v>51.1735856533</ns0:v>
                </ns0:pt>
                <ns0:pt idx="8">
                  <ns0:v>50.2698302269</ns0:v>
                </ns0:pt>
                <ns0:pt idx="9">
                  <ns0:v>50.4391551018</ns0:v>
                </ns0:pt>
              </ns0:numCache>
            </ns0:numRef>
          </ns0:yVal>
          <ns0:smooth val="0"/>
        </ns0:ser>
        <ns0:ser>
          <ns0:idx val="2"/>
          <ns0:order val="2"/>
          <ns0:tx>
            <ns0:strRef>
              <ns0:f>Infeasible observations</ns0:f>
              <ns0:strCache>
                <ns0:ptCount val="1"/>
                <ns0:pt idx="0">
                  <ns0:v>Infeasible observations</ns0:v>
                </ns0:pt>
              </ns0:strCache>
            </ns0:strRef>
          </ns0:tx>
          <ns0:spPr>
            <ns3:ln w="0" cap="rnd">
              <ns3:noFill/>
              <ns3:prstDash val="solid"/>
              <ns3:round/>
            </ns3:ln>
          </ns0:spPr>
          <ns0:marker>
            <ns0:symbol val="x"/>
            <ns0:size val="8"/>
            <ns0:spPr>
              <ns3:noFill/>
              <ns3:ln w="12700">
                <ns3:solidFill>
                  <ns3:srgbClr val="A35F42"/>
                </ns3:solidFill>
              </ns3:ln>
            </ns0:spPr>
          </ns0:marker>
          <ns0:dLbls>
            <ns0:delete val="1"/>
          </ns0:dLbls>
          <ns0:xVal>
            <ns0:numRef>
              <ns0:f>'Chart Data'!$E$2:$E$3</ns0:f>
              <ns0:numCache>
                <ns0:formatCode>General</ns0:formatCode>
                <ns0:ptCount val="2"/>
                <ns0:pt idx="0">
                  <ns0:v>5</ns0:v>
                </ns0:pt>
                <ns0:pt idx="1">
                  <ns0:v>7</ns0:v>
                </ns0:pt>
              </ns0:numCache>
            </ns0:numRef>
          </ns0:xVal>
          <ns0:yVal>
            <ns0:numRef>
              <ns0:f>'Chart Data'!$F$2:$F$3</ns0:f>
              <ns0:numCache>
                <ns0:formatCode>0</ns0:formatCode>
                <ns0:ptCount val="2"/>
                <ns0:pt idx="0">
                  <ns0:v>44.7624653578</ns0:v>
                </ns0:pt>
                <ns0:pt idx="1">
                  <ns0:v>31.3027799129</ns0:v>
                </ns0:pt>
              </ns0:numCache>
            </ns0:numRef>
          </ns0:yVal>
          <ns0:smooth val="0"/>
        </ns0:ser>
        <ns0:dLbls>
          <ns0:showLegendKey val="0"/>
          <ns0:showVal val="0"/>
          <ns0:showCatName val="0"/>
          <ns0:showSerName val="0"/>
          <ns0:showPercent val="0"/>
          <ns0:showBubbleSize val="0"/>
        </ns0:dLbls>
        <ns0:axId val="48650112"/>
        <ns0:axId val="48672768"/>
      </ns0:scatterChart>
      <ns0:valAx>
        <ns0:axId val="48650112"/>
        <ns0:scaling>
          <ns0:orientation val="minMax"/>
          <ns0:max val="12"/>
          <ns0:min val="0"/>
        </ns0:scaling>
        <ns0:delete val="0"/>
        <ns0:axPos val="b"/>
        <ns0:title>
          <ns0:tx>
            <ns0:rich>
              <ns3:bodyPr rot="0" spcFirstLastPara="0" vertOverflow="ellipsis" vert="horz" wrap="square" anchor="ctr" anchorCtr="1"/>
              <ns3:lstStyle/>
              <ns3:p>
                <ns3:pPr>
                  <ns3:defRPr lang="zh-CN" sz="1000" b="0" i="0" u="none" strike="noStrike" kern="1200" baseline="0">
                    <ns3:solidFill>
                      <ns3:schemeClr val="tx1"/>
                    </ns3:solidFill>
                    <ns3:latin typeface="+mn-lt"/>
                    <ns3:ea typeface="+mn-ea"/>
                    <ns3:cs typeface="+mn-cs"/>
                  </ns3:defRPr>
                </ns3:pPr>
                <ns3:r>
                  <ns3:rPr sz="1500" b="0">
                    <ns3:solidFill>
                      <ns3:srgbClr val="24292D"/>
                    </ns3:solidFill>
                    <ns3:latin typeface="Arial" panose="020B0604020202020204"/>
                    <ns3:ea typeface="Arial" panose="020B0604020202020204"/>
                    <ns3:cs typeface="Arial" panose="020B0604020202020204"/>
                  </ns3:rPr>
                  <ns3:t>Batch</ns3:t>
                </ns3:r>
                <ns3:endParaRPr sz="1500" b="0">
                  <ns3:solidFill>
                    <ns3:srgbClr val="24292D"/>
                  </ns3:solidFill>
                  <ns3:latin typeface="Arial" panose="020B0604020202020204"/>
                  <ns3:ea typeface="Arial" panose="020B0604020202020204"/>
                  <ns3:cs typeface="Arial" panose="020B0604020202020204"/>
                </ns3:endParaRPr>
              </ns3:p>
            </ns0:rich>
          </ns0:tx>
          <ns0:layout/>
          <ns0:overlay val="0"/>
        </ns0:title>
        <ns0:numFmt formatCode="0" sourceLinked="1"/>
        <ns0:majorTickMark val="none"/>
        <ns0:minorTickMark val="none"/>
        <ns0:tickLblPos val="nextTo"/>
        <ns0:spPr>
          <ns3:ln w="12383">
            <ns3:solidFill>
              <ns3:srgbClr val="24292D"/>
            </ns3:solidFill>
            <ns3:prstDash val="solid"/>
            <ns3:round/>
          </ns3:ln>
        </ns0:spPr>
        <ns0:txPr>
          <ns3:bodyPr rot="-60000000" spcFirstLastPara="0" vertOverflow="ellipsis" vert="horz" wrap="square" anchor="ctr" anchorCtr="1"/>
          <ns3:lstStyle/>
          <ns3:p>
            <ns3:pPr>
              <ns3:defRPr lang="zh-CN" sz="1350" b="0" i="0" u="none" strike="noStrike" kern="1200" baseline="0">
                <ns3:solidFill>
                  <ns3:srgbClr val="24292D"/>
                </ns3:solidFill>
                <ns3:latin typeface="Arial" panose="020B0604020202020204"/>
                <ns3:ea typeface="Arial" panose="020B0604020202020204"/>
                <ns3:cs typeface="Arial" panose="020B0604020202020204"/>
              </ns3:defRPr>
            </ns3:pPr>
          </ns3:p>
        </ns0:txPr>
        <ns0:crossAx val="48672768"/>
        <ns0:crosses val="min"/>
        <ns0:crossBetween val="midCat"/>
        <ns0:majorUnit val="3"/>
      </ns0:valAx>
      <ns0:valAx>
        <ns0:axId val="48672768"/>
        <ns0:scaling>
          <ns0:orientation val="minMax"/>
          <ns0:max val="65"/>
          <ns0:min val="20"/>
        </ns0:scaling>
        <ns0:delete val="0"/>
        <ns0:axPos val="l"/>
        <ns0:title>
          <ns0:tx>
            <ns0:rich>
              <ns3:bodyPr rot="-5400000" spcFirstLastPara="0" vertOverflow="ellipsis" vert="horz" wrap="square" anchor="ctr" anchorCtr="1"/>
              <ns3:lstStyle/>
              <ns3:p>
                <ns3:pPr>
                  <ns3:defRPr lang="zh-CN" sz="1000" b="0" i="0" u="none" strike="noStrike" kern="1200" baseline="0">
                    <ns3:solidFill>
                      <ns3:schemeClr val="tx1"/>
                    </ns3:solidFill>
                    <ns3:latin typeface="+mn-lt"/>
                    <ns3:ea typeface="+mn-ea"/>
                    <ns3:cs typeface="+mn-cs"/>
                  </ns3:defRPr>
                </ns3:pPr>
                <ns3:r>
                  <ns3:rPr sz="1500" b="0">
                    <ns3:solidFill>
                      <ns3:srgbClr val="24292D"/>
                    </ns3:solidFill>
                    <ns3:latin typeface="Arial" panose="020B0604020202020204"/>
                    <ns3:ea typeface="Arial" panose="020B0604020202020204"/>
                    <ns3:cs typeface="Arial" panose="020B0604020202020204"/>
                  </ns3:rPr>
                  <ns3:t>Recovery (%)</ns3:t>
                </ns3:r>
                <ns3:endParaRPr sz="1500" b="0">
                  <ns3:solidFill>
                    <ns3:srgbClr val="24292D"/>
                  </ns3:solidFill>
                  <ns3:latin typeface="Arial" panose="020B0604020202020204"/>
                  <ns3:ea typeface="Arial" panose="020B0604020202020204"/>
                  <ns3:cs typeface="Arial" panose="020B0604020202020204"/>
                </ns3:endParaRPr>
              </ns3:p>
            </ns0:rich>
          </ns0:tx>
          <ns0:layout/>
          <ns0:overlay val="0"/>
        </ns0:title>
        <ns0:numFmt formatCode="0" sourceLinked="1"/>
        <ns0:majorTickMark val="none"/>
        <ns0:minorTickMark val="none"/>
        <ns0:tickLblPos val="nextTo"/>
        <ns0:spPr>
          <ns3:ln w="12383">
            <ns3:solidFill>
              <ns3:srgbClr val="24292D"/>
            </ns3:solidFill>
            <ns3:prstDash val="solid"/>
            <ns3:round/>
          </ns3:ln>
        </ns0:spPr>
        <ns0:txPr>
          <ns3:bodyPr rot="-60000000" spcFirstLastPara="0" vertOverflow="ellipsis" vert="horz" wrap="square" anchor="ctr" anchorCtr="1"/>
          <ns3:lstStyle/>
          <ns3:p>
            <ns3:pPr>
              <ns3:defRPr lang="zh-CN" sz="1350" b="0" i="0" u="none" strike="noStrike" kern="1200" baseline="0">
                <ns3:solidFill>
                  <ns3:srgbClr val="24292D"/>
                </ns3:solidFill>
                <ns3:latin typeface="Arial" panose="020B0604020202020204"/>
                <ns3:ea typeface="Arial" panose="020B0604020202020204"/>
                <ns3:cs typeface="Arial" panose="020B0604020202020204"/>
              </ns3:defRPr>
            </ns3:pPr>
          </ns3:p>
        </ns0:txPr>
        <ns0:crossAx val="48650112"/>
        <ns0:crosses val="min"/>
        <ns0:crossBetween val="midCat"/>
        <ns0:majorUnit val="20"/>
      </ns0:valAx>
      <ns0:spPr>
        <ns3:solidFill>
          <ns3:srgbClr val="FFFFFF"/>
        </ns3:solidFill>
        <ns3:ln w="0">
          <ns3:noFill/>
        </ns3:ln>
      </ns0:spPr>
    </ns0:plotArea>
    <ns0:plotVisOnly val="1"/>
    <ns0:dispBlanksAs val="gap"/>
    <ns0:showDLblsOverMax val="0"/>
    <ns0:extLst>
      <ns0:ext uri="{0b15fc19-7d7d-44ad-8c2d-2c3a37ce22c3}">
        <ns4:chartProps chartId="{cdfbc5b6-30d3-4b26-9477-5058a8f65470}"/>
      </ns0:ext>
    </ns0:extLst>
  </ns0:chart>
  <ns0:spPr>
    <ns3:solidFill>
      <ns3:srgbClr val="FFFFFF"/>
    </ns3:solidFill>
    <ns3:ln w="0">
      <ns3:noFill/>
    </ns3:ln>
  </ns0:spPr>
  <ns0:txPr>
    <ns3:bodyPr/>
    <ns3:lstStyle/>
    <ns3:p>
      <ns3:pPr>
        <ns3:defRPr lang="zh-CN" b="0"/>
      </ns3:pPr>
    </ns3:p>
  </ns0:txPr>
  <ns0:externalData ns5:id="rId1">
    <ns0:autoUpdate val="0"/>
  </ns0:externalData>
</ns0:chartSpace>
</file>

<file path=ppt/charts/chart2.xml><?xml version="1.0" encoding="utf-8"?>
<ns0:chartSpace xmlns:ns0="http://schemas.openxmlformats.org/drawingml/2006/chart" xmlns:ns1="http://schemas.openxmlformats.org/markup-compatibility/2006" xmlns:ns2="http://schemas.microsoft.com/office/drawing/2007/8/2/chart" xmlns:ns3="http://schemas.openxmlformats.org/drawingml/2006/main" xmlns:ns4="https://web.wps.cn/et/2018/main" xmlns:ns5="http://schemas.openxmlformats.org/officeDocument/2006/relationships">
  <ns0:date1904 val="0"/>
  <ns0:lang val="zh-CN"/>
  <ns0:roundedCorners val="0"/>
  <ns1:AlternateContent>
    <ns1:Choice Requires="c14">
      <ns2:style val="102"/>
    </ns1:Choice>
    <ns1:Fallback>
      <ns0:style val="2"/>
    </ns1:Fallback>
  </ns1:AlternateContent>
  <ns0:chart>
    <ns0:autoTitleDeleted val="1"/>
    <ns0:plotArea>
      <ns0:layout/>
      <ns0:scatterChart>
        <ns0:scatterStyle val="lineMarker"/>
        <ns0:varyColors val="0"/>
        <ns0:ser>
          <ns0:idx val="0"/>
          <ns0:order val="0"/>
          <ns0:tx>
            <ns0:strRef>
              <ns0:f>Best feasible recovery</ns0:f>
              <ns0:strCache>
                <ns0:ptCount val="1"/>
                <ns0:pt idx="0">
                  <ns0:v>Best feasible recovery</ns0:v>
                </ns0:pt>
              </ns0:strCache>
            </ns0:strRef>
          </ns0:tx>
          <ns0:spPr>
            <ns3:ln w="23813" cap="rnd">
              <ns3:solidFill>
                <ns3:srgbClr val="009BB5"/>
              </ns3:solidFill>
              <ns3:prstDash val="solid"/>
              <ns3:round/>
            </ns3:ln>
          </ns0:spPr>
          <ns0:marker>
            <ns0:symbol val="none"/>
          </ns0:marker>
          <ns0:dLbls>
            <ns0:delete val="1"/>
          </ns0:dLbls>
          <ns0:xVal>
            <ns0:numRef>
              <ns0:f>'Chart Data'!$A$2:$A$10</ns0:f>
              <ns0:numCache>
                <ns0:formatCode>General</ns0:formatCode>
                <ns0:ptCount val="9"/>
                <ns0:pt idx="0">
                  <ns0:v>20</ns0:v>
                </ns0:pt>
                <ns0:pt idx="1">
                  <ns0:v>21</ns0:v>
                </ns0:pt>
                <ns0:pt idx="2">
                  <ns0:v>21</ns0:v>
                </ns0:pt>
                <ns0:pt idx="3">
                  <ns0:v>22</ns0:v>
                </ns0:pt>
                <ns0:pt idx="4">
                  <ns0:v>22</ns0:v>
                </ns0:pt>
                <ns0:pt idx="5">
                  <ns0:v>23</ns0:v>
                </ns0:pt>
                <ns0:pt idx="6">
                  <ns0:v>23</ns0:v>
                </ns0:pt>
                <ns0:pt idx="7">
                  <ns0:v>24</ns0:v>
                </ns0:pt>
                <ns0:pt idx="8">
                  <ns0:v>24</ns0:v>
                </ns0:pt>
              </ns0:numCache>
            </ns0:numRef>
          </ns0:xVal>
          <ns0:yVal>
            <ns0:numRef>
              <ns0:f>'Chart Data'!$B$2:$B$10</ns0:f>
              <ns0:numCache>
                <ns0:formatCode>0</ns0:formatCode>
                <ns0:ptCount val="9"/>
                <ns0:pt idx="0">
                  <ns0:v>52.870374918</ns0:v>
                </ns0:pt>
                <ns0:pt idx="1">
                  <ns0:v>52.870374918</ns0:v>
                </ns0:pt>
                <ns0:pt idx="2">
                  <ns0:v>55.2692890167</ns0:v>
                </ns0:pt>
                <ns0:pt idx="3">
                  <ns0:v>55.2692890167</ns0:v>
                </ns0:pt>
                <ns0:pt idx="4">
                  <ns0:v>56.9585680962</ns0:v>
                </ns0:pt>
                <ns0:pt idx="5">
                  <ns0:v>56.9585680962</ns0:v>
                </ns0:pt>
                <ns0:pt idx="6">
                  <ns0:v>56.9886684418</ns0:v>
                </ns0:pt>
                <ns0:pt idx="7">
                  <ns0:v>56.9886684418</ns0:v>
                </ns0:pt>
                <ns0:pt idx="8">
                  <ns0:v>56.9886684418</ns0:v>
                </ns0:pt>
              </ns0:numCache>
            </ns0:numRef>
          </ns0:yVal>
          <ns0:smooth val="0"/>
        </ns0:ser>
        <ns0:ser>
          <ns0:idx val="1"/>
          <ns0:order val="1"/>
          <ns0:tx>
            <ns0:strRef>
              <ns0:f>Feasible observations</ns0:f>
              <ns0:strCache>
                <ns0:ptCount val="1"/>
                <ns0:pt idx="0">
                  <ns0:v>Feasible observations</ns0:v>
                </ns0:pt>
              </ns0:strCache>
            </ns0:strRef>
          </ns0:tx>
          <ns0:spPr>
            <ns3:ln w="0" cap="rnd">
              <ns3:noFill/>
              <ns3:prstDash val="solid"/>
              <ns3:round/>
            </ns3:ln>
          </ns0:spPr>
          <ns0:marker>
            <ns0:symbol val="circle"/>
            <ns0:size val="8"/>
            <ns0:spPr>
              <ns3:solidFill>
                <ns3:srgbClr val="009BB5"/>
              </ns3:solidFill>
              <ns3:ln w="0">
                <ns3:noFill/>
                <ns3:prstDash val="solid"/>
                <ns3:round/>
              </ns3:ln>
            </ns0:spPr>
          </ns0:marker>
          <ns0:dLbls>
            <ns0:delete val="1"/>
          </ns0:dLbls>
          <ns0:xVal>
            <ns0:numRef>
              <ns0:f>'Chart Data'!$C$2:$C$6</ns0:f>
              <ns0:numCache>
                <ns0:formatCode>General</ns0:formatCode>
                <ns0:ptCount val="5"/>
                <ns0:pt idx="0">
                  <ns0:v>20</ns0:v>
                </ns0:pt>
                <ns0:pt idx="1">
                  <ns0:v>21</ns0:v>
                </ns0:pt>
                <ns0:pt idx="2">
                  <ns0:v>22</ns0:v>
                </ns0:pt>
                <ns0:pt idx="3">
                  <ns0:v>23</ns0:v>
                </ns0:pt>
                <ns0:pt idx="4">
                  <ns0:v>24</ns0:v>
                </ns0:pt>
              </ns0:numCache>
            </ns0:numRef>
          </ns0:xVal>
          <ns0:yVal>
            <ns0:numRef>
              <ns0:f>'Chart Data'!$D$2:$D$6</ns0:f>
              <ns0:numCache>
                <ns0:formatCode>0</ns0:formatCode>
                <ns0:ptCount val="5"/>
                <ns0:pt idx="0">
                  <ns0:v>52.870374918</ns0:v>
                </ns0:pt>
                <ns0:pt idx="1">
                  <ns0:v>55.2692890167</ns0:v>
                </ns0:pt>
                <ns0:pt idx="2">
                  <ns0:v>56.9585680962</ns0:v>
                </ns0:pt>
                <ns0:pt idx="3">
                  <ns0:v>56.9886684418</ns0:v>
                </ns0:pt>
                <ns0:pt idx="4">
                  <ns0:v>56.7886471748</ns0:v>
                </ns0:pt>
              </ns0:numCache>
            </ns0:numRef>
          </ns0:yVal>
          <ns0:smooth val="0"/>
        </ns0:ser>
        <ns0:ser>
          <ns0:idx val="2"/>
          <ns0:order val="2"/>
          <ns0:tx>
            <ns0:strRef>
              <ns0:f>Infeasible observations</ns0:f>
              <ns0:strCache>
                <ns0:ptCount val="1"/>
                <ns0:pt idx="0">
                  <ns0:v>Infeasible observations</ns0:v>
                </ns0:pt>
              </ns0:strCache>
            </ns0:strRef>
          </ns0:tx>
          <ns0:spPr>
            <ns3:ln w="0" cap="rnd">
              <ns3:noFill/>
              <ns3:prstDash val="solid"/>
              <ns3:round/>
            </ns3:ln>
          </ns0:spPr>
          <ns0:marker>
            <ns0:symbol val="x"/>
            <ns0:size val="8"/>
            <ns0:spPr>
              <ns3:noFill/>
              <ns3:ln w="12700">
                <ns3:solidFill>
                  <ns3:srgbClr val="A35F42"/>
                </ns3:solidFill>
              </ns3:ln>
            </ns0:spPr>
          </ns0:marker>
          <ns0:dLbls>
            <ns0:delete val="1"/>
          </ns0:dLbls>
          <ns0:xVal>
            <ns0:numRef>
              <ns0:f>'Chart Data'!$E$2:$E$20</ns0:f>
              <ns0:numCache>
                <ns0:formatCode>General</ns0:formatCode>
                <ns0:ptCount val="19"/>
                <ns0:pt idx="0">
                  <ns0:v>1</ns0:v>
                </ns0:pt>
                <ns0:pt idx="1">
                  <ns0:v>2</ns0:v>
                </ns0:pt>
                <ns0:pt idx="2">
                  <ns0:v>3</ns0:v>
                </ns0:pt>
                <ns0:pt idx="3">
                  <ns0:v>4</ns0:v>
                </ns0:pt>
                <ns0:pt idx="4">
                  <ns0:v>5</ns0:v>
                </ns0:pt>
                <ns0:pt idx="5">
                  <ns0:v>6</ns0:v>
                </ns0:pt>
                <ns0:pt idx="6">
                  <ns0:v>7</ns0:v>
                </ns0:pt>
                <ns0:pt idx="7">
                  <ns0:v>8</ns0:v>
                </ns0:pt>
                <ns0:pt idx="8">
                  <ns0:v>9</ns0:v>
                </ns0:pt>
                <ns0:pt idx="9">
                  <ns0:v>10</ns0:v>
                </ns0:pt>
                <ns0:pt idx="10">
                  <ns0:v>11</ns0:v>
                </ns0:pt>
                <ns0:pt idx="11">
                  <ns0:v>12</ns0:v>
                </ns0:pt>
                <ns0:pt idx="12">
                  <ns0:v>13</ns0:v>
                </ns0:pt>
                <ns0:pt idx="13">
                  <ns0:v>14</ns0:v>
                </ns0:pt>
                <ns0:pt idx="14">
                  <ns0:v>15</ns0:v>
                </ns0:pt>
                <ns0:pt idx="15">
                  <ns0:v>16</ns0:v>
                </ns0:pt>
                <ns0:pt idx="16">
                  <ns0:v>17</ns0:v>
                </ns0:pt>
                <ns0:pt idx="17">
                  <ns0:v>18</ns0:v>
                </ns0:pt>
                <ns0:pt idx="18">
                  <ns0:v>19</ns0:v>
                </ns0:pt>
              </ns0:numCache>
            </ns0:numRef>
          </ns0:xVal>
          <ns0:yVal>
            <ns0:numRef>
              <ns0:f>'Chart Data'!$F$2:$F$20</ns0:f>
              <ns0:numCache>
                <ns0:formatCode>0</ns0:formatCode>
                <ns0:ptCount val="19"/>
                <ns0:pt idx="0">
                  <ns0:v>37.5208616257</ns0:v>
                </ns0:pt>
                <ns0:pt idx="1">
                  <ns0:v>39.7665053606</ns0:v>
                </ns0:pt>
                <ns0:pt idx="2">
                  <ns0:v>23.2451826334</ns0:v>
                </ns0:pt>
                <ns0:pt idx="3">
                  <ns0:v>47.7206528187</ns0:v>
                </ns0:pt>
                <ns0:pt idx="4">
                  <ns0:v>38.1134063005</ns0:v>
                </ns0:pt>
                <ns0:pt idx="5">
                  <ns0:v>40.8400893211</ns0:v>
                </ns0:pt>
                <ns0:pt idx="6">
                  <ns0:v>40.2332872152</ns0:v>
                </ns0:pt>
                <ns0:pt idx="7">
                  <ns0:v>40.8462494612</ns0:v>
                </ns0:pt>
                <ns0:pt idx="8">
                  <ns0:v>46.9656139612</ns0:v>
                </ns0:pt>
                <ns0:pt idx="9">
                  <ns0:v>36.4954799414</ns0:v>
                </ns0:pt>
                <ns0:pt idx="10">
                  <ns0:v>42.1330988407</ns0:v>
                </ns0:pt>
                <ns0:pt idx="11">
                  <ns0:v>39.916524291</ns0:v>
                </ns0:pt>
                <ns0:pt idx="12">
                  <ns0:v>38.1688684225</ns0:v>
                </ns0:pt>
                <ns0:pt idx="13">
                  <ns0:v>38.6617660522</ns0:v>
                </ns0:pt>
                <ns0:pt idx="14">
                  <ns0:v>38.3515328169</ns0:v>
                </ns0:pt>
                <ns0:pt idx="15">
                  <ns0:v>38.310828805</ns0:v>
                </ns0:pt>
                <ns0:pt idx="16">
                  <ns0:v>31.7858457565</ns0:v>
                </ns0:pt>
                <ns0:pt idx="17">
                  <ns0:v>42.263302207</ns0:v>
                </ns0:pt>
                <ns0:pt idx="18">
                  <ns0:v>49.0144908428</ns0:v>
                </ns0:pt>
              </ns0:numCache>
            </ns0:numRef>
          </ns0:yVal>
          <ns0:smooth val="0"/>
        </ns0:ser>
        <ns0:dLbls>
          <ns0:showLegendKey val="0"/>
          <ns0:showVal val="0"/>
          <ns0:showCatName val="0"/>
          <ns0:showSerName val="0"/>
          <ns0:showPercent val="0"/>
          <ns0:showBubbleSize val="0"/>
        </ns0:dLbls>
        <ns0:axId val="48650112"/>
        <ns0:axId val="48672768"/>
      </ns0:scatterChart>
      <ns0:valAx>
        <ns0:axId val="48650112"/>
        <ns0:scaling>
          <ns0:orientation val="minMax"/>
          <ns0:max val="24"/>
          <ns0:min val="0"/>
        </ns0:scaling>
        <ns0:delete val="0"/>
        <ns0:axPos val="b"/>
        <ns0:title>
          <ns0:tx>
            <ns0:rich>
              <ns3:bodyPr rot="0" spcFirstLastPara="0" vertOverflow="ellipsis" vert="horz" wrap="square" anchor="ctr" anchorCtr="1"/>
              <ns3:lstStyle/>
              <ns3:p>
                <ns3:pPr>
                  <ns3:defRPr lang="zh-CN" sz="1000" b="0" i="0" u="none" strike="noStrike" kern="1200" baseline="0">
                    <ns3:solidFill>
                      <ns3:schemeClr val="tx1"/>
                    </ns3:solidFill>
                    <ns3:latin typeface="+mn-lt"/>
                    <ns3:ea typeface="+mn-ea"/>
                    <ns3:cs typeface="+mn-cs"/>
                  </ns3:defRPr>
                </ns3:pPr>
                <ns3:r>
                  <ns3:rPr sz="1500" b="0">
                    <ns3:solidFill>
                      <ns3:srgbClr val="24292D"/>
                    </ns3:solidFill>
                    <ns3:latin typeface="Arial" panose="020B0604020202020204"/>
                    <ns3:ea typeface="Arial" panose="020B0604020202020204"/>
                    <ns3:cs typeface="Arial" panose="020B0604020202020204"/>
                  </ns3:rPr>
                  <ns3:t>Batch</ns3:t>
                </ns3:r>
                <ns3:endParaRPr sz="1500" b="0">
                  <ns3:solidFill>
                    <ns3:srgbClr val="24292D"/>
                  </ns3:solidFill>
                  <ns3:latin typeface="Arial" panose="020B0604020202020204"/>
                  <ns3:ea typeface="Arial" panose="020B0604020202020204"/>
                  <ns3:cs typeface="Arial" panose="020B0604020202020204"/>
                </ns3:endParaRPr>
              </ns3:p>
            </ns0:rich>
          </ns0:tx>
          <ns0:layout/>
          <ns0:overlay val="0"/>
        </ns0:title>
        <ns0:numFmt formatCode="0" sourceLinked="1"/>
        <ns0:majorTickMark val="none"/>
        <ns0:minorTickMark val="none"/>
        <ns0:tickLblPos val="nextTo"/>
        <ns0:spPr>
          <ns3:ln w="12383">
            <ns3:solidFill>
              <ns3:srgbClr val="24292D"/>
            </ns3:solidFill>
            <ns3:prstDash val="solid"/>
            <ns3:round/>
          </ns3:ln>
        </ns0:spPr>
        <ns0:txPr>
          <ns3:bodyPr rot="-60000000" spcFirstLastPara="0" vertOverflow="ellipsis" vert="horz" wrap="square" anchor="ctr" anchorCtr="1"/>
          <ns3:lstStyle/>
          <ns3:p>
            <ns3:pPr>
              <ns3:defRPr lang="zh-CN" sz="1350" b="0" i="0" u="none" strike="noStrike" kern="1200" baseline="0">
                <ns3:solidFill>
                  <ns3:srgbClr val="24292D"/>
                </ns3:solidFill>
                <ns3:latin typeface="Arial" panose="020B0604020202020204"/>
                <ns3:ea typeface="Arial" panose="020B0604020202020204"/>
                <ns3:cs typeface="Arial" panose="020B0604020202020204"/>
              </ns3:defRPr>
            </ns3:pPr>
          </ns3:p>
        </ns0:txPr>
        <ns0:crossAx val="48672768"/>
        <ns0:crosses val="min"/>
        <ns0:crossBetween val="midCat"/>
        <ns0:majorUnit val="4"/>
      </ns0:valAx>
      <ns0:valAx>
        <ns0:axId val="48672768"/>
        <ns0:scaling>
          <ns0:orientation val="minMax"/>
          <ns0:max val="65"/>
          <ns0:min val="20"/>
        </ns0:scaling>
        <ns0:delete val="0"/>
        <ns0:axPos val="l"/>
        <ns0:title>
          <ns0:tx>
            <ns0:rich>
              <ns3:bodyPr rot="-5400000" spcFirstLastPara="0" vertOverflow="ellipsis" vert="horz" wrap="square" anchor="ctr" anchorCtr="1"/>
              <ns3:lstStyle/>
              <ns3:p>
                <ns3:pPr>
                  <ns3:defRPr lang="zh-CN" sz="1000" b="0" i="0" u="none" strike="noStrike" kern="1200" baseline="0">
                    <ns3:solidFill>
                      <ns3:schemeClr val="tx1"/>
                    </ns3:solidFill>
                    <ns3:latin typeface="+mn-lt"/>
                    <ns3:ea typeface="+mn-ea"/>
                    <ns3:cs typeface="+mn-cs"/>
                  </ns3:defRPr>
                </ns3:pPr>
                <ns3:r>
                  <ns3:rPr sz="1500" b="0">
                    <ns3:solidFill>
                      <ns3:srgbClr val="24292D"/>
                    </ns3:solidFill>
                    <ns3:latin typeface="Arial" panose="020B0604020202020204"/>
                    <ns3:ea typeface="Arial" panose="020B0604020202020204"/>
                    <ns3:cs typeface="Arial" panose="020B0604020202020204"/>
                  </ns3:rPr>
                  <ns3:t>Recovery (%)</ns3:t>
                </ns3:r>
                <ns3:endParaRPr sz="1500" b="0">
                  <ns3:solidFill>
                    <ns3:srgbClr val="24292D"/>
                  </ns3:solidFill>
                  <ns3:latin typeface="Arial" panose="020B0604020202020204"/>
                  <ns3:ea typeface="Arial" panose="020B0604020202020204"/>
                  <ns3:cs typeface="Arial" panose="020B0604020202020204"/>
                </ns3:endParaRPr>
              </ns3:p>
            </ns0:rich>
          </ns0:tx>
          <ns0:layout/>
          <ns0:overlay val="0"/>
        </ns0:title>
        <ns0:numFmt formatCode="0" sourceLinked="1"/>
        <ns0:majorTickMark val="none"/>
        <ns0:minorTickMark val="none"/>
        <ns0:tickLblPos val="nextTo"/>
        <ns0:spPr>
          <ns3:ln w="12383">
            <ns3:solidFill>
              <ns3:srgbClr val="24292D"/>
            </ns3:solidFill>
            <ns3:prstDash val="solid"/>
            <ns3:round/>
          </ns3:ln>
        </ns0:spPr>
        <ns0:txPr>
          <ns3:bodyPr rot="-60000000" spcFirstLastPara="0" vertOverflow="ellipsis" vert="horz" wrap="square" anchor="ctr" anchorCtr="1"/>
          <ns3:lstStyle/>
          <ns3:p>
            <ns3:pPr>
              <ns3:defRPr lang="zh-CN" sz="1350" b="0" i="0" u="none" strike="noStrike" kern="1200" baseline="0">
                <ns3:solidFill>
                  <ns3:srgbClr val="24292D"/>
                </ns3:solidFill>
                <ns3:latin typeface="Arial" panose="020B0604020202020204"/>
                <ns3:ea typeface="Arial" panose="020B0604020202020204"/>
                <ns3:cs typeface="Arial" panose="020B0604020202020204"/>
              </ns3:defRPr>
            </ns3:pPr>
          </ns3:p>
        </ns0:txPr>
        <ns0:crossAx val="48650112"/>
        <ns0:crosses val="min"/>
        <ns0:crossBetween val="midCat"/>
        <ns0:majorUnit val="20"/>
      </ns0:valAx>
      <ns0:spPr>
        <ns3:solidFill>
          <ns3:srgbClr val="FFFFFF"/>
        </ns3:solidFill>
        <ns3:ln w="0">
          <ns3:noFill/>
        </ns3:ln>
      </ns0:spPr>
    </ns0:plotArea>
    <ns0:plotVisOnly val="1"/>
    <ns0:dispBlanksAs val="gap"/>
    <ns0:showDLblsOverMax val="0"/>
    <ns0:extLst>
      <ns0:ext uri="{0b15fc19-7d7d-44ad-8c2d-2c3a37ce22c3}">
        <ns4:chartProps chartId="{f78899b9-2687-4189-be46-d74f933deeff}"/>
      </ns0:ext>
    </ns0:extLst>
  </ns0:chart>
  <ns0:spPr>
    <ns3:solidFill>
      <ns3:srgbClr val="FFFFFF"/>
    </ns3:solidFill>
    <ns3:ln w="0">
      <ns3:noFill/>
    </ns3:ln>
  </ns0:spPr>
  <ns0:txPr>
    <ns3:bodyPr/>
    <ns3:lstStyle/>
    <ns3:p>
      <ns3:pPr>
        <ns3:defRPr lang="zh-CN" b="0"/>
      </ns3:pPr>
    </ns3:p>
  </ns0:txPr>
  <ns0:externalData ns5:id="rId1">
    <ns0:autoUpdate val="0"/>
  </ns0:externalData>
</ns0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Selected original W05 Aligned independent sessions, preserved v16/v15 artwork and retained batch values. Regular-weight editable typography; lowercase Arial bold panel letters match supplied Figure 1. Progress is best feasible observed recovery; no values before first feasible batch. All 36 batch results retained in source CSV. K1 reflections are later accounts. Figure footnotes moved to the manuscript caption. The illustration is not a population budget effect.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1.xml"/><Relationship Id="rId8" Type="http://schemas.openxmlformats.org/officeDocument/2006/relationships/slideLayout" Target="../slideLayouts/slideLayout1.xml"/><Relationship Id="rId7" Type="http://schemas.openxmlformats.org/officeDocument/2006/relationships/image" Target="../media/image5.png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3" Type="http://schemas.openxmlformats.org/officeDocument/2006/relationships/image" Target="../media/image1.png"/><Relationship Id="rId2" Type="http://schemas.openxmlformats.org/officeDocument/2006/relationships/chart" Target="../charts/chart2.xml"/><Relationship Id="rId1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153" name="图片 15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3716000" cy="3000000"/>
          </a:xfrm>
          <a:prstGeom prst="rect">
            <a:avLst/>
          </a:prstGeom>
        </p:spPr>
      </p:pic>
      <p:sp>
        <p:nvSpPr>
          <p:cNvPr id="2" name="矩形 1"/>
          <p:cNvSpPr>
            <a:spLocks noGrp="1"/>
          </p:cNvSpPr>
          <p:nvPr/>
        </p:nvSpPr>
        <p:spPr>
          <a:xfrm>
            <a:off x="192000" y="516000"/>
            <a:ext cx="9000000" cy="456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3" name="矩形 2"/>
          <p:cNvSpPr>
            <a:spLocks noGrp="1"/>
          </p:cNvSpPr>
          <p:nvPr/>
        </p:nvSpPr>
        <p:spPr>
          <a:xfrm>
            <a:off x="211050" y="516000"/>
            <a:ext cx="8961900" cy="456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/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161925" y="523875"/>
            <a:ext cx="3048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24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24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a</a:t>
            </a:r>
            <a:endParaRPr sz="2240" b="1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609600" y="523875"/>
            <a:ext cx="12573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65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5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How the research budget was used</a:t>
            </a:r>
            <a:endParaRPr sz="1650" b="0">
              <a:solidFill>
                <a:srgbClr val="24292D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360000" y="984000"/>
            <a:ext cx="6396000" cy="348000"/>
          </a:xfrm>
          <a:prstGeom prst="rect">
            <a:avLst/>
          </a:prstGeom>
          <a:solidFill>
            <a:srgbClr val="EAF6FC"/>
          </a:solidFill>
          <a:ln w="0">
            <a:noFill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379050" y="984000"/>
            <a:ext cx="6357900" cy="34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5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95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12 batches</a:t>
            </a:r>
            <a:endParaRPr sz="1950" b="0">
              <a:solidFill>
                <a:srgbClr val="24292D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7248000" y="984000"/>
            <a:ext cx="6324000" cy="348000"/>
          </a:xfrm>
          <a:prstGeom prst="rect">
            <a:avLst/>
          </a:prstGeom>
          <a:solidFill>
            <a:srgbClr val="EAF7FA"/>
          </a:solidFill>
          <a:ln w="0">
            <a:noFill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7267050" y="984000"/>
            <a:ext cx="6258450" cy="34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5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95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24 batches</a:t>
            </a:r>
            <a:endParaRPr sz="1950" b="0">
              <a:solidFill>
                <a:srgbClr val="24292D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857250" y="303847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500" b="0">
                <a:solidFill>
                  <a:srgbClr val="0066DB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0066DB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12-batch session</a:t>
            </a:r>
            <a:endParaRPr sz="1500" b="0">
              <a:solidFill>
                <a:srgbClr val="0066DB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graphicFrame>
        <p:nvGraphicFramePr>
          <p:cNvPr id="163" name="Chart"/>
          <p:cNvGraphicFramePr/>
          <p:nvPr/>
        </p:nvGraphicFramePr>
        <p:xfrm>
          <a:off x="219075" y="3400425"/>
          <a:ext cx="6477000" cy="2095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2" name="矩形 11"/>
          <p:cNvSpPr>
            <a:spLocks noGrp="1"/>
          </p:cNvSpPr>
          <p:nvPr/>
        </p:nvSpPr>
        <p:spPr>
          <a:xfrm>
            <a:off x="1238250" y="5562600"/>
            <a:ext cx="152400" cy="114300"/>
          </a:xfrm>
          <a:prstGeom prst="rect">
            <a:avLst/>
          </a:prstGeom>
          <a:solidFill>
            <a:srgbClr val="0066DB"/>
          </a:solidFill>
          <a:ln w="0">
            <a:noFill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1643063" y="5562600"/>
            <a:ext cx="152400" cy="114300"/>
          </a:xfrm>
          <a:prstGeom prst="rect">
            <a:avLst/>
          </a:prstGeom>
          <a:solidFill>
            <a:srgbClr val="0066DB"/>
          </a:solidFill>
          <a:ln w="0">
            <a:noFill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2047875" y="5562600"/>
            <a:ext cx="152400" cy="114300"/>
          </a:xfrm>
          <a:prstGeom prst="rect">
            <a:avLst/>
          </a:prstGeom>
          <a:solidFill>
            <a:srgbClr val="0066DB"/>
          </a:solidFill>
          <a:ln w="0">
            <a:noFill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2452688" y="5562600"/>
            <a:ext cx="152400" cy="114300"/>
          </a:xfrm>
          <a:prstGeom prst="rect">
            <a:avLst/>
          </a:prstGeom>
          <a:solidFill>
            <a:srgbClr val="0066DB"/>
          </a:solidFill>
          <a:ln w="0">
            <a:noFill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2857500" y="5562600"/>
            <a:ext cx="152400" cy="114300"/>
          </a:xfrm>
          <a:prstGeom prst="rect">
            <a:avLst/>
          </a:prstGeom>
          <a:solidFill>
            <a:srgbClr val="A35F42"/>
          </a:solidFill>
          <a:ln w="0">
            <a:noFill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3262313" y="5562600"/>
            <a:ext cx="152400" cy="114300"/>
          </a:xfrm>
          <a:prstGeom prst="rect">
            <a:avLst/>
          </a:prstGeom>
          <a:solidFill>
            <a:srgbClr val="0066DB"/>
          </a:solidFill>
          <a:ln w="0">
            <a:noFill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3667125" y="5562600"/>
            <a:ext cx="152400" cy="114300"/>
          </a:xfrm>
          <a:prstGeom prst="rect">
            <a:avLst/>
          </a:prstGeom>
          <a:solidFill>
            <a:srgbClr val="A35F42"/>
          </a:solidFill>
          <a:ln w="0">
            <a:noFill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4071938" y="5562600"/>
            <a:ext cx="152400" cy="114300"/>
          </a:xfrm>
          <a:prstGeom prst="rect">
            <a:avLst/>
          </a:prstGeom>
          <a:solidFill>
            <a:srgbClr val="0066DB"/>
          </a:solidFill>
          <a:ln w="0">
            <a:noFill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4476750" y="5562600"/>
            <a:ext cx="152400" cy="114300"/>
          </a:xfrm>
          <a:prstGeom prst="rect">
            <a:avLst/>
          </a:prstGeom>
          <a:solidFill>
            <a:srgbClr val="0066DB"/>
          </a:solidFill>
          <a:ln w="0">
            <a:noFill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4881563" y="5562600"/>
            <a:ext cx="152400" cy="114300"/>
          </a:xfrm>
          <a:prstGeom prst="rect">
            <a:avLst/>
          </a:prstGeom>
          <a:solidFill>
            <a:srgbClr val="0066DB"/>
          </a:solidFill>
          <a:ln w="0">
            <a:noFill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5286375" y="5562600"/>
            <a:ext cx="152400" cy="114300"/>
          </a:xfrm>
          <a:prstGeom prst="rect">
            <a:avLst/>
          </a:prstGeom>
          <a:solidFill>
            <a:srgbClr val="0066DB"/>
          </a:solidFill>
          <a:ln w="0">
            <a:noFill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5691188" y="5562600"/>
            <a:ext cx="152400" cy="114300"/>
          </a:xfrm>
          <a:prstGeom prst="rect">
            <a:avLst/>
          </a:prstGeom>
          <a:solidFill>
            <a:srgbClr val="0066DB"/>
          </a:solidFill>
          <a:ln w="0">
            <a:noFill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857250" y="5734050"/>
            <a:ext cx="6191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10/12 quality-feasible; first feasible: batch 1</a:t>
            </a:r>
            <a:endParaRPr sz="1350" b="0">
              <a:solidFill>
                <a:srgbClr val="24292D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7715250" y="303847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500" b="0">
                <a:solidFill>
                  <a:srgbClr val="009BB5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009BB5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24-batch session</a:t>
            </a:r>
            <a:endParaRPr sz="1500" b="0">
              <a:solidFill>
                <a:srgbClr val="009BB5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graphicFrame>
        <p:nvGraphicFramePr>
          <p:cNvPr id="178" name="Chart"/>
          <p:cNvGraphicFramePr/>
          <p:nvPr/>
        </p:nvGraphicFramePr>
        <p:xfrm>
          <a:off x="7077075" y="3400425"/>
          <a:ext cx="6477000" cy="20955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27" name="矩形 26"/>
          <p:cNvSpPr>
            <a:spLocks noGrp="1"/>
          </p:cNvSpPr>
          <p:nvPr/>
        </p:nvSpPr>
        <p:spPr>
          <a:xfrm>
            <a:off x="8096250" y="5562600"/>
            <a:ext cx="152400" cy="114300"/>
          </a:xfrm>
          <a:prstGeom prst="rect">
            <a:avLst/>
          </a:prstGeom>
          <a:solidFill>
            <a:srgbClr val="A35F42"/>
          </a:solidFill>
          <a:ln w="0">
            <a:noFill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8298656" y="5562600"/>
            <a:ext cx="152400" cy="114300"/>
          </a:xfrm>
          <a:prstGeom prst="rect">
            <a:avLst/>
          </a:prstGeom>
          <a:solidFill>
            <a:srgbClr val="A35F42"/>
          </a:solidFill>
          <a:ln w="0">
            <a:noFill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8501063" y="5562600"/>
            <a:ext cx="152400" cy="114300"/>
          </a:xfrm>
          <a:prstGeom prst="rect">
            <a:avLst/>
          </a:prstGeom>
          <a:solidFill>
            <a:srgbClr val="A35F42"/>
          </a:solidFill>
          <a:ln w="0">
            <a:noFill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8703469" y="5562600"/>
            <a:ext cx="152400" cy="114300"/>
          </a:xfrm>
          <a:prstGeom prst="rect">
            <a:avLst/>
          </a:prstGeom>
          <a:solidFill>
            <a:srgbClr val="A35F42"/>
          </a:solidFill>
          <a:ln w="0">
            <a:noFill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8905875" y="5562600"/>
            <a:ext cx="152400" cy="114300"/>
          </a:xfrm>
          <a:prstGeom prst="rect">
            <a:avLst/>
          </a:prstGeom>
          <a:solidFill>
            <a:srgbClr val="A35F42"/>
          </a:solidFill>
          <a:ln w="0">
            <a:noFill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9108281" y="5562600"/>
            <a:ext cx="152400" cy="114300"/>
          </a:xfrm>
          <a:prstGeom prst="rect">
            <a:avLst/>
          </a:prstGeom>
          <a:solidFill>
            <a:srgbClr val="A35F42"/>
          </a:solidFill>
          <a:ln w="0">
            <a:noFill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9310688" y="5562600"/>
            <a:ext cx="152400" cy="114300"/>
          </a:xfrm>
          <a:prstGeom prst="rect">
            <a:avLst/>
          </a:prstGeom>
          <a:solidFill>
            <a:srgbClr val="A35F42"/>
          </a:solidFill>
          <a:ln w="0">
            <a:noFill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9513094" y="5562600"/>
            <a:ext cx="152400" cy="114300"/>
          </a:xfrm>
          <a:prstGeom prst="rect">
            <a:avLst/>
          </a:prstGeom>
          <a:solidFill>
            <a:srgbClr val="A35F42"/>
          </a:solidFill>
          <a:ln w="0">
            <a:noFill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9715500" y="5562600"/>
            <a:ext cx="152400" cy="114300"/>
          </a:xfrm>
          <a:prstGeom prst="rect">
            <a:avLst/>
          </a:prstGeom>
          <a:solidFill>
            <a:srgbClr val="A35F42"/>
          </a:solidFill>
          <a:ln w="0">
            <a:noFill/>
          </a:ln>
        </p:spPr>
      </p:sp>
      <p:sp>
        <p:nvSpPr>
          <p:cNvPr id="36" name="矩形 35"/>
          <p:cNvSpPr>
            <a:spLocks noGrp="1"/>
          </p:cNvSpPr>
          <p:nvPr/>
        </p:nvSpPr>
        <p:spPr>
          <a:xfrm>
            <a:off x="9917906" y="5562600"/>
            <a:ext cx="152400" cy="114300"/>
          </a:xfrm>
          <a:prstGeom prst="rect">
            <a:avLst/>
          </a:prstGeom>
          <a:solidFill>
            <a:srgbClr val="A35F42"/>
          </a:solidFill>
          <a:ln w="0">
            <a:noFill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10120313" y="5562600"/>
            <a:ext cx="152400" cy="114300"/>
          </a:xfrm>
          <a:prstGeom prst="rect">
            <a:avLst/>
          </a:prstGeom>
          <a:solidFill>
            <a:srgbClr val="A35F42"/>
          </a:solidFill>
          <a:ln w="0">
            <a:noFill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10322719" y="5562600"/>
            <a:ext cx="152400" cy="114300"/>
          </a:xfrm>
          <a:prstGeom prst="rect">
            <a:avLst/>
          </a:prstGeom>
          <a:solidFill>
            <a:srgbClr val="A35F42"/>
          </a:solidFill>
          <a:ln w="0">
            <a:noFill/>
          </a:ln>
        </p:spPr>
      </p:sp>
      <p:sp>
        <p:nvSpPr>
          <p:cNvPr id="39" name="矩形 38"/>
          <p:cNvSpPr>
            <a:spLocks noGrp="1"/>
          </p:cNvSpPr>
          <p:nvPr/>
        </p:nvSpPr>
        <p:spPr>
          <a:xfrm>
            <a:off x="10525125" y="5562600"/>
            <a:ext cx="152400" cy="114300"/>
          </a:xfrm>
          <a:prstGeom prst="rect">
            <a:avLst/>
          </a:prstGeom>
          <a:solidFill>
            <a:srgbClr val="A35F42"/>
          </a:solidFill>
          <a:ln w="0">
            <a:noFill/>
          </a:ln>
        </p:spPr>
      </p:sp>
      <p:sp>
        <p:nvSpPr>
          <p:cNvPr id="40" name="矩形 39"/>
          <p:cNvSpPr>
            <a:spLocks noGrp="1"/>
          </p:cNvSpPr>
          <p:nvPr/>
        </p:nvSpPr>
        <p:spPr>
          <a:xfrm>
            <a:off x="10727531" y="5562600"/>
            <a:ext cx="152400" cy="114300"/>
          </a:xfrm>
          <a:prstGeom prst="rect">
            <a:avLst/>
          </a:prstGeom>
          <a:solidFill>
            <a:srgbClr val="A35F42"/>
          </a:solidFill>
          <a:ln w="0">
            <a:noFill/>
          </a:ln>
        </p:spPr>
      </p:sp>
      <p:sp>
        <p:nvSpPr>
          <p:cNvPr id="41" name="矩形 40"/>
          <p:cNvSpPr>
            <a:spLocks noGrp="1"/>
          </p:cNvSpPr>
          <p:nvPr/>
        </p:nvSpPr>
        <p:spPr>
          <a:xfrm>
            <a:off x="10929938" y="5562600"/>
            <a:ext cx="152400" cy="114300"/>
          </a:xfrm>
          <a:prstGeom prst="rect">
            <a:avLst/>
          </a:prstGeom>
          <a:solidFill>
            <a:srgbClr val="A35F42"/>
          </a:solidFill>
          <a:ln w="0">
            <a:noFill/>
          </a:ln>
        </p:spPr>
      </p:sp>
      <p:sp>
        <p:nvSpPr>
          <p:cNvPr id="42" name="矩形 41"/>
          <p:cNvSpPr>
            <a:spLocks noGrp="1"/>
          </p:cNvSpPr>
          <p:nvPr/>
        </p:nvSpPr>
        <p:spPr>
          <a:xfrm>
            <a:off x="11132344" y="5562600"/>
            <a:ext cx="152400" cy="114300"/>
          </a:xfrm>
          <a:prstGeom prst="rect">
            <a:avLst/>
          </a:prstGeom>
          <a:solidFill>
            <a:srgbClr val="A35F42"/>
          </a:solidFill>
          <a:ln w="0">
            <a:noFill/>
          </a:ln>
        </p:spPr>
      </p:sp>
      <p:sp>
        <p:nvSpPr>
          <p:cNvPr id="43" name="矩形 42"/>
          <p:cNvSpPr>
            <a:spLocks noGrp="1"/>
          </p:cNvSpPr>
          <p:nvPr/>
        </p:nvSpPr>
        <p:spPr>
          <a:xfrm>
            <a:off x="11334750" y="5562600"/>
            <a:ext cx="152400" cy="114300"/>
          </a:xfrm>
          <a:prstGeom prst="rect">
            <a:avLst/>
          </a:prstGeom>
          <a:solidFill>
            <a:srgbClr val="A35F42"/>
          </a:solidFill>
          <a:ln w="0">
            <a:noFill/>
          </a:ln>
        </p:spPr>
      </p:sp>
      <p:sp>
        <p:nvSpPr>
          <p:cNvPr id="44" name="矩形 43"/>
          <p:cNvSpPr>
            <a:spLocks noGrp="1"/>
          </p:cNvSpPr>
          <p:nvPr/>
        </p:nvSpPr>
        <p:spPr>
          <a:xfrm>
            <a:off x="11537156" y="5562600"/>
            <a:ext cx="152400" cy="114300"/>
          </a:xfrm>
          <a:prstGeom prst="rect">
            <a:avLst/>
          </a:prstGeom>
          <a:solidFill>
            <a:srgbClr val="A35F42"/>
          </a:solidFill>
          <a:ln w="0">
            <a:noFill/>
          </a:ln>
        </p:spPr>
      </p:sp>
      <p:sp>
        <p:nvSpPr>
          <p:cNvPr id="45" name="矩形 44"/>
          <p:cNvSpPr>
            <a:spLocks noGrp="1"/>
          </p:cNvSpPr>
          <p:nvPr/>
        </p:nvSpPr>
        <p:spPr>
          <a:xfrm>
            <a:off x="11739563" y="5562600"/>
            <a:ext cx="152400" cy="114300"/>
          </a:xfrm>
          <a:prstGeom prst="rect">
            <a:avLst/>
          </a:prstGeom>
          <a:solidFill>
            <a:srgbClr val="A35F42"/>
          </a:solidFill>
          <a:ln w="0">
            <a:noFill/>
          </a:ln>
        </p:spPr>
      </p:sp>
      <p:sp>
        <p:nvSpPr>
          <p:cNvPr id="46" name="矩形 45"/>
          <p:cNvSpPr>
            <a:spLocks noGrp="1"/>
          </p:cNvSpPr>
          <p:nvPr/>
        </p:nvSpPr>
        <p:spPr>
          <a:xfrm>
            <a:off x="11941969" y="5562600"/>
            <a:ext cx="152400" cy="114300"/>
          </a:xfrm>
          <a:prstGeom prst="rect">
            <a:avLst/>
          </a:prstGeom>
          <a:solidFill>
            <a:srgbClr val="009BB5"/>
          </a:solidFill>
          <a:ln w="0">
            <a:noFill/>
          </a:ln>
        </p:spPr>
      </p:sp>
      <p:sp>
        <p:nvSpPr>
          <p:cNvPr id="47" name="矩形 46"/>
          <p:cNvSpPr>
            <a:spLocks noGrp="1"/>
          </p:cNvSpPr>
          <p:nvPr/>
        </p:nvSpPr>
        <p:spPr>
          <a:xfrm>
            <a:off x="12144375" y="5562600"/>
            <a:ext cx="152400" cy="114300"/>
          </a:xfrm>
          <a:prstGeom prst="rect">
            <a:avLst/>
          </a:prstGeom>
          <a:solidFill>
            <a:srgbClr val="009BB5"/>
          </a:solidFill>
          <a:ln w="0">
            <a:noFill/>
          </a:ln>
        </p:spPr>
      </p:sp>
      <p:sp>
        <p:nvSpPr>
          <p:cNvPr id="48" name="矩形 47"/>
          <p:cNvSpPr>
            <a:spLocks noGrp="1"/>
          </p:cNvSpPr>
          <p:nvPr/>
        </p:nvSpPr>
        <p:spPr>
          <a:xfrm>
            <a:off x="12346781" y="5562600"/>
            <a:ext cx="152400" cy="114300"/>
          </a:xfrm>
          <a:prstGeom prst="rect">
            <a:avLst/>
          </a:prstGeom>
          <a:solidFill>
            <a:srgbClr val="009BB5"/>
          </a:solidFill>
          <a:ln w="0">
            <a:noFill/>
          </a:ln>
        </p:spPr>
      </p:sp>
      <p:sp>
        <p:nvSpPr>
          <p:cNvPr id="49" name="矩形 48"/>
          <p:cNvSpPr>
            <a:spLocks noGrp="1"/>
          </p:cNvSpPr>
          <p:nvPr/>
        </p:nvSpPr>
        <p:spPr>
          <a:xfrm>
            <a:off x="12549188" y="5562600"/>
            <a:ext cx="152400" cy="114300"/>
          </a:xfrm>
          <a:prstGeom prst="rect">
            <a:avLst/>
          </a:prstGeom>
          <a:solidFill>
            <a:srgbClr val="009BB5"/>
          </a:solidFill>
          <a:ln w="0">
            <a:noFill/>
          </a:ln>
        </p:spPr>
      </p:sp>
      <p:sp>
        <p:nvSpPr>
          <p:cNvPr id="50" name="矩形 49"/>
          <p:cNvSpPr>
            <a:spLocks noGrp="1"/>
          </p:cNvSpPr>
          <p:nvPr/>
        </p:nvSpPr>
        <p:spPr>
          <a:xfrm>
            <a:off x="12751594" y="5562600"/>
            <a:ext cx="152400" cy="114300"/>
          </a:xfrm>
          <a:prstGeom prst="rect">
            <a:avLst/>
          </a:prstGeom>
          <a:solidFill>
            <a:srgbClr val="009BB5"/>
          </a:solidFill>
          <a:ln w="0">
            <a:noFill/>
          </a:ln>
        </p:spPr>
      </p:sp>
      <p:sp>
        <p:nvSpPr>
          <p:cNvPr id="51" name="矩形 50"/>
          <p:cNvSpPr>
            <a:spLocks noGrp="1"/>
          </p:cNvSpPr>
          <p:nvPr/>
        </p:nvSpPr>
        <p:spPr>
          <a:xfrm>
            <a:off x="7715250" y="5734050"/>
            <a:ext cx="5810250" cy="2667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5/24 quality-feasible; first feasible: batch 20</a:t>
            </a:r>
            <a:endParaRPr sz="1350" b="0">
              <a:solidFill>
                <a:srgbClr val="24292D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52" name="直接连接符 51"/>
          <p:cNvSpPr>
            <a:spLocks noGrp="1"/>
          </p:cNvSpPr>
          <p:nvPr/>
        </p:nvSpPr>
        <p:spPr>
          <a:xfrm>
            <a:off x="238125" y="6505575"/>
            <a:ext cx="13239750" cy="953"/>
          </a:xfrm>
          <a:prstGeom prst="line">
            <a:avLst/>
          </a:prstGeom>
          <a:noFill/>
          <a:ln w="14288">
            <a:solidFill>
              <a:srgbClr val="D7DDE1"/>
            </a:solidFill>
          </a:ln>
        </p:spPr>
      </p:sp>
      <p:sp>
        <p:nvSpPr>
          <p:cNvPr id="53" name="矩形 52"/>
          <p:cNvSpPr>
            <a:spLocks noGrp="1"/>
          </p:cNvSpPr>
          <p:nvPr/>
        </p:nvSpPr>
        <p:spPr>
          <a:xfrm>
            <a:off x="161925" y="6591300"/>
            <a:ext cx="3048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24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24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</a:t>
            </a:r>
            <a:endParaRPr sz="2240" b="1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54" name="矩形 53"/>
          <p:cNvSpPr>
            <a:spLocks noGrp="1"/>
          </p:cNvSpPr>
          <p:nvPr/>
        </p:nvSpPr>
        <p:spPr>
          <a:xfrm>
            <a:off x="609600" y="6591300"/>
            <a:ext cx="12573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65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5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Recorded changes between adjacent batches</a:t>
            </a:r>
            <a:endParaRPr sz="1650" b="0">
              <a:solidFill>
                <a:srgbClr val="24292D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207" name="图片 20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7010400"/>
            <a:ext cx="13716000" cy="1236000"/>
          </a:xfrm>
          <a:prstGeom prst="rect">
            <a:avLst/>
          </a:prstGeom>
        </p:spPr>
      </p:pic>
      <p:pic>
        <p:nvPicPr>
          <p:cNvPr id="208" name="图片 20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8258175"/>
            <a:ext cx="13716000" cy="4944000"/>
          </a:xfrm>
          <a:prstGeom prst="rect">
            <a:avLst/>
          </a:prstGeom>
        </p:spPr>
      </p:pic>
      <p:sp>
        <p:nvSpPr>
          <p:cNvPr id="57" name="矩形 56"/>
          <p:cNvSpPr>
            <a:spLocks noGrp="1"/>
          </p:cNvSpPr>
          <p:nvPr/>
        </p:nvSpPr>
        <p:spPr>
          <a:xfrm>
            <a:off x="360000" y="7046400"/>
            <a:ext cx="6360000" cy="336000"/>
          </a:xfrm>
          <a:prstGeom prst="rect">
            <a:avLst/>
          </a:prstGeom>
          <a:solidFill>
            <a:srgbClr val="EAF6FC"/>
          </a:solidFill>
          <a:ln w="0">
            <a:noFill/>
          </a:ln>
        </p:spPr>
      </p:sp>
      <p:sp>
        <p:nvSpPr>
          <p:cNvPr id="58" name="矩形 57"/>
          <p:cNvSpPr>
            <a:spLocks noGrp="1"/>
          </p:cNvSpPr>
          <p:nvPr/>
        </p:nvSpPr>
        <p:spPr>
          <a:xfrm>
            <a:off x="379050" y="7046400"/>
            <a:ext cx="6321900" cy="336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5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95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Batches 9 → 10</a:t>
            </a:r>
            <a:endParaRPr sz="1950" b="0">
              <a:solidFill>
                <a:srgbClr val="24292D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59" name="矩形 58"/>
          <p:cNvSpPr>
            <a:spLocks noGrp="1"/>
          </p:cNvSpPr>
          <p:nvPr/>
        </p:nvSpPr>
        <p:spPr>
          <a:xfrm>
            <a:off x="7200000" y="7046400"/>
            <a:ext cx="6252000" cy="336000"/>
          </a:xfrm>
          <a:prstGeom prst="rect">
            <a:avLst/>
          </a:prstGeom>
          <a:solidFill>
            <a:srgbClr val="EAF7FA"/>
          </a:solidFill>
          <a:ln w="0">
            <a:noFill/>
          </a:ln>
        </p:spPr>
      </p:sp>
      <p:sp>
        <p:nvSpPr>
          <p:cNvPr id="60" name="矩形 59"/>
          <p:cNvSpPr>
            <a:spLocks noGrp="1"/>
          </p:cNvSpPr>
          <p:nvPr/>
        </p:nvSpPr>
        <p:spPr>
          <a:xfrm>
            <a:off x="7219050" y="7046400"/>
            <a:ext cx="6213900" cy="336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95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95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Batches 19 → 20</a:t>
            </a:r>
            <a:endParaRPr sz="1950" b="0">
              <a:solidFill>
                <a:srgbClr val="24292D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1" name="矩形 60"/>
          <p:cNvSpPr>
            <a:spLocks noGrp="1"/>
          </p:cNvSpPr>
          <p:nvPr/>
        </p:nvSpPr>
        <p:spPr>
          <a:xfrm>
            <a:off x="840000" y="7550400"/>
            <a:ext cx="1440000" cy="540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62" name="矩形 61"/>
          <p:cNvSpPr>
            <a:spLocks noGrp="1"/>
          </p:cNvSpPr>
          <p:nvPr/>
        </p:nvSpPr>
        <p:spPr>
          <a:xfrm>
            <a:off x="859050" y="7550400"/>
            <a:ext cx="1401900" cy="54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5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Observation</a:t>
            </a:r>
            <a:endParaRPr sz="1500" b="0">
              <a:solidFill>
                <a:srgbClr val="24292D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5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(batch 9)</a:t>
            </a:r>
            <a:endParaRPr sz="1500" b="0">
              <a:solidFill>
                <a:srgbClr val="24292D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3" name="矩形 62"/>
          <p:cNvSpPr>
            <a:spLocks noGrp="1"/>
          </p:cNvSpPr>
          <p:nvPr/>
        </p:nvSpPr>
        <p:spPr>
          <a:xfrm>
            <a:off x="2556000" y="7742400"/>
            <a:ext cx="1008000" cy="384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64" name="矩形 63"/>
          <p:cNvSpPr>
            <a:spLocks noGrp="1"/>
          </p:cNvSpPr>
          <p:nvPr/>
        </p:nvSpPr>
        <p:spPr>
          <a:xfrm>
            <a:off x="2575050" y="7742400"/>
            <a:ext cx="969900" cy="384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75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175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49.8%</a:t>
            </a:r>
            <a:endParaRPr sz="2175" b="0">
              <a:solidFill>
                <a:srgbClr val="24292D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5" name="矩形 64"/>
          <p:cNvSpPr>
            <a:spLocks noGrp="1"/>
          </p:cNvSpPr>
          <p:nvPr/>
        </p:nvSpPr>
        <p:spPr>
          <a:xfrm>
            <a:off x="4080000" y="7742400"/>
            <a:ext cx="1020000" cy="384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66" name="矩形 65"/>
          <p:cNvSpPr>
            <a:spLocks noGrp="1"/>
          </p:cNvSpPr>
          <p:nvPr/>
        </p:nvSpPr>
        <p:spPr>
          <a:xfrm>
            <a:off x="4099050" y="7742400"/>
            <a:ext cx="981900" cy="384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75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175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42.4%</a:t>
            </a:r>
            <a:endParaRPr sz="2175" b="0">
              <a:solidFill>
                <a:srgbClr val="24292D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7" name="矩形 66"/>
          <p:cNvSpPr>
            <a:spLocks noGrp="1"/>
          </p:cNvSpPr>
          <p:nvPr/>
        </p:nvSpPr>
        <p:spPr>
          <a:xfrm>
            <a:off x="6036000" y="7646400"/>
            <a:ext cx="624000" cy="46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68" name="矩形 67"/>
          <p:cNvSpPr>
            <a:spLocks noGrp="1"/>
          </p:cNvSpPr>
          <p:nvPr/>
        </p:nvSpPr>
        <p:spPr>
          <a:xfrm>
            <a:off x="6055050" y="7646400"/>
            <a:ext cx="585900" cy="46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575" b="0">
                <a:solidFill>
                  <a:srgbClr val="009BB5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75" b="0">
                <a:solidFill>
                  <a:srgbClr val="009BB5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Pass</a:t>
            </a:r>
            <a:endParaRPr sz="1575" b="0">
              <a:solidFill>
                <a:srgbClr val="009BB5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9" name="矩形 68"/>
          <p:cNvSpPr>
            <a:spLocks noGrp="1"/>
          </p:cNvSpPr>
          <p:nvPr/>
        </p:nvSpPr>
        <p:spPr>
          <a:xfrm>
            <a:off x="7704000" y="7550400"/>
            <a:ext cx="1440000" cy="540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70" name="矩形 69"/>
          <p:cNvSpPr>
            <a:spLocks noGrp="1"/>
          </p:cNvSpPr>
          <p:nvPr/>
        </p:nvSpPr>
        <p:spPr>
          <a:xfrm>
            <a:off x="7723050" y="7550400"/>
            <a:ext cx="1401900" cy="54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5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Observation</a:t>
            </a:r>
            <a:endParaRPr sz="1500" b="0">
              <a:solidFill>
                <a:srgbClr val="24292D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5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(batch 19)</a:t>
            </a:r>
            <a:endParaRPr sz="1500" b="0">
              <a:solidFill>
                <a:srgbClr val="24292D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1" name="矩形 70"/>
          <p:cNvSpPr>
            <a:spLocks noGrp="1"/>
          </p:cNvSpPr>
          <p:nvPr/>
        </p:nvSpPr>
        <p:spPr>
          <a:xfrm>
            <a:off x="9420000" y="7742400"/>
            <a:ext cx="1008000" cy="384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72" name="矩形 71"/>
          <p:cNvSpPr>
            <a:spLocks noGrp="1"/>
          </p:cNvSpPr>
          <p:nvPr/>
        </p:nvSpPr>
        <p:spPr>
          <a:xfrm>
            <a:off x="9439050" y="7742400"/>
            <a:ext cx="969900" cy="384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75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175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49.0%</a:t>
            </a:r>
            <a:endParaRPr sz="2175" b="0">
              <a:solidFill>
                <a:srgbClr val="24292D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3" name="矩形 72"/>
          <p:cNvSpPr>
            <a:spLocks noGrp="1"/>
          </p:cNvSpPr>
          <p:nvPr/>
        </p:nvSpPr>
        <p:spPr>
          <a:xfrm>
            <a:off x="10644000" y="7742400"/>
            <a:ext cx="1164000" cy="384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74" name="矩形 73"/>
          <p:cNvSpPr>
            <a:spLocks noGrp="1"/>
          </p:cNvSpPr>
          <p:nvPr/>
        </p:nvSpPr>
        <p:spPr>
          <a:xfrm>
            <a:off x="10663050" y="7742400"/>
            <a:ext cx="1125900" cy="384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75" b="0">
                <a:solidFill>
                  <a:srgbClr val="EC1C24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175" b="0">
                <a:solidFill>
                  <a:srgbClr val="EC1C24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52.8%</a:t>
            </a:r>
            <a:endParaRPr sz="2175" b="0">
              <a:solidFill>
                <a:srgbClr val="EC1C24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5" name="矩形 74"/>
          <p:cNvSpPr>
            <a:spLocks noGrp="1"/>
          </p:cNvSpPr>
          <p:nvPr/>
        </p:nvSpPr>
        <p:spPr>
          <a:xfrm>
            <a:off x="12456000" y="7646400"/>
            <a:ext cx="1128000" cy="46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76" name="矩形 75"/>
          <p:cNvSpPr>
            <a:spLocks noGrp="1"/>
          </p:cNvSpPr>
          <p:nvPr/>
        </p:nvSpPr>
        <p:spPr>
          <a:xfrm>
            <a:off x="12475050" y="7646400"/>
            <a:ext cx="1050450" cy="46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575" b="0">
                <a:solidFill>
                  <a:srgbClr val="EC1C24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75" b="0">
                <a:solidFill>
                  <a:srgbClr val="EC1C24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Fines fail</a:t>
            </a:r>
            <a:endParaRPr sz="1575" b="0">
              <a:solidFill>
                <a:srgbClr val="EC1C24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7" name="矩形 76"/>
          <p:cNvSpPr>
            <a:spLocks noGrp="1"/>
          </p:cNvSpPr>
          <p:nvPr/>
        </p:nvSpPr>
        <p:spPr>
          <a:xfrm>
            <a:off x="840000" y="8270175"/>
            <a:ext cx="4200000" cy="28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78" name="矩形 77"/>
          <p:cNvSpPr>
            <a:spLocks noGrp="1"/>
          </p:cNvSpPr>
          <p:nvPr/>
        </p:nvSpPr>
        <p:spPr>
          <a:xfrm>
            <a:off x="859050" y="8270175"/>
            <a:ext cx="4161900" cy="28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5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Next experiment (batch 10)</a:t>
            </a:r>
            <a:endParaRPr sz="1500" b="0">
              <a:solidFill>
                <a:srgbClr val="24292D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79" name="矩形 78"/>
          <p:cNvSpPr>
            <a:spLocks noGrp="1"/>
          </p:cNvSpPr>
          <p:nvPr/>
        </p:nvSpPr>
        <p:spPr>
          <a:xfrm>
            <a:off x="7704000" y="8270175"/>
            <a:ext cx="4920000" cy="28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80" name="矩形 79"/>
          <p:cNvSpPr>
            <a:spLocks noGrp="1"/>
          </p:cNvSpPr>
          <p:nvPr/>
        </p:nvSpPr>
        <p:spPr>
          <a:xfrm>
            <a:off x="7723050" y="8270175"/>
            <a:ext cx="4881900" cy="28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5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Next experiment (batch 20)</a:t>
            </a:r>
            <a:endParaRPr sz="1500" b="0">
              <a:solidFill>
                <a:srgbClr val="24292D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1" name="矩形 80"/>
          <p:cNvSpPr>
            <a:spLocks noGrp="1"/>
          </p:cNvSpPr>
          <p:nvPr/>
        </p:nvSpPr>
        <p:spPr>
          <a:xfrm>
            <a:off x="1296000" y="9050175"/>
            <a:ext cx="1236000" cy="396000"/>
          </a:xfrm>
          <a:prstGeom prst="rect">
            <a:avLst/>
          </a:prstGeom>
          <a:solidFill>
            <a:srgbClr val="F8FCFE"/>
          </a:solidFill>
          <a:ln w="0">
            <a:noFill/>
          </a:ln>
        </p:spPr>
      </p:sp>
      <p:sp>
        <p:nvSpPr>
          <p:cNvPr id="82" name="矩形 81"/>
          <p:cNvSpPr>
            <a:spLocks noGrp="1"/>
          </p:cNvSpPr>
          <p:nvPr/>
        </p:nvSpPr>
        <p:spPr>
          <a:xfrm>
            <a:off x="1315050" y="9050175"/>
            <a:ext cx="1197900" cy="396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8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260 K</a:t>
            </a:r>
            <a:endParaRPr sz="1800" b="0">
              <a:solidFill>
                <a:srgbClr val="24292D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3" name="矩形 82"/>
          <p:cNvSpPr>
            <a:spLocks noGrp="1"/>
          </p:cNvSpPr>
          <p:nvPr/>
        </p:nvSpPr>
        <p:spPr>
          <a:xfrm>
            <a:off x="3264000" y="9050175"/>
            <a:ext cx="1200000" cy="396000"/>
          </a:xfrm>
          <a:prstGeom prst="rect">
            <a:avLst/>
          </a:prstGeom>
          <a:solidFill>
            <a:srgbClr val="F8FCFE"/>
          </a:solidFill>
          <a:ln w="0">
            <a:noFill/>
          </a:ln>
        </p:spPr>
      </p:sp>
      <p:sp>
        <p:nvSpPr>
          <p:cNvPr id="84" name="矩形 83"/>
          <p:cNvSpPr>
            <a:spLocks noGrp="1"/>
          </p:cNvSpPr>
          <p:nvPr/>
        </p:nvSpPr>
        <p:spPr>
          <a:xfrm>
            <a:off x="3283050" y="9050175"/>
            <a:ext cx="1161900" cy="396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8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250 K</a:t>
            </a:r>
            <a:endParaRPr sz="1800" b="0">
              <a:solidFill>
                <a:srgbClr val="24292D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5" name="矩形 84"/>
          <p:cNvSpPr>
            <a:spLocks noGrp="1"/>
          </p:cNvSpPr>
          <p:nvPr/>
        </p:nvSpPr>
        <p:spPr>
          <a:xfrm>
            <a:off x="7800000" y="8606175"/>
            <a:ext cx="1488000" cy="312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86" name="矩形 85"/>
          <p:cNvSpPr>
            <a:spLocks noGrp="1"/>
          </p:cNvSpPr>
          <p:nvPr/>
        </p:nvSpPr>
        <p:spPr>
          <a:xfrm>
            <a:off x="7819050" y="8606175"/>
            <a:ext cx="1449900" cy="31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575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75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Heating:</a:t>
            </a:r>
            <a:endParaRPr sz="1575" b="0">
              <a:solidFill>
                <a:srgbClr val="24292D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7" name="矩形 86"/>
          <p:cNvSpPr>
            <a:spLocks noGrp="1"/>
          </p:cNvSpPr>
          <p:nvPr/>
        </p:nvSpPr>
        <p:spPr>
          <a:xfrm>
            <a:off x="10488000" y="8606175"/>
            <a:ext cx="2640000" cy="312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88" name="矩形 87"/>
          <p:cNvSpPr>
            <a:spLocks noGrp="1"/>
          </p:cNvSpPr>
          <p:nvPr/>
        </p:nvSpPr>
        <p:spPr>
          <a:xfrm>
            <a:off x="10507050" y="8606175"/>
            <a:ext cx="2601900" cy="31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575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75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Cooling targets:</a:t>
            </a:r>
            <a:endParaRPr sz="1575" b="0">
              <a:solidFill>
                <a:srgbClr val="24292D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9" name="矩形 88"/>
          <p:cNvSpPr>
            <a:spLocks noGrp="1"/>
          </p:cNvSpPr>
          <p:nvPr/>
        </p:nvSpPr>
        <p:spPr>
          <a:xfrm>
            <a:off x="10800000" y="9698175"/>
            <a:ext cx="912000" cy="276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90" name="矩形 89"/>
          <p:cNvSpPr>
            <a:spLocks noGrp="1"/>
          </p:cNvSpPr>
          <p:nvPr/>
        </p:nvSpPr>
        <p:spPr>
          <a:xfrm>
            <a:off x="10819050" y="9698175"/>
            <a:ext cx="873900" cy="276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725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725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260 K</a:t>
            </a:r>
            <a:endParaRPr sz="1725" b="0">
              <a:solidFill>
                <a:srgbClr val="24292D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1" name="矩形 90"/>
          <p:cNvSpPr>
            <a:spLocks noGrp="1"/>
          </p:cNvSpPr>
          <p:nvPr/>
        </p:nvSpPr>
        <p:spPr>
          <a:xfrm>
            <a:off x="840000" y="12542175"/>
            <a:ext cx="1476000" cy="480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92" name="矩形 91"/>
          <p:cNvSpPr>
            <a:spLocks noGrp="1"/>
          </p:cNvSpPr>
          <p:nvPr/>
        </p:nvSpPr>
        <p:spPr>
          <a:xfrm>
            <a:off x="859050" y="12542175"/>
            <a:ext cx="1437900" cy="48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Outcome (batch 10)</a:t>
            </a:r>
            <a:endParaRPr sz="1425" b="0">
              <a:solidFill>
                <a:srgbClr val="24292D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3" name="矩形 92"/>
          <p:cNvSpPr>
            <a:spLocks noGrp="1"/>
          </p:cNvSpPr>
          <p:nvPr/>
        </p:nvSpPr>
        <p:spPr>
          <a:xfrm>
            <a:off x="2628000" y="12674175"/>
            <a:ext cx="936000" cy="40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94" name="矩形 93"/>
          <p:cNvSpPr>
            <a:spLocks noGrp="1"/>
          </p:cNvSpPr>
          <p:nvPr/>
        </p:nvSpPr>
        <p:spPr>
          <a:xfrm>
            <a:off x="2647050" y="12674175"/>
            <a:ext cx="897900" cy="40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00" b="0">
                <a:solidFill>
                  <a:srgbClr val="0066DB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100" b="0">
                <a:solidFill>
                  <a:srgbClr val="0066DB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51.2%</a:t>
            </a:r>
            <a:endParaRPr sz="2100" b="0">
              <a:solidFill>
                <a:srgbClr val="0066DB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5" name="矩形 94"/>
          <p:cNvSpPr>
            <a:spLocks noGrp="1"/>
          </p:cNvSpPr>
          <p:nvPr/>
        </p:nvSpPr>
        <p:spPr>
          <a:xfrm>
            <a:off x="4056000" y="12674175"/>
            <a:ext cx="984000" cy="40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96" name="矩形 95"/>
          <p:cNvSpPr>
            <a:spLocks noGrp="1"/>
          </p:cNvSpPr>
          <p:nvPr/>
        </p:nvSpPr>
        <p:spPr>
          <a:xfrm>
            <a:off x="4075050" y="12674175"/>
            <a:ext cx="945900" cy="40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1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45.7%</a:t>
            </a:r>
            <a:endParaRPr sz="2100" b="0">
              <a:solidFill>
                <a:srgbClr val="24292D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7" name="矩形 96"/>
          <p:cNvSpPr>
            <a:spLocks noGrp="1"/>
          </p:cNvSpPr>
          <p:nvPr/>
        </p:nvSpPr>
        <p:spPr>
          <a:xfrm>
            <a:off x="6036000" y="12542175"/>
            <a:ext cx="696000" cy="564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98" name="矩形 97"/>
          <p:cNvSpPr>
            <a:spLocks noGrp="1"/>
          </p:cNvSpPr>
          <p:nvPr/>
        </p:nvSpPr>
        <p:spPr>
          <a:xfrm>
            <a:off x="6055050" y="12542175"/>
            <a:ext cx="657900" cy="564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500" b="0">
                <a:solidFill>
                  <a:srgbClr val="009BB5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009BB5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Pass</a:t>
            </a:r>
            <a:endParaRPr sz="1500" b="0">
              <a:solidFill>
                <a:srgbClr val="009BB5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9" name="矩形 98"/>
          <p:cNvSpPr>
            <a:spLocks noGrp="1"/>
          </p:cNvSpPr>
          <p:nvPr/>
        </p:nvSpPr>
        <p:spPr>
          <a:xfrm>
            <a:off x="7656000" y="12542175"/>
            <a:ext cx="1476000" cy="480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00" name="矩形 99"/>
          <p:cNvSpPr>
            <a:spLocks noGrp="1"/>
          </p:cNvSpPr>
          <p:nvPr/>
        </p:nvSpPr>
        <p:spPr>
          <a:xfrm>
            <a:off x="7675050" y="12542175"/>
            <a:ext cx="1437900" cy="480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425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Outcome (batch 20)</a:t>
            </a:r>
            <a:endParaRPr sz="1425" b="0">
              <a:solidFill>
                <a:srgbClr val="24292D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1" name="矩形 100"/>
          <p:cNvSpPr>
            <a:spLocks noGrp="1"/>
          </p:cNvSpPr>
          <p:nvPr/>
        </p:nvSpPr>
        <p:spPr>
          <a:xfrm>
            <a:off x="9444000" y="12674175"/>
            <a:ext cx="936000" cy="40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02" name="矩形 101"/>
          <p:cNvSpPr>
            <a:spLocks noGrp="1"/>
          </p:cNvSpPr>
          <p:nvPr/>
        </p:nvSpPr>
        <p:spPr>
          <a:xfrm>
            <a:off x="9463050" y="12674175"/>
            <a:ext cx="897900" cy="40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00" b="0">
                <a:solidFill>
                  <a:srgbClr val="0066DB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100" b="0">
                <a:solidFill>
                  <a:srgbClr val="0066DB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52.9%</a:t>
            </a:r>
            <a:endParaRPr sz="2100" b="0">
              <a:solidFill>
                <a:srgbClr val="0066DB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3" name="矩形 102"/>
          <p:cNvSpPr>
            <a:spLocks noGrp="1"/>
          </p:cNvSpPr>
          <p:nvPr/>
        </p:nvSpPr>
        <p:spPr>
          <a:xfrm>
            <a:off x="10584000" y="12674175"/>
            <a:ext cx="1176000" cy="40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04" name="矩形 103"/>
          <p:cNvSpPr>
            <a:spLocks noGrp="1"/>
          </p:cNvSpPr>
          <p:nvPr/>
        </p:nvSpPr>
        <p:spPr>
          <a:xfrm>
            <a:off x="10603050" y="12674175"/>
            <a:ext cx="1137900" cy="408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100" b="0">
                <a:solidFill>
                  <a:srgbClr val="009BB5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100" b="0">
                <a:solidFill>
                  <a:srgbClr val="009BB5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21.5%</a:t>
            </a:r>
            <a:endParaRPr sz="2100" b="0">
              <a:solidFill>
                <a:srgbClr val="009BB5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5" name="矩形 104"/>
          <p:cNvSpPr>
            <a:spLocks noGrp="1"/>
          </p:cNvSpPr>
          <p:nvPr/>
        </p:nvSpPr>
        <p:spPr>
          <a:xfrm>
            <a:off x="12324000" y="12542175"/>
            <a:ext cx="1260000" cy="564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06" name="矩形 105"/>
          <p:cNvSpPr>
            <a:spLocks noGrp="1"/>
          </p:cNvSpPr>
          <p:nvPr/>
        </p:nvSpPr>
        <p:spPr>
          <a:xfrm>
            <a:off x="12343050" y="12542175"/>
            <a:ext cx="1182450" cy="564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5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First quality-</a:t>
            </a:r>
            <a:endParaRPr sz="1500" b="0">
              <a:solidFill>
                <a:srgbClr val="24292D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5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feasible batch</a:t>
            </a:r>
            <a:endParaRPr sz="1500" b="0">
              <a:solidFill>
                <a:srgbClr val="24292D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7" name="矩形 106"/>
          <p:cNvSpPr>
            <a:spLocks noGrp="1"/>
          </p:cNvSpPr>
          <p:nvPr/>
        </p:nvSpPr>
        <p:spPr>
          <a:xfrm>
            <a:off x="2340000" y="12038175"/>
            <a:ext cx="4104000" cy="336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08" name="矩形 107"/>
          <p:cNvSpPr>
            <a:spLocks noGrp="1"/>
          </p:cNvSpPr>
          <p:nvPr/>
        </p:nvSpPr>
        <p:spPr>
          <a:xfrm>
            <a:off x="2359050" y="12038175"/>
            <a:ext cx="4065900" cy="336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/>
        </p:txBody>
      </p:sp>
      <p:sp>
        <p:nvSpPr>
          <p:cNvPr id="109" name="矩形 108"/>
          <p:cNvSpPr>
            <a:spLocks noGrp="1"/>
          </p:cNvSpPr>
          <p:nvPr/>
        </p:nvSpPr>
        <p:spPr>
          <a:xfrm>
            <a:off x="9216000" y="12110175"/>
            <a:ext cx="4164000" cy="324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10" name="矩形 109"/>
          <p:cNvSpPr>
            <a:spLocks noGrp="1"/>
          </p:cNvSpPr>
          <p:nvPr/>
        </p:nvSpPr>
        <p:spPr>
          <a:xfrm>
            <a:off x="9235050" y="12110175"/>
            <a:ext cx="4125900" cy="324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/>
        </p:txBody>
      </p:sp>
      <p:sp>
        <p:nvSpPr>
          <p:cNvPr id="111" name="矩形 110"/>
          <p:cNvSpPr>
            <a:spLocks noGrp="1"/>
          </p:cNvSpPr>
          <p:nvPr/>
        </p:nvSpPr>
        <p:spPr>
          <a:xfrm>
            <a:off x="190500" y="7467600"/>
            <a:ext cx="561975" cy="6286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12" name="椭圆 111"/>
          <p:cNvSpPr>
            <a:spLocks noGrp="1"/>
          </p:cNvSpPr>
          <p:nvPr/>
        </p:nvSpPr>
        <p:spPr>
          <a:xfrm>
            <a:off x="247650" y="7543800"/>
            <a:ext cx="381000" cy="381000"/>
          </a:xfrm>
          <a:prstGeom prst="ellipse">
            <a:avLst/>
          </a:prstGeom>
          <a:solidFill>
            <a:srgbClr val="E7F7FC"/>
          </a:solidFill>
          <a:ln w="0">
            <a:noFill/>
          </a:ln>
        </p:spPr>
      </p:sp>
      <p:sp>
        <p:nvSpPr>
          <p:cNvPr id="113" name="矩形 112"/>
          <p:cNvSpPr>
            <a:spLocks noGrp="1"/>
          </p:cNvSpPr>
          <p:nvPr/>
        </p:nvSpPr>
        <p:spPr>
          <a:xfrm>
            <a:off x="247650" y="7543800"/>
            <a:ext cx="381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8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</a:t>
            </a:r>
            <a:endParaRPr sz="1800" b="0">
              <a:solidFill>
                <a:srgbClr val="24292D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14" name="矩形 113"/>
          <p:cNvSpPr>
            <a:spLocks noGrp="1"/>
          </p:cNvSpPr>
          <p:nvPr/>
        </p:nvSpPr>
        <p:spPr>
          <a:xfrm>
            <a:off x="190500" y="8172450"/>
            <a:ext cx="561975" cy="6286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15" name="椭圆 114"/>
          <p:cNvSpPr>
            <a:spLocks noGrp="1"/>
          </p:cNvSpPr>
          <p:nvPr/>
        </p:nvSpPr>
        <p:spPr>
          <a:xfrm>
            <a:off x="247650" y="8248650"/>
            <a:ext cx="381000" cy="381000"/>
          </a:xfrm>
          <a:prstGeom prst="ellipse">
            <a:avLst/>
          </a:prstGeom>
          <a:solidFill>
            <a:srgbClr val="E7F7FC"/>
          </a:solidFill>
          <a:ln w="0">
            <a:noFill/>
          </a:ln>
        </p:spPr>
      </p:sp>
      <p:sp>
        <p:nvSpPr>
          <p:cNvPr id="116" name="矩形 115"/>
          <p:cNvSpPr>
            <a:spLocks noGrp="1"/>
          </p:cNvSpPr>
          <p:nvPr/>
        </p:nvSpPr>
        <p:spPr>
          <a:xfrm>
            <a:off x="247650" y="8248650"/>
            <a:ext cx="381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8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</a:t>
            </a:r>
            <a:endParaRPr sz="1800" b="0">
              <a:solidFill>
                <a:srgbClr val="24292D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17" name="矩形 116"/>
          <p:cNvSpPr>
            <a:spLocks noGrp="1"/>
          </p:cNvSpPr>
          <p:nvPr/>
        </p:nvSpPr>
        <p:spPr>
          <a:xfrm>
            <a:off x="190500" y="12468225"/>
            <a:ext cx="561975" cy="6286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18" name="椭圆 117"/>
          <p:cNvSpPr>
            <a:spLocks noGrp="1"/>
          </p:cNvSpPr>
          <p:nvPr/>
        </p:nvSpPr>
        <p:spPr>
          <a:xfrm>
            <a:off x="247650" y="12544425"/>
            <a:ext cx="381000" cy="381000"/>
          </a:xfrm>
          <a:prstGeom prst="ellipse">
            <a:avLst/>
          </a:prstGeom>
          <a:solidFill>
            <a:srgbClr val="E7F7FC"/>
          </a:solidFill>
          <a:ln w="0">
            <a:noFill/>
          </a:ln>
        </p:spPr>
      </p:sp>
      <p:sp>
        <p:nvSpPr>
          <p:cNvPr id="119" name="矩形 118"/>
          <p:cNvSpPr>
            <a:spLocks noGrp="1"/>
          </p:cNvSpPr>
          <p:nvPr/>
        </p:nvSpPr>
        <p:spPr>
          <a:xfrm>
            <a:off x="247650" y="12544425"/>
            <a:ext cx="381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8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3</a:t>
            </a:r>
            <a:endParaRPr sz="1800" b="0">
              <a:solidFill>
                <a:srgbClr val="24292D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0" name="矩形 119"/>
          <p:cNvSpPr>
            <a:spLocks noGrp="1"/>
          </p:cNvSpPr>
          <p:nvPr/>
        </p:nvSpPr>
        <p:spPr>
          <a:xfrm>
            <a:off x="7077075" y="7467600"/>
            <a:ext cx="561975" cy="6286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21" name="椭圆 120"/>
          <p:cNvSpPr>
            <a:spLocks noGrp="1"/>
          </p:cNvSpPr>
          <p:nvPr/>
        </p:nvSpPr>
        <p:spPr>
          <a:xfrm>
            <a:off x="7134225" y="7543800"/>
            <a:ext cx="381000" cy="381000"/>
          </a:xfrm>
          <a:prstGeom prst="ellipse">
            <a:avLst/>
          </a:prstGeom>
          <a:solidFill>
            <a:srgbClr val="E7F7FC"/>
          </a:solidFill>
          <a:ln w="0">
            <a:noFill/>
          </a:ln>
        </p:spPr>
      </p:sp>
      <p:sp>
        <p:nvSpPr>
          <p:cNvPr id="122" name="矩形 121"/>
          <p:cNvSpPr>
            <a:spLocks noGrp="1"/>
          </p:cNvSpPr>
          <p:nvPr/>
        </p:nvSpPr>
        <p:spPr>
          <a:xfrm>
            <a:off x="7134225" y="7543800"/>
            <a:ext cx="381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8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1</a:t>
            </a:r>
            <a:endParaRPr sz="1800" b="0">
              <a:solidFill>
                <a:srgbClr val="24292D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3" name="矩形 122"/>
          <p:cNvSpPr>
            <a:spLocks noGrp="1"/>
          </p:cNvSpPr>
          <p:nvPr/>
        </p:nvSpPr>
        <p:spPr>
          <a:xfrm>
            <a:off x="7077075" y="8172450"/>
            <a:ext cx="561975" cy="6286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24" name="椭圆 123"/>
          <p:cNvSpPr>
            <a:spLocks noGrp="1"/>
          </p:cNvSpPr>
          <p:nvPr/>
        </p:nvSpPr>
        <p:spPr>
          <a:xfrm>
            <a:off x="7134225" y="8248650"/>
            <a:ext cx="381000" cy="381000"/>
          </a:xfrm>
          <a:prstGeom prst="ellipse">
            <a:avLst/>
          </a:prstGeom>
          <a:solidFill>
            <a:srgbClr val="E7F7FC"/>
          </a:solidFill>
          <a:ln w="0">
            <a:noFill/>
          </a:ln>
        </p:spPr>
      </p:sp>
      <p:sp>
        <p:nvSpPr>
          <p:cNvPr id="125" name="矩形 124"/>
          <p:cNvSpPr>
            <a:spLocks noGrp="1"/>
          </p:cNvSpPr>
          <p:nvPr/>
        </p:nvSpPr>
        <p:spPr>
          <a:xfrm>
            <a:off x="7134225" y="8248650"/>
            <a:ext cx="381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8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2</a:t>
            </a:r>
            <a:endParaRPr sz="1800" b="0">
              <a:solidFill>
                <a:srgbClr val="24292D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6" name="矩形 125"/>
          <p:cNvSpPr>
            <a:spLocks noGrp="1"/>
          </p:cNvSpPr>
          <p:nvPr/>
        </p:nvSpPr>
        <p:spPr>
          <a:xfrm>
            <a:off x="7077075" y="12468225"/>
            <a:ext cx="561975" cy="62865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27" name="椭圆 126"/>
          <p:cNvSpPr>
            <a:spLocks noGrp="1"/>
          </p:cNvSpPr>
          <p:nvPr/>
        </p:nvSpPr>
        <p:spPr>
          <a:xfrm>
            <a:off x="7134225" y="12544425"/>
            <a:ext cx="381000" cy="381000"/>
          </a:xfrm>
          <a:prstGeom prst="ellipse">
            <a:avLst/>
          </a:prstGeom>
          <a:solidFill>
            <a:srgbClr val="E7F7FC"/>
          </a:solidFill>
          <a:ln w="0">
            <a:noFill/>
          </a:ln>
        </p:spPr>
      </p:sp>
      <p:sp>
        <p:nvSpPr>
          <p:cNvPr id="128" name="矩形 127"/>
          <p:cNvSpPr>
            <a:spLocks noGrp="1"/>
          </p:cNvSpPr>
          <p:nvPr/>
        </p:nvSpPr>
        <p:spPr>
          <a:xfrm>
            <a:off x="7134225" y="12544425"/>
            <a:ext cx="381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8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3</a:t>
            </a:r>
            <a:endParaRPr sz="1800" b="0">
              <a:solidFill>
                <a:srgbClr val="24292D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29" name="直接连接符 128"/>
          <p:cNvSpPr>
            <a:spLocks noGrp="1"/>
          </p:cNvSpPr>
          <p:nvPr/>
        </p:nvSpPr>
        <p:spPr>
          <a:xfrm>
            <a:off x="238125" y="13573125"/>
            <a:ext cx="13239750" cy="953"/>
          </a:xfrm>
          <a:prstGeom prst="line">
            <a:avLst/>
          </a:prstGeom>
          <a:noFill/>
          <a:ln w="14288">
            <a:solidFill>
              <a:srgbClr val="D7DDE1"/>
            </a:solidFill>
          </a:ln>
        </p:spPr>
      </p:sp>
      <p:sp>
        <p:nvSpPr>
          <p:cNvPr id="130" name="矩形 129"/>
          <p:cNvSpPr>
            <a:spLocks noGrp="1"/>
          </p:cNvSpPr>
          <p:nvPr/>
        </p:nvSpPr>
        <p:spPr>
          <a:xfrm>
            <a:off x="161925" y="13649325"/>
            <a:ext cx="3048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224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2240" b="1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c</a:t>
            </a:r>
            <a:endParaRPr sz="2240" b="1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1" name="矩形 130"/>
          <p:cNvSpPr>
            <a:spLocks noGrp="1"/>
          </p:cNvSpPr>
          <p:nvPr/>
        </p:nvSpPr>
        <p:spPr>
          <a:xfrm>
            <a:off x="609600" y="13649325"/>
            <a:ext cx="12573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65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65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Selected procedures, later K1 accounts and independent retests</a:t>
            </a:r>
            <a:endParaRPr sz="1650" b="0">
              <a:solidFill>
                <a:srgbClr val="24292D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2" name="矩形 131"/>
          <p:cNvSpPr>
            <a:spLocks noGrp="1"/>
          </p:cNvSpPr>
          <p:nvPr/>
        </p:nvSpPr>
        <p:spPr>
          <a:xfrm>
            <a:off x="333375" y="14039850"/>
            <a:ext cx="6477000" cy="2952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5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Selected batch 10 (12-batch session)</a:t>
            </a:r>
            <a:endParaRPr sz="1500" b="0">
              <a:solidFill>
                <a:srgbClr val="24292D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285" name="图片 28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5750" y="14392275"/>
            <a:ext cx="638175" cy="706902"/>
          </a:xfrm>
          <a:prstGeom prst="rect">
            <a:avLst/>
          </a:prstGeom>
        </p:spPr>
      </p:pic>
      <p:sp>
        <p:nvSpPr>
          <p:cNvPr id="134" name="矩形 133"/>
          <p:cNvSpPr>
            <a:spLocks noGrp="1"/>
          </p:cNvSpPr>
          <p:nvPr/>
        </p:nvSpPr>
        <p:spPr>
          <a:xfrm>
            <a:off x="1123950" y="14420850"/>
            <a:ext cx="5705475" cy="600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Batch 12 had fewer fines; batch 10 led in recovery.</a:t>
            </a:r>
            <a:endParaRPr sz="1350" b="0">
              <a:solidFill>
                <a:srgbClr val="24292D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35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The small recovery gap remained unresolved.</a:t>
            </a:r>
            <a:endParaRPr sz="1350" b="0">
              <a:solidFill>
                <a:srgbClr val="24292D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35" name="矩形 134"/>
          <p:cNvSpPr>
            <a:spLocks noGrp="1"/>
          </p:cNvSpPr>
          <p:nvPr/>
        </p:nvSpPr>
        <p:spPr>
          <a:xfrm>
            <a:off x="7191375" y="14039850"/>
            <a:ext cx="6334125" cy="2952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5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Selected batch 23 (24-batch session)</a:t>
            </a:r>
            <a:endParaRPr sz="1500" b="0">
              <a:solidFill>
                <a:srgbClr val="24292D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288" name="图片 28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3750" y="14392275"/>
            <a:ext cx="638175" cy="706902"/>
          </a:xfrm>
          <a:prstGeom prst="rect">
            <a:avLst/>
          </a:prstGeom>
        </p:spPr>
      </p:pic>
      <p:sp>
        <p:nvSpPr>
          <p:cNvPr id="137" name="矩形 136"/>
          <p:cNvSpPr>
            <a:spLocks noGrp="1"/>
          </p:cNvSpPr>
          <p:nvPr/>
        </p:nvSpPr>
        <p:spPr>
          <a:xfrm>
            <a:off x="7981950" y="14420850"/>
            <a:ext cx="5543550" cy="600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35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Hotter, shorter heating + staged cooling.</a:t>
            </a:r>
            <a:endParaRPr sz="1350" b="0">
              <a:solidFill>
                <a:srgbClr val="24292D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  <a:p>
            <a:pPr algn="l">
              <a:defRPr sz="135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35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Batches 22–24 formed a broad recovery plateau.</a:t>
            </a:r>
            <a:endParaRPr sz="1350" b="0">
              <a:solidFill>
                <a:srgbClr val="24292D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pic>
        <p:nvPicPr>
          <p:cNvPr id="290" name="图片 28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15192375"/>
            <a:ext cx="13716000" cy="1056000"/>
          </a:xfrm>
          <a:prstGeom prst="rect">
            <a:avLst/>
          </a:prstGeom>
        </p:spPr>
      </p:pic>
      <p:sp>
        <p:nvSpPr>
          <p:cNvPr id="139" name="矩形 138"/>
          <p:cNvSpPr>
            <a:spLocks noGrp="1"/>
          </p:cNvSpPr>
          <p:nvPr/>
        </p:nvSpPr>
        <p:spPr>
          <a:xfrm>
            <a:off x="276000" y="15192375"/>
            <a:ext cx="4800000" cy="276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40" name="矩形 139"/>
          <p:cNvSpPr>
            <a:spLocks noGrp="1"/>
          </p:cNvSpPr>
          <p:nvPr/>
        </p:nvSpPr>
        <p:spPr>
          <a:xfrm>
            <a:off x="295050" y="15192375"/>
            <a:ext cx="4761900" cy="276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5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Selected recipe (batch 10)</a:t>
            </a:r>
            <a:endParaRPr sz="1500" b="0">
              <a:solidFill>
                <a:srgbClr val="24292D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41" name="矩形 140"/>
          <p:cNvSpPr>
            <a:spLocks noGrp="1"/>
          </p:cNvSpPr>
          <p:nvPr/>
        </p:nvSpPr>
        <p:spPr>
          <a:xfrm>
            <a:off x="7152000" y="15192375"/>
            <a:ext cx="5688000" cy="276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42" name="矩形 141"/>
          <p:cNvSpPr>
            <a:spLocks noGrp="1"/>
          </p:cNvSpPr>
          <p:nvPr/>
        </p:nvSpPr>
        <p:spPr>
          <a:xfrm>
            <a:off x="7171050" y="15192375"/>
            <a:ext cx="5649900" cy="276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5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00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Selected recipe (batch 23)</a:t>
            </a:r>
            <a:endParaRPr sz="1500" b="0">
              <a:solidFill>
                <a:srgbClr val="24292D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43" name="矩形 142"/>
          <p:cNvSpPr>
            <a:spLocks noGrp="1"/>
          </p:cNvSpPr>
          <p:nvPr/>
        </p:nvSpPr>
        <p:spPr>
          <a:xfrm>
            <a:off x="420000" y="15852375"/>
            <a:ext cx="804000" cy="252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44" name="矩形 143"/>
          <p:cNvSpPr>
            <a:spLocks noGrp="1"/>
          </p:cNvSpPr>
          <p:nvPr/>
        </p:nvSpPr>
        <p:spPr>
          <a:xfrm>
            <a:off x="439050" y="15852375"/>
            <a:ext cx="765900" cy="25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575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75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S1 / C3</a:t>
            </a:r>
            <a:endParaRPr sz="1575" b="0">
              <a:solidFill>
                <a:srgbClr val="24292D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45" name="矩形 144"/>
          <p:cNvSpPr>
            <a:spLocks noGrp="1"/>
          </p:cNvSpPr>
          <p:nvPr/>
        </p:nvSpPr>
        <p:spPr>
          <a:xfrm>
            <a:off x="7188000" y="15852375"/>
            <a:ext cx="888000" cy="252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</p:sp>
      <p:sp>
        <p:nvSpPr>
          <p:cNvPr id="146" name="矩形 145"/>
          <p:cNvSpPr>
            <a:spLocks noGrp="1"/>
          </p:cNvSpPr>
          <p:nvPr/>
        </p:nvSpPr>
        <p:spPr>
          <a:xfrm>
            <a:off x="7207050" y="15852375"/>
            <a:ext cx="849900" cy="252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575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575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S2 / C1</a:t>
            </a:r>
            <a:endParaRPr sz="1575" b="0">
              <a:solidFill>
                <a:srgbClr val="24292D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47" name="矩形 146"/>
          <p:cNvSpPr>
            <a:spLocks noGrp="1"/>
          </p:cNvSpPr>
          <p:nvPr/>
        </p:nvSpPr>
        <p:spPr>
          <a:xfrm>
            <a:off x="304800" y="16287750"/>
            <a:ext cx="6619875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75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Observed: recovery 51.2% | purity 97.8% | fines 45.7%</a:t>
            </a:r>
            <a:endParaRPr sz="1275" b="0">
              <a:solidFill>
                <a:srgbClr val="24292D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48" name="矩形 147"/>
          <p:cNvSpPr>
            <a:spLocks noGrp="1"/>
          </p:cNvSpPr>
          <p:nvPr/>
        </p:nvSpPr>
        <p:spPr>
          <a:xfrm>
            <a:off x="352425" y="16630650"/>
            <a:ext cx="6381750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25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Independent retest</a:t>
            </a:r>
            <a:endParaRPr sz="1425" b="0">
              <a:solidFill>
                <a:srgbClr val="24292D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49" name="矩形 148"/>
          <p:cNvSpPr>
            <a:spLocks noGrp="1"/>
          </p:cNvSpPr>
          <p:nvPr/>
        </p:nvSpPr>
        <p:spPr>
          <a:xfrm>
            <a:off x="352425" y="16954500"/>
            <a:ext cx="6381750" cy="371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800" b="0">
                <a:solidFill>
                  <a:srgbClr val="0066DB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>
                <a:solidFill>
                  <a:srgbClr val="0066DB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Recovery 50.4%     Fines 46.2%</a:t>
            </a:r>
            <a:endParaRPr sz="1800" b="0">
              <a:solidFill>
                <a:srgbClr val="0066DB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50" name="矩形 149"/>
          <p:cNvSpPr>
            <a:spLocks noGrp="1"/>
          </p:cNvSpPr>
          <p:nvPr/>
        </p:nvSpPr>
        <p:spPr>
          <a:xfrm>
            <a:off x="7162800" y="16287750"/>
            <a:ext cx="636270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defRPr sz="1275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275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Observed: recovery 57.0% | purity 100% | fines 14.2%</a:t>
            </a:r>
            <a:endParaRPr sz="1275" b="0">
              <a:solidFill>
                <a:srgbClr val="24292D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51" name="矩形 150"/>
          <p:cNvSpPr>
            <a:spLocks noGrp="1"/>
          </p:cNvSpPr>
          <p:nvPr/>
        </p:nvSpPr>
        <p:spPr>
          <a:xfrm>
            <a:off x="7210425" y="16630650"/>
            <a:ext cx="6315075" cy="276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425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425" b="0">
                <a:solidFill>
                  <a:srgbClr val="24292D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Independent retest</a:t>
            </a:r>
            <a:endParaRPr sz="1425" b="0">
              <a:solidFill>
                <a:srgbClr val="24292D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52" name="矩形 151"/>
          <p:cNvSpPr>
            <a:spLocks noGrp="1"/>
          </p:cNvSpPr>
          <p:nvPr/>
        </p:nvSpPr>
        <p:spPr>
          <a:xfrm>
            <a:off x="7210425" y="16954500"/>
            <a:ext cx="6315075" cy="3714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800" b="0">
                <a:solidFill>
                  <a:srgbClr val="009BB5"/>
                </a:solidFill>
                <a:latin typeface="Arial" panose="020B0604020202020204"/>
                <a:ea typeface="Arial" panose="020B0604020202020204"/>
                <a:cs typeface="Arial" panose="020B0604020202020204"/>
              </a:defRPr>
            </a:pPr>
            <a:r>
              <a:rPr sz="1800" b="0">
                <a:solidFill>
                  <a:srgbClr val="009BB5"/>
                </a:solidFill>
                <a:latin typeface="Arial" panose="020B0604020202020204"/>
                <a:ea typeface="Arial" panose="020B0604020202020204"/>
                <a:cs typeface="Arial" panose="020B0604020202020204"/>
              </a:rPr>
              <a:t>Recovery 58.1%     Fines 19.3%</a:t>
            </a:r>
            <a:endParaRPr sz="1800" b="0">
              <a:solidFill>
                <a:srgbClr val="009BB5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1093</Words>
  <Application>WPS 演示</Application>
  <PresentationFormat>Converted Presentation</PresentationFormat>
  <Paragraphs>119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Arial</vt:lpstr>
      <vt:lpstr>宋体</vt:lpstr>
      <vt:lpstr>Wingdings</vt:lpstr>
      <vt:lpstr>Arial</vt:lpstr>
      <vt:lpstr>ChatGPT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邱江杰(2025311052)</cp:lastModifiedBy>
  <cp:revision>1</cp:revision>
  <dcterms:created xsi:type="dcterms:W3CDTF">2026-09-23T12:34:57Z</dcterms:created>
  <dcterms:modified xsi:type="dcterms:W3CDTF">2026-09-23T12:34:57Z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82C96AD00A034CCF81A92FD7EE42C940_12</vt:lpwstr>
  </property>
  <property fmtid="{D5CDD505-2E9C-101B-9397-08002B2CF9AE}" pid="3" name="KSOProductBuildVer">
    <vt:lpwstr>2052-12.1.0.28022</vt:lpwstr>
  </property>
</Properties>
</file>