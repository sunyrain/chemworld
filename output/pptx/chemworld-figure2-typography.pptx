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3716000" cy="9906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2. W04/MisIndexed twelve-batch concept. Pictorial instruments and thinking Agent are ImageGen assets; labels, data and arrows remain editable. Final assays and operations are generated from the formal summary. The in-process particle-size reading at source step 97 is distinct from the final assay. Agent questions are author reconstructions, not contemporaneous quotations; K1 followed all batches. Early quench effects are confounded.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3" Type="http://schemas.openxmlformats.org/officeDocument/2006/relationships/notesSlide" Target="../notesSlides/notesSlide1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4" name="矩形 233"/>
          <p:cNvSpPr>
            <a:spLocks noGrp="1"/>
          </p:cNvSpPr>
          <p:nvPr/>
        </p:nvSpPr>
        <p:spPr>
          <a:xfrm>
            <a:off x="66675" y="57150"/>
            <a:ext cx="13582650" cy="3495675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209550" y="123825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75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</a:t>
            </a:r>
            <a:endParaRPr sz="2175" b="1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38175" y="123825"/>
            <a:ext cx="12763500" cy="371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Twelve-batch history: fines and recovery</a:t>
            </a:r>
            <a:endParaRPr sz="1800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257175" y="1323975"/>
            <a:ext cx="12573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(%)</a:t>
            </a:r>
            <a:endParaRPr sz="142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61925" y="2295525"/>
            <a:ext cx="137160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Recovery (%)</a:t>
            </a:r>
            <a:endParaRPr sz="142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61925" y="2543175"/>
            <a:ext cx="13716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(seed-excluded)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直接连接符 6"/>
          <p:cNvSpPr>
            <a:spLocks noGrp="1"/>
          </p:cNvSpPr>
          <p:nvPr/>
        </p:nvSpPr>
        <p:spPr>
          <a:xfrm>
            <a:off x="1571625" y="885825"/>
            <a:ext cx="953" cy="90487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8" name="直接连接符 7"/>
          <p:cNvSpPr>
            <a:spLocks noGrp="1"/>
          </p:cNvSpPr>
          <p:nvPr/>
        </p:nvSpPr>
        <p:spPr>
          <a:xfrm>
            <a:off x="1571625" y="1790700"/>
            <a:ext cx="11306175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9" name="直接连接符 8"/>
          <p:cNvSpPr>
            <a:spLocks noGrp="1"/>
          </p:cNvSpPr>
          <p:nvPr/>
        </p:nvSpPr>
        <p:spPr>
          <a:xfrm>
            <a:off x="1571625" y="2009775"/>
            <a:ext cx="953" cy="942975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0" name="直接连接符 9"/>
          <p:cNvSpPr>
            <a:spLocks noGrp="1"/>
          </p:cNvSpPr>
          <p:nvPr/>
        </p:nvSpPr>
        <p:spPr>
          <a:xfrm>
            <a:off x="1571625" y="2952750"/>
            <a:ext cx="11306175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1514475" y="1790700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095375" y="1676400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直接连接符 12"/>
          <p:cNvSpPr>
            <a:spLocks noGrp="1"/>
          </p:cNvSpPr>
          <p:nvPr/>
        </p:nvSpPr>
        <p:spPr>
          <a:xfrm>
            <a:off x="1514475" y="1355271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095375" y="1240971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直接连接符 14"/>
          <p:cNvSpPr>
            <a:spLocks noGrp="1"/>
          </p:cNvSpPr>
          <p:nvPr/>
        </p:nvSpPr>
        <p:spPr>
          <a:xfrm>
            <a:off x="1514475" y="919843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095375" y="805543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直接连接符 16"/>
          <p:cNvSpPr>
            <a:spLocks noGrp="1"/>
          </p:cNvSpPr>
          <p:nvPr/>
        </p:nvSpPr>
        <p:spPr>
          <a:xfrm>
            <a:off x="1514475" y="2952750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095375" y="2838450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直接连接符 18"/>
          <p:cNvSpPr>
            <a:spLocks noGrp="1"/>
          </p:cNvSpPr>
          <p:nvPr/>
        </p:nvSpPr>
        <p:spPr>
          <a:xfrm>
            <a:off x="1514475" y="2638425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095375" y="2524125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25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" name="直接连接符 20"/>
          <p:cNvSpPr>
            <a:spLocks noGrp="1"/>
          </p:cNvSpPr>
          <p:nvPr/>
        </p:nvSpPr>
        <p:spPr>
          <a:xfrm>
            <a:off x="1514475" y="2324100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1095375" y="2209800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" name="直接连接符 22"/>
          <p:cNvSpPr>
            <a:spLocks noGrp="1"/>
          </p:cNvSpPr>
          <p:nvPr/>
        </p:nvSpPr>
        <p:spPr>
          <a:xfrm>
            <a:off x="1514475" y="2009775"/>
            <a:ext cx="57150" cy="953"/>
          </a:xfrm>
          <a:prstGeom prst="line">
            <a:avLst/>
          </a:prstGeom>
          <a:noFill/>
          <a:ln w="13335">
            <a:solidFill>
              <a:srgbClr val="27323A"/>
            </a:solidFill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095375" y="1895475"/>
            <a:ext cx="3714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75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直接连接符 24"/>
          <p:cNvSpPr>
            <a:spLocks noGrp="1"/>
          </p:cNvSpPr>
          <p:nvPr/>
        </p:nvSpPr>
        <p:spPr>
          <a:xfrm>
            <a:off x="1571625" y="1355271"/>
            <a:ext cx="11296650" cy="953"/>
          </a:xfrm>
          <a:prstGeom prst="line">
            <a:avLst/>
          </a:prstGeom>
          <a:noFill/>
          <a:ln w="14288">
            <a:solidFill>
              <a:srgbClr val="88A9BA"/>
            </a:solidFill>
            <a:prstDash val="dash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2782550" y="1193346"/>
            <a:ext cx="742950" cy="438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25" b="0">
                <a:solidFill>
                  <a:srgbClr val="596B7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0">
                <a:solidFill>
                  <a:srgbClr val="596B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Quality limit</a:t>
            </a:r>
            <a:endParaRPr sz="1125" b="0">
              <a:solidFill>
                <a:srgbClr val="596B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125" b="0">
                <a:solidFill>
                  <a:srgbClr val="596B7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0">
                <a:solidFill>
                  <a:srgbClr val="596B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(≤ 50%)</a:t>
            </a:r>
            <a:endParaRPr sz="1125" b="0">
              <a:solidFill>
                <a:srgbClr val="596B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7" name="直接连接符 26"/>
          <p:cNvSpPr>
            <a:spLocks noGrp="1"/>
          </p:cNvSpPr>
          <p:nvPr/>
        </p:nvSpPr>
        <p:spPr>
          <a:xfrm flipV="1">
            <a:off x="2057400" y="919843"/>
            <a:ext cx="938645" cy="2347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28" name="直接连接符 27"/>
          <p:cNvSpPr>
            <a:spLocks noGrp="1"/>
          </p:cNvSpPr>
          <p:nvPr/>
        </p:nvSpPr>
        <p:spPr>
          <a:xfrm>
            <a:off x="2057400" y="2473147"/>
            <a:ext cx="938645" cy="195038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29" name="直接连接符 28"/>
          <p:cNvSpPr>
            <a:spLocks noGrp="1"/>
          </p:cNvSpPr>
          <p:nvPr/>
        </p:nvSpPr>
        <p:spPr>
          <a:xfrm>
            <a:off x="2996045" y="919843"/>
            <a:ext cx="938645" cy="4416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0" name="直接连接符 29"/>
          <p:cNvSpPr>
            <a:spLocks noGrp="1"/>
          </p:cNvSpPr>
          <p:nvPr/>
        </p:nvSpPr>
        <p:spPr>
          <a:xfrm>
            <a:off x="2996045" y="2668185"/>
            <a:ext cx="938645" cy="2726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1" name="直接连接符 30"/>
          <p:cNvSpPr>
            <a:spLocks noGrp="1"/>
          </p:cNvSpPr>
          <p:nvPr/>
        </p:nvSpPr>
        <p:spPr>
          <a:xfrm flipV="1">
            <a:off x="3934691" y="919843"/>
            <a:ext cx="938645" cy="4416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2" name="直接连接符 31"/>
          <p:cNvSpPr>
            <a:spLocks noGrp="1"/>
          </p:cNvSpPr>
          <p:nvPr/>
        </p:nvSpPr>
        <p:spPr>
          <a:xfrm flipV="1">
            <a:off x="3934691" y="2640708"/>
            <a:ext cx="938645" cy="30203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33" name="直接连接符 32"/>
          <p:cNvSpPr>
            <a:spLocks noGrp="1"/>
          </p:cNvSpPr>
          <p:nvPr/>
        </p:nvSpPr>
        <p:spPr>
          <a:xfrm>
            <a:off x="4873336" y="919843"/>
            <a:ext cx="938645" cy="606924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4" name="直接连接符 33"/>
          <p:cNvSpPr>
            <a:spLocks noGrp="1"/>
          </p:cNvSpPr>
          <p:nvPr/>
        </p:nvSpPr>
        <p:spPr>
          <a:xfrm flipV="1">
            <a:off x="4873336" y="2449857"/>
            <a:ext cx="938645" cy="190851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5" name="直接连接符 34"/>
          <p:cNvSpPr>
            <a:spLocks noGrp="1"/>
          </p:cNvSpPr>
          <p:nvPr/>
        </p:nvSpPr>
        <p:spPr>
          <a:xfrm>
            <a:off x="5811982" y="1526767"/>
            <a:ext cx="938645" cy="7693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6" name="直接连接符 35"/>
          <p:cNvSpPr>
            <a:spLocks noGrp="1"/>
          </p:cNvSpPr>
          <p:nvPr/>
        </p:nvSpPr>
        <p:spPr>
          <a:xfrm flipV="1">
            <a:off x="5811982" y="2414929"/>
            <a:ext cx="938645" cy="34927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7" name="直接连接符 36"/>
          <p:cNvSpPr>
            <a:spLocks noGrp="1"/>
          </p:cNvSpPr>
          <p:nvPr/>
        </p:nvSpPr>
        <p:spPr>
          <a:xfrm>
            <a:off x="6750627" y="1534460"/>
            <a:ext cx="938645" cy="35125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8" name="直接连接符 37"/>
          <p:cNvSpPr>
            <a:spLocks noGrp="1"/>
          </p:cNvSpPr>
          <p:nvPr/>
        </p:nvSpPr>
        <p:spPr>
          <a:xfrm flipV="1">
            <a:off x="6750627" y="2386623"/>
            <a:ext cx="938645" cy="28306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39" name="直接连接符 38"/>
          <p:cNvSpPr>
            <a:spLocks noGrp="1"/>
          </p:cNvSpPr>
          <p:nvPr/>
        </p:nvSpPr>
        <p:spPr>
          <a:xfrm flipV="1">
            <a:off x="7689273" y="1569450"/>
            <a:ext cx="938645" cy="953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0" name="直接连接符 39"/>
          <p:cNvSpPr>
            <a:spLocks noGrp="1"/>
          </p:cNvSpPr>
          <p:nvPr/>
        </p:nvSpPr>
        <p:spPr>
          <a:xfrm flipV="1">
            <a:off x="7689273" y="2380171"/>
            <a:ext cx="938645" cy="6452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1" name="直接连接符 40"/>
          <p:cNvSpPr>
            <a:spLocks noGrp="1"/>
          </p:cNvSpPr>
          <p:nvPr/>
        </p:nvSpPr>
        <p:spPr>
          <a:xfrm flipV="1">
            <a:off x="8627918" y="1556870"/>
            <a:ext cx="938645" cy="1258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2" name="直接连接符 41"/>
          <p:cNvSpPr>
            <a:spLocks noGrp="1"/>
          </p:cNvSpPr>
          <p:nvPr/>
        </p:nvSpPr>
        <p:spPr>
          <a:xfrm>
            <a:off x="8627918" y="2380171"/>
            <a:ext cx="938645" cy="11432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3" name="直接连接符 42"/>
          <p:cNvSpPr>
            <a:spLocks noGrp="1"/>
          </p:cNvSpPr>
          <p:nvPr/>
        </p:nvSpPr>
        <p:spPr>
          <a:xfrm flipV="1">
            <a:off x="9566564" y="1548225"/>
            <a:ext cx="938645" cy="8644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4" name="直接连接符 43"/>
          <p:cNvSpPr>
            <a:spLocks noGrp="1"/>
          </p:cNvSpPr>
          <p:nvPr/>
        </p:nvSpPr>
        <p:spPr>
          <a:xfrm flipV="1">
            <a:off x="9566564" y="2390199"/>
            <a:ext cx="938645" cy="1404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5" name="直接连接符 44"/>
          <p:cNvSpPr>
            <a:spLocks noGrp="1"/>
          </p:cNvSpPr>
          <p:nvPr/>
        </p:nvSpPr>
        <p:spPr>
          <a:xfrm flipV="1">
            <a:off x="10505209" y="1158687"/>
            <a:ext cx="938645" cy="389538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46" name="直接连接符 45"/>
          <p:cNvSpPr>
            <a:spLocks noGrp="1"/>
          </p:cNvSpPr>
          <p:nvPr/>
        </p:nvSpPr>
        <p:spPr>
          <a:xfrm>
            <a:off x="10505209" y="2390199"/>
            <a:ext cx="938645" cy="1944"/>
          </a:xfrm>
          <a:prstGeom prst="line">
            <a:avLst/>
          </a:prstGeom>
          <a:noFill/>
          <a:ln w="20003">
            <a:solidFill>
              <a:srgbClr val="C85A3A"/>
            </a:solidFill>
          </a:ln>
        </p:spPr>
      </p:sp>
      <p:sp>
        <p:nvSpPr>
          <p:cNvPr id="47" name="直接连接符 46"/>
          <p:cNvSpPr>
            <a:spLocks noGrp="1"/>
          </p:cNvSpPr>
          <p:nvPr/>
        </p:nvSpPr>
        <p:spPr>
          <a:xfrm>
            <a:off x="11443855" y="1158687"/>
            <a:ext cx="938645" cy="397717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8" name="直接连接符 47"/>
          <p:cNvSpPr>
            <a:spLocks noGrp="1"/>
          </p:cNvSpPr>
          <p:nvPr/>
        </p:nvSpPr>
        <p:spPr>
          <a:xfrm>
            <a:off x="11443855" y="2392143"/>
            <a:ext cx="938645" cy="5710"/>
          </a:xfrm>
          <a:prstGeom prst="line">
            <a:avLst/>
          </a:prstGeom>
          <a:noFill/>
          <a:ln w="20003">
            <a:solidFill>
              <a:srgbClr val="087F97"/>
            </a:solidFill>
          </a:ln>
        </p:spPr>
      </p:sp>
      <p:sp>
        <p:nvSpPr>
          <p:cNvPr id="49" name="椭圆 48"/>
          <p:cNvSpPr>
            <a:spLocks noGrp="1"/>
          </p:cNvSpPr>
          <p:nvPr/>
        </p:nvSpPr>
        <p:spPr>
          <a:xfrm>
            <a:off x="2000250" y="865039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0" name="椭圆 49"/>
          <p:cNvSpPr>
            <a:spLocks noGrp="1"/>
          </p:cNvSpPr>
          <p:nvPr/>
        </p:nvSpPr>
        <p:spPr>
          <a:xfrm>
            <a:off x="2000250" y="2415997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1762125" y="626914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99.7</a:t>
            </a:r>
            <a:endParaRPr sz="1200" b="0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1762125" y="2187397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38.1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3" name="直接连接符 52"/>
          <p:cNvSpPr>
            <a:spLocks noGrp="1"/>
          </p:cNvSpPr>
          <p:nvPr/>
        </p:nvSpPr>
        <p:spPr>
          <a:xfrm>
            <a:off x="2057400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1866900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5" name="椭圆 54"/>
          <p:cNvSpPr>
            <a:spLocks noGrp="1"/>
          </p:cNvSpPr>
          <p:nvPr/>
        </p:nvSpPr>
        <p:spPr>
          <a:xfrm>
            <a:off x="2938895" y="862693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6" name="椭圆 55"/>
          <p:cNvSpPr>
            <a:spLocks noGrp="1"/>
          </p:cNvSpPr>
          <p:nvPr/>
        </p:nvSpPr>
        <p:spPr>
          <a:xfrm>
            <a:off x="2938895" y="2611035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2700770" y="624568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100.0</a:t>
            </a:r>
            <a:endParaRPr sz="1200" b="0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2700770" y="2382435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22.6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9" name="直接连接符 58"/>
          <p:cNvSpPr>
            <a:spLocks noGrp="1"/>
          </p:cNvSpPr>
          <p:nvPr/>
        </p:nvSpPr>
        <p:spPr>
          <a:xfrm>
            <a:off x="2996045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2805545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1" name="椭圆 60"/>
          <p:cNvSpPr>
            <a:spLocks noGrp="1"/>
          </p:cNvSpPr>
          <p:nvPr/>
        </p:nvSpPr>
        <p:spPr>
          <a:xfrm>
            <a:off x="3877541" y="867108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2" name="椭圆 61"/>
          <p:cNvSpPr>
            <a:spLocks noGrp="1"/>
          </p:cNvSpPr>
          <p:nvPr/>
        </p:nvSpPr>
        <p:spPr>
          <a:xfrm>
            <a:off x="3877541" y="2613760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3639416" y="628983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99.5</a:t>
            </a:r>
            <a:endParaRPr sz="1200" b="0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4" name="矩形 63"/>
          <p:cNvSpPr>
            <a:spLocks noGrp="1"/>
          </p:cNvSpPr>
          <p:nvPr/>
        </p:nvSpPr>
        <p:spPr>
          <a:xfrm>
            <a:off x="3639416" y="2385160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22.4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5" name="直接连接符 64"/>
          <p:cNvSpPr>
            <a:spLocks noGrp="1"/>
          </p:cNvSpPr>
          <p:nvPr/>
        </p:nvSpPr>
        <p:spPr>
          <a:xfrm>
            <a:off x="3934691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3744191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7" name="椭圆 66"/>
          <p:cNvSpPr>
            <a:spLocks noGrp="1"/>
          </p:cNvSpPr>
          <p:nvPr/>
        </p:nvSpPr>
        <p:spPr>
          <a:xfrm>
            <a:off x="4816186" y="862693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8" name="椭圆 67"/>
          <p:cNvSpPr>
            <a:spLocks noGrp="1"/>
          </p:cNvSpPr>
          <p:nvPr/>
        </p:nvSpPr>
        <p:spPr>
          <a:xfrm>
            <a:off x="4816186" y="2583558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4578061" y="624568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100.0</a:t>
            </a:r>
            <a:endParaRPr sz="1200" b="0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0" name="矩形 69"/>
          <p:cNvSpPr>
            <a:spLocks noGrp="1"/>
          </p:cNvSpPr>
          <p:nvPr/>
        </p:nvSpPr>
        <p:spPr>
          <a:xfrm>
            <a:off x="4578061" y="2354958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24.8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1" name="直接连接符 70"/>
          <p:cNvSpPr>
            <a:spLocks noGrp="1"/>
          </p:cNvSpPr>
          <p:nvPr/>
        </p:nvSpPr>
        <p:spPr>
          <a:xfrm>
            <a:off x="4873336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4682836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3" name="椭圆 72"/>
          <p:cNvSpPr>
            <a:spLocks noGrp="1"/>
          </p:cNvSpPr>
          <p:nvPr/>
        </p:nvSpPr>
        <p:spPr>
          <a:xfrm>
            <a:off x="5754832" y="1469617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74" name="椭圆 73"/>
          <p:cNvSpPr>
            <a:spLocks noGrp="1"/>
          </p:cNvSpPr>
          <p:nvPr/>
        </p:nvSpPr>
        <p:spPr>
          <a:xfrm>
            <a:off x="5754832" y="2392707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75" name="矩形 74"/>
          <p:cNvSpPr>
            <a:spLocks noGrp="1"/>
          </p:cNvSpPr>
          <p:nvPr/>
        </p:nvSpPr>
        <p:spPr>
          <a:xfrm>
            <a:off x="5516707" y="1231492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30.3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6" name="矩形 75"/>
          <p:cNvSpPr>
            <a:spLocks noGrp="1"/>
          </p:cNvSpPr>
          <p:nvPr/>
        </p:nvSpPr>
        <p:spPr>
          <a:xfrm>
            <a:off x="5516707" y="2164107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40.0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7" name="直接连接符 76"/>
          <p:cNvSpPr>
            <a:spLocks noGrp="1"/>
          </p:cNvSpPr>
          <p:nvPr/>
        </p:nvSpPr>
        <p:spPr>
          <a:xfrm>
            <a:off x="5811982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5621482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9" name="椭圆 78"/>
          <p:cNvSpPr>
            <a:spLocks noGrp="1"/>
          </p:cNvSpPr>
          <p:nvPr/>
        </p:nvSpPr>
        <p:spPr>
          <a:xfrm>
            <a:off x="6693477" y="1477310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0" name="椭圆 79"/>
          <p:cNvSpPr>
            <a:spLocks noGrp="1"/>
          </p:cNvSpPr>
          <p:nvPr/>
        </p:nvSpPr>
        <p:spPr>
          <a:xfrm>
            <a:off x="6693477" y="2357779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1" name="矩形 80"/>
          <p:cNvSpPr>
            <a:spLocks noGrp="1"/>
          </p:cNvSpPr>
          <p:nvPr/>
        </p:nvSpPr>
        <p:spPr>
          <a:xfrm>
            <a:off x="6455352" y="1239185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29.4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2" name="矩形 81"/>
          <p:cNvSpPr>
            <a:spLocks noGrp="1"/>
          </p:cNvSpPr>
          <p:nvPr/>
        </p:nvSpPr>
        <p:spPr>
          <a:xfrm>
            <a:off x="6455352" y="2129179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42.8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3" name="直接连接符 82"/>
          <p:cNvSpPr>
            <a:spLocks noGrp="1"/>
          </p:cNvSpPr>
          <p:nvPr/>
        </p:nvSpPr>
        <p:spPr>
          <a:xfrm>
            <a:off x="6750627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84" name="矩形 83"/>
          <p:cNvSpPr>
            <a:spLocks noGrp="1"/>
          </p:cNvSpPr>
          <p:nvPr/>
        </p:nvSpPr>
        <p:spPr>
          <a:xfrm>
            <a:off x="6560127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5" name="椭圆 84"/>
          <p:cNvSpPr>
            <a:spLocks noGrp="1"/>
          </p:cNvSpPr>
          <p:nvPr/>
        </p:nvSpPr>
        <p:spPr>
          <a:xfrm>
            <a:off x="7632123" y="1512435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6" name="椭圆 85"/>
          <p:cNvSpPr>
            <a:spLocks noGrp="1"/>
          </p:cNvSpPr>
          <p:nvPr/>
        </p:nvSpPr>
        <p:spPr>
          <a:xfrm>
            <a:off x="7632123" y="2329473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87" name="矩形 86"/>
          <p:cNvSpPr>
            <a:spLocks noGrp="1"/>
          </p:cNvSpPr>
          <p:nvPr/>
        </p:nvSpPr>
        <p:spPr>
          <a:xfrm>
            <a:off x="7393998" y="1274310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25.4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8" name="矩形 87"/>
          <p:cNvSpPr>
            <a:spLocks noGrp="1"/>
          </p:cNvSpPr>
          <p:nvPr/>
        </p:nvSpPr>
        <p:spPr>
          <a:xfrm>
            <a:off x="7393998" y="2100873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45.0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9" name="直接连接符 88"/>
          <p:cNvSpPr>
            <a:spLocks noGrp="1"/>
          </p:cNvSpPr>
          <p:nvPr/>
        </p:nvSpPr>
        <p:spPr>
          <a:xfrm>
            <a:off x="7689273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90" name="矩形 89"/>
          <p:cNvSpPr>
            <a:spLocks noGrp="1"/>
          </p:cNvSpPr>
          <p:nvPr/>
        </p:nvSpPr>
        <p:spPr>
          <a:xfrm>
            <a:off x="7498773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1" name="椭圆 90"/>
          <p:cNvSpPr>
            <a:spLocks noGrp="1"/>
          </p:cNvSpPr>
          <p:nvPr/>
        </p:nvSpPr>
        <p:spPr>
          <a:xfrm>
            <a:off x="8570768" y="1512300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2" name="椭圆 91"/>
          <p:cNvSpPr>
            <a:spLocks noGrp="1"/>
          </p:cNvSpPr>
          <p:nvPr/>
        </p:nvSpPr>
        <p:spPr>
          <a:xfrm>
            <a:off x="8570768" y="2323021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3" name="矩形 92"/>
          <p:cNvSpPr>
            <a:spLocks noGrp="1"/>
          </p:cNvSpPr>
          <p:nvPr/>
        </p:nvSpPr>
        <p:spPr>
          <a:xfrm>
            <a:off x="8332643" y="1274175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25.4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4" name="矩形 93"/>
          <p:cNvSpPr>
            <a:spLocks noGrp="1"/>
          </p:cNvSpPr>
          <p:nvPr/>
        </p:nvSpPr>
        <p:spPr>
          <a:xfrm>
            <a:off x="8332643" y="2094421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45.5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5" name="直接连接符 94"/>
          <p:cNvSpPr>
            <a:spLocks noGrp="1"/>
          </p:cNvSpPr>
          <p:nvPr/>
        </p:nvSpPr>
        <p:spPr>
          <a:xfrm>
            <a:off x="8627918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96" name="矩形 95"/>
          <p:cNvSpPr>
            <a:spLocks noGrp="1"/>
          </p:cNvSpPr>
          <p:nvPr/>
        </p:nvSpPr>
        <p:spPr>
          <a:xfrm>
            <a:off x="8437418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7" name="椭圆 96"/>
          <p:cNvSpPr>
            <a:spLocks noGrp="1"/>
          </p:cNvSpPr>
          <p:nvPr/>
        </p:nvSpPr>
        <p:spPr>
          <a:xfrm>
            <a:off x="9509414" y="1499720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8" name="椭圆 97"/>
          <p:cNvSpPr>
            <a:spLocks noGrp="1"/>
          </p:cNvSpPr>
          <p:nvPr/>
        </p:nvSpPr>
        <p:spPr>
          <a:xfrm>
            <a:off x="9509414" y="2334454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99" name="矩形 98"/>
          <p:cNvSpPr>
            <a:spLocks noGrp="1"/>
          </p:cNvSpPr>
          <p:nvPr/>
        </p:nvSpPr>
        <p:spPr>
          <a:xfrm>
            <a:off x="9271289" y="1261595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26.9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0" name="矩形 99"/>
          <p:cNvSpPr>
            <a:spLocks noGrp="1"/>
          </p:cNvSpPr>
          <p:nvPr/>
        </p:nvSpPr>
        <p:spPr>
          <a:xfrm>
            <a:off x="9271289" y="2105854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44.6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1" name="直接连接符 100"/>
          <p:cNvSpPr>
            <a:spLocks noGrp="1"/>
          </p:cNvSpPr>
          <p:nvPr/>
        </p:nvSpPr>
        <p:spPr>
          <a:xfrm>
            <a:off x="9566564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02" name="矩形 101"/>
          <p:cNvSpPr>
            <a:spLocks noGrp="1"/>
          </p:cNvSpPr>
          <p:nvPr/>
        </p:nvSpPr>
        <p:spPr>
          <a:xfrm>
            <a:off x="9376064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9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3" name="椭圆 102"/>
          <p:cNvSpPr>
            <a:spLocks noGrp="1"/>
          </p:cNvSpPr>
          <p:nvPr/>
        </p:nvSpPr>
        <p:spPr>
          <a:xfrm>
            <a:off x="10448059" y="1491075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04" name="椭圆 103"/>
          <p:cNvSpPr>
            <a:spLocks noGrp="1"/>
          </p:cNvSpPr>
          <p:nvPr/>
        </p:nvSpPr>
        <p:spPr>
          <a:xfrm>
            <a:off x="10448059" y="2333049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05" name="矩形 104"/>
          <p:cNvSpPr>
            <a:spLocks noGrp="1"/>
          </p:cNvSpPr>
          <p:nvPr/>
        </p:nvSpPr>
        <p:spPr>
          <a:xfrm>
            <a:off x="10209934" y="1252950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27.8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6" name="矩形 105"/>
          <p:cNvSpPr>
            <a:spLocks noGrp="1"/>
          </p:cNvSpPr>
          <p:nvPr/>
        </p:nvSpPr>
        <p:spPr>
          <a:xfrm>
            <a:off x="10209934" y="2104449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44.7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7" name="直接连接符 106"/>
          <p:cNvSpPr>
            <a:spLocks noGrp="1"/>
          </p:cNvSpPr>
          <p:nvPr/>
        </p:nvSpPr>
        <p:spPr>
          <a:xfrm>
            <a:off x="10505209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08" name="矩形 107"/>
          <p:cNvSpPr>
            <a:spLocks noGrp="1"/>
          </p:cNvSpPr>
          <p:nvPr/>
        </p:nvSpPr>
        <p:spPr>
          <a:xfrm>
            <a:off x="10314709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9" name="椭圆 108"/>
          <p:cNvSpPr>
            <a:spLocks noGrp="1"/>
          </p:cNvSpPr>
          <p:nvPr/>
        </p:nvSpPr>
        <p:spPr>
          <a:xfrm>
            <a:off x="11386705" y="1101537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110" name="椭圆 109"/>
          <p:cNvSpPr>
            <a:spLocks noGrp="1"/>
          </p:cNvSpPr>
          <p:nvPr/>
        </p:nvSpPr>
        <p:spPr>
          <a:xfrm>
            <a:off x="11386705" y="2334993"/>
            <a:ext cx="114300" cy="114300"/>
          </a:xfrm>
          <a:prstGeom prst="ellipse">
            <a:avLst/>
          </a:prstGeom>
          <a:solidFill>
            <a:srgbClr val="C85A3A"/>
          </a:solidFill>
          <a:ln w="9525">
            <a:solidFill>
              <a:srgbClr val="C85A3A"/>
            </a:solidFill>
          </a:ln>
        </p:spPr>
      </p:sp>
      <p:sp>
        <p:nvSpPr>
          <p:cNvPr id="111" name="矩形 110"/>
          <p:cNvSpPr>
            <a:spLocks noGrp="1"/>
          </p:cNvSpPr>
          <p:nvPr/>
        </p:nvSpPr>
        <p:spPr>
          <a:xfrm>
            <a:off x="11148580" y="863412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72.6</a:t>
            </a:r>
            <a:endParaRPr sz="1200" b="0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2" name="矩形 111"/>
          <p:cNvSpPr>
            <a:spLocks noGrp="1"/>
          </p:cNvSpPr>
          <p:nvPr/>
        </p:nvSpPr>
        <p:spPr>
          <a:xfrm>
            <a:off x="11148580" y="2106393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44.6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3" name="直接连接符 112"/>
          <p:cNvSpPr>
            <a:spLocks noGrp="1"/>
          </p:cNvSpPr>
          <p:nvPr/>
        </p:nvSpPr>
        <p:spPr>
          <a:xfrm>
            <a:off x="11443855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14" name="矩形 113"/>
          <p:cNvSpPr>
            <a:spLocks noGrp="1"/>
          </p:cNvSpPr>
          <p:nvPr/>
        </p:nvSpPr>
        <p:spPr>
          <a:xfrm>
            <a:off x="11253355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11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5" name="椭圆 114"/>
          <p:cNvSpPr>
            <a:spLocks noGrp="1"/>
          </p:cNvSpPr>
          <p:nvPr/>
        </p:nvSpPr>
        <p:spPr>
          <a:xfrm>
            <a:off x="12325350" y="1499254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16" name="椭圆 115"/>
          <p:cNvSpPr>
            <a:spLocks noGrp="1"/>
          </p:cNvSpPr>
          <p:nvPr/>
        </p:nvSpPr>
        <p:spPr>
          <a:xfrm>
            <a:off x="12325350" y="2340703"/>
            <a:ext cx="114300" cy="114300"/>
          </a:xfrm>
          <a:prstGeom prst="ellipse">
            <a:avLst/>
          </a:prstGeom>
          <a:solidFill>
            <a:srgbClr val="087F97"/>
          </a:solidFill>
          <a:ln w="9525">
            <a:solidFill>
              <a:srgbClr val="087F97"/>
            </a:solidFill>
          </a:ln>
        </p:spPr>
      </p:sp>
      <p:sp>
        <p:nvSpPr>
          <p:cNvPr id="117" name="矩形 116"/>
          <p:cNvSpPr>
            <a:spLocks noGrp="1"/>
          </p:cNvSpPr>
          <p:nvPr/>
        </p:nvSpPr>
        <p:spPr>
          <a:xfrm>
            <a:off x="12087225" y="1261129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26.9</a:t>
            </a:r>
            <a:endParaRPr sz="1200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8" name="矩形 117"/>
          <p:cNvSpPr>
            <a:spLocks noGrp="1"/>
          </p:cNvSpPr>
          <p:nvPr/>
        </p:nvSpPr>
        <p:spPr>
          <a:xfrm>
            <a:off x="12087225" y="2112103"/>
            <a:ext cx="5905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44.1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9" name="直接连接符 118"/>
          <p:cNvSpPr>
            <a:spLocks noGrp="1"/>
          </p:cNvSpPr>
          <p:nvPr/>
        </p:nvSpPr>
        <p:spPr>
          <a:xfrm>
            <a:off x="12382500" y="2952750"/>
            <a:ext cx="953" cy="66675"/>
          </a:xfrm>
          <a:prstGeom prst="line">
            <a:avLst/>
          </a:prstGeom>
          <a:noFill/>
          <a:ln w="9525">
            <a:solidFill>
              <a:srgbClr val="8295A2"/>
            </a:solidFill>
          </a:ln>
        </p:spPr>
      </p:sp>
      <p:sp>
        <p:nvSpPr>
          <p:cNvPr id="120" name="矩形 119"/>
          <p:cNvSpPr>
            <a:spLocks noGrp="1"/>
          </p:cNvSpPr>
          <p:nvPr/>
        </p:nvSpPr>
        <p:spPr>
          <a:xfrm>
            <a:off x="12192000" y="3038475"/>
            <a:ext cx="3810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12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1" name="矩形 120"/>
          <p:cNvSpPr>
            <a:spLocks noGrp="1"/>
          </p:cNvSpPr>
          <p:nvPr/>
        </p:nvSpPr>
        <p:spPr>
          <a:xfrm>
            <a:off x="6343650" y="3257550"/>
            <a:ext cx="9525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Batch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2" name="矩形 121"/>
          <p:cNvSpPr>
            <a:spLocks noGrp="1"/>
          </p:cNvSpPr>
          <p:nvPr/>
        </p:nvSpPr>
        <p:spPr>
          <a:xfrm>
            <a:off x="5021407" y="504825"/>
            <a:ext cx="158115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B5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first feasible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3" name="直接连接符 122"/>
          <p:cNvSpPr>
            <a:spLocks noGrp="1"/>
          </p:cNvSpPr>
          <p:nvPr/>
        </p:nvSpPr>
        <p:spPr>
          <a:xfrm>
            <a:off x="5811982" y="923925"/>
            <a:ext cx="953" cy="259942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4" name="矩形 123"/>
          <p:cNvSpPr>
            <a:spLocks noGrp="1"/>
          </p:cNvSpPr>
          <p:nvPr/>
        </p:nvSpPr>
        <p:spPr>
          <a:xfrm>
            <a:off x="8008793" y="504825"/>
            <a:ext cx="123825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B8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selected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5" name="直接连接符 124"/>
          <p:cNvSpPr>
            <a:spLocks noGrp="1"/>
          </p:cNvSpPr>
          <p:nvPr/>
        </p:nvSpPr>
        <p:spPr>
          <a:xfrm>
            <a:off x="8627918" y="923925"/>
            <a:ext cx="953" cy="302625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6" name="矩形 125"/>
          <p:cNvSpPr>
            <a:spLocks noGrp="1"/>
          </p:cNvSpPr>
          <p:nvPr/>
        </p:nvSpPr>
        <p:spPr>
          <a:xfrm>
            <a:off x="10758055" y="152400"/>
            <a:ext cx="13716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B11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72.6%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7" name="直接连接符 126"/>
          <p:cNvSpPr>
            <a:spLocks noGrp="1"/>
          </p:cNvSpPr>
          <p:nvPr/>
        </p:nvSpPr>
        <p:spPr>
          <a:xfrm>
            <a:off x="11443855" y="590550"/>
            <a:ext cx="953" cy="225237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28" name="矩形 127"/>
          <p:cNvSpPr>
            <a:spLocks noGrp="1"/>
          </p:cNvSpPr>
          <p:nvPr/>
        </p:nvSpPr>
        <p:spPr>
          <a:xfrm>
            <a:off x="11763375" y="504825"/>
            <a:ext cx="123825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B12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repeat</a:t>
            </a:r>
            <a:endParaRPr sz="127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9" name="直接连接符 128"/>
          <p:cNvSpPr>
            <a:spLocks noGrp="1"/>
          </p:cNvSpPr>
          <p:nvPr/>
        </p:nvSpPr>
        <p:spPr>
          <a:xfrm>
            <a:off x="12382500" y="923925"/>
            <a:ext cx="953" cy="289579"/>
          </a:xfrm>
          <a:prstGeom prst="line">
            <a:avLst/>
          </a:prstGeom>
          <a:noFill/>
          <a:ln w="10478">
            <a:solidFill>
              <a:srgbClr val="27323A"/>
            </a:solidFill>
          </a:ln>
        </p:spPr>
      </p:sp>
      <p:sp>
        <p:nvSpPr>
          <p:cNvPr id="130" name="矩形 129"/>
          <p:cNvSpPr>
            <a:spLocks noGrp="1"/>
          </p:cNvSpPr>
          <p:nvPr/>
        </p:nvSpPr>
        <p:spPr>
          <a:xfrm>
            <a:off x="66675" y="3648075"/>
            <a:ext cx="13582650" cy="2838450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</p:sp>
      <p:sp>
        <p:nvSpPr>
          <p:cNvPr id="131" name="矩形 130"/>
          <p:cNvSpPr>
            <a:spLocks noGrp="1"/>
          </p:cNvSpPr>
          <p:nvPr/>
        </p:nvSpPr>
        <p:spPr>
          <a:xfrm>
            <a:off x="209550" y="3714750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75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</a:t>
            </a:r>
            <a:endParaRPr sz="2175" b="1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2" name="矩形 131"/>
          <p:cNvSpPr>
            <a:spLocks noGrp="1"/>
          </p:cNvSpPr>
          <p:nvPr/>
        </p:nvSpPr>
        <p:spPr>
          <a:xfrm>
            <a:off x="638175" y="3714750"/>
            <a:ext cx="12763500" cy="371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Batch 8 (B8) experiment in full detail</a:t>
            </a:r>
            <a:endParaRPr sz="1800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3" name="矩形 132"/>
          <p:cNvSpPr>
            <a:spLocks noGrp="1"/>
          </p:cNvSpPr>
          <p:nvPr/>
        </p:nvSpPr>
        <p:spPr>
          <a:xfrm>
            <a:off x="95250" y="4057650"/>
            <a:ext cx="14859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Charge reagent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+ S2 solvent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+ C1 catalyst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4" name="矩形 133"/>
          <p:cNvSpPr>
            <a:spLocks noGrp="1"/>
          </p:cNvSpPr>
          <p:nvPr/>
        </p:nvSpPr>
        <p:spPr>
          <a:xfrm>
            <a:off x="1581150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Heat toward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355 K for 1 h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at 300 rpm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5" name="矩形 134"/>
          <p:cNvSpPr>
            <a:spLocks noGrp="1"/>
          </p:cNvSpPr>
          <p:nvPr/>
        </p:nvSpPr>
        <p:spPr>
          <a:xfrm>
            <a:off x="3009900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Controlled cool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toward 325 K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for 2 h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6" name="矩形 135"/>
          <p:cNvSpPr>
            <a:spLocks noGrp="1"/>
          </p:cNvSpPr>
          <p:nvPr/>
        </p:nvSpPr>
        <p:spPr>
          <a:xfrm>
            <a:off x="4410075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Add 1 mg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seed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7" name="矩形 136"/>
          <p:cNvSpPr>
            <a:spLocks noGrp="1"/>
          </p:cNvSpPr>
          <p:nvPr/>
        </p:nvSpPr>
        <p:spPr>
          <a:xfrm>
            <a:off x="5667375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Cool toward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250 K for 4 h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8" name="矩形 137"/>
          <p:cNvSpPr>
            <a:spLocks noGrp="1"/>
          </p:cNvSpPr>
          <p:nvPr/>
        </p:nvSpPr>
        <p:spPr>
          <a:xfrm>
            <a:off x="6962775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Hold 4 h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at 100 rpm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9" name="矩形 138"/>
          <p:cNvSpPr>
            <a:spLocks noGrp="1"/>
          </p:cNvSpPr>
          <p:nvPr/>
        </p:nvSpPr>
        <p:spPr>
          <a:xfrm>
            <a:off x="8315325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Particle-size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check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0" name="矩形 139"/>
          <p:cNvSpPr>
            <a:spLocks noGrp="1"/>
          </p:cNvSpPr>
          <p:nvPr/>
        </p:nvSpPr>
        <p:spPr>
          <a:xfrm>
            <a:off x="9572625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Filter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1" name="矩形 140"/>
          <p:cNvSpPr>
            <a:spLocks noGrp="1"/>
          </p:cNvSpPr>
          <p:nvPr/>
        </p:nvSpPr>
        <p:spPr>
          <a:xfrm>
            <a:off x="10820400" y="4057650"/>
            <a:ext cx="142875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Terminate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2" name="矩形 141"/>
          <p:cNvSpPr>
            <a:spLocks noGrp="1"/>
          </p:cNvSpPr>
          <p:nvPr/>
        </p:nvSpPr>
        <p:spPr>
          <a:xfrm>
            <a:off x="12192000" y="4057650"/>
            <a:ext cx="13335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Final assay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376" name="图片 37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640" y="5231130"/>
            <a:ext cx="587121" cy="788670"/>
          </a:xfrm>
          <a:prstGeom prst="rect">
            <a:avLst/>
          </a:prstGeom>
        </p:spPr>
      </p:pic>
      <p:pic>
        <p:nvPicPr>
          <p:cNvPr id="377" name="图片 37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814" y="4845558"/>
            <a:ext cx="705422" cy="1174242"/>
          </a:xfrm>
          <a:prstGeom prst="rect">
            <a:avLst/>
          </a:prstGeom>
        </p:spPr>
      </p:pic>
      <p:pic>
        <p:nvPicPr>
          <p:cNvPr id="378" name="图片 37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9374" y="4819269"/>
            <a:ext cx="709803" cy="1200531"/>
          </a:xfrm>
          <a:prstGeom prst="rect">
            <a:avLst/>
          </a:prstGeom>
        </p:spPr>
      </p:pic>
      <p:pic>
        <p:nvPicPr>
          <p:cNvPr id="379" name="图片 37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6745" y="4781550"/>
            <a:ext cx="675409" cy="1238250"/>
          </a:xfrm>
          <a:prstGeom prst="rect">
            <a:avLst/>
          </a:prstGeom>
        </p:spPr>
      </p:pic>
      <p:pic>
        <p:nvPicPr>
          <p:cNvPr id="380" name="图片 37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802" y="4823651"/>
            <a:ext cx="687896" cy="1196150"/>
          </a:xfrm>
          <a:prstGeom prst="rect">
            <a:avLst/>
          </a:prstGeom>
        </p:spPr>
      </p:pic>
      <p:pic>
        <p:nvPicPr>
          <p:cNvPr id="381" name="图片 38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5393" y="5147882"/>
            <a:ext cx="683514" cy="871919"/>
          </a:xfrm>
          <a:prstGeom prst="rect">
            <a:avLst/>
          </a:prstGeom>
        </p:spPr>
      </p:pic>
      <p:pic>
        <p:nvPicPr>
          <p:cNvPr id="382" name="图片 38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9463" y="5136833"/>
            <a:ext cx="740474" cy="635318"/>
          </a:xfrm>
          <a:prstGeom prst="rect">
            <a:avLst/>
          </a:prstGeom>
        </p:spPr>
      </p:pic>
      <p:pic>
        <p:nvPicPr>
          <p:cNvPr id="383" name="图片 38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6764" y="4781550"/>
            <a:ext cx="560471" cy="1238250"/>
          </a:xfrm>
          <a:prstGeom prst="rect">
            <a:avLst/>
          </a:prstGeom>
        </p:spPr>
      </p:pic>
      <p:pic>
        <p:nvPicPr>
          <p:cNvPr id="384" name="图片 38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21498" y="5183696"/>
            <a:ext cx="626555" cy="626555"/>
          </a:xfrm>
          <a:prstGeom prst="rect">
            <a:avLst/>
          </a:prstGeom>
        </p:spPr>
      </p:pic>
      <p:pic>
        <p:nvPicPr>
          <p:cNvPr id="385" name="图片 38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588716" y="4857560"/>
            <a:ext cx="635318" cy="819341"/>
          </a:xfrm>
          <a:prstGeom prst="rect">
            <a:avLst/>
          </a:prstGeom>
        </p:spPr>
      </p:pic>
      <p:sp>
        <p:nvSpPr>
          <p:cNvPr id="153" name="矩形 152"/>
          <p:cNvSpPr>
            <a:spLocks noGrp="1"/>
          </p:cNvSpPr>
          <p:nvPr/>
        </p:nvSpPr>
        <p:spPr>
          <a:xfrm>
            <a:off x="8629650" y="5819775"/>
            <a:ext cx="8001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5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</a:t>
            </a:r>
            <a:endParaRPr sz="135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35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26.6%</a:t>
            </a:r>
            <a:endParaRPr sz="135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4" name="矩形 153"/>
          <p:cNvSpPr>
            <a:spLocks noGrp="1"/>
          </p:cNvSpPr>
          <p:nvPr/>
        </p:nvSpPr>
        <p:spPr>
          <a:xfrm>
            <a:off x="12077700" y="5762625"/>
            <a:ext cx="14478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recovery 45.5%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purity 98.2%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25.4%</a:t>
            </a:r>
            <a:endParaRPr sz="1275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5" name="直接连接符 154"/>
          <p:cNvSpPr>
            <a:spLocks noGrp="1"/>
          </p:cNvSpPr>
          <p:nvPr/>
        </p:nvSpPr>
        <p:spPr>
          <a:xfrm>
            <a:off x="1352550" y="5467350"/>
            <a:ext cx="428625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6" name="直接连接符 155"/>
          <p:cNvSpPr>
            <a:spLocks noGrp="1"/>
          </p:cNvSpPr>
          <p:nvPr/>
        </p:nvSpPr>
        <p:spPr>
          <a:xfrm>
            <a:off x="1714500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7" name="直接连接符 156"/>
          <p:cNvSpPr>
            <a:spLocks noGrp="1"/>
          </p:cNvSpPr>
          <p:nvPr/>
        </p:nvSpPr>
        <p:spPr>
          <a:xfrm flipV="1">
            <a:off x="1714500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8" name="直接连接符 157"/>
          <p:cNvSpPr>
            <a:spLocks noGrp="1"/>
          </p:cNvSpPr>
          <p:nvPr/>
        </p:nvSpPr>
        <p:spPr>
          <a:xfrm>
            <a:off x="2809875" y="5467350"/>
            <a:ext cx="400050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59" name="直接连接符 158"/>
          <p:cNvSpPr>
            <a:spLocks noGrp="1"/>
          </p:cNvSpPr>
          <p:nvPr/>
        </p:nvSpPr>
        <p:spPr>
          <a:xfrm>
            <a:off x="3143250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0" name="直接连接符 159"/>
          <p:cNvSpPr>
            <a:spLocks noGrp="1"/>
          </p:cNvSpPr>
          <p:nvPr/>
        </p:nvSpPr>
        <p:spPr>
          <a:xfrm flipV="1">
            <a:off x="3143250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1" name="直接连接符 160"/>
          <p:cNvSpPr>
            <a:spLocks noGrp="1"/>
          </p:cNvSpPr>
          <p:nvPr/>
        </p:nvSpPr>
        <p:spPr>
          <a:xfrm>
            <a:off x="4238625" y="5467350"/>
            <a:ext cx="371475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2" name="直接连接符 161"/>
          <p:cNvSpPr>
            <a:spLocks noGrp="1"/>
          </p:cNvSpPr>
          <p:nvPr/>
        </p:nvSpPr>
        <p:spPr>
          <a:xfrm>
            <a:off x="4543425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3" name="直接连接符 162"/>
          <p:cNvSpPr>
            <a:spLocks noGrp="1"/>
          </p:cNvSpPr>
          <p:nvPr/>
        </p:nvSpPr>
        <p:spPr>
          <a:xfrm flipV="1">
            <a:off x="4543425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4" name="直接连接符 163"/>
          <p:cNvSpPr>
            <a:spLocks noGrp="1"/>
          </p:cNvSpPr>
          <p:nvPr/>
        </p:nvSpPr>
        <p:spPr>
          <a:xfrm>
            <a:off x="5638800" y="5467350"/>
            <a:ext cx="228600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5" name="直接连接符 164"/>
          <p:cNvSpPr>
            <a:spLocks noGrp="1"/>
          </p:cNvSpPr>
          <p:nvPr/>
        </p:nvSpPr>
        <p:spPr>
          <a:xfrm>
            <a:off x="5800725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6" name="直接连接符 165"/>
          <p:cNvSpPr>
            <a:spLocks noGrp="1"/>
          </p:cNvSpPr>
          <p:nvPr/>
        </p:nvSpPr>
        <p:spPr>
          <a:xfrm flipV="1">
            <a:off x="5800725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7" name="直接连接符 166"/>
          <p:cNvSpPr>
            <a:spLocks noGrp="1"/>
          </p:cNvSpPr>
          <p:nvPr/>
        </p:nvSpPr>
        <p:spPr>
          <a:xfrm>
            <a:off x="6896100" y="5467350"/>
            <a:ext cx="266700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8" name="直接连接符 167"/>
          <p:cNvSpPr>
            <a:spLocks noGrp="1"/>
          </p:cNvSpPr>
          <p:nvPr/>
        </p:nvSpPr>
        <p:spPr>
          <a:xfrm>
            <a:off x="7096125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69" name="直接连接符 168"/>
          <p:cNvSpPr>
            <a:spLocks noGrp="1"/>
          </p:cNvSpPr>
          <p:nvPr/>
        </p:nvSpPr>
        <p:spPr>
          <a:xfrm flipV="1">
            <a:off x="7096125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0" name="直接连接符 169"/>
          <p:cNvSpPr>
            <a:spLocks noGrp="1"/>
          </p:cNvSpPr>
          <p:nvPr/>
        </p:nvSpPr>
        <p:spPr>
          <a:xfrm>
            <a:off x="8191500" y="5467350"/>
            <a:ext cx="323850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1" name="直接连接符 170"/>
          <p:cNvSpPr>
            <a:spLocks noGrp="1"/>
          </p:cNvSpPr>
          <p:nvPr/>
        </p:nvSpPr>
        <p:spPr>
          <a:xfrm>
            <a:off x="8448675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2" name="直接连接符 171"/>
          <p:cNvSpPr>
            <a:spLocks noGrp="1"/>
          </p:cNvSpPr>
          <p:nvPr/>
        </p:nvSpPr>
        <p:spPr>
          <a:xfrm flipV="1">
            <a:off x="8448675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3" name="直接连接符 172"/>
          <p:cNvSpPr>
            <a:spLocks noGrp="1"/>
          </p:cNvSpPr>
          <p:nvPr/>
        </p:nvSpPr>
        <p:spPr>
          <a:xfrm>
            <a:off x="9544050" y="5467350"/>
            <a:ext cx="228600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4" name="直接连接符 173"/>
          <p:cNvSpPr>
            <a:spLocks noGrp="1"/>
          </p:cNvSpPr>
          <p:nvPr/>
        </p:nvSpPr>
        <p:spPr>
          <a:xfrm>
            <a:off x="9705975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5" name="直接连接符 174"/>
          <p:cNvSpPr>
            <a:spLocks noGrp="1"/>
          </p:cNvSpPr>
          <p:nvPr/>
        </p:nvSpPr>
        <p:spPr>
          <a:xfrm flipV="1">
            <a:off x="9705975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6" name="直接连接符 175"/>
          <p:cNvSpPr>
            <a:spLocks noGrp="1"/>
          </p:cNvSpPr>
          <p:nvPr/>
        </p:nvSpPr>
        <p:spPr>
          <a:xfrm>
            <a:off x="10801350" y="5467350"/>
            <a:ext cx="219075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7" name="直接连接符 176"/>
          <p:cNvSpPr>
            <a:spLocks noGrp="1"/>
          </p:cNvSpPr>
          <p:nvPr/>
        </p:nvSpPr>
        <p:spPr>
          <a:xfrm>
            <a:off x="10953750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8" name="直接连接符 177"/>
          <p:cNvSpPr>
            <a:spLocks noGrp="1"/>
          </p:cNvSpPr>
          <p:nvPr/>
        </p:nvSpPr>
        <p:spPr>
          <a:xfrm flipV="1">
            <a:off x="10953750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79" name="直接连接符 178"/>
          <p:cNvSpPr>
            <a:spLocks noGrp="1"/>
          </p:cNvSpPr>
          <p:nvPr/>
        </p:nvSpPr>
        <p:spPr>
          <a:xfrm>
            <a:off x="12049125" y="5467350"/>
            <a:ext cx="342900" cy="953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0" name="直接连接符 179"/>
          <p:cNvSpPr>
            <a:spLocks noGrp="1"/>
          </p:cNvSpPr>
          <p:nvPr/>
        </p:nvSpPr>
        <p:spPr>
          <a:xfrm>
            <a:off x="12325350" y="5419725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1" name="直接连接符 180"/>
          <p:cNvSpPr>
            <a:spLocks noGrp="1"/>
          </p:cNvSpPr>
          <p:nvPr/>
        </p:nvSpPr>
        <p:spPr>
          <a:xfrm flipV="1">
            <a:off x="12325350" y="5467350"/>
            <a:ext cx="66675" cy="47625"/>
          </a:xfrm>
          <a:prstGeom prst="line">
            <a:avLst/>
          </a:prstGeom>
          <a:noFill/>
          <a:ln w="17145">
            <a:solidFill>
              <a:srgbClr val="111820"/>
            </a:solidFill>
          </a:ln>
        </p:spPr>
      </p:sp>
      <p:sp>
        <p:nvSpPr>
          <p:cNvPr id="182" name="矩形 181"/>
          <p:cNvSpPr>
            <a:spLocks noGrp="1"/>
          </p:cNvSpPr>
          <p:nvPr/>
        </p:nvSpPr>
        <p:spPr>
          <a:xfrm>
            <a:off x="66675" y="6581775"/>
            <a:ext cx="13582650" cy="3267075"/>
          </a:xfrm>
          <a:prstGeom prst="rect">
            <a:avLst/>
          </a:prstGeom>
          <a:solidFill>
            <a:srgbClr val="FFFFFF"/>
          </a:solidFill>
          <a:ln w="10478">
            <a:solidFill>
              <a:srgbClr val="8295A2"/>
            </a:solidFill>
          </a:ln>
        </p:spPr>
      </p:sp>
      <p:sp>
        <p:nvSpPr>
          <p:cNvPr id="183" name="矩形 182"/>
          <p:cNvSpPr>
            <a:spLocks noGrp="1"/>
          </p:cNvSpPr>
          <p:nvPr/>
        </p:nvSpPr>
        <p:spPr>
          <a:xfrm>
            <a:off x="209550" y="6648450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75" b="1">
                <a:solidFill>
                  <a:srgbClr val="11182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</a:t>
            </a:r>
            <a:endParaRPr sz="2175" b="1">
              <a:solidFill>
                <a:srgbClr val="11182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4" name="矩形 183"/>
          <p:cNvSpPr>
            <a:spLocks noGrp="1"/>
          </p:cNvSpPr>
          <p:nvPr/>
        </p:nvSpPr>
        <p:spPr>
          <a:xfrm>
            <a:off x="638175" y="6648450"/>
            <a:ext cx="12763500" cy="371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Key observations, questions, and next tests</a:t>
            </a:r>
            <a:endParaRPr sz="1800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5" name="矩形 184"/>
          <p:cNvSpPr>
            <a:spLocks noGrp="1"/>
          </p:cNvSpPr>
          <p:nvPr/>
        </p:nvSpPr>
        <p:spPr>
          <a:xfrm>
            <a:off x="1085850" y="7000875"/>
            <a:ext cx="18859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Observed</a:t>
            </a:r>
            <a:endParaRPr sz="142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6" name="矩形 185"/>
          <p:cNvSpPr>
            <a:spLocks noGrp="1"/>
          </p:cNvSpPr>
          <p:nvPr/>
        </p:nvSpPr>
        <p:spPr>
          <a:xfrm>
            <a:off x="4200525" y="7000875"/>
            <a:ext cx="24003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 question</a:t>
            </a:r>
            <a:endParaRPr sz="142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7" name="矩形 186"/>
          <p:cNvSpPr>
            <a:spLocks noGrp="1"/>
          </p:cNvSpPr>
          <p:nvPr/>
        </p:nvSpPr>
        <p:spPr>
          <a:xfrm>
            <a:off x="7477125" y="7000875"/>
            <a:ext cx="27241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Next tested action</a:t>
            </a:r>
            <a:endParaRPr sz="142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8" name="矩形 187"/>
          <p:cNvSpPr>
            <a:spLocks noGrp="1"/>
          </p:cNvSpPr>
          <p:nvPr/>
        </p:nvSpPr>
        <p:spPr>
          <a:xfrm>
            <a:off x="11525250" y="7000875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Outcome</a:t>
            </a:r>
            <a:endParaRPr sz="1425" b="1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9" name="直接连接符 188"/>
          <p:cNvSpPr>
            <a:spLocks noGrp="1"/>
          </p:cNvSpPr>
          <p:nvPr/>
        </p:nvSpPr>
        <p:spPr>
          <a:xfrm>
            <a:off x="238125" y="7296150"/>
            <a:ext cx="13230225" cy="953"/>
          </a:xfrm>
          <a:prstGeom prst="line">
            <a:avLst/>
          </a:prstGeom>
          <a:noFill/>
          <a:ln w="13335">
            <a:solidFill>
              <a:srgbClr val="8295A2"/>
            </a:solidFill>
          </a:ln>
        </p:spPr>
      </p:sp>
      <p:sp>
        <p:nvSpPr>
          <p:cNvPr id="190" name="直接连接符 189"/>
          <p:cNvSpPr>
            <a:spLocks noGrp="1"/>
          </p:cNvSpPr>
          <p:nvPr/>
        </p:nvSpPr>
        <p:spPr>
          <a:xfrm>
            <a:off x="238125" y="8096250"/>
            <a:ext cx="13230225" cy="953"/>
          </a:xfrm>
          <a:prstGeom prst="line">
            <a:avLst/>
          </a:prstGeom>
          <a:noFill/>
          <a:ln w="10478">
            <a:solidFill>
              <a:srgbClr val="8295A2"/>
            </a:solidFill>
          </a:ln>
        </p:spPr>
      </p:sp>
      <p:sp>
        <p:nvSpPr>
          <p:cNvPr id="191" name="直接连接符 190"/>
          <p:cNvSpPr>
            <a:spLocks noGrp="1"/>
          </p:cNvSpPr>
          <p:nvPr/>
        </p:nvSpPr>
        <p:spPr>
          <a:xfrm>
            <a:off x="238125" y="8924925"/>
            <a:ext cx="13230225" cy="953"/>
          </a:xfrm>
          <a:prstGeom prst="line">
            <a:avLst/>
          </a:prstGeom>
          <a:noFill/>
          <a:ln w="10478">
            <a:solidFill>
              <a:srgbClr val="8295A2"/>
            </a:solidFill>
          </a:ln>
        </p:spPr>
      </p:sp>
      <p:sp>
        <p:nvSpPr>
          <p:cNvPr id="192" name="矩形 191"/>
          <p:cNvSpPr>
            <a:spLocks noGrp="1"/>
          </p:cNvSpPr>
          <p:nvPr/>
        </p:nvSpPr>
        <p:spPr>
          <a:xfrm>
            <a:off x="400050" y="7429500"/>
            <a:ext cx="22479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B1–4:</a:t>
            </a:r>
            <a:endParaRPr sz="1425" b="0">
              <a:solidFill>
                <a:srgbClr val="C85A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425" b="0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99.5–100.0%</a:t>
            </a:r>
            <a:endParaRPr sz="1425" b="0">
              <a:solidFill>
                <a:srgbClr val="C85A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3" name="直接连接符 192"/>
          <p:cNvSpPr>
            <a:spLocks noGrp="1"/>
          </p:cNvSpPr>
          <p:nvPr/>
        </p:nvSpPr>
        <p:spPr>
          <a:xfrm>
            <a:off x="2771775" y="7686675"/>
            <a:ext cx="400050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4" name="直接连接符 193"/>
          <p:cNvSpPr>
            <a:spLocks noGrp="1"/>
          </p:cNvSpPr>
          <p:nvPr/>
        </p:nvSpPr>
        <p:spPr>
          <a:xfrm>
            <a:off x="3105150" y="763905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5" name="直接连接符 194"/>
          <p:cNvSpPr>
            <a:spLocks noGrp="1"/>
          </p:cNvSpPr>
          <p:nvPr/>
        </p:nvSpPr>
        <p:spPr>
          <a:xfrm flipV="1">
            <a:off x="3105150" y="768667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29" name="图片 4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39545" y="7362825"/>
            <a:ext cx="2436410" cy="781050"/>
          </a:xfrm>
          <a:prstGeom prst="rect">
            <a:avLst/>
          </a:prstGeom>
        </p:spPr>
      </p:pic>
      <p:sp>
        <p:nvSpPr>
          <p:cNvPr id="197" name="矩形 196"/>
          <p:cNvSpPr>
            <a:spLocks noGrp="1"/>
          </p:cNvSpPr>
          <p:nvPr/>
        </p:nvSpPr>
        <p:spPr>
          <a:xfrm>
            <a:off x="4562475" y="7496175"/>
            <a:ext cx="1438275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Where are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forming?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8" name="直接连接符 197"/>
          <p:cNvSpPr>
            <a:spLocks noGrp="1"/>
          </p:cNvSpPr>
          <p:nvPr/>
        </p:nvSpPr>
        <p:spPr>
          <a:xfrm>
            <a:off x="6591300" y="7686675"/>
            <a:ext cx="371475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199" name="直接连接符 198"/>
          <p:cNvSpPr>
            <a:spLocks noGrp="1"/>
          </p:cNvSpPr>
          <p:nvPr/>
        </p:nvSpPr>
        <p:spPr>
          <a:xfrm>
            <a:off x="6896100" y="763905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0" name="直接连接符 199"/>
          <p:cNvSpPr>
            <a:spLocks noGrp="1"/>
          </p:cNvSpPr>
          <p:nvPr/>
        </p:nvSpPr>
        <p:spPr>
          <a:xfrm flipV="1">
            <a:off x="6896100" y="768667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1" name="矩形 200"/>
          <p:cNvSpPr>
            <a:spLocks noGrp="1"/>
          </p:cNvSpPr>
          <p:nvPr/>
        </p:nvSpPr>
        <p:spPr>
          <a:xfrm>
            <a:off x="7353300" y="7429500"/>
            <a:ext cx="2581275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B5: omit quench;</a:t>
            </a:r>
            <a:endParaRPr sz="1425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cool before seeding</a:t>
            </a:r>
            <a:endParaRPr sz="1425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2" name="直接连接符 201"/>
          <p:cNvSpPr>
            <a:spLocks noGrp="1"/>
          </p:cNvSpPr>
          <p:nvPr/>
        </p:nvSpPr>
        <p:spPr>
          <a:xfrm>
            <a:off x="10096500" y="7686675"/>
            <a:ext cx="381000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3" name="直接连接符 202"/>
          <p:cNvSpPr>
            <a:spLocks noGrp="1"/>
          </p:cNvSpPr>
          <p:nvPr/>
        </p:nvSpPr>
        <p:spPr>
          <a:xfrm>
            <a:off x="10410825" y="763905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4" name="直接连接符 203"/>
          <p:cNvSpPr>
            <a:spLocks noGrp="1"/>
          </p:cNvSpPr>
          <p:nvPr/>
        </p:nvSpPr>
        <p:spPr>
          <a:xfrm flipV="1">
            <a:off x="10410825" y="768667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5" name="矩形 204"/>
          <p:cNvSpPr>
            <a:spLocks noGrp="1"/>
          </p:cNvSpPr>
          <p:nvPr/>
        </p:nvSpPr>
        <p:spPr>
          <a:xfrm>
            <a:off x="10801350" y="7429500"/>
            <a:ext cx="2581275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30.3%;</a:t>
            </a:r>
            <a:endParaRPr sz="1350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first feasible</a:t>
            </a:r>
            <a:endParaRPr sz="1350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6" name="矩形 205"/>
          <p:cNvSpPr>
            <a:spLocks noGrp="1"/>
          </p:cNvSpPr>
          <p:nvPr/>
        </p:nvSpPr>
        <p:spPr>
          <a:xfrm>
            <a:off x="400050" y="8239125"/>
            <a:ext cx="22479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B5: feasible;</a:t>
            </a:r>
            <a:endParaRPr sz="1425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recovery 40.0%</a:t>
            </a:r>
            <a:endParaRPr sz="1425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7" name="直接连接符 206"/>
          <p:cNvSpPr>
            <a:spLocks noGrp="1"/>
          </p:cNvSpPr>
          <p:nvPr/>
        </p:nvSpPr>
        <p:spPr>
          <a:xfrm>
            <a:off x="2771775" y="8496300"/>
            <a:ext cx="400050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8" name="直接连接符 207"/>
          <p:cNvSpPr>
            <a:spLocks noGrp="1"/>
          </p:cNvSpPr>
          <p:nvPr/>
        </p:nvSpPr>
        <p:spPr>
          <a:xfrm>
            <a:off x="3105150" y="844867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09" name="直接连接符 208"/>
          <p:cNvSpPr>
            <a:spLocks noGrp="1"/>
          </p:cNvSpPr>
          <p:nvPr/>
        </p:nvSpPr>
        <p:spPr>
          <a:xfrm flipV="1">
            <a:off x="3105150" y="849630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43" name="图片 44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39545" y="8172450"/>
            <a:ext cx="2436410" cy="781050"/>
          </a:xfrm>
          <a:prstGeom prst="rect">
            <a:avLst/>
          </a:prstGeom>
        </p:spPr>
      </p:pic>
      <p:sp>
        <p:nvSpPr>
          <p:cNvPr id="211" name="矩形 210"/>
          <p:cNvSpPr>
            <a:spLocks noGrp="1"/>
          </p:cNvSpPr>
          <p:nvPr/>
        </p:nvSpPr>
        <p:spPr>
          <a:xfrm>
            <a:off x="4562475" y="8305800"/>
            <a:ext cx="1438275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Do colder endpoints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improve recovery?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2" name="直接连接符 211"/>
          <p:cNvSpPr>
            <a:spLocks noGrp="1"/>
          </p:cNvSpPr>
          <p:nvPr/>
        </p:nvSpPr>
        <p:spPr>
          <a:xfrm>
            <a:off x="6591300" y="8496300"/>
            <a:ext cx="371475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3" name="直接连接符 212"/>
          <p:cNvSpPr>
            <a:spLocks noGrp="1"/>
          </p:cNvSpPr>
          <p:nvPr/>
        </p:nvSpPr>
        <p:spPr>
          <a:xfrm>
            <a:off x="6896100" y="844867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4" name="直接连接符 213"/>
          <p:cNvSpPr>
            <a:spLocks noGrp="1"/>
          </p:cNvSpPr>
          <p:nvPr/>
        </p:nvSpPr>
        <p:spPr>
          <a:xfrm flipV="1">
            <a:off x="6896100" y="849630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5" name="矩形 214"/>
          <p:cNvSpPr>
            <a:spLocks noGrp="1"/>
          </p:cNvSpPr>
          <p:nvPr/>
        </p:nvSpPr>
        <p:spPr>
          <a:xfrm>
            <a:off x="7353300" y="8239125"/>
            <a:ext cx="2581275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B6/B7: end at 265/250 K;</a:t>
            </a:r>
            <a:endParaRPr sz="1425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B8: seed 5 → 1 mg</a:t>
            </a:r>
            <a:endParaRPr sz="1425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6" name="直接连接符 215"/>
          <p:cNvSpPr>
            <a:spLocks noGrp="1"/>
          </p:cNvSpPr>
          <p:nvPr/>
        </p:nvSpPr>
        <p:spPr>
          <a:xfrm>
            <a:off x="10096500" y="8496300"/>
            <a:ext cx="381000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7" name="直接连接符 216"/>
          <p:cNvSpPr>
            <a:spLocks noGrp="1"/>
          </p:cNvSpPr>
          <p:nvPr/>
        </p:nvSpPr>
        <p:spPr>
          <a:xfrm>
            <a:off x="10410825" y="844867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8" name="直接连接符 217"/>
          <p:cNvSpPr>
            <a:spLocks noGrp="1"/>
          </p:cNvSpPr>
          <p:nvPr/>
        </p:nvSpPr>
        <p:spPr>
          <a:xfrm flipV="1">
            <a:off x="10410825" y="849630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19" name="矩形 218"/>
          <p:cNvSpPr>
            <a:spLocks noGrp="1"/>
          </p:cNvSpPr>
          <p:nvPr/>
        </p:nvSpPr>
        <p:spPr>
          <a:xfrm>
            <a:off x="10801350" y="8239125"/>
            <a:ext cx="2581275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recovery 42.8 → 45.0 → 45.5%;</a:t>
            </a:r>
            <a:endParaRPr sz="1350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&lt; 30%</a:t>
            </a:r>
            <a:endParaRPr sz="1350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0" name="矩形 219"/>
          <p:cNvSpPr>
            <a:spLocks noGrp="1"/>
          </p:cNvSpPr>
          <p:nvPr/>
        </p:nvSpPr>
        <p:spPr>
          <a:xfrm>
            <a:off x="400050" y="9058275"/>
            <a:ext cx="2247900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B8 best so far;</a:t>
            </a:r>
            <a:endParaRPr sz="1425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B9–10 additional probes</a:t>
            </a:r>
            <a:endParaRPr sz="1425" b="0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1" name="直接连接符 220"/>
          <p:cNvSpPr>
            <a:spLocks noGrp="1"/>
          </p:cNvSpPr>
          <p:nvPr/>
        </p:nvSpPr>
        <p:spPr>
          <a:xfrm>
            <a:off x="2771775" y="9315450"/>
            <a:ext cx="400050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2" name="直接连接符 221"/>
          <p:cNvSpPr>
            <a:spLocks noGrp="1"/>
          </p:cNvSpPr>
          <p:nvPr/>
        </p:nvSpPr>
        <p:spPr>
          <a:xfrm>
            <a:off x="3105150" y="926782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3" name="直接连接符 222"/>
          <p:cNvSpPr>
            <a:spLocks noGrp="1"/>
          </p:cNvSpPr>
          <p:nvPr/>
        </p:nvSpPr>
        <p:spPr>
          <a:xfrm flipV="1">
            <a:off x="3105150" y="931545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pic>
        <p:nvPicPr>
          <p:cNvPr id="457" name="图片 45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39545" y="8991600"/>
            <a:ext cx="2436410" cy="781050"/>
          </a:xfrm>
          <a:prstGeom prst="rect">
            <a:avLst/>
          </a:prstGeom>
        </p:spPr>
      </p:pic>
      <p:sp>
        <p:nvSpPr>
          <p:cNvPr id="225" name="矩形 224"/>
          <p:cNvSpPr>
            <a:spLocks noGrp="1"/>
          </p:cNvSpPr>
          <p:nvPr/>
        </p:nvSpPr>
        <p:spPr>
          <a:xfrm>
            <a:off x="4562475" y="9124950"/>
            <a:ext cx="1438275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Does higher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2732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concentration help?</a:t>
            </a:r>
            <a:endParaRPr sz="1200" b="0">
              <a:solidFill>
                <a:srgbClr val="2732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6" name="直接连接符 225"/>
          <p:cNvSpPr>
            <a:spLocks noGrp="1"/>
          </p:cNvSpPr>
          <p:nvPr/>
        </p:nvSpPr>
        <p:spPr>
          <a:xfrm>
            <a:off x="6591300" y="9315450"/>
            <a:ext cx="371475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7" name="直接连接符 226"/>
          <p:cNvSpPr>
            <a:spLocks noGrp="1"/>
          </p:cNvSpPr>
          <p:nvPr/>
        </p:nvSpPr>
        <p:spPr>
          <a:xfrm>
            <a:off x="6896100" y="926782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8" name="直接连接符 227"/>
          <p:cNvSpPr>
            <a:spLocks noGrp="1"/>
          </p:cNvSpPr>
          <p:nvPr/>
        </p:nvSpPr>
        <p:spPr>
          <a:xfrm flipV="1">
            <a:off x="6896100" y="931545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29" name="矩形 228"/>
          <p:cNvSpPr>
            <a:spLocks noGrp="1"/>
          </p:cNvSpPr>
          <p:nvPr/>
        </p:nvSpPr>
        <p:spPr>
          <a:xfrm>
            <a:off x="7353300" y="9058275"/>
            <a:ext cx="2581275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087F9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B11: S2 0.080 → 0.040 L</a:t>
            </a:r>
            <a:endParaRPr sz="1425" b="1">
              <a:solidFill>
                <a:srgbClr val="087F9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0" name="直接连接符 229"/>
          <p:cNvSpPr>
            <a:spLocks noGrp="1"/>
          </p:cNvSpPr>
          <p:nvPr/>
        </p:nvSpPr>
        <p:spPr>
          <a:xfrm>
            <a:off x="10096500" y="9315450"/>
            <a:ext cx="381000" cy="953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1" name="直接连接符 230"/>
          <p:cNvSpPr>
            <a:spLocks noGrp="1"/>
          </p:cNvSpPr>
          <p:nvPr/>
        </p:nvSpPr>
        <p:spPr>
          <a:xfrm>
            <a:off x="10410825" y="9267825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2" name="直接连接符 231"/>
          <p:cNvSpPr>
            <a:spLocks noGrp="1"/>
          </p:cNvSpPr>
          <p:nvPr/>
        </p:nvSpPr>
        <p:spPr>
          <a:xfrm flipV="1">
            <a:off x="10410825" y="9315450"/>
            <a:ext cx="66675" cy="47625"/>
          </a:xfrm>
          <a:prstGeom prst="line">
            <a:avLst/>
          </a:prstGeom>
          <a:noFill/>
          <a:ln w="17145">
            <a:solidFill>
              <a:srgbClr val="27323A"/>
            </a:solidFill>
          </a:ln>
        </p:spPr>
      </p:sp>
      <p:sp>
        <p:nvSpPr>
          <p:cNvPr id="233" name="矩形 232"/>
          <p:cNvSpPr>
            <a:spLocks noGrp="1"/>
          </p:cNvSpPr>
          <p:nvPr/>
        </p:nvSpPr>
        <p:spPr>
          <a:xfrm>
            <a:off x="10801350" y="9058275"/>
            <a:ext cx="2581275" cy="590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1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B11 fines 72.6%, rejected;</a:t>
            </a:r>
            <a:endParaRPr sz="1350" b="1">
              <a:solidFill>
                <a:srgbClr val="C85A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350" b="1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C85A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B12 repeats B8: 26.9%</a:t>
            </a:r>
            <a:endParaRPr sz="1350" b="1">
              <a:solidFill>
                <a:srgbClr val="C85A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1047</Words>
  <Application>WPS 演示</Application>
  <PresentationFormat>Converted Presentation</PresentationFormat>
  <Paragraphs>201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Arial</vt:lpstr>
      <vt:lpstr>宋体</vt:lpstr>
      <vt:lpstr>Wingdings</vt:lpstr>
      <vt:lpstr>Arial</vt:lpstr>
      <vt:lpstr>ChatGPT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邱江杰(2025311052)</cp:lastModifiedBy>
  <cp:revision>1</cp:revision>
  <dcterms:created xsi:type="dcterms:W3CDTF">2026-09-25T01:44:07Z</dcterms:created>
  <dcterms:modified xsi:type="dcterms:W3CDTF">2026-09-25T01:44:07Z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4CB2630AC54F4195AF0A6022C30B94FA_12</vt:lpwstr>
  </property>
  <property fmtid="{D5CDD505-2E9C-101B-9397-08002B2CF9AE}" pid="3" name="KSOProductBuildVer">
    <vt:lpwstr>2052-12.1.0.28022</vt:lpwstr>
  </property>
</Properties>
</file>