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3716000" cy="11049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Figure 2. One complete W04/B12/MisIndexed research session. Quantities and operations are generated from the formal source and independent recommendation retest. Questions are author reconstructions from recorded actions, not contemporaneous quotations. K1 was written after all twelve batches. Quench has no isolated causal effect in this session.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65" name="矩形 264"/>
          <p:cNvSpPr>
            <a:spLocks noGrp="1"/>
          </p:cNvSpPr>
          <p:nvPr/>
        </p:nvSpPr>
        <p:spPr>
          <a:xfrm>
            <a:off x="219075" y="133350"/>
            <a:ext cx="400050" cy="323850"/>
          </a:xfrm>
          <a:prstGeom prst="rect">
            <a:avLst/>
          </a:prstGeom>
          <a:noFill/>
          <a:ln w="0">
            <a:noFill/>
          </a:ln>
        </p:spPr>
        <p:txBody>
          <a:bodyPr wrap="none" lIns="0" tIns="0" rIns="0" bIns="0" anchor="ctr">
            <a:noAutofit/>
          </a:bodyPr>
          <a:lstStyle/>
          <a:p>
            <a:pPr algn="l">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a</a:t>
            </a:r>
            <a:endParaRPr sz="2175" b="1">
              <a:solidFill>
                <a:srgbClr val="111111"/>
              </a:solidFill>
              <a:latin typeface="Arial" panose="020B0604020202020204"/>
              <a:ea typeface="Arial" panose="020B0604020202020204"/>
              <a:cs typeface="Arial" panose="020B0604020202020204"/>
            </a:endParaRPr>
          </a:p>
        </p:txBody>
      </p:sp>
      <p:sp>
        <p:nvSpPr>
          <p:cNvPr id="2" name="矩形 1"/>
          <p:cNvSpPr>
            <a:spLocks noGrp="1"/>
          </p:cNvSpPr>
          <p:nvPr/>
        </p:nvSpPr>
        <p:spPr>
          <a:xfrm>
            <a:off x="666750" y="133350"/>
            <a:ext cx="12573000" cy="333375"/>
          </a:xfrm>
          <a:prstGeom prst="rect">
            <a:avLst/>
          </a:prstGeom>
          <a:noFill/>
          <a:ln w="0">
            <a:noFill/>
          </a:ln>
        </p:spPr>
        <p:txBody>
          <a:bodyPr wrap="none" lIns="0" tIns="0" rIns="0" bIns="0" anchor="ctr">
            <a:noAutofit/>
          </a:bodyPr>
          <a:lstStyle/>
          <a:p>
            <a:pPr algn="l">
              <a:defRPr sz="1875" b="1">
                <a:solidFill>
                  <a:srgbClr val="24292D"/>
                </a:solidFill>
                <a:latin typeface="Arial" panose="020B0604020202020204"/>
                <a:ea typeface="Arial" panose="020B0604020202020204"/>
                <a:cs typeface="Arial" panose="020B0604020202020204"/>
              </a:defRPr>
            </a:pPr>
            <a:r>
              <a:rPr sz="1875" b="1">
                <a:solidFill>
                  <a:srgbClr val="24292D"/>
                </a:solidFill>
                <a:latin typeface="Arial" panose="020B0604020202020204"/>
                <a:ea typeface="Arial" panose="020B0604020202020204"/>
                <a:cs typeface="Arial" panose="020B0604020202020204"/>
              </a:rPr>
              <a:t>Twelve-batch history: observed fines and recovery</a:t>
            </a:r>
            <a:endParaRPr sz="1875" b="1">
              <a:solidFill>
                <a:srgbClr val="2429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228600" y="1638300"/>
            <a:ext cx="1266825" cy="3810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Fines (%)</a:t>
            </a:r>
            <a:endParaRPr sz="1500" b="0">
              <a:solidFill>
                <a:srgbClr val="24292D"/>
              </a:solidFill>
              <a:latin typeface="Arial" panose="020B0604020202020204"/>
              <a:ea typeface="Arial" panose="020B0604020202020204"/>
              <a:cs typeface="Arial" panose="020B0604020202020204"/>
            </a:endParaRPr>
          </a:p>
        </p:txBody>
      </p:sp>
      <p:sp>
        <p:nvSpPr>
          <p:cNvPr id="4" name="直接连接符 3"/>
          <p:cNvSpPr>
            <a:spLocks noGrp="1"/>
          </p:cNvSpPr>
          <p:nvPr/>
        </p:nvSpPr>
        <p:spPr>
          <a:xfrm>
            <a:off x="1438275" y="1066800"/>
            <a:ext cx="953" cy="1524000"/>
          </a:xfrm>
          <a:prstGeom prst="line">
            <a:avLst/>
          </a:prstGeom>
          <a:noFill/>
          <a:ln w="11430">
            <a:solidFill>
              <a:srgbClr val="24292D"/>
            </a:solidFill>
          </a:ln>
        </p:spPr>
      </p:sp>
      <p:sp>
        <p:nvSpPr>
          <p:cNvPr id="5" name="直接连接符 4"/>
          <p:cNvSpPr>
            <a:spLocks noGrp="1"/>
          </p:cNvSpPr>
          <p:nvPr/>
        </p:nvSpPr>
        <p:spPr>
          <a:xfrm>
            <a:off x="1438275" y="2590800"/>
            <a:ext cx="11115675" cy="953"/>
          </a:xfrm>
          <a:prstGeom prst="line">
            <a:avLst/>
          </a:prstGeom>
          <a:noFill/>
          <a:ln w="11430">
            <a:solidFill>
              <a:srgbClr val="24292D"/>
            </a:solidFill>
          </a:ln>
        </p:spPr>
      </p:sp>
      <p:sp>
        <p:nvSpPr>
          <p:cNvPr id="6" name="直接连接符 5"/>
          <p:cNvSpPr>
            <a:spLocks noGrp="1"/>
          </p:cNvSpPr>
          <p:nvPr/>
        </p:nvSpPr>
        <p:spPr>
          <a:xfrm>
            <a:off x="1390650" y="2590800"/>
            <a:ext cx="47625" cy="953"/>
          </a:xfrm>
          <a:prstGeom prst="line">
            <a:avLst/>
          </a:prstGeom>
          <a:noFill/>
          <a:ln w="11430">
            <a:solidFill>
              <a:srgbClr val="24292D"/>
            </a:solidFill>
          </a:ln>
        </p:spPr>
      </p:sp>
      <p:sp>
        <p:nvSpPr>
          <p:cNvPr id="7" name="矩形 6"/>
          <p:cNvSpPr>
            <a:spLocks noGrp="1"/>
          </p:cNvSpPr>
          <p:nvPr/>
        </p:nvSpPr>
        <p:spPr>
          <a:xfrm>
            <a:off x="923925" y="2476500"/>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0</a:t>
            </a:r>
            <a:endParaRPr sz="1200" b="0">
              <a:solidFill>
                <a:srgbClr val="637079"/>
              </a:solidFill>
              <a:latin typeface="Arial" panose="020B0604020202020204"/>
              <a:ea typeface="Arial" panose="020B0604020202020204"/>
              <a:cs typeface="Arial" panose="020B0604020202020204"/>
            </a:endParaRPr>
          </a:p>
        </p:txBody>
      </p:sp>
      <p:sp>
        <p:nvSpPr>
          <p:cNvPr id="8" name="直接连接符 7"/>
          <p:cNvSpPr>
            <a:spLocks noGrp="1"/>
          </p:cNvSpPr>
          <p:nvPr/>
        </p:nvSpPr>
        <p:spPr>
          <a:xfrm>
            <a:off x="1390650" y="1865086"/>
            <a:ext cx="47625" cy="953"/>
          </a:xfrm>
          <a:prstGeom prst="line">
            <a:avLst/>
          </a:prstGeom>
          <a:noFill/>
          <a:ln w="11430">
            <a:solidFill>
              <a:srgbClr val="24292D"/>
            </a:solidFill>
          </a:ln>
        </p:spPr>
      </p:sp>
      <p:sp>
        <p:nvSpPr>
          <p:cNvPr id="9" name="矩形 8"/>
          <p:cNvSpPr>
            <a:spLocks noGrp="1"/>
          </p:cNvSpPr>
          <p:nvPr/>
        </p:nvSpPr>
        <p:spPr>
          <a:xfrm>
            <a:off x="923925" y="1750786"/>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50</a:t>
            </a:r>
            <a:endParaRPr sz="1200" b="0">
              <a:solidFill>
                <a:srgbClr val="637079"/>
              </a:solidFill>
              <a:latin typeface="Arial" panose="020B0604020202020204"/>
              <a:ea typeface="Arial" panose="020B0604020202020204"/>
              <a:cs typeface="Arial" panose="020B0604020202020204"/>
            </a:endParaRPr>
          </a:p>
        </p:txBody>
      </p:sp>
      <p:sp>
        <p:nvSpPr>
          <p:cNvPr id="10" name="直接连接符 9"/>
          <p:cNvSpPr>
            <a:spLocks noGrp="1"/>
          </p:cNvSpPr>
          <p:nvPr/>
        </p:nvSpPr>
        <p:spPr>
          <a:xfrm>
            <a:off x="1390650" y="1139371"/>
            <a:ext cx="47625" cy="953"/>
          </a:xfrm>
          <a:prstGeom prst="line">
            <a:avLst/>
          </a:prstGeom>
          <a:noFill/>
          <a:ln w="11430">
            <a:solidFill>
              <a:srgbClr val="24292D"/>
            </a:solidFill>
          </a:ln>
        </p:spPr>
      </p:sp>
      <p:sp>
        <p:nvSpPr>
          <p:cNvPr id="11" name="矩形 10"/>
          <p:cNvSpPr>
            <a:spLocks noGrp="1"/>
          </p:cNvSpPr>
          <p:nvPr/>
        </p:nvSpPr>
        <p:spPr>
          <a:xfrm>
            <a:off x="923925" y="1025071"/>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100</a:t>
            </a:r>
            <a:endParaRPr sz="1200" b="0">
              <a:solidFill>
                <a:srgbClr val="637079"/>
              </a:solidFill>
              <a:latin typeface="Arial" panose="020B0604020202020204"/>
              <a:ea typeface="Arial" panose="020B0604020202020204"/>
              <a:cs typeface="Arial" panose="020B0604020202020204"/>
            </a:endParaRPr>
          </a:p>
        </p:txBody>
      </p:sp>
      <p:sp>
        <p:nvSpPr>
          <p:cNvPr id="12" name="直接连接符 11"/>
          <p:cNvSpPr>
            <a:spLocks noGrp="1"/>
          </p:cNvSpPr>
          <p:nvPr/>
        </p:nvSpPr>
        <p:spPr>
          <a:xfrm>
            <a:off x="1438275" y="1865086"/>
            <a:ext cx="11134725" cy="953"/>
          </a:xfrm>
          <a:prstGeom prst="line">
            <a:avLst/>
          </a:prstGeom>
          <a:noFill/>
          <a:ln w="14288">
            <a:solidFill>
              <a:srgbClr val="8EA5B6"/>
            </a:solidFill>
            <a:prstDash val="dash"/>
          </a:ln>
        </p:spPr>
      </p:sp>
      <p:sp>
        <p:nvSpPr>
          <p:cNvPr id="13" name="矩形 12"/>
          <p:cNvSpPr>
            <a:spLocks noGrp="1"/>
          </p:cNvSpPr>
          <p:nvPr/>
        </p:nvSpPr>
        <p:spPr>
          <a:xfrm>
            <a:off x="8943975" y="1579336"/>
            <a:ext cx="1809750"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quality limit ≤ 50%</a:t>
            </a:r>
            <a:endParaRPr sz="1200" b="0">
              <a:solidFill>
                <a:srgbClr val="637079"/>
              </a:solidFill>
              <a:latin typeface="Arial" panose="020B0604020202020204"/>
              <a:ea typeface="Arial" panose="020B0604020202020204"/>
              <a:cs typeface="Arial" panose="020B0604020202020204"/>
            </a:endParaRPr>
          </a:p>
        </p:txBody>
      </p:sp>
      <p:sp>
        <p:nvSpPr>
          <p:cNvPr id="14" name="直接连接符 13"/>
          <p:cNvSpPr>
            <a:spLocks noGrp="1"/>
          </p:cNvSpPr>
          <p:nvPr/>
        </p:nvSpPr>
        <p:spPr>
          <a:xfrm flipV="1">
            <a:off x="1609725" y="1139371"/>
            <a:ext cx="977611" cy="3911"/>
          </a:xfrm>
          <a:prstGeom prst="line">
            <a:avLst/>
          </a:prstGeom>
          <a:noFill/>
          <a:ln w="22860">
            <a:solidFill>
              <a:srgbClr val="A35F42"/>
            </a:solidFill>
          </a:ln>
        </p:spPr>
      </p:sp>
      <p:sp>
        <p:nvSpPr>
          <p:cNvPr id="15" name="直接连接符 14"/>
          <p:cNvSpPr>
            <a:spLocks noGrp="1"/>
          </p:cNvSpPr>
          <p:nvPr/>
        </p:nvSpPr>
        <p:spPr>
          <a:xfrm>
            <a:off x="2587336" y="1139371"/>
            <a:ext cx="977611" cy="7359"/>
          </a:xfrm>
          <a:prstGeom prst="line">
            <a:avLst/>
          </a:prstGeom>
          <a:noFill/>
          <a:ln w="22860">
            <a:solidFill>
              <a:srgbClr val="A35F42"/>
            </a:solidFill>
          </a:ln>
        </p:spPr>
      </p:sp>
      <p:sp>
        <p:nvSpPr>
          <p:cNvPr id="16" name="直接连接符 15"/>
          <p:cNvSpPr>
            <a:spLocks noGrp="1"/>
          </p:cNvSpPr>
          <p:nvPr/>
        </p:nvSpPr>
        <p:spPr>
          <a:xfrm flipV="1">
            <a:off x="3564948" y="1139371"/>
            <a:ext cx="977611" cy="7359"/>
          </a:xfrm>
          <a:prstGeom prst="line">
            <a:avLst/>
          </a:prstGeom>
          <a:noFill/>
          <a:ln w="22860">
            <a:solidFill>
              <a:srgbClr val="A35F42"/>
            </a:solidFill>
          </a:ln>
        </p:spPr>
      </p:sp>
      <p:sp>
        <p:nvSpPr>
          <p:cNvPr id="17" name="直接连接符 16"/>
          <p:cNvSpPr>
            <a:spLocks noGrp="1"/>
          </p:cNvSpPr>
          <p:nvPr/>
        </p:nvSpPr>
        <p:spPr>
          <a:xfrm>
            <a:off x="4542559" y="1139371"/>
            <a:ext cx="977611" cy="1011540"/>
          </a:xfrm>
          <a:prstGeom prst="line">
            <a:avLst/>
          </a:prstGeom>
          <a:noFill/>
          <a:ln w="22860">
            <a:solidFill>
              <a:srgbClr val="A35F42"/>
            </a:solidFill>
          </a:ln>
        </p:spPr>
      </p:sp>
      <p:sp>
        <p:nvSpPr>
          <p:cNvPr id="18" name="直接连接符 17"/>
          <p:cNvSpPr>
            <a:spLocks noGrp="1"/>
          </p:cNvSpPr>
          <p:nvPr/>
        </p:nvSpPr>
        <p:spPr>
          <a:xfrm>
            <a:off x="5520170" y="2150911"/>
            <a:ext cx="977611" cy="12822"/>
          </a:xfrm>
          <a:prstGeom prst="line">
            <a:avLst/>
          </a:prstGeom>
          <a:noFill/>
          <a:ln w="22860">
            <a:solidFill>
              <a:srgbClr val="277F8A"/>
            </a:solidFill>
          </a:ln>
        </p:spPr>
      </p:sp>
      <p:sp>
        <p:nvSpPr>
          <p:cNvPr id="19" name="直接连接符 18"/>
          <p:cNvSpPr>
            <a:spLocks noGrp="1"/>
          </p:cNvSpPr>
          <p:nvPr/>
        </p:nvSpPr>
        <p:spPr>
          <a:xfrm>
            <a:off x="6497782" y="2163733"/>
            <a:ext cx="977611" cy="58542"/>
          </a:xfrm>
          <a:prstGeom prst="line">
            <a:avLst/>
          </a:prstGeom>
          <a:noFill/>
          <a:ln w="22860">
            <a:solidFill>
              <a:srgbClr val="277F8A"/>
            </a:solidFill>
          </a:ln>
        </p:spPr>
      </p:sp>
      <p:sp>
        <p:nvSpPr>
          <p:cNvPr id="20" name="直接连接符 19"/>
          <p:cNvSpPr>
            <a:spLocks noGrp="1"/>
          </p:cNvSpPr>
          <p:nvPr/>
        </p:nvSpPr>
        <p:spPr>
          <a:xfrm flipV="1">
            <a:off x="7475393" y="2222049"/>
            <a:ext cx="977611" cy="953"/>
          </a:xfrm>
          <a:prstGeom prst="line">
            <a:avLst/>
          </a:prstGeom>
          <a:noFill/>
          <a:ln w="22860">
            <a:solidFill>
              <a:srgbClr val="277F8A"/>
            </a:solidFill>
          </a:ln>
        </p:spPr>
      </p:sp>
      <p:sp>
        <p:nvSpPr>
          <p:cNvPr id="21" name="直接连接符 20"/>
          <p:cNvSpPr>
            <a:spLocks noGrp="1"/>
          </p:cNvSpPr>
          <p:nvPr/>
        </p:nvSpPr>
        <p:spPr>
          <a:xfrm flipV="1">
            <a:off x="8453005" y="2201083"/>
            <a:ext cx="977611" cy="20967"/>
          </a:xfrm>
          <a:prstGeom prst="line">
            <a:avLst/>
          </a:prstGeom>
          <a:noFill/>
          <a:ln w="22860">
            <a:solidFill>
              <a:srgbClr val="277F8A"/>
            </a:solidFill>
          </a:ln>
        </p:spPr>
      </p:sp>
      <p:sp>
        <p:nvSpPr>
          <p:cNvPr id="22" name="直接连接符 21"/>
          <p:cNvSpPr>
            <a:spLocks noGrp="1"/>
          </p:cNvSpPr>
          <p:nvPr/>
        </p:nvSpPr>
        <p:spPr>
          <a:xfrm flipV="1">
            <a:off x="9430616" y="2186676"/>
            <a:ext cx="977611" cy="14407"/>
          </a:xfrm>
          <a:prstGeom prst="line">
            <a:avLst/>
          </a:prstGeom>
          <a:noFill/>
          <a:ln w="22860">
            <a:solidFill>
              <a:srgbClr val="277F8A"/>
            </a:solidFill>
          </a:ln>
        </p:spPr>
      </p:sp>
      <p:sp>
        <p:nvSpPr>
          <p:cNvPr id="23" name="直接连接符 22"/>
          <p:cNvSpPr>
            <a:spLocks noGrp="1"/>
          </p:cNvSpPr>
          <p:nvPr/>
        </p:nvSpPr>
        <p:spPr>
          <a:xfrm flipV="1">
            <a:off x="10408227" y="1537446"/>
            <a:ext cx="977611" cy="649230"/>
          </a:xfrm>
          <a:prstGeom prst="line">
            <a:avLst/>
          </a:prstGeom>
          <a:noFill/>
          <a:ln w="22860">
            <a:solidFill>
              <a:srgbClr val="A35F42"/>
            </a:solidFill>
          </a:ln>
        </p:spPr>
      </p:sp>
      <p:sp>
        <p:nvSpPr>
          <p:cNvPr id="24" name="直接连接符 23"/>
          <p:cNvSpPr>
            <a:spLocks noGrp="1"/>
          </p:cNvSpPr>
          <p:nvPr/>
        </p:nvSpPr>
        <p:spPr>
          <a:xfrm>
            <a:off x="11385839" y="1537446"/>
            <a:ext cx="977611" cy="662861"/>
          </a:xfrm>
          <a:prstGeom prst="line">
            <a:avLst/>
          </a:prstGeom>
          <a:noFill/>
          <a:ln w="22860">
            <a:solidFill>
              <a:srgbClr val="A35F42"/>
            </a:solidFill>
          </a:ln>
        </p:spPr>
      </p:sp>
      <p:sp>
        <p:nvSpPr>
          <p:cNvPr id="25" name="椭圆 24"/>
          <p:cNvSpPr>
            <a:spLocks noGrp="1"/>
          </p:cNvSpPr>
          <p:nvPr/>
        </p:nvSpPr>
        <p:spPr>
          <a:xfrm>
            <a:off x="1552575" y="1086132"/>
            <a:ext cx="114300" cy="114300"/>
          </a:xfrm>
          <a:prstGeom prst="ellipse">
            <a:avLst/>
          </a:prstGeom>
          <a:solidFill>
            <a:srgbClr val="A35F42"/>
          </a:solidFill>
          <a:ln w="9525">
            <a:solidFill>
              <a:srgbClr val="A35F42"/>
            </a:solidFill>
          </a:ln>
        </p:spPr>
      </p:sp>
      <p:sp>
        <p:nvSpPr>
          <p:cNvPr id="26" name="矩形 25"/>
          <p:cNvSpPr>
            <a:spLocks noGrp="1"/>
          </p:cNvSpPr>
          <p:nvPr/>
        </p:nvSpPr>
        <p:spPr>
          <a:xfrm>
            <a:off x="1314450" y="848007"/>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99.7</a:t>
            </a:r>
            <a:endParaRPr sz="1200" b="1">
              <a:solidFill>
                <a:srgbClr val="A35F42"/>
              </a:solidFill>
              <a:latin typeface="Arial" panose="020B0604020202020204"/>
              <a:ea typeface="Arial" panose="020B0604020202020204"/>
              <a:cs typeface="Arial" panose="020B0604020202020204"/>
            </a:endParaRPr>
          </a:p>
        </p:txBody>
      </p:sp>
      <p:sp>
        <p:nvSpPr>
          <p:cNvPr id="27" name="椭圆 26"/>
          <p:cNvSpPr>
            <a:spLocks noGrp="1"/>
          </p:cNvSpPr>
          <p:nvPr/>
        </p:nvSpPr>
        <p:spPr>
          <a:xfrm>
            <a:off x="2530186" y="1082221"/>
            <a:ext cx="114300" cy="114300"/>
          </a:xfrm>
          <a:prstGeom prst="ellipse">
            <a:avLst/>
          </a:prstGeom>
          <a:solidFill>
            <a:srgbClr val="A35F42"/>
          </a:solidFill>
          <a:ln w="9525">
            <a:solidFill>
              <a:srgbClr val="A35F42"/>
            </a:solidFill>
          </a:ln>
        </p:spPr>
      </p:sp>
      <p:sp>
        <p:nvSpPr>
          <p:cNvPr id="28" name="矩形 27"/>
          <p:cNvSpPr>
            <a:spLocks noGrp="1"/>
          </p:cNvSpPr>
          <p:nvPr/>
        </p:nvSpPr>
        <p:spPr>
          <a:xfrm>
            <a:off x="2292061" y="844096"/>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100.0</a:t>
            </a:r>
            <a:endParaRPr sz="1200" b="1">
              <a:solidFill>
                <a:srgbClr val="A35F42"/>
              </a:solidFill>
              <a:latin typeface="Arial" panose="020B0604020202020204"/>
              <a:ea typeface="Arial" panose="020B0604020202020204"/>
              <a:cs typeface="Arial" panose="020B0604020202020204"/>
            </a:endParaRPr>
          </a:p>
        </p:txBody>
      </p:sp>
      <p:sp>
        <p:nvSpPr>
          <p:cNvPr id="29" name="椭圆 28"/>
          <p:cNvSpPr>
            <a:spLocks noGrp="1"/>
          </p:cNvSpPr>
          <p:nvPr/>
        </p:nvSpPr>
        <p:spPr>
          <a:xfrm>
            <a:off x="3507798" y="1089581"/>
            <a:ext cx="114300" cy="114300"/>
          </a:xfrm>
          <a:prstGeom prst="ellipse">
            <a:avLst/>
          </a:prstGeom>
          <a:solidFill>
            <a:srgbClr val="A35F42"/>
          </a:solidFill>
          <a:ln w="9525">
            <a:solidFill>
              <a:srgbClr val="A35F42"/>
            </a:solidFill>
          </a:ln>
        </p:spPr>
      </p:sp>
      <p:sp>
        <p:nvSpPr>
          <p:cNvPr id="30" name="矩形 29"/>
          <p:cNvSpPr>
            <a:spLocks noGrp="1"/>
          </p:cNvSpPr>
          <p:nvPr/>
        </p:nvSpPr>
        <p:spPr>
          <a:xfrm>
            <a:off x="3269673" y="851456"/>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99.5</a:t>
            </a:r>
            <a:endParaRPr sz="1200" b="1">
              <a:solidFill>
                <a:srgbClr val="A35F42"/>
              </a:solidFill>
              <a:latin typeface="Arial" panose="020B0604020202020204"/>
              <a:ea typeface="Arial" panose="020B0604020202020204"/>
              <a:cs typeface="Arial" panose="020B0604020202020204"/>
            </a:endParaRPr>
          </a:p>
        </p:txBody>
      </p:sp>
      <p:sp>
        <p:nvSpPr>
          <p:cNvPr id="31" name="椭圆 30"/>
          <p:cNvSpPr>
            <a:spLocks noGrp="1"/>
          </p:cNvSpPr>
          <p:nvPr/>
        </p:nvSpPr>
        <p:spPr>
          <a:xfrm>
            <a:off x="4485409" y="1082221"/>
            <a:ext cx="114300" cy="114300"/>
          </a:xfrm>
          <a:prstGeom prst="ellipse">
            <a:avLst/>
          </a:prstGeom>
          <a:solidFill>
            <a:srgbClr val="A35F42"/>
          </a:solidFill>
          <a:ln w="9525">
            <a:solidFill>
              <a:srgbClr val="A35F42"/>
            </a:solidFill>
          </a:ln>
        </p:spPr>
      </p:sp>
      <p:sp>
        <p:nvSpPr>
          <p:cNvPr id="32" name="矩形 31"/>
          <p:cNvSpPr>
            <a:spLocks noGrp="1"/>
          </p:cNvSpPr>
          <p:nvPr/>
        </p:nvSpPr>
        <p:spPr>
          <a:xfrm>
            <a:off x="4247284" y="844096"/>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100.0</a:t>
            </a:r>
            <a:endParaRPr sz="1200" b="1">
              <a:solidFill>
                <a:srgbClr val="A35F42"/>
              </a:solidFill>
              <a:latin typeface="Arial" panose="020B0604020202020204"/>
              <a:ea typeface="Arial" panose="020B0604020202020204"/>
              <a:cs typeface="Arial" panose="020B0604020202020204"/>
            </a:endParaRPr>
          </a:p>
        </p:txBody>
      </p:sp>
      <p:sp>
        <p:nvSpPr>
          <p:cNvPr id="33" name="椭圆 32"/>
          <p:cNvSpPr>
            <a:spLocks noGrp="1"/>
          </p:cNvSpPr>
          <p:nvPr/>
        </p:nvSpPr>
        <p:spPr>
          <a:xfrm>
            <a:off x="5463020" y="2093761"/>
            <a:ext cx="114300" cy="114300"/>
          </a:xfrm>
          <a:prstGeom prst="ellipse">
            <a:avLst/>
          </a:prstGeom>
          <a:solidFill>
            <a:srgbClr val="277F8A"/>
          </a:solidFill>
          <a:ln w="9525">
            <a:solidFill>
              <a:srgbClr val="277F8A"/>
            </a:solidFill>
          </a:ln>
        </p:spPr>
      </p:sp>
      <p:sp>
        <p:nvSpPr>
          <p:cNvPr id="34" name="矩形 33"/>
          <p:cNvSpPr>
            <a:spLocks noGrp="1"/>
          </p:cNvSpPr>
          <p:nvPr/>
        </p:nvSpPr>
        <p:spPr>
          <a:xfrm>
            <a:off x="5224895" y="1855636"/>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30.3</a:t>
            </a:r>
            <a:endParaRPr sz="1200" b="1">
              <a:solidFill>
                <a:srgbClr val="277F8A"/>
              </a:solidFill>
              <a:latin typeface="Arial" panose="020B0604020202020204"/>
              <a:ea typeface="Arial" panose="020B0604020202020204"/>
              <a:cs typeface="Arial" panose="020B0604020202020204"/>
            </a:endParaRPr>
          </a:p>
        </p:txBody>
      </p:sp>
      <p:sp>
        <p:nvSpPr>
          <p:cNvPr id="35" name="椭圆 34"/>
          <p:cNvSpPr>
            <a:spLocks noGrp="1"/>
          </p:cNvSpPr>
          <p:nvPr/>
        </p:nvSpPr>
        <p:spPr>
          <a:xfrm>
            <a:off x="6440632" y="2106583"/>
            <a:ext cx="114300" cy="114300"/>
          </a:xfrm>
          <a:prstGeom prst="ellipse">
            <a:avLst/>
          </a:prstGeom>
          <a:solidFill>
            <a:srgbClr val="277F8A"/>
          </a:solidFill>
          <a:ln w="9525">
            <a:solidFill>
              <a:srgbClr val="277F8A"/>
            </a:solidFill>
          </a:ln>
        </p:spPr>
      </p:sp>
      <p:sp>
        <p:nvSpPr>
          <p:cNvPr id="36" name="矩形 35"/>
          <p:cNvSpPr>
            <a:spLocks noGrp="1"/>
          </p:cNvSpPr>
          <p:nvPr/>
        </p:nvSpPr>
        <p:spPr>
          <a:xfrm>
            <a:off x="6202507" y="1868458"/>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29.4</a:t>
            </a:r>
            <a:endParaRPr sz="1200" b="1">
              <a:solidFill>
                <a:srgbClr val="277F8A"/>
              </a:solidFill>
              <a:latin typeface="Arial" panose="020B0604020202020204"/>
              <a:ea typeface="Arial" panose="020B0604020202020204"/>
              <a:cs typeface="Arial" panose="020B0604020202020204"/>
            </a:endParaRPr>
          </a:p>
        </p:txBody>
      </p:sp>
      <p:sp>
        <p:nvSpPr>
          <p:cNvPr id="37" name="椭圆 36"/>
          <p:cNvSpPr>
            <a:spLocks noGrp="1"/>
          </p:cNvSpPr>
          <p:nvPr/>
        </p:nvSpPr>
        <p:spPr>
          <a:xfrm>
            <a:off x="7418243" y="2165125"/>
            <a:ext cx="114300" cy="114300"/>
          </a:xfrm>
          <a:prstGeom prst="ellipse">
            <a:avLst/>
          </a:prstGeom>
          <a:solidFill>
            <a:srgbClr val="277F8A"/>
          </a:solidFill>
          <a:ln w="9525">
            <a:solidFill>
              <a:srgbClr val="277F8A"/>
            </a:solidFill>
          </a:ln>
        </p:spPr>
      </p:sp>
      <p:sp>
        <p:nvSpPr>
          <p:cNvPr id="38" name="矩形 37"/>
          <p:cNvSpPr>
            <a:spLocks noGrp="1"/>
          </p:cNvSpPr>
          <p:nvPr/>
        </p:nvSpPr>
        <p:spPr>
          <a:xfrm>
            <a:off x="7180118" y="1927000"/>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25.4</a:t>
            </a:r>
            <a:endParaRPr sz="1200" b="1">
              <a:solidFill>
                <a:srgbClr val="277F8A"/>
              </a:solidFill>
              <a:latin typeface="Arial" panose="020B0604020202020204"/>
              <a:ea typeface="Arial" panose="020B0604020202020204"/>
              <a:cs typeface="Arial" panose="020B0604020202020204"/>
            </a:endParaRPr>
          </a:p>
        </p:txBody>
      </p:sp>
      <p:sp>
        <p:nvSpPr>
          <p:cNvPr id="39" name="椭圆 38"/>
          <p:cNvSpPr>
            <a:spLocks noGrp="1"/>
          </p:cNvSpPr>
          <p:nvPr/>
        </p:nvSpPr>
        <p:spPr>
          <a:xfrm>
            <a:off x="8395855" y="2164899"/>
            <a:ext cx="114300" cy="114300"/>
          </a:xfrm>
          <a:prstGeom prst="ellipse">
            <a:avLst/>
          </a:prstGeom>
          <a:solidFill>
            <a:srgbClr val="277F8A"/>
          </a:solidFill>
          <a:ln w="9525">
            <a:solidFill>
              <a:srgbClr val="277F8A"/>
            </a:solidFill>
          </a:ln>
        </p:spPr>
      </p:sp>
      <p:sp>
        <p:nvSpPr>
          <p:cNvPr id="40" name="矩形 39"/>
          <p:cNvSpPr>
            <a:spLocks noGrp="1"/>
          </p:cNvSpPr>
          <p:nvPr/>
        </p:nvSpPr>
        <p:spPr>
          <a:xfrm>
            <a:off x="8157730" y="1926774"/>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25.4</a:t>
            </a:r>
            <a:endParaRPr sz="1200" b="1">
              <a:solidFill>
                <a:srgbClr val="277F8A"/>
              </a:solidFill>
              <a:latin typeface="Arial" panose="020B0604020202020204"/>
              <a:ea typeface="Arial" panose="020B0604020202020204"/>
              <a:cs typeface="Arial" panose="020B0604020202020204"/>
            </a:endParaRPr>
          </a:p>
        </p:txBody>
      </p:sp>
      <p:sp>
        <p:nvSpPr>
          <p:cNvPr id="41" name="椭圆 40"/>
          <p:cNvSpPr>
            <a:spLocks noGrp="1"/>
          </p:cNvSpPr>
          <p:nvPr/>
        </p:nvSpPr>
        <p:spPr>
          <a:xfrm>
            <a:off x="9373466" y="2143933"/>
            <a:ext cx="114300" cy="114300"/>
          </a:xfrm>
          <a:prstGeom prst="ellipse">
            <a:avLst/>
          </a:prstGeom>
          <a:solidFill>
            <a:srgbClr val="277F8A"/>
          </a:solidFill>
          <a:ln w="9525">
            <a:solidFill>
              <a:srgbClr val="277F8A"/>
            </a:solidFill>
          </a:ln>
        </p:spPr>
      </p:sp>
      <p:sp>
        <p:nvSpPr>
          <p:cNvPr id="42" name="矩形 41"/>
          <p:cNvSpPr>
            <a:spLocks noGrp="1"/>
          </p:cNvSpPr>
          <p:nvPr/>
        </p:nvSpPr>
        <p:spPr>
          <a:xfrm>
            <a:off x="9135341" y="1905808"/>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26.9</a:t>
            </a:r>
            <a:endParaRPr sz="1200" b="1">
              <a:solidFill>
                <a:srgbClr val="277F8A"/>
              </a:solidFill>
              <a:latin typeface="Arial" panose="020B0604020202020204"/>
              <a:ea typeface="Arial" panose="020B0604020202020204"/>
              <a:cs typeface="Arial" panose="020B0604020202020204"/>
            </a:endParaRPr>
          </a:p>
        </p:txBody>
      </p:sp>
      <p:sp>
        <p:nvSpPr>
          <p:cNvPr id="43" name="椭圆 42"/>
          <p:cNvSpPr>
            <a:spLocks noGrp="1"/>
          </p:cNvSpPr>
          <p:nvPr/>
        </p:nvSpPr>
        <p:spPr>
          <a:xfrm>
            <a:off x="10351077" y="2129526"/>
            <a:ext cx="114300" cy="114300"/>
          </a:xfrm>
          <a:prstGeom prst="ellipse">
            <a:avLst/>
          </a:prstGeom>
          <a:solidFill>
            <a:srgbClr val="277F8A"/>
          </a:solidFill>
          <a:ln w="9525">
            <a:solidFill>
              <a:srgbClr val="277F8A"/>
            </a:solidFill>
          </a:ln>
        </p:spPr>
      </p:sp>
      <p:sp>
        <p:nvSpPr>
          <p:cNvPr id="44" name="矩形 43"/>
          <p:cNvSpPr>
            <a:spLocks noGrp="1"/>
          </p:cNvSpPr>
          <p:nvPr/>
        </p:nvSpPr>
        <p:spPr>
          <a:xfrm>
            <a:off x="10112952" y="1891401"/>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27.8</a:t>
            </a:r>
            <a:endParaRPr sz="1200" b="1">
              <a:solidFill>
                <a:srgbClr val="277F8A"/>
              </a:solidFill>
              <a:latin typeface="Arial" panose="020B0604020202020204"/>
              <a:ea typeface="Arial" panose="020B0604020202020204"/>
              <a:cs typeface="Arial" panose="020B0604020202020204"/>
            </a:endParaRPr>
          </a:p>
        </p:txBody>
      </p:sp>
      <p:sp>
        <p:nvSpPr>
          <p:cNvPr id="45" name="椭圆 44"/>
          <p:cNvSpPr>
            <a:spLocks noGrp="1"/>
          </p:cNvSpPr>
          <p:nvPr/>
        </p:nvSpPr>
        <p:spPr>
          <a:xfrm>
            <a:off x="11328689" y="1480296"/>
            <a:ext cx="114300" cy="114300"/>
          </a:xfrm>
          <a:prstGeom prst="ellipse">
            <a:avLst/>
          </a:prstGeom>
          <a:solidFill>
            <a:srgbClr val="A35F42"/>
          </a:solidFill>
          <a:ln w="9525">
            <a:solidFill>
              <a:srgbClr val="A35F42"/>
            </a:solidFill>
          </a:ln>
        </p:spPr>
      </p:sp>
      <p:sp>
        <p:nvSpPr>
          <p:cNvPr id="46" name="矩形 45"/>
          <p:cNvSpPr>
            <a:spLocks noGrp="1"/>
          </p:cNvSpPr>
          <p:nvPr/>
        </p:nvSpPr>
        <p:spPr>
          <a:xfrm>
            <a:off x="11090564" y="1165971"/>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72.6</a:t>
            </a:r>
            <a:endParaRPr sz="1200" b="1">
              <a:solidFill>
                <a:srgbClr val="A35F42"/>
              </a:solidFill>
              <a:latin typeface="Arial" panose="020B0604020202020204"/>
              <a:ea typeface="Arial" panose="020B0604020202020204"/>
              <a:cs typeface="Arial" panose="020B0604020202020204"/>
            </a:endParaRPr>
          </a:p>
        </p:txBody>
      </p:sp>
      <p:sp>
        <p:nvSpPr>
          <p:cNvPr id="47" name="椭圆 46"/>
          <p:cNvSpPr>
            <a:spLocks noGrp="1"/>
          </p:cNvSpPr>
          <p:nvPr/>
        </p:nvSpPr>
        <p:spPr>
          <a:xfrm>
            <a:off x="12306300" y="2143157"/>
            <a:ext cx="114300" cy="114300"/>
          </a:xfrm>
          <a:prstGeom prst="ellipse">
            <a:avLst/>
          </a:prstGeom>
          <a:solidFill>
            <a:srgbClr val="277F8A"/>
          </a:solidFill>
          <a:ln w="9525">
            <a:solidFill>
              <a:srgbClr val="277F8A"/>
            </a:solidFill>
          </a:ln>
        </p:spPr>
      </p:sp>
      <p:sp>
        <p:nvSpPr>
          <p:cNvPr id="48" name="矩形 47"/>
          <p:cNvSpPr>
            <a:spLocks noGrp="1"/>
          </p:cNvSpPr>
          <p:nvPr/>
        </p:nvSpPr>
        <p:spPr>
          <a:xfrm>
            <a:off x="12068175" y="1905032"/>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26.9</a:t>
            </a:r>
            <a:endParaRPr sz="1200" b="1">
              <a:solidFill>
                <a:srgbClr val="277F8A"/>
              </a:solidFill>
              <a:latin typeface="Arial" panose="020B0604020202020204"/>
              <a:ea typeface="Arial" panose="020B0604020202020204"/>
              <a:cs typeface="Arial" panose="020B0604020202020204"/>
            </a:endParaRPr>
          </a:p>
        </p:txBody>
      </p:sp>
      <p:sp>
        <p:nvSpPr>
          <p:cNvPr id="49" name="直接连接符 48"/>
          <p:cNvSpPr>
            <a:spLocks noGrp="1"/>
          </p:cNvSpPr>
          <p:nvPr/>
        </p:nvSpPr>
        <p:spPr>
          <a:xfrm>
            <a:off x="1438275" y="3133725"/>
            <a:ext cx="953" cy="1133475"/>
          </a:xfrm>
          <a:prstGeom prst="line">
            <a:avLst/>
          </a:prstGeom>
          <a:noFill/>
          <a:ln w="11430">
            <a:solidFill>
              <a:srgbClr val="24292D"/>
            </a:solidFill>
          </a:ln>
        </p:spPr>
      </p:sp>
      <p:sp>
        <p:nvSpPr>
          <p:cNvPr id="50" name="直接连接符 49"/>
          <p:cNvSpPr>
            <a:spLocks noGrp="1"/>
          </p:cNvSpPr>
          <p:nvPr/>
        </p:nvSpPr>
        <p:spPr>
          <a:xfrm>
            <a:off x="1438275" y="4267200"/>
            <a:ext cx="11115675" cy="953"/>
          </a:xfrm>
          <a:prstGeom prst="line">
            <a:avLst/>
          </a:prstGeom>
          <a:noFill/>
          <a:ln w="11430">
            <a:solidFill>
              <a:srgbClr val="24292D"/>
            </a:solidFill>
          </a:ln>
        </p:spPr>
      </p:sp>
      <p:sp>
        <p:nvSpPr>
          <p:cNvPr id="51" name="直接连接符 50"/>
          <p:cNvSpPr>
            <a:spLocks noGrp="1"/>
          </p:cNvSpPr>
          <p:nvPr/>
        </p:nvSpPr>
        <p:spPr>
          <a:xfrm>
            <a:off x="1390650" y="4267200"/>
            <a:ext cx="47625" cy="953"/>
          </a:xfrm>
          <a:prstGeom prst="line">
            <a:avLst/>
          </a:prstGeom>
          <a:noFill/>
          <a:ln w="11430">
            <a:solidFill>
              <a:srgbClr val="24292D"/>
            </a:solidFill>
          </a:ln>
        </p:spPr>
      </p:sp>
      <p:sp>
        <p:nvSpPr>
          <p:cNvPr id="52" name="矩形 51"/>
          <p:cNvSpPr>
            <a:spLocks noGrp="1"/>
          </p:cNvSpPr>
          <p:nvPr/>
        </p:nvSpPr>
        <p:spPr>
          <a:xfrm>
            <a:off x="923925" y="4152900"/>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0</a:t>
            </a:r>
            <a:endParaRPr sz="1200" b="0">
              <a:solidFill>
                <a:srgbClr val="637079"/>
              </a:solidFill>
              <a:latin typeface="Arial" panose="020B0604020202020204"/>
              <a:ea typeface="Arial" panose="020B0604020202020204"/>
              <a:cs typeface="Arial" panose="020B0604020202020204"/>
            </a:endParaRPr>
          </a:p>
        </p:txBody>
      </p:sp>
      <p:sp>
        <p:nvSpPr>
          <p:cNvPr id="53" name="直接连接符 52"/>
          <p:cNvSpPr>
            <a:spLocks noGrp="1"/>
          </p:cNvSpPr>
          <p:nvPr/>
        </p:nvSpPr>
        <p:spPr>
          <a:xfrm>
            <a:off x="1390650" y="3794919"/>
            <a:ext cx="47625" cy="953"/>
          </a:xfrm>
          <a:prstGeom prst="line">
            <a:avLst/>
          </a:prstGeom>
          <a:noFill/>
          <a:ln w="11430">
            <a:solidFill>
              <a:srgbClr val="24292D"/>
            </a:solidFill>
          </a:ln>
        </p:spPr>
      </p:sp>
      <p:sp>
        <p:nvSpPr>
          <p:cNvPr id="54" name="矩形 53"/>
          <p:cNvSpPr>
            <a:spLocks noGrp="1"/>
          </p:cNvSpPr>
          <p:nvPr/>
        </p:nvSpPr>
        <p:spPr>
          <a:xfrm>
            <a:off x="923925" y="3680619"/>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25</a:t>
            </a:r>
            <a:endParaRPr sz="1200" b="0">
              <a:solidFill>
                <a:srgbClr val="637079"/>
              </a:solidFill>
              <a:latin typeface="Arial" panose="020B0604020202020204"/>
              <a:ea typeface="Arial" panose="020B0604020202020204"/>
              <a:cs typeface="Arial" panose="020B0604020202020204"/>
            </a:endParaRPr>
          </a:p>
        </p:txBody>
      </p:sp>
      <p:sp>
        <p:nvSpPr>
          <p:cNvPr id="55" name="直接连接符 54"/>
          <p:cNvSpPr>
            <a:spLocks noGrp="1"/>
          </p:cNvSpPr>
          <p:nvPr/>
        </p:nvSpPr>
        <p:spPr>
          <a:xfrm>
            <a:off x="1390650" y="3322638"/>
            <a:ext cx="47625" cy="953"/>
          </a:xfrm>
          <a:prstGeom prst="line">
            <a:avLst/>
          </a:prstGeom>
          <a:noFill/>
          <a:ln w="11430">
            <a:solidFill>
              <a:srgbClr val="24292D"/>
            </a:solidFill>
          </a:ln>
        </p:spPr>
      </p:sp>
      <p:sp>
        <p:nvSpPr>
          <p:cNvPr id="56" name="矩形 55"/>
          <p:cNvSpPr>
            <a:spLocks noGrp="1"/>
          </p:cNvSpPr>
          <p:nvPr/>
        </p:nvSpPr>
        <p:spPr>
          <a:xfrm>
            <a:off x="923925" y="3208338"/>
            <a:ext cx="428625" cy="247650"/>
          </a:xfrm>
          <a:prstGeom prst="rect">
            <a:avLst/>
          </a:prstGeom>
          <a:noFill/>
          <a:ln w="0">
            <a:noFill/>
          </a:ln>
        </p:spPr>
        <p:txBody>
          <a:bodyPr wrap="none" lIns="0" tIns="0" rIns="0" bIns="0" anchor="ctr">
            <a:noAutofit/>
          </a:bodyPr>
          <a:lstStyle/>
          <a:p>
            <a:pPr algn="r">
              <a:defRPr sz="1200" b="0">
                <a:solidFill>
                  <a:srgbClr val="637079"/>
                </a:solidFill>
                <a:latin typeface="Arial" panose="020B0604020202020204"/>
                <a:ea typeface="Arial" panose="020B0604020202020204"/>
                <a:cs typeface="Arial" panose="020B0604020202020204"/>
              </a:defRPr>
            </a:pPr>
            <a:r>
              <a:rPr sz="1200" b="0">
                <a:solidFill>
                  <a:srgbClr val="637079"/>
                </a:solidFill>
                <a:latin typeface="Arial" panose="020B0604020202020204"/>
                <a:ea typeface="Arial" panose="020B0604020202020204"/>
                <a:cs typeface="Arial" panose="020B0604020202020204"/>
              </a:rPr>
              <a:t>50</a:t>
            </a:r>
            <a:endParaRPr sz="1200" b="0">
              <a:solidFill>
                <a:srgbClr val="637079"/>
              </a:solidFill>
              <a:latin typeface="Arial" panose="020B0604020202020204"/>
              <a:ea typeface="Arial" panose="020B0604020202020204"/>
              <a:cs typeface="Arial" panose="020B0604020202020204"/>
            </a:endParaRPr>
          </a:p>
        </p:txBody>
      </p:sp>
      <p:sp>
        <p:nvSpPr>
          <p:cNvPr id="57" name="直接连接符 56"/>
          <p:cNvSpPr>
            <a:spLocks noGrp="1"/>
          </p:cNvSpPr>
          <p:nvPr/>
        </p:nvSpPr>
        <p:spPr>
          <a:xfrm>
            <a:off x="1609725" y="3546584"/>
            <a:ext cx="977611" cy="293050"/>
          </a:xfrm>
          <a:prstGeom prst="line">
            <a:avLst/>
          </a:prstGeom>
          <a:noFill/>
          <a:ln w="22860">
            <a:solidFill>
              <a:srgbClr val="A35F42"/>
            </a:solidFill>
          </a:ln>
        </p:spPr>
      </p:sp>
      <p:sp>
        <p:nvSpPr>
          <p:cNvPr id="58" name="直接连接符 57"/>
          <p:cNvSpPr>
            <a:spLocks noGrp="1"/>
          </p:cNvSpPr>
          <p:nvPr/>
        </p:nvSpPr>
        <p:spPr>
          <a:xfrm>
            <a:off x="2587336" y="3839633"/>
            <a:ext cx="977611" cy="4095"/>
          </a:xfrm>
          <a:prstGeom prst="line">
            <a:avLst/>
          </a:prstGeom>
          <a:noFill/>
          <a:ln w="22860">
            <a:solidFill>
              <a:srgbClr val="A35F42"/>
            </a:solidFill>
          </a:ln>
        </p:spPr>
      </p:sp>
      <p:sp>
        <p:nvSpPr>
          <p:cNvPr id="59" name="直接连接符 58"/>
          <p:cNvSpPr>
            <a:spLocks noGrp="1"/>
          </p:cNvSpPr>
          <p:nvPr/>
        </p:nvSpPr>
        <p:spPr>
          <a:xfrm flipV="1">
            <a:off x="3564948" y="3798348"/>
            <a:ext cx="977611" cy="45380"/>
          </a:xfrm>
          <a:prstGeom prst="line">
            <a:avLst/>
          </a:prstGeom>
          <a:noFill/>
          <a:ln w="22860">
            <a:solidFill>
              <a:srgbClr val="A35F42"/>
            </a:solidFill>
          </a:ln>
        </p:spPr>
      </p:sp>
      <p:sp>
        <p:nvSpPr>
          <p:cNvPr id="60" name="直接连接符 59"/>
          <p:cNvSpPr>
            <a:spLocks noGrp="1"/>
          </p:cNvSpPr>
          <p:nvPr/>
        </p:nvSpPr>
        <p:spPr>
          <a:xfrm flipV="1">
            <a:off x="4542559" y="3511590"/>
            <a:ext cx="977611" cy="286758"/>
          </a:xfrm>
          <a:prstGeom prst="line">
            <a:avLst/>
          </a:prstGeom>
          <a:noFill/>
          <a:ln w="22860">
            <a:solidFill>
              <a:srgbClr val="A35F42"/>
            </a:solidFill>
          </a:ln>
        </p:spPr>
      </p:sp>
      <p:sp>
        <p:nvSpPr>
          <p:cNvPr id="61" name="直接连接符 60"/>
          <p:cNvSpPr>
            <a:spLocks noGrp="1"/>
          </p:cNvSpPr>
          <p:nvPr/>
        </p:nvSpPr>
        <p:spPr>
          <a:xfrm flipV="1">
            <a:off x="5520170" y="3459111"/>
            <a:ext cx="977611" cy="52479"/>
          </a:xfrm>
          <a:prstGeom prst="line">
            <a:avLst/>
          </a:prstGeom>
          <a:noFill/>
          <a:ln w="22860">
            <a:solidFill>
              <a:srgbClr val="277F8A"/>
            </a:solidFill>
          </a:ln>
        </p:spPr>
      </p:sp>
      <p:sp>
        <p:nvSpPr>
          <p:cNvPr id="62" name="直接连接符 61"/>
          <p:cNvSpPr>
            <a:spLocks noGrp="1"/>
          </p:cNvSpPr>
          <p:nvPr/>
        </p:nvSpPr>
        <p:spPr>
          <a:xfrm flipV="1">
            <a:off x="6497782" y="3416580"/>
            <a:ext cx="977611" cy="42531"/>
          </a:xfrm>
          <a:prstGeom prst="line">
            <a:avLst/>
          </a:prstGeom>
          <a:noFill/>
          <a:ln w="22860">
            <a:solidFill>
              <a:srgbClr val="277F8A"/>
            </a:solidFill>
          </a:ln>
        </p:spPr>
      </p:sp>
      <p:sp>
        <p:nvSpPr>
          <p:cNvPr id="63" name="直接连接符 62"/>
          <p:cNvSpPr>
            <a:spLocks noGrp="1"/>
          </p:cNvSpPr>
          <p:nvPr/>
        </p:nvSpPr>
        <p:spPr>
          <a:xfrm flipV="1">
            <a:off x="7475393" y="3406886"/>
            <a:ext cx="977611" cy="9694"/>
          </a:xfrm>
          <a:prstGeom prst="line">
            <a:avLst/>
          </a:prstGeom>
          <a:noFill/>
          <a:ln w="22860">
            <a:solidFill>
              <a:srgbClr val="277F8A"/>
            </a:solidFill>
          </a:ln>
        </p:spPr>
      </p:sp>
      <p:sp>
        <p:nvSpPr>
          <p:cNvPr id="64" name="直接连接符 63"/>
          <p:cNvSpPr>
            <a:spLocks noGrp="1"/>
          </p:cNvSpPr>
          <p:nvPr/>
        </p:nvSpPr>
        <p:spPr>
          <a:xfrm>
            <a:off x="8453005" y="3406886"/>
            <a:ext cx="977611" cy="17178"/>
          </a:xfrm>
          <a:prstGeom prst="line">
            <a:avLst/>
          </a:prstGeom>
          <a:noFill/>
          <a:ln w="22860">
            <a:solidFill>
              <a:srgbClr val="277F8A"/>
            </a:solidFill>
          </a:ln>
        </p:spPr>
      </p:sp>
      <p:sp>
        <p:nvSpPr>
          <p:cNvPr id="65" name="直接连接符 64"/>
          <p:cNvSpPr>
            <a:spLocks noGrp="1"/>
          </p:cNvSpPr>
          <p:nvPr/>
        </p:nvSpPr>
        <p:spPr>
          <a:xfrm flipV="1">
            <a:off x="9430616" y="3421953"/>
            <a:ext cx="977611" cy="2110"/>
          </a:xfrm>
          <a:prstGeom prst="line">
            <a:avLst/>
          </a:prstGeom>
          <a:noFill/>
          <a:ln w="22860">
            <a:solidFill>
              <a:srgbClr val="277F8A"/>
            </a:solidFill>
          </a:ln>
        </p:spPr>
      </p:sp>
      <p:sp>
        <p:nvSpPr>
          <p:cNvPr id="66" name="直接连接符 65"/>
          <p:cNvSpPr>
            <a:spLocks noGrp="1"/>
          </p:cNvSpPr>
          <p:nvPr/>
        </p:nvSpPr>
        <p:spPr>
          <a:xfrm>
            <a:off x="10408227" y="3421953"/>
            <a:ext cx="977611" cy="2921"/>
          </a:xfrm>
          <a:prstGeom prst="line">
            <a:avLst/>
          </a:prstGeom>
          <a:noFill/>
          <a:ln w="22860">
            <a:solidFill>
              <a:srgbClr val="A35F42"/>
            </a:solidFill>
          </a:ln>
        </p:spPr>
      </p:sp>
      <p:sp>
        <p:nvSpPr>
          <p:cNvPr id="67" name="直接连接符 66"/>
          <p:cNvSpPr>
            <a:spLocks noGrp="1"/>
          </p:cNvSpPr>
          <p:nvPr/>
        </p:nvSpPr>
        <p:spPr>
          <a:xfrm>
            <a:off x="11385839" y="3424875"/>
            <a:ext cx="977611" cy="8579"/>
          </a:xfrm>
          <a:prstGeom prst="line">
            <a:avLst/>
          </a:prstGeom>
          <a:noFill/>
          <a:ln w="22860">
            <a:solidFill>
              <a:srgbClr val="A35F42"/>
            </a:solidFill>
          </a:ln>
        </p:spPr>
      </p:sp>
      <p:sp>
        <p:nvSpPr>
          <p:cNvPr id="68" name="椭圆 67"/>
          <p:cNvSpPr>
            <a:spLocks noGrp="1"/>
          </p:cNvSpPr>
          <p:nvPr/>
        </p:nvSpPr>
        <p:spPr>
          <a:xfrm>
            <a:off x="1552575" y="3489434"/>
            <a:ext cx="114300" cy="114300"/>
          </a:xfrm>
          <a:prstGeom prst="ellipse">
            <a:avLst/>
          </a:prstGeom>
          <a:solidFill>
            <a:srgbClr val="A35F42"/>
          </a:solidFill>
          <a:ln w="9525">
            <a:solidFill>
              <a:srgbClr val="A35F42"/>
            </a:solidFill>
          </a:ln>
        </p:spPr>
      </p:sp>
      <p:sp>
        <p:nvSpPr>
          <p:cNvPr id="69" name="矩形 68"/>
          <p:cNvSpPr>
            <a:spLocks noGrp="1"/>
          </p:cNvSpPr>
          <p:nvPr/>
        </p:nvSpPr>
        <p:spPr>
          <a:xfrm>
            <a:off x="1314450" y="3251309"/>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38.1</a:t>
            </a:r>
            <a:endParaRPr sz="1200" b="1">
              <a:solidFill>
                <a:srgbClr val="A35F42"/>
              </a:solidFill>
              <a:latin typeface="Arial" panose="020B0604020202020204"/>
              <a:ea typeface="Arial" panose="020B0604020202020204"/>
              <a:cs typeface="Arial" panose="020B0604020202020204"/>
            </a:endParaRPr>
          </a:p>
        </p:txBody>
      </p:sp>
      <p:sp>
        <p:nvSpPr>
          <p:cNvPr id="70" name="椭圆 69"/>
          <p:cNvSpPr>
            <a:spLocks noGrp="1"/>
          </p:cNvSpPr>
          <p:nvPr/>
        </p:nvSpPr>
        <p:spPr>
          <a:xfrm>
            <a:off x="2530186" y="3782483"/>
            <a:ext cx="114300" cy="114300"/>
          </a:xfrm>
          <a:prstGeom prst="ellipse">
            <a:avLst/>
          </a:prstGeom>
          <a:solidFill>
            <a:srgbClr val="A35F42"/>
          </a:solidFill>
          <a:ln w="9525">
            <a:solidFill>
              <a:srgbClr val="A35F42"/>
            </a:solidFill>
          </a:ln>
        </p:spPr>
      </p:sp>
      <p:sp>
        <p:nvSpPr>
          <p:cNvPr id="71" name="矩形 70"/>
          <p:cNvSpPr>
            <a:spLocks noGrp="1"/>
          </p:cNvSpPr>
          <p:nvPr/>
        </p:nvSpPr>
        <p:spPr>
          <a:xfrm>
            <a:off x="2292061" y="3544358"/>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22.6</a:t>
            </a:r>
            <a:endParaRPr sz="1200" b="1">
              <a:solidFill>
                <a:srgbClr val="A35F42"/>
              </a:solidFill>
              <a:latin typeface="Arial" panose="020B0604020202020204"/>
              <a:ea typeface="Arial" panose="020B0604020202020204"/>
              <a:cs typeface="Arial" panose="020B0604020202020204"/>
            </a:endParaRPr>
          </a:p>
        </p:txBody>
      </p:sp>
      <p:sp>
        <p:nvSpPr>
          <p:cNvPr id="72" name="椭圆 71"/>
          <p:cNvSpPr>
            <a:spLocks noGrp="1"/>
          </p:cNvSpPr>
          <p:nvPr/>
        </p:nvSpPr>
        <p:spPr>
          <a:xfrm>
            <a:off x="3507798" y="3786579"/>
            <a:ext cx="114300" cy="114300"/>
          </a:xfrm>
          <a:prstGeom prst="ellipse">
            <a:avLst/>
          </a:prstGeom>
          <a:solidFill>
            <a:srgbClr val="A35F42"/>
          </a:solidFill>
          <a:ln w="9525">
            <a:solidFill>
              <a:srgbClr val="A35F42"/>
            </a:solidFill>
          </a:ln>
        </p:spPr>
      </p:sp>
      <p:sp>
        <p:nvSpPr>
          <p:cNvPr id="73" name="矩形 72"/>
          <p:cNvSpPr>
            <a:spLocks noGrp="1"/>
          </p:cNvSpPr>
          <p:nvPr/>
        </p:nvSpPr>
        <p:spPr>
          <a:xfrm>
            <a:off x="3269673" y="3548454"/>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22.4</a:t>
            </a:r>
            <a:endParaRPr sz="1200" b="1">
              <a:solidFill>
                <a:srgbClr val="A35F42"/>
              </a:solidFill>
              <a:latin typeface="Arial" panose="020B0604020202020204"/>
              <a:ea typeface="Arial" panose="020B0604020202020204"/>
              <a:cs typeface="Arial" panose="020B0604020202020204"/>
            </a:endParaRPr>
          </a:p>
        </p:txBody>
      </p:sp>
      <p:sp>
        <p:nvSpPr>
          <p:cNvPr id="74" name="椭圆 73"/>
          <p:cNvSpPr>
            <a:spLocks noGrp="1"/>
          </p:cNvSpPr>
          <p:nvPr/>
        </p:nvSpPr>
        <p:spPr>
          <a:xfrm>
            <a:off x="4485409" y="3741198"/>
            <a:ext cx="114300" cy="114300"/>
          </a:xfrm>
          <a:prstGeom prst="ellipse">
            <a:avLst/>
          </a:prstGeom>
          <a:solidFill>
            <a:srgbClr val="A35F42"/>
          </a:solidFill>
          <a:ln w="9525">
            <a:solidFill>
              <a:srgbClr val="A35F42"/>
            </a:solidFill>
          </a:ln>
        </p:spPr>
      </p:sp>
      <p:sp>
        <p:nvSpPr>
          <p:cNvPr id="75" name="矩形 74"/>
          <p:cNvSpPr>
            <a:spLocks noGrp="1"/>
          </p:cNvSpPr>
          <p:nvPr/>
        </p:nvSpPr>
        <p:spPr>
          <a:xfrm>
            <a:off x="4247284" y="3503073"/>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24.8</a:t>
            </a:r>
            <a:endParaRPr sz="1200" b="1">
              <a:solidFill>
                <a:srgbClr val="A35F42"/>
              </a:solidFill>
              <a:latin typeface="Arial" panose="020B0604020202020204"/>
              <a:ea typeface="Arial" panose="020B0604020202020204"/>
              <a:cs typeface="Arial" panose="020B0604020202020204"/>
            </a:endParaRPr>
          </a:p>
        </p:txBody>
      </p:sp>
      <p:sp>
        <p:nvSpPr>
          <p:cNvPr id="76" name="椭圆 75"/>
          <p:cNvSpPr>
            <a:spLocks noGrp="1"/>
          </p:cNvSpPr>
          <p:nvPr/>
        </p:nvSpPr>
        <p:spPr>
          <a:xfrm>
            <a:off x="5463020" y="3454440"/>
            <a:ext cx="114300" cy="114300"/>
          </a:xfrm>
          <a:prstGeom prst="ellipse">
            <a:avLst/>
          </a:prstGeom>
          <a:solidFill>
            <a:srgbClr val="277F8A"/>
          </a:solidFill>
          <a:ln w="9525">
            <a:solidFill>
              <a:srgbClr val="277F8A"/>
            </a:solidFill>
          </a:ln>
        </p:spPr>
      </p:sp>
      <p:sp>
        <p:nvSpPr>
          <p:cNvPr id="77" name="矩形 76"/>
          <p:cNvSpPr>
            <a:spLocks noGrp="1"/>
          </p:cNvSpPr>
          <p:nvPr/>
        </p:nvSpPr>
        <p:spPr>
          <a:xfrm>
            <a:off x="5224895" y="3216315"/>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40.0</a:t>
            </a:r>
            <a:endParaRPr sz="1200" b="1">
              <a:solidFill>
                <a:srgbClr val="277F8A"/>
              </a:solidFill>
              <a:latin typeface="Arial" panose="020B0604020202020204"/>
              <a:ea typeface="Arial" panose="020B0604020202020204"/>
              <a:cs typeface="Arial" panose="020B0604020202020204"/>
            </a:endParaRPr>
          </a:p>
        </p:txBody>
      </p:sp>
      <p:sp>
        <p:nvSpPr>
          <p:cNvPr id="78" name="椭圆 77"/>
          <p:cNvSpPr>
            <a:spLocks noGrp="1"/>
          </p:cNvSpPr>
          <p:nvPr/>
        </p:nvSpPr>
        <p:spPr>
          <a:xfrm>
            <a:off x="6440632" y="3401961"/>
            <a:ext cx="114300" cy="114300"/>
          </a:xfrm>
          <a:prstGeom prst="ellipse">
            <a:avLst/>
          </a:prstGeom>
          <a:solidFill>
            <a:srgbClr val="277F8A"/>
          </a:solidFill>
          <a:ln w="9525">
            <a:solidFill>
              <a:srgbClr val="277F8A"/>
            </a:solidFill>
          </a:ln>
        </p:spPr>
      </p:sp>
      <p:sp>
        <p:nvSpPr>
          <p:cNvPr id="79" name="矩形 78"/>
          <p:cNvSpPr>
            <a:spLocks noGrp="1"/>
          </p:cNvSpPr>
          <p:nvPr/>
        </p:nvSpPr>
        <p:spPr>
          <a:xfrm>
            <a:off x="6202507" y="3163836"/>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42.8</a:t>
            </a:r>
            <a:endParaRPr sz="1200" b="1">
              <a:solidFill>
                <a:srgbClr val="277F8A"/>
              </a:solidFill>
              <a:latin typeface="Arial" panose="020B0604020202020204"/>
              <a:ea typeface="Arial" panose="020B0604020202020204"/>
              <a:cs typeface="Arial" panose="020B0604020202020204"/>
            </a:endParaRPr>
          </a:p>
        </p:txBody>
      </p:sp>
      <p:sp>
        <p:nvSpPr>
          <p:cNvPr id="80" name="椭圆 79"/>
          <p:cNvSpPr>
            <a:spLocks noGrp="1"/>
          </p:cNvSpPr>
          <p:nvPr/>
        </p:nvSpPr>
        <p:spPr>
          <a:xfrm>
            <a:off x="7418243" y="3359430"/>
            <a:ext cx="114300" cy="114300"/>
          </a:xfrm>
          <a:prstGeom prst="ellipse">
            <a:avLst/>
          </a:prstGeom>
          <a:solidFill>
            <a:srgbClr val="277F8A"/>
          </a:solidFill>
          <a:ln w="9525">
            <a:solidFill>
              <a:srgbClr val="277F8A"/>
            </a:solidFill>
          </a:ln>
        </p:spPr>
      </p:sp>
      <p:sp>
        <p:nvSpPr>
          <p:cNvPr id="81" name="矩形 80"/>
          <p:cNvSpPr>
            <a:spLocks noGrp="1"/>
          </p:cNvSpPr>
          <p:nvPr/>
        </p:nvSpPr>
        <p:spPr>
          <a:xfrm>
            <a:off x="7180118" y="3121305"/>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45.0</a:t>
            </a:r>
            <a:endParaRPr sz="1200" b="1">
              <a:solidFill>
                <a:srgbClr val="277F8A"/>
              </a:solidFill>
              <a:latin typeface="Arial" panose="020B0604020202020204"/>
              <a:ea typeface="Arial" panose="020B0604020202020204"/>
              <a:cs typeface="Arial" panose="020B0604020202020204"/>
            </a:endParaRPr>
          </a:p>
        </p:txBody>
      </p:sp>
      <p:sp>
        <p:nvSpPr>
          <p:cNvPr id="82" name="椭圆 81"/>
          <p:cNvSpPr>
            <a:spLocks noGrp="1"/>
          </p:cNvSpPr>
          <p:nvPr/>
        </p:nvSpPr>
        <p:spPr>
          <a:xfrm>
            <a:off x="8395855" y="3349736"/>
            <a:ext cx="114300" cy="114300"/>
          </a:xfrm>
          <a:prstGeom prst="ellipse">
            <a:avLst/>
          </a:prstGeom>
          <a:solidFill>
            <a:srgbClr val="277F8A"/>
          </a:solidFill>
          <a:ln w="9525">
            <a:solidFill>
              <a:srgbClr val="277F8A"/>
            </a:solidFill>
          </a:ln>
        </p:spPr>
      </p:sp>
      <p:sp>
        <p:nvSpPr>
          <p:cNvPr id="83" name="矩形 82"/>
          <p:cNvSpPr>
            <a:spLocks noGrp="1"/>
          </p:cNvSpPr>
          <p:nvPr/>
        </p:nvSpPr>
        <p:spPr>
          <a:xfrm>
            <a:off x="8157730" y="3111611"/>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45.5</a:t>
            </a:r>
            <a:endParaRPr sz="1200" b="1">
              <a:solidFill>
                <a:srgbClr val="277F8A"/>
              </a:solidFill>
              <a:latin typeface="Arial" panose="020B0604020202020204"/>
              <a:ea typeface="Arial" panose="020B0604020202020204"/>
              <a:cs typeface="Arial" panose="020B0604020202020204"/>
            </a:endParaRPr>
          </a:p>
        </p:txBody>
      </p:sp>
      <p:sp>
        <p:nvSpPr>
          <p:cNvPr id="84" name="椭圆 83"/>
          <p:cNvSpPr>
            <a:spLocks noGrp="1"/>
          </p:cNvSpPr>
          <p:nvPr/>
        </p:nvSpPr>
        <p:spPr>
          <a:xfrm>
            <a:off x="9373466" y="3366913"/>
            <a:ext cx="114300" cy="114300"/>
          </a:xfrm>
          <a:prstGeom prst="ellipse">
            <a:avLst/>
          </a:prstGeom>
          <a:solidFill>
            <a:srgbClr val="277F8A"/>
          </a:solidFill>
          <a:ln w="9525">
            <a:solidFill>
              <a:srgbClr val="277F8A"/>
            </a:solidFill>
          </a:ln>
        </p:spPr>
      </p:sp>
      <p:sp>
        <p:nvSpPr>
          <p:cNvPr id="85" name="矩形 84"/>
          <p:cNvSpPr>
            <a:spLocks noGrp="1"/>
          </p:cNvSpPr>
          <p:nvPr/>
        </p:nvSpPr>
        <p:spPr>
          <a:xfrm>
            <a:off x="9135341" y="3128788"/>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44.6</a:t>
            </a:r>
            <a:endParaRPr sz="1200" b="1">
              <a:solidFill>
                <a:srgbClr val="277F8A"/>
              </a:solidFill>
              <a:latin typeface="Arial" panose="020B0604020202020204"/>
              <a:ea typeface="Arial" panose="020B0604020202020204"/>
              <a:cs typeface="Arial" panose="020B0604020202020204"/>
            </a:endParaRPr>
          </a:p>
        </p:txBody>
      </p:sp>
      <p:sp>
        <p:nvSpPr>
          <p:cNvPr id="86" name="椭圆 85"/>
          <p:cNvSpPr>
            <a:spLocks noGrp="1"/>
          </p:cNvSpPr>
          <p:nvPr/>
        </p:nvSpPr>
        <p:spPr>
          <a:xfrm>
            <a:off x="10351077" y="3364803"/>
            <a:ext cx="114300" cy="114300"/>
          </a:xfrm>
          <a:prstGeom prst="ellipse">
            <a:avLst/>
          </a:prstGeom>
          <a:solidFill>
            <a:srgbClr val="277F8A"/>
          </a:solidFill>
          <a:ln w="9525">
            <a:solidFill>
              <a:srgbClr val="277F8A"/>
            </a:solidFill>
          </a:ln>
        </p:spPr>
      </p:sp>
      <p:sp>
        <p:nvSpPr>
          <p:cNvPr id="87" name="矩形 86"/>
          <p:cNvSpPr>
            <a:spLocks noGrp="1"/>
          </p:cNvSpPr>
          <p:nvPr/>
        </p:nvSpPr>
        <p:spPr>
          <a:xfrm>
            <a:off x="10112952" y="3126678"/>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44.7</a:t>
            </a:r>
            <a:endParaRPr sz="1200" b="1">
              <a:solidFill>
                <a:srgbClr val="277F8A"/>
              </a:solidFill>
              <a:latin typeface="Arial" panose="020B0604020202020204"/>
              <a:ea typeface="Arial" panose="020B0604020202020204"/>
              <a:cs typeface="Arial" panose="020B0604020202020204"/>
            </a:endParaRPr>
          </a:p>
        </p:txBody>
      </p:sp>
      <p:sp>
        <p:nvSpPr>
          <p:cNvPr id="88" name="椭圆 87"/>
          <p:cNvSpPr>
            <a:spLocks noGrp="1"/>
          </p:cNvSpPr>
          <p:nvPr/>
        </p:nvSpPr>
        <p:spPr>
          <a:xfrm>
            <a:off x="11328689" y="3367725"/>
            <a:ext cx="114300" cy="114300"/>
          </a:xfrm>
          <a:prstGeom prst="ellipse">
            <a:avLst/>
          </a:prstGeom>
          <a:solidFill>
            <a:srgbClr val="A35F42"/>
          </a:solidFill>
          <a:ln w="9525">
            <a:solidFill>
              <a:srgbClr val="A35F42"/>
            </a:solidFill>
          </a:ln>
        </p:spPr>
      </p:sp>
      <p:sp>
        <p:nvSpPr>
          <p:cNvPr id="89" name="矩形 88"/>
          <p:cNvSpPr>
            <a:spLocks noGrp="1"/>
          </p:cNvSpPr>
          <p:nvPr/>
        </p:nvSpPr>
        <p:spPr>
          <a:xfrm>
            <a:off x="11090564" y="3129600"/>
            <a:ext cx="590550" cy="238125"/>
          </a:xfrm>
          <a:prstGeom prst="rect">
            <a:avLst/>
          </a:prstGeom>
          <a:noFill/>
          <a:ln w="0">
            <a:noFill/>
          </a:ln>
        </p:spPr>
        <p:txBody>
          <a:bodyPr wrap="none" lIns="0" tIns="0" rIns="0" bIns="0" anchor="ctr">
            <a:noAutofit/>
          </a:bodyPr>
          <a:lstStyle/>
          <a:p>
            <a:pPr algn="ctr">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44.6</a:t>
            </a:r>
            <a:endParaRPr sz="1200" b="1">
              <a:solidFill>
                <a:srgbClr val="A35F42"/>
              </a:solidFill>
              <a:latin typeface="Arial" panose="020B0604020202020204"/>
              <a:ea typeface="Arial" panose="020B0604020202020204"/>
              <a:cs typeface="Arial" panose="020B0604020202020204"/>
            </a:endParaRPr>
          </a:p>
        </p:txBody>
      </p:sp>
      <p:sp>
        <p:nvSpPr>
          <p:cNvPr id="90" name="椭圆 89"/>
          <p:cNvSpPr>
            <a:spLocks noGrp="1"/>
          </p:cNvSpPr>
          <p:nvPr/>
        </p:nvSpPr>
        <p:spPr>
          <a:xfrm>
            <a:off x="12306300" y="3376303"/>
            <a:ext cx="114300" cy="114300"/>
          </a:xfrm>
          <a:prstGeom prst="ellipse">
            <a:avLst/>
          </a:prstGeom>
          <a:solidFill>
            <a:srgbClr val="277F8A"/>
          </a:solidFill>
          <a:ln w="9525">
            <a:solidFill>
              <a:srgbClr val="277F8A"/>
            </a:solidFill>
          </a:ln>
        </p:spPr>
      </p:sp>
      <p:sp>
        <p:nvSpPr>
          <p:cNvPr id="91" name="矩形 90"/>
          <p:cNvSpPr>
            <a:spLocks noGrp="1"/>
          </p:cNvSpPr>
          <p:nvPr/>
        </p:nvSpPr>
        <p:spPr>
          <a:xfrm>
            <a:off x="12068175" y="3138178"/>
            <a:ext cx="590550" cy="238125"/>
          </a:xfrm>
          <a:prstGeom prst="rect">
            <a:avLst/>
          </a:prstGeom>
          <a:noFill/>
          <a:ln w="0">
            <a:noFill/>
          </a:ln>
        </p:spPr>
        <p:txBody>
          <a:bodyPr wrap="none" lIns="0" tIns="0" rIns="0" bIns="0" anchor="ctr">
            <a:noAutofit/>
          </a:bodyPr>
          <a:lstStyle/>
          <a:p>
            <a:pPr algn="ctr">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44.1</a:t>
            </a:r>
            <a:endParaRPr sz="1200" b="1">
              <a:solidFill>
                <a:srgbClr val="277F8A"/>
              </a:solidFill>
              <a:latin typeface="Arial" panose="020B0604020202020204"/>
              <a:ea typeface="Arial" panose="020B0604020202020204"/>
              <a:cs typeface="Arial" panose="020B0604020202020204"/>
            </a:endParaRPr>
          </a:p>
        </p:txBody>
      </p:sp>
      <p:sp>
        <p:nvSpPr>
          <p:cNvPr id="92" name="矩形 91"/>
          <p:cNvSpPr>
            <a:spLocks noGrp="1"/>
          </p:cNvSpPr>
          <p:nvPr/>
        </p:nvSpPr>
        <p:spPr>
          <a:xfrm>
            <a:off x="228600" y="2809875"/>
            <a:ext cx="3095625" cy="25717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Recovery (%) · seed-excluded</a:t>
            </a:r>
            <a:endParaRPr sz="1275" b="0">
              <a:solidFill>
                <a:srgbClr val="24292D"/>
              </a:solidFill>
              <a:latin typeface="Arial" panose="020B0604020202020204"/>
              <a:ea typeface="Arial" panose="020B0604020202020204"/>
              <a:cs typeface="Arial" panose="020B0604020202020204"/>
            </a:endParaRPr>
          </a:p>
        </p:txBody>
      </p:sp>
      <p:sp>
        <p:nvSpPr>
          <p:cNvPr id="93" name="直接连接符 92"/>
          <p:cNvSpPr>
            <a:spLocks noGrp="1"/>
          </p:cNvSpPr>
          <p:nvPr/>
        </p:nvSpPr>
        <p:spPr>
          <a:xfrm>
            <a:off x="1609725" y="4267200"/>
            <a:ext cx="953" cy="57150"/>
          </a:xfrm>
          <a:prstGeom prst="line">
            <a:avLst/>
          </a:prstGeom>
          <a:noFill/>
          <a:ln w="9525">
            <a:solidFill>
              <a:srgbClr val="24292D"/>
            </a:solidFill>
          </a:ln>
        </p:spPr>
      </p:sp>
      <p:sp>
        <p:nvSpPr>
          <p:cNvPr id="94" name="矩形 93"/>
          <p:cNvSpPr>
            <a:spLocks noGrp="1"/>
          </p:cNvSpPr>
          <p:nvPr/>
        </p:nvSpPr>
        <p:spPr>
          <a:xfrm>
            <a:off x="1419225"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1</a:t>
            </a:r>
            <a:endParaRPr sz="1275" b="0">
              <a:solidFill>
                <a:srgbClr val="24292D"/>
              </a:solidFill>
              <a:latin typeface="Arial" panose="020B0604020202020204"/>
              <a:ea typeface="Arial" panose="020B0604020202020204"/>
              <a:cs typeface="Arial" panose="020B0604020202020204"/>
            </a:endParaRPr>
          </a:p>
        </p:txBody>
      </p:sp>
      <p:sp>
        <p:nvSpPr>
          <p:cNvPr id="95" name="直接连接符 94"/>
          <p:cNvSpPr>
            <a:spLocks noGrp="1"/>
          </p:cNvSpPr>
          <p:nvPr/>
        </p:nvSpPr>
        <p:spPr>
          <a:xfrm>
            <a:off x="2587336" y="4267200"/>
            <a:ext cx="953" cy="57150"/>
          </a:xfrm>
          <a:prstGeom prst="line">
            <a:avLst/>
          </a:prstGeom>
          <a:noFill/>
          <a:ln w="9525">
            <a:solidFill>
              <a:srgbClr val="24292D"/>
            </a:solidFill>
          </a:ln>
        </p:spPr>
      </p:sp>
      <p:sp>
        <p:nvSpPr>
          <p:cNvPr id="96" name="矩形 95"/>
          <p:cNvSpPr>
            <a:spLocks noGrp="1"/>
          </p:cNvSpPr>
          <p:nvPr/>
        </p:nvSpPr>
        <p:spPr>
          <a:xfrm>
            <a:off x="2396836"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2</a:t>
            </a:r>
            <a:endParaRPr sz="1275" b="0">
              <a:solidFill>
                <a:srgbClr val="24292D"/>
              </a:solidFill>
              <a:latin typeface="Arial" panose="020B0604020202020204"/>
              <a:ea typeface="Arial" panose="020B0604020202020204"/>
              <a:cs typeface="Arial" panose="020B0604020202020204"/>
            </a:endParaRPr>
          </a:p>
        </p:txBody>
      </p:sp>
      <p:sp>
        <p:nvSpPr>
          <p:cNvPr id="97" name="直接连接符 96"/>
          <p:cNvSpPr>
            <a:spLocks noGrp="1"/>
          </p:cNvSpPr>
          <p:nvPr/>
        </p:nvSpPr>
        <p:spPr>
          <a:xfrm>
            <a:off x="3564948" y="4267200"/>
            <a:ext cx="953" cy="57150"/>
          </a:xfrm>
          <a:prstGeom prst="line">
            <a:avLst/>
          </a:prstGeom>
          <a:noFill/>
          <a:ln w="9525">
            <a:solidFill>
              <a:srgbClr val="24292D"/>
            </a:solidFill>
          </a:ln>
        </p:spPr>
      </p:sp>
      <p:sp>
        <p:nvSpPr>
          <p:cNvPr id="98" name="矩形 97"/>
          <p:cNvSpPr>
            <a:spLocks noGrp="1"/>
          </p:cNvSpPr>
          <p:nvPr/>
        </p:nvSpPr>
        <p:spPr>
          <a:xfrm>
            <a:off x="3374448"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3</a:t>
            </a:r>
            <a:endParaRPr sz="1275" b="0">
              <a:solidFill>
                <a:srgbClr val="24292D"/>
              </a:solidFill>
              <a:latin typeface="Arial" panose="020B0604020202020204"/>
              <a:ea typeface="Arial" panose="020B0604020202020204"/>
              <a:cs typeface="Arial" panose="020B0604020202020204"/>
            </a:endParaRPr>
          </a:p>
        </p:txBody>
      </p:sp>
      <p:sp>
        <p:nvSpPr>
          <p:cNvPr id="99" name="直接连接符 98"/>
          <p:cNvSpPr>
            <a:spLocks noGrp="1"/>
          </p:cNvSpPr>
          <p:nvPr/>
        </p:nvSpPr>
        <p:spPr>
          <a:xfrm>
            <a:off x="4542559" y="4267200"/>
            <a:ext cx="953" cy="57150"/>
          </a:xfrm>
          <a:prstGeom prst="line">
            <a:avLst/>
          </a:prstGeom>
          <a:noFill/>
          <a:ln w="9525">
            <a:solidFill>
              <a:srgbClr val="24292D"/>
            </a:solidFill>
          </a:ln>
        </p:spPr>
      </p:sp>
      <p:sp>
        <p:nvSpPr>
          <p:cNvPr id="100" name="矩形 99"/>
          <p:cNvSpPr>
            <a:spLocks noGrp="1"/>
          </p:cNvSpPr>
          <p:nvPr/>
        </p:nvSpPr>
        <p:spPr>
          <a:xfrm>
            <a:off x="4352059"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4</a:t>
            </a:r>
            <a:endParaRPr sz="1275" b="0">
              <a:solidFill>
                <a:srgbClr val="24292D"/>
              </a:solidFill>
              <a:latin typeface="Arial" panose="020B0604020202020204"/>
              <a:ea typeface="Arial" panose="020B0604020202020204"/>
              <a:cs typeface="Arial" panose="020B0604020202020204"/>
            </a:endParaRPr>
          </a:p>
        </p:txBody>
      </p:sp>
      <p:sp>
        <p:nvSpPr>
          <p:cNvPr id="101" name="直接连接符 100"/>
          <p:cNvSpPr>
            <a:spLocks noGrp="1"/>
          </p:cNvSpPr>
          <p:nvPr/>
        </p:nvSpPr>
        <p:spPr>
          <a:xfrm>
            <a:off x="5520170" y="4267200"/>
            <a:ext cx="953" cy="57150"/>
          </a:xfrm>
          <a:prstGeom prst="line">
            <a:avLst/>
          </a:prstGeom>
          <a:noFill/>
          <a:ln w="9525">
            <a:solidFill>
              <a:srgbClr val="24292D"/>
            </a:solidFill>
          </a:ln>
        </p:spPr>
      </p:sp>
      <p:sp>
        <p:nvSpPr>
          <p:cNvPr id="102" name="矩形 101"/>
          <p:cNvSpPr>
            <a:spLocks noGrp="1"/>
          </p:cNvSpPr>
          <p:nvPr/>
        </p:nvSpPr>
        <p:spPr>
          <a:xfrm>
            <a:off x="5329670"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5</a:t>
            </a:r>
            <a:endParaRPr sz="1275" b="0">
              <a:solidFill>
                <a:srgbClr val="24292D"/>
              </a:solidFill>
              <a:latin typeface="Arial" panose="020B0604020202020204"/>
              <a:ea typeface="Arial" panose="020B0604020202020204"/>
              <a:cs typeface="Arial" panose="020B0604020202020204"/>
            </a:endParaRPr>
          </a:p>
        </p:txBody>
      </p:sp>
      <p:sp>
        <p:nvSpPr>
          <p:cNvPr id="103" name="直接连接符 102"/>
          <p:cNvSpPr>
            <a:spLocks noGrp="1"/>
          </p:cNvSpPr>
          <p:nvPr/>
        </p:nvSpPr>
        <p:spPr>
          <a:xfrm>
            <a:off x="6497782" y="4267200"/>
            <a:ext cx="953" cy="57150"/>
          </a:xfrm>
          <a:prstGeom prst="line">
            <a:avLst/>
          </a:prstGeom>
          <a:noFill/>
          <a:ln w="9525">
            <a:solidFill>
              <a:srgbClr val="24292D"/>
            </a:solidFill>
          </a:ln>
        </p:spPr>
      </p:sp>
      <p:sp>
        <p:nvSpPr>
          <p:cNvPr id="104" name="矩形 103"/>
          <p:cNvSpPr>
            <a:spLocks noGrp="1"/>
          </p:cNvSpPr>
          <p:nvPr/>
        </p:nvSpPr>
        <p:spPr>
          <a:xfrm>
            <a:off x="6307282"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6</a:t>
            </a:r>
            <a:endParaRPr sz="1275" b="0">
              <a:solidFill>
                <a:srgbClr val="24292D"/>
              </a:solidFill>
              <a:latin typeface="Arial" panose="020B0604020202020204"/>
              <a:ea typeface="Arial" panose="020B0604020202020204"/>
              <a:cs typeface="Arial" panose="020B0604020202020204"/>
            </a:endParaRPr>
          </a:p>
        </p:txBody>
      </p:sp>
      <p:sp>
        <p:nvSpPr>
          <p:cNvPr id="105" name="直接连接符 104"/>
          <p:cNvSpPr>
            <a:spLocks noGrp="1"/>
          </p:cNvSpPr>
          <p:nvPr/>
        </p:nvSpPr>
        <p:spPr>
          <a:xfrm>
            <a:off x="7475393" y="4267200"/>
            <a:ext cx="953" cy="57150"/>
          </a:xfrm>
          <a:prstGeom prst="line">
            <a:avLst/>
          </a:prstGeom>
          <a:noFill/>
          <a:ln w="9525">
            <a:solidFill>
              <a:srgbClr val="24292D"/>
            </a:solidFill>
          </a:ln>
        </p:spPr>
      </p:sp>
      <p:sp>
        <p:nvSpPr>
          <p:cNvPr id="106" name="矩形 105"/>
          <p:cNvSpPr>
            <a:spLocks noGrp="1"/>
          </p:cNvSpPr>
          <p:nvPr/>
        </p:nvSpPr>
        <p:spPr>
          <a:xfrm>
            <a:off x="7284893"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7</a:t>
            </a:r>
            <a:endParaRPr sz="1275" b="0">
              <a:solidFill>
                <a:srgbClr val="24292D"/>
              </a:solidFill>
              <a:latin typeface="Arial" panose="020B0604020202020204"/>
              <a:ea typeface="Arial" panose="020B0604020202020204"/>
              <a:cs typeface="Arial" panose="020B0604020202020204"/>
            </a:endParaRPr>
          </a:p>
        </p:txBody>
      </p:sp>
      <p:sp>
        <p:nvSpPr>
          <p:cNvPr id="107" name="直接连接符 106"/>
          <p:cNvSpPr>
            <a:spLocks noGrp="1"/>
          </p:cNvSpPr>
          <p:nvPr/>
        </p:nvSpPr>
        <p:spPr>
          <a:xfrm>
            <a:off x="8453005" y="4267200"/>
            <a:ext cx="953" cy="57150"/>
          </a:xfrm>
          <a:prstGeom prst="line">
            <a:avLst/>
          </a:prstGeom>
          <a:noFill/>
          <a:ln w="9525">
            <a:solidFill>
              <a:srgbClr val="24292D"/>
            </a:solidFill>
          </a:ln>
        </p:spPr>
      </p:sp>
      <p:sp>
        <p:nvSpPr>
          <p:cNvPr id="108" name="矩形 107"/>
          <p:cNvSpPr>
            <a:spLocks noGrp="1"/>
          </p:cNvSpPr>
          <p:nvPr/>
        </p:nvSpPr>
        <p:spPr>
          <a:xfrm>
            <a:off x="8262505"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8</a:t>
            </a:r>
            <a:endParaRPr sz="1275" b="0">
              <a:solidFill>
                <a:srgbClr val="24292D"/>
              </a:solidFill>
              <a:latin typeface="Arial" panose="020B0604020202020204"/>
              <a:ea typeface="Arial" panose="020B0604020202020204"/>
              <a:cs typeface="Arial" panose="020B0604020202020204"/>
            </a:endParaRPr>
          </a:p>
        </p:txBody>
      </p:sp>
      <p:sp>
        <p:nvSpPr>
          <p:cNvPr id="109" name="直接连接符 108"/>
          <p:cNvSpPr>
            <a:spLocks noGrp="1"/>
          </p:cNvSpPr>
          <p:nvPr/>
        </p:nvSpPr>
        <p:spPr>
          <a:xfrm>
            <a:off x="9430616" y="4267200"/>
            <a:ext cx="953" cy="57150"/>
          </a:xfrm>
          <a:prstGeom prst="line">
            <a:avLst/>
          </a:prstGeom>
          <a:noFill/>
          <a:ln w="9525">
            <a:solidFill>
              <a:srgbClr val="24292D"/>
            </a:solidFill>
          </a:ln>
        </p:spPr>
      </p:sp>
      <p:sp>
        <p:nvSpPr>
          <p:cNvPr id="110" name="矩形 109"/>
          <p:cNvSpPr>
            <a:spLocks noGrp="1"/>
          </p:cNvSpPr>
          <p:nvPr/>
        </p:nvSpPr>
        <p:spPr>
          <a:xfrm>
            <a:off x="9240116"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9</a:t>
            </a:r>
            <a:endParaRPr sz="1275" b="0">
              <a:solidFill>
                <a:srgbClr val="24292D"/>
              </a:solidFill>
              <a:latin typeface="Arial" panose="020B0604020202020204"/>
              <a:ea typeface="Arial" panose="020B0604020202020204"/>
              <a:cs typeface="Arial" panose="020B0604020202020204"/>
            </a:endParaRPr>
          </a:p>
        </p:txBody>
      </p:sp>
      <p:sp>
        <p:nvSpPr>
          <p:cNvPr id="111" name="直接连接符 110"/>
          <p:cNvSpPr>
            <a:spLocks noGrp="1"/>
          </p:cNvSpPr>
          <p:nvPr/>
        </p:nvSpPr>
        <p:spPr>
          <a:xfrm>
            <a:off x="10408227" y="4267200"/>
            <a:ext cx="953" cy="57150"/>
          </a:xfrm>
          <a:prstGeom prst="line">
            <a:avLst/>
          </a:prstGeom>
          <a:noFill/>
          <a:ln w="9525">
            <a:solidFill>
              <a:srgbClr val="24292D"/>
            </a:solidFill>
          </a:ln>
        </p:spPr>
      </p:sp>
      <p:sp>
        <p:nvSpPr>
          <p:cNvPr id="112" name="矩形 111"/>
          <p:cNvSpPr>
            <a:spLocks noGrp="1"/>
          </p:cNvSpPr>
          <p:nvPr/>
        </p:nvSpPr>
        <p:spPr>
          <a:xfrm>
            <a:off x="10217727"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10</a:t>
            </a:r>
            <a:endParaRPr sz="1275" b="0">
              <a:solidFill>
                <a:srgbClr val="24292D"/>
              </a:solidFill>
              <a:latin typeface="Arial" panose="020B0604020202020204"/>
              <a:ea typeface="Arial" panose="020B0604020202020204"/>
              <a:cs typeface="Arial" panose="020B0604020202020204"/>
            </a:endParaRPr>
          </a:p>
        </p:txBody>
      </p:sp>
      <p:sp>
        <p:nvSpPr>
          <p:cNvPr id="113" name="直接连接符 112"/>
          <p:cNvSpPr>
            <a:spLocks noGrp="1"/>
          </p:cNvSpPr>
          <p:nvPr/>
        </p:nvSpPr>
        <p:spPr>
          <a:xfrm>
            <a:off x="11385839" y="4267200"/>
            <a:ext cx="953" cy="57150"/>
          </a:xfrm>
          <a:prstGeom prst="line">
            <a:avLst/>
          </a:prstGeom>
          <a:noFill/>
          <a:ln w="9525">
            <a:solidFill>
              <a:srgbClr val="24292D"/>
            </a:solidFill>
          </a:ln>
        </p:spPr>
      </p:sp>
      <p:sp>
        <p:nvSpPr>
          <p:cNvPr id="114" name="矩形 113"/>
          <p:cNvSpPr>
            <a:spLocks noGrp="1"/>
          </p:cNvSpPr>
          <p:nvPr/>
        </p:nvSpPr>
        <p:spPr>
          <a:xfrm>
            <a:off x="11195339"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11</a:t>
            </a:r>
            <a:endParaRPr sz="1275" b="0">
              <a:solidFill>
                <a:srgbClr val="24292D"/>
              </a:solidFill>
              <a:latin typeface="Arial" panose="020B0604020202020204"/>
              <a:ea typeface="Arial" panose="020B0604020202020204"/>
              <a:cs typeface="Arial" panose="020B0604020202020204"/>
            </a:endParaRPr>
          </a:p>
        </p:txBody>
      </p:sp>
      <p:sp>
        <p:nvSpPr>
          <p:cNvPr id="115" name="直接连接符 114"/>
          <p:cNvSpPr>
            <a:spLocks noGrp="1"/>
          </p:cNvSpPr>
          <p:nvPr/>
        </p:nvSpPr>
        <p:spPr>
          <a:xfrm>
            <a:off x="12363450" y="4267200"/>
            <a:ext cx="953" cy="57150"/>
          </a:xfrm>
          <a:prstGeom prst="line">
            <a:avLst/>
          </a:prstGeom>
          <a:noFill/>
          <a:ln w="9525">
            <a:solidFill>
              <a:srgbClr val="24292D"/>
            </a:solidFill>
          </a:ln>
        </p:spPr>
      </p:sp>
      <p:sp>
        <p:nvSpPr>
          <p:cNvPr id="116" name="矩形 115"/>
          <p:cNvSpPr>
            <a:spLocks noGrp="1"/>
          </p:cNvSpPr>
          <p:nvPr/>
        </p:nvSpPr>
        <p:spPr>
          <a:xfrm>
            <a:off x="12172950" y="4343400"/>
            <a:ext cx="381000" cy="2476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12</a:t>
            </a:r>
            <a:endParaRPr sz="1275" b="0">
              <a:solidFill>
                <a:srgbClr val="24292D"/>
              </a:solidFill>
              <a:latin typeface="Arial" panose="020B0604020202020204"/>
              <a:ea typeface="Arial" panose="020B0604020202020204"/>
              <a:cs typeface="Arial" panose="020B0604020202020204"/>
            </a:endParaRPr>
          </a:p>
        </p:txBody>
      </p:sp>
      <p:sp>
        <p:nvSpPr>
          <p:cNvPr id="117" name="矩形 116"/>
          <p:cNvSpPr>
            <a:spLocks noGrp="1"/>
          </p:cNvSpPr>
          <p:nvPr/>
        </p:nvSpPr>
        <p:spPr>
          <a:xfrm>
            <a:off x="6324600" y="4638675"/>
            <a:ext cx="1047750" cy="26670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Batch</a:t>
            </a:r>
            <a:endParaRPr sz="1350" b="0">
              <a:solidFill>
                <a:srgbClr val="24292D"/>
              </a:solidFill>
              <a:latin typeface="Arial" panose="020B0604020202020204"/>
              <a:ea typeface="Arial" panose="020B0604020202020204"/>
              <a:cs typeface="Arial" panose="020B0604020202020204"/>
            </a:endParaRPr>
          </a:p>
        </p:txBody>
      </p:sp>
      <p:sp>
        <p:nvSpPr>
          <p:cNvPr id="118" name="矩形 117"/>
          <p:cNvSpPr>
            <a:spLocks noGrp="1"/>
          </p:cNvSpPr>
          <p:nvPr/>
        </p:nvSpPr>
        <p:spPr>
          <a:xfrm>
            <a:off x="4691495" y="523875"/>
            <a:ext cx="1666875" cy="276225"/>
          </a:xfrm>
          <a:prstGeom prst="rect">
            <a:avLst/>
          </a:prstGeom>
          <a:noFill/>
          <a:ln w="0">
            <a:noFill/>
          </a:ln>
        </p:spPr>
        <p:txBody>
          <a:bodyPr wrap="none" lIns="0" tIns="0" rIns="0" bIns="0" anchor="ctr">
            <a:noAutofit/>
          </a:bodyPr>
          <a:lstStyle/>
          <a:p>
            <a:pPr algn="ctr">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B5  first feasible</a:t>
            </a:r>
            <a:endParaRPr sz="1275" b="1">
              <a:solidFill>
                <a:srgbClr val="277F8A"/>
              </a:solidFill>
              <a:latin typeface="Arial" panose="020B0604020202020204"/>
              <a:ea typeface="Arial" panose="020B0604020202020204"/>
              <a:cs typeface="Arial" panose="020B0604020202020204"/>
            </a:endParaRPr>
          </a:p>
        </p:txBody>
      </p:sp>
      <p:sp>
        <p:nvSpPr>
          <p:cNvPr id="119" name="直接连接符 118"/>
          <p:cNvSpPr>
            <a:spLocks noGrp="1"/>
          </p:cNvSpPr>
          <p:nvPr/>
        </p:nvSpPr>
        <p:spPr>
          <a:xfrm>
            <a:off x="5520170" y="809625"/>
            <a:ext cx="953" cy="1255561"/>
          </a:xfrm>
          <a:prstGeom prst="line">
            <a:avLst/>
          </a:prstGeom>
          <a:noFill/>
          <a:ln w="10478">
            <a:solidFill>
              <a:srgbClr val="277F8A"/>
            </a:solidFill>
          </a:ln>
        </p:spPr>
      </p:sp>
      <p:sp>
        <p:nvSpPr>
          <p:cNvPr id="120" name="矩形 119"/>
          <p:cNvSpPr>
            <a:spLocks noGrp="1"/>
          </p:cNvSpPr>
          <p:nvPr/>
        </p:nvSpPr>
        <p:spPr>
          <a:xfrm>
            <a:off x="7757680" y="523875"/>
            <a:ext cx="1390650" cy="276225"/>
          </a:xfrm>
          <a:prstGeom prst="rect">
            <a:avLst/>
          </a:prstGeom>
          <a:noFill/>
          <a:ln w="0">
            <a:noFill/>
          </a:ln>
        </p:spPr>
        <p:txBody>
          <a:bodyPr wrap="none" lIns="0" tIns="0" rIns="0" bIns="0" anchor="ctr">
            <a:noAutofit/>
          </a:bodyPr>
          <a:lstStyle/>
          <a:p>
            <a:pPr algn="ctr">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B8  selected</a:t>
            </a:r>
            <a:endParaRPr sz="1275" b="1">
              <a:solidFill>
                <a:srgbClr val="277F8A"/>
              </a:solidFill>
              <a:latin typeface="Arial" panose="020B0604020202020204"/>
              <a:ea typeface="Arial" panose="020B0604020202020204"/>
              <a:cs typeface="Arial" panose="020B0604020202020204"/>
            </a:endParaRPr>
          </a:p>
        </p:txBody>
      </p:sp>
      <p:sp>
        <p:nvSpPr>
          <p:cNvPr id="121" name="直接连接符 120"/>
          <p:cNvSpPr>
            <a:spLocks noGrp="1"/>
          </p:cNvSpPr>
          <p:nvPr/>
        </p:nvSpPr>
        <p:spPr>
          <a:xfrm>
            <a:off x="8453005" y="809625"/>
            <a:ext cx="953" cy="1326699"/>
          </a:xfrm>
          <a:prstGeom prst="line">
            <a:avLst/>
          </a:prstGeom>
          <a:noFill/>
          <a:ln w="10478">
            <a:solidFill>
              <a:srgbClr val="277F8A"/>
            </a:solidFill>
          </a:ln>
        </p:spPr>
      </p:sp>
      <p:sp>
        <p:nvSpPr>
          <p:cNvPr id="122" name="矩形 121"/>
          <p:cNvSpPr>
            <a:spLocks noGrp="1"/>
          </p:cNvSpPr>
          <p:nvPr/>
        </p:nvSpPr>
        <p:spPr>
          <a:xfrm>
            <a:off x="10153650" y="523875"/>
            <a:ext cx="1562100" cy="276225"/>
          </a:xfrm>
          <a:prstGeom prst="rect">
            <a:avLst/>
          </a:prstGeom>
          <a:noFill/>
          <a:ln w="0">
            <a:noFill/>
          </a:ln>
        </p:spPr>
        <p:txBody>
          <a:bodyPr wrap="none" lIns="0" tIns="0" rIns="0" bIns="0" anchor="ctr">
            <a:noAutofit/>
          </a:bodyPr>
          <a:lstStyle/>
          <a:p>
            <a:pPr algn="ctr">
              <a:defRPr sz="1275" b="1">
                <a:solidFill>
                  <a:srgbClr val="A35F42"/>
                </a:solidFill>
                <a:latin typeface="Arial" panose="020B0604020202020204"/>
                <a:ea typeface="Arial" panose="020B0604020202020204"/>
                <a:cs typeface="Arial" panose="020B0604020202020204"/>
              </a:defRPr>
            </a:pPr>
            <a:r>
              <a:rPr sz="1275" b="1">
                <a:solidFill>
                  <a:srgbClr val="A35F42"/>
                </a:solidFill>
                <a:latin typeface="Arial" panose="020B0604020202020204"/>
                <a:ea typeface="Arial" panose="020B0604020202020204"/>
                <a:cs typeface="Arial" panose="020B0604020202020204"/>
              </a:rPr>
              <a:t>B11  rejected</a:t>
            </a:r>
            <a:endParaRPr sz="1275" b="1">
              <a:solidFill>
                <a:srgbClr val="A35F42"/>
              </a:solidFill>
              <a:latin typeface="Arial" panose="020B0604020202020204"/>
              <a:ea typeface="Arial" panose="020B0604020202020204"/>
              <a:cs typeface="Arial" panose="020B0604020202020204"/>
            </a:endParaRPr>
          </a:p>
        </p:txBody>
      </p:sp>
      <p:sp>
        <p:nvSpPr>
          <p:cNvPr id="123" name="直接连接符 122"/>
          <p:cNvSpPr>
            <a:spLocks noGrp="1"/>
          </p:cNvSpPr>
          <p:nvPr/>
        </p:nvSpPr>
        <p:spPr>
          <a:xfrm>
            <a:off x="11385839" y="809625"/>
            <a:ext cx="953" cy="642096"/>
          </a:xfrm>
          <a:prstGeom prst="line">
            <a:avLst/>
          </a:prstGeom>
          <a:noFill/>
          <a:ln w="10478">
            <a:solidFill>
              <a:srgbClr val="A35F42"/>
            </a:solidFill>
          </a:ln>
        </p:spPr>
      </p:sp>
      <p:sp>
        <p:nvSpPr>
          <p:cNvPr id="124" name="矩形 123"/>
          <p:cNvSpPr>
            <a:spLocks noGrp="1"/>
          </p:cNvSpPr>
          <p:nvPr/>
        </p:nvSpPr>
        <p:spPr>
          <a:xfrm>
            <a:off x="12115800" y="523875"/>
            <a:ext cx="1314450" cy="276225"/>
          </a:xfrm>
          <a:prstGeom prst="rect">
            <a:avLst/>
          </a:prstGeom>
          <a:noFill/>
          <a:ln w="0">
            <a:noFill/>
          </a:ln>
        </p:spPr>
        <p:txBody>
          <a:bodyPr wrap="none" lIns="0" tIns="0" rIns="0" bIns="0" anchor="ctr">
            <a:noAutofit/>
          </a:bodyPr>
          <a:lstStyle/>
          <a:p>
            <a:pPr algn="ctr">
              <a:defRPr sz="1275" b="1">
                <a:solidFill>
                  <a:srgbClr val="24292D"/>
                </a:solidFill>
                <a:latin typeface="Arial" panose="020B0604020202020204"/>
                <a:ea typeface="Arial" panose="020B0604020202020204"/>
                <a:cs typeface="Arial" panose="020B0604020202020204"/>
              </a:defRPr>
            </a:pPr>
            <a:r>
              <a:rPr sz="1275" b="1">
                <a:solidFill>
                  <a:srgbClr val="24292D"/>
                </a:solidFill>
                <a:latin typeface="Arial" panose="020B0604020202020204"/>
                <a:ea typeface="Arial" panose="020B0604020202020204"/>
                <a:cs typeface="Arial" panose="020B0604020202020204"/>
              </a:rPr>
              <a:t>B12  repeat</a:t>
            </a:r>
            <a:endParaRPr sz="1275" b="1">
              <a:solidFill>
                <a:srgbClr val="24292D"/>
              </a:solidFill>
              <a:latin typeface="Arial" panose="020B0604020202020204"/>
              <a:ea typeface="Arial" panose="020B0604020202020204"/>
              <a:cs typeface="Arial" panose="020B0604020202020204"/>
            </a:endParaRPr>
          </a:p>
        </p:txBody>
      </p:sp>
      <p:sp>
        <p:nvSpPr>
          <p:cNvPr id="125" name="直接连接符 124"/>
          <p:cNvSpPr>
            <a:spLocks noGrp="1"/>
          </p:cNvSpPr>
          <p:nvPr/>
        </p:nvSpPr>
        <p:spPr>
          <a:xfrm>
            <a:off x="12363450" y="809625"/>
            <a:ext cx="953" cy="1304957"/>
          </a:xfrm>
          <a:prstGeom prst="line">
            <a:avLst/>
          </a:prstGeom>
          <a:noFill/>
          <a:ln w="10478">
            <a:solidFill>
              <a:srgbClr val="24292D"/>
            </a:solidFill>
          </a:ln>
        </p:spPr>
      </p:sp>
      <p:sp>
        <p:nvSpPr>
          <p:cNvPr id="126" name="直接连接符 125"/>
          <p:cNvSpPr>
            <a:spLocks noGrp="1"/>
          </p:cNvSpPr>
          <p:nvPr/>
        </p:nvSpPr>
        <p:spPr>
          <a:xfrm>
            <a:off x="228600" y="4953000"/>
            <a:ext cx="13258800" cy="953"/>
          </a:xfrm>
          <a:prstGeom prst="line">
            <a:avLst/>
          </a:prstGeom>
          <a:noFill/>
          <a:ln w="11430">
            <a:solidFill>
              <a:srgbClr val="D5DDE0"/>
            </a:solidFill>
          </a:ln>
        </p:spPr>
      </p:sp>
      <p:sp>
        <p:nvSpPr>
          <p:cNvPr id="127" name="矩形 126"/>
          <p:cNvSpPr>
            <a:spLocks noGrp="1"/>
          </p:cNvSpPr>
          <p:nvPr/>
        </p:nvSpPr>
        <p:spPr>
          <a:xfrm>
            <a:off x="219075" y="5086350"/>
            <a:ext cx="400050" cy="323850"/>
          </a:xfrm>
          <a:prstGeom prst="rect">
            <a:avLst/>
          </a:prstGeom>
          <a:noFill/>
          <a:ln w="0">
            <a:noFill/>
          </a:ln>
        </p:spPr>
        <p:txBody>
          <a:bodyPr wrap="none" lIns="0" tIns="0" rIns="0" bIns="0" anchor="ctr">
            <a:noAutofit/>
          </a:bodyPr>
          <a:lstStyle/>
          <a:p>
            <a:pPr algn="l">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b</a:t>
            </a:r>
            <a:endParaRPr sz="2175" b="1">
              <a:solidFill>
                <a:srgbClr val="111111"/>
              </a:solidFill>
              <a:latin typeface="Arial" panose="020B0604020202020204"/>
              <a:ea typeface="Arial" panose="020B0604020202020204"/>
              <a:cs typeface="Arial" panose="020B0604020202020204"/>
            </a:endParaRPr>
          </a:p>
        </p:txBody>
      </p:sp>
      <p:sp>
        <p:nvSpPr>
          <p:cNvPr id="128" name="矩形 127"/>
          <p:cNvSpPr>
            <a:spLocks noGrp="1"/>
          </p:cNvSpPr>
          <p:nvPr/>
        </p:nvSpPr>
        <p:spPr>
          <a:xfrm>
            <a:off x="666750" y="5086350"/>
            <a:ext cx="12573000" cy="333375"/>
          </a:xfrm>
          <a:prstGeom prst="rect">
            <a:avLst/>
          </a:prstGeom>
          <a:noFill/>
          <a:ln w="0">
            <a:noFill/>
          </a:ln>
        </p:spPr>
        <p:txBody>
          <a:bodyPr wrap="none" lIns="0" tIns="0" rIns="0" bIns="0" anchor="ctr">
            <a:noAutofit/>
          </a:bodyPr>
          <a:lstStyle/>
          <a:p>
            <a:pPr algn="l">
              <a:defRPr sz="1875" b="1">
                <a:solidFill>
                  <a:srgbClr val="24292D"/>
                </a:solidFill>
                <a:latin typeface="Arial" panose="020B0604020202020204"/>
                <a:ea typeface="Arial" panose="020B0604020202020204"/>
                <a:cs typeface="Arial" panose="020B0604020202020204"/>
              </a:defRPr>
            </a:pPr>
            <a:r>
              <a:rPr sz="1875" b="1">
                <a:solidFill>
                  <a:srgbClr val="24292D"/>
                </a:solidFill>
                <a:latin typeface="Arial" panose="020B0604020202020204"/>
                <a:ea typeface="Arial" panose="020B0604020202020204"/>
                <a:cs typeface="Arial" panose="020B0604020202020204"/>
              </a:rPr>
              <a:t>Batch 8: the complete recorded procedure</a:t>
            </a:r>
            <a:endParaRPr sz="1875" b="1">
              <a:solidFill>
                <a:srgbClr val="24292D"/>
              </a:solidFill>
              <a:latin typeface="Arial" panose="020B0604020202020204"/>
              <a:ea typeface="Arial" panose="020B0604020202020204"/>
              <a:cs typeface="Arial" panose="020B0604020202020204"/>
            </a:endParaRPr>
          </a:p>
        </p:txBody>
      </p:sp>
      <p:sp>
        <p:nvSpPr>
          <p:cNvPr id="129" name="圆角矩形 128"/>
          <p:cNvSpPr>
            <a:spLocks noGrp="1"/>
          </p:cNvSpPr>
          <p:nvPr/>
        </p:nvSpPr>
        <p:spPr>
          <a:xfrm>
            <a:off x="495300" y="5610225"/>
            <a:ext cx="1809750" cy="800100"/>
          </a:xfrm>
          <a:prstGeom prst="roundRect">
            <a:avLst>
              <a:gd name="adj" fmla="val 9524"/>
            </a:avLst>
          </a:prstGeom>
          <a:solidFill>
            <a:srgbClr val="FFFFFF"/>
          </a:solidFill>
          <a:ln w="11430">
            <a:solidFill>
              <a:srgbClr val="D5DDE0"/>
            </a:solidFill>
          </a:ln>
        </p:spPr>
      </p:sp>
      <p:sp>
        <p:nvSpPr>
          <p:cNvPr id="130" name="椭圆 129"/>
          <p:cNvSpPr>
            <a:spLocks noGrp="1"/>
          </p:cNvSpPr>
          <p:nvPr/>
        </p:nvSpPr>
        <p:spPr>
          <a:xfrm>
            <a:off x="600075" y="5734050"/>
            <a:ext cx="276225" cy="276225"/>
          </a:xfrm>
          <a:prstGeom prst="ellipse">
            <a:avLst/>
          </a:prstGeom>
          <a:solidFill>
            <a:srgbClr val="F3F7F8"/>
          </a:solidFill>
          <a:ln w="9525">
            <a:solidFill>
              <a:srgbClr val="D5DDE0"/>
            </a:solidFill>
          </a:ln>
        </p:spPr>
      </p:sp>
      <p:sp>
        <p:nvSpPr>
          <p:cNvPr id="131" name="矩形 130"/>
          <p:cNvSpPr>
            <a:spLocks noGrp="1"/>
          </p:cNvSpPr>
          <p:nvPr/>
        </p:nvSpPr>
        <p:spPr>
          <a:xfrm>
            <a:off x="609600" y="57340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1</a:t>
            </a:r>
            <a:endParaRPr sz="1200" b="1">
              <a:solidFill>
                <a:srgbClr val="24292D"/>
              </a:solidFill>
              <a:latin typeface="Arial" panose="020B0604020202020204"/>
              <a:ea typeface="Arial" panose="020B0604020202020204"/>
              <a:cs typeface="Arial" panose="020B0604020202020204"/>
            </a:endParaRPr>
          </a:p>
        </p:txBody>
      </p:sp>
      <p:sp>
        <p:nvSpPr>
          <p:cNvPr id="132" name="矩形 131"/>
          <p:cNvSpPr>
            <a:spLocks noGrp="1"/>
          </p:cNvSpPr>
          <p:nvPr/>
        </p:nvSpPr>
        <p:spPr>
          <a:xfrm>
            <a:off x="962025" y="56864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Charge</a:t>
            </a:r>
            <a:endParaRPr sz="1350" b="1">
              <a:solidFill>
                <a:srgbClr val="24292D"/>
              </a:solidFill>
              <a:latin typeface="Arial" panose="020B0604020202020204"/>
              <a:ea typeface="Arial" panose="020B0604020202020204"/>
              <a:cs typeface="Arial" panose="020B0604020202020204"/>
            </a:endParaRPr>
          </a:p>
        </p:txBody>
      </p:sp>
      <p:sp>
        <p:nvSpPr>
          <p:cNvPr id="133" name="矩形 132"/>
          <p:cNvSpPr>
            <a:spLocks noGrp="1"/>
          </p:cNvSpPr>
          <p:nvPr/>
        </p:nvSpPr>
        <p:spPr>
          <a:xfrm>
            <a:off x="952500" y="5905500"/>
            <a:ext cx="1295400" cy="457200"/>
          </a:xfrm>
          <a:prstGeom prst="rect">
            <a:avLst/>
          </a:prstGeom>
          <a:noFill/>
          <a:ln w="0">
            <a:noFill/>
          </a:ln>
        </p:spPr>
        <p:txBody>
          <a:bodyPr wrap="none" lIns="0" tIns="0" rIns="0" bIns="0" anchor="ctr">
            <a:noAutofit/>
          </a:bodyPr>
          <a:lstStyle/>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0.040 mol reagent</a:t>
            </a:r>
            <a:endParaRPr sz="1050" b="0">
              <a:solidFill>
                <a:srgbClr val="24292D"/>
              </a:solidFill>
              <a:latin typeface="Arial" panose="020B0604020202020204"/>
              <a:ea typeface="Arial" panose="020B0604020202020204"/>
              <a:cs typeface="Arial" panose="020B0604020202020204"/>
            </a:endParaRPr>
          </a:p>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0.080 L S2</a:t>
            </a:r>
            <a:endParaRPr sz="1050" b="0">
              <a:solidFill>
                <a:srgbClr val="24292D"/>
              </a:solidFill>
              <a:latin typeface="Arial" panose="020B0604020202020204"/>
              <a:ea typeface="Arial" panose="020B0604020202020204"/>
              <a:cs typeface="Arial" panose="020B0604020202020204"/>
            </a:endParaRPr>
          </a:p>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0.005 mol C1</a:t>
            </a:r>
            <a:endParaRPr sz="1050" b="0">
              <a:solidFill>
                <a:srgbClr val="24292D"/>
              </a:solidFill>
              <a:latin typeface="Arial" panose="020B0604020202020204"/>
              <a:ea typeface="Arial" panose="020B0604020202020204"/>
              <a:cs typeface="Arial" panose="020B0604020202020204"/>
            </a:endParaRPr>
          </a:p>
        </p:txBody>
      </p:sp>
      <p:sp>
        <p:nvSpPr>
          <p:cNvPr id="134" name="直接连接符 133"/>
          <p:cNvSpPr>
            <a:spLocks noGrp="1"/>
          </p:cNvSpPr>
          <p:nvPr/>
        </p:nvSpPr>
        <p:spPr>
          <a:xfrm>
            <a:off x="2362200" y="6010275"/>
            <a:ext cx="228600" cy="953"/>
          </a:xfrm>
          <a:prstGeom prst="line">
            <a:avLst/>
          </a:prstGeom>
          <a:noFill/>
          <a:ln w="14288">
            <a:solidFill>
              <a:srgbClr val="24292D"/>
            </a:solidFill>
          </a:ln>
        </p:spPr>
      </p:sp>
      <p:sp>
        <p:nvSpPr>
          <p:cNvPr id="135" name="直接连接符 134"/>
          <p:cNvSpPr>
            <a:spLocks noGrp="1"/>
          </p:cNvSpPr>
          <p:nvPr/>
        </p:nvSpPr>
        <p:spPr>
          <a:xfrm>
            <a:off x="2524125" y="5962650"/>
            <a:ext cx="66675" cy="47625"/>
          </a:xfrm>
          <a:prstGeom prst="line">
            <a:avLst/>
          </a:prstGeom>
          <a:noFill/>
          <a:ln w="14288">
            <a:solidFill>
              <a:srgbClr val="24292D"/>
            </a:solidFill>
          </a:ln>
        </p:spPr>
      </p:sp>
      <p:sp>
        <p:nvSpPr>
          <p:cNvPr id="136" name="直接连接符 135"/>
          <p:cNvSpPr>
            <a:spLocks noGrp="1"/>
          </p:cNvSpPr>
          <p:nvPr/>
        </p:nvSpPr>
        <p:spPr>
          <a:xfrm flipV="1">
            <a:off x="2524125" y="6010275"/>
            <a:ext cx="66675" cy="47625"/>
          </a:xfrm>
          <a:prstGeom prst="line">
            <a:avLst/>
          </a:prstGeom>
          <a:noFill/>
          <a:ln w="14288">
            <a:solidFill>
              <a:srgbClr val="24292D"/>
            </a:solidFill>
          </a:ln>
        </p:spPr>
      </p:sp>
      <p:sp>
        <p:nvSpPr>
          <p:cNvPr id="137" name="圆角矩形 136"/>
          <p:cNvSpPr>
            <a:spLocks noGrp="1"/>
          </p:cNvSpPr>
          <p:nvPr/>
        </p:nvSpPr>
        <p:spPr>
          <a:xfrm>
            <a:off x="2686050" y="5610225"/>
            <a:ext cx="1809750" cy="800100"/>
          </a:xfrm>
          <a:prstGeom prst="roundRect">
            <a:avLst>
              <a:gd name="adj" fmla="val 9524"/>
            </a:avLst>
          </a:prstGeom>
          <a:solidFill>
            <a:srgbClr val="FFFFFF"/>
          </a:solidFill>
          <a:ln w="11430">
            <a:solidFill>
              <a:srgbClr val="D5DDE0"/>
            </a:solidFill>
          </a:ln>
        </p:spPr>
      </p:sp>
      <p:sp>
        <p:nvSpPr>
          <p:cNvPr id="138" name="椭圆 137"/>
          <p:cNvSpPr>
            <a:spLocks noGrp="1"/>
          </p:cNvSpPr>
          <p:nvPr/>
        </p:nvSpPr>
        <p:spPr>
          <a:xfrm>
            <a:off x="2790825" y="5734050"/>
            <a:ext cx="276225" cy="276225"/>
          </a:xfrm>
          <a:prstGeom prst="ellipse">
            <a:avLst/>
          </a:prstGeom>
          <a:solidFill>
            <a:srgbClr val="F3F7F8"/>
          </a:solidFill>
          <a:ln w="9525">
            <a:solidFill>
              <a:srgbClr val="D5DDE0"/>
            </a:solidFill>
          </a:ln>
        </p:spPr>
      </p:sp>
      <p:sp>
        <p:nvSpPr>
          <p:cNvPr id="139" name="矩形 138"/>
          <p:cNvSpPr>
            <a:spLocks noGrp="1"/>
          </p:cNvSpPr>
          <p:nvPr/>
        </p:nvSpPr>
        <p:spPr>
          <a:xfrm>
            <a:off x="2800350" y="57340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2</a:t>
            </a:r>
            <a:endParaRPr sz="1200" b="1">
              <a:solidFill>
                <a:srgbClr val="24292D"/>
              </a:solidFill>
              <a:latin typeface="Arial" panose="020B0604020202020204"/>
              <a:ea typeface="Arial" panose="020B0604020202020204"/>
              <a:cs typeface="Arial" panose="020B0604020202020204"/>
            </a:endParaRPr>
          </a:p>
        </p:txBody>
      </p:sp>
      <p:sp>
        <p:nvSpPr>
          <p:cNvPr id="140" name="矩形 139"/>
          <p:cNvSpPr>
            <a:spLocks noGrp="1"/>
          </p:cNvSpPr>
          <p:nvPr/>
        </p:nvSpPr>
        <p:spPr>
          <a:xfrm>
            <a:off x="3152775" y="56864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Heat</a:t>
            </a:r>
            <a:endParaRPr sz="1350" b="1">
              <a:solidFill>
                <a:srgbClr val="24292D"/>
              </a:solidFill>
              <a:latin typeface="Arial" panose="020B0604020202020204"/>
              <a:ea typeface="Arial" panose="020B0604020202020204"/>
              <a:cs typeface="Arial" panose="020B0604020202020204"/>
            </a:endParaRPr>
          </a:p>
        </p:txBody>
      </p:sp>
      <p:sp>
        <p:nvSpPr>
          <p:cNvPr id="141" name="矩形 140"/>
          <p:cNvSpPr>
            <a:spLocks noGrp="1"/>
          </p:cNvSpPr>
          <p:nvPr/>
        </p:nvSpPr>
        <p:spPr>
          <a:xfrm>
            <a:off x="3143250" y="59055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towards 355 K</a:t>
            </a:r>
            <a:endParaRPr sz="1200" b="0">
              <a:solidFill>
                <a:srgbClr val="24292D"/>
              </a:solidFill>
              <a:latin typeface="Arial" panose="020B0604020202020204"/>
              <a:ea typeface="Arial" panose="020B0604020202020204"/>
              <a:cs typeface="Arial" panose="020B0604020202020204"/>
            </a:endParaRPr>
          </a:p>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 h · 300 rpm</a:t>
            </a:r>
            <a:endParaRPr sz="1200" b="0">
              <a:solidFill>
                <a:srgbClr val="24292D"/>
              </a:solidFill>
              <a:latin typeface="Arial" panose="020B0604020202020204"/>
              <a:ea typeface="Arial" panose="020B0604020202020204"/>
              <a:cs typeface="Arial" panose="020B0604020202020204"/>
            </a:endParaRPr>
          </a:p>
        </p:txBody>
      </p:sp>
      <p:sp>
        <p:nvSpPr>
          <p:cNvPr id="142" name="直接连接符 141"/>
          <p:cNvSpPr>
            <a:spLocks noGrp="1"/>
          </p:cNvSpPr>
          <p:nvPr/>
        </p:nvSpPr>
        <p:spPr>
          <a:xfrm>
            <a:off x="4552950" y="6010275"/>
            <a:ext cx="228600" cy="953"/>
          </a:xfrm>
          <a:prstGeom prst="line">
            <a:avLst/>
          </a:prstGeom>
          <a:noFill/>
          <a:ln w="14288">
            <a:solidFill>
              <a:srgbClr val="24292D"/>
            </a:solidFill>
          </a:ln>
        </p:spPr>
      </p:sp>
      <p:sp>
        <p:nvSpPr>
          <p:cNvPr id="143" name="直接连接符 142"/>
          <p:cNvSpPr>
            <a:spLocks noGrp="1"/>
          </p:cNvSpPr>
          <p:nvPr/>
        </p:nvSpPr>
        <p:spPr>
          <a:xfrm>
            <a:off x="4714875" y="5962650"/>
            <a:ext cx="66675" cy="47625"/>
          </a:xfrm>
          <a:prstGeom prst="line">
            <a:avLst/>
          </a:prstGeom>
          <a:noFill/>
          <a:ln w="14288">
            <a:solidFill>
              <a:srgbClr val="24292D"/>
            </a:solidFill>
          </a:ln>
        </p:spPr>
      </p:sp>
      <p:sp>
        <p:nvSpPr>
          <p:cNvPr id="144" name="直接连接符 143"/>
          <p:cNvSpPr>
            <a:spLocks noGrp="1"/>
          </p:cNvSpPr>
          <p:nvPr/>
        </p:nvSpPr>
        <p:spPr>
          <a:xfrm flipV="1">
            <a:off x="4714875" y="6010275"/>
            <a:ext cx="66675" cy="47625"/>
          </a:xfrm>
          <a:prstGeom prst="line">
            <a:avLst/>
          </a:prstGeom>
          <a:noFill/>
          <a:ln w="14288">
            <a:solidFill>
              <a:srgbClr val="24292D"/>
            </a:solidFill>
          </a:ln>
        </p:spPr>
      </p:sp>
      <p:sp>
        <p:nvSpPr>
          <p:cNvPr id="145" name="圆角矩形 144"/>
          <p:cNvSpPr>
            <a:spLocks noGrp="1"/>
          </p:cNvSpPr>
          <p:nvPr/>
        </p:nvSpPr>
        <p:spPr>
          <a:xfrm>
            <a:off x="4876800" y="5610225"/>
            <a:ext cx="1809750" cy="800100"/>
          </a:xfrm>
          <a:prstGeom prst="roundRect">
            <a:avLst>
              <a:gd name="adj" fmla="val 9524"/>
            </a:avLst>
          </a:prstGeom>
          <a:solidFill>
            <a:srgbClr val="FFFFFF"/>
          </a:solidFill>
          <a:ln w="11430">
            <a:solidFill>
              <a:srgbClr val="D5DDE0"/>
            </a:solidFill>
          </a:ln>
        </p:spPr>
      </p:sp>
      <p:sp>
        <p:nvSpPr>
          <p:cNvPr id="146" name="椭圆 145"/>
          <p:cNvSpPr>
            <a:spLocks noGrp="1"/>
          </p:cNvSpPr>
          <p:nvPr/>
        </p:nvSpPr>
        <p:spPr>
          <a:xfrm>
            <a:off x="4981575" y="5734050"/>
            <a:ext cx="276225" cy="276225"/>
          </a:xfrm>
          <a:prstGeom prst="ellipse">
            <a:avLst/>
          </a:prstGeom>
          <a:solidFill>
            <a:srgbClr val="F3F7F8"/>
          </a:solidFill>
          <a:ln w="9525">
            <a:solidFill>
              <a:srgbClr val="D5DDE0"/>
            </a:solidFill>
          </a:ln>
        </p:spPr>
      </p:sp>
      <p:sp>
        <p:nvSpPr>
          <p:cNvPr id="147" name="矩形 146"/>
          <p:cNvSpPr>
            <a:spLocks noGrp="1"/>
          </p:cNvSpPr>
          <p:nvPr/>
        </p:nvSpPr>
        <p:spPr>
          <a:xfrm>
            <a:off x="4991100" y="57340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3</a:t>
            </a:r>
            <a:endParaRPr sz="1200" b="1">
              <a:solidFill>
                <a:srgbClr val="24292D"/>
              </a:solidFill>
              <a:latin typeface="Arial" panose="020B0604020202020204"/>
              <a:ea typeface="Arial" panose="020B0604020202020204"/>
              <a:cs typeface="Arial" panose="020B0604020202020204"/>
            </a:endParaRPr>
          </a:p>
        </p:txBody>
      </p:sp>
      <p:sp>
        <p:nvSpPr>
          <p:cNvPr id="148" name="矩形 147"/>
          <p:cNvSpPr>
            <a:spLocks noGrp="1"/>
          </p:cNvSpPr>
          <p:nvPr/>
        </p:nvSpPr>
        <p:spPr>
          <a:xfrm>
            <a:off x="5343525" y="56864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Cool</a:t>
            </a:r>
            <a:endParaRPr sz="1350" b="1">
              <a:solidFill>
                <a:srgbClr val="24292D"/>
              </a:solidFill>
              <a:latin typeface="Arial" panose="020B0604020202020204"/>
              <a:ea typeface="Arial" panose="020B0604020202020204"/>
              <a:cs typeface="Arial" panose="020B0604020202020204"/>
            </a:endParaRPr>
          </a:p>
        </p:txBody>
      </p:sp>
      <p:sp>
        <p:nvSpPr>
          <p:cNvPr id="149" name="矩形 148"/>
          <p:cNvSpPr>
            <a:spLocks noGrp="1"/>
          </p:cNvSpPr>
          <p:nvPr/>
        </p:nvSpPr>
        <p:spPr>
          <a:xfrm>
            <a:off x="5334000" y="59055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towards 325 K</a:t>
            </a:r>
            <a:endParaRPr sz="1200" b="0">
              <a:solidFill>
                <a:srgbClr val="24292D"/>
              </a:solidFill>
              <a:latin typeface="Arial" panose="020B0604020202020204"/>
              <a:ea typeface="Arial" panose="020B0604020202020204"/>
              <a:cs typeface="Arial" panose="020B0604020202020204"/>
            </a:endParaRPr>
          </a:p>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 h</a:t>
            </a:r>
            <a:endParaRPr sz="1200" b="0">
              <a:solidFill>
                <a:srgbClr val="24292D"/>
              </a:solidFill>
              <a:latin typeface="Arial" panose="020B0604020202020204"/>
              <a:ea typeface="Arial" panose="020B0604020202020204"/>
              <a:cs typeface="Arial" panose="020B0604020202020204"/>
            </a:endParaRPr>
          </a:p>
        </p:txBody>
      </p:sp>
      <p:sp>
        <p:nvSpPr>
          <p:cNvPr id="150" name="直接连接符 149"/>
          <p:cNvSpPr>
            <a:spLocks noGrp="1"/>
          </p:cNvSpPr>
          <p:nvPr/>
        </p:nvSpPr>
        <p:spPr>
          <a:xfrm>
            <a:off x="6743700" y="6010275"/>
            <a:ext cx="228600" cy="953"/>
          </a:xfrm>
          <a:prstGeom prst="line">
            <a:avLst/>
          </a:prstGeom>
          <a:noFill/>
          <a:ln w="14288">
            <a:solidFill>
              <a:srgbClr val="24292D"/>
            </a:solidFill>
          </a:ln>
        </p:spPr>
      </p:sp>
      <p:sp>
        <p:nvSpPr>
          <p:cNvPr id="151" name="直接连接符 150"/>
          <p:cNvSpPr>
            <a:spLocks noGrp="1"/>
          </p:cNvSpPr>
          <p:nvPr/>
        </p:nvSpPr>
        <p:spPr>
          <a:xfrm>
            <a:off x="6905625" y="5962650"/>
            <a:ext cx="66675" cy="47625"/>
          </a:xfrm>
          <a:prstGeom prst="line">
            <a:avLst/>
          </a:prstGeom>
          <a:noFill/>
          <a:ln w="14288">
            <a:solidFill>
              <a:srgbClr val="24292D"/>
            </a:solidFill>
          </a:ln>
        </p:spPr>
      </p:sp>
      <p:sp>
        <p:nvSpPr>
          <p:cNvPr id="152" name="直接连接符 151"/>
          <p:cNvSpPr>
            <a:spLocks noGrp="1"/>
          </p:cNvSpPr>
          <p:nvPr/>
        </p:nvSpPr>
        <p:spPr>
          <a:xfrm flipV="1">
            <a:off x="6905625" y="6010275"/>
            <a:ext cx="66675" cy="47625"/>
          </a:xfrm>
          <a:prstGeom prst="line">
            <a:avLst/>
          </a:prstGeom>
          <a:noFill/>
          <a:ln w="14288">
            <a:solidFill>
              <a:srgbClr val="24292D"/>
            </a:solidFill>
          </a:ln>
        </p:spPr>
      </p:sp>
      <p:sp>
        <p:nvSpPr>
          <p:cNvPr id="153" name="圆角矩形 152"/>
          <p:cNvSpPr>
            <a:spLocks noGrp="1"/>
          </p:cNvSpPr>
          <p:nvPr/>
        </p:nvSpPr>
        <p:spPr>
          <a:xfrm>
            <a:off x="7067550" y="5610225"/>
            <a:ext cx="1809750" cy="800100"/>
          </a:xfrm>
          <a:prstGeom prst="roundRect">
            <a:avLst>
              <a:gd name="adj" fmla="val 9524"/>
            </a:avLst>
          </a:prstGeom>
          <a:solidFill>
            <a:srgbClr val="FFFFFF"/>
          </a:solidFill>
          <a:ln w="11430">
            <a:solidFill>
              <a:srgbClr val="D5DDE0"/>
            </a:solidFill>
          </a:ln>
        </p:spPr>
      </p:sp>
      <p:sp>
        <p:nvSpPr>
          <p:cNvPr id="154" name="椭圆 153"/>
          <p:cNvSpPr>
            <a:spLocks noGrp="1"/>
          </p:cNvSpPr>
          <p:nvPr/>
        </p:nvSpPr>
        <p:spPr>
          <a:xfrm>
            <a:off x="7172325" y="5734050"/>
            <a:ext cx="276225" cy="276225"/>
          </a:xfrm>
          <a:prstGeom prst="ellipse">
            <a:avLst/>
          </a:prstGeom>
          <a:solidFill>
            <a:srgbClr val="F3F7F8"/>
          </a:solidFill>
          <a:ln w="9525">
            <a:solidFill>
              <a:srgbClr val="D5DDE0"/>
            </a:solidFill>
          </a:ln>
        </p:spPr>
      </p:sp>
      <p:sp>
        <p:nvSpPr>
          <p:cNvPr id="155" name="矩形 154"/>
          <p:cNvSpPr>
            <a:spLocks noGrp="1"/>
          </p:cNvSpPr>
          <p:nvPr/>
        </p:nvSpPr>
        <p:spPr>
          <a:xfrm>
            <a:off x="7181850" y="57340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4</a:t>
            </a:r>
            <a:endParaRPr sz="1200" b="1">
              <a:solidFill>
                <a:srgbClr val="24292D"/>
              </a:solidFill>
              <a:latin typeface="Arial" panose="020B0604020202020204"/>
              <a:ea typeface="Arial" panose="020B0604020202020204"/>
              <a:cs typeface="Arial" panose="020B0604020202020204"/>
            </a:endParaRPr>
          </a:p>
        </p:txBody>
      </p:sp>
      <p:sp>
        <p:nvSpPr>
          <p:cNvPr id="156" name="矩形 155"/>
          <p:cNvSpPr>
            <a:spLocks noGrp="1"/>
          </p:cNvSpPr>
          <p:nvPr/>
        </p:nvSpPr>
        <p:spPr>
          <a:xfrm>
            <a:off x="7534275" y="56864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Seed</a:t>
            </a:r>
            <a:endParaRPr sz="1350" b="1">
              <a:solidFill>
                <a:srgbClr val="24292D"/>
              </a:solidFill>
              <a:latin typeface="Arial" panose="020B0604020202020204"/>
              <a:ea typeface="Arial" panose="020B0604020202020204"/>
              <a:cs typeface="Arial" panose="020B0604020202020204"/>
            </a:endParaRPr>
          </a:p>
        </p:txBody>
      </p:sp>
      <p:sp>
        <p:nvSpPr>
          <p:cNvPr id="157" name="矩形 156"/>
          <p:cNvSpPr>
            <a:spLocks noGrp="1"/>
          </p:cNvSpPr>
          <p:nvPr/>
        </p:nvSpPr>
        <p:spPr>
          <a:xfrm>
            <a:off x="7524750" y="59055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 mg</a:t>
            </a:r>
            <a:endParaRPr sz="1200" b="0">
              <a:solidFill>
                <a:srgbClr val="24292D"/>
              </a:solidFill>
              <a:latin typeface="Arial" panose="020B0604020202020204"/>
              <a:ea typeface="Arial" panose="020B0604020202020204"/>
              <a:cs typeface="Arial" panose="020B0604020202020204"/>
            </a:endParaRPr>
          </a:p>
        </p:txBody>
      </p:sp>
      <p:sp>
        <p:nvSpPr>
          <p:cNvPr id="158" name="直接连接符 157"/>
          <p:cNvSpPr>
            <a:spLocks noGrp="1"/>
          </p:cNvSpPr>
          <p:nvPr/>
        </p:nvSpPr>
        <p:spPr>
          <a:xfrm>
            <a:off x="8934450" y="6010275"/>
            <a:ext cx="228600" cy="953"/>
          </a:xfrm>
          <a:prstGeom prst="line">
            <a:avLst/>
          </a:prstGeom>
          <a:noFill/>
          <a:ln w="14288">
            <a:solidFill>
              <a:srgbClr val="24292D"/>
            </a:solidFill>
          </a:ln>
        </p:spPr>
      </p:sp>
      <p:sp>
        <p:nvSpPr>
          <p:cNvPr id="159" name="直接连接符 158"/>
          <p:cNvSpPr>
            <a:spLocks noGrp="1"/>
          </p:cNvSpPr>
          <p:nvPr/>
        </p:nvSpPr>
        <p:spPr>
          <a:xfrm>
            <a:off x="9096375" y="5962650"/>
            <a:ext cx="66675" cy="47625"/>
          </a:xfrm>
          <a:prstGeom prst="line">
            <a:avLst/>
          </a:prstGeom>
          <a:noFill/>
          <a:ln w="14288">
            <a:solidFill>
              <a:srgbClr val="24292D"/>
            </a:solidFill>
          </a:ln>
        </p:spPr>
      </p:sp>
      <p:sp>
        <p:nvSpPr>
          <p:cNvPr id="160" name="直接连接符 159"/>
          <p:cNvSpPr>
            <a:spLocks noGrp="1"/>
          </p:cNvSpPr>
          <p:nvPr/>
        </p:nvSpPr>
        <p:spPr>
          <a:xfrm flipV="1">
            <a:off x="9096375" y="6010275"/>
            <a:ext cx="66675" cy="47625"/>
          </a:xfrm>
          <a:prstGeom prst="line">
            <a:avLst/>
          </a:prstGeom>
          <a:noFill/>
          <a:ln w="14288">
            <a:solidFill>
              <a:srgbClr val="24292D"/>
            </a:solidFill>
          </a:ln>
        </p:spPr>
      </p:sp>
      <p:sp>
        <p:nvSpPr>
          <p:cNvPr id="161" name="圆角矩形 160"/>
          <p:cNvSpPr>
            <a:spLocks noGrp="1"/>
          </p:cNvSpPr>
          <p:nvPr/>
        </p:nvSpPr>
        <p:spPr>
          <a:xfrm>
            <a:off x="9258300" y="5610225"/>
            <a:ext cx="1809750" cy="800100"/>
          </a:xfrm>
          <a:prstGeom prst="roundRect">
            <a:avLst>
              <a:gd name="adj" fmla="val 9524"/>
            </a:avLst>
          </a:prstGeom>
          <a:solidFill>
            <a:srgbClr val="FFFFFF"/>
          </a:solidFill>
          <a:ln w="11430">
            <a:solidFill>
              <a:srgbClr val="D5DDE0"/>
            </a:solidFill>
          </a:ln>
        </p:spPr>
      </p:sp>
      <p:sp>
        <p:nvSpPr>
          <p:cNvPr id="162" name="椭圆 161"/>
          <p:cNvSpPr>
            <a:spLocks noGrp="1"/>
          </p:cNvSpPr>
          <p:nvPr/>
        </p:nvSpPr>
        <p:spPr>
          <a:xfrm>
            <a:off x="9363075" y="5734050"/>
            <a:ext cx="276225" cy="276225"/>
          </a:xfrm>
          <a:prstGeom prst="ellipse">
            <a:avLst/>
          </a:prstGeom>
          <a:solidFill>
            <a:srgbClr val="F3F7F8"/>
          </a:solidFill>
          <a:ln w="9525">
            <a:solidFill>
              <a:srgbClr val="D5DDE0"/>
            </a:solidFill>
          </a:ln>
        </p:spPr>
      </p:sp>
      <p:sp>
        <p:nvSpPr>
          <p:cNvPr id="163" name="矩形 162"/>
          <p:cNvSpPr>
            <a:spLocks noGrp="1"/>
          </p:cNvSpPr>
          <p:nvPr/>
        </p:nvSpPr>
        <p:spPr>
          <a:xfrm>
            <a:off x="9372600" y="57340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5</a:t>
            </a:r>
            <a:endParaRPr sz="1200" b="1">
              <a:solidFill>
                <a:srgbClr val="24292D"/>
              </a:solidFill>
              <a:latin typeface="Arial" panose="020B0604020202020204"/>
              <a:ea typeface="Arial" panose="020B0604020202020204"/>
              <a:cs typeface="Arial" panose="020B0604020202020204"/>
            </a:endParaRPr>
          </a:p>
        </p:txBody>
      </p:sp>
      <p:sp>
        <p:nvSpPr>
          <p:cNvPr id="164" name="矩形 163"/>
          <p:cNvSpPr>
            <a:spLocks noGrp="1"/>
          </p:cNvSpPr>
          <p:nvPr/>
        </p:nvSpPr>
        <p:spPr>
          <a:xfrm>
            <a:off x="9725025" y="56864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Cool</a:t>
            </a:r>
            <a:endParaRPr sz="1350" b="1">
              <a:solidFill>
                <a:srgbClr val="24292D"/>
              </a:solidFill>
              <a:latin typeface="Arial" panose="020B0604020202020204"/>
              <a:ea typeface="Arial" panose="020B0604020202020204"/>
              <a:cs typeface="Arial" panose="020B0604020202020204"/>
            </a:endParaRPr>
          </a:p>
        </p:txBody>
      </p:sp>
      <p:sp>
        <p:nvSpPr>
          <p:cNvPr id="165" name="矩形 164"/>
          <p:cNvSpPr>
            <a:spLocks noGrp="1"/>
          </p:cNvSpPr>
          <p:nvPr/>
        </p:nvSpPr>
        <p:spPr>
          <a:xfrm>
            <a:off x="9715500" y="59055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towards 250 K</a:t>
            </a:r>
            <a:endParaRPr sz="1200" b="0">
              <a:solidFill>
                <a:srgbClr val="24292D"/>
              </a:solidFill>
              <a:latin typeface="Arial" panose="020B0604020202020204"/>
              <a:ea typeface="Arial" panose="020B0604020202020204"/>
              <a:cs typeface="Arial" panose="020B0604020202020204"/>
            </a:endParaRPr>
          </a:p>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4 h</a:t>
            </a:r>
            <a:endParaRPr sz="1200" b="0">
              <a:solidFill>
                <a:srgbClr val="24292D"/>
              </a:solidFill>
              <a:latin typeface="Arial" panose="020B0604020202020204"/>
              <a:ea typeface="Arial" panose="020B0604020202020204"/>
              <a:cs typeface="Arial" panose="020B0604020202020204"/>
            </a:endParaRPr>
          </a:p>
        </p:txBody>
      </p:sp>
      <p:sp>
        <p:nvSpPr>
          <p:cNvPr id="166" name="直接连接符 165"/>
          <p:cNvSpPr>
            <a:spLocks noGrp="1"/>
          </p:cNvSpPr>
          <p:nvPr/>
        </p:nvSpPr>
        <p:spPr>
          <a:xfrm>
            <a:off x="11449050" y="6010275"/>
            <a:ext cx="857250" cy="953"/>
          </a:xfrm>
          <a:prstGeom prst="line">
            <a:avLst/>
          </a:prstGeom>
          <a:noFill/>
          <a:ln w="14288">
            <a:solidFill>
              <a:srgbClr val="24292D"/>
            </a:solidFill>
          </a:ln>
        </p:spPr>
      </p:sp>
      <p:sp>
        <p:nvSpPr>
          <p:cNvPr id="167" name="直接连接符 166"/>
          <p:cNvSpPr>
            <a:spLocks noGrp="1"/>
          </p:cNvSpPr>
          <p:nvPr/>
        </p:nvSpPr>
        <p:spPr>
          <a:xfrm>
            <a:off x="12306300" y="6010275"/>
            <a:ext cx="953" cy="704850"/>
          </a:xfrm>
          <a:prstGeom prst="line">
            <a:avLst/>
          </a:prstGeom>
          <a:noFill/>
          <a:ln w="14288">
            <a:solidFill>
              <a:srgbClr val="24292D"/>
            </a:solidFill>
          </a:ln>
        </p:spPr>
      </p:sp>
      <p:sp>
        <p:nvSpPr>
          <p:cNvPr id="168" name="直接连接符 167"/>
          <p:cNvSpPr>
            <a:spLocks noGrp="1"/>
          </p:cNvSpPr>
          <p:nvPr/>
        </p:nvSpPr>
        <p:spPr>
          <a:xfrm>
            <a:off x="619125" y="6715125"/>
            <a:ext cx="11687175" cy="953"/>
          </a:xfrm>
          <a:prstGeom prst="line">
            <a:avLst/>
          </a:prstGeom>
          <a:noFill/>
          <a:ln w="14288">
            <a:solidFill>
              <a:srgbClr val="24292D"/>
            </a:solidFill>
          </a:ln>
        </p:spPr>
      </p:sp>
      <p:sp>
        <p:nvSpPr>
          <p:cNvPr id="169" name="直接连接符 168"/>
          <p:cNvSpPr>
            <a:spLocks noGrp="1"/>
          </p:cNvSpPr>
          <p:nvPr/>
        </p:nvSpPr>
        <p:spPr>
          <a:xfrm>
            <a:off x="619125" y="6715125"/>
            <a:ext cx="953" cy="152400"/>
          </a:xfrm>
          <a:prstGeom prst="line">
            <a:avLst/>
          </a:prstGeom>
          <a:noFill/>
          <a:ln w="14288">
            <a:solidFill>
              <a:srgbClr val="24292D"/>
            </a:solidFill>
          </a:ln>
        </p:spPr>
      </p:sp>
      <p:sp>
        <p:nvSpPr>
          <p:cNvPr id="170" name="直接连接符 169"/>
          <p:cNvSpPr>
            <a:spLocks noGrp="1"/>
          </p:cNvSpPr>
          <p:nvPr/>
        </p:nvSpPr>
        <p:spPr>
          <a:xfrm>
            <a:off x="571500" y="6800850"/>
            <a:ext cx="47625" cy="66675"/>
          </a:xfrm>
          <a:prstGeom prst="line">
            <a:avLst/>
          </a:prstGeom>
          <a:noFill/>
          <a:ln w="14288">
            <a:solidFill>
              <a:srgbClr val="24292D"/>
            </a:solidFill>
          </a:ln>
        </p:spPr>
      </p:sp>
      <p:sp>
        <p:nvSpPr>
          <p:cNvPr id="171" name="直接连接符 170"/>
          <p:cNvSpPr>
            <a:spLocks noGrp="1"/>
          </p:cNvSpPr>
          <p:nvPr/>
        </p:nvSpPr>
        <p:spPr>
          <a:xfrm flipV="1">
            <a:off x="619125" y="6800850"/>
            <a:ext cx="47625" cy="66675"/>
          </a:xfrm>
          <a:prstGeom prst="line">
            <a:avLst/>
          </a:prstGeom>
          <a:noFill/>
          <a:ln w="14288">
            <a:solidFill>
              <a:srgbClr val="24292D"/>
            </a:solidFill>
          </a:ln>
        </p:spPr>
      </p:sp>
      <p:sp>
        <p:nvSpPr>
          <p:cNvPr id="172" name="圆角矩形 171"/>
          <p:cNvSpPr>
            <a:spLocks noGrp="1"/>
          </p:cNvSpPr>
          <p:nvPr/>
        </p:nvSpPr>
        <p:spPr>
          <a:xfrm>
            <a:off x="495300" y="6867525"/>
            <a:ext cx="1809750" cy="800100"/>
          </a:xfrm>
          <a:prstGeom prst="roundRect">
            <a:avLst>
              <a:gd name="adj" fmla="val 9524"/>
            </a:avLst>
          </a:prstGeom>
          <a:solidFill>
            <a:srgbClr val="FFFFFF"/>
          </a:solidFill>
          <a:ln w="11430">
            <a:solidFill>
              <a:srgbClr val="D5DDE0"/>
            </a:solidFill>
          </a:ln>
        </p:spPr>
      </p:sp>
      <p:sp>
        <p:nvSpPr>
          <p:cNvPr id="173" name="椭圆 172"/>
          <p:cNvSpPr>
            <a:spLocks noGrp="1"/>
          </p:cNvSpPr>
          <p:nvPr/>
        </p:nvSpPr>
        <p:spPr>
          <a:xfrm>
            <a:off x="600075" y="6991350"/>
            <a:ext cx="276225" cy="276225"/>
          </a:xfrm>
          <a:prstGeom prst="ellipse">
            <a:avLst/>
          </a:prstGeom>
          <a:solidFill>
            <a:srgbClr val="F3F7F8"/>
          </a:solidFill>
          <a:ln w="9525">
            <a:solidFill>
              <a:srgbClr val="D5DDE0"/>
            </a:solidFill>
          </a:ln>
        </p:spPr>
      </p:sp>
      <p:sp>
        <p:nvSpPr>
          <p:cNvPr id="174" name="矩形 173"/>
          <p:cNvSpPr>
            <a:spLocks noGrp="1"/>
          </p:cNvSpPr>
          <p:nvPr/>
        </p:nvSpPr>
        <p:spPr>
          <a:xfrm>
            <a:off x="609600" y="69913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6</a:t>
            </a:r>
            <a:endParaRPr sz="1200" b="1">
              <a:solidFill>
                <a:srgbClr val="24292D"/>
              </a:solidFill>
              <a:latin typeface="Arial" panose="020B0604020202020204"/>
              <a:ea typeface="Arial" panose="020B0604020202020204"/>
              <a:cs typeface="Arial" panose="020B0604020202020204"/>
            </a:endParaRPr>
          </a:p>
        </p:txBody>
      </p:sp>
      <p:sp>
        <p:nvSpPr>
          <p:cNvPr id="175" name="矩形 174"/>
          <p:cNvSpPr>
            <a:spLocks noGrp="1"/>
          </p:cNvSpPr>
          <p:nvPr/>
        </p:nvSpPr>
        <p:spPr>
          <a:xfrm>
            <a:off x="962025" y="69437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Hold</a:t>
            </a:r>
            <a:endParaRPr sz="1350" b="1">
              <a:solidFill>
                <a:srgbClr val="24292D"/>
              </a:solidFill>
              <a:latin typeface="Arial" panose="020B0604020202020204"/>
              <a:ea typeface="Arial" panose="020B0604020202020204"/>
              <a:cs typeface="Arial" panose="020B0604020202020204"/>
            </a:endParaRPr>
          </a:p>
        </p:txBody>
      </p:sp>
      <p:sp>
        <p:nvSpPr>
          <p:cNvPr id="176" name="矩形 175"/>
          <p:cNvSpPr>
            <a:spLocks noGrp="1"/>
          </p:cNvSpPr>
          <p:nvPr/>
        </p:nvSpPr>
        <p:spPr>
          <a:xfrm>
            <a:off x="952500" y="71628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4 h · 100 rpm</a:t>
            </a:r>
            <a:endParaRPr sz="1200" b="0">
              <a:solidFill>
                <a:srgbClr val="24292D"/>
              </a:solidFill>
              <a:latin typeface="Arial" panose="020B0604020202020204"/>
              <a:ea typeface="Arial" panose="020B0604020202020204"/>
              <a:cs typeface="Arial" panose="020B0604020202020204"/>
            </a:endParaRPr>
          </a:p>
        </p:txBody>
      </p:sp>
      <p:sp>
        <p:nvSpPr>
          <p:cNvPr id="177" name="直接连接符 176"/>
          <p:cNvSpPr>
            <a:spLocks noGrp="1"/>
          </p:cNvSpPr>
          <p:nvPr/>
        </p:nvSpPr>
        <p:spPr>
          <a:xfrm>
            <a:off x="2362200" y="7267575"/>
            <a:ext cx="228600" cy="953"/>
          </a:xfrm>
          <a:prstGeom prst="line">
            <a:avLst/>
          </a:prstGeom>
          <a:noFill/>
          <a:ln w="14288">
            <a:solidFill>
              <a:srgbClr val="24292D"/>
            </a:solidFill>
          </a:ln>
        </p:spPr>
      </p:sp>
      <p:sp>
        <p:nvSpPr>
          <p:cNvPr id="178" name="直接连接符 177"/>
          <p:cNvSpPr>
            <a:spLocks noGrp="1"/>
          </p:cNvSpPr>
          <p:nvPr/>
        </p:nvSpPr>
        <p:spPr>
          <a:xfrm>
            <a:off x="2524125" y="7219950"/>
            <a:ext cx="66675" cy="47625"/>
          </a:xfrm>
          <a:prstGeom prst="line">
            <a:avLst/>
          </a:prstGeom>
          <a:noFill/>
          <a:ln w="14288">
            <a:solidFill>
              <a:srgbClr val="24292D"/>
            </a:solidFill>
          </a:ln>
        </p:spPr>
      </p:sp>
      <p:sp>
        <p:nvSpPr>
          <p:cNvPr id="179" name="直接连接符 178"/>
          <p:cNvSpPr>
            <a:spLocks noGrp="1"/>
          </p:cNvSpPr>
          <p:nvPr/>
        </p:nvSpPr>
        <p:spPr>
          <a:xfrm flipV="1">
            <a:off x="2524125" y="7267575"/>
            <a:ext cx="66675" cy="47625"/>
          </a:xfrm>
          <a:prstGeom prst="line">
            <a:avLst/>
          </a:prstGeom>
          <a:noFill/>
          <a:ln w="14288">
            <a:solidFill>
              <a:srgbClr val="24292D"/>
            </a:solidFill>
          </a:ln>
        </p:spPr>
      </p:sp>
      <p:sp>
        <p:nvSpPr>
          <p:cNvPr id="180" name="圆角矩形 179"/>
          <p:cNvSpPr>
            <a:spLocks noGrp="1"/>
          </p:cNvSpPr>
          <p:nvPr/>
        </p:nvSpPr>
        <p:spPr>
          <a:xfrm>
            <a:off x="2686050" y="6867525"/>
            <a:ext cx="1809750" cy="800100"/>
          </a:xfrm>
          <a:prstGeom prst="roundRect">
            <a:avLst>
              <a:gd name="adj" fmla="val 9524"/>
            </a:avLst>
          </a:prstGeom>
          <a:solidFill>
            <a:srgbClr val="FFFFFF"/>
          </a:solidFill>
          <a:ln w="11430">
            <a:solidFill>
              <a:srgbClr val="D5DDE0"/>
            </a:solidFill>
          </a:ln>
        </p:spPr>
      </p:sp>
      <p:sp>
        <p:nvSpPr>
          <p:cNvPr id="181" name="椭圆 180"/>
          <p:cNvSpPr>
            <a:spLocks noGrp="1"/>
          </p:cNvSpPr>
          <p:nvPr/>
        </p:nvSpPr>
        <p:spPr>
          <a:xfrm>
            <a:off x="2790825" y="6991350"/>
            <a:ext cx="276225" cy="276225"/>
          </a:xfrm>
          <a:prstGeom prst="ellipse">
            <a:avLst/>
          </a:prstGeom>
          <a:solidFill>
            <a:srgbClr val="F3F7F8"/>
          </a:solidFill>
          <a:ln w="9525">
            <a:solidFill>
              <a:srgbClr val="D5DDE0"/>
            </a:solidFill>
          </a:ln>
        </p:spPr>
      </p:sp>
      <p:sp>
        <p:nvSpPr>
          <p:cNvPr id="182" name="矩形 181"/>
          <p:cNvSpPr>
            <a:spLocks noGrp="1"/>
          </p:cNvSpPr>
          <p:nvPr/>
        </p:nvSpPr>
        <p:spPr>
          <a:xfrm>
            <a:off x="2800350" y="69913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7</a:t>
            </a:r>
            <a:endParaRPr sz="1200" b="1">
              <a:solidFill>
                <a:srgbClr val="24292D"/>
              </a:solidFill>
              <a:latin typeface="Arial" panose="020B0604020202020204"/>
              <a:ea typeface="Arial" panose="020B0604020202020204"/>
              <a:cs typeface="Arial" panose="020B0604020202020204"/>
            </a:endParaRPr>
          </a:p>
        </p:txBody>
      </p:sp>
      <p:sp>
        <p:nvSpPr>
          <p:cNvPr id="183" name="矩形 182"/>
          <p:cNvSpPr>
            <a:spLocks noGrp="1"/>
          </p:cNvSpPr>
          <p:nvPr/>
        </p:nvSpPr>
        <p:spPr>
          <a:xfrm>
            <a:off x="3152775" y="69437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Measure</a:t>
            </a:r>
            <a:endParaRPr sz="1350" b="1">
              <a:solidFill>
                <a:srgbClr val="24292D"/>
              </a:solidFill>
              <a:latin typeface="Arial" panose="020B0604020202020204"/>
              <a:ea typeface="Arial" panose="020B0604020202020204"/>
              <a:cs typeface="Arial" panose="020B0604020202020204"/>
            </a:endParaRPr>
          </a:p>
        </p:txBody>
      </p:sp>
      <p:sp>
        <p:nvSpPr>
          <p:cNvPr id="184" name="矩形 183"/>
          <p:cNvSpPr>
            <a:spLocks noGrp="1"/>
          </p:cNvSpPr>
          <p:nvPr/>
        </p:nvSpPr>
        <p:spPr>
          <a:xfrm>
            <a:off x="3143250" y="71628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particle size</a:t>
            </a:r>
            <a:endParaRPr sz="1200" b="0">
              <a:solidFill>
                <a:srgbClr val="24292D"/>
              </a:solidFill>
              <a:latin typeface="Arial" panose="020B0604020202020204"/>
              <a:ea typeface="Arial" panose="020B0604020202020204"/>
              <a:cs typeface="Arial" panose="020B0604020202020204"/>
            </a:endParaRPr>
          </a:p>
        </p:txBody>
      </p:sp>
      <p:sp>
        <p:nvSpPr>
          <p:cNvPr id="185" name="直接连接符 184"/>
          <p:cNvSpPr>
            <a:spLocks noGrp="1"/>
          </p:cNvSpPr>
          <p:nvPr/>
        </p:nvSpPr>
        <p:spPr>
          <a:xfrm>
            <a:off x="4552950" y="7267575"/>
            <a:ext cx="228600" cy="953"/>
          </a:xfrm>
          <a:prstGeom prst="line">
            <a:avLst/>
          </a:prstGeom>
          <a:noFill/>
          <a:ln w="14288">
            <a:solidFill>
              <a:srgbClr val="24292D"/>
            </a:solidFill>
          </a:ln>
        </p:spPr>
      </p:sp>
      <p:sp>
        <p:nvSpPr>
          <p:cNvPr id="186" name="直接连接符 185"/>
          <p:cNvSpPr>
            <a:spLocks noGrp="1"/>
          </p:cNvSpPr>
          <p:nvPr/>
        </p:nvSpPr>
        <p:spPr>
          <a:xfrm>
            <a:off x="4714875" y="7219950"/>
            <a:ext cx="66675" cy="47625"/>
          </a:xfrm>
          <a:prstGeom prst="line">
            <a:avLst/>
          </a:prstGeom>
          <a:noFill/>
          <a:ln w="14288">
            <a:solidFill>
              <a:srgbClr val="24292D"/>
            </a:solidFill>
          </a:ln>
        </p:spPr>
      </p:sp>
      <p:sp>
        <p:nvSpPr>
          <p:cNvPr id="187" name="直接连接符 186"/>
          <p:cNvSpPr>
            <a:spLocks noGrp="1"/>
          </p:cNvSpPr>
          <p:nvPr/>
        </p:nvSpPr>
        <p:spPr>
          <a:xfrm flipV="1">
            <a:off x="4714875" y="7267575"/>
            <a:ext cx="66675" cy="47625"/>
          </a:xfrm>
          <a:prstGeom prst="line">
            <a:avLst/>
          </a:prstGeom>
          <a:noFill/>
          <a:ln w="14288">
            <a:solidFill>
              <a:srgbClr val="24292D"/>
            </a:solidFill>
          </a:ln>
        </p:spPr>
      </p:sp>
      <p:sp>
        <p:nvSpPr>
          <p:cNvPr id="188" name="圆角矩形 187"/>
          <p:cNvSpPr>
            <a:spLocks noGrp="1"/>
          </p:cNvSpPr>
          <p:nvPr/>
        </p:nvSpPr>
        <p:spPr>
          <a:xfrm>
            <a:off x="4876800" y="6867525"/>
            <a:ext cx="1809750" cy="800100"/>
          </a:xfrm>
          <a:prstGeom prst="roundRect">
            <a:avLst>
              <a:gd name="adj" fmla="val 9524"/>
            </a:avLst>
          </a:prstGeom>
          <a:solidFill>
            <a:srgbClr val="FFFFFF"/>
          </a:solidFill>
          <a:ln w="11430">
            <a:solidFill>
              <a:srgbClr val="D5DDE0"/>
            </a:solidFill>
          </a:ln>
        </p:spPr>
      </p:sp>
      <p:sp>
        <p:nvSpPr>
          <p:cNvPr id="189" name="椭圆 188"/>
          <p:cNvSpPr>
            <a:spLocks noGrp="1"/>
          </p:cNvSpPr>
          <p:nvPr/>
        </p:nvSpPr>
        <p:spPr>
          <a:xfrm>
            <a:off x="4981575" y="6991350"/>
            <a:ext cx="276225" cy="276225"/>
          </a:xfrm>
          <a:prstGeom prst="ellipse">
            <a:avLst/>
          </a:prstGeom>
          <a:solidFill>
            <a:srgbClr val="F3F7F8"/>
          </a:solidFill>
          <a:ln w="9525">
            <a:solidFill>
              <a:srgbClr val="D5DDE0"/>
            </a:solidFill>
          </a:ln>
        </p:spPr>
      </p:sp>
      <p:sp>
        <p:nvSpPr>
          <p:cNvPr id="190" name="矩形 189"/>
          <p:cNvSpPr>
            <a:spLocks noGrp="1"/>
          </p:cNvSpPr>
          <p:nvPr/>
        </p:nvSpPr>
        <p:spPr>
          <a:xfrm>
            <a:off x="4991100" y="69913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8</a:t>
            </a:r>
            <a:endParaRPr sz="1200" b="1">
              <a:solidFill>
                <a:srgbClr val="24292D"/>
              </a:solidFill>
              <a:latin typeface="Arial" panose="020B0604020202020204"/>
              <a:ea typeface="Arial" panose="020B0604020202020204"/>
              <a:cs typeface="Arial" panose="020B0604020202020204"/>
            </a:endParaRPr>
          </a:p>
        </p:txBody>
      </p:sp>
      <p:sp>
        <p:nvSpPr>
          <p:cNvPr id="191" name="矩形 190"/>
          <p:cNvSpPr>
            <a:spLocks noGrp="1"/>
          </p:cNvSpPr>
          <p:nvPr/>
        </p:nvSpPr>
        <p:spPr>
          <a:xfrm>
            <a:off x="5343525" y="69437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Filter</a:t>
            </a:r>
            <a:endParaRPr sz="1350" b="1">
              <a:solidFill>
                <a:srgbClr val="24292D"/>
              </a:solidFill>
              <a:latin typeface="Arial" panose="020B0604020202020204"/>
              <a:ea typeface="Arial" panose="020B0604020202020204"/>
              <a:cs typeface="Arial" panose="020B0604020202020204"/>
            </a:endParaRPr>
          </a:p>
        </p:txBody>
      </p:sp>
      <p:sp>
        <p:nvSpPr>
          <p:cNvPr id="192" name="矩形 191"/>
          <p:cNvSpPr>
            <a:spLocks noGrp="1"/>
          </p:cNvSpPr>
          <p:nvPr/>
        </p:nvSpPr>
        <p:spPr>
          <a:xfrm>
            <a:off x="5334000" y="71628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crystals</a:t>
            </a:r>
            <a:endParaRPr sz="1200" b="0">
              <a:solidFill>
                <a:srgbClr val="24292D"/>
              </a:solidFill>
              <a:latin typeface="Arial" panose="020B0604020202020204"/>
              <a:ea typeface="Arial" panose="020B0604020202020204"/>
              <a:cs typeface="Arial" panose="020B0604020202020204"/>
            </a:endParaRPr>
          </a:p>
        </p:txBody>
      </p:sp>
      <p:sp>
        <p:nvSpPr>
          <p:cNvPr id="193" name="直接连接符 192"/>
          <p:cNvSpPr>
            <a:spLocks noGrp="1"/>
          </p:cNvSpPr>
          <p:nvPr/>
        </p:nvSpPr>
        <p:spPr>
          <a:xfrm>
            <a:off x="6743700" y="7267575"/>
            <a:ext cx="228600" cy="953"/>
          </a:xfrm>
          <a:prstGeom prst="line">
            <a:avLst/>
          </a:prstGeom>
          <a:noFill/>
          <a:ln w="14288">
            <a:solidFill>
              <a:srgbClr val="24292D"/>
            </a:solidFill>
          </a:ln>
        </p:spPr>
      </p:sp>
      <p:sp>
        <p:nvSpPr>
          <p:cNvPr id="194" name="直接连接符 193"/>
          <p:cNvSpPr>
            <a:spLocks noGrp="1"/>
          </p:cNvSpPr>
          <p:nvPr/>
        </p:nvSpPr>
        <p:spPr>
          <a:xfrm>
            <a:off x="6905625" y="7219950"/>
            <a:ext cx="66675" cy="47625"/>
          </a:xfrm>
          <a:prstGeom prst="line">
            <a:avLst/>
          </a:prstGeom>
          <a:noFill/>
          <a:ln w="14288">
            <a:solidFill>
              <a:srgbClr val="24292D"/>
            </a:solidFill>
          </a:ln>
        </p:spPr>
      </p:sp>
      <p:sp>
        <p:nvSpPr>
          <p:cNvPr id="195" name="直接连接符 194"/>
          <p:cNvSpPr>
            <a:spLocks noGrp="1"/>
          </p:cNvSpPr>
          <p:nvPr/>
        </p:nvSpPr>
        <p:spPr>
          <a:xfrm flipV="1">
            <a:off x="6905625" y="7267575"/>
            <a:ext cx="66675" cy="47625"/>
          </a:xfrm>
          <a:prstGeom prst="line">
            <a:avLst/>
          </a:prstGeom>
          <a:noFill/>
          <a:ln w="14288">
            <a:solidFill>
              <a:srgbClr val="24292D"/>
            </a:solidFill>
          </a:ln>
        </p:spPr>
      </p:sp>
      <p:sp>
        <p:nvSpPr>
          <p:cNvPr id="196" name="圆角矩形 195"/>
          <p:cNvSpPr>
            <a:spLocks noGrp="1"/>
          </p:cNvSpPr>
          <p:nvPr/>
        </p:nvSpPr>
        <p:spPr>
          <a:xfrm>
            <a:off x="7067550" y="6867525"/>
            <a:ext cx="1809750" cy="800100"/>
          </a:xfrm>
          <a:prstGeom prst="roundRect">
            <a:avLst>
              <a:gd name="adj" fmla="val 9524"/>
            </a:avLst>
          </a:prstGeom>
          <a:solidFill>
            <a:srgbClr val="FFFFFF"/>
          </a:solidFill>
          <a:ln w="11430">
            <a:solidFill>
              <a:srgbClr val="D5DDE0"/>
            </a:solidFill>
          </a:ln>
        </p:spPr>
      </p:sp>
      <p:sp>
        <p:nvSpPr>
          <p:cNvPr id="197" name="椭圆 196"/>
          <p:cNvSpPr>
            <a:spLocks noGrp="1"/>
          </p:cNvSpPr>
          <p:nvPr/>
        </p:nvSpPr>
        <p:spPr>
          <a:xfrm>
            <a:off x="7172325" y="6991350"/>
            <a:ext cx="276225" cy="276225"/>
          </a:xfrm>
          <a:prstGeom prst="ellipse">
            <a:avLst/>
          </a:prstGeom>
          <a:solidFill>
            <a:srgbClr val="F3F7F8"/>
          </a:solidFill>
          <a:ln w="9525">
            <a:solidFill>
              <a:srgbClr val="D5DDE0"/>
            </a:solidFill>
          </a:ln>
        </p:spPr>
      </p:sp>
      <p:sp>
        <p:nvSpPr>
          <p:cNvPr id="198" name="矩形 197"/>
          <p:cNvSpPr>
            <a:spLocks noGrp="1"/>
          </p:cNvSpPr>
          <p:nvPr/>
        </p:nvSpPr>
        <p:spPr>
          <a:xfrm>
            <a:off x="7181850" y="6991350"/>
            <a:ext cx="257175" cy="266700"/>
          </a:xfrm>
          <a:prstGeom prst="rect">
            <a:avLst/>
          </a:prstGeom>
          <a:noFill/>
          <a:ln w="0">
            <a:noFill/>
          </a:ln>
        </p:spPr>
        <p:txBody>
          <a:bodyPr wrap="none" lIns="0" tIns="0" rIns="0" bIns="0" anchor="ctr">
            <a:noAutofit/>
          </a:bodyPr>
          <a:lstStyle/>
          <a:p>
            <a:pPr algn="ctr">
              <a:defRPr sz="1200" b="1">
                <a:solidFill>
                  <a:srgbClr val="24292D"/>
                </a:solidFill>
                <a:latin typeface="Arial" panose="020B0604020202020204"/>
                <a:ea typeface="Arial" panose="020B0604020202020204"/>
                <a:cs typeface="Arial" panose="020B0604020202020204"/>
              </a:defRPr>
            </a:pPr>
            <a:r>
              <a:rPr sz="1200" b="1">
                <a:solidFill>
                  <a:srgbClr val="24292D"/>
                </a:solidFill>
                <a:latin typeface="Arial" panose="020B0604020202020204"/>
                <a:ea typeface="Arial" panose="020B0604020202020204"/>
                <a:cs typeface="Arial" panose="020B0604020202020204"/>
              </a:rPr>
              <a:t>9</a:t>
            </a:r>
            <a:endParaRPr sz="1200" b="1">
              <a:solidFill>
                <a:srgbClr val="24292D"/>
              </a:solidFill>
              <a:latin typeface="Arial" panose="020B0604020202020204"/>
              <a:ea typeface="Arial" panose="020B0604020202020204"/>
              <a:cs typeface="Arial" panose="020B0604020202020204"/>
            </a:endParaRPr>
          </a:p>
        </p:txBody>
      </p:sp>
      <p:sp>
        <p:nvSpPr>
          <p:cNvPr id="199" name="矩形 198"/>
          <p:cNvSpPr>
            <a:spLocks noGrp="1"/>
          </p:cNvSpPr>
          <p:nvPr/>
        </p:nvSpPr>
        <p:spPr>
          <a:xfrm>
            <a:off x="7534275" y="6943725"/>
            <a:ext cx="1285875" cy="2667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Terminate</a:t>
            </a:r>
            <a:endParaRPr sz="1350" b="1">
              <a:solidFill>
                <a:srgbClr val="24292D"/>
              </a:solidFill>
              <a:latin typeface="Arial" panose="020B0604020202020204"/>
              <a:ea typeface="Arial" panose="020B0604020202020204"/>
              <a:cs typeface="Arial" panose="020B0604020202020204"/>
            </a:endParaRPr>
          </a:p>
        </p:txBody>
      </p:sp>
      <p:sp>
        <p:nvSpPr>
          <p:cNvPr id="200" name="矩形 199"/>
          <p:cNvSpPr>
            <a:spLocks noGrp="1"/>
          </p:cNvSpPr>
          <p:nvPr/>
        </p:nvSpPr>
        <p:spPr>
          <a:xfrm>
            <a:off x="7524750" y="7162800"/>
            <a:ext cx="1295400" cy="457200"/>
          </a:xfrm>
          <a:prstGeom prst="rect">
            <a:avLst/>
          </a:prstGeom>
          <a:noFill/>
          <a:ln w="0">
            <a:noFill/>
          </a:ln>
        </p:spPr>
        <p:txBody>
          <a:bodyPr wrap="none" lIns="0" tIns="0" rIns="0" bIns="0" anchor="ctr">
            <a:noAutofit/>
          </a:bodyPr>
          <a:lstStyle/>
          <a:p>
            <a:pPr algn="l">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run</a:t>
            </a:r>
            <a:endParaRPr sz="1200" b="0">
              <a:solidFill>
                <a:srgbClr val="24292D"/>
              </a:solidFill>
              <a:latin typeface="Arial" panose="020B0604020202020204"/>
              <a:ea typeface="Arial" panose="020B0604020202020204"/>
              <a:cs typeface="Arial" panose="020B0604020202020204"/>
            </a:endParaRPr>
          </a:p>
        </p:txBody>
      </p:sp>
      <p:sp>
        <p:nvSpPr>
          <p:cNvPr id="201" name="直接连接符 200"/>
          <p:cNvSpPr>
            <a:spLocks noGrp="1"/>
          </p:cNvSpPr>
          <p:nvPr/>
        </p:nvSpPr>
        <p:spPr>
          <a:xfrm>
            <a:off x="8934450" y="7267575"/>
            <a:ext cx="228600" cy="953"/>
          </a:xfrm>
          <a:prstGeom prst="line">
            <a:avLst/>
          </a:prstGeom>
          <a:noFill/>
          <a:ln w="14288">
            <a:solidFill>
              <a:srgbClr val="24292D"/>
            </a:solidFill>
          </a:ln>
        </p:spPr>
      </p:sp>
      <p:sp>
        <p:nvSpPr>
          <p:cNvPr id="202" name="直接连接符 201"/>
          <p:cNvSpPr>
            <a:spLocks noGrp="1"/>
          </p:cNvSpPr>
          <p:nvPr/>
        </p:nvSpPr>
        <p:spPr>
          <a:xfrm>
            <a:off x="9096375" y="7219950"/>
            <a:ext cx="66675" cy="47625"/>
          </a:xfrm>
          <a:prstGeom prst="line">
            <a:avLst/>
          </a:prstGeom>
          <a:noFill/>
          <a:ln w="14288">
            <a:solidFill>
              <a:srgbClr val="24292D"/>
            </a:solidFill>
          </a:ln>
        </p:spPr>
      </p:sp>
      <p:sp>
        <p:nvSpPr>
          <p:cNvPr id="203" name="直接连接符 202"/>
          <p:cNvSpPr>
            <a:spLocks noGrp="1"/>
          </p:cNvSpPr>
          <p:nvPr/>
        </p:nvSpPr>
        <p:spPr>
          <a:xfrm flipV="1">
            <a:off x="9096375" y="7267575"/>
            <a:ext cx="66675" cy="47625"/>
          </a:xfrm>
          <a:prstGeom prst="line">
            <a:avLst/>
          </a:prstGeom>
          <a:noFill/>
          <a:ln w="14288">
            <a:solidFill>
              <a:srgbClr val="24292D"/>
            </a:solidFill>
          </a:ln>
        </p:spPr>
      </p:sp>
      <p:sp>
        <p:nvSpPr>
          <p:cNvPr id="204" name="圆角矩形 203"/>
          <p:cNvSpPr>
            <a:spLocks noGrp="1"/>
          </p:cNvSpPr>
          <p:nvPr/>
        </p:nvSpPr>
        <p:spPr>
          <a:xfrm>
            <a:off x="9258300" y="6867525"/>
            <a:ext cx="1809750" cy="800100"/>
          </a:xfrm>
          <a:prstGeom prst="roundRect">
            <a:avLst>
              <a:gd name="adj" fmla="val 9524"/>
            </a:avLst>
          </a:prstGeom>
          <a:solidFill>
            <a:srgbClr val="FFFFFF"/>
          </a:solidFill>
          <a:ln w="17145">
            <a:solidFill>
              <a:srgbClr val="277F8A"/>
            </a:solidFill>
          </a:ln>
        </p:spPr>
      </p:sp>
      <p:sp>
        <p:nvSpPr>
          <p:cNvPr id="205" name="椭圆 204"/>
          <p:cNvSpPr>
            <a:spLocks noGrp="1"/>
          </p:cNvSpPr>
          <p:nvPr/>
        </p:nvSpPr>
        <p:spPr>
          <a:xfrm>
            <a:off x="9363075" y="6991350"/>
            <a:ext cx="276225" cy="276225"/>
          </a:xfrm>
          <a:prstGeom prst="ellipse">
            <a:avLst/>
          </a:prstGeom>
          <a:solidFill>
            <a:srgbClr val="277F8A"/>
          </a:solidFill>
          <a:ln w="9525">
            <a:solidFill>
              <a:srgbClr val="277F8A"/>
            </a:solidFill>
          </a:ln>
        </p:spPr>
      </p:sp>
      <p:sp>
        <p:nvSpPr>
          <p:cNvPr id="206" name="矩形 205"/>
          <p:cNvSpPr>
            <a:spLocks noGrp="1"/>
          </p:cNvSpPr>
          <p:nvPr/>
        </p:nvSpPr>
        <p:spPr>
          <a:xfrm>
            <a:off x="9372600" y="6991350"/>
            <a:ext cx="257175" cy="266700"/>
          </a:xfrm>
          <a:prstGeom prst="rect">
            <a:avLst/>
          </a:prstGeom>
          <a:noFill/>
          <a:ln w="0">
            <a:noFill/>
          </a:ln>
        </p:spPr>
        <p:txBody>
          <a:bodyPr wrap="none" lIns="0" tIns="0" rIns="0" bIns="0" anchor="ctr">
            <a:noAutofit/>
          </a:bodyPr>
          <a:lstStyle/>
          <a:p>
            <a:pPr algn="ctr">
              <a:defRPr sz="1200" b="1">
                <a:solidFill>
                  <a:srgbClr val="FFFFFF"/>
                </a:solidFill>
                <a:latin typeface="Arial" panose="020B0604020202020204"/>
                <a:ea typeface="Arial" panose="020B0604020202020204"/>
                <a:cs typeface="Arial" panose="020B0604020202020204"/>
              </a:defRPr>
            </a:pPr>
            <a:r>
              <a:rPr sz="1200" b="1">
                <a:solidFill>
                  <a:srgbClr val="FFFFFF"/>
                </a:solidFill>
                <a:latin typeface="Arial" panose="020B0604020202020204"/>
                <a:ea typeface="Arial" panose="020B0604020202020204"/>
                <a:cs typeface="Arial" panose="020B0604020202020204"/>
              </a:rPr>
              <a:t>10</a:t>
            </a:r>
            <a:endParaRPr sz="1200" b="1">
              <a:solidFill>
                <a:srgbClr val="FFFFFF"/>
              </a:solidFill>
              <a:latin typeface="Arial" panose="020B0604020202020204"/>
              <a:ea typeface="Arial" panose="020B0604020202020204"/>
              <a:cs typeface="Arial" panose="020B0604020202020204"/>
            </a:endParaRPr>
          </a:p>
        </p:txBody>
      </p:sp>
      <p:sp>
        <p:nvSpPr>
          <p:cNvPr id="207" name="矩形 206"/>
          <p:cNvSpPr>
            <a:spLocks noGrp="1"/>
          </p:cNvSpPr>
          <p:nvPr/>
        </p:nvSpPr>
        <p:spPr>
          <a:xfrm>
            <a:off x="9725025" y="6943725"/>
            <a:ext cx="1285875" cy="266700"/>
          </a:xfrm>
          <a:prstGeom prst="rect">
            <a:avLst/>
          </a:prstGeom>
          <a:noFill/>
          <a:ln w="0">
            <a:noFill/>
          </a:ln>
        </p:spPr>
        <p:txBody>
          <a:bodyPr wrap="none" lIns="0" tIns="0" rIns="0" bIns="0" anchor="ctr">
            <a:noAutofit/>
          </a:bodyPr>
          <a:lstStyle/>
          <a:p>
            <a:pPr algn="l">
              <a:defRPr sz="1350" b="1">
                <a:solidFill>
                  <a:srgbClr val="277F8A"/>
                </a:solidFill>
                <a:latin typeface="Arial" panose="020B0604020202020204"/>
                <a:ea typeface="Arial" panose="020B0604020202020204"/>
                <a:cs typeface="Arial" panose="020B0604020202020204"/>
              </a:defRPr>
            </a:pPr>
            <a:r>
              <a:rPr sz="1350" b="1">
                <a:solidFill>
                  <a:srgbClr val="277F8A"/>
                </a:solidFill>
                <a:latin typeface="Arial" panose="020B0604020202020204"/>
                <a:ea typeface="Arial" panose="020B0604020202020204"/>
                <a:cs typeface="Arial" panose="020B0604020202020204"/>
              </a:rPr>
              <a:t>Final assay</a:t>
            </a:r>
            <a:endParaRPr sz="1350" b="1">
              <a:solidFill>
                <a:srgbClr val="277F8A"/>
              </a:solidFill>
              <a:latin typeface="Arial" panose="020B0604020202020204"/>
              <a:ea typeface="Arial" panose="020B0604020202020204"/>
              <a:cs typeface="Arial" panose="020B0604020202020204"/>
            </a:endParaRPr>
          </a:p>
        </p:txBody>
      </p:sp>
      <p:sp>
        <p:nvSpPr>
          <p:cNvPr id="208" name="矩形 207"/>
          <p:cNvSpPr>
            <a:spLocks noGrp="1"/>
          </p:cNvSpPr>
          <p:nvPr/>
        </p:nvSpPr>
        <p:spPr>
          <a:xfrm>
            <a:off x="9715500" y="7162800"/>
            <a:ext cx="1295400" cy="457200"/>
          </a:xfrm>
          <a:prstGeom prst="rect">
            <a:avLst/>
          </a:prstGeom>
          <a:noFill/>
          <a:ln w="0">
            <a:noFill/>
          </a:ln>
        </p:spPr>
        <p:txBody>
          <a:bodyPr wrap="none" lIns="0" tIns="0" rIns="0" bIns="0" anchor="ctr">
            <a:noAutofit/>
          </a:bodyPr>
          <a:lstStyle/>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recovery 45.5%</a:t>
            </a:r>
            <a:endParaRPr sz="1050" b="0">
              <a:solidFill>
                <a:srgbClr val="24292D"/>
              </a:solidFill>
              <a:latin typeface="Arial" panose="020B0604020202020204"/>
              <a:ea typeface="Arial" panose="020B0604020202020204"/>
              <a:cs typeface="Arial" panose="020B0604020202020204"/>
            </a:endParaRPr>
          </a:p>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purity 98.2%</a:t>
            </a:r>
            <a:endParaRPr sz="1050" b="0">
              <a:solidFill>
                <a:srgbClr val="24292D"/>
              </a:solidFill>
              <a:latin typeface="Arial" panose="020B0604020202020204"/>
              <a:ea typeface="Arial" panose="020B0604020202020204"/>
              <a:cs typeface="Arial" panose="020B0604020202020204"/>
            </a:endParaRPr>
          </a:p>
          <a:p>
            <a:pPr algn="l">
              <a:defRPr sz="1050" b="0">
                <a:solidFill>
                  <a:srgbClr val="24292D"/>
                </a:solidFill>
                <a:latin typeface="Arial" panose="020B0604020202020204"/>
                <a:ea typeface="Arial" panose="020B0604020202020204"/>
                <a:cs typeface="Arial" panose="020B0604020202020204"/>
              </a:defRPr>
            </a:pPr>
            <a:r>
              <a:rPr sz="1050" b="0">
                <a:solidFill>
                  <a:srgbClr val="24292D"/>
                </a:solidFill>
                <a:latin typeface="Arial" panose="020B0604020202020204"/>
                <a:ea typeface="Arial" panose="020B0604020202020204"/>
                <a:cs typeface="Arial" panose="020B0604020202020204"/>
              </a:rPr>
              <a:t>fines 25.4%</a:t>
            </a:r>
            <a:endParaRPr sz="1050" b="0">
              <a:solidFill>
                <a:srgbClr val="24292D"/>
              </a:solidFill>
              <a:latin typeface="Arial" panose="020B0604020202020204"/>
              <a:ea typeface="Arial" panose="020B0604020202020204"/>
              <a:cs typeface="Arial" panose="020B0604020202020204"/>
            </a:endParaRPr>
          </a:p>
        </p:txBody>
      </p:sp>
      <p:sp>
        <p:nvSpPr>
          <p:cNvPr id="209" name="矩形 208"/>
          <p:cNvSpPr>
            <a:spLocks noGrp="1"/>
          </p:cNvSpPr>
          <p:nvPr/>
        </p:nvSpPr>
        <p:spPr>
          <a:xfrm>
            <a:off x="285750" y="7772400"/>
            <a:ext cx="12954000" cy="314325"/>
          </a:xfrm>
          <a:prstGeom prst="rect">
            <a:avLst/>
          </a:prstGeom>
          <a:noFill/>
          <a:ln w="0">
            <a:noFill/>
          </a:ln>
        </p:spPr>
        <p:txBody>
          <a:bodyPr wrap="none" lIns="0" tIns="0" rIns="0" bIns="0" anchor="ctr">
            <a:noAutofit/>
          </a:bodyPr>
          <a:lstStyle/>
          <a:p>
            <a:pPr algn="l">
              <a:defRPr sz="1425" b="0">
                <a:solidFill>
                  <a:srgbClr val="277F8A"/>
                </a:solidFill>
                <a:latin typeface="Arial" panose="020B0604020202020204"/>
                <a:ea typeface="Arial" panose="020B0604020202020204"/>
                <a:cs typeface="Arial" panose="020B0604020202020204"/>
              </a:defRPr>
            </a:pPr>
            <a:r>
              <a:rPr sz="1425" b="0">
                <a:solidFill>
                  <a:srgbClr val="277F8A"/>
                </a:solidFill>
                <a:latin typeface="Arial" panose="020B0604020202020204"/>
                <a:ea typeface="Arial" panose="020B0604020202020204"/>
                <a:cs typeface="Arial" panose="020B0604020202020204"/>
              </a:rPr>
              <a:t>Independent retest of the sealed B8 recipe: 43.9% recovery · 98.7% purity · 28.4% fines</a:t>
            </a:r>
            <a:endParaRPr sz="1425" b="0">
              <a:solidFill>
                <a:srgbClr val="277F8A"/>
              </a:solidFill>
              <a:latin typeface="Arial" panose="020B0604020202020204"/>
              <a:ea typeface="Arial" panose="020B0604020202020204"/>
              <a:cs typeface="Arial" panose="020B0604020202020204"/>
            </a:endParaRPr>
          </a:p>
        </p:txBody>
      </p:sp>
      <p:sp>
        <p:nvSpPr>
          <p:cNvPr id="210" name="直接连接符 209"/>
          <p:cNvSpPr>
            <a:spLocks noGrp="1"/>
          </p:cNvSpPr>
          <p:nvPr/>
        </p:nvSpPr>
        <p:spPr>
          <a:xfrm>
            <a:off x="228600" y="8191500"/>
            <a:ext cx="13258800" cy="953"/>
          </a:xfrm>
          <a:prstGeom prst="line">
            <a:avLst/>
          </a:prstGeom>
          <a:noFill/>
          <a:ln w="11430">
            <a:solidFill>
              <a:srgbClr val="D5DDE0"/>
            </a:solidFill>
          </a:ln>
        </p:spPr>
      </p:sp>
      <p:sp>
        <p:nvSpPr>
          <p:cNvPr id="211" name="矩形 210"/>
          <p:cNvSpPr>
            <a:spLocks noGrp="1"/>
          </p:cNvSpPr>
          <p:nvPr/>
        </p:nvSpPr>
        <p:spPr>
          <a:xfrm>
            <a:off x="219075" y="8305800"/>
            <a:ext cx="400050" cy="323850"/>
          </a:xfrm>
          <a:prstGeom prst="rect">
            <a:avLst/>
          </a:prstGeom>
          <a:noFill/>
          <a:ln w="0">
            <a:noFill/>
          </a:ln>
        </p:spPr>
        <p:txBody>
          <a:bodyPr wrap="none" lIns="0" tIns="0" rIns="0" bIns="0" anchor="ctr">
            <a:noAutofit/>
          </a:bodyPr>
          <a:lstStyle/>
          <a:p>
            <a:pPr algn="l">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c</a:t>
            </a:r>
            <a:endParaRPr sz="2175" b="1">
              <a:solidFill>
                <a:srgbClr val="111111"/>
              </a:solidFill>
              <a:latin typeface="Arial" panose="020B0604020202020204"/>
              <a:ea typeface="Arial" panose="020B0604020202020204"/>
              <a:cs typeface="Arial" panose="020B0604020202020204"/>
            </a:endParaRPr>
          </a:p>
        </p:txBody>
      </p:sp>
      <p:sp>
        <p:nvSpPr>
          <p:cNvPr id="212" name="矩形 211"/>
          <p:cNvSpPr>
            <a:spLocks noGrp="1"/>
          </p:cNvSpPr>
          <p:nvPr/>
        </p:nvSpPr>
        <p:spPr>
          <a:xfrm>
            <a:off x="666750" y="8305800"/>
            <a:ext cx="12573000" cy="333375"/>
          </a:xfrm>
          <a:prstGeom prst="rect">
            <a:avLst/>
          </a:prstGeom>
          <a:noFill/>
          <a:ln w="0">
            <a:noFill/>
          </a:ln>
        </p:spPr>
        <p:txBody>
          <a:bodyPr wrap="none" lIns="0" tIns="0" rIns="0" bIns="0" anchor="ctr">
            <a:noAutofit/>
          </a:bodyPr>
          <a:lstStyle/>
          <a:p>
            <a:pPr algn="l">
              <a:defRPr sz="1875" b="1">
                <a:solidFill>
                  <a:srgbClr val="24292D"/>
                </a:solidFill>
                <a:latin typeface="Arial" panose="020B0604020202020204"/>
                <a:ea typeface="Arial" panose="020B0604020202020204"/>
                <a:cs typeface="Arial" panose="020B0604020202020204"/>
              </a:defRPr>
            </a:pPr>
            <a:r>
              <a:rPr sz="1875" b="1">
                <a:solidFill>
                  <a:srgbClr val="24292D"/>
                </a:solidFill>
                <a:latin typeface="Arial" panose="020B0604020202020204"/>
                <a:ea typeface="Arial" panose="020B0604020202020204"/>
                <a:cs typeface="Arial" panose="020B0604020202020204"/>
              </a:rPr>
              <a:t>Evidence changed the next test</a:t>
            </a:r>
            <a:endParaRPr sz="1875" b="1">
              <a:solidFill>
                <a:srgbClr val="24292D"/>
              </a:solidFill>
              <a:latin typeface="Arial" panose="020B0604020202020204"/>
              <a:ea typeface="Arial" panose="020B0604020202020204"/>
              <a:cs typeface="Arial" panose="020B0604020202020204"/>
            </a:endParaRPr>
          </a:p>
        </p:txBody>
      </p:sp>
      <p:sp>
        <p:nvSpPr>
          <p:cNvPr id="213" name="矩形 212"/>
          <p:cNvSpPr>
            <a:spLocks noGrp="1"/>
          </p:cNvSpPr>
          <p:nvPr/>
        </p:nvSpPr>
        <p:spPr>
          <a:xfrm>
            <a:off x="381000" y="8677275"/>
            <a:ext cx="2333625" cy="238125"/>
          </a:xfrm>
          <a:prstGeom prst="rect">
            <a:avLst/>
          </a:prstGeom>
          <a:noFill/>
          <a:ln w="0">
            <a:noFill/>
          </a:ln>
        </p:spPr>
        <p:txBody>
          <a:bodyPr wrap="none" lIns="0" tIns="0" rIns="0" bIns="0" anchor="ctr">
            <a:noAutofit/>
          </a:bodyPr>
          <a:lstStyle/>
          <a:p>
            <a:pPr algn="l">
              <a:defRPr sz="1200" b="1">
                <a:solidFill>
                  <a:srgbClr val="637079"/>
                </a:solidFill>
                <a:latin typeface="Arial" panose="020B0604020202020204"/>
                <a:ea typeface="Arial" panose="020B0604020202020204"/>
                <a:cs typeface="Arial" panose="020B0604020202020204"/>
              </a:defRPr>
            </a:pPr>
            <a:r>
              <a:rPr sz="1200" b="1">
                <a:solidFill>
                  <a:srgbClr val="637079"/>
                </a:solidFill>
                <a:latin typeface="Arial" panose="020B0604020202020204"/>
                <a:ea typeface="Arial" panose="020B0604020202020204"/>
                <a:cs typeface="Arial" panose="020B0604020202020204"/>
              </a:rPr>
              <a:t>Observed</a:t>
            </a:r>
            <a:endParaRPr sz="1200" b="1">
              <a:solidFill>
                <a:srgbClr val="637079"/>
              </a:solidFill>
              <a:latin typeface="Arial" panose="020B0604020202020204"/>
              <a:ea typeface="Arial" panose="020B0604020202020204"/>
              <a:cs typeface="Arial" panose="020B0604020202020204"/>
            </a:endParaRPr>
          </a:p>
        </p:txBody>
      </p:sp>
      <p:sp>
        <p:nvSpPr>
          <p:cNvPr id="214" name="矩形 213"/>
          <p:cNvSpPr>
            <a:spLocks noGrp="1"/>
          </p:cNvSpPr>
          <p:nvPr/>
        </p:nvSpPr>
        <p:spPr>
          <a:xfrm>
            <a:off x="3409950" y="8677275"/>
            <a:ext cx="2428875" cy="238125"/>
          </a:xfrm>
          <a:prstGeom prst="rect">
            <a:avLst/>
          </a:prstGeom>
          <a:noFill/>
          <a:ln w="0">
            <a:noFill/>
          </a:ln>
        </p:spPr>
        <p:txBody>
          <a:bodyPr wrap="none" lIns="0" tIns="0" rIns="0" bIns="0" anchor="ctr">
            <a:noAutofit/>
          </a:bodyPr>
          <a:lstStyle/>
          <a:p>
            <a:pPr algn="l">
              <a:defRPr sz="1200" b="1">
                <a:solidFill>
                  <a:srgbClr val="637079"/>
                </a:solidFill>
                <a:latin typeface="Arial" panose="020B0604020202020204"/>
                <a:ea typeface="Arial" panose="020B0604020202020204"/>
                <a:cs typeface="Arial" panose="020B0604020202020204"/>
              </a:defRPr>
            </a:pPr>
            <a:r>
              <a:rPr sz="1200" b="1">
                <a:solidFill>
                  <a:srgbClr val="637079"/>
                </a:solidFill>
                <a:latin typeface="Arial" panose="020B0604020202020204"/>
                <a:ea typeface="Arial" panose="020B0604020202020204"/>
                <a:cs typeface="Arial" panose="020B0604020202020204"/>
              </a:rPr>
              <a:t>Agent question*</a:t>
            </a:r>
            <a:endParaRPr sz="1200" b="1">
              <a:solidFill>
                <a:srgbClr val="637079"/>
              </a:solidFill>
              <a:latin typeface="Arial" panose="020B0604020202020204"/>
              <a:ea typeface="Arial" panose="020B0604020202020204"/>
              <a:cs typeface="Arial" panose="020B0604020202020204"/>
            </a:endParaRPr>
          </a:p>
        </p:txBody>
      </p:sp>
      <p:sp>
        <p:nvSpPr>
          <p:cNvPr id="215" name="矩形 214"/>
          <p:cNvSpPr>
            <a:spLocks noGrp="1"/>
          </p:cNvSpPr>
          <p:nvPr/>
        </p:nvSpPr>
        <p:spPr>
          <a:xfrm>
            <a:off x="6505575" y="8677275"/>
            <a:ext cx="3238500" cy="238125"/>
          </a:xfrm>
          <a:prstGeom prst="rect">
            <a:avLst/>
          </a:prstGeom>
          <a:noFill/>
          <a:ln w="0">
            <a:noFill/>
          </a:ln>
        </p:spPr>
        <p:txBody>
          <a:bodyPr wrap="none" lIns="0" tIns="0" rIns="0" bIns="0" anchor="ctr">
            <a:noAutofit/>
          </a:bodyPr>
          <a:lstStyle/>
          <a:p>
            <a:pPr algn="l">
              <a:defRPr sz="1200" b="1">
                <a:solidFill>
                  <a:srgbClr val="637079"/>
                </a:solidFill>
                <a:latin typeface="Arial" panose="020B0604020202020204"/>
                <a:ea typeface="Arial" panose="020B0604020202020204"/>
                <a:cs typeface="Arial" panose="020B0604020202020204"/>
              </a:defRPr>
            </a:pPr>
            <a:r>
              <a:rPr sz="1200" b="1">
                <a:solidFill>
                  <a:srgbClr val="637079"/>
                </a:solidFill>
                <a:latin typeface="Arial" panose="020B0604020202020204"/>
                <a:ea typeface="Arial" panose="020B0604020202020204"/>
                <a:cs typeface="Arial" panose="020B0604020202020204"/>
              </a:rPr>
              <a:t>Next tested action</a:t>
            </a:r>
            <a:endParaRPr sz="1200" b="1">
              <a:solidFill>
                <a:srgbClr val="637079"/>
              </a:solidFill>
              <a:latin typeface="Arial" panose="020B0604020202020204"/>
              <a:ea typeface="Arial" panose="020B0604020202020204"/>
              <a:cs typeface="Arial" panose="020B0604020202020204"/>
            </a:endParaRPr>
          </a:p>
        </p:txBody>
      </p:sp>
      <p:sp>
        <p:nvSpPr>
          <p:cNvPr id="216" name="矩形 215"/>
          <p:cNvSpPr>
            <a:spLocks noGrp="1"/>
          </p:cNvSpPr>
          <p:nvPr/>
        </p:nvSpPr>
        <p:spPr>
          <a:xfrm>
            <a:off x="10572750" y="8677275"/>
            <a:ext cx="2476500" cy="238125"/>
          </a:xfrm>
          <a:prstGeom prst="rect">
            <a:avLst/>
          </a:prstGeom>
          <a:noFill/>
          <a:ln w="0">
            <a:noFill/>
          </a:ln>
        </p:spPr>
        <p:txBody>
          <a:bodyPr wrap="none" lIns="0" tIns="0" rIns="0" bIns="0" anchor="ctr">
            <a:noAutofit/>
          </a:bodyPr>
          <a:lstStyle/>
          <a:p>
            <a:pPr algn="l">
              <a:defRPr sz="1200" b="1">
                <a:solidFill>
                  <a:srgbClr val="637079"/>
                </a:solidFill>
                <a:latin typeface="Arial" panose="020B0604020202020204"/>
                <a:ea typeface="Arial" panose="020B0604020202020204"/>
                <a:cs typeface="Arial" panose="020B0604020202020204"/>
              </a:defRPr>
            </a:pPr>
            <a:r>
              <a:rPr sz="1200" b="1">
                <a:solidFill>
                  <a:srgbClr val="637079"/>
                </a:solidFill>
                <a:latin typeface="Arial" panose="020B0604020202020204"/>
                <a:ea typeface="Arial" panose="020B0604020202020204"/>
                <a:cs typeface="Arial" panose="020B0604020202020204"/>
              </a:rPr>
              <a:t>Outcome</a:t>
            </a:r>
            <a:endParaRPr sz="1200" b="1">
              <a:solidFill>
                <a:srgbClr val="637079"/>
              </a:solidFill>
              <a:latin typeface="Arial" panose="020B0604020202020204"/>
              <a:ea typeface="Arial" panose="020B0604020202020204"/>
              <a:cs typeface="Arial" panose="020B0604020202020204"/>
            </a:endParaRPr>
          </a:p>
        </p:txBody>
      </p:sp>
      <p:sp>
        <p:nvSpPr>
          <p:cNvPr id="217" name="矩形 216"/>
          <p:cNvSpPr>
            <a:spLocks noGrp="1"/>
          </p:cNvSpPr>
          <p:nvPr/>
        </p:nvSpPr>
        <p:spPr>
          <a:xfrm>
            <a:off x="400050" y="8877300"/>
            <a:ext cx="2619375" cy="476250"/>
          </a:xfrm>
          <a:prstGeom prst="rect">
            <a:avLst/>
          </a:prstGeom>
          <a:noFill/>
          <a:ln w="0">
            <a:noFill/>
          </a:ln>
        </p:spPr>
        <p:txBody>
          <a:bodyPr wrap="none" lIns="0" tIns="0" rIns="0" bIns="0" anchor="ctr">
            <a:noAutofit/>
          </a:bodyPr>
          <a:lstStyle/>
          <a:p>
            <a:pPr algn="l">
              <a:defRPr sz="1275" b="1">
                <a:solidFill>
                  <a:srgbClr val="A35F42"/>
                </a:solidFill>
                <a:latin typeface="Arial" panose="020B0604020202020204"/>
                <a:ea typeface="Arial" panose="020B0604020202020204"/>
                <a:cs typeface="Arial" panose="020B0604020202020204"/>
              </a:defRPr>
            </a:pPr>
            <a:r>
              <a:rPr sz="1275" b="1">
                <a:solidFill>
                  <a:srgbClr val="A35F42"/>
                </a:solidFill>
                <a:latin typeface="Arial" panose="020B0604020202020204"/>
                <a:ea typeface="Arial" panose="020B0604020202020204"/>
                <a:cs typeface="Arial" panose="020B0604020202020204"/>
              </a:rPr>
              <a:t>B1–4: fines 99.5–100.0%</a:t>
            </a:r>
            <a:endParaRPr sz="1275" b="1">
              <a:solidFill>
                <a:srgbClr val="A35F42"/>
              </a:solidFill>
              <a:latin typeface="Arial" panose="020B0604020202020204"/>
              <a:ea typeface="Arial" panose="020B0604020202020204"/>
              <a:cs typeface="Arial" panose="020B0604020202020204"/>
            </a:endParaRPr>
          </a:p>
        </p:txBody>
      </p:sp>
      <p:sp>
        <p:nvSpPr>
          <p:cNvPr id="218" name="椭圆 217"/>
          <p:cNvSpPr>
            <a:spLocks noGrp="1"/>
          </p:cNvSpPr>
          <p:nvPr/>
        </p:nvSpPr>
        <p:spPr>
          <a:xfrm>
            <a:off x="3238500" y="8934450"/>
            <a:ext cx="161925" cy="161925"/>
          </a:xfrm>
          <a:prstGeom prst="ellipse">
            <a:avLst/>
          </a:prstGeom>
          <a:solidFill>
            <a:srgbClr val="FFFFFF"/>
          </a:solidFill>
          <a:ln w="14288">
            <a:solidFill>
              <a:srgbClr val="24292D"/>
            </a:solidFill>
          </a:ln>
        </p:spPr>
      </p:sp>
      <p:sp>
        <p:nvSpPr>
          <p:cNvPr id="219" name="直接连接符 218"/>
          <p:cNvSpPr>
            <a:spLocks noGrp="1"/>
          </p:cNvSpPr>
          <p:nvPr/>
        </p:nvSpPr>
        <p:spPr>
          <a:xfrm>
            <a:off x="3314700" y="9096375"/>
            <a:ext cx="953" cy="209550"/>
          </a:xfrm>
          <a:prstGeom prst="line">
            <a:avLst/>
          </a:prstGeom>
          <a:noFill/>
          <a:ln w="14288">
            <a:solidFill>
              <a:srgbClr val="24292D"/>
            </a:solidFill>
          </a:ln>
        </p:spPr>
      </p:sp>
      <p:sp>
        <p:nvSpPr>
          <p:cNvPr id="220" name="直接连接符 219"/>
          <p:cNvSpPr>
            <a:spLocks noGrp="1"/>
          </p:cNvSpPr>
          <p:nvPr/>
        </p:nvSpPr>
        <p:spPr>
          <a:xfrm flipV="1">
            <a:off x="3162300" y="9144000"/>
            <a:ext cx="152400" cy="85725"/>
          </a:xfrm>
          <a:prstGeom prst="line">
            <a:avLst/>
          </a:prstGeom>
          <a:noFill/>
          <a:ln w="14288">
            <a:solidFill>
              <a:srgbClr val="24292D"/>
            </a:solidFill>
          </a:ln>
        </p:spPr>
      </p:sp>
      <p:sp>
        <p:nvSpPr>
          <p:cNvPr id="221" name="直接连接符 220"/>
          <p:cNvSpPr>
            <a:spLocks noGrp="1"/>
          </p:cNvSpPr>
          <p:nvPr/>
        </p:nvSpPr>
        <p:spPr>
          <a:xfrm>
            <a:off x="3314700" y="9144000"/>
            <a:ext cx="152400" cy="85725"/>
          </a:xfrm>
          <a:prstGeom prst="line">
            <a:avLst/>
          </a:prstGeom>
          <a:noFill/>
          <a:ln w="14288">
            <a:solidFill>
              <a:srgbClr val="24292D"/>
            </a:solidFill>
          </a:ln>
        </p:spPr>
      </p:sp>
      <p:sp>
        <p:nvSpPr>
          <p:cNvPr id="222" name="圆角矩形 221"/>
          <p:cNvSpPr>
            <a:spLocks noGrp="1"/>
          </p:cNvSpPr>
          <p:nvPr/>
        </p:nvSpPr>
        <p:spPr>
          <a:xfrm>
            <a:off x="3581400" y="8867775"/>
            <a:ext cx="2476500" cy="514350"/>
          </a:xfrm>
          <a:prstGeom prst="roundRect">
            <a:avLst>
              <a:gd name="adj" fmla="val 14815"/>
            </a:avLst>
          </a:prstGeom>
          <a:solidFill>
            <a:srgbClr val="FFFFFF"/>
          </a:solidFill>
          <a:ln w="10478">
            <a:solidFill>
              <a:srgbClr val="D5DDE0"/>
            </a:solidFill>
          </a:ln>
        </p:spPr>
      </p:sp>
      <p:sp>
        <p:nvSpPr>
          <p:cNvPr id="223" name="矩形 222"/>
          <p:cNvSpPr>
            <a:spLocks noGrp="1"/>
          </p:cNvSpPr>
          <p:nvPr/>
        </p:nvSpPr>
        <p:spPr>
          <a:xfrm>
            <a:off x="3705225" y="8905875"/>
            <a:ext cx="2257425" cy="42862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Where are fines forming?</a:t>
            </a:r>
            <a:endParaRPr sz="1275" b="0">
              <a:solidFill>
                <a:srgbClr val="24292D"/>
              </a:solidFill>
              <a:latin typeface="Arial" panose="020B0604020202020204"/>
              <a:ea typeface="Arial" panose="020B0604020202020204"/>
              <a:cs typeface="Arial" panose="020B0604020202020204"/>
            </a:endParaRPr>
          </a:p>
        </p:txBody>
      </p:sp>
      <p:sp>
        <p:nvSpPr>
          <p:cNvPr id="224" name="直接连接符 223"/>
          <p:cNvSpPr>
            <a:spLocks noGrp="1"/>
          </p:cNvSpPr>
          <p:nvPr/>
        </p:nvSpPr>
        <p:spPr>
          <a:xfrm>
            <a:off x="6124575" y="9124950"/>
            <a:ext cx="295275" cy="953"/>
          </a:xfrm>
          <a:prstGeom prst="line">
            <a:avLst/>
          </a:prstGeom>
          <a:noFill/>
          <a:ln w="14288">
            <a:solidFill>
              <a:srgbClr val="24292D"/>
            </a:solidFill>
          </a:ln>
        </p:spPr>
      </p:sp>
      <p:sp>
        <p:nvSpPr>
          <p:cNvPr id="225" name="直接连接符 224"/>
          <p:cNvSpPr>
            <a:spLocks noGrp="1"/>
          </p:cNvSpPr>
          <p:nvPr/>
        </p:nvSpPr>
        <p:spPr>
          <a:xfrm>
            <a:off x="6353175" y="9077325"/>
            <a:ext cx="66675" cy="47625"/>
          </a:xfrm>
          <a:prstGeom prst="line">
            <a:avLst/>
          </a:prstGeom>
          <a:noFill/>
          <a:ln w="14288">
            <a:solidFill>
              <a:srgbClr val="24292D"/>
            </a:solidFill>
          </a:ln>
        </p:spPr>
      </p:sp>
      <p:sp>
        <p:nvSpPr>
          <p:cNvPr id="226" name="直接连接符 225"/>
          <p:cNvSpPr>
            <a:spLocks noGrp="1"/>
          </p:cNvSpPr>
          <p:nvPr/>
        </p:nvSpPr>
        <p:spPr>
          <a:xfrm flipV="1">
            <a:off x="6353175" y="9124950"/>
            <a:ext cx="66675" cy="47625"/>
          </a:xfrm>
          <a:prstGeom prst="line">
            <a:avLst/>
          </a:prstGeom>
          <a:noFill/>
          <a:ln w="14288">
            <a:solidFill>
              <a:srgbClr val="24292D"/>
            </a:solidFill>
          </a:ln>
        </p:spPr>
      </p:sp>
      <p:sp>
        <p:nvSpPr>
          <p:cNvPr id="227" name="矩形 226"/>
          <p:cNvSpPr>
            <a:spLocks noGrp="1"/>
          </p:cNvSpPr>
          <p:nvPr/>
        </p:nvSpPr>
        <p:spPr>
          <a:xfrm>
            <a:off x="6543675" y="8877300"/>
            <a:ext cx="3676650" cy="485775"/>
          </a:xfrm>
          <a:prstGeom prst="rect">
            <a:avLst/>
          </a:prstGeom>
          <a:noFill/>
          <a:ln w="0">
            <a:noFill/>
          </a:ln>
        </p:spPr>
        <p:txBody>
          <a:bodyPr wrap="none" lIns="0" tIns="0" rIns="0" bIns="0" anchor="ctr">
            <a:noAutofit/>
          </a:bodyPr>
          <a:lstStyle/>
          <a:p>
            <a:pPr algn="l">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B5: omit quench;</a:t>
            </a:r>
            <a:endParaRPr sz="1275" b="1">
              <a:solidFill>
                <a:srgbClr val="277F8A"/>
              </a:solidFill>
              <a:latin typeface="Arial" panose="020B0604020202020204"/>
              <a:ea typeface="Arial" panose="020B0604020202020204"/>
              <a:cs typeface="Arial" panose="020B0604020202020204"/>
            </a:endParaRPr>
          </a:p>
          <a:p>
            <a:pPr algn="l">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cool before seeding</a:t>
            </a:r>
            <a:endParaRPr sz="1275" b="1">
              <a:solidFill>
                <a:srgbClr val="277F8A"/>
              </a:solidFill>
              <a:latin typeface="Arial" panose="020B0604020202020204"/>
              <a:ea typeface="Arial" panose="020B0604020202020204"/>
              <a:cs typeface="Arial" panose="020B0604020202020204"/>
            </a:endParaRPr>
          </a:p>
        </p:txBody>
      </p:sp>
      <p:sp>
        <p:nvSpPr>
          <p:cNvPr id="228" name="直接连接符 227"/>
          <p:cNvSpPr>
            <a:spLocks noGrp="1"/>
          </p:cNvSpPr>
          <p:nvPr/>
        </p:nvSpPr>
        <p:spPr>
          <a:xfrm>
            <a:off x="10077450" y="9124950"/>
            <a:ext cx="333375" cy="953"/>
          </a:xfrm>
          <a:prstGeom prst="line">
            <a:avLst/>
          </a:prstGeom>
          <a:noFill/>
          <a:ln w="14288">
            <a:solidFill>
              <a:srgbClr val="24292D"/>
            </a:solidFill>
          </a:ln>
        </p:spPr>
      </p:sp>
      <p:sp>
        <p:nvSpPr>
          <p:cNvPr id="229" name="直接连接符 228"/>
          <p:cNvSpPr>
            <a:spLocks noGrp="1"/>
          </p:cNvSpPr>
          <p:nvPr/>
        </p:nvSpPr>
        <p:spPr>
          <a:xfrm>
            <a:off x="10344150" y="9077325"/>
            <a:ext cx="66675" cy="47625"/>
          </a:xfrm>
          <a:prstGeom prst="line">
            <a:avLst/>
          </a:prstGeom>
          <a:noFill/>
          <a:ln w="14288">
            <a:solidFill>
              <a:srgbClr val="24292D"/>
            </a:solidFill>
          </a:ln>
        </p:spPr>
      </p:sp>
      <p:sp>
        <p:nvSpPr>
          <p:cNvPr id="230" name="直接连接符 229"/>
          <p:cNvSpPr>
            <a:spLocks noGrp="1"/>
          </p:cNvSpPr>
          <p:nvPr/>
        </p:nvSpPr>
        <p:spPr>
          <a:xfrm flipV="1">
            <a:off x="10344150" y="9124950"/>
            <a:ext cx="66675" cy="47625"/>
          </a:xfrm>
          <a:prstGeom prst="line">
            <a:avLst/>
          </a:prstGeom>
          <a:noFill/>
          <a:ln w="14288">
            <a:solidFill>
              <a:srgbClr val="24292D"/>
            </a:solidFill>
          </a:ln>
        </p:spPr>
      </p:sp>
      <p:sp>
        <p:nvSpPr>
          <p:cNvPr id="231" name="矩形 230"/>
          <p:cNvSpPr>
            <a:spLocks noGrp="1"/>
          </p:cNvSpPr>
          <p:nvPr/>
        </p:nvSpPr>
        <p:spPr>
          <a:xfrm>
            <a:off x="10525125" y="8877300"/>
            <a:ext cx="2905125" cy="495300"/>
          </a:xfrm>
          <a:prstGeom prst="rect">
            <a:avLst/>
          </a:prstGeom>
          <a:noFill/>
          <a:ln w="0">
            <a:noFill/>
          </a:ln>
        </p:spPr>
        <p:txBody>
          <a:bodyPr wrap="none" lIns="0" tIns="0" rIns="0" bIns="0" anchor="ctr">
            <a:noAutofit/>
          </a:bodyPr>
          <a:lstStyle/>
          <a:p>
            <a:pPr algn="l">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fines 30.3% · first feasible</a:t>
            </a:r>
            <a:endParaRPr sz="1200" b="1">
              <a:solidFill>
                <a:srgbClr val="277F8A"/>
              </a:solidFill>
              <a:latin typeface="Arial" panose="020B0604020202020204"/>
              <a:ea typeface="Arial" panose="020B0604020202020204"/>
              <a:cs typeface="Arial" panose="020B0604020202020204"/>
            </a:endParaRPr>
          </a:p>
        </p:txBody>
      </p:sp>
      <p:sp>
        <p:nvSpPr>
          <p:cNvPr id="232" name="直接连接符 231"/>
          <p:cNvSpPr>
            <a:spLocks noGrp="1"/>
          </p:cNvSpPr>
          <p:nvPr/>
        </p:nvSpPr>
        <p:spPr>
          <a:xfrm>
            <a:off x="333375" y="9448800"/>
            <a:ext cx="13049250" cy="953"/>
          </a:xfrm>
          <a:prstGeom prst="line">
            <a:avLst/>
          </a:prstGeom>
          <a:noFill/>
          <a:ln w="9525">
            <a:solidFill>
              <a:srgbClr val="D5DDE0"/>
            </a:solidFill>
          </a:ln>
        </p:spPr>
      </p:sp>
      <p:sp>
        <p:nvSpPr>
          <p:cNvPr id="233" name="矩形 232"/>
          <p:cNvSpPr>
            <a:spLocks noGrp="1"/>
          </p:cNvSpPr>
          <p:nvPr/>
        </p:nvSpPr>
        <p:spPr>
          <a:xfrm>
            <a:off x="400050" y="9534525"/>
            <a:ext cx="2619375" cy="476250"/>
          </a:xfrm>
          <a:prstGeom prst="rect">
            <a:avLst/>
          </a:prstGeom>
          <a:noFill/>
          <a:ln w="0">
            <a:noFill/>
          </a:ln>
        </p:spPr>
        <p:txBody>
          <a:bodyPr wrap="none" lIns="0" tIns="0" rIns="0" bIns="0" anchor="ctr">
            <a:noAutofit/>
          </a:bodyPr>
          <a:lstStyle/>
          <a:p>
            <a:pPr algn="l">
              <a:defRPr sz="1275" b="0">
                <a:solidFill>
                  <a:srgbClr val="A35F42"/>
                </a:solidFill>
                <a:latin typeface="Arial" panose="020B0604020202020204"/>
                <a:ea typeface="Arial" panose="020B0604020202020204"/>
                <a:cs typeface="Arial" panose="020B0604020202020204"/>
              </a:defRPr>
            </a:pPr>
            <a:r>
              <a:rPr sz="1275" b="0">
                <a:solidFill>
                  <a:srgbClr val="A35F42"/>
                </a:solidFill>
                <a:latin typeface="Arial" panose="020B0604020202020204"/>
                <a:ea typeface="Arial" panose="020B0604020202020204"/>
                <a:cs typeface="Arial" panose="020B0604020202020204"/>
              </a:rPr>
              <a:t>B5: feasible; recovery 40.0%</a:t>
            </a:r>
            <a:endParaRPr sz="1275" b="0">
              <a:solidFill>
                <a:srgbClr val="A35F42"/>
              </a:solidFill>
              <a:latin typeface="Arial" panose="020B0604020202020204"/>
              <a:ea typeface="Arial" panose="020B0604020202020204"/>
              <a:cs typeface="Arial" panose="020B0604020202020204"/>
            </a:endParaRPr>
          </a:p>
        </p:txBody>
      </p:sp>
      <p:sp>
        <p:nvSpPr>
          <p:cNvPr id="234" name="椭圆 233"/>
          <p:cNvSpPr>
            <a:spLocks noGrp="1"/>
          </p:cNvSpPr>
          <p:nvPr/>
        </p:nvSpPr>
        <p:spPr>
          <a:xfrm>
            <a:off x="3238500" y="9591675"/>
            <a:ext cx="161925" cy="161925"/>
          </a:xfrm>
          <a:prstGeom prst="ellipse">
            <a:avLst/>
          </a:prstGeom>
          <a:solidFill>
            <a:srgbClr val="FFFFFF"/>
          </a:solidFill>
          <a:ln w="14288">
            <a:solidFill>
              <a:srgbClr val="24292D"/>
            </a:solidFill>
          </a:ln>
        </p:spPr>
      </p:sp>
      <p:sp>
        <p:nvSpPr>
          <p:cNvPr id="235" name="直接连接符 234"/>
          <p:cNvSpPr>
            <a:spLocks noGrp="1"/>
          </p:cNvSpPr>
          <p:nvPr/>
        </p:nvSpPr>
        <p:spPr>
          <a:xfrm>
            <a:off x="3314700" y="9753600"/>
            <a:ext cx="953" cy="209550"/>
          </a:xfrm>
          <a:prstGeom prst="line">
            <a:avLst/>
          </a:prstGeom>
          <a:noFill/>
          <a:ln w="14288">
            <a:solidFill>
              <a:srgbClr val="24292D"/>
            </a:solidFill>
          </a:ln>
        </p:spPr>
      </p:sp>
      <p:sp>
        <p:nvSpPr>
          <p:cNvPr id="236" name="直接连接符 235"/>
          <p:cNvSpPr>
            <a:spLocks noGrp="1"/>
          </p:cNvSpPr>
          <p:nvPr/>
        </p:nvSpPr>
        <p:spPr>
          <a:xfrm flipV="1">
            <a:off x="3162300" y="9801225"/>
            <a:ext cx="152400" cy="85725"/>
          </a:xfrm>
          <a:prstGeom prst="line">
            <a:avLst/>
          </a:prstGeom>
          <a:noFill/>
          <a:ln w="14288">
            <a:solidFill>
              <a:srgbClr val="24292D"/>
            </a:solidFill>
          </a:ln>
        </p:spPr>
      </p:sp>
      <p:sp>
        <p:nvSpPr>
          <p:cNvPr id="237" name="直接连接符 236"/>
          <p:cNvSpPr>
            <a:spLocks noGrp="1"/>
          </p:cNvSpPr>
          <p:nvPr/>
        </p:nvSpPr>
        <p:spPr>
          <a:xfrm>
            <a:off x="3314700" y="9801225"/>
            <a:ext cx="152400" cy="85725"/>
          </a:xfrm>
          <a:prstGeom prst="line">
            <a:avLst/>
          </a:prstGeom>
          <a:noFill/>
          <a:ln w="14288">
            <a:solidFill>
              <a:srgbClr val="24292D"/>
            </a:solidFill>
          </a:ln>
        </p:spPr>
      </p:sp>
      <p:sp>
        <p:nvSpPr>
          <p:cNvPr id="238" name="圆角矩形 237"/>
          <p:cNvSpPr>
            <a:spLocks noGrp="1"/>
          </p:cNvSpPr>
          <p:nvPr/>
        </p:nvSpPr>
        <p:spPr>
          <a:xfrm>
            <a:off x="3581400" y="9525000"/>
            <a:ext cx="2476500" cy="514350"/>
          </a:xfrm>
          <a:prstGeom prst="roundRect">
            <a:avLst>
              <a:gd name="adj" fmla="val 14815"/>
            </a:avLst>
          </a:prstGeom>
          <a:solidFill>
            <a:srgbClr val="FFFFFF"/>
          </a:solidFill>
          <a:ln w="10478">
            <a:solidFill>
              <a:srgbClr val="D5DDE0"/>
            </a:solidFill>
          </a:ln>
        </p:spPr>
      </p:sp>
      <p:sp>
        <p:nvSpPr>
          <p:cNvPr id="239" name="矩形 238"/>
          <p:cNvSpPr>
            <a:spLocks noGrp="1"/>
          </p:cNvSpPr>
          <p:nvPr/>
        </p:nvSpPr>
        <p:spPr>
          <a:xfrm>
            <a:off x="3705225" y="9563100"/>
            <a:ext cx="2257425" cy="42862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Can colder endpoints</a:t>
            </a:r>
            <a:endParaRPr sz="1275" b="0">
              <a:solidFill>
                <a:srgbClr val="24292D"/>
              </a:solidFill>
              <a:latin typeface="Arial" panose="020B0604020202020204"/>
              <a:ea typeface="Arial" panose="020B0604020202020204"/>
              <a:cs typeface="Arial" panose="020B0604020202020204"/>
            </a:endParaRPr>
          </a:p>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improve recovery?</a:t>
            </a:r>
            <a:endParaRPr sz="1275" b="0">
              <a:solidFill>
                <a:srgbClr val="24292D"/>
              </a:solidFill>
              <a:latin typeface="Arial" panose="020B0604020202020204"/>
              <a:ea typeface="Arial" panose="020B0604020202020204"/>
              <a:cs typeface="Arial" panose="020B0604020202020204"/>
            </a:endParaRPr>
          </a:p>
        </p:txBody>
      </p:sp>
      <p:sp>
        <p:nvSpPr>
          <p:cNvPr id="240" name="直接连接符 239"/>
          <p:cNvSpPr>
            <a:spLocks noGrp="1"/>
          </p:cNvSpPr>
          <p:nvPr/>
        </p:nvSpPr>
        <p:spPr>
          <a:xfrm>
            <a:off x="6124575" y="9782175"/>
            <a:ext cx="295275" cy="953"/>
          </a:xfrm>
          <a:prstGeom prst="line">
            <a:avLst/>
          </a:prstGeom>
          <a:noFill/>
          <a:ln w="14288">
            <a:solidFill>
              <a:srgbClr val="24292D"/>
            </a:solidFill>
          </a:ln>
        </p:spPr>
      </p:sp>
      <p:sp>
        <p:nvSpPr>
          <p:cNvPr id="241" name="直接连接符 240"/>
          <p:cNvSpPr>
            <a:spLocks noGrp="1"/>
          </p:cNvSpPr>
          <p:nvPr/>
        </p:nvSpPr>
        <p:spPr>
          <a:xfrm>
            <a:off x="6353175" y="9734550"/>
            <a:ext cx="66675" cy="47625"/>
          </a:xfrm>
          <a:prstGeom prst="line">
            <a:avLst/>
          </a:prstGeom>
          <a:noFill/>
          <a:ln w="14288">
            <a:solidFill>
              <a:srgbClr val="24292D"/>
            </a:solidFill>
          </a:ln>
        </p:spPr>
      </p:sp>
      <p:sp>
        <p:nvSpPr>
          <p:cNvPr id="242" name="直接连接符 241"/>
          <p:cNvSpPr>
            <a:spLocks noGrp="1"/>
          </p:cNvSpPr>
          <p:nvPr/>
        </p:nvSpPr>
        <p:spPr>
          <a:xfrm flipV="1">
            <a:off x="6353175" y="9782175"/>
            <a:ext cx="66675" cy="47625"/>
          </a:xfrm>
          <a:prstGeom prst="line">
            <a:avLst/>
          </a:prstGeom>
          <a:noFill/>
          <a:ln w="14288">
            <a:solidFill>
              <a:srgbClr val="24292D"/>
            </a:solidFill>
          </a:ln>
        </p:spPr>
      </p:sp>
      <p:sp>
        <p:nvSpPr>
          <p:cNvPr id="243" name="矩形 242"/>
          <p:cNvSpPr>
            <a:spLocks noGrp="1"/>
          </p:cNvSpPr>
          <p:nvPr/>
        </p:nvSpPr>
        <p:spPr>
          <a:xfrm>
            <a:off x="6543675" y="9534525"/>
            <a:ext cx="3676650" cy="485775"/>
          </a:xfrm>
          <a:prstGeom prst="rect">
            <a:avLst/>
          </a:prstGeom>
          <a:noFill/>
          <a:ln w="0">
            <a:noFill/>
          </a:ln>
        </p:spPr>
        <p:txBody>
          <a:bodyPr wrap="none" lIns="0" tIns="0" rIns="0" bIns="0" anchor="ctr">
            <a:noAutofit/>
          </a:bodyPr>
          <a:lstStyle/>
          <a:p>
            <a:pPr algn="l">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B6/B7: 265/250 K;</a:t>
            </a:r>
            <a:endParaRPr sz="1275" b="1">
              <a:solidFill>
                <a:srgbClr val="277F8A"/>
              </a:solidFill>
              <a:latin typeface="Arial" panose="020B0604020202020204"/>
              <a:ea typeface="Arial" panose="020B0604020202020204"/>
              <a:cs typeface="Arial" panose="020B0604020202020204"/>
            </a:endParaRPr>
          </a:p>
          <a:p>
            <a:pPr algn="l">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B8: seed 5 → 1 mg</a:t>
            </a:r>
            <a:endParaRPr sz="1275" b="1">
              <a:solidFill>
                <a:srgbClr val="277F8A"/>
              </a:solidFill>
              <a:latin typeface="Arial" panose="020B0604020202020204"/>
              <a:ea typeface="Arial" panose="020B0604020202020204"/>
              <a:cs typeface="Arial" panose="020B0604020202020204"/>
            </a:endParaRPr>
          </a:p>
        </p:txBody>
      </p:sp>
      <p:sp>
        <p:nvSpPr>
          <p:cNvPr id="244" name="直接连接符 243"/>
          <p:cNvSpPr>
            <a:spLocks noGrp="1"/>
          </p:cNvSpPr>
          <p:nvPr/>
        </p:nvSpPr>
        <p:spPr>
          <a:xfrm>
            <a:off x="10077450" y="9782175"/>
            <a:ext cx="333375" cy="953"/>
          </a:xfrm>
          <a:prstGeom prst="line">
            <a:avLst/>
          </a:prstGeom>
          <a:noFill/>
          <a:ln w="14288">
            <a:solidFill>
              <a:srgbClr val="24292D"/>
            </a:solidFill>
          </a:ln>
        </p:spPr>
      </p:sp>
      <p:sp>
        <p:nvSpPr>
          <p:cNvPr id="245" name="直接连接符 244"/>
          <p:cNvSpPr>
            <a:spLocks noGrp="1"/>
          </p:cNvSpPr>
          <p:nvPr/>
        </p:nvSpPr>
        <p:spPr>
          <a:xfrm>
            <a:off x="10344150" y="9734550"/>
            <a:ext cx="66675" cy="47625"/>
          </a:xfrm>
          <a:prstGeom prst="line">
            <a:avLst/>
          </a:prstGeom>
          <a:noFill/>
          <a:ln w="14288">
            <a:solidFill>
              <a:srgbClr val="24292D"/>
            </a:solidFill>
          </a:ln>
        </p:spPr>
      </p:sp>
      <p:sp>
        <p:nvSpPr>
          <p:cNvPr id="246" name="直接连接符 245"/>
          <p:cNvSpPr>
            <a:spLocks noGrp="1"/>
          </p:cNvSpPr>
          <p:nvPr/>
        </p:nvSpPr>
        <p:spPr>
          <a:xfrm flipV="1">
            <a:off x="10344150" y="9782175"/>
            <a:ext cx="66675" cy="47625"/>
          </a:xfrm>
          <a:prstGeom prst="line">
            <a:avLst/>
          </a:prstGeom>
          <a:noFill/>
          <a:ln w="14288">
            <a:solidFill>
              <a:srgbClr val="24292D"/>
            </a:solidFill>
          </a:ln>
        </p:spPr>
      </p:sp>
      <p:sp>
        <p:nvSpPr>
          <p:cNvPr id="247" name="矩形 246"/>
          <p:cNvSpPr>
            <a:spLocks noGrp="1"/>
          </p:cNvSpPr>
          <p:nvPr/>
        </p:nvSpPr>
        <p:spPr>
          <a:xfrm>
            <a:off x="10525125" y="9534525"/>
            <a:ext cx="2905125" cy="495300"/>
          </a:xfrm>
          <a:prstGeom prst="rect">
            <a:avLst/>
          </a:prstGeom>
          <a:noFill/>
          <a:ln w="0">
            <a:noFill/>
          </a:ln>
        </p:spPr>
        <p:txBody>
          <a:bodyPr wrap="none" lIns="0" tIns="0" rIns="0" bIns="0" anchor="ctr">
            <a:noAutofit/>
          </a:bodyPr>
          <a:lstStyle/>
          <a:p>
            <a:pPr algn="l">
              <a:defRPr sz="1200" b="1">
                <a:solidFill>
                  <a:srgbClr val="277F8A"/>
                </a:solidFill>
                <a:latin typeface="Arial" panose="020B0604020202020204"/>
                <a:ea typeface="Arial" panose="020B0604020202020204"/>
                <a:cs typeface="Arial" panose="020B0604020202020204"/>
              </a:defRPr>
            </a:pPr>
            <a:r>
              <a:rPr sz="1200" b="1">
                <a:solidFill>
                  <a:srgbClr val="277F8A"/>
                </a:solidFill>
                <a:latin typeface="Arial" panose="020B0604020202020204"/>
                <a:ea typeface="Arial" panose="020B0604020202020204"/>
                <a:cs typeface="Arial" panose="020B0604020202020204"/>
              </a:rPr>
              <a:t>recovery 42.8 → 45.0 → 45.5%</a:t>
            </a:r>
            <a:endParaRPr sz="1200" b="1">
              <a:solidFill>
                <a:srgbClr val="277F8A"/>
              </a:solidFill>
              <a:latin typeface="Arial" panose="020B0604020202020204"/>
              <a:ea typeface="Arial" panose="020B0604020202020204"/>
              <a:cs typeface="Arial" panose="020B0604020202020204"/>
            </a:endParaRPr>
          </a:p>
        </p:txBody>
      </p:sp>
      <p:sp>
        <p:nvSpPr>
          <p:cNvPr id="248" name="直接连接符 247"/>
          <p:cNvSpPr>
            <a:spLocks noGrp="1"/>
          </p:cNvSpPr>
          <p:nvPr/>
        </p:nvSpPr>
        <p:spPr>
          <a:xfrm>
            <a:off x="333375" y="10106025"/>
            <a:ext cx="13049250" cy="953"/>
          </a:xfrm>
          <a:prstGeom prst="line">
            <a:avLst/>
          </a:prstGeom>
          <a:noFill/>
          <a:ln w="9525">
            <a:solidFill>
              <a:srgbClr val="D5DDE0"/>
            </a:solidFill>
          </a:ln>
        </p:spPr>
      </p:sp>
      <p:sp>
        <p:nvSpPr>
          <p:cNvPr id="249" name="矩形 248"/>
          <p:cNvSpPr>
            <a:spLocks noGrp="1"/>
          </p:cNvSpPr>
          <p:nvPr/>
        </p:nvSpPr>
        <p:spPr>
          <a:xfrm>
            <a:off x="400050" y="10191750"/>
            <a:ext cx="2619375" cy="476250"/>
          </a:xfrm>
          <a:prstGeom prst="rect">
            <a:avLst/>
          </a:prstGeom>
          <a:noFill/>
          <a:ln w="0">
            <a:noFill/>
          </a:ln>
        </p:spPr>
        <p:txBody>
          <a:bodyPr wrap="none" lIns="0" tIns="0" rIns="0" bIns="0" anchor="ctr">
            <a:noAutofit/>
          </a:bodyPr>
          <a:lstStyle/>
          <a:p>
            <a:pPr algn="l">
              <a:defRPr sz="1275" b="0">
                <a:solidFill>
                  <a:srgbClr val="A35F42"/>
                </a:solidFill>
                <a:latin typeface="Arial" panose="020B0604020202020204"/>
                <a:ea typeface="Arial" panose="020B0604020202020204"/>
                <a:cs typeface="Arial" panose="020B0604020202020204"/>
              </a:defRPr>
            </a:pPr>
            <a:r>
              <a:rPr sz="1275" b="0">
                <a:solidFill>
                  <a:srgbClr val="A35F42"/>
                </a:solidFill>
                <a:latin typeface="Arial" panose="020B0604020202020204"/>
                <a:ea typeface="Arial" panose="020B0604020202020204"/>
                <a:cs typeface="Arial" panose="020B0604020202020204"/>
              </a:rPr>
              <a:t>B8 leads; B9–10 probes</a:t>
            </a:r>
            <a:endParaRPr sz="1275" b="0">
              <a:solidFill>
                <a:srgbClr val="A35F42"/>
              </a:solidFill>
              <a:latin typeface="Arial" panose="020B0604020202020204"/>
              <a:ea typeface="Arial" panose="020B0604020202020204"/>
              <a:cs typeface="Arial" panose="020B0604020202020204"/>
            </a:endParaRPr>
          </a:p>
        </p:txBody>
      </p:sp>
      <p:sp>
        <p:nvSpPr>
          <p:cNvPr id="250" name="椭圆 249"/>
          <p:cNvSpPr>
            <a:spLocks noGrp="1"/>
          </p:cNvSpPr>
          <p:nvPr/>
        </p:nvSpPr>
        <p:spPr>
          <a:xfrm>
            <a:off x="3238500" y="10248900"/>
            <a:ext cx="161925" cy="161925"/>
          </a:xfrm>
          <a:prstGeom prst="ellipse">
            <a:avLst/>
          </a:prstGeom>
          <a:solidFill>
            <a:srgbClr val="FFFFFF"/>
          </a:solidFill>
          <a:ln w="14288">
            <a:solidFill>
              <a:srgbClr val="24292D"/>
            </a:solidFill>
          </a:ln>
        </p:spPr>
      </p:sp>
      <p:sp>
        <p:nvSpPr>
          <p:cNvPr id="251" name="直接连接符 250"/>
          <p:cNvSpPr>
            <a:spLocks noGrp="1"/>
          </p:cNvSpPr>
          <p:nvPr/>
        </p:nvSpPr>
        <p:spPr>
          <a:xfrm>
            <a:off x="3314700" y="10410825"/>
            <a:ext cx="953" cy="209550"/>
          </a:xfrm>
          <a:prstGeom prst="line">
            <a:avLst/>
          </a:prstGeom>
          <a:noFill/>
          <a:ln w="14288">
            <a:solidFill>
              <a:srgbClr val="24292D"/>
            </a:solidFill>
          </a:ln>
        </p:spPr>
      </p:sp>
      <p:sp>
        <p:nvSpPr>
          <p:cNvPr id="252" name="直接连接符 251"/>
          <p:cNvSpPr>
            <a:spLocks noGrp="1"/>
          </p:cNvSpPr>
          <p:nvPr/>
        </p:nvSpPr>
        <p:spPr>
          <a:xfrm flipV="1">
            <a:off x="3162300" y="10458450"/>
            <a:ext cx="152400" cy="85725"/>
          </a:xfrm>
          <a:prstGeom prst="line">
            <a:avLst/>
          </a:prstGeom>
          <a:noFill/>
          <a:ln w="14288">
            <a:solidFill>
              <a:srgbClr val="24292D"/>
            </a:solidFill>
          </a:ln>
        </p:spPr>
      </p:sp>
      <p:sp>
        <p:nvSpPr>
          <p:cNvPr id="253" name="直接连接符 252"/>
          <p:cNvSpPr>
            <a:spLocks noGrp="1"/>
          </p:cNvSpPr>
          <p:nvPr/>
        </p:nvSpPr>
        <p:spPr>
          <a:xfrm>
            <a:off x="3314700" y="10458450"/>
            <a:ext cx="152400" cy="85725"/>
          </a:xfrm>
          <a:prstGeom prst="line">
            <a:avLst/>
          </a:prstGeom>
          <a:noFill/>
          <a:ln w="14288">
            <a:solidFill>
              <a:srgbClr val="24292D"/>
            </a:solidFill>
          </a:ln>
        </p:spPr>
      </p:sp>
      <p:sp>
        <p:nvSpPr>
          <p:cNvPr id="254" name="圆角矩形 253"/>
          <p:cNvSpPr>
            <a:spLocks noGrp="1"/>
          </p:cNvSpPr>
          <p:nvPr/>
        </p:nvSpPr>
        <p:spPr>
          <a:xfrm>
            <a:off x="3581400" y="10182225"/>
            <a:ext cx="2476500" cy="514350"/>
          </a:xfrm>
          <a:prstGeom prst="roundRect">
            <a:avLst>
              <a:gd name="adj" fmla="val 14815"/>
            </a:avLst>
          </a:prstGeom>
          <a:solidFill>
            <a:srgbClr val="FFFFFF"/>
          </a:solidFill>
          <a:ln w="10478">
            <a:solidFill>
              <a:srgbClr val="D5DDE0"/>
            </a:solidFill>
          </a:ln>
        </p:spPr>
      </p:sp>
      <p:sp>
        <p:nvSpPr>
          <p:cNvPr id="255" name="矩形 254"/>
          <p:cNvSpPr>
            <a:spLocks noGrp="1"/>
          </p:cNvSpPr>
          <p:nvPr/>
        </p:nvSpPr>
        <p:spPr>
          <a:xfrm>
            <a:off x="3705225" y="10220325"/>
            <a:ext cx="2257425" cy="42862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Does higher</a:t>
            </a:r>
            <a:endParaRPr sz="1275" b="0">
              <a:solidFill>
                <a:srgbClr val="24292D"/>
              </a:solidFill>
              <a:latin typeface="Arial" panose="020B0604020202020204"/>
              <a:ea typeface="Arial" panose="020B0604020202020204"/>
              <a:cs typeface="Arial" panose="020B0604020202020204"/>
            </a:endParaRPr>
          </a:p>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concentration help?</a:t>
            </a:r>
            <a:endParaRPr sz="1275" b="0">
              <a:solidFill>
                <a:srgbClr val="24292D"/>
              </a:solidFill>
              <a:latin typeface="Arial" panose="020B0604020202020204"/>
              <a:ea typeface="Arial" panose="020B0604020202020204"/>
              <a:cs typeface="Arial" panose="020B0604020202020204"/>
            </a:endParaRPr>
          </a:p>
        </p:txBody>
      </p:sp>
      <p:sp>
        <p:nvSpPr>
          <p:cNvPr id="256" name="直接连接符 255"/>
          <p:cNvSpPr>
            <a:spLocks noGrp="1"/>
          </p:cNvSpPr>
          <p:nvPr/>
        </p:nvSpPr>
        <p:spPr>
          <a:xfrm>
            <a:off x="6124575" y="10439400"/>
            <a:ext cx="295275" cy="953"/>
          </a:xfrm>
          <a:prstGeom prst="line">
            <a:avLst/>
          </a:prstGeom>
          <a:noFill/>
          <a:ln w="14288">
            <a:solidFill>
              <a:srgbClr val="24292D"/>
            </a:solidFill>
          </a:ln>
        </p:spPr>
      </p:sp>
      <p:sp>
        <p:nvSpPr>
          <p:cNvPr id="257" name="直接连接符 256"/>
          <p:cNvSpPr>
            <a:spLocks noGrp="1"/>
          </p:cNvSpPr>
          <p:nvPr/>
        </p:nvSpPr>
        <p:spPr>
          <a:xfrm>
            <a:off x="6353175" y="10391775"/>
            <a:ext cx="66675" cy="47625"/>
          </a:xfrm>
          <a:prstGeom prst="line">
            <a:avLst/>
          </a:prstGeom>
          <a:noFill/>
          <a:ln w="14288">
            <a:solidFill>
              <a:srgbClr val="24292D"/>
            </a:solidFill>
          </a:ln>
        </p:spPr>
      </p:sp>
      <p:sp>
        <p:nvSpPr>
          <p:cNvPr id="258" name="直接连接符 257"/>
          <p:cNvSpPr>
            <a:spLocks noGrp="1"/>
          </p:cNvSpPr>
          <p:nvPr/>
        </p:nvSpPr>
        <p:spPr>
          <a:xfrm flipV="1">
            <a:off x="6353175" y="10439400"/>
            <a:ext cx="66675" cy="47625"/>
          </a:xfrm>
          <a:prstGeom prst="line">
            <a:avLst/>
          </a:prstGeom>
          <a:noFill/>
          <a:ln w="14288">
            <a:solidFill>
              <a:srgbClr val="24292D"/>
            </a:solidFill>
          </a:ln>
        </p:spPr>
      </p:sp>
      <p:sp>
        <p:nvSpPr>
          <p:cNvPr id="259" name="矩形 258"/>
          <p:cNvSpPr>
            <a:spLocks noGrp="1"/>
          </p:cNvSpPr>
          <p:nvPr/>
        </p:nvSpPr>
        <p:spPr>
          <a:xfrm>
            <a:off x="6543675" y="10191750"/>
            <a:ext cx="3676650" cy="485775"/>
          </a:xfrm>
          <a:prstGeom prst="rect">
            <a:avLst/>
          </a:prstGeom>
          <a:noFill/>
          <a:ln w="0">
            <a:noFill/>
          </a:ln>
        </p:spPr>
        <p:txBody>
          <a:bodyPr wrap="none" lIns="0" tIns="0" rIns="0" bIns="0" anchor="ctr">
            <a:noAutofit/>
          </a:bodyPr>
          <a:lstStyle/>
          <a:p>
            <a:pPr algn="l">
              <a:defRPr sz="1275" b="1">
                <a:solidFill>
                  <a:srgbClr val="277F8A"/>
                </a:solidFill>
                <a:latin typeface="Arial" panose="020B0604020202020204"/>
                <a:ea typeface="Arial" panose="020B0604020202020204"/>
                <a:cs typeface="Arial" panose="020B0604020202020204"/>
              </a:defRPr>
            </a:pPr>
            <a:r>
              <a:rPr sz="1275" b="1">
                <a:solidFill>
                  <a:srgbClr val="277F8A"/>
                </a:solidFill>
                <a:latin typeface="Arial" panose="020B0604020202020204"/>
                <a:ea typeface="Arial" panose="020B0604020202020204"/>
                <a:cs typeface="Arial" panose="020B0604020202020204"/>
              </a:rPr>
              <a:t>B11: S2 0.080 → 0.040 L</a:t>
            </a:r>
            <a:endParaRPr sz="1275" b="1">
              <a:solidFill>
                <a:srgbClr val="277F8A"/>
              </a:solidFill>
              <a:latin typeface="Arial" panose="020B0604020202020204"/>
              <a:ea typeface="Arial" panose="020B0604020202020204"/>
              <a:cs typeface="Arial" panose="020B0604020202020204"/>
            </a:endParaRPr>
          </a:p>
        </p:txBody>
      </p:sp>
      <p:sp>
        <p:nvSpPr>
          <p:cNvPr id="260" name="直接连接符 259"/>
          <p:cNvSpPr>
            <a:spLocks noGrp="1"/>
          </p:cNvSpPr>
          <p:nvPr/>
        </p:nvSpPr>
        <p:spPr>
          <a:xfrm>
            <a:off x="10077450" y="10439400"/>
            <a:ext cx="333375" cy="953"/>
          </a:xfrm>
          <a:prstGeom prst="line">
            <a:avLst/>
          </a:prstGeom>
          <a:noFill/>
          <a:ln w="14288">
            <a:solidFill>
              <a:srgbClr val="24292D"/>
            </a:solidFill>
          </a:ln>
        </p:spPr>
      </p:sp>
      <p:sp>
        <p:nvSpPr>
          <p:cNvPr id="261" name="直接连接符 260"/>
          <p:cNvSpPr>
            <a:spLocks noGrp="1"/>
          </p:cNvSpPr>
          <p:nvPr/>
        </p:nvSpPr>
        <p:spPr>
          <a:xfrm>
            <a:off x="10344150" y="10391775"/>
            <a:ext cx="66675" cy="47625"/>
          </a:xfrm>
          <a:prstGeom prst="line">
            <a:avLst/>
          </a:prstGeom>
          <a:noFill/>
          <a:ln w="14288">
            <a:solidFill>
              <a:srgbClr val="24292D"/>
            </a:solidFill>
          </a:ln>
        </p:spPr>
      </p:sp>
      <p:sp>
        <p:nvSpPr>
          <p:cNvPr id="262" name="直接连接符 261"/>
          <p:cNvSpPr>
            <a:spLocks noGrp="1"/>
          </p:cNvSpPr>
          <p:nvPr/>
        </p:nvSpPr>
        <p:spPr>
          <a:xfrm flipV="1">
            <a:off x="10344150" y="10439400"/>
            <a:ext cx="66675" cy="47625"/>
          </a:xfrm>
          <a:prstGeom prst="line">
            <a:avLst/>
          </a:prstGeom>
          <a:noFill/>
          <a:ln w="14288">
            <a:solidFill>
              <a:srgbClr val="24292D"/>
            </a:solidFill>
          </a:ln>
        </p:spPr>
      </p:sp>
      <p:sp>
        <p:nvSpPr>
          <p:cNvPr id="263" name="矩形 262"/>
          <p:cNvSpPr>
            <a:spLocks noGrp="1"/>
          </p:cNvSpPr>
          <p:nvPr/>
        </p:nvSpPr>
        <p:spPr>
          <a:xfrm>
            <a:off x="10525125" y="10191750"/>
            <a:ext cx="2905125" cy="495300"/>
          </a:xfrm>
          <a:prstGeom prst="rect">
            <a:avLst/>
          </a:prstGeom>
          <a:noFill/>
          <a:ln w="0">
            <a:noFill/>
          </a:ln>
        </p:spPr>
        <p:txBody>
          <a:bodyPr wrap="none" lIns="0" tIns="0" rIns="0" bIns="0" anchor="ctr">
            <a:noAutofit/>
          </a:bodyPr>
          <a:lstStyle/>
          <a:p>
            <a:pPr algn="l">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B11 fines 72.6%: rejected</a:t>
            </a:r>
            <a:endParaRPr sz="1200" b="1">
              <a:solidFill>
                <a:srgbClr val="A35F42"/>
              </a:solidFill>
              <a:latin typeface="Arial" panose="020B0604020202020204"/>
              <a:ea typeface="Arial" panose="020B0604020202020204"/>
              <a:cs typeface="Arial" panose="020B0604020202020204"/>
            </a:endParaRPr>
          </a:p>
          <a:p>
            <a:pPr algn="l">
              <a:defRPr sz="1200" b="1">
                <a:solidFill>
                  <a:srgbClr val="A35F42"/>
                </a:solidFill>
                <a:latin typeface="Arial" panose="020B0604020202020204"/>
                <a:ea typeface="Arial" panose="020B0604020202020204"/>
                <a:cs typeface="Arial" panose="020B0604020202020204"/>
              </a:defRPr>
            </a:pPr>
            <a:r>
              <a:rPr sz="1200" b="1">
                <a:solidFill>
                  <a:srgbClr val="A35F42"/>
                </a:solidFill>
                <a:latin typeface="Arial" panose="020B0604020202020204"/>
                <a:ea typeface="Arial" panose="020B0604020202020204"/>
                <a:cs typeface="Arial" panose="020B0604020202020204"/>
              </a:rPr>
              <a:t>B12 repeats B8: 26.9%</a:t>
            </a:r>
            <a:endParaRPr sz="1200" b="1">
              <a:solidFill>
                <a:srgbClr val="A35F42"/>
              </a:solidFill>
              <a:latin typeface="Arial" panose="020B0604020202020204"/>
              <a:ea typeface="Arial" panose="020B0604020202020204"/>
              <a:cs typeface="Arial" panose="020B0604020202020204"/>
            </a:endParaRPr>
          </a:p>
        </p:txBody>
      </p:sp>
      <p:sp>
        <p:nvSpPr>
          <p:cNvPr id="264" name="矩形 263"/>
          <p:cNvSpPr>
            <a:spLocks noGrp="1"/>
          </p:cNvSpPr>
          <p:nvPr/>
        </p:nvSpPr>
        <p:spPr>
          <a:xfrm>
            <a:off x="314325" y="10763250"/>
            <a:ext cx="13163550" cy="238125"/>
          </a:xfrm>
          <a:prstGeom prst="rect">
            <a:avLst/>
          </a:prstGeom>
          <a:noFill/>
          <a:ln w="0">
            <a:noFill/>
          </a:ln>
        </p:spPr>
        <p:txBody>
          <a:bodyPr wrap="none" lIns="0" tIns="0" rIns="0" bIns="0" anchor="ctr">
            <a:noAutofit/>
          </a:bodyPr>
          <a:lstStyle/>
          <a:p>
            <a:pPr algn="l">
              <a:defRPr sz="1050" b="0">
                <a:solidFill>
                  <a:srgbClr val="637079"/>
                </a:solidFill>
                <a:latin typeface="Arial" panose="020B0604020202020204"/>
                <a:ea typeface="Arial" panose="020B0604020202020204"/>
                <a:cs typeface="Arial" panose="020B0604020202020204"/>
              </a:defRPr>
            </a:pPr>
            <a:r>
              <a:rPr sz="1050" b="0">
                <a:solidFill>
                  <a:srgbClr val="637079"/>
                </a:solidFill>
                <a:latin typeface="Arial" panose="020B0604020202020204"/>
                <a:ea typeface="Arial" panose="020B0604020202020204"/>
                <a:cs typeface="Arial" panose="020B0604020202020204"/>
              </a:rPr>
              <a:t>* Questions are author reconstructions from actions, not contemporaneous model quotations. K1 followed all 12 batches; quench effects are confounded.</a:t>
            </a:r>
            <a:endParaRPr sz="1050" b="0">
              <a:solidFill>
                <a:srgbClr val="637079"/>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1248</Words>
  <Application>WPS 演示</Application>
  <PresentationFormat>Converted Presentation</PresentationFormat>
  <Paragraphs>220</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宋体</vt:lpstr>
      <vt:lpstr>Wingdings</vt:lpstr>
      <vt:lpstr>Arial</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邱江杰(2025311052)</cp:lastModifiedBy>
  <cp:revision>1</cp:revision>
  <dcterms:created xsi:type="dcterms:W3CDTF">2026-09-24T16:39:49Z</dcterms:created>
  <dcterms:modified xsi:type="dcterms:W3CDTF">2026-09-24T16:39:49Z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7BF47FFFA2104D75B597123EA5F5659F_12</vt:lpwstr>
  </property>
  <property fmtid="{D5CDD505-2E9C-101B-9397-08002B2CF9AE}" pid="3" name="KSOProductBuildVer">
    <vt:lpwstr>2052-12.1.0.28022</vt:lpwstr>
  </property>
</Properties>
</file>