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145000" cy="32766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s://web.wps.cn/et/2018/main" xmlns:ns5="http://schemas.openxmlformats.org/officeDocument/2006/relationships">
  <c:date1904 val="0"/>
  <c:lang val="zh-CN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All observed recoveries</c:f>
              <c:strCache>
                <c:ptCount val="1"/>
                <c:pt idx="0">
                  <c:v>All observed recoveries</c:v>
                </c:pt>
              </c:strCache>
            </c:strRef>
          </c:tx>
          <c:spPr>
            <a:ln w="9525" cap="rnd">
              <a:solidFill>
                <a:srgbClr val="D8DDE1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0</c:formatCode>
                <c:ptCount val="12"/>
                <c:pt idx="0">
                  <c:v>34.6996903419</c:v>
                </c:pt>
                <c:pt idx="1">
                  <c:v>30.7044506073</c:v>
                </c:pt>
                <c:pt idx="2">
                  <c:v>31.3552498817</c:v>
                </c:pt>
                <c:pt idx="3">
                  <c:v>37.7448230982</c:v>
                </c:pt>
                <c:pt idx="4">
                  <c:v>44.7624653578</c:v>
                </c:pt>
                <c:pt idx="5">
                  <c:v>45.8717465401</c:v>
                </c:pt>
                <c:pt idx="6">
                  <c:v>31.3027799129</c:v>
                </c:pt>
                <c:pt idx="7">
                  <c:v>49.1521984339</c:v>
                </c:pt>
                <c:pt idx="8">
                  <c:v>49.8474687338</c:v>
                </c:pt>
                <c:pt idx="9">
                  <c:v>51.1735856533</c:v>
                </c:pt>
                <c:pt idx="10">
                  <c:v>50.2698302269</c:v>
                </c:pt>
                <c:pt idx="11">
                  <c:v>50.4391551018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Best feasible recovery so far</c:f>
              <c:strCache>
                <c:ptCount val="1"/>
                <c:pt idx="0">
                  <c:v>Best feasible recovery so far</c:v>
                </c:pt>
              </c:strCache>
            </c:strRef>
          </c:tx>
          <c:spPr>
            <a:ln w="25718" cap="rnd">
              <a:solidFill>
                <a:srgbClr val="0066D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Data'!$C$2:$C$24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6</c:v>
                </c:pt>
                <c:pt idx="11">
                  <c:v>7</c:v>
                </c:pt>
                <c:pt idx="12">
                  <c:v>7</c:v>
                </c:pt>
                <c:pt idx="13">
                  <c:v>8</c:v>
                </c:pt>
                <c:pt idx="14">
                  <c:v>8</c:v>
                </c:pt>
                <c:pt idx="15">
                  <c:v>9</c:v>
                </c:pt>
                <c:pt idx="16">
                  <c:v>9</c:v>
                </c:pt>
                <c:pt idx="17">
                  <c:v>10</c:v>
                </c:pt>
                <c:pt idx="18">
                  <c:v>10</c:v>
                </c:pt>
                <c:pt idx="19">
                  <c:v>11</c:v>
                </c:pt>
                <c:pt idx="20">
                  <c:v>11</c:v>
                </c:pt>
                <c:pt idx="21">
                  <c:v>12</c:v>
                </c:pt>
                <c:pt idx="22">
                  <c:v>12</c:v>
                </c:pt>
              </c:numCache>
            </c:numRef>
          </c:xVal>
          <c:yVal>
            <c:numRef>
              <c:f>'Chart Data'!$D$2:$D$24</c:f>
              <c:numCache>
                <c:formatCode>0</c:formatCode>
                <c:ptCount val="23"/>
                <c:pt idx="0">
                  <c:v>34.6996903419</c:v>
                </c:pt>
                <c:pt idx="1">
                  <c:v>34.6996903419</c:v>
                </c:pt>
                <c:pt idx="2">
                  <c:v>34.6996903419</c:v>
                </c:pt>
                <c:pt idx="3">
                  <c:v>34.6996903419</c:v>
                </c:pt>
                <c:pt idx="4">
                  <c:v>34.6996903419</c:v>
                </c:pt>
                <c:pt idx="5">
                  <c:v>34.6996903419</c:v>
                </c:pt>
                <c:pt idx="6">
                  <c:v>37.7448230982</c:v>
                </c:pt>
                <c:pt idx="7">
                  <c:v>37.7448230982</c:v>
                </c:pt>
                <c:pt idx="8">
                  <c:v>37.7448230982</c:v>
                </c:pt>
                <c:pt idx="9">
                  <c:v>37.7448230982</c:v>
                </c:pt>
                <c:pt idx="10">
                  <c:v>45.8717465401</c:v>
                </c:pt>
                <c:pt idx="11">
                  <c:v>45.8717465401</c:v>
                </c:pt>
                <c:pt idx="12">
                  <c:v>45.8717465401</c:v>
                </c:pt>
                <c:pt idx="13">
                  <c:v>45.8717465401</c:v>
                </c:pt>
                <c:pt idx="14">
                  <c:v>49.1521984339</c:v>
                </c:pt>
                <c:pt idx="15">
                  <c:v>49.1521984339</c:v>
                </c:pt>
                <c:pt idx="16">
                  <c:v>49.8474687338</c:v>
                </c:pt>
                <c:pt idx="17">
                  <c:v>49.8474687338</c:v>
                </c:pt>
                <c:pt idx="18">
                  <c:v>51.1735856533</c:v>
                </c:pt>
                <c:pt idx="19">
                  <c:v>51.1735856533</c:v>
                </c:pt>
                <c:pt idx="20">
                  <c:v>51.1735856533</c:v>
                </c:pt>
                <c:pt idx="21">
                  <c:v>51.1735856533</c:v>
                </c:pt>
                <c:pt idx="22">
                  <c:v>51.1735856533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Quality-feasible batch</c:f>
              <c:strCache>
                <c:ptCount val="1"/>
                <c:pt idx="0">
                  <c:v>Quality-feasible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7"/>
            <c:spPr>
              <a:solidFill>
                <a:srgbClr val="0066DB"/>
              </a:solidFill>
              <a:ln w="0">
                <a:solidFill>
                  <a:srgbClr val="0066DB"/>
                </a:solidFill>
              </a:ln>
            </c:spPr>
          </c:marker>
          <c:dLbls>
            <c:delete val="1"/>
          </c:dLbls>
          <c:xVal>
            <c:numRef>
              <c:f>'Chart Data'!$E$2:$E$11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</c:numCache>
            </c:numRef>
          </c:xVal>
          <c:yVal>
            <c:numRef>
              <c:f>'Chart Data'!$F$2:$F$11</c:f>
              <c:numCache>
                <c:formatCode>0</c:formatCode>
                <c:ptCount val="10"/>
                <c:pt idx="0">
                  <c:v>34.6996903419</c:v>
                </c:pt>
                <c:pt idx="1">
                  <c:v>30.7044506073</c:v>
                </c:pt>
                <c:pt idx="2">
                  <c:v>31.3552498817</c:v>
                </c:pt>
                <c:pt idx="3">
                  <c:v>37.7448230982</c:v>
                </c:pt>
                <c:pt idx="4">
                  <c:v>45.8717465401</c:v>
                </c:pt>
                <c:pt idx="5">
                  <c:v>49.1521984339</c:v>
                </c:pt>
                <c:pt idx="6">
                  <c:v>49.8474687338</c:v>
                </c:pt>
                <c:pt idx="7">
                  <c:v>51.1735856533</c:v>
                </c:pt>
                <c:pt idx="8">
                  <c:v>50.2698302269</c:v>
                </c:pt>
                <c:pt idx="9">
                  <c:v>50.4391551018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Quality-infeasible batch</c:f>
              <c:strCache>
                <c:ptCount val="1"/>
                <c:pt idx="0">
                  <c:v>Quality-infeasible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x"/>
            <c:size val="7"/>
            <c:spPr>
              <a:noFill/>
              <a:ln w="12700">
                <a:solidFill>
                  <a:srgbClr val="BA6A56"/>
                </a:solidFill>
              </a:ln>
            </c:spPr>
          </c:marker>
          <c:dLbls>
            <c:delete val="1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5</c:v>
                </c:pt>
                <c:pt idx="1">
                  <c:v>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44.7624653578</c:v>
                </c:pt>
                <c:pt idx="1">
                  <c:v>31.3027799129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12"/>
          <c:min val="0"/>
        </c:scaling>
        <c:delete val="0"/>
        <c:axPos val="b"/>
        <c:numFmt formatCode="0" sourceLinked="1"/>
        <c:majorTickMark val="none"/>
        <c:minorTickMark val="none"/>
        <c:tickLblPos val="none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crossBetween val="midCat"/>
        <c:majorUnit val="3"/>
      </c:valAx>
      <c:valAx>
        <c:axId val="48672768"/>
        <c:scaling>
          <c:orientation val="minMax"/>
          <c:max val="65"/>
          <c:min val="20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875">
                    <a:solidFill>
                      <a:srgbClr val="24282C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Recovery (%)</a:t>
                </a:r>
                <a:endParaRPr sz="1875">
                  <a:solidFill>
                    <a:srgbClr val="24282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ns4:chartProps chartId="{179ec00c-2b67-45c3-ac07-e5ebbb0f890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ns5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s://web.wps.cn/et/2018/main" xmlns:ns5="http://schemas.openxmlformats.org/officeDocument/2006/relationships">
  <c:date1904 val="0"/>
  <c:lang val="zh-CN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Fines limit</c:f>
              <c:strCache>
                <c:ptCount val="1"/>
                <c:pt idx="0">
                  <c:v>Fines limit</c:v>
                </c:pt>
              </c:strCache>
            </c:strRef>
          </c:tx>
          <c:spPr>
            <a:ln w="9525" cap="rnd">
              <a:solidFill>
                <a:srgbClr val="66717A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Observed fines</c:f>
              <c:strCache>
                <c:ptCount val="1"/>
                <c:pt idx="0">
                  <c:v>Observed fines</c:v>
                </c:pt>
              </c:strCache>
            </c:strRef>
          </c:tx>
          <c:spPr>
            <a:ln w="9525" cap="rnd">
              <a:solidFill>
                <a:srgbClr val="D8DDE1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Data'!$D$2:$D$13</c:f>
              <c:numCache>
                <c:formatCode>0</c:formatCode>
                <c:ptCount val="12"/>
                <c:pt idx="0">
                  <c:v>38.3867681026</c:v>
                </c:pt>
                <c:pt idx="1">
                  <c:v>37.5633597374</c:v>
                </c:pt>
                <c:pt idx="2">
                  <c:v>40.2615666389</c:v>
                </c:pt>
                <c:pt idx="3">
                  <c:v>35.0912183523</c:v>
                </c:pt>
                <c:pt idx="4">
                  <c:v>81.8747580051</c:v>
                </c:pt>
                <c:pt idx="5">
                  <c:v>42.1455681324</c:v>
                </c:pt>
                <c:pt idx="6">
                  <c:v>85.069590807</c:v>
                </c:pt>
                <c:pt idx="7">
                  <c:v>39.5420461893</c:v>
                </c:pt>
                <c:pt idx="8">
                  <c:v>42.4199849367</c:v>
                </c:pt>
                <c:pt idx="9">
                  <c:v>45.6655412912</c:v>
                </c:pt>
                <c:pt idx="10">
                  <c:v>44.2948430777</c:v>
                </c:pt>
                <c:pt idx="11">
                  <c:v>36.2289100885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Quality-feasible batch</c:f>
              <c:strCache>
                <c:ptCount val="1"/>
                <c:pt idx="0">
                  <c:v>Quality-feasible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7"/>
            <c:spPr>
              <a:solidFill>
                <a:srgbClr val="0066DB"/>
              </a:solidFill>
              <a:ln w="0">
                <a:solidFill>
                  <a:srgbClr val="0066DB"/>
                </a:solidFill>
              </a:ln>
            </c:spPr>
          </c:marker>
          <c:dLbls>
            <c:delete val="1"/>
          </c:dLbls>
          <c:xVal>
            <c:numRef>
              <c:f>'Chart Data'!$E$2:$E$11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</c:numCache>
            </c:numRef>
          </c:xVal>
          <c:yVal>
            <c:numRef>
              <c:f>'Chart Data'!$F$2:$F$11</c:f>
              <c:numCache>
                <c:formatCode>0</c:formatCode>
                <c:ptCount val="10"/>
                <c:pt idx="0">
                  <c:v>38.3867681026</c:v>
                </c:pt>
                <c:pt idx="1">
                  <c:v>37.5633597374</c:v>
                </c:pt>
                <c:pt idx="2">
                  <c:v>40.2615666389</c:v>
                </c:pt>
                <c:pt idx="3">
                  <c:v>35.0912183523</c:v>
                </c:pt>
                <c:pt idx="4">
                  <c:v>42.1455681324</c:v>
                </c:pt>
                <c:pt idx="5">
                  <c:v>39.5420461893</c:v>
                </c:pt>
                <c:pt idx="6">
                  <c:v>42.4199849367</c:v>
                </c:pt>
                <c:pt idx="7">
                  <c:v>45.6655412912</c:v>
                </c:pt>
                <c:pt idx="8">
                  <c:v>44.2948430777</c:v>
                </c:pt>
                <c:pt idx="9">
                  <c:v>36.2289100885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Quality-infeasible batch</c:f>
              <c:strCache>
                <c:ptCount val="1"/>
                <c:pt idx="0">
                  <c:v>Quality-infeasible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x"/>
            <c:size val="7"/>
            <c:spPr>
              <a:noFill/>
              <a:ln w="12700">
                <a:solidFill>
                  <a:srgbClr val="BA6A56"/>
                </a:solidFill>
              </a:ln>
            </c:spPr>
          </c:marker>
          <c:dLbls>
            <c:delete val="1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5</c:v>
                </c:pt>
                <c:pt idx="1">
                  <c:v>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81.8747580051</c:v>
                </c:pt>
                <c:pt idx="1">
                  <c:v>85.069590807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12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875">
                    <a:solidFill>
                      <a:srgbClr val="24282C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Batch</a:t>
                </a:r>
                <a:endParaRPr sz="1875">
                  <a:solidFill>
                    <a:srgbClr val="24282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crossBetween val="midCat"/>
        <c:majorUnit val="3"/>
      </c:valAx>
      <c:valAx>
        <c:axId val="48672768"/>
        <c:scaling>
          <c:orientation val="minMax"/>
          <c:max val="105"/>
          <c:min val="0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875">
                    <a:solidFill>
                      <a:srgbClr val="24282C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Fines (%)</a:t>
                </a:r>
                <a:endParaRPr sz="1875">
                  <a:solidFill>
                    <a:srgbClr val="24282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midCat"/>
        <c:majorUnit val="5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ns4:chartProps chartId="{398ca4ba-3a63-4c07-9724-15d4214bb0d4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ns5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s://web.wps.cn/et/2018/main" xmlns:ns5="http://schemas.openxmlformats.org/officeDocument/2006/relationships">
  <c:date1904 val="0"/>
  <c:lang val="zh-CN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All observed recoveries</c:f>
              <c:strCache>
                <c:ptCount val="1"/>
                <c:pt idx="0">
                  <c:v>All observed recoveries</c:v>
                </c:pt>
              </c:strCache>
            </c:strRef>
          </c:tx>
          <c:spPr>
            <a:ln w="9525" cap="rnd">
              <a:solidFill>
                <a:srgbClr val="D8DDE1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Data'!$A$2:$A$25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xVal>
          <c:yVal>
            <c:numRef>
              <c:f>'Chart Data'!$B$2:$B$25</c:f>
              <c:numCache>
                <c:formatCode>0</c:formatCode>
                <c:ptCount val="24"/>
                <c:pt idx="0">
                  <c:v>37.5208616257</c:v>
                </c:pt>
                <c:pt idx="1">
                  <c:v>39.7665053606</c:v>
                </c:pt>
                <c:pt idx="2">
                  <c:v>23.2451826334</c:v>
                </c:pt>
                <c:pt idx="3">
                  <c:v>47.7206528187</c:v>
                </c:pt>
                <c:pt idx="4">
                  <c:v>38.1134063005</c:v>
                </c:pt>
                <c:pt idx="5">
                  <c:v>40.8400893211</c:v>
                </c:pt>
                <c:pt idx="6">
                  <c:v>40.2332872152</c:v>
                </c:pt>
                <c:pt idx="7">
                  <c:v>40.8462494612</c:v>
                </c:pt>
                <c:pt idx="8">
                  <c:v>46.9656139612</c:v>
                </c:pt>
                <c:pt idx="9">
                  <c:v>36.4954799414</c:v>
                </c:pt>
                <c:pt idx="10">
                  <c:v>42.1330988407</c:v>
                </c:pt>
                <c:pt idx="11">
                  <c:v>39.916524291</c:v>
                </c:pt>
                <c:pt idx="12">
                  <c:v>38.1688684225</c:v>
                </c:pt>
                <c:pt idx="13">
                  <c:v>38.6617660522</c:v>
                </c:pt>
                <c:pt idx="14">
                  <c:v>38.3515328169</c:v>
                </c:pt>
                <c:pt idx="15">
                  <c:v>38.310828805</c:v>
                </c:pt>
                <c:pt idx="16">
                  <c:v>31.7858457565</c:v>
                </c:pt>
                <c:pt idx="17">
                  <c:v>42.263302207</c:v>
                </c:pt>
                <c:pt idx="18">
                  <c:v>49.0144908428</c:v>
                </c:pt>
                <c:pt idx="19">
                  <c:v>52.870374918</c:v>
                </c:pt>
                <c:pt idx="20">
                  <c:v>55.2692890167</c:v>
                </c:pt>
                <c:pt idx="21">
                  <c:v>56.9585680962</c:v>
                </c:pt>
                <c:pt idx="22">
                  <c:v>56.9886684418</c:v>
                </c:pt>
                <c:pt idx="23">
                  <c:v>56.7886471748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Best feasible recovery so far</c:f>
              <c:strCache>
                <c:ptCount val="1"/>
                <c:pt idx="0">
                  <c:v>Best feasible recovery so far</c:v>
                </c:pt>
              </c:strCache>
            </c:strRef>
          </c:tx>
          <c:spPr>
            <a:ln w="25718" cap="rnd">
              <a:solidFill>
                <a:srgbClr val="009BB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Data'!$C$2:$C$10</c:f>
              <c:numCache>
                <c:formatCode>General</c:formatCode>
                <c:ptCount val="9"/>
                <c:pt idx="0">
                  <c:v>20</c:v>
                </c:pt>
                <c:pt idx="1">
                  <c:v>21</c:v>
                </c:pt>
                <c:pt idx="2">
                  <c:v>21</c:v>
                </c:pt>
                <c:pt idx="3">
                  <c:v>22</c:v>
                </c:pt>
                <c:pt idx="4">
                  <c:v>22</c:v>
                </c:pt>
                <c:pt idx="5">
                  <c:v>23</c:v>
                </c:pt>
                <c:pt idx="6">
                  <c:v>23</c:v>
                </c:pt>
                <c:pt idx="7">
                  <c:v>24</c:v>
                </c:pt>
                <c:pt idx="8">
                  <c:v>24</c:v>
                </c:pt>
              </c:numCache>
            </c:numRef>
          </c:xVal>
          <c:yVal>
            <c:numRef>
              <c:f>'Chart Data'!$D$2:$D$10</c:f>
              <c:numCache>
                <c:formatCode>0</c:formatCode>
                <c:ptCount val="9"/>
                <c:pt idx="0">
                  <c:v>52.870374918</c:v>
                </c:pt>
                <c:pt idx="1">
                  <c:v>52.870374918</c:v>
                </c:pt>
                <c:pt idx="2">
                  <c:v>55.2692890167</c:v>
                </c:pt>
                <c:pt idx="3">
                  <c:v>55.2692890167</c:v>
                </c:pt>
                <c:pt idx="4">
                  <c:v>56.9585680962</c:v>
                </c:pt>
                <c:pt idx="5">
                  <c:v>56.9585680962</c:v>
                </c:pt>
                <c:pt idx="6">
                  <c:v>56.9886684418</c:v>
                </c:pt>
                <c:pt idx="7">
                  <c:v>56.9886684418</c:v>
                </c:pt>
                <c:pt idx="8">
                  <c:v>56.9886684418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Quality-feasible batch</c:f>
              <c:strCache>
                <c:ptCount val="1"/>
                <c:pt idx="0">
                  <c:v>Quality-feasible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7"/>
            <c:spPr>
              <a:solidFill>
                <a:srgbClr val="009BB5"/>
              </a:solidFill>
              <a:ln w="0">
                <a:solidFill>
                  <a:srgbClr val="009BB5"/>
                </a:solidFill>
              </a:ln>
            </c:spPr>
          </c:marker>
          <c:dLbls>
            <c:delete val="1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20</c:v>
                </c:pt>
                <c:pt idx="1">
                  <c:v>21</c:v>
                </c:pt>
                <c:pt idx="2">
                  <c:v>22</c:v>
                </c:pt>
                <c:pt idx="3">
                  <c:v>23</c:v>
                </c:pt>
                <c:pt idx="4">
                  <c:v>24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52.870374918</c:v>
                </c:pt>
                <c:pt idx="1">
                  <c:v>55.2692890167</c:v>
                </c:pt>
                <c:pt idx="2">
                  <c:v>56.9585680962</c:v>
                </c:pt>
                <c:pt idx="3">
                  <c:v>56.9886684418</c:v>
                </c:pt>
                <c:pt idx="4">
                  <c:v>56.7886471748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Quality-infeasible batch</c:f>
              <c:strCache>
                <c:ptCount val="1"/>
                <c:pt idx="0">
                  <c:v>Quality-infeasible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x"/>
            <c:size val="7"/>
            <c:spPr>
              <a:noFill/>
              <a:ln w="12700">
                <a:solidFill>
                  <a:srgbClr val="BA6A56"/>
                </a:solidFill>
              </a:ln>
            </c:spPr>
          </c:marker>
          <c:dLbls>
            <c:delete val="1"/>
          </c:dLbls>
          <c:xVal>
            <c:numRef>
              <c:f>'Chart Data'!$G$2:$G$20</c:f>
              <c:numCache>
                <c:formatCode>General</c:formatCod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numCache>
            </c:numRef>
          </c:xVal>
          <c:yVal>
            <c:numRef>
              <c:f>'Chart Data'!$H$2:$H$20</c:f>
              <c:numCache>
                <c:formatCode>0</c:formatCode>
                <c:ptCount val="19"/>
                <c:pt idx="0">
                  <c:v>37.5208616257</c:v>
                </c:pt>
                <c:pt idx="1">
                  <c:v>39.7665053606</c:v>
                </c:pt>
                <c:pt idx="2">
                  <c:v>23.2451826334</c:v>
                </c:pt>
                <c:pt idx="3">
                  <c:v>47.7206528187</c:v>
                </c:pt>
                <c:pt idx="4">
                  <c:v>38.1134063005</c:v>
                </c:pt>
                <c:pt idx="5">
                  <c:v>40.8400893211</c:v>
                </c:pt>
                <c:pt idx="6">
                  <c:v>40.2332872152</c:v>
                </c:pt>
                <c:pt idx="7">
                  <c:v>40.8462494612</c:v>
                </c:pt>
                <c:pt idx="8">
                  <c:v>46.9656139612</c:v>
                </c:pt>
                <c:pt idx="9">
                  <c:v>36.4954799414</c:v>
                </c:pt>
                <c:pt idx="10">
                  <c:v>42.1330988407</c:v>
                </c:pt>
                <c:pt idx="11">
                  <c:v>39.916524291</c:v>
                </c:pt>
                <c:pt idx="12">
                  <c:v>38.1688684225</c:v>
                </c:pt>
                <c:pt idx="13">
                  <c:v>38.6617660522</c:v>
                </c:pt>
                <c:pt idx="14">
                  <c:v>38.3515328169</c:v>
                </c:pt>
                <c:pt idx="15">
                  <c:v>38.310828805</c:v>
                </c:pt>
                <c:pt idx="16">
                  <c:v>31.7858457565</c:v>
                </c:pt>
                <c:pt idx="17">
                  <c:v>42.263302207</c:v>
                </c:pt>
                <c:pt idx="18">
                  <c:v>49.0144908428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24"/>
          <c:min val="0"/>
        </c:scaling>
        <c:delete val="0"/>
        <c:axPos val="b"/>
        <c:numFmt formatCode="0" sourceLinked="1"/>
        <c:majorTickMark val="none"/>
        <c:minorTickMark val="none"/>
        <c:tickLblPos val="none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crossBetween val="midCat"/>
        <c:majorUnit val="4"/>
      </c:valAx>
      <c:valAx>
        <c:axId val="48672768"/>
        <c:scaling>
          <c:orientation val="minMax"/>
          <c:max val="65"/>
          <c:min val="20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875">
                    <a:solidFill>
                      <a:srgbClr val="24282C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Recovery (%)</a:t>
                </a:r>
                <a:endParaRPr sz="1875">
                  <a:solidFill>
                    <a:srgbClr val="24282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ns4:chartProps chartId="{6af368e1-57ae-4d43-9c95-932a976657dd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ns5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s://web.wps.cn/et/2018/main" xmlns:ns5="http://schemas.openxmlformats.org/officeDocument/2006/relationships">
  <c:date1904 val="0"/>
  <c:lang val="zh-CN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Fines limit</c:f>
              <c:strCache>
                <c:ptCount val="1"/>
                <c:pt idx="0">
                  <c:v>Fines limit</c:v>
                </c:pt>
              </c:strCache>
            </c:strRef>
          </c:tx>
          <c:spPr>
            <a:ln w="9525" cap="rnd">
              <a:solidFill>
                <a:srgbClr val="66717A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24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Observed fines</c:f>
              <c:strCache>
                <c:ptCount val="1"/>
                <c:pt idx="0">
                  <c:v>Observed fines</c:v>
                </c:pt>
              </c:strCache>
            </c:strRef>
          </c:tx>
          <c:spPr>
            <a:ln w="9525" cap="rnd">
              <a:solidFill>
                <a:srgbClr val="D8DDE1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Data'!$C$2:$C$25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xVal>
          <c:yVal>
            <c:numRef>
              <c:f>'Chart Data'!$D$2:$D$25</c:f>
              <c:numCache>
                <c:formatCode>0</c:formatCode>
                <c:ptCount val="24"/>
                <c:pt idx="0">
                  <c:v>53.74366045</c:v>
                </c:pt>
                <c:pt idx="1">
                  <c:v>100</c:v>
                </c:pt>
                <c:pt idx="2">
                  <c:v>99.4870126247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52.6934087276</c:v>
                </c:pt>
                <c:pt idx="7">
                  <c:v>52.821969986</c:v>
                </c:pt>
                <c:pt idx="8">
                  <c:v>100</c:v>
                </c:pt>
                <c:pt idx="9">
                  <c:v>100</c:v>
                </c:pt>
                <c:pt idx="10">
                  <c:v>71.2394535542</c:v>
                </c:pt>
                <c:pt idx="11">
                  <c:v>100</c:v>
                </c:pt>
                <c:pt idx="12">
                  <c:v>53.6181628704</c:v>
                </c:pt>
                <c:pt idx="13">
                  <c:v>55.1417708397</c:v>
                </c:pt>
                <c:pt idx="14">
                  <c:v>55.2693605423</c:v>
                </c:pt>
                <c:pt idx="15">
                  <c:v>52.7921378613</c:v>
                </c:pt>
                <c:pt idx="16">
                  <c:v>69.9711501598</c:v>
                </c:pt>
                <c:pt idx="17">
                  <c:v>100</c:v>
                </c:pt>
                <c:pt idx="18">
                  <c:v>52.8414666653</c:v>
                </c:pt>
                <c:pt idx="19">
                  <c:v>21.4978814125</c:v>
                </c:pt>
                <c:pt idx="20">
                  <c:v>17.7438303828</c:v>
                </c:pt>
                <c:pt idx="21">
                  <c:v>11.7556251585</c:v>
                </c:pt>
                <c:pt idx="22">
                  <c:v>14.2353460193</c:v>
                </c:pt>
                <c:pt idx="23">
                  <c:v>17.8021773696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Quality-feasible batch</c:f>
              <c:strCache>
                <c:ptCount val="1"/>
                <c:pt idx="0">
                  <c:v>Quality-feasible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7"/>
            <c:spPr>
              <a:solidFill>
                <a:srgbClr val="009BB5"/>
              </a:solidFill>
              <a:ln w="0">
                <a:solidFill>
                  <a:srgbClr val="009BB5"/>
                </a:solidFill>
              </a:ln>
            </c:spPr>
          </c:marker>
          <c:dLbls>
            <c:delete val="1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20</c:v>
                </c:pt>
                <c:pt idx="1">
                  <c:v>21</c:v>
                </c:pt>
                <c:pt idx="2">
                  <c:v>22</c:v>
                </c:pt>
                <c:pt idx="3">
                  <c:v>23</c:v>
                </c:pt>
                <c:pt idx="4">
                  <c:v>24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21.4978814125</c:v>
                </c:pt>
                <c:pt idx="1">
                  <c:v>17.7438303828</c:v>
                </c:pt>
                <c:pt idx="2">
                  <c:v>11.7556251585</c:v>
                </c:pt>
                <c:pt idx="3">
                  <c:v>14.2353460193</c:v>
                </c:pt>
                <c:pt idx="4">
                  <c:v>17.8021773696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Quality-infeasible batch</c:f>
              <c:strCache>
                <c:ptCount val="1"/>
                <c:pt idx="0">
                  <c:v>Quality-infeasible batch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x"/>
            <c:size val="7"/>
            <c:spPr>
              <a:noFill/>
              <a:ln w="12700">
                <a:solidFill>
                  <a:srgbClr val="BA6A56"/>
                </a:solidFill>
              </a:ln>
            </c:spPr>
          </c:marker>
          <c:dLbls>
            <c:delete val="1"/>
          </c:dLbls>
          <c:xVal>
            <c:numRef>
              <c:f>'Chart Data'!$G$2:$G$20</c:f>
              <c:numCache>
                <c:formatCode>General</c:formatCod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numCache>
            </c:numRef>
          </c:xVal>
          <c:yVal>
            <c:numRef>
              <c:f>'Chart Data'!$H$2:$H$20</c:f>
              <c:numCache>
                <c:formatCode>0</c:formatCode>
                <c:ptCount val="19"/>
                <c:pt idx="0">
                  <c:v>53.74366045</c:v>
                </c:pt>
                <c:pt idx="1">
                  <c:v>100</c:v>
                </c:pt>
                <c:pt idx="2">
                  <c:v>99.4870126247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52.6934087276</c:v>
                </c:pt>
                <c:pt idx="7">
                  <c:v>52.821969986</c:v>
                </c:pt>
                <c:pt idx="8">
                  <c:v>100</c:v>
                </c:pt>
                <c:pt idx="9">
                  <c:v>100</c:v>
                </c:pt>
                <c:pt idx="10">
                  <c:v>71.2394535542</c:v>
                </c:pt>
                <c:pt idx="11">
                  <c:v>100</c:v>
                </c:pt>
                <c:pt idx="12">
                  <c:v>53.6181628704</c:v>
                </c:pt>
                <c:pt idx="13">
                  <c:v>55.1417708397</c:v>
                </c:pt>
                <c:pt idx="14">
                  <c:v>55.2693605423</c:v>
                </c:pt>
                <c:pt idx="15">
                  <c:v>52.7921378613</c:v>
                </c:pt>
                <c:pt idx="16">
                  <c:v>69.9711501598</c:v>
                </c:pt>
                <c:pt idx="17">
                  <c:v>100</c:v>
                </c:pt>
                <c:pt idx="18">
                  <c:v>52.8414666653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24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875">
                    <a:solidFill>
                      <a:srgbClr val="24282C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Batch</a:t>
                </a:r>
                <a:endParaRPr sz="1875">
                  <a:solidFill>
                    <a:srgbClr val="24282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crossBetween val="midCat"/>
        <c:majorUnit val="4"/>
      </c:valAx>
      <c:valAx>
        <c:axId val="48672768"/>
        <c:scaling>
          <c:orientation val="minMax"/>
          <c:max val="105"/>
          <c:min val="0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875">
                    <a:solidFill>
                      <a:srgbClr val="24282C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Fines (%)</a:t>
                </a:r>
                <a:endParaRPr sz="1875">
                  <a:solidFill>
                    <a:srgbClr val="24282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717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midCat"/>
        <c:majorUnit val="5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ns4:chartProps chartId="{e4b16c7a-4a06-4ab7-b1c4-f45010d875b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ns5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workstreams/flagship_tasks/reports/work-ii-c-formal-20260920-v3-auto/C-W05-B12-E-Aligned.md and C-W05-B24-E-Aligned.md. All 36 original source batches are retained in the native charts. Feasibility: purity &gt;=0.80, fines &lt;=0.50, crystal size &gt;0. Running best is undefined until first feasibility. The 12/24 sessions are independent. Retrospective K1 accounts are not logged immediate thoughts. Quench semantics: src/chemworld/runtime/primitive_services.py, quench. The selected illustration does not estimate a causal or population-wide budget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0" Type="http://schemas.openxmlformats.org/officeDocument/2006/relationships/notesSlide" Target="../notesSlides/notesSlide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4" name="图片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7145000" cy="4440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33375" y="4610100"/>
            <a:ext cx="15240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Optimization across successive batches</a:t>
            </a:r>
            <a:endParaRPr sz="2400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5181600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66D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66D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12-batch session</a:t>
            </a:r>
            <a:endParaRPr sz="2025" b="1">
              <a:solidFill>
                <a:srgbClr val="0066D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57" name="Chart"/>
          <p:cNvGraphicFramePr/>
          <p:nvPr/>
        </p:nvGraphicFramePr>
        <p:xfrm>
          <a:off x="285750" y="5600700"/>
          <a:ext cx="8143875" cy="27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8" name="Chart"/>
          <p:cNvGraphicFramePr/>
          <p:nvPr/>
        </p:nvGraphicFramePr>
        <p:xfrm>
          <a:off x="285750" y="8391525"/>
          <a:ext cx="8143875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1285875" y="10591800"/>
            <a:ext cx="69532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 feasible: 34.7%; best: 51.2%</a:t>
            </a:r>
            <a:endParaRPr sz="187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429750" y="5181600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9BB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9BB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24-batch session</a:t>
            </a:r>
            <a:endParaRPr sz="2025" b="1">
              <a:solidFill>
                <a:srgbClr val="009BB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61" name="Chart"/>
          <p:cNvGraphicFramePr/>
          <p:nvPr/>
        </p:nvGraphicFramePr>
        <p:xfrm>
          <a:off x="8858250" y="5600700"/>
          <a:ext cx="8143875" cy="27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2" name="Chart"/>
          <p:cNvGraphicFramePr/>
          <p:nvPr/>
        </p:nvGraphicFramePr>
        <p:xfrm>
          <a:off x="8858250" y="8391525"/>
          <a:ext cx="8143875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矩形 9"/>
          <p:cNvSpPr>
            <a:spLocks noGrp="1"/>
          </p:cNvSpPr>
          <p:nvPr/>
        </p:nvSpPr>
        <p:spPr>
          <a:xfrm>
            <a:off x="9858375" y="10591800"/>
            <a:ext cx="69532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 feasible: batch 20; best: 57.0%</a:t>
            </a:r>
            <a:endParaRPr sz="187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24000" y="11068050"/>
            <a:ext cx="14382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●  Quality-feasible    ×  Quality-infeasible    ━  Best feasible recovery so far</a:t>
            </a:r>
            <a:endParaRPr sz="172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1458575"/>
            <a:ext cx="15240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Independent sessions. Fines limit: 50%; all shown batches meet the purity threshold.</a:t>
            </a:r>
            <a:endParaRPr sz="1725" b="0">
              <a:solidFill>
                <a:srgbClr val="66717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85750" y="11906250"/>
            <a:ext cx="16573500" cy="0"/>
          </a:xfrm>
          <a:prstGeom prst="line">
            <a:avLst/>
          </a:prstGeom>
          <a:noFill/>
          <a:ln w="9525">
            <a:solidFill>
              <a:srgbClr val="C9D2DA"/>
            </a:solidFill>
          </a:ln>
        </p:spPr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077700"/>
            <a:ext cx="17145000" cy="982500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476250" y="21997950"/>
            <a:ext cx="1619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Quench stops reaction chemistry; cooling and crystal growth can continue.</a:t>
            </a:r>
            <a:endParaRPr sz="1875" b="0">
              <a:solidFill>
                <a:srgbClr val="66717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285750" y="22536150"/>
            <a:ext cx="16573500" cy="0"/>
          </a:xfrm>
          <a:prstGeom prst="line">
            <a:avLst/>
          </a:prstGeom>
          <a:noFill/>
          <a:ln w="9525">
            <a:solidFill>
              <a:srgbClr val="C9D2D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95275" y="22631400"/>
            <a:ext cx="476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4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endParaRPr sz="3450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04875" y="22631400"/>
            <a:ext cx="15716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1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Selected recipes and independent retest</a:t>
            </a:r>
            <a:endParaRPr sz="3150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3375" y="23402925"/>
            <a:ext cx="7905750" cy="504825"/>
          </a:xfrm>
          <a:prstGeom prst="rect">
            <a:avLst/>
          </a:prstGeom>
          <a:solidFill>
            <a:srgbClr val="EDF6FF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66725" y="23441025"/>
            <a:ext cx="7677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Selected batch 10 (12-batch campaign)</a:t>
            </a:r>
            <a:endParaRPr sz="2025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7675" y="24126825"/>
            <a:ext cx="7715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Later reflection (condensed)</a:t>
            </a:r>
            <a:endParaRPr sz="1950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24841200"/>
            <a:ext cx="952500" cy="1055077"/>
          </a:xfrm>
          <a:prstGeom prst="rect">
            <a:avLst/>
          </a:prstGeom>
        </p:spPr>
      </p:pic>
      <p:sp>
        <p:nvSpPr>
          <p:cNvPr id="23" name="圆角矩形 22"/>
          <p:cNvSpPr>
            <a:spLocks noGrp="1"/>
          </p:cNvSpPr>
          <p:nvPr/>
        </p:nvSpPr>
        <p:spPr>
          <a:xfrm>
            <a:off x="1695450" y="24679275"/>
            <a:ext cx="6505575" cy="1943100"/>
          </a:xfrm>
          <a:prstGeom prst="roundRect">
            <a:avLst>
              <a:gd name="adj" fmla="val 3922"/>
            </a:avLst>
          </a:prstGeom>
          <a:solidFill>
            <a:srgbClr val="EDF6FF"/>
          </a:solidFill>
          <a:ln w="9525">
            <a:solidFill>
              <a:srgbClr val="C4D6E1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895475" y="24936450"/>
            <a:ext cx="6115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Batch 12 had fewer fines.</a:t>
            </a:r>
            <a:endParaRPr sz="195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895475" y="25393650"/>
            <a:ext cx="6115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Batch 10 led in measured recovery.</a:t>
            </a:r>
            <a:endParaRPr sz="195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895475" y="25850850"/>
            <a:ext cx="6115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small recovery gap was unresolved.</a:t>
            </a:r>
            <a:endParaRPr sz="195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71475" y="26946225"/>
            <a:ext cx="79248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Observed: recovery 51.2%  |  purity 97.8%  |  fines 45.7%</a:t>
            </a:r>
            <a:endParaRPr sz="180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905875" y="23402925"/>
            <a:ext cx="7905750" cy="504825"/>
          </a:xfrm>
          <a:prstGeom prst="rect">
            <a:avLst/>
          </a:prstGeom>
          <a:solidFill>
            <a:srgbClr val="EAF8FA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039225" y="23441025"/>
            <a:ext cx="7677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Selected batch 23 (24-batch campaign)</a:t>
            </a:r>
            <a:endParaRPr sz="2025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020175" y="24126825"/>
            <a:ext cx="7715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Later reflection (condensed)</a:t>
            </a:r>
            <a:endParaRPr sz="1950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4450" y="24841200"/>
            <a:ext cx="952500" cy="1055077"/>
          </a:xfrm>
          <a:prstGeom prst="rect">
            <a:avLst/>
          </a:prstGeom>
        </p:spPr>
      </p:pic>
      <p:sp>
        <p:nvSpPr>
          <p:cNvPr id="32" name="圆角矩形 31"/>
          <p:cNvSpPr>
            <a:spLocks noGrp="1"/>
          </p:cNvSpPr>
          <p:nvPr/>
        </p:nvSpPr>
        <p:spPr>
          <a:xfrm>
            <a:off x="10267950" y="24679275"/>
            <a:ext cx="6505575" cy="1943100"/>
          </a:xfrm>
          <a:prstGeom prst="roundRect">
            <a:avLst>
              <a:gd name="adj" fmla="val 3922"/>
            </a:avLst>
          </a:prstGeom>
          <a:solidFill>
            <a:srgbClr val="EAF8FA"/>
          </a:solidFill>
          <a:ln w="9525">
            <a:solidFill>
              <a:srgbClr val="C4D6E1"/>
            </a:solidFill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467975" y="24936450"/>
            <a:ext cx="6115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Hotter, shorter heating + staged cooling.</a:t>
            </a:r>
            <a:endParaRPr sz="195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467975" y="25393650"/>
            <a:ext cx="6115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Batches 22–24 formed a broad</a:t>
            </a:r>
            <a:endParaRPr sz="195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467975" y="25850850"/>
            <a:ext cx="6115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recovery plateau.</a:t>
            </a:r>
            <a:endParaRPr sz="195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43975" y="26946225"/>
            <a:ext cx="79248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Observed: recovery 57.0%  |  purity 100%  |  fines 14.2%</a:t>
            </a:r>
            <a:endParaRPr sz="1800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7593925"/>
            <a:ext cx="17145000" cy="1320000"/>
          </a:xfrm>
          <a:prstGeom prst="rect">
            <a:avLst/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333375" y="29308425"/>
            <a:ext cx="7905750" cy="1438275"/>
          </a:xfrm>
          <a:prstGeom prst="rect">
            <a:avLst/>
          </a:prstGeom>
          <a:solidFill>
            <a:srgbClr val="EDF6FF"/>
          </a:solidFill>
          <a:ln w="0">
            <a:noFill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47675" y="29403675"/>
            <a:ext cx="76771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Independent retest</a:t>
            </a:r>
            <a:endParaRPr sz="202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2000" y="298418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Recovery</a:t>
            </a:r>
            <a:endParaRPr sz="187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953000" y="298418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Fines</a:t>
            </a:r>
            <a:endParaRPr sz="187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62000" y="30222825"/>
            <a:ext cx="2857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150" b="1">
                <a:solidFill>
                  <a:srgbClr val="0066D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66D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50.4%</a:t>
            </a:r>
            <a:endParaRPr sz="3150" b="1">
              <a:solidFill>
                <a:srgbClr val="0066D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953000" y="30222825"/>
            <a:ext cx="2857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150" b="1">
                <a:solidFill>
                  <a:srgbClr val="0066D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66D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46.2%</a:t>
            </a:r>
            <a:endParaRPr sz="3150" b="1">
              <a:solidFill>
                <a:srgbClr val="0066D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905875" y="29308425"/>
            <a:ext cx="7905750" cy="1438275"/>
          </a:xfrm>
          <a:prstGeom prst="rect">
            <a:avLst/>
          </a:prstGeom>
          <a:solidFill>
            <a:srgbClr val="EAF8FA"/>
          </a:solidFill>
          <a:ln w="0">
            <a:noFill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020175" y="29403675"/>
            <a:ext cx="76771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Independent retest</a:t>
            </a:r>
            <a:endParaRPr sz="202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334500" y="298418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Recovery</a:t>
            </a:r>
            <a:endParaRPr sz="187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3525500" y="298418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Fines</a:t>
            </a:r>
            <a:endParaRPr sz="1875" b="0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334500" y="30222825"/>
            <a:ext cx="2857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150" b="1">
                <a:solidFill>
                  <a:srgbClr val="009BB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9BB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58.1%</a:t>
            </a:r>
            <a:endParaRPr sz="3150" b="1">
              <a:solidFill>
                <a:srgbClr val="009BB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3525500" y="30222825"/>
            <a:ext cx="28575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150" b="1">
                <a:solidFill>
                  <a:srgbClr val="009BB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9BB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19.3%</a:t>
            </a:r>
            <a:endParaRPr sz="3150" b="1">
              <a:solidFill>
                <a:srgbClr val="009BB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52500" y="31003875"/>
            <a:ext cx="15240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24282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Both selected recipes meet quality constraints.</a:t>
            </a:r>
            <a:endParaRPr sz="2100" b="1">
              <a:solidFill>
                <a:srgbClr val="24282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285750" y="31565850"/>
            <a:ext cx="16573500" cy="0"/>
          </a:xfrm>
          <a:prstGeom prst="line">
            <a:avLst/>
          </a:prstGeom>
          <a:noFill/>
          <a:ln w="9525">
            <a:solidFill>
              <a:srgbClr val="C9D2DA"/>
            </a:solidFill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33375" y="31708725"/>
            <a:ext cx="1638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Selected illustrative case; independent sessions. Recovery excludes seed mass. Fines: particles &lt;20 µm.</a:t>
            </a:r>
            <a:endParaRPr sz="1650" b="0">
              <a:solidFill>
                <a:srgbClr val="66717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33375" y="32070675"/>
            <a:ext cx="1638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6671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Heating values and cooling steps denote requested targets, not measured temperature trajectories.</a:t>
            </a:r>
            <a:endParaRPr sz="1650" b="0">
              <a:solidFill>
                <a:srgbClr val="66717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1173</Words>
  <Application>WPS 演示</Application>
  <PresentationFormat>Converted Presentation</PresentationFormat>
  <Paragraphs>70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Arial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邱江杰(2025311052)</cp:lastModifiedBy>
  <cp:revision>1</cp:revision>
  <dcterms:created xsi:type="dcterms:W3CDTF">2026-09-23T04:56:10Z</dcterms:created>
  <dcterms:modified xsi:type="dcterms:W3CDTF">2026-09-23T04:56:10Z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</Properties>
</file>