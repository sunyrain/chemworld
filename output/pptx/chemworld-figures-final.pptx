
<file path=[Content_Types].xml><?xml version="1.0" encoding="utf-8"?>
<Types xmlns="http://schemas.openxmlformats.org/package/2006/content-types">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Lst>
  <p:sldSz cx="13716000" cy="180975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s>
</file>

<file path=ppt/charts/_rels/chart5.xml.rels><?xml version="1.0" encoding="UTF-8" standalone="yes"?>
<Relationships xmlns="http://schemas.openxmlformats.org/package/2006/relationships"><Relationship Id="rId1" Type="http://schemas.openxmlformats.org/officeDocument/2006/relationships/package" Target="../embeddings/Workbook5.xlsx"/></Relationships>
</file>

<file path=ppt/charts/_rels/chart6.xml.rels><?xml version="1.0" encoding="UTF-8" standalone="yes"?>
<Relationships xmlns="http://schemas.openxmlformats.org/package/2006/relationships"><Relationship Id="rId1" Type="http://schemas.openxmlformats.org/officeDocument/2006/relationships/package" Target="../embeddings/Workbook6.xlsx"/></Relationships>
</file>

<file path=ppt/charts/_rels/chart7.xml.rels><?xml version="1.0" encoding="UTF-8" standalone="yes"?>
<Relationships xmlns="http://schemas.openxmlformats.org/package/2006/relationships"><Relationship Id="rId1" Type="http://schemas.openxmlformats.org/officeDocument/2006/relationships/package" Target="../embeddings/Workbook7.xlsx"/></Relationships>
</file>

<file path=ppt/charts/_rels/chart8.xml.rels><?xml version="1.0" encoding="UTF-8" standalone="yes"?>
<Relationships xmlns="http://schemas.openxmlformats.org/package/2006/relationships"><Relationship Id="rId1" Type="http://schemas.openxmlformats.org/officeDocument/2006/relationships/package" Target="../embeddings/Workbook8.xlsx"/></Relationships>
</file>

<file path=ppt/charts/_rels/chart9.xml.rels><?xml version="1.0" encoding="UTF-8" standalone="yes"?>
<Relationships xmlns="http://schemas.openxmlformats.org/package/2006/relationships"><Relationship Id="rId1" Type="http://schemas.openxmlformats.org/officeDocument/2006/relationships/package" Target="../embeddings/Workbook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Workbook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Workbook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Workbook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Workbook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Workbook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Workbook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Workbook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Workbook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Workbook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Workbook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Workbook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Workbook21.xlsx"/></Relationships>
</file>

<file path=ppt/charts/_rels/chart22.xml.rels><?xml version="1.0" encoding="UTF-8" standalone="yes"?>
<Relationships xmlns="http://schemas.openxmlformats.org/package/2006/relationships"><Relationship Id="rId1" Type="http://schemas.openxmlformats.org/officeDocument/2006/relationships/package" Target="../embeddings/Workbook22.xlsx"/></Relationships>
</file>

<file path=ppt/charts/_rels/chart23.xml.rels><?xml version="1.0" encoding="UTF-8" standalone="yes"?>
<Relationships xmlns="http://schemas.openxmlformats.org/package/2006/relationships"><Relationship Id="rId1" Type="http://schemas.openxmlformats.org/officeDocument/2006/relationships/package" Target="../embeddings/Workbook23.xlsx"/></Relationships>
</file>

<file path=ppt/charts/_rels/chart24.xml.rels><?xml version="1.0" encoding="UTF-8" standalone="yes"?>
<Relationships xmlns="http://schemas.openxmlformats.org/package/2006/relationships"><Relationship Id="rId1" Type="http://schemas.openxmlformats.org/officeDocument/2006/relationships/package" Target="../embeddings/Workbook24.xlsx"/></Relationships>
</file>

<file path=ppt/charts/_rels/chart25.xml.rels><?xml version="1.0" encoding="UTF-8" standalone="yes"?>
<Relationships xmlns="http://schemas.openxmlformats.org/package/2006/relationships"><Relationship Id="rId1" Type="http://schemas.openxmlformats.org/officeDocument/2006/relationships/package" Target="../embeddings/Workbook25.xlsx"/></Relationships>
</file>

<file path=ppt/charts/_rels/chart26.xml.rels><?xml version="1.0" encoding="UTF-8" standalone="yes"?>
<Relationships xmlns="http://schemas.openxmlformats.org/package/2006/relationships"><Relationship Id="rId1" Type="http://schemas.openxmlformats.org/officeDocument/2006/relationships/package" Target="../embeddings/Workbook26.xlsx"/></Relationships>
</file>

<file path=ppt/charts/_rels/chart27.xml.rels><?xml version="1.0" encoding="UTF-8" standalone="yes"?>
<Relationships xmlns="http://schemas.openxmlformats.org/package/2006/relationships"><Relationship Id="rId1" Type="http://schemas.openxmlformats.org/officeDocument/2006/relationships/package" Target="../embeddings/Workbook27.xlsx"/></Relationships>
</file>

<file path=ppt/charts/_rels/chart28.xml.rels><?xml version="1.0" encoding="UTF-8" standalone="yes"?>
<Relationships xmlns="http://schemas.openxmlformats.org/package/2006/relationships"><Relationship Id="rId1" Type="http://schemas.openxmlformats.org/officeDocument/2006/relationships/package" Target="../embeddings/Workbook28.xlsx"/></Relationships>
</file>

<file path=ppt/charts/_rels/chart29.xml.rels><?xml version="1.0" encoding="UTF-8" standalone="yes"?>
<Relationships xmlns="http://schemas.openxmlformats.org/package/2006/relationships"><Relationship Id="rId1" Type="http://schemas.openxmlformats.org/officeDocument/2006/relationships/package" Target="../embeddings/Workbook29.xlsx"/></Relationships>
</file>

<file path=ppt/charts/_rels/chart30.xml.rels><?xml version="1.0" encoding="UTF-8" standalone="yes"?>
<Relationships xmlns="http://schemas.openxmlformats.org/package/2006/relationships"><Relationship Id="rId1" Type="http://schemas.openxmlformats.org/officeDocument/2006/relationships/package" Target="../embeddings/Workbook30.xlsx"/></Relationships>
</file>

<file path=ppt/charts/_rels/chart31.xml.rels><?xml version="1.0" encoding="UTF-8" standalone="yes"?>
<Relationships xmlns="http://schemas.openxmlformats.org/package/2006/relationships"><Relationship Id="rId1" Type="http://schemas.openxmlformats.org/officeDocument/2006/relationships/package" Target="../embeddings/Workbook31.xlsx"/></Relationships>
</file>

<file path=ppt/charts/chart1.xml><?xml version="1.0" encoding="utf-8"?>
<ns0:chartSpace xmlns:ns0="http://schemas.openxmlformats.org/drawingml/2006/chart" xmlns:ns1="http://schemas.openxmlformats.org/markup-compatibility/2006" xmlns:ns2="http://schemas.microsoft.com/office/drawing/2007/8/2/chart" xmlns:ns3="http://schemas.openxmlformats.org/drawingml/2006/main" xmlns:ns4="https://web.wps.cn/et/2018/main" xmlns:ns5="http://schemas.openxmlformats.org/officeDocument/2006/relationships">
  <ns0:date1904 val="0"/>
  <ns0:lang val="zh-CN"/>
  <ns0:roundedCorners val="0"/>
  <ns1:AlternateContent>
    <ns1:Choice Requires="c14">
      <ns2:style val="102"/>
    </ns1:Choice>
    <ns1:Fallback>
      <ns0:style val="2"/>
    </ns1:Fallback>
  </ns1:AlternateContent>
  <ns0:chart>
    <ns0:autoTitleDeleted val="1"/>
    <ns0:plotArea>
      <ns0:layout/>
      <ns0:scatterChart>
        <ns0:scatterStyle val="lineMarker"/>
        <ns0:varyColors val="0"/>
        <ns0:ser>
          <ns0:idx val="0"/>
          <ns0:order val="0"/>
          <ns0:tx>
            <ns0:strRef>
              <ns0:f>Best feasible recovery</ns0:f>
              <ns0:strCache>
                <ns0:ptCount val="1"/>
                <ns0:pt idx="0">
                  <ns0:v>Best feasible recovery</ns0:v>
                </ns0:pt>
              </ns0:strCache>
            </ns0:strRef>
          </ns0:tx>
          <ns0:spPr>
            <ns3:ln w="26670" cap="rnd">
              <ns3:solidFill>
                <ns3:srgbClr val="277F8A"/>
              </ns3:solidFill>
              <ns3:prstDash val="solid"/>
              <ns3:round/>
            </ns3:ln>
          </ns0:spPr>
          <ns0:marker>
            <ns0:symbol val="none"/>
          </ns0:marker>
          <ns0:dLbls>
            <ns0:delete val="1"/>
          </ns0:dLbls>
          <ns0:xVal>
            <ns0:numRef>
              <ns0:f>'Chart Data'!$A$2:$A$10</ns0:f>
              <ns0:numCache>
                <ns0:formatCode>General</ns0:formatCode>
                <ns0:ptCount val="9"/>
                <ns0:pt idx="0">
                  <ns0:v>20</ns0:v>
                </ns0:pt>
                <ns0:pt idx="1">
                  <ns0:v>21</ns0:v>
                </ns0:pt>
                <ns0:pt idx="2">
                  <ns0:v>21</ns0:v>
                </ns0:pt>
                <ns0:pt idx="3">
                  <ns0:v>22</ns0:v>
                </ns0:pt>
                <ns0:pt idx="4">
                  <ns0:v>22</ns0:v>
                </ns0:pt>
                <ns0:pt idx="5">
                  <ns0:v>23</ns0:v>
                </ns0:pt>
                <ns0:pt idx="6">
                  <ns0:v>23</ns0:v>
                </ns0:pt>
                <ns0:pt idx="7">
                  <ns0:v>24</ns0:v>
                </ns0:pt>
                <ns0:pt idx="8">
                  <ns0:v>24</ns0:v>
                </ns0:pt>
              </ns0:numCache>
            </ns0:numRef>
          </ns0:xVal>
          <ns0:yVal>
            <ns0:numRef>
              <ns0:f>'Chart Data'!$B$2:$B$10</ns0:f>
              <ns0:numCache>
                <ns0:formatCode>0</ns0:formatCode>
                <ns0:ptCount val="9"/>
                <ns0:pt idx="0">
                  <ns0:v>52.870374918</ns0:v>
                </ns0:pt>
                <ns0:pt idx="1">
                  <ns0:v>52.870374918</ns0:v>
                </ns0:pt>
                <ns0:pt idx="2">
                  <ns0:v>55.2692890167</ns0:v>
                </ns0:pt>
                <ns0:pt idx="3">
                  <ns0:v>55.2692890167</ns0:v>
                </ns0:pt>
                <ns0:pt idx="4">
                  <ns0:v>56.9585680962</ns0:v>
                </ns0:pt>
                <ns0:pt idx="5">
                  <ns0:v>56.9585680962</ns0:v>
                </ns0:pt>
                <ns0:pt idx="6">
                  <ns0:v>56.9886684418</ns0:v>
                </ns0:pt>
                <ns0:pt idx="7">
                  <ns0:v>56.9886684418</ns0:v>
                </ns0:pt>
                <ns0:pt idx="8">
                  <ns0:v>56.9886684418</ns0:v>
                </ns0:pt>
              </ns0:numCache>
            </ns0:numRef>
          </ns0:yVal>
          <ns0:smooth val="0"/>
        </ns0:ser>
        <ns0:ser>
          <ns0:idx val="1"/>
          <ns0:order val="1"/>
          <ns0:tx>
            <ns0:strRef>
              <ns0:f>Feasible</ns0:f>
              <ns0:strCache>
                <ns0:ptCount val="1"/>
                <ns0:pt idx="0">
                  <ns0:v>Feasible</ns0:v>
                </ns0:pt>
              </ns0:strCache>
            </ns0:strRef>
          </ns0:tx>
          <ns0:spPr>
            <ns3:ln w="0" cap="rnd">
              <ns3:noFill/>
              <ns3:prstDash val="solid"/>
              <ns3:round/>
            </ns3:ln>
          </ns0:spPr>
          <ns0:marker>
            <ns0:symbol val="circle"/>
            <ns0:size val="8"/>
            <ns0:spPr>
              <ns3:solidFill>
                <ns3:srgbClr val="277F8A"/>
              </ns3:solidFill>
              <ns3:ln w="0">
                <ns3:noFill/>
                <ns3:prstDash val="solid"/>
                <ns3:round/>
              </ns3:ln>
            </ns0:spPr>
          </ns0:marker>
          <ns0:dLbls>
            <ns0:delete val="1"/>
          </ns0:dLbls>
          <ns0:xVal>
            <ns0:numRef>
              <ns0:f>'Chart Data'!$C$2:$C$6</ns0:f>
              <ns0:numCache>
                <ns0:formatCode>General</ns0:formatCode>
                <ns0:ptCount val="5"/>
                <ns0:pt idx="0">
                  <ns0:v>20</ns0:v>
                </ns0:pt>
                <ns0:pt idx="1">
                  <ns0:v>21</ns0:v>
                </ns0:pt>
                <ns0:pt idx="2">
                  <ns0:v>22</ns0:v>
                </ns0:pt>
                <ns0:pt idx="3">
                  <ns0:v>23</ns0:v>
                </ns0:pt>
                <ns0:pt idx="4">
                  <ns0:v>24</ns0:v>
                </ns0:pt>
              </ns0:numCache>
            </ns0:numRef>
          </ns0:xVal>
          <ns0:yVal>
            <ns0:numRef>
              <ns0:f>'Chart Data'!$D$2:$D$6</ns0:f>
              <ns0:numCache>
                <ns0:formatCode>0</ns0:formatCode>
                <ns0:ptCount val="5"/>
                <ns0:pt idx="0">
                  <ns0:v>52.870374918</ns0:v>
                </ns0:pt>
                <ns0:pt idx="1">
                  <ns0:v>55.2692890167</ns0:v>
                </ns0:pt>
                <ns0:pt idx="2">
                  <ns0:v>56.9585680962</ns0:v>
                </ns0:pt>
                <ns0:pt idx="3">
                  <ns0:v>56.9886684418</ns0:v>
                </ns0:pt>
                <ns0:pt idx="4">
                  <ns0:v>56.7886471748</ns0:v>
                </ns0:pt>
              </ns0:numCache>
            </ns0:numRef>
          </ns0:yVal>
          <ns0:smooth val="0"/>
        </ns0:ser>
        <ns0:ser>
          <ns0:idx val="2"/>
          <ns0:order val="2"/>
          <ns0:tx>
            <ns0:strRef>
              <ns0:f>Infeasible</ns0:f>
              <ns0:strCache>
                <ns0:ptCount val="1"/>
                <ns0:pt idx="0">
                  <ns0:v>Infeasible</ns0:v>
                </ns0:pt>
              </ns0:strCache>
            </ns0:strRef>
          </ns0:tx>
          <ns0:spPr>
            <ns3:ln w="0" cap="rnd">
              <ns3:noFill/>
              <ns3:prstDash val="solid"/>
              <ns3:round/>
            </ns3:ln>
          </ns0:spPr>
          <ns0:marker>
            <ns0:symbol val="x"/>
            <ns0:size val="8"/>
            <ns0:spPr>
              <ns3:noFill/>
              <ns3:ln w="12700">
                <ns3:solidFill>
                  <ns3:srgbClr val="A35F42"/>
                </ns3:solidFill>
              </ns3:ln>
            </ns0:spPr>
          </ns0:marker>
          <ns0:dLbls>
            <ns0:delete val="1"/>
          </ns0:dLbls>
          <ns0:xVal>
            <ns0:numRef>
              <ns0:f>'Chart Data'!$E$2:$E$20</ns0:f>
              <ns0:numCache>
                <ns0:formatCode>General</ns0:formatCode>
                <ns0:ptCount val="19"/>
                <ns0:pt idx="0">
                  <ns0:v>1</ns0:v>
                </ns0:pt>
                <ns0:pt idx="1">
                  <ns0:v>2</ns0:v>
                </ns0:pt>
                <ns0:pt idx="2">
                  <ns0:v>3</ns0:v>
                </ns0:pt>
                <ns0:pt idx="3">
                  <ns0:v>4</ns0:v>
                </ns0:pt>
                <ns0:pt idx="4">
                  <ns0:v>5</ns0:v>
                </ns0:pt>
                <ns0:pt idx="5">
                  <ns0:v>6</ns0:v>
                </ns0:pt>
                <ns0:pt idx="6">
                  <ns0:v>7</ns0:v>
                </ns0:pt>
                <ns0:pt idx="7">
                  <ns0:v>8</ns0:v>
                </ns0:pt>
                <ns0:pt idx="8">
                  <ns0:v>9</ns0:v>
                </ns0:pt>
                <ns0:pt idx="9">
                  <ns0:v>10</ns0:v>
                </ns0:pt>
                <ns0:pt idx="10">
                  <ns0:v>11</ns0:v>
                </ns0:pt>
                <ns0:pt idx="11">
                  <ns0:v>12</ns0:v>
                </ns0:pt>
                <ns0:pt idx="12">
                  <ns0:v>13</ns0:v>
                </ns0:pt>
                <ns0:pt idx="13">
                  <ns0:v>14</ns0:v>
                </ns0:pt>
                <ns0:pt idx="14">
                  <ns0:v>15</ns0:v>
                </ns0:pt>
                <ns0:pt idx="15">
                  <ns0:v>16</ns0:v>
                </ns0:pt>
                <ns0:pt idx="16">
                  <ns0:v>17</ns0:v>
                </ns0:pt>
                <ns0:pt idx="17">
                  <ns0:v>18</ns0:v>
                </ns0:pt>
                <ns0:pt idx="18">
                  <ns0:v>19</ns0:v>
                </ns0:pt>
              </ns0:numCache>
            </ns0:numRef>
          </ns0:xVal>
          <ns0:yVal>
            <ns0:numRef>
              <ns0:f>'Chart Data'!$F$2:$F$20</ns0:f>
              <ns0:numCache>
                <ns0:formatCode>0</ns0:formatCode>
                <ns0:ptCount val="19"/>
                <ns0:pt idx="0">
                  <ns0:v>37.5208616257</ns0:v>
                </ns0:pt>
                <ns0:pt idx="1">
                  <ns0:v>39.7665053606</ns0:v>
                </ns0:pt>
                <ns0:pt idx="2">
                  <ns0:v>23.2451826334</ns0:v>
                </ns0:pt>
                <ns0:pt idx="3">
                  <ns0:v>47.7206528187</ns0:v>
                </ns0:pt>
                <ns0:pt idx="4">
                  <ns0:v>38.1134063005</ns0:v>
                </ns0:pt>
                <ns0:pt idx="5">
                  <ns0:v>40.8400893211</ns0:v>
                </ns0:pt>
                <ns0:pt idx="6">
                  <ns0:v>40.2332872152</ns0:v>
                </ns0:pt>
                <ns0:pt idx="7">
                  <ns0:v>40.8462494612</ns0:v>
                </ns0:pt>
                <ns0:pt idx="8">
                  <ns0:v>46.9656139612</ns0:v>
                </ns0:pt>
                <ns0:pt idx="9">
                  <ns0:v>36.4954799414</ns0:v>
                </ns0:pt>
                <ns0:pt idx="10">
                  <ns0:v>42.1330988407</ns0:v>
                </ns0:pt>
                <ns0:pt idx="11">
                  <ns0:v>39.916524291</ns0:v>
                </ns0:pt>
                <ns0:pt idx="12">
                  <ns0:v>38.1688684225</ns0:v>
                </ns0:pt>
                <ns0:pt idx="13">
                  <ns0:v>38.6617660522</ns0:v>
                </ns0:pt>
                <ns0:pt idx="14">
                  <ns0:v>38.3515328169</ns0:v>
                </ns0:pt>
                <ns0:pt idx="15">
                  <ns0:v>38.310828805</ns0:v>
                </ns0:pt>
                <ns0:pt idx="16">
                  <ns0:v>31.7858457565</ns0:v>
                </ns0:pt>
                <ns0:pt idx="17">
                  <ns0:v>42.263302207</ns0:v>
                </ns0:pt>
                <ns0:pt idx="18">
                  <ns0:v>49.0144908428</ns0:v>
                </ns0:pt>
              </ns0:numCache>
            </ns0:numRef>
          </ns0:yVal>
          <ns0:smooth val="0"/>
        </ns0:ser>
        <ns0:dLbls>
          <ns0:showLegendKey val="0"/>
          <ns0:showVal val="0"/>
          <ns0:showCatName val="0"/>
          <ns0:showSerName val="0"/>
          <ns0:showPercent val="0"/>
          <ns0:showBubbleSize val="0"/>
        </ns0:dLbls>
        <ns0:axId val="48650112"/>
        <ns0:axId val="48672768"/>
      </ns0:scatterChart>
      <ns0:valAx>
        <ns0:axId val="48650112"/>
        <ns0:scaling>
          <ns0:orientation val="minMax"/>
          <ns0:max val="24"/>
          <ns0:min val="0"/>
        </ns0:scaling>
        <ns0:delete val="0"/>
        <ns0:axPos val="b"/>
        <ns0:numFmt formatCode="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72768"/>
        <ns0:crosses val="min"/>
        <ns0:crossBetween val="midCat"/>
        <ns0:majorUnit val="4"/>
      </ns0:valAx>
      <ns0:valAx>
        <ns0:axId val="48672768"/>
        <ns0:scaling>
          <ns0:orientation val="minMax"/>
          <ns0:max val="65"/>
          <ns0:min val="20"/>
        </ns0:scaling>
        <ns0:delete val="0"/>
        <ns0:axPos val="l"/>
        <ns0:title>
          <ns0:tx>
            <ns0:rich>
              <ns3:bodyPr rot="-5400000" spcFirstLastPara="0" vertOverflow="ellipsis" vert="horz" wrap="square" anchor="ctr" anchorCtr="1"/>
              <ns3:lstStyle/>
              <ns3:p>
                <ns3:pPr>
                  <ns3:defRPr lang="zh-CN" sz="1000" b="1" i="0" u="none" strike="noStrike" kern="1200" baseline="0">
                    <ns3:solidFill>
                      <ns3:schemeClr val="tx1"/>
                    </ns3:solidFill>
                    <ns3:latin typeface="+mn-lt"/>
                    <ns3:ea typeface="+mn-ea"/>
                    <ns3:cs typeface="+mn-cs"/>
                  </ns3:defRPr>
                </ns3:pPr>
                <ns3:r>
                  <ns3:rPr sz="1500">
                    <ns3:solidFill>
                      <ns3:srgbClr val="24292D"/>
                    </ns3:solidFill>
                    <ns3:latin typeface="Arial" panose="020B0604020202020204"/>
                    <ns3:ea typeface="Arial" panose="020B0604020202020204"/>
                    <ns3:cs typeface="Arial" panose="020B0604020202020204"/>
                  </ns3:rPr>
                  <ns3:t>Net recovery (%)</ns3:t>
                </ns3:r>
                <ns3:endParaRPr sz="1500">
                  <ns3:solidFill>
                    <ns3:srgbClr val="24292D"/>
                  </ns3:solidFill>
                  <ns3:latin typeface="Arial" panose="020B0604020202020204"/>
                  <ns3:ea typeface="Arial" panose="020B0604020202020204"/>
                  <ns3:cs typeface="Arial" panose="020B0604020202020204"/>
                </ns3:endParaRPr>
              </ns3:p>
            </ns0:rich>
          </ns0:tx>
          <ns0:layout/>
          <ns0:overlay val="0"/>
        </ns0:title>
        <ns0:numFmt formatCode="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50112"/>
        <ns0:crosses val="min"/>
        <ns0:crossBetween val="midCat"/>
        <ns0:majorUnit val="10"/>
      </ns0:valAx>
      <ns0:spPr>
        <ns3:solidFill>
          <ns3:srgbClr val="FFFFFF"/>
        </ns3:solidFill>
        <ns3:ln w="0">
          <ns3:noFill/>
        </ns3:ln>
      </ns0:spPr>
    </ns0:plotArea>
    <ns0:plotVisOnly val="1"/>
    <ns0:dispBlanksAs val="gap"/>
    <ns0:showDLblsOverMax val="0"/>
    <ns0:extLst>
      <ns0:ext uri="{0b15fc19-7d7d-44ad-8c2d-2c3a37ce22c3}">
        <ns4:chartProps chartId="{6598f7b4-efb9-487d-b8f9-33c3a54318eb}"/>
      </ns0:ext>
    </ns0:extLst>
  </ns0:chart>
  <ns0:spPr>
    <ns3:solidFill>
      <ns3:srgbClr val="FFFFFF"/>
    </ns3:solidFill>
    <ns3:ln w="0">
      <ns3:noFill/>
    </ns3:ln>
  </ns0:spPr>
  <ns0:txPr>
    <ns3:bodyPr/>
    <ns3:lstStyle/>
    <ns3:p>
      <ns3:pPr>
        <ns3:defRPr lang="zh-CN"/>
      </ns3:pPr>
    </ns3:p>
  </ns0:txPr>
  <ns0:externalData ns5:id="rId1">
    <ns0:autoUpdate val="0"/>
  </ns0:externalData>
</ns0:chartSpace>
</file>

<file path=ppt/charts/chart2.xml><?xml version="1.0" encoding="utf-8"?>
<ns0:chartSpace xmlns:ns0="http://schemas.openxmlformats.org/drawingml/2006/chart" xmlns:ns1="http://schemas.openxmlformats.org/markup-compatibility/2006" xmlns:ns2="http://schemas.microsoft.com/office/drawing/2007/8/2/chart" xmlns:ns3="http://schemas.openxmlformats.org/drawingml/2006/main" xmlns:ns4="https://web.wps.cn/et/2018/main" xmlns:ns5="http://schemas.openxmlformats.org/officeDocument/2006/relationships">
  <ns0:date1904 val="0"/>
  <ns0:lang val="zh-CN"/>
  <ns0:roundedCorners val="0"/>
  <ns1:AlternateContent>
    <ns1:Choice Requires="c14">
      <ns2:style val="102"/>
    </ns1:Choice>
    <ns1:Fallback>
      <ns0:style val="2"/>
    </ns1:Fallback>
  </ns1:AlternateContent>
  <ns0:chart>
    <ns0:autoTitleDeleted val="1"/>
    <ns0:plotArea>
      <ns0:layout/>
      <ns0:scatterChart>
        <ns0:scatterStyle val="lineMarker"/>
        <ns0:varyColors val="0"/>
        <ns0:ser>
          <ns0:idx val="0"/>
          <ns0:order val="0"/>
          <ns0:tx>
            <ns0:strRef>
              <ns0:f>Fines limit</ns0:f>
              <ns0:strCache>
                <ns0:ptCount val="1"/>
                <ns0:pt idx="0">
                  <ns0:v>Fines limit</ns0:v>
                </ns0:pt>
              </ns0:strCache>
            </ns0:strRef>
          </ns0:tx>
          <ns0:spPr>
            <ns3:ln w="15240" cap="rnd">
              <ns3:solidFill>
                <ns3:srgbClr val="D7DDE1"/>
              </ns3:solidFill>
              <ns3:prstDash val="solid"/>
              <ns3:round/>
            </ns3:ln>
          </ns0:spPr>
          <ns0:marker>
            <ns0:symbol val="none"/>
          </ns0:marker>
          <ns0:dLbls>
            <ns0:delete val="1"/>
          </ns0:dLbls>
          <ns0:xVal>
            <ns0:numRef>
              <ns0:f>'Chart Data'!$A$2:$A$3</ns0:f>
              <ns0:numCache>
                <ns0:formatCode>General</ns0:formatCode>
                <ns0:ptCount val="2"/>
                <ns0:pt idx="0">
                  <ns0:v>0</ns0:v>
                </ns0:pt>
                <ns0:pt idx="1">
                  <ns0:v>24</ns0:v>
                </ns0:pt>
              </ns0:numCache>
            </ns0:numRef>
          </ns0:xVal>
          <ns0:yVal>
            <ns0:numRef>
              <ns0:f>'Chart Data'!$B$2:$B$3</ns0:f>
              <ns0:numCache>
                <ns0:formatCode>0</ns0:formatCode>
                <ns0:ptCount val="2"/>
                <ns0:pt idx="0">
                  <ns0:v>50</ns0:v>
                </ns0:pt>
                <ns0:pt idx="1">
                  <ns0:v>50</ns0:v>
                </ns0:pt>
              </ns0:numCache>
            </ns0:numRef>
          </ns0:yVal>
          <ns0:smooth val="0"/>
        </ns0:ser>
        <ns0:ser>
          <ns0:idx val="1"/>
          <ns0:order val="1"/>
          <ns0:tx>
            <ns0:strRef>
              <ns0:f>Feasible fines</ns0:f>
              <ns0:strCache>
                <ns0:ptCount val="1"/>
                <ns0:pt idx="0">
                  <ns0:v>Feasible fines</ns0:v>
                </ns0:pt>
              </ns0:strCache>
            </ns0:strRef>
          </ns0:tx>
          <ns0:spPr>
            <ns3:ln w="0" cap="rnd">
              <ns3:noFill/>
              <ns3:prstDash val="solid"/>
              <ns3:round/>
            </ns3:ln>
          </ns0:spPr>
          <ns0:marker>
            <ns0:symbol val="circle"/>
            <ns0:size val="8"/>
            <ns0:spPr>
              <ns3:solidFill>
                <ns3:srgbClr val="277F8A"/>
              </ns3:solidFill>
              <ns3:ln w="0">
                <ns3:noFill/>
                <ns3:prstDash val="solid"/>
                <ns3:round/>
              </ns3:ln>
            </ns0:spPr>
          </ns0:marker>
          <ns0:dLbls>
            <ns0:delete val="1"/>
          </ns0:dLbls>
          <ns0:xVal>
            <ns0:numRef>
              <ns0:f>'Chart Data'!$C$2:$C$6</ns0:f>
              <ns0:numCache>
                <ns0:formatCode>General</ns0:formatCode>
                <ns0:ptCount val="5"/>
                <ns0:pt idx="0">
                  <ns0:v>20</ns0:v>
                </ns0:pt>
                <ns0:pt idx="1">
                  <ns0:v>21</ns0:v>
                </ns0:pt>
                <ns0:pt idx="2">
                  <ns0:v>22</ns0:v>
                </ns0:pt>
                <ns0:pt idx="3">
                  <ns0:v>23</ns0:v>
                </ns0:pt>
                <ns0:pt idx="4">
                  <ns0:v>24</ns0:v>
                </ns0:pt>
              </ns0:numCache>
            </ns0:numRef>
          </ns0:xVal>
          <ns0:yVal>
            <ns0:numRef>
              <ns0:f>'Chart Data'!$D$2:$D$6</ns0:f>
              <ns0:numCache>
                <ns0:formatCode>0</ns0:formatCode>
                <ns0:ptCount val="5"/>
                <ns0:pt idx="0">
                  <ns0:v>21.4978814125</ns0:v>
                </ns0:pt>
                <ns0:pt idx="1">
                  <ns0:v>17.7438303828</ns0:v>
                </ns0:pt>
                <ns0:pt idx="2">
                  <ns0:v>11.7556251585</ns0:v>
                </ns0:pt>
                <ns0:pt idx="3">
                  <ns0:v>14.2353460193</ns0:v>
                </ns0:pt>
                <ns0:pt idx="4">
                  <ns0:v>17.8021773696</ns0:v>
                </ns0:pt>
              </ns0:numCache>
            </ns0:numRef>
          </ns0:yVal>
          <ns0:smooth val="0"/>
        </ns0:ser>
        <ns0:ser>
          <ns0:idx val="2"/>
          <ns0:order val="2"/>
          <ns0:tx>
            <ns0:strRef>
              <ns0:f>Infeasible fines</ns0:f>
              <ns0:strCache>
                <ns0:ptCount val="1"/>
                <ns0:pt idx="0">
                  <ns0:v>Infeasible fines</ns0:v>
                </ns0:pt>
              </ns0:strCache>
            </ns0:strRef>
          </ns0:tx>
          <ns0:spPr>
            <ns3:ln w="0" cap="rnd">
              <ns3:noFill/>
              <ns3:prstDash val="solid"/>
              <ns3:round/>
            </ns3:ln>
          </ns0:spPr>
          <ns0:marker>
            <ns0:symbol val="x"/>
            <ns0:size val="8"/>
            <ns0:spPr>
              <ns3:noFill/>
              <ns3:ln w="12700">
                <ns3:solidFill>
                  <ns3:srgbClr val="A35F42"/>
                </ns3:solidFill>
              </ns3:ln>
            </ns0:spPr>
          </ns0:marker>
          <ns0:dLbls>
            <ns0:delete val="1"/>
          </ns0:dLbls>
          <ns0:xVal>
            <ns0:numRef>
              <ns0:f>'Chart Data'!$E$2:$E$20</ns0:f>
              <ns0:numCache>
                <ns0:formatCode>General</ns0:formatCode>
                <ns0:ptCount val="19"/>
                <ns0:pt idx="0">
                  <ns0:v>1</ns0:v>
                </ns0:pt>
                <ns0:pt idx="1">
                  <ns0:v>2</ns0:v>
                </ns0:pt>
                <ns0:pt idx="2">
                  <ns0:v>3</ns0:v>
                </ns0:pt>
                <ns0:pt idx="3">
                  <ns0:v>4</ns0:v>
                </ns0:pt>
                <ns0:pt idx="4">
                  <ns0:v>5</ns0:v>
                </ns0:pt>
                <ns0:pt idx="5">
                  <ns0:v>6</ns0:v>
                </ns0:pt>
                <ns0:pt idx="6">
                  <ns0:v>7</ns0:v>
                </ns0:pt>
                <ns0:pt idx="7">
                  <ns0:v>8</ns0:v>
                </ns0:pt>
                <ns0:pt idx="8">
                  <ns0:v>9</ns0:v>
                </ns0:pt>
                <ns0:pt idx="9">
                  <ns0:v>10</ns0:v>
                </ns0:pt>
                <ns0:pt idx="10">
                  <ns0:v>11</ns0:v>
                </ns0:pt>
                <ns0:pt idx="11">
                  <ns0:v>12</ns0:v>
                </ns0:pt>
                <ns0:pt idx="12">
                  <ns0:v>13</ns0:v>
                </ns0:pt>
                <ns0:pt idx="13">
                  <ns0:v>14</ns0:v>
                </ns0:pt>
                <ns0:pt idx="14">
                  <ns0:v>15</ns0:v>
                </ns0:pt>
                <ns0:pt idx="15">
                  <ns0:v>16</ns0:v>
                </ns0:pt>
                <ns0:pt idx="16">
                  <ns0:v>17</ns0:v>
                </ns0:pt>
                <ns0:pt idx="17">
                  <ns0:v>18</ns0:v>
                </ns0:pt>
                <ns0:pt idx="18">
                  <ns0:v>19</ns0:v>
                </ns0:pt>
              </ns0:numCache>
            </ns0:numRef>
          </ns0:xVal>
          <ns0:yVal>
            <ns0:numRef>
              <ns0:f>'Chart Data'!$F$2:$F$20</ns0:f>
              <ns0:numCache>
                <ns0:formatCode>0</ns0:formatCode>
                <ns0:ptCount val="19"/>
                <ns0:pt idx="0">
                  <ns0:v>53.74366045</ns0:v>
                </ns0:pt>
                <ns0:pt idx="1">
                  <ns0:v>100</ns0:v>
                </ns0:pt>
                <ns0:pt idx="2">
                  <ns0:v>99.4870126247</ns0:v>
                </ns0:pt>
                <ns0:pt idx="3">
                  <ns0:v>100</ns0:v>
                </ns0:pt>
                <ns0:pt idx="4">
                  <ns0:v>100</ns0:v>
                </ns0:pt>
                <ns0:pt idx="5">
                  <ns0:v>100</ns0:v>
                </ns0:pt>
                <ns0:pt idx="6">
                  <ns0:v>52.6934087276</ns0:v>
                </ns0:pt>
                <ns0:pt idx="7">
                  <ns0:v>52.821969986</ns0:v>
                </ns0:pt>
                <ns0:pt idx="8">
                  <ns0:v>100</ns0:v>
                </ns0:pt>
                <ns0:pt idx="9">
                  <ns0:v>100</ns0:v>
                </ns0:pt>
                <ns0:pt idx="10">
                  <ns0:v>71.2394535542</ns0:v>
                </ns0:pt>
                <ns0:pt idx="11">
                  <ns0:v>100</ns0:v>
                </ns0:pt>
                <ns0:pt idx="12">
                  <ns0:v>53.6181628704</ns0:v>
                </ns0:pt>
                <ns0:pt idx="13">
                  <ns0:v>55.1417708397</ns0:v>
                </ns0:pt>
                <ns0:pt idx="14">
                  <ns0:v>55.2693605423</ns0:v>
                </ns0:pt>
                <ns0:pt idx="15">
                  <ns0:v>52.7921378613</ns0:v>
                </ns0:pt>
                <ns0:pt idx="16">
                  <ns0:v>69.9711501598</ns0:v>
                </ns0:pt>
                <ns0:pt idx="17">
                  <ns0:v>100</ns0:v>
                </ns0:pt>
                <ns0:pt idx="18">
                  <ns0:v>52.8414666653</ns0:v>
                </ns0:pt>
              </ns0:numCache>
            </ns0:numRef>
          </ns0:yVal>
          <ns0:smooth val="0"/>
        </ns0:ser>
        <ns0:dLbls>
          <ns0:showLegendKey val="0"/>
          <ns0:showVal val="0"/>
          <ns0:showCatName val="0"/>
          <ns0:showSerName val="0"/>
          <ns0:showPercent val="0"/>
          <ns0:showBubbleSize val="0"/>
        </ns0:dLbls>
        <ns0:axId val="48650112"/>
        <ns0:axId val="48672768"/>
      </ns0:scatterChart>
      <ns0:valAx>
        <ns0:axId val="48650112"/>
        <ns0:scaling>
          <ns0:orientation val="minMax"/>
          <ns0:max val="24"/>
          <ns0:min val="0"/>
        </ns0:scaling>
        <ns0:delete val="0"/>
        <ns0:axPos val="b"/>
        <ns0:title>
          <ns0:tx>
            <ns0:rich>
              <ns3:bodyPr rot="0" spcFirstLastPara="0" vertOverflow="ellipsis" vert="horz" wrap="square" anchor="ctr" anchorCtr="1"/>
              <ns3:lstStyle/>
              <ns3:p>
                <ns3:pPr>
                  <ns3:defRPr lang="zh-CN" sz="1000" b="1" i="0" u="none" strike="noStrike" kern="1200" baseline="0">
                    <ns3:solidFill>
                      <ns3:schemeClr val="tx1"/>
                    </ns3:solidFill>
                    <ns3:latin typeface="+mn-lt"/>
                    <ns3:ea typeface="+mn-ea"/>
                    <ns3:cs typeface="+mn-cs"/>
                  </ns3:defRPr>
                </ns3:pPr>
                <ns3:r>
                  <ns3:rPr sz="1500">
                    <ns3:solidFill>
                      <ns3:srgbClr val="24292D"/>
                    </ns3:solidFill>
                    <ns3:latin typeface="Arial" panose="020B0604020202020204"/>
                    <ns3:ea typeface="Arial" panose="020B0604020202020204"/>
                    <ns3:cs typeface="Arial" panose="020B0604020202020204"/>
                  </ns3:rPr>
                  <ns3:t>Batch</ns3:t>
                </ns3:r>
                <ns3:endParaRPr sz="1500">
                  <ns3:solidFill>
                    <ns3:srgbClr val="24292D"/>
                  </ns3:solidFill>
                  <ns3:latin typeface="Arial" panose="020B0604020202020204"/>
                  <ns3:ea typeface="Arial" panose="020B0604020202020204"/>
                  <ns3:cs typeface="Arial" panose="020B0604020202020204"/>
                </ns3:endParaRPr>
              </ns3:p>
            </ns0:rich>
          </ns0:tx>
          <ns0:layout/>
          <ns0:overlay val="0"/>
        </ns0:title>
        <ns0:numFmt formatCode="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72768"/>
        <ns0:crosses val="min"/>
        <ns0:crossBetween val="midCat"/>
        <ns0:majorUnit val="4"/>
      </ns0:valAx>
      <ns0:valAx>
        <ns0:axId val="48672768"/>
        <ns0:scaling>
          <ns0:orientation val="minMax"/>
          <ns0:max val="105"/>
          <ns0:min val="0"/>
        </ns0:scaling>
        <ns0:delete val="0"/>
        <ns0:axPos val="l"/>
        <ns0:title>
          <ns0:tx>
            <ns0:rich>
              <ns3:bodyPr rot="-5400000" spcFirstLastPara="0" vertOverflow="ellipsis" vert="horz" wrap="square" anchor="ctr" anchorCtr="1"/>
              <ns3:lstStyle/>
              <ns3:p>
                <ns3:pPr>
                  <ns3:defRPr lang="zh-CN" sz="1000" b="1" i="0" u="none" strike="noStrike" kern="1200" baseline="0">
                    <ns3:solidFill>
                      <ns3:schemeClr val="tx1"/>
                    </ns3:solidFill>
                    <ns3:latin typeface="+mn-lt"/>
                    <ns3:ea typeface="+mn-ea"/>
                    <ns3:cs typeface="+mn-cs"/>
                  </ns3:defRPr>
                </ns3:pPr>
                <ns3:r>
                  <ns3:rPr sz="1500">
                    <ns3:solidFill>
                      <ns3:srgbClr val="24292D"/>
                    </ns3:solidFill>
                    <ns3:latin typeface="Arial" panose="020B0604020202020204"/>
                    <ns3:ea typeface="Arial" panose="020B0604020202020204"/>
                    <ns3:cs typeface="Arial" panose="020B0604020202020204"/>
                  </ns3:rPr>
                  <ns3:t>Fines (%)</ns3:t>
                </ns3:r>
                <ns3:endParaRPr sz="1500">
                  <ns3:solidFill>
                    <ns3:srgbClr val="24292D"/>
                  </ns3:solidFill>
                  <ns3:latin typeface="Arial" panose="020B0604020202020204"/>
                  <ns3:ea typeface="Arial" panose="020B0604020202020204"/>
                  <ns3:cs typeface="Arial" panose="020B0604020202020204"/>
                </ns3:endParaRPr>
              </ns3:p>
            </ns0:rich>
          </ns0:tx>
          <ns0:layout/>
          <ns0:overlay val="0"/>
        </ns0:title>
        <ns0:numFmt formatCode="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50112"/>
        <ns0:crosses val="min"/>
        <ns0:crossBetween val="midCat"/>
        <ns0:majorUnit val="25"/>
      </ns0:valAx>
      <ns0:spPr>
        <ns3:solidFill>
          <ns3:srgbClr val="FFFFFF"/>
        </ns3:solidFill>
        <ns3:ln w="0">
          <ns3:noFill/>
        </ns3:ln>
      </ns0:spPr>
    </ns0:plotArea>
    <ns0:plotVisOnly val="1"/>
    <ns0:dispBlanksAs val="gap"/>
    <ns0:showDLblsOverMax val="0"/>
    <ns0:extLst>
      <ns0:ext uri="{0b15fc19-7d7d-44ad-8c2d-2c3a37ce22c3}">
        <ns4:chartProps chartId="{f4ddeea5-db45-433d-9c6b-7ac2c913f6c3}"/>
      </ns0:ext>
    </ns0:extLst>
  </ns0:chart>
  <ns0:spPr>
    <ns3:solidFill>
      <ns3:srgbClr val="FFFFFF"/>
    </ns3:solidFill>
    <ns3:ln w="0">
      <ns3:noFill/>
    </ns3:ln>
  </ns0:spPr>
  <ns0:txPr>
    <ns3:bodyPr/>
    <ns3:lstStyle/>
    <ns3:p>
      <ns3:pPr>
        <ns3:defRPr lang="zh-CN"/>
      </ns3:pPr>
    </ns3:p>
  </ns0:txPr>
  <ns0:externalData ns5:id="rId1">
    <ns0:autoUpdate val="0"/>
  </ns0:externalData>
</ns0:chartSpace>
</file>

<file path=ppt/charts/chart3.xml><?xml version="1.0" encoding="utf-8"?>
<ns0:chartSpace xmlns:ns0="http://schemas.openxmlformats.org/drawingml/2006/chart" xmlns:ns1="http://schemas.openxmlformats.org/markup-compatibility/2006" xmlns:ns2="http://schemas.microsoft.com/office/drawing/2007/8/2/chart" xmlns:ns3="http://schemas.openxmlformats.org/drawingml/2006/main" xmlns:ns4="https://web.wps.cn/et/2018/main" xmlns:ns5="http://schemas.openxmlformats.org/officeDocument/2006/relationships">
  <ns0:date1904 val="0"/>
  <ns0:lang val="zh-CN"/>
  <ns0:roundedCorners val="0"/>
  <ns1:AlternateContent>
    <ns1:Choice Requires="c14">
      <ns2:style val="102"/>
    </ns1:Choice>
    <ns1:Fallback>
      <ns0:style val="2"/>
    </ns1:Fallback>
  </ns1:AlternateContent>
  <ns0:chart>
    <ns0:autoTitleDeleted val="1"/>
    <ns0:plotArea>
      <ns0:layout/>
      <ns0:scatterChart>
        <ns0:scatterStyle val="lineMarker"/>
        <ns0:varyColors val="0"/>
        <ns0:ser>
          <ns0:idx val="0"/>
          <ns0:order val="0"/>
          <ns0:tx>
            <ns0:strRef>
              <ns0:f>zero x</ns0:f>
              <ns0:strCache>
                <ns0:ptCount val="1"/>
                <ns0:pt idx="0">
                  <ns0:v>zero x</ns0:v>
                </ns0:pt>
              </ns0:strCache>
            </ns0:strRef>
          </ns0:tx>
          <ns0:spPr>
            <ns3:ln w="14288" cap="rnd">
              <ns3:solidFill>
                <ns3:srgbClr val="D7DDE1"/>
              </ns3:solidFill>
              <ns3:prstDash val="solid"/>
              <ns3:round/>
            </ns3:ln>
          </ns0:spPr>
          <ns0:marker>
            <ns0:symbol val="none"/>
          </ns0:marker>
          <ns0:dLbls>
            <ns0:delete val="1"/>
          </ns0:dLbls>
          <ns0:xVal>
            <ns0:numRef>
              <ns0:f>'Chart Data'!$A$2:$A$3</ns0:f>
              <ns0:numCache>
                <ns0:formatCode>General</ns0:formatCode>
                <ns0:ptCount val="2"/>
                <ns0:pt idx="0">
                  <ns0:v>0</ns0:v>
                </ns0:pt>
                <ns0:pt idx="1">
                  <ns0:v>0</ns0:v>
                </ns0:pt>
              </ns0:numCache>
            </ns0:numRef>
          </ns0:xVal>
          <ns0:yVal>
            <ns0:numRef>
              <ns0:f>'Chart Data'!$B$2:$B$3</ns0:f>
              <ns0:numCache>
                <ns0:formatCode>0.00</ns0:formatCode>
                <ns0:ptCount val="2"/>
                <ns0:pt idx="0">
                  <ns0:v>-0.25</ns0:v>
                </ns0:pt>
                <ns0:pt idx="1">
                  <ns0:v>0.25</ns0:v>
                </ns0:pt>
              </ns0:numCache>
            </ns0:numRef>
          </ns0:yVal>
          <ns0:smooth val="0"/>
        </ns0:ser>
        <ns0:ser>
          <ns0:idx val="1"/>
          <ns0:order val="1"/>
          <ns0:tx>
            <ns0:strRef>
              <ns0:f>zero y</ns0:f>
              <ns0:strCache>
                <ns0:ptCount val="1"/>
                <ns0:pt idx="0">
                  <ns0:v>zero y</ns0:v>
                </ns0:pt>
              </ns0:strCache>
            </ns0:strRef>
          </ns0:tx>
          <ns0:spPr>
            <ns3:ln w="14288" cap="rnd">
              <ns3:solidFill>
                <ns3:srgbClr val="D7DDE1"/>
              </ns3:solidFill>
              <ns3:prstDash val="solid"/>
              <ns3:round/>
            </ns3:ln>
          </ns0:spPr>
          <ns0:marker>
            <ns0:symbol val="none"/>
          </ns0:marker>
          <ns0:dLbls>
            <ns0:delete val="1"/>
          </ns0:dLbls>
          <ns0:xVal>
            <ns0:numRef>
              <ns0:f>'Chart Data'!$C$2:$C$3</ns0:f>
              <ns0:numCache>
                <ns0:formatCode>General</ns0:formatCode>
                <ns0:ptCount val="2"/>
                <ns0:pt idx="0">
                  <ns0:v>-0.3</ns0:v>
                </ns0:pt>
                <ns0:pt idx="1">
                  <ns0:v>0.6</ns0:v>
                </ns0:pt>
              </ns0:numCache>
            </ns0:numRef>
          </ns0:xVal>
          <ns0:yVal>
            <ns0:numRef>
              <ns0:f>'Chart Data'!$D$2:$D$3</ns0:f>
              <ns0:numCache>
                <ns0:formatCode>0.00</ns0:formatCode>
                <ns0:ptCount val="2"/>
                <ns0:pt idx="0">
                  <ns0:v>0</ns0:v>
                </ns0:pt>
                <ns0:pt idx="1">
                  <ns0:v>0</ns0:v>
                </ns0:pt>
              </ns0:numCache>
            </ns0:numRef>
          </ns0:yVal>
          <ns0:smooth val="0"/>
        </ns0:ser>
        <ns0:ser>
          <ns0:idx val="2"/>
          <ns0:order val="2"/>
          <ns0:tx>
            <ns0:strRef>
              <ns0:f>Opaque</ns0:f>
              <ns0:strCache>
                <ns0:ptCount val="1"/>
                <ns0:pt idx="0">
                  <ns0:v>Opaque</ns0:v>
                </ns0:pt>
              </ns0:strCache>
            </ns0:strRef>
          </ns0:tx>
          <ns0:spPr>
            <ns3:ln w="0" cap="rnd">
              <ns3:noFill/>
              <ns3:prstDash val="solid"/>
              <ns3:round/>
            </ns3:ln>
          </ns0:spPr>
          <ns0:marker>
            <ns0:symbol val="circle"/>
            <ns0:size val="8"/>
            <ns0:spPr>
              <ns3:solidFill>
                <ns3:srgbClr val="637482"/>
              </ns3:solidFill>
              <ns3:ln w="0">
                <ns3:noFill/>
                <ns3:prstDash val="solid"/>
                <ns3:round/>
              </ns3:ln>
            </ns0:spPr>
          </ns0:marker>
          <ns0:dLbls>
            <ns0:delete val="1"/>
          </ns0:dLbls>
          <ns0:xVal>
            <ns0:numRef>
              <ns0:f>'Chart Data'!$E$2:$E$11</ns0:f>
              <ns0:numCache>
                <ns0:formatCode>General</ns0:formatCode>
                <ns0:ptCount val="10"/>
                <ns0:pt idx="0">
                  <ns0:v>0.0385354757309</ns0:v>
                </ns0:pt>
                <ns0:pt idx="1">
                  <ns0:v>0.245197713375</ns0:v>
                </ns0:pt>
                <ns0:pt idx="2">
                  <ns0:v>0.259088337421</ns0:v>
                </ns0:pt>
                <ns0:pt idx="3">
                  <ns0:v>0.2449644804</ns0:v>
                </ns0:pt>
                <ns0:pt idx="4">
                  <ns0:v>0.0632915496826</ns0:v>
                </ns0:pt>
                <ns0:pt idx="5">
                  <ns0:v>0.297834098339</ns0:v>
                </ns0:pt>
                <ns0:pt idx="6">
                  <ns0:v>0.125800907612</ns0:v>
                </ns0:pt>
                <ns0:pt idx="7">
                  <ns0:v>0.140221893787</ns0:v>
                </ns0:pt>
                <ns0:pt idx="8">
                  <ns0:v>0.0153107047081</ns0:v>
                </ns0:pt>
                <ns0:pt idx="9">
                  <ns0:v>0.515994727612</ns0:v>
                </ns0:pt>
              </ns0:numCache>
            </ns0:numRef>
          </ns0:xVal>
          <ns0:yVal>
            <ns0:numRef>
              <ns0:f>'Chart Data'!$F$2:$F$11</ns0:f>
              <ns0:numCache>
                <ns0:formatCode>0.00</ns0:formatCode>
                <ns0:ptCount val="10"/>
                <ns0:pt idx="0">
                  <ns0:v>0.141003548702</ns0:v>
                </ns0:pt>
                <ns0:pt idx="1">
                  <ns0:v>0.0525775841872</ns0:v>
                </ns0:pt>
                <ns0:pt idx="2">
                  <ns0:v>-0.225962252975</ns0:v>
                </ns0:pt>
                <ns0:pt idx="3">
                  <ns0:v>-0.0830991016626</ns0:v>
                </ns0:pt>
                <ns0:pt idx="4">
                  <ns0:v>0.180683138907</ns0:v>
                </ns0:pt>
                <ns0:pt idx="5">
                  <ns0:v>-0.0884220294356</ns0:v>
                </ns0:pt>
                <ns0:pt idx="6">
                  <ns0:v>-0.104716846188</ns0:v>
                </ns0:pt>
                <ns0:pt idx="7">
                  <ns0:v>-0.0651835566759</ns0:v>
                </ns0:pt>
                <ns0:pt idx="8">
                  <ns0:v>0.00598266879718</ns0:v>
                </ns0:pt>
                <ns0:pt idx="9">
                  <ns0:v>0.139898586432</ns0:v>
                </ns0:pt>
              </ns0:numCache>
            </ns0:numRef>
          </ns0:yVal>
          <ns0:smooth val="0"/>
        </ns0:ser>
        <ns0:ser>
          <ns0:idx val="3"/>
          <ns0:order val="3"/>
          <ns0:tx>
            <ns0:strRef>
              <ns0:f>Aligned</ns0:f>
              <ns0:strCache>
                <ns0:ptCount val="1"/>
                <ns0:pt idx="0">
                  <ns0:v>Aligned</ns0:v>
                </ns0:pt>
              </ns0:strCache>
            </ns0:strRef>
          </ns0:tx>
          <ns0:spPr>
            <ns3:ln w="0" cap="rnd">
              <ns3:noFill/>
              <ns3:prstDash val="solid"/>
              <ns3:round/>
            </ns3:ln>
          </ns0:spPr>
          <ns0:marker>
            <ns0:symbol val="circle"/>
            <ns0:size val="8"/>
            <ns0:spPr>
              <ns3:solidFill>
                <ns3:srgbClr val="277F8A"/>
              </ns3:solidFill>
              <ns3:ln w="0">
                <ns3:noFill/>
                <ns3:prstDash val="solid"/>
                <ns3:round/>
              </ns3:ln>
            </ns0:spPr>
          </ns0:marker>
          <ns0:dLbls>
            <ns0:delete val="1"/>
          </ns0:dLbls>
          <ns0:xVal>
            <ns0:numRef>
              <ns0:f>'Chart Data'!$G$2:$G$11</ns0:f>
              <ns0:numCache>
                <ns0:formatCode>General</ns0:formatCode>
                <ns0:ptCount val="10"/>
                <ns0:pt idx="0">
                  <ns0:v>0.355543076992</ns0:v>
                </ns0:pt>
                <ns0:pt idx="1">
                  <ns0:v>0.290801852942</ns0:v>
                </ns0:pt>
                <ns0:pt idx="2">
                  <ns0:v>0.127223372459</ns0:v>
                </ns0:pt>
                <ns0:pt idx="3">
                  <ns0:v>0.210446834564</ns0:v>
                </ns0:pt>
                <ns0:pt idx="4">
                  <ns0:v>0.245496273041</ns0:v>
                </ns0:pt>
                <ns0:pt idx="5">
                  <ns0:v>0.093596637249</ns0:v>
                </ns0:pt>
                <ns0:pt idx="6">
                  <ns0:v>0.454601436853</ns0:v>
                </ns0:pt>
                <ns0:pt idx="7">
                  <ns0:v>0.268975675106</ns0:v>
                </ns0:pt>
                <ns0:pt idx="8">
                  <ns0:v>0.227455675602</ns0:v>
                </ns0:pt>
                <ns0:pt idx="9">
                  <ns0:v>0.435660988092</ns0:v>
                </ns0:pt>
              </ns0:numCache>
            </ns0:numRef>
          </ns0:xVal>
          <ns0:yVal>
            <ns0:numRef>
              <ns0:f>'Chart Data'!$H$2:$H$11</ns0:f>
              <ns0:numCache>
                <ns0:formatCode>0.00</ns0:formatCode>
                <ns0:ptCount val="10"/>
                <ns0:pt idx="0">
                  <ns0:v>-0.204749189253</ns0:v>
                </ns0:pt>
                <ns0:pt idx="1">
                  <ns0:v>-0.0532898058544</ns0:v>
                </ns0:pt>
                <ns0:pt idx="2">
                  <ns0:v>0.0023548757871</ns0:v>
                </ns0:pt>
                <ns0:pt idx="3">
                  <ns0:v>-0.0111021570737</ns0:v>
                </ns0:pt>
                <ns0:pt idx="4">
                  <ns0:v>0.000624943053971</ns0:v>
                </ns0:pt>
                <ns0:pt idx="5">
                  <ns0:v>-0.0145699882905</ns0:v>
                </ns0:pt>
                <ns0:pt idx="6">
                  <ns0:v>-0.081905635794</ns0:v>
                </ns0:pt>
                <ns0:pt idx="7">
                  <ns0:v>0.0432128133376</ns0:v>
                </ns0:pt>
                <ns0:pt idx="8">
                  <ns0:v>0.0945899596413</ns0:v>
                </ns0:pt>
                <ns0:pt idx="9">
                  <ns0:v>-0.192242830396</ns0:v>
                </ns0:pt>
              </ns0:numCache>
            </ns0:numRef>
          </ns0:yVal>
          <ns0:smooth val="0"/>
        </ns0:ser>
        <ns0:ser>
          <ns0:idx val="4"/>
          <ns0:order val="4"/>
          <ns0:tx>
            <ns0:strRef>
              <ns0:f>MisIndexed</ns0:f>
              <ns0:strCache>
                <ns0:ptCount val="1"/>
                <ns0:pt idx="0">
                  <ns0:v>MisIndexed</ns0:v>
                </ns0:pt>
              </ns0:strCache>
            </ns0:strRef>
          </ns0:tx>
          <ns0:spPr>
            <ns3:ln w="0" cap="rnd">
              <ns3:noFill/>
              <ns3:prstDash val="solid"/>
              <ns3:round/>
            </ns3:ln>
          </ns0:spPr>
          <ns0:marker>
            <ns0:symbol val="circle"/>
            <ns0:size val="8"/>
            <ns0:spPr>
              <ns3:solidFill>
                <ns3:srgbClr val="BC7850"/>
              </ns3:solidFill>
              <ns3:ln w="0">
                <ns3:noFill/>
                <ns3:prstDash val="solid"/>
                <ns3:round/>
              </ns3:ln>
            </ns0:spPr>
          </ns0:marker>
          <ns0:dLbls>
            <ns0:delete val="1"/>
          </ns0:dLbls>
          <ns0:xVal>
            <ns0:numRef>
              <ns0:f>'Chart Data'!$I$2:$I$11</ns0:f>
              <ns0:numCache>
                <ns0:formatCode>General</ns0:formatCode>
                <ns0:ptCount val="10"/>
                <ns0:pt idx="0">
                  <ns0:v>0.30223017931</ns0:v>
                </ns0:pt>
                <ns0:pt idx="1">
                  <ns0:v>0.0132523775101</ns0:v>
                </ns0:pt>
                <ns0:pt idx="2">
                  <ns0:v>0.0436210036278</ns0:v>
                </ns0:pt>
                <ns0:pt idx="3">
                  <ns0:v>0.231856107712</ns0:v>
                </ns0:pt>
                <ns0:pt idx="4">
                  <ns0:v>-0.197389662266</ns0:v>
                </ns0:pt>
                <ns0:pt idx="5">
                  <ns0:v>0.308152019978</ns0:v>
                </ns0:pt>
                <ns0:pt idx="6">
                  <ns0:v>-0.273207962513</ns0:v>
                </ns0:pt>
                <ns0:pt idx="7">
                  <ns0:v>-0.248076677322</ns0:v>
                </ns0:pt>
                <ns0:pt idx="8">
                  <ns0:v>0.127265334129</ns0:v>
                </ns0:pt>
                <ns0:pt idx="9">
                  <ns0:v>-0.0655096769333</ns0:v>
                </ns0:pt>
              </ns0:numCache>
            </ns0:numRef>
          </ns0:xVal>
          <ns0:yVal>
            <ns0:numRef>
              <ns0:f>'Chart Data'!$J$2:$J$11</ns0:f>
              <ns0:numCache>
                <ns0:formatCode>0.00</ns0:formatCode>
                <ns0:ptCount val="10"/>
                <ns0:pt idx="0">
                  <ns0:v>-0.0805362884253</ns0:v>
                </ns0:pt>
                <ns0:pt idx="1">
                  <ns0:v>0.155224764302</ns0:v>
                </ns0:pt>
                <ns0:pt idx="2">
                  <ns0:v>0.0130800776482</ns0:v>
                </ns0:pt>
                <ns0:pt idx="3">
                  <ns0:v>-0.00846366194884</ns0:v>
                </ns0:pt>
                <ns0:pt idx="4">
                  <ns0:v>0.0627843488256</ns0:v>
                </ns0:pt>
                <ns0:pt idx="5">
                  <ns0:v>0.0167065068881</ns0:v>
                </ns0:pt>
                <ns0:pt idx="6">
                  <ns0:v>0.0968925877412</ns0:v>
                </ns0:pt>
                <ns0:pt idx="7">
                  <ns0:v>0.114579026699</ns0:v>
                </ns0:pt>
                <ns0:pt idx="8">
                  <ns0:v>0.164934770683</ns0:v>
                </ns0:pt>
                <ns0:pt idx="9">
                  <ns0:v>-0.066449393034</ns0:v>
                </ns0:pt>
              </ns0:numCache>
            </ns0:numRef>
          </ns0:yVal>
          <ns0:smooth val="0"/>
        </ns0:ser>
        <ns0:dLbls>
          <ns0:showLegendKey val="0"/>
          <ns0:showVal val="0"/>
          <ns0:showCatName val="0"/>
          <ns0:showSerName val="0"/>
          <ns0:showPercent val="0"/>
          <ns0:showBubbleSize val="0"/>
        </ns0:dLbls>
        <ns0:axId val="48650112"/>
        <ns0:axId val="48672768"/>
      </ns0:scatterChart>
      <ns0:valAx>
        <ns0:axId val="48650112"/>
        <ns0:scaling>
          <ns0:orientation val="minMax"/>
          <ns0:max val="0.6"/>
          <ns0:min val="-0.3"/>
        </ns0:scaling>
        <ns0:delete val="0"/>
        <ns0:axPos val="b"/>
        <ns0:title>
          <ns0:tx>
            <ns0:rich>
              <ns3:bodyPr rot="0" spcFirstLastPara="0" vertOverflow="ellipsis" vert="horz" wrap="square" anchor="ctr" anchorCtr="1"/>
              <ns3:lstStyle/>
              <ns3:p>
                <ns3:pPr>
                  <ns3:defRPr lang="zh-CN" sz="1000" b="1" i="0" u="none" strike="noStrike" kern="1200" baseline="0">
                    <ns3:solidFill>
                      <ns3:schemeClr val="tx1"/>
                    </ns3:solidFill>
                    <ns3:latin typeface="+mn-lt"/>
                    <ns3:ea typeface="+mn-ea"/>
                    <ns3:cs typeface="+mn-cs"/>
                  </ns3:defRPr>
                </ns3:pPr>
                <ns3:r>
                  <ns3:rPr sz="1500">
                    <ns3:solidFill>
                      <ns3:srgbClr val="24292D"/>
                    </ns3:solidFill>
                    <ns3:latin typeface="Arial" panose="020B0604020202020204"/>
                    <ns3:ea typeface="Arial" panose="020B0604020202020204"/>
                    <ns3:cs typeface="Arial" panose="020B0604020202020204"/>
                  </ns3:rPr>
                  <ns3:t>Retest gain (optimization - discovery)</ns3:t>
                </ns3:r>
                <ns3:endParaRPr sz="1500">
                  <ns3:solidFill>
                    <ns3:srgbClr val="24292D"/>
                  </ns3:solidFill>
                  <ns3:latin typeface="Arial" panose="020B0604020202020204"/>
                  <ns3:ea typeface="Arial" panose="020B0604020202020204"/>
                  <ns3:cs typeface="Arial" panose="020B0604020202020204"/>
                </ns3:endParaRPr>
              </ns3:p>
            </ns0:rich>
          </ns0:tx>
          <ns0:layout/>
          <ns0:overlay val="0"/>
        </ns0:title>
        <ns0:numFmt formatCode="0.0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72768"/>
        <ns0:crosses val="min"/>
        <ns0:crossBetween val="midCat"/>
        <ns0:majorUnit val="0.3"/>
      </ns0:valAx>
      <ns0:valAx>
        <ns0:axId val="48672768"/>
        <ns0:scaling>
          <ns0:orientation val="minMax"/>
          <ns0:max val="0.25"/>
          <ns0:min val="-0.25"/>
        </ns0:scaling>
        <ns0:delete val="0"/>
        <ns0:axPos val="l"/>
        <ns0:title>
          <ns0:tx>
            <ns0:rich>
              <ns3:bodyPr rot="-5400000" spcFirstLastPara="0" vertOverflow="ellipsis" vert="horz" wrap="square" anchor="ctr" anchorCtr="1"/>
              <ns3:lstStyle/>
              <ns3:p>
                <ns3:pPr>
                  <ns3:defRPr lang="zh-CN" sz="1000" b="1" i="0" u="none" strike="noStrike" kern="1200" baseline="0">
                    <ns3:solidFill>
                      <ns3:schemeClr val="tx1"/>
                    </ns3:solidFill>
                    <ns3:latin typeface="+mn-lt"/>
                    <ns3:ea typeface="+mn-ea"/>
                    <ns3:cs typeface="+mn-cs"/>
                  </ns3:defRPr>
                </ns3:pPr>
                <ns3:r>
                  <ns3:rPr sz="1500">
                    <ns3:solidFill>
                      <ns3:srgbClr val="24292D"/>
                    </ns3:solidFill>
                    <ns3:latin typeface="Arial" panose="020B0604020202020204"/>
                    <ns3:ea typeface="Arial" panose="020B0604020202020204"/>
                    <ns3:cs typeface="Arial" panose="020B0604020202020204"/>
                  </ns3:rPr>
                  <ns3:t>Prediction error change</ns3:t>
                </ns3:r>
                <ns3:endParaRPr sz="1500">
                  <ns3:solidFill>
                    <ns3:srgbClr val="24292D"/>
                  </ns3:solidFill>
                  <ns3:latin typeface="Arial" panose="020B0604020202020204"/>
                  <ns3:ea typeface="Arial" panose="020B0604020202020204"/>
                  <ns3:cs typeface="Arial" panose="020B0604020202020204"/>
                </ns3:endParaRPr>
              </ns3:p>
            </ns0:rich>
          </ns0:tx>
          <ns0:layout/>
          <ns0:overlay val="0"/>
        </ns0:title>
        <ns0:numFmt formatCode="0.0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50112"/>
        <ns0:crosses val="min"/>
        <ns0:crossBetween val="midCat"/>
        <ns0:majorUnit val="0.1"/>
      </ns0:valAx>
      <ns0:spPr>
        <ns3:solidFill>
          <ns3:srgbClr val="FFFFFF"/>
        </ns3:solidFill>
        <ns3:ln w="0">
          <ns3:noFill/>
        </ns3:ln>
      </ns0:spPr>
    </ns0:plotArea>
    <ns0:plotVisOnly val="1"/>
    <ns0:dispBlanksAs val="gap"/>
    <ns0:showDLblsOverMax val="0"/>
    <ns0:extLst>
      <ns0:ext uri="{0b15fc19-7d7d-44ad-8c2d-2c3a37ce22c3}">
        <ns4:chartProps chartId="{d6c0c20e-c271-456b-ad1f-0b98a5e111bb}"/>
      </ns0:ext>
    </ns0:extLst>
  </ns0:chart>
  <ns0:spPr>
    <ns3:solidFill>
      <ns3:srgbClr val="FFFFFF"/>
    </ns3:solidFill>
    <ns3:ln w="0">
      <ns3:noFill/>
    </ns3:ln>
  </ns0:spPr>
  <ns0:txPr>
    <ns3:bodyPr/>
    <ns3:lstStyle/>
    <ns3:p>
      <ns3:pPr>
        <ns3:defRPr lang="zh-CN"/>
      </ns3:pPr>
    </ns3:p>
  </ns0:txPr>
  <ns0:externalData ns5:id="rId1">
    <ns0:autoUpdate val="0"/>
  </ns0:externalData>
</ns0:chartSpace>
</file>

<file path=ppt/charts/chart4.xml><?xml version="1.0" encoding="utf-8"?>
<ns0:chartSpace xmlns:ns0="http://schemas.openxmlformats.org/drawingml/2006/chart" xmlns:ns1="http://schemas.openxmlformats.org/markup-compatibility/2006" xmlns:ns2="http://schemas.microsoft.com/office/drawing/2007/8/2/chart" xmlns:ns3="http://schemas.openxmlformats.org/drawingml/2006/main" xmlns:ns4="https://web.wps.cn/et/2018/main" xmlns:ns5="http://schemas.openxmlformats.org/officeDocument/2006/relationships">
  <ns0:date1904 val="0"/>
  <ns0:lang val="zh-CN"/>
  <ns0:roundedCorners val="0"/>
  <ns1:AlternateContent>
    <ns1:Choice Requires="c14">
      <ns2:style val="102"/>
    </ns1:Choice>
    <ns1:Fallback>
      <ns0:style val="2"/>
    </ns1:Fallback>
  </ns1:AlternateContent>
  <ns0:chart>
    <ns0:autoTitleDeleted val="1"/>
    <ns0:plotArea>
      <ns0:layout/>
      <ns0:scatterChart>
        <ns0:scatterStyle val="lineMarker"/>
        <ns0:varyColors val="0"/>
        <ns0:ser>
          <ns0:idx val="0"/>
          <ns0:order val="0"/>
          <ns0:tx>
            <ns0:strRef>
              <ns0:f>zero x</ns0:f>
              <ns0:strCache>
                <ns0:ptCount val="1"/>
                <ns0:pt idx="0">
                  <ns0:v>zero x</ns0:v>
                </ns0:pt>
              </ns0:strCache>
            </ns0:strRef>
          </ns0:tx>
          <ns0:spPr>
            <ns3:ln w="14288" cap="rnd">
              <ns3:solidFill>
                <ns3:srgbClr val="D7DDE1"/>
              </ns3:solidFill>
              <ns3:prstDash val="solid"/>
              <ns3:round/>
            </ns3:ln>
          </ns0:spPr>
          <ns0:marker>
            <ns0:symbol val="none"/>
          </ns0:marker>
          <ns0:dLbls>
            <ns0:delete val="1"/>
          </ns0:dLbls>
          <ns0:xVal>
            <ns0:numRef>
              <ns0:f>'Chart Data'!$A$2:$A$3</ns0:f>
              <ns0:numCache>
                <ns0:formatCode>General</ns0:formatCode>
                <ns0:ptCount val="2"/>
                <ns0:pt idx="0">
                  <ns0:v>0</ns0:v>
                </ns0:pt>
                <ns0:pt idx="1">
                  <ns0:v>0</ns0:v>
                </ns0:pt>
              </ns0:numCache>
            </ns0:numRef>
          </ns0:xVal>
          <ns0:yVal>
            <ns0:numRef>
              <ns0:f>'Chart Data'!$B$2:$B$3</ns0:f>
              <ns0:numCache>
                <ns0:formatCode>0.00</ns0:formatCode>
                <ns0:ptCount val="2"/>
                <ns0:pt idx="0">
                  <ns0:v>-0.1</ns0:v>
                </ns0:pt>
                <ns0:pt idx="1">
                  <ns0:v>0.2</ns0:v>
                </ns0:pt>
              </ns0:numCache>
            </ns0:numRef>
          </ns0:yVal>
          <ns0:smooth val="0"/>
        </ns0:ser>
        <ns0:ser>
          <ns0:idx val="1"/>
          <ns0:order val="1"/>
          <ns0:tx>
            <ns0:strRef>
              <ns0:f>zero y</ns0:f>
              <ns0:strCache>
                <ns0:ptCount val="1"/>
                <ns0:pt idx="0">
                  <ns0:v>zero y</ns0:v>
                </ns0:pt>
              </ns0:strCache>
            </ns0:strRef>
          </ns0:tx>
          <ns0:spPr>
            <ns3:ln w="14288" cap="rnd">
              <ns3:solidFill>
                <ns3:srgbClr val="D7DDE1"/>
              </ns3:solidFill>
              <ns3:prstDash val="solid"/>
              <ns3:round/>
            </ns3:ln>
          </ns0:spPr>
          <ns0:marker>
            <ns0:symbol val="none"/>
          </ns0:marker>
          <ns0:dLbls>
            <ns0:delete val="1"/>
          </ns0:dLbls>
          <ns0:xVal>
            <ns0:numRef>
              <ns0:f>'Chart Data'!$C$2:$C$3</ns0:f>
              <ns0:numCache>
                <ns0:formatCode>General</ns0:formatCode>
                <ns0:ptCount val="2"/>
                <ns0:pt idx="0">
                  <ns0:v>-0.08</ns0:v>
                </ns0:pt>
                <ns0:pt idx="1">
                  <ns0:v>0.08</ns0:v>
                </ns0:pt>
              </ns0:numCache>
            </ns0:numRef>
          </ns0:xVal>
          <ns0:yVal>
            <ns0:numRef>
              <ns0:f>'Chart Data'!$D$2:$D$3</ns0:f>
              <ns0:numCache>
                <ns0:formatCode>0.00</ns0:formatCode>
                <ns0:ptCount val="2"/>
                <ns0:pt idx="0">
                  <ns0:v>0</ns0:v>
                </ns0:pt>
                <ns0:pt idx="1">
                  <ns0:v>0</ns0:v>
                </ns0:pt>
              </ns0:numCache>
            </ns0:numRef>
          </ns0:yVal>
          <ns0:smooth val="0"/>
        </ns0:ser>
        <ns0:ser>
          <ns0:idx val="2"/>
          <ns0:order val="2"/>
          <ns0:tx>
            <ns0:strRef>
              <ns0:f>Opaque</ns0:f>
              <ns0:strCache>
                <ns0:ptCount val="1"/>
                <ns0:pt idx="0">
                  <ns0:v>Opaque</ns0:v>
                </ns0:pt>
              </ns0:strCache>
            </ns0:strRef>
          </ns0:tx>
          <ns0:spPr>
            <ns3:ln w="0" cap="rnd">
              <ns3:noFill/>
              <ns3:prstDash val="solid"/>
              <ns3:round/>
            </ns3:ln>
          </ns0:spPr>
          <ns0:marker>
            <ns0:symbol val="circle"/>
            <ns0:size val="8"/>
            <ns0:spPr>
              <ns3:solidFill>
                <ns3:srgbClr val="637482"/>
              </ns3:solidFill>
              <ns3:ln w="0">
                <ns3:noFill/>
                <ns3:prstDash val="solid"/>
                <ns3:round/>
              </ns3:ln>
            </ns0:spPr>
          </ns0:marker>
          <ns0:dLbls>
            <ns0:delete val="1"/>
          </ns0:dLbls>
          <ns0:xVal>
            <ns0:numRef>
              <ns0:f>'Chart Data'!$E$2:$E$11</ns0:f>
              <ns0:numCache>
                <ns0:formatCode>General</ns0:formatCode>
                <ns0:ptCount val="10"/>
                <ns0:pt idx="0">
                  <ns0:v>0.0397782027721</ns0:v>
                </ns0:pt>
                <ns0:pt idx="1">
                  <ns0:v>-0.0485621243715</ns0:v>
                </ns0:pt>
                <ns0:pt idx="2">
                  <ns0:v>0.0102851986885</ns0:v>
                </ns0:pt>
                <ns0:pt idx="3">
                  <ns0:v>0.0608382374048</ns0:v>
                </ns0:pt>
                <ns0:pt idx="4">
                  <ns0:v>-0.0134732723236</ns0:v>
                </ns0:pt>
                <ns0:pt idx="5">
                  <ns0:v>0.0136517286301</ns0:v>
                </ns0:pt>
                <ns0:pt idx="6">
                  <ns0:v>-0.00659164786339</ns0:v>
                </ns0:pt>
                <ns0:pt idx="7">
                  <ns0:v>-0.0281997919083</ns0:v>
                </ns0:pt>
                <ns0:pt idx="8">
                  <ns0:v>-0.0292480587959</ns0:v>
                </ns0:pt>
                <ns0:pt idx="9">
                  <ns0:v>-0.00255793333054</ns0:v>
                </ns0:pt>
              </ns0:numCache>
            </ns0:numRef>
          </ns0:xVal>
          <ns0:yVal>
            <ns0:numRef>
              <ns0:f>'Chart Data'!$F$2:$F$11</ns0:f>
              <ns0:numCache>
                <ns0:formatCode>0.00</ns0:formatCode>
                <ns0:ptCount val="10"/>
                <ns0:pt idx="0">
                  <ns0:v>0.07225</ns0:v>
                </ns0:pt>
                <ns0:pt idx="1">
                  <ns0:v>0.0158333333333</ns0:v>
                </ns0:pt>
                <ns0:pt idx="2">
                  <ns0:v>-0.049</ns0:v>
                </ns0:pt>
                <ns0:pt idx="3">
                  <ns0:v>0.021802314659</ns0:v>
                </ns0:pt>
                <ns0:pt idx="4">
                  <ns0:v>-0.021</ns0:v>
                </ns0:pt>
                <ns0:pt idx="5">
                  <ns0:v>0.0656133267562</ns0:v>
                </ns0:pt>
                <ns0:pt idx="6">
                  <ns0:v>0.0606454493602</ns0:v>
                </ns0:pt>
                <ns0:pt idx="7">
                  <ns0:v>0.0681908914919</ns0:v>
                </ns0:pt>
                <ns0:pt idx="8">
                  <ns0:v>0.0101666666667</ns0:v>
                </ns0:pt>
                <ns0:pt idx="9">
                  <ns0:v>0.0421873520811</ns0:v>
                </ns0:pt>
              </ns0:numCache>
            </ns0:numRef>
          </ns0:yVal>
          <ns0:smooth val="0"/>
        </ns0:ser>
        <ns0:ser>
          <ns0:idx val="3"/>
          <ns0:order val="3"/>
          <ns0:tx>
            <ns0:strRef>
              <ns0:f>Aligned</ns0:f>
              <ns0:strCache>
                <ns0:ptCount val="1"/>
                <ns0:pt idx="0">
                  <ns0:v>Aligned</ns0:v>
                </ns0:pt>
              </ns0:strCache>
            </ns0:strRef>
          </ns0:tx>
          <ns0:spPr>
            <ns3:ln w="0" cap="rnd">
              <ns3:noFill/>
              <ns3:prstDash val="solid"/>
              <ns3:round/>
            </ns3:ln>
          </ns0:spPr>
          <ns0:marker>
            <ns0:symbol val="circle"/>
            <ns0:size val="8"/>
            <ns0:spPr>
              <ns3:solidFill>
                <ns3:srgbClr val="277F8A"/>
              </ns3:solidFill>
              <ns3:ln w="0">
                <ns3:noFill/>
                <ns3:prstDash val="solid"/>
                <ns3:round/>
              </ns3:ln>
            </ns0:spPr>
          </ns0:marker>
          <ns0:dLbls>
            <ns0:delete val="1"/>
          </ns0:dLbls>
          <ns0:xVal>
            <ns0:numRef>
              <ns0:f>'Chart Data'!$G$2:$G$11</ns0:f>
              <ns0:numCache>
                <ns0:formatCode>General</ns0:formatCode>
                <ns0:ptCount val="10"/>
                <ns0:pt idx="0">
                  <ns0:v>-0.00934964418411</ns0:v>
                </ns0:pt>
                <ns0:pt idx="1">
                  <ns0:v>-0.0181660652161</ns0:v>
                </ns0:pt>
                <ns0:pt idx="2">
                  <ns0:v>-0.0543777048588</ns0:v>
                </ns0:pt>
                <ns0:pt idx="3">
                  <ns0:v>0.048193141818</ns0:v>
                </ns0:pt>
                <ns0:pt idx="4">
                  <ns0:v>0.0020986199379</ns0:v>
                </ns0:pt>
                <ns0:pt idx="5">
                  <ns0:v>-0.0122962594032</ns0:v>
                </ns0:pt>
                <ns0:pt idx="6">
                  <ns0:v>-0.0288851559162</ns0:v>
                </ns0:pt>
                <ns0:pt idx="7">
                  <ns0:v>0.0143758654594</ns0:v>
                </ns0:pt>
                <ns0:pt idx="8">
                  <ns0:v>-0.0193728208542</ns0:v>
                </ns0:pt>
                <ns0:pt idx="9">
                  <ns0:v>-0.00627610087395</ns0:v>
                </ns0:pt>
              </ns0:numCache>
            </ns0:numRef>
          </ns0:xVal>
          <ns0:yVal>
            <ns0:numRef>
              <ns0:f>'Chart Data'!$H$2:$H$11</ns0:f>
              <ns0:numCache>
                <ns0:formatCode>0.00</ns0:formatCode>
                <ns0:ptCount val="10"/>
                <ns0:pt idx="0">
                  <ns0:v>0.038395020167</ns0:v>
                </ns0:pt>
                <ns0:pt idx="1">
                  <ns0:v>0.0194664906462</ns0:v>
                </ns0:pt>
                <ns0:pt idx="2">
                  <ns0:v>0.00621826535463</ns0:v>
                </ns0:pt>
                <ns0:pt idx="3">
                  <ns0:v>0.00598864985326</ns0:v>
                </ns0:pt>
                <ns0:pt idx="4">
                  <ns0:v>-0.0536934199333</ns0:v>
                </ns0:pt>
                <ns0:pt idx="5">
                  <ns0:v>-0.012480133613</ns0:v>
                </ns0:pt>
                <ns0:pt idx="6">
                  <ns0:v>-0.0119440670212</ns0:v>
                </ns0:pt>
                <ns0:pt idx="7">
                  <ns0:v>0.00759575454394</ns0:v>
                </ns0:pt>
                <ns0:pt idx="8">
                  <ns0:v>0.179603652477</ns0:v>
                </ns0:pt>
                <ns0:pt idx="9">
                  <ns0:v>0.0297406881253</ns0:v>
                </ns0:pt>
              </ns0:numCache>
            </ns0:numRef>
          </ns0:yVal>
          <ns0:smooth val="0"/>
        </ns0:ser>
        <ns0:ser>
          <ns0:idx val="4"/>
          <ns0:order val="4"/>
          <ns0:tx>
            <ns0:strRef>
              <ns0:f>MisIndexed</ns0:f>
              <ns0:strCache>
                <ns0:ptCount val="1"/>
                <ns0:pt idx="0">
                  <ns0:v>MisIndexed</ns0:v>
                </ns0:pt>
              </ns0:strCache>
            </ns0:strRef>
          </ns0:tx>
          <ns0:spPr>
            <ns3:ln w="0" cap="rnd">
              <ns3:noFill/>
              <ns3:prstDash val="solid"/>
              <ns3:round/>
            </ns3:ln>
          </ns0:spPr>
          <ns0:marker>
            <ns0:symbol val="circle"/>
            <ns0:size val="8"/>
            <ns0:spPr>
              <ns3:solidFill>
                <ns3:srgbClr val="BC7850"/>
              </ns3:solidFill>
              <ns3:ln w="0">
                <ns3:noFill/>
                <ns3:prstDash val="solid"/>
                <ns3:round/>
              </ns3:ln>
            </ns0:spPr>
          </ns0:marker>
          <ns0:dLbls>
            <ns0:delete val="1"/>
          </ns0:dLbls>
          <ns0:xVal>
            <ns0:numRef>
              <ns0:f>'Chart Data'!$I$2:$I$11</ns0:f>
              <ns0:numCache>
                <ns0:formatCode>General</ns0:formatCode>
                <ns0:ptCount val="10"/>
                <ns0:pt idx="0">
                  <ns0:v>-0.0340854227543</ns0:v>
                </ns0:pt>
                <ns0:pt idx="1">
                  <ns0:v>-0.0260199010372</ns0:v>
                </ns0:pt>
                <ns0:pt idx="2">
                  <ns0:v>-0.0361331105232</ns0:v>
                </ns0:pt>
                <ns0:pt idx="3">
                  <ns0:v>-0.0210985392332</ns0:v>
                </ns0:pt>
                <ns0:pt idx="4">
                  <ns0:v>-0.0278052985668</ns0:v>
                </ns0:pt>
                <ns0:pt idx="5">
                  <ns0:v>0.0590219497681</ns0:v>
                </ns0:pt>
                <ns0:pt idx="6">
                  <ns0:v>-0.0369533002377</ns0:v>
                </ns0:pt>
                <ns0:pt idx="7">
                  <ns0:v>-0.00816658139229</ns0:v>
                </ns0:pt>
                <ns0:pt idx="8">
                  <ns0:v>-0.0261023640633</ns0:v>
                </ns0:pt>
                <ns0:pt idx="9">
                  <ns0:v>0.0494475662708</ns0:v>
                </ns0:pt>
              </ns0:numCache>
            </ns0:numRef>
          </ns0:xVal>
          <ns0:yVal>
            <ns0:numRef>
              <ns0:f>'Chart Data'!$J$2:$J$11</ns0:f>
              <ns0:numCache>
                <ns0:formatCode>0.00</ns0:formatCode>
                <ns0:ptCount val="10"/>
                <ns0:pt idx="0">
                  <ns0:v>0.0531883131663</ns0:v>
                </ns0:pt>
                <ns0:pt idx="1">
                  <ns0:v>-0.0434981864492</ns0:v>
                </ns0:pt>
                <ns0:pt idx="2">
                  <ns0:v>0.00217287993679</ns0:v>
                </ns0:pt>
                <ns0:pt idx="3">
                  <ns0:v>0.030800871412</ns0:v>
                </ns0:pt>
                <ns0:pt idx="4">
                  <ns0:v>0.0458776772022</ns0:v>
                </ns0:pt>
                <ns0:pt idx="5">
                  <ns0:v>-0.00189680027962</ns0:v>
                </ns0:pt>
                <ns0:pt idx="6">
                  <ns0:v>0.0845896321734</ns0:v>
                </ns0:pt>
                <ns0:pt idx="7">
                  <ns0:v>0.0262333594337</ns0:v>
                </ns0:pt>
                <ns0:pt idx="8">
                  <ns0:v>0.0156679763794</ns0:v>
                </ns0:pt>
                <ns0:pt idx="9">
                  <ns0:v>-0.0257021013995</ns0:v>
                </ns0:pt>
              </ns0:numCache>
            </ns0:numRef>
          </ns0:yVal>
          <ns0:smooth val="0"/>
        </ns0:ser>
        <ns0:dLbls>
          <ns0:showLegendKey val="0"/>
          <ns0:showVal val="0"/>
          <ns0:showCatName val="0"/>
          <ns0:showSerName val="0"/>
          <ns0:showPercent val="0"/>
          <ns0:showBubbleSize val="0"/>
        </ns0:dLbls>
        <ns0:axId val="48650112"/>
        <ns0:axId val="48672768"/>
      </ns0:scatterChart>
      <ns0:valAx>
        <ns0:axId val="48650112"/>
        <ns0:scaling>
          <ns0:orientation val="minMax"/>
          <ns0:max val="0.08"/>
          <ns0:min val="-0.08"/>
        </ns0:scaling>
        <ns0:delete val="0"/>
        <ns0:axPos val="b"/>
        <ns0:title>
          <ns0:tx>
            <ns0:rich>
              <ns3:bodyPr rot="0" spcFirstLastPara="0" vertOverflow="ellipsis" vert="horz" wrap="square" anchor="ctr" anchorCtr="1"/>
              <ns3:lstStyle/>
              <ns3:p>
                <ns3:pPr>
                  <ns3:defRPr lang="zh-CN" sz="1000" b="1" i="0" u="none" strike="noStrike" kern="1200" baseline="0">
                    <ns3:solidFill>
                      <ns3:schemeClr val="tx1"/>
                    </ns3:solidFill>
                    <ns3:latin typeface="+mn-lt"/>
                    <ns3:ea typeface="+mn-ea"/>
                    <ns3:cs typeface="+mn-cs"/>
                  </ns3:defRPr>
                </ns3:pPr>
                <ns3:r>
                  <ns3:rPr sz="1500">
                    <ns3:solidFill>
                      <ns3:srgbClr val="24292D"/>
                    </ns3:solidFill>
                    <ns3:latin typeface="Arial" panose="020B0604020202020204"/>
                    <ns3:ea typeface="Arial" panose="020B0604020202020204"/>
                    <ns3:cs typeface="Arial" panose="020B0604020202020204"/>
                  </ns3:rPr>
                  <ns3:t>Retest gain (optimization - discovery)</ns3:t>
                </ns3:r>
                <ns3:endParaRPr sz="1500">
                  <ns3:solidFill>
                    <ns3:srgbClr val="24292D"/>
                  </ns3:solidFill>
                  <ns3:latin typeface="Arial" panose="020B0604020202020204"/>
                  <ns3:ea typeface="Arial" panose="020B0604020202020204"/>
                  <ns3:cs typeface="Arial" panose="020B0604020202020204"/>
                </ns3:endParaRPr>
              </ns3:p>
            </ns0:rich>
          </ns0:tx>
          <ns0:layout/>
          <ns0:overlay val="0"/>
        </ns0:title>
        <ns0:numFmt formatCode="0.0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72768"/>
        <ns0:crosses val="min"/>
        <ns0:crossBetween val="midCat"/>
        <ns0:majorUnit val="0.04"/>
      </ns0:valAx>
      <ns0:valAx>
        <ns0:axId val="48672768"/>
        <ns0:scaling>
          <ns0:orientation val="minMax"/>
          <ns0:max val="0.2"/>
          <ns0:min val="-0.1"/>
        </ns0:scaling>
        <ns0:delete val="0"/>
        <ns0:axPos val="l"/>
        <ns0:title>
          <ns0:tx>
            <ns0:rich>
              <ns3:bodyPr rot="-5400000" spcFirstLastPara="0" vertOverflow="ellipsis" vert="horz" wrap="square" anchor="ctr" anchorCtr="1"/>
              <ns3:lstStyle/>
              <ns3:p>
                <ns3:pPr>
                  <ns3:defRPr lang="zh-CN" sz="1000" b="1" i="0" u="none" strike="noStrike" kern="1200" baseline="0">
                    <ns3:solidFill>
                      <ns3:schemeClr val="tx1"/>
                    </ns3:solidFill>
                    <ns3:latin typeface="+mn-lt"/>
                    <ns3:ea typeface="+mn-ea"/>
                    <ns3:cs typeface="+mn-cs"/>
                  </ns3:defRPr>
                </ns3:pPr>
                <ns3:r>
                  <ns3:rPr sz="1500">
                    <ns3:solidFill>
                      <ns3:srgbClr val="24292D"/>
                    </ns3:solidFill>
                    <ns3:latin typeface="Arial" panose="020B0604020202020204"/>
                    <ns3:ea typeface="Arial" panose="020B0604020202020204"/>
                    <ns3:cs typeface="Arial" panose="020B0604020202020204"/>
                  </ns3:rPr>
                  <ns3:t>Prediction error change</ns3:t>
                </ns3:r>
                <ns3:endParaRPr sz="1500">
                  <ns3:solidFill>
                    <ns3:srgbClr val="24292D"/>
                  </ns3:solidFill>
                  <ns3:latin typeface="Arial" panose="020B0604020202020204"/>
                  <ns3:ea typeface="Arial" panose="020B0604020202020204"/>
                  <ns3:cs typeface="Arial" panose="020B0604020202020204"/>
                </ns3:endParaRPr>
              </ns3:p>
            </ns0:rich>
          </ns0:tx>
          <ns0:layout/>
          <ns0:overlay val="0"/>
        </ns0:title>
        <ns0:numFmt formatCode="0.0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50112"/>
        <ns0:crosses val="min"/>
        <ns0:crossBetween val="midCat"/>
        <ns0:majorUnit val="0.1"/>
      </ns0:valAx>
      <ns0:spPr>
        <ns3:solidFill>
          <ns3:srgbClr val="FFFFFF"/>
        </ns3:solidFill>
        <ns3:ln w="0">
          <ns3:noFill/>
        </ns3:ln>
      </ns0:spPr>
    </ns0:plotArea>
    <ns0:plotVisOnly val="1"/>
    <ns0:dispBlanksAs val="gap"/>
    <ns0:showDLblsOverMax val="0"/>
    <ns0:extLst>
      <ns0:ext uri="{0b15fc19-7d7d-44ad-8c2d-2c3a37ce22c3}">
        <ns4:chartProps chartId="{8f73b3ed-9040-460a-95b9-2e280eb8fffd}"/>
      </ns0:ext>
    </ns0:extLst>
  </ns0:chart>
  <ns0:spPr>
    <ns3:solidFill>
      <ns3:srgbClr val="FFFFFF"/>
    </ns3:solidFill>
    <ns3:ln w="0">
      <ns3:noFill/>
    </ns3:ln>
  </ns0:spPr>
  <ns0:txPr>
    <ns3:bodyPr/>
    <ns3:lstStyle/>
    <ns3:p>
      <ns3:pPr>
        <ns3:defRPr lang="zh-CN"/>
      </ns3:pPr>
    </ns3:p>
  </ns0:txPr>
  <ns0:externalData ns5:id="rId1">
    <ns0:autoUpdate val="0"/>
  </ns0:externalData>
</ns0:chartSpace>
</file>

<file path=ppt/charts/chart5.xml><?xml version="1.0" encoding="utf-8"?>
<ns0:chartSpace xmlns:ns0="http://schemas.openxmlformats.org/drawingml/2006/chart" xmlns:ns1="http://schemas.openxmlformats.org/markup-compatibility/2006" xmlns:ns2="http://schemas.microsoft.com/office/drawing/2007/8/2/chart" xmlns:ns3="http://schemas.openxmlformats.org/drawingml/2006/main" xmlns:ns4="http://schemas.microsoft.com/office/drawing/2012/chart" xmlns:ns5="https://web.wps.cn/et/2018/main" xmlns:ns6="http://schemas.openxmlformats.org/officeDocument/2006/relationships">
  <ns0:date1904 val="0"/>
  <ns0:lang val="zh-CN"/>
  <ns0:roundedCorners val="0"/>
  <ns1:AlternateContent>
    <ns1:Choice Requires="c14">
      <ns2:style val="102"/>
    </ns1:Choice>
    <ns1:Fallback>
      <ns0:style val="2"/>
    </ns1:Fallback>
  </ns1:AlternateContent>
  <ns0:chart>
    <ns0:autoTitleDeleted val="1"/>
    <ns0:plotArea>
      <ns0:layout>
        <ns0:manualLayout>
          <ns0:layoutTarget val="inner"/>
          <ns0:xMode val="factor"/>
          <ns0:yMode val="factor"/>
          <ns0:wMode val="factor"/>
          <ns0:hMode val="factor"/>
          <ns0:x val="0.07"/>
          <ns0:y val="0.025"/>
          <ns0:w val="0.9"/>
          <ns0:h val="0.84"/>
        </ns0:manualLayout>
      </ns0:layout>
      <ns0:barChart>
        <ns0:barDir val="col"/>
        <ns0:grouping val="clustered"/>
        <ns0:varyColors val="0"/>
        <ns0:ser>
          <ns0:idx val="0"/>
          <ns0:order val="0"/>
          <ns0:tx>
            <ns0:strRef>
              <ns0:f>EQ Withheld reference</ns0:f>
              <ns0:strCache>
                <ns0:ptCount val="1"/>
                <ns0:pt idx="0">
                  <ns0:v>EQ Withheld reference</ns0:v>
                </ns0:pt>
              </ns0:strCache>
            </ns0:strRef>
          </ns0:tx>
          <ns0:spPr>
            <ns3:solidFill>
              <ns3:srgbClr val="CBD5DC"/>
            </ns3:solidFill>
            <ns3:ln w="0">
              <ns3:noFill/>
            </ns3:ln>
          </ns0:spPr>
          <ns0:invertIfNegative val="0"/>
          <ns0:dLbls>
            <ns0:numFmt formatCode="0.0" sourceLinked="0"/>
            <ns0:spPr>
              <ns3:noFill/>
              <ns3:ln>
                <ns3:noFill/>
              </ns3:ln>
              <ns3:effectLst/>
            </ns0:spPr>
            <ns0:txPr>
              <ns3:bodyPr rot="0" spcFirstLastPara="0" vertOverflow="ellipsis" vert="horz" wrap="square" lIns="38100" tIns="19050" rIns="38100" bIns="19050" anchor="ctr" anchorCtr="1"/>
              <ns3:lstStyle/>
              <ns3:p>
                <ns3:pPr>
                  <ns3:defRPr lang="zh-CN" sz="1350" b="0" i="0" u="none" strike="noStrike" kern="1200" baseline="0">
                    <ns3:solidFill>
                      <ns3:schemeClr val="tx1"/>
                    </ns3:solidFill>
                    <ns3:latin typeface="Arial"/>
                    <ns3:ea typeface="+mn-ea"/>
                    <ns3:cs typeface="+mn-cs"/>
                  </ns3:defRPr>
                </ns3:pPr>
              </ns3:p>
            </ns0:txPr>
            <ns0:dLblPos val="outEnd"/>
            <ns0:showLegendKey val="0"/>
            <ns0:showVal val="1"/>
            <ns0:showCatName val="0"/>
            <ns0:showSerName val="0"/>
            <ns0:showPercent val="0"/>
            <ns0:showBubbleSize val="0"/>
            <ns0:showLeaderLines val="0"/>
            <ns0:extLst>
              <ns0:ext uri="{CE6537A1-D6FC-4f65-9D91-7224C49458BB}">
                <ns4:layout/>
                <ns4:showLeaderLines val="0"/>
                <ns4:leaderLines/>
              </ns0:ext>
            </ns0:extLst>
          </ns0:dLbls>
          <ns0:cat>
            <ns0:strRef>
              <ns0:f>'Chart Data'!$A$2:$A$6</ns0:f>
              <ns0:strCache>
                <ns0:ptCount val="5"/>
                <ns0:pt idx="0">
                  <ns0:v>World 1</ns0:v>
                </ns0:pt>
                <ns0:pt idx="1">
                  <ns0:v>World 2</ns0:v>
                </ns0:pt>
                <ns0:pt idx="2">
                  <ns0:v>World 3</ns0:v>
                </ns0:pt>
                <ns0:pt idx="3">
                  <ns0:v>World 4</ns0:v>
                </ns0:pt>
                <ns0:pt idx="4">
                  <ns0:v>World 5</ns0:v>
                </ns0:pt>
              </ns0:strCache>
            </ns0:strRef>
          </ns0:cat>
          <ns0:val>
            <ns0:numRef>
              <ns0:f>'Chart Data'!$B$2:$B$6</ns0:f>
              <ns0:numCache>
                <ns0:formatCode>0.0</ns0:formatCode>
                <ns0:ptCount val="5"/>
                <ns0:pt idx="0">
                  <ns0:v>71.6033911705</ns0:v>
                </ns0:pt>
                <ns0:pt idx="1">
                  <ns0:v>65.4631316662</ns0:v>
                </ns0:pt>
                <ns0:pt idx="2">
                  <ns0:v>57.9679787159</ns0:v>
                </ns0:pt>
                <ns0:pt idx="3">
                  <ns0:v>51.7307078838</ns0:v>
                </ns0:pt>
                <ns0:pt idx="4">
                  <ns0:v>44.7965872288</ns0:v>
                </ns0:pt>
              </ns0:numCache>
            </ns0:numRef>
          </ns0:val>
        </ns0:ser>
        <ns0:ser>
          <ns0:idx val="1"/>
          <ns0:order val="1"/>
          <ns0:tx>
            <ns0:strRef>
              <ns0:f>EQ Opaque</ns0:f>
              <ns0:strCache>
                <ns0:ptCount val="1"/>
                <ns0:pt idx="0">
                  <ns0:v>EQ Opaque</ns0:v>
                </ns0:pt>
              </ns0:strCache>
            </ns0:strRef>
          </ns0:tx>
          <ns0:spPr>
            <ns3:solidFill>
              <ns3:srgbClr val="637482"/>
            </ns3:solidFill>
            <ns3:ln w="0">
              <ns3:noFill/>
            </ns3:ln>
          </ns0:spPr>
          <ns0:invertIfNegative val="0"/>
          <ns0:dLbls>
            <ns0:numFmt formatCode="0.0" sourceLinked="0"/>
            <ns0:spPr>
              <ns3:noFill/>
              <ns3:ln>
                <ns3:noFill/>
              </ns3:ln>
              <ns3:effectLst/>
            </ns0:spPr>
            <ns0:txPr>
              <ns3:bodyPr rot="0" spcFirstLastPara="0" vertOverflow="ellipsis" vert="horz" wrap="square" lIns="38100" tIns="19050" rIns="38100" bIns="19050" anchor="ctr" anchorCtr="1"/>
              <ns3:lstStyle/>
              <ns3:p>
                <ns3:pPr>
                  <ns3:defRPr lang="zh-CN" sz="1350" b="0" i="0" u="none" strike="noStrike" kern="1200" baseline="0">
                    <ns3:solidFill>
                      <ns3:schemeClr val="tx1"/>
                    </ns3:solidFill>
                    <ns3:latin typeface="Arial"/>
                    <ns3:ea typeface="+mn-ea"/>
                    <ns3:cs typeface="+mn-cs"/>
                  </ns3:defRPr>
                </ns3:pPr>
              </ns3:p>
            </ns0:txPr>
            <ns0:dLblPos val="outEnd"/>
            <ns0:showLegendKey val="0"/>
            <ns0:showVal val="1"/>
            <ns0:showCatName val="0"/>
            <ns0:showSerName val="0"/>
            <ns0:showPercent val="0"/>
            <ns0:showBubbleSize val="0"/>
            <ns0:showLeaderLines val="0"/>
            <ns0:extLst>
              <ns0:ext uri="{CE6537A1-D6FC-4f65-9D91-7224C49458BB}">
                <ns4:layout/>
                <ns4:showLeaderLines val="0"/>
                <ns4:leaderLines/>
              </ns0:ext>
            </ns0:extLst>
          </ns0:dLbls>
          <ns0:cat>
            <ns0:strRef>
              <ns0:f>'Chart Data'!$C$2:$C$6</ns0:f>
              <ns0:strCache>
                <ns0:ptCount val="5"/>
                <ns0:pt idx="0">
                  <ns0:v>World 1</ns0:v>
                </ns0:pt>
                <ns0:pt idx="1">
                  <ns0:v>World 2</ns0:v>
                </ns0:pt>
                <ns0:pt idx="2">
                  <ns0:v>World 3</ns0:v>
                </ns0:pt>
                <ns0:pt idx="3">
                  <ns0:v>World 4</ns0:v>
                </ns0:pt>
                <ns0:pt idx="4">
                  <ns0:v>World 5</ns0:v>
                </ns0:pt>
              </ns0:strCache>
            </ns0:strRef>
          </ns0:cat>
          <ns0:val>
            <ns0:numRef>
              <ns0:f>'Chart Data'!$D$2:$D$6</ns0:f>
              <ns0:numCache>
                <ns0:formatCode>0.0</ns0:formatCode>
                <ns0:ptCount val="5"/>
                <ns0:pt idx="0">
                  <ns0:v>69.9</ns0:v>
                </ns0:pt>
                <ns0:pt idx="1">
                  <ns0:v>62.9</ns0:v>
                </ns0:pt>
                <ns0:pt idx="2">
                  <ns0:v>56.3</ns0:v>
                </ns0:pt>
                <ns0:pt idx="3">
                  <ns0:v>52</ns0:v>
                </ns0:pt>
                <ns0:pt idx="4">
                  <ns0:v>41.3</ns0:v>
                </ns0:pt>
              </ns0:numCache>
            </ns0:numRef>
          </ns0:val>
        </ns0:ser>
        <ns0:ser>
          <ns0:idx val="2"/>
          <ns0:order val="2"/>
          <ns0:tx>
            <ns0:strRef>
              <ns0:f>EQ Aligned</ns0:f>
              <ns0:strCache>
                <ns0:ptCount val="1"/>
                <ns0:pt idx="0">
                  <ns0:v>EQ Aligned</ns0:v>
                </ns0:pt>
              </ns0:strCache>
            </ns0:strRef>
          </ns0:tx>
          <ns0:spPr>
            <ns3:solidFill>
              <ns3:srgbClr val="277F8A"/>
            </ns3:solidFill>
            <ns3:ln w="0">
              <ns3:noFill/>
            </ns3:ln>
          </ns0:spPr>
          <ns0:invertIfNegative val="0"/>
          <ns0:dLbls>
            <ns0:numFmt formatCode="0.0" sourceLinked="0"/>
            <ns0:spPr>
              <ns3:noFill/>
              <ns3:ln>
                <ns3:noFill/>
              </ns3:ln>
              <ns3:effectLst/>
            </ns0:spPr>
            <ns0:txPr>
              <ns3:bodyPr rot="0" spcFirstLastPara="0" vertOverflow="ellipsis" vert="horz" wrap="square" lIns="38100" tIns="19050" rIns="38100" bIns="19050" anchor="ctr" anchorCtr="1"/>
              <ns3:lstStyle/>
              <ns3:p>
                <ns3:pPr>
                  <ns3:defRPr lang="zh-CN" sz="1350" b="0" i="0" u="none" strike="noStrike" kern="1200" baseline="0">
                    <ns3:solidFill>
                      <ns3:schemeClr val="tx1"/>
                    </ns3:solidFill>
                    <ns3:latin typeface="Arial"/>
                    <ns3:ea typeface="+mn-ea"/>
                    <ns3:cs typeface="+mn-cs"/>
                  </ns3:defRPr>
                </ns3:pPr>
              </ns3:p>
            </ns0:txPr>
            <ns0:dLblPos val="outEnd"/>
            <ns0:showLegendKey val="0"/>
            <ns0:showVal val="1"/>
            <ns0:showCatName val="0"/>
            <ns0:showSerName val="0"/>
            <ns0:showPercent val="0"/>
            <ns0:showBubbleSize val="0"/>
            <ns0:showLeaderLines val="0"/>
            <ns0:extLst>
              <ns0:ext uri="{CE6537A1-D6FC-4f65-9D91-7224C49458BB}">
                <ns4:layout/>
                <ns4:showLeaderLines val="0"/>
                <ns4:leaderLines/>
              </ns0:ext>
            </ns0:extLst>
          </ns0:dLbls>
          <ns0:cat>
            <ns0:strRef>
              <ns0:f>'Chart Data'!$E$2:$E$6</ns0:f>
              <ns0:strCache>
                <ns0:ptCount val="5"/>
                <ns0:pt idx="0">
                  <ns0:v>World 1</ns0:v>
                </ns0:pt>
                <ns0:pt idx="1">
                  <ns0:v>World 2</ns0:v>
                </ns0:pt>
                <ns0:pt idx="2">
                  <ns0:v>World 3</ns0:v>
                </ns0:pt>
                <ns0:pt idx="3">
                  <ns0:v>World 4</ns0:v>
                </ns0:pt>
                <ns0:pt idx="4">
                  <ns0:v>World 5</ns0:v>
                </ns0:pt>
              </ns0:strCache>
            </ns0:strRef>
          </ns0:cat>
          <ns0:val>
            <ns0:numRef>
              <ns0:f>'Chart Data'!$F$2:$F$6</ns0:f>
              <ns0:numCache>
                <ns0:formatCode>0.0</ns0:formatCode>
                <ns0:ptCount val="5"/>
                <ns0:pt idx="0">
                  <ns0:v>10.4</ns0:v>
                </ns0:pt>
                <ns0:pt idx="1">
                  <ns0:v>8.04</ns0:v>
                </ns0:pt>
                <ns0:pt idx="2">
                  <ns0:v>11</ns0:v>
                </ns0:pt>
                <ns0:pt idx="3">
                  <ns0:v>7.24</ns0:v>
                </ns0:pt>
                <ns0:pt idx="4">
                  <ns0:v>7.9</ns0:v>
                </ns0:pt>
              </ns0:numCache>
            </ns0:numRef>
          </ns0:val>
        </ns0:ser>
        <ns0:ser>
          <ns0:idx val="3"/>
          <ns0:order val="3"/>
          <ns0:tx>
            <ns0:strRef>
              <ns0:f>EQ MisIndexed</ns0:f>
              <ns0:strCache>
                <ns0:ptCount val="1"/>
                <ns0:pt idx="0">
                  <ns0:v>EQ MisIndexed</ns0:v>
                </ns0:pt>
              </ns0:strCache>
            </ns0:strRef>
          </ns0:tx>
          <ns0:spPr>
            <ns3:solidFill>
              <ns3:srgbClr val="BC7850"/>
            </ns3:solidFill>
            <ns3:ln w="0">
              <ns3:noFill/>
            </ns3:ln>
          </ns0:spPr>
          <ns0:invertIfNegative val="0"/>
          <ns0:dLbls>
            <ns0:numFmt formatCode="0.0" sourceLinked="0"/>
            <ns0:spPr>
              <ns3:noFill/>
              <ns3:ln>
                <ns3:noFill/>
              </ns3:ln>
              <ns3:effectLst/>
            </ns0:spPr>
            <ns0:txPr>
              <ns3:bodyPr rot="0" spcFirstLastPara="0" vertOverflow="ellipsis" vert="horz" wrap="square" lIns="38100" tIns="19050" rIns="38100" bIns="19050" anchor="ctr" anchorCtr="1"/>
              <ns3:lstStyle/>
              <ns3:p>
                <ns3:pPr>
                  <ns3:defRPr lang="zh-CN" sz="1350" b="0" i="0" u="none" strike="noStrike" kern="1200" baseline="0">
                    <ns3:solidFill>
                      <ns3:schemeClr val="tx1"/>
                    </ns3:solidFill>
                    <ns3:latin typeface="Arial"/>
                    <ns3:ea typeface="+mn-ea"/>
                    <ns3:cs typeface="+mn-cs"/>
                  </ns3:defRPr>
                </ns3:pPr>
              </ns3:p>
            </ns0:txPr>
            <ns0:dLblPos val="outEnd"/>
            <ns0:showLegendKey val="0"/>
            <ns0:showVal val="1"/>
            <ns0:showCatName val="0"/>
            <ns0:showSerName val="0"/>
            <ns0:showPercent val="0"/>
            <ns0:showBubbleSize val="0"/>
            <ns0:showLeaderLines val="0"/>
            <ns0:extLst>
              <ns0:ext uri="{CE6537A1-D6FC-4f65-9D91-7224C49458BB}">
                <ns4:layout/>
                <ns4:showLeaderLines val="0"/>
                <ns4:leaderLines/>
              </ns0:ext>
            </ns0:extLst>
          </ns0:dLbls>
          <ns0:cat>
            <ns0:strRef>
              <ns0:f>'Chart Data'!$G$2:$G$6</ns0:f>
              <ns0:strCache>
                <ns0:ptCount val="5"/>
                <ns0:pt idx="0">
                  <ns0:v>World 1</ns0:v>
                </ns0:pt>
                <ns0:pt idx="1">
                  <ns0:v>World 2</ns0:v>
                </ns0:pt>
                <ns0:pt idx="2">
                  <ns0:v>World 3</ns0:v>
                </ns0:pt>
                <ns0:pt idx="3">
                  <ns0:v>World 4</ns0:v>
                </ns0:pt>
                <ns0:pt idx="4">
                  <ns0:v>World 5</ns0:v>
                </ns0:pt>
              </ns0:strCache>
            </ns0:strRef>
          </ns0:cat>
          <ns0:val>
            <ns0:numRef>
              <ns0:f>'Chart Data'!$H$2:$H$6</ns0:f>
              <ns0:numCache>
                <ns0:formatCode>0.0</ns0:formatCode>
                <ns0:ptCount val="5"/>
                <ns0:pt idx="0">
                  <ns0:v>10.9245</ns0:v>
                </ns0:pt>
                <ns0:pt idx="1">
                  <ns0:v>8.06</ns0:v>
                </ns0:pt>
                <ns0:pt idx="2">
                  <ns0:v>46</ns0:v>
                </ns0:pt>
                <ns0:pt idx="3">
                  <ns0:v>9.62</ns0:v>
                </ns0:pt>
                <ns0:pt idx="4">
                  <ns0:v>6.81</ns0:v>
                </ns0:pt>
              </ns0:numCache>
            </ns0:numRef>
          </ns0:val>
        </ns0:ser>
        <ns0:dLbls>
          <ns0:showLegendKey val="0"/>
          <ns0:showVal val="1"/>
          <ns0:showCatName val="0"/>
          <ns0:showSerName val="0"/>
          <ns0:showPercent val="0"/>
          <ns0:showBubbleSize val="0"/>
        </ns0:dLbls>
        <ns0:gapWidth val="85"/>
        <ns0:axId val="48650112"/>
        <ns0:axId val="48672768"/>
      </ns0:barChart>
      <ns0:catAx>
        <ns0:axId val="48650112"/>
        <ns0:scaling>
          <ns0:orientation val="minMax"/>
        </ns0:scaling>
        <ns0:delete val="0"/>
        <ns0:axPos val="b"/>
        <ns0:numFmt formatCode="General" sourceLinked="1"/>
        <ns0:majorTickMark val="none"/>
        <ns0:minorTickMark val="none"/>
        <ns0:tickLblPos val="nextTo"/>
        <ns0:spPr>
          <ns3:ln w="9525">
            <ns3:solidFill>
              <ns3:srgbClr val="24292D"/>
            </ns3:solidFill>
            <ns3:prstDash val="solid"/>
            <ns3:round/>
          </ns3:ln>
        </ns0:spPr>
        <ns0:txPr>
          <ns3:bodyPr rot="-60000000" spcFirstLastPara="0" vertOverflow="ellipsis" vert="horz" wrap="square" anchor="ctr" anchorCtr="1"/>
          <ns3:lstStyle/>
          <ns3:p>
            <ns3:pPr>
              <ns3:defRPr lang="zh-CN" sz="1575"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72768"/>
        <ns0:crosses val="autoZero"/>
        <ns0:auto val="1"/>
        <ns0:lblAlgn val="ctr"/>
        <ns0:lblOffset val="100"/>
        <ns0:noMultiLvlLbl val="0"/>
      </ns0:catAx>
      <ns0:valAx>
        <ns0:axId val="48672768"/>
        <ns0:scaling>
          <ns0:orientation val="minMax"/>
          <ns0:max val="82"/>
          <ns0:min val="0"/>
        </ns0:scaling>
        <ns0:delete val="0"/>
        <ns0:axPos val="l"/>
        <ns0:majorGridlines>
          <ns0:spPr>
            <ns3:ln w="6668">
              <ns3:solidFill>
                <ns3:srgbClr val="E3E8EB"/>
              </ns3:solidFill>
              <ns3:prstDash val="solid"/>
              <ns3:round/>
            </ns3:ln>
          </ns0:spPr>
        </ns0:majorGridlines>
        <ns0:title>
          <ns0:tx>
            <ns0:rich>
              <ns3:bodyPr rot="-5400000" spcFirstLastPara="0" vertOverflow="ellipsis" vert="horz" wrap="square" anchor="ctr" anchorCtr="1"/>
              <ns3:lstStyle/>
              <ns3:p>
                <ns3:pPr>
                  <ns3:defRPr lang="zh-CN" sz="1000" b="1" i="0" u="none" strike="noStrike" kern="1200" baseline="0">
                    <ns3:solidFill>
                      <ns3:schemeClr val="tx1"/>
                    </ns3:solidFill>
                    <ns3:latin typeface="+mn-lt"/>
                    <ns3:ea typeface="+mn-ea"/>
                    <ns3:cs typeface="+mn-cs"/>
                  </ns3:defRPr>
                </ns3:pPr>
                <ns3:r>
                  <ns3:rPr sz="1500">
                    <ns3:solidFill>
                      <ns3:srgbClr val="24292D"/>
                    </ns3:solidFill>
                    <ns3:latin typeface="Arial" panose="020B0604020202020204"/>
                    <ns3:ea typeface="Arial" panose="020B0604020202020204"/>
                    <ns3:cs typeface="Arial" panose="020B0604020202020204"/>
                  </ns3:rPr>
                  <ns3:t>Dissociation (%)</ns3:t>
                </ns3:r>
                <ns3:endParaRPr sz="1500">
                  <ns3:solidFill>
                    <ns3:srgbClr val="24292D"/>
                  </ns3:solidFill>
                  <ns3:latin typeface="Arial" panose="020B0604020202020204"/>
                  <ns3:ea typeface="Arial" panose="020B0604020202020204"/>
                  <ns3:cs typeface="Arial" panose="020B0604020202020204"/>
                </ns3:endParaRPr>
              </ns3:p>
            </ns0:rich>
          </ns0:tx>
          <ns0:layout/>
          <ns0:overlay val="0"/>
        </ns0:title>
        <ns0:numFmt formatCode="0" sourceLinked="0"/>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50112"/>
        <ns0:crosses val="min"/>
        <ns0:crossBetween val="between"/>
        <ns0:majorUnit val="20"/>
      </ns0:valAx>
      <ns0:spPr>
        <ns3:noFill/>
        <ns3:ln w="0">
          <ns3:noFill/>
        </ns3:ln>
      </ns0:spPr>
    </ns0:plotArea>
    <ns0:plotVisOnly val="1"/>
    <ns0:dispBlanksAs val="gap"/>
    <ns0:showDLblsOverMax val="0"/>
    <ns0:extLst>
      <ns0:ext uri="{0b15fc19-7d7d-44ad-8c2d-2c3a37ce22c3}">
        <ns5:chartProps chartId="{3a28a89b-e77c-4b41-8bda-2510be1737d4}"/>
      </ns0:ext>
    </ns0:extLst>
  </ns0:chart>
  <ns0:spPr>
    <ns3:noFill/>
    <ns3:ln w="0">
      <ns3:noFill/>
    </ns3:ln>
  </ns0:spPr>
  <ns0:txPr>
    <ns3:bodyPr/>
    <ns3:lstStyle/>
    <ns3:p>
      <ns3:pPr>
        <ns3:defRPr lang="zh-CN"/>
      </ns3:pPr>
    </ns3:p>
  </ns0:txPr>
  <ns0:externalData ns6:id="rId1">
    <ns0:autoUpdate val="0"/>
  </ns0:externalData>
</ns0:chartSpace>
</file>

<file path=ppt/charts/chart6.xml><?xml version="1.0" encoding="utf-8"?>
<ns0:chartSpace xmlns:ns0="http://schemas.openxmlformats.org/drawingml/2006/chart" xmlns:ns1="http://schemas.openxmlformats.org/markup-compatibility/2006" xmlns:ns2="http://schemas.microsoft.com/office/drawing/2007/8/2/chart" xmlns:ns3="http://schemas.openxmlformats.org/drawingml/2006/main" xmlns:ns4="https://web.wps.cn/et/2018/main" xmlns:ns5="http://schemas.openxmlformats.org/officeDocument/2006/relationships">
  <ns0:date1904 val="0"/>
  <ns0:lang val="zh-CN"/>
  <ns0:roundedCorners val="0"/>
  <ns1:AlternateContent>
    <ns1:Choice Requires="c14">
      <ns2:style val="102"/>
    </ns1:Choice>
    <ns1:Fallback>
      <ns0:style val="2"/>
    </ns1:Fallback>
  </ns1:AlternateContent>
  <ns0:chart>
    <ns0:autoTitleDeleted val="1"/>
    <ns0:plotArea>
      <ns0:layout>
        <ns0:manualLayout>
          <ns0:layoutTarget val="inner"/>
          <ns0:xMode val="factor"/>
          <ns0:yMode val="factor"/>
          <ns0:wMode val="factor"/>
          <ns0:hMode val="factor"/>
          <ns0:x val="0.075"/>
          <ns0:y val="0.035"/>
          <ns0:w val="0.9"/>
          <ns0:h val="0.85"/>
        </ns0:manualLayout>
      </ns0:layout>
      <ns0:scatterChart>
        <ns0:scatterStyle val="lineMarker"/>
        <ns0:varyColors val="0"/>
        <ns0:ser>
          <ns0:idx val="0"/>
          <ns0:order val="0"/>
          <ns0:tx>
            <ns0:strRef>
              <ns0:f>Purity observations 0</ns0:f>
              <ns0:strCache>
                <ns0:ptCount val="1"/>
                <ns0:pt idx="0">
                  <ns0:v>Purity observations 0</ns0:v>
                </ns0:pt>
              </ns0:strCache>
            </ns0:strRef>
          </ns0:tx>
          <ns0:spPr>
            <ns3:ln w="0" cap="rnd">
              <ns3:noFill/>
              <ns3:prstDash val="solid"/>
              <ns3:round/>
            </ns3:ln>
          </ns0:spPr>
          <ns0:marker>
            <ns0:symbol val="circle"/>
            <ns0:size val="8"/>
            <ns0:spPr>
              <ns3:solidFill>
                <ns3:srgbClr val="6A737B"/>
              </ns3:solidFill>
              <ns3:ln w="0">
                <ns3:noFill/>
                <ns3:prstDash val="solid"/>
                <ns3:round/>
              </ns3:ln>
            </ns0:spPr>
          </ns0:marker>
          <ns0:dLbls>
            <ns0:delete val="1"/>
          </ns0:dLbls>
          <ns0:xVal>
            <ns0:numRef>
              <ns0:f>'Chart Data'!$A$2:$A$31</ns0:f>
              <ns0:numCache>
                <ns0:formatCode>General</ns0:formatCode>
                <ns0:ptCount val="30"/>
                <ns0:pt idx="0">
                  <ns0:v>-0.11</ns0:v>
                </ns0:pt>
                <ns0:pt idx="1">
                  <ns0:v>-0.102413793103</ns0:v>
                </ns0:pt>
                <ns0:pt idx="2">
                  <ns0:v>-0.0948275862069</ns0:v>
                </ns0:pt>
                <ns0:pt idx="3">
                  <ns0:v>-0.0872413793103</ns0:v>
                </ns0:pt>
                <ns0:pt idx="4">
                  <ns0:v>-0.0796551724138</ns0:v>
                </ns0:pt>
                <ns0:pt idx="5">
                  <ns0:v>-0.0720689655172</ns0:v>
                </ns0:pt>
                <ns0:pt idx="6">
                  <ns0:v>-0.0644827586207</ns0:v>
                </ns0:pt>
                <ns0:pt idx="7">
                  <ns0:v>-0.0568965517241</ns0:v>
                </ns0:pt>
                <ns0:pt idx="8">
                  <ns0:v>-0.0493103448276</ns0:v>
                </ns0:pt>
                <ns0:pt idx="9">
                  <ns0:v>-0.041724137931</ns0:v>
                </ns0:pt>
                <ns0:pt idx="10">
                  <ns0:v>-0.0341379310345</ns0:v>
                </ns0:pt>
                <ns0:pt idx="11">
                  <ns0:v>-0.0265517241379</ns0:v>
                </ns0:pt>
                <ns0:pt idx="12">
                  <ns0:v>-0.0189655172414</ns0:v>
                </ns0:pt>
                <ns0:pt idx="13">
                  <ns0:v>-0.0113793103448</ns0:v>
                </ns0:pt>
                <ns0:pt idx="14">
                  <ns0:v>-0.00379310344828</ns0:v>
                </ns0:pt>
                <ns0:pt idx="15">
                  <ns0:v>0.00379310344828</ns0:v>
                </ns0:pt>
                <ns0:pt idx="16">
                  <ns0:v>0.0113793103448</ns0:v>
                </ns0:pt>
                <ns0:pt idx="17">
                  <ns0:v>0.0189655172414</ns0:v>
                </ns0:pt>
                <ns0:pt idx="18">
                  <ns0:v>0.0265517241379</ns0:v>
                </ns0:pt>
                <ns0:pt idx="19">
                  <ns0:v>0.0341379310345</ns0:v>
                </ns0:pt>
                <ns0:pt idx="20">
                  <ns0:v>0.041724137931</ns0:v>
                </ns0:pt>
                <ns0:pt idx="21">
                  <ns0:v>0.0493103448276</ns0:v>
                </ns0:pt>
                <ns0:pt idx="22">
                  <ns0:v>0.0568965517241</ns0:v>
                </ns0:pt>
                <ns0:pt idx="23">
                  <ns0:v>0.0644827586207</ns0:v>
                </ns0:pt>
                <ns0:pt idx="24">
                  <ns0:v>0.0720689655172</ns0:v>
                </ns0:pt>
                <ns0:pt idx="25">
                  <ns0:v>0.0796551724138</ns0:v>
                </ns0:pt>
                <ns0:pt idx="26">
                  <ns0:v>0.0872413793103</ns0:v>
                </ns0:pt>
                <ns0:pt idx="27">
                  <ns0:v>0.0948275862069</ns0:v>
                </ns0:pt>
                <ns0:pt idx="28">
                  <ns0:v>0.102413793103</ns0:v>
                </ns0:pt>
                <ns0:pt idx="29">
                  <ns0:v>0.11</ns0:v>
                </ns0:pt>
              </ns0:numCache>
            </ns0:numRef>
          </ns0:xVal>
          <ns0:yVal>
            <ns0:numRef>
              <ns0:f>'Chart Data'!$B$2:$B$31</ns0:f>
              <ns0:numCache>
                <ns0:formatCode>0</ns0:formatCode>
                <ns0:ptCount val="30"/>
                <ns0:pt idx="0">
                  <ns0:v>98.6213003596</ns0:v>
                </ns0:pt>
                <ns0:pt idx="1">
                  <ns0:v>99.1278499365</ns0:v>
                </ns0:pt>
                <ns0:pt idx="2">
                  <ns0:v>98.6858154337</ns0:v>
                </ns0:pt>
                <ns0:pt idx="3">
                  <ns0:v>98.3303427696</ns0:v>
                </ns0:pt>
                <ns0:pt idx="4">
                  <ns0:v>98.6721158028</ns0:v>
                </ns0:pt>
                <ns0:pt idx="5">
                  <ns0:v>98.7310101589</ns0:v>
                </ns0:pt>
                <ns0:pt idx="6">
                  <ns0:v>98.7851418555</ns0:v>
                </ns0:pt>
                <ns0:pt idx="7">
                  <ns0:v>98.5718617837</ns0:v>
                </ns0:pt>
                <ns0:pt idx="8">
                  <ns0:v>98.3278396229</ns0:v>
                </ns0:pt>
                <ns0:pt idx="9">
                  <ns0:v>98.4577034911</ns0:v>
                </ns0:pt>
                <ns0:pt idx="10">
                  <ns0:v>98.4670907259</ns0:v>
                </ns0:pt>
                <ns0:pt idx="11">
                  <ns0:v>98.1518311934</ns0:v>
                </ns0:pt>
                <ns0:pt idx="12">
                  <ns0:v>98.6147537827</ns0:v>
                </ns0:pt>
                <ns0:pt idx="13">
                  <ns0:v>98.469855388</ns0:v>
                </ns0:pt>
                <ns0:pt idx="14">
                  <ns0:v>98.7489839395</ns0:v>
                </ns0:pt>
                <ns0:pt idx="15">
                  <ns0:v>98.3921249708</ns0:v>
                </ns0:pt>
                <ns0:pt idx="16">
                  <ns0:v>98.4511449933</ns0:v>
                </ns0:pt>
                <ns0:pt idx="17">
                  <ns0:v>98.6893497407</ns0:v>
                </ns0:pt>
                <ns0:pt idx="18">
                  <ns0:v>98.1140601138</ns0:v>
                </ns0:pt>
                <ns0:pt idx="19">
                  <ns0:v>98.6719446878</ns0:v>
                </ns0:pt>
                <ns0:pt idx="20">
                  <ns0:v>98.8027038674</ns0:v>
                </ns0:pt>
                <ns0:pt idx="21">
                  <ns0:v>98.2880423466</ns0:v>
                </ns0:pt>
                <ns0:pt idx="22">
                  <ns0:v>98.2934728265</ns0:v>
                </ns0:pt>
                <ns0:pt idx="23">
                  <ns0:v>98.6567412814</ns0:v>
                </ns0:pt>
                <ns0:pt idx="24">
                  <ns0:v>98.5307753086</ns0:v>
                </ns0:pt>
                <ns0:pt idx="25">
                  <ns0:v>98.7309550246</ns0:v>
                </ns0:pt>
                <ns0:pt idx="26">
                  <ns0:v>98.391721646</ns0:v>
                </ns0:pt>
                <ns0:pt idx="27">
                  <ns0:v>98.7250295778</ns0:v>
                </ns0:pt>
                <ns0:pt idx="28">
                  <ns0:v>98.5110737383</ns0:v>
                </ns0:pt>
                <ns0:pt idx="29">
                  <ns0:v>98.0057880282</ns0:v>
                </ns0:pt>
              </ns0:numCache>
            </ns0:numRef>
          </ns0:yVal>
          <ns0:smooth val="0"/>
        </ns0:ser>
        <ns0:ser>
          <ns0:idx val="1"/>
          <ns0:order val="1"/>
          <ns0:tx>
            <ns0:strRef>
              <ns0:f>Purity mean 0</ns0:f>
              <ns0:strCache>
                <ns0:ptCount val="1"/>
                <ns0:pt idx="0">
                  <ns0:v>Purity mean 0</ns0:v>
                </ns0:pt>
              </ns0:strCache>
            </ns0:strRef>
          </ns0:tx>
          <ns0:spPr>
            <ns3:ln w="28575" cap="rnd">
              <ns3:solidFill>
                <ns3:srgbClr val="6A737B"/>
              </ns3:solidFill>
              <ns3:prstDash val="solid"/>
              <ns3:round/>
            </ns3:ln>
          </ns0:spPr>
          <ns0:marker>
            <ns0:symbol val="none"/>
          </ns0:marker>
          <ns0:dLbls>
            <ns0:delete val="1"/>
          </ns0:dLbls>
          <ns0:xVal>
            <ns0:numRef>
              <ns0:f>'Chart Data'!$C$2:$C$3</ns0:f>
              <ns0:numCache>
                <ns0:formatCode>General</ns0:formatCode>
                <ns0:ptCount val="2"/>
                <ns0:pt idx="0">
                  <ns0:v>-0.22</ns0:v>
                </ns0:pt>
                <ns0:pt idx="1">
                  <ns0:v>0.22</ns0:v>
                </ns0:pt>
              </ns0:numCache>
            </ns0:numRef>
          </ns0:xVal>
          <ns0:yVal>
            <ns0:numRef>
              <ns0:f>'Chart Data'!$D$2:$D$3</ns0:f>
              <ns0:numCache>
                <ns0:formatCode>0</ns0:formatCode>
                <ns0:ptCount val="2"/>
                <ns0:pt idx="0">
                  <ns0:v>98.5339474798</ns0:v>
                </ns0:pt>
                <ns0:pt idx="1">
                  <ns0:v>98.5339474798</ns0:v>
                </ns0:pt>
              </ns0:numCache>
            </ns0:numRef>
          </ns0:yVal>
          <ns0:smooth val="0"/>
        </ns0:ser>
        <ns0:ser>
          <ns0:idx val="2"/>
          <ns0:order val="2"/>
          <ns0:tx>
            <ns0:strRef>
              <ns0:f>Purity observations 1</ns0:f>
              <ns0:strCache>
                <ns0:ptCount val="1"/>
                <ns0:pt idx="0">
                  <ns0:v>Purity observations 1</ns0:v>
                </ns0:pt>
              </ns0:strCache>
            </ns0:strRef>
          </ns0:tx>
          <ns0:spPr>
            <ns3:ln w="0" cap="rnd">
              <ns3:noFill/>
              <ns3:prstDash val="solid"/>
              <ns3:round/>
            </ns3:ln>
          </ns0:spPr>
          <ns0:marker>
            <ns0:symbol val="circle"/>
            <ns0:size val="8"/>
            <ns0:spPr>
              <ns3:solidFill>
                <ns3:srgbClr val="24292D"/>
              </ns3:solidFill>
              <ns3:ln w="0">
                <ns3:noFill/>
                <ns3:prstDash val="solid"/>
                <ns3:round/>
              </ns3:ln>
            </ns0:spPr>
          </ns0:marker>
          <ns0:dLbls>
            <ns0:delete val="1"/>
          </ns0:dLbls>
          <ns0:xVal>
            <ns0:numRef>
              <ns0:f>'Chart Data'!$E$2:$E$31</ns0:f>
              <ns0:numCache>
                <ns0:formatCode>General</ns0:formatCode>
                <ns0:ptCount val="30"/>
                <ns0:pt idx="0">
                  <ns0:v>0.89</ns0:v>
                </ns0:pt>
                <ns0:pt idx="1">
                  <ns0:v>0.897586206897</ns0:v>
                </ns0:pt>
                <ns0:pt idx="2">
                  <ns0:v>0.905172413793</ns0:v>
                </ns0:pt>
                <ns0:pt idx="3">
                  <ns0:v>0.91275862069</ns0:v>
                </ns0:pt>
                <ns0:pt idx="4">
                  <ns0:v>0.920344827586</ns0:v>
                </ns0:pt>
                <ns0:pt idx="5">
                  <ns0:v>0.927931034483</ns0:v>
                </ns0:pt>
                <ns0:pt idx="6">
                  <ns0:v>0.935517241379</ns0:v>
                </ns0:pt>
                <ns0:pt idx="7">
                  <ns0:v>0.943103448276</ns0:v>
                </ns0:pt>
                <ns0:pt idx="8">
                  <ns0:v>0.950689655172</ns0:v>
                </ns0:pt>
                <ns0:pt idx="9">
                  <ns0:v>0.958275862069</ns0:v>
                </ns0:pt>
                <ns0:pt idx="10">
                  <ns0:v>0.965862068966</ns0:v>
                </ns0:pt>
                <ns0:pt idx="11">
                  <ns0:v>0.973448275862</ns0:v>
                </ns0:pt>
                <ns0:pt idx="12">
                  <ns0:v>0.981034482759</ns0:v>
                </ns0:pt>
                <ns0:pt idx="13">
                  <ns0:v>0.988620689655</ns0:v>
                </ns0:pt>
                <ns0:pt idx="14">
                  <ns0:v>0.996206896552</ns0:v>
                </ns0:pt>
                <ns0:pt idx="15">
                  <ns0:v>1.00379310345</ns0:v>
                </ns0:pt>
                <ns0:pt idx="16">
                  <ns0:v>1.01137931034</ns0:v>
                </ns0:pt>
                <ns0:pt idx="17">
                  <ns0:v>1.01896551724</ns0:v>
                </ns0:pt>
                <ns0:pt idx="18">
                  <ns0:v>1.02655172414</ns0:v>
                </ns0:pt>
                <ns0:pt idx="19">
                  <ns0:v>1.03413793103</ns0:v>
                </ns0:pt>
                <ns0:pt idx="20">
                  <ns0:v>1.04172413793</ns0:v>
                </ns0:pt>
                <ns0:pt idx="21">
                  <ns0:v>1.04931034483</ns0:v>
                </ns0:pt>
                <ns0:pt idx="22">
                  <ns0:v>1.05689655172</ns0:v>
                </ns0:pt>
                <ns0:pt idx="23">
                  <ns0:v>1.06448275862</ns0:v>
                </ns0:pt>
                <ns0:pt idx="24">
                  <ns0:v>1.07206896552</ns0:v>
                </ns0:pt>
                <ns0:pt idx="25">
                  <ns0:v>1.07965517241</ns0:v>
                </ns0:pt>
                <ns0:pt idx="26">
                  <ns0:v>1.08724137931</ns0:v>
                </ns0:pt>
                <ns0:pt idx="27">
                  <ns0:v>1.09482758621</ns0:v>
                </ns0:pt>
                <ns0:pt idx="28">
                  <ns0:v>1.1024137931</ns0:v>
                </ns0:pt>
                <ns0:pt idx="29">
                  <ns0:v>1.11</ns0:v>
                </ns0:pt>
              </ns0:numCache>
            </ns0:numRef>
          </ns0:xVal>
          <ns0:yVal>
            <ns0:numRef>
              <ns0:f>'Chart Data'!$F$2:$F$31</ns0:f>
              <ns0:numCache>
                <ns0:formatCode>0</ns0:formatCode>
                <ns0:ptCount val="30"/>
                <ns0:pt idx="0">
                  <ns0:v>98.4975122399</ns0:v>
                </ns0:pt>
                <ns0:pt idx="1">
                  <ns0:v>98.4975122399</ns0:v>
                </ns0:pt>
                <ns0:pt idx="2">
                  <ns0:v>98.4975122399</ns0:v>
                </ns0:pt>
                <ns0:pt idx="3">
                  <ns0:v>98.4975122399</ns0:v>
                </ns0:pt>
                <ns0:pt idx="4">
                  <ns0:v>98.4975122399</ns0:v>
                </ns0:pt>
                <ns0:pt idx="5">
                  <ns0:v>98.4975122399</ns0:v>
                </ns0:pt>
                <ns0:pt idx="6">
                  <ns0:v>98.4323235959</ns0:v>
                </ns0:pt>
                <ns0:pt idx="7">
                  <ns0:v>98.4323235959</ns0:v>
                </ns0:pt>
                <ns0:pt idx="8">
                  <ns0:v>98.4323235959</ns0:v>
                </ns0:pt>
                <ns0:pt idx="9">
                  <ns0:v>98.4323235959</ns0:v>
                </ns0:pt>
                <ns0:pt idx="10">
                  <ns0:v>98.4323235959</ns0:v>
                </ns0:pt>
                <ns0:pt idx="11">
                  <ns0:v>98.4323235959</ns0:v>
                </ns0:pt>
                <ns0:pt idx="12">
                  <ns0:v>98.5429161905</ns0:v>
                </ns0:pt>
                <ns0:pt idx="13">
                  <ns0:v>98.5429161905</ns0:v>
                </ns0:pt>
                <ns0:pt idx="14">
                  <ns0:v>98.5429161905</ns0:v>
                </ns0:pt>
                <ns0:pt idx="15">
                  <ns0:v>98.5429161905</ns0:v>
                </ns0:pt>
                <ns0:pt idx="16">
                  <ns0:v>98.5429161905</ns0:v>
                </ns0:pt>
                <ns0:pt idx="17">
                  <ns0:v>98.5429161905</ns0:v>
                </ns0:pt>
                <ns0:pt idx="18">
                  <ns0:v>98.5013276968</ns0:v>
                </ns0:pt>
                <ns0:pt idx="19">
                  <ns0:v>98.5013276968</ns0:v>
                </ns0:pt>
                <ns0:pt idx="20">
                  <ns0:v>98.5013276968</ns0:v>
                </ns0:pt>
                <ns0:pt idx="21">
                  <ns0:v>98.5013276968</ns0:v>
                </ns0:pt>
                <ns0:pt idx="22">
                  <ns0:v>98.5013276968</ns0:v>
                </ns0:pt>
                <ns0:pt idx="23">
                  <ns0:v>98.5013276968</ns0:v>
                </ns0:pt>
                <ns0:pt idx="24">
                  <ns0:v>98.5663782167</ns0:v>
                </ns0:pt>
                <ns0:pt idx="25">
                  <ns0:v>98.5663782167</ns0:v>
                </ns0:pt>
                <ns0:pt idx="26">
                  <ns0:v>98.5663782167</ns0:v>
                </ns0:pt>
                <ns0:pt idx="27">
                  <ns0:v>98.5663782167</ns0:v>
                </ns0:pt>
                <ns0:pt idx="28">
                  <ns0:v>98.5663782167</ns0:v>
                </ns0:pt>
                <ns0:pt idx="29">
                  <ns0:v>98.5663782167</ns0:v>
                </ns0:pt>
              </ns0:numCache>
            </ns0:numRef>
          </ns0:yVal>
          <ns0:smooth val="0"/>
        </ns0:ser>
        <ns0:ser>
          <ns0:idx val="3"/>
          <ns0:order val="3"/>
          <ns0:tx>
            <ns0:strRef>
              <ns0:f>Purity mean 1</ns0:f>
              <ns0:strCache>
                <ns0:ptCount val="1"/>
                <ns0:pt idx="0">
                  <ns0:v>Purity mean 1</ns0:v>
                </ns0:pt>
              </ns0:strCache>
            </ns0:strRef>
          </ns0:tx>
          <ns0:spPr>
            <ns3:ln w="28575" cap="rnd">
              <ns3:solidFill>
                <ns3:srgbClr val="24292D"/>
              </ns3:solidFill>
              <ns3:prstDash val="solid"/>
              <ns3:round/>
            </ns3:ln>
          </ns0:spPr>
          <ns0:marker>
            <ns0:symbol val="none"/>
          </ns0:marker>
          <ns0:dLbls>
            <ns0:delete val="1"/>
          </ns0:dLbls>
          <ns0:xVal>
            <ns0:numRef>
              <ns0:f>'Chart Data'!$G$2:$G$3</ns0:f>
              <ns0:numCache>
                <ns0:formatCode>General</ns0:formatCode>
                <ns0:ptCount val="2"/>
                <ns0:pt idx="0">
                  <ns0:v>0.78</ns0:v>
                </ns0:pt>
                <ns0:pt idx="1">
                  <ns0:v>1.22</ns0:v>
                </ns0:pt>
              </ns0:numCache>
            </ns0:numRef>
          </ns0:xVal>
          <ns0:yVal>
            <ns0:numRef>
              <ns0:f>'Chart Data'!$H$2:$H$3</ns0:f>
              <ns0:numCache>
                <ns0:formatCode>0</ns0:formatCode>
                <ns0:ptCount val="2"/>
                <ns0:pt idx="0">
                  <ns0:v>98.508091588</ns0:v>
                </ns0:pt>
                <ns0:pt idx="1">
                  <ns0:v>98.508091588</ns0:v>
                </ns0:pt>
              </ns0:numCache>
            </ns0:numRef>
          </ns0:yVal>
          <ns0:smooth val="0"/>
        </ns0:ser>
        <ns0:ser>
          <ns0:idx val="4"/>
          <ns0:order val="4"/>
          <ns0:tx>
            <ns0:strRef>
              <ns0:f>Purity observations 2</ns0:f>
              <ns0:strCache>
                <ns0:ptCount val="1"/>
                <ns0:pt idx="0">
                  <ns0:v>Purity observations 2</ns0:v>
                </ns0:pt>
              </ns0:strCache>
            </ns0:strRef>
          </ns0:tx>
          <ns0:spPr>
            <ns3:ln w="0" cap="rnd">
              <ns3:noFill/>
              <ns3:prstDash val="solid"/>
              <ns3:round/>
            </ns3:ln>
          </ns0:spPr>
          <ns0:marker>
            <ns0:symbol val="circle"/>
            <ns0:size val="8"/>
            <ns0:spPr>
              <ns3:solidFill>
                <ns3:srgbClr val="416B92"/>
              </ns3:solidFill>
              <ns3:ln w="0">
                <ns3:noFill/>
                <ns3:prstDash val="solid"/>
                <ns3:round/>
              </ns3:ln>
            </ns0:spPr>
          </ns0:marker>
          <ns0:dLbls>
            <ns0:delete val="1"/>
          </ns0:dLbls>
          <ns0:xVal>
            <ns0:numRef>
              <ns0:f>'Chart Data'!$I$2:$I$16</ns0:f>
              <ns0:numCache>
                <ns0:formatCode>General</ns0:formatCode>
                <ns0:ptCount val="15"/>
                <ns0:pt idx="0">
                  <ns0:v>1.89</ns0:v>
                </ns0:pt>
                <ns0:pt idx="1">
                  <ns0:v>1.90571428571</ns0:v>
                </ns0:pt>
                <ns0:pt idx="2">
                  <ns0:v>1.92142857143</ns0:v>
                </ns0:pt>
                <ns0:pt idx="3">
                  <ns0:v>1.93714285714</ns0:v>
                </ns0:pt>
                <ns0:pt idx="4">
                  <ns0:v>1.95285714286</ns0:v>
                </ns0:pt>
                <ns0:pt idx="5">
                  <ns0:v>1.96857142857</ns0:v>
                </ns0:pt>
                <ns0:pt idx="6">
                  <ns0:v>1.98428571429</ns0:v>
                </ns0:pt>
                <ns0:pt idx="7">
                  <ns0:v>2</ns0:v>
                </ns0:pt>
                <ns0:pt idx="8">
                  <ns0:v>2.01571428571</ns0:v>
                </ns0:pt>
                <ns0:pt idx="9">
                  <ns0:v>2.03142857143</ns0:v>
                </ns0:pt>
                <ns0:pt idx="10">
                  <ns0:v>2.04714285714</ns0:v>
                </ns0:pt>
                <ns0:pt idx="11">
                  <ns0:v>2.06285714286</ns0:v>
                </ns0:pt>
                <ns0:pt idx="12">
                  <ns0:v>2.07857142857</ns0:v>
                </ns0:pt>
                <ns0:pt idx="13">
                  <ns0:v>2.09428571429</ns0:v>
                </ns0:pt>
                <ns0:pt idx="14">
                  <ns0:v>2.11</ns0:v>
                </ns0:pt>
              </ns0:numCache>
            </ns0:numRef>
          </ns0:xVal>
          <ns0:yVal>
            <ns0:numRef>
              <ns0:f>'Chart Data'!$J$2:$J$16</ns0:f>
              <ns0:numCache>
                <ns0:formatCode>0</ns0:formatCode>
                <ns0:ptCount val="15"/>
                <ns0:pt idx="0">
                  <ns0:v>97.25</ns0:v>
                </ns0:pt>
                <ns0:pt idx="1">
                  <ns0:v>88.6666666667</ns0:v>
                </ns0:pt>
                <ns0:pt idx="2">
                  <ns0:v>88.0833333333</ns0:v>
                </ns0:pt>
                <ns0:pt idx="3">
                  <ns0:v>94.9166666667</ns0:v>
                </ns0:pt>
                <ns0:pt idx="4">
                  <ns0:v>94.1666666667</ns0:v>
                </ns0:pt>
                <ns0:pt idx="5">
                  <ns0:v>97</ns0:v>
                </ns0:pt>
                <ns0:pt idx="6">
                  <ns0:v>89.8333333333</ns0:v>
                </ns0:pt>
                <ns0:pt idx="7">
                  <ns0:v>98.1</ns0:v>
                </ns0:pt>
                <ns0:pt idx="8">
                  <ns0:v>95.1666666667</ns0:v>
                </ns0:pt>
                <ns0:pt idx="9">
                  <ns0:v>98.0666666667</ns0:v>
                </ns0:pt>
                <ns0:pt idx="10">
                  <ns0:v>91.5</ns0:v>
                </ns0:pt>
                <ns0:pt idx="11">
                  <ns0:v>87.7916666667</ns0:v>
                </ns0:pt>
                <ns0:pt idx="12">
                  <ns0:v>97.6916666667</ns0:v>
                </ns0:pt>
                <ns0:pt idx="13">
                  <ns0:v>86.8333333333</ns0:v>
                </ns0:pt>
                <ns0:pt idx="14">
                  <ns0:v>98.0916666667</ns0:v>
                </ns0:pt>
              </ns0:numCache>
            </ns0:numRef>
          </ns0:yVal>
          <ns0:smooth val="0"/>
        </ns0:ser>
        <ns0:ser>
          <ns0:idx val="5"/>
          <ns0:order val="5"/>
          <ns0:tx>
            <ns0:strRef>
              <ns0:f>Purity mean 2</ns0:f>
              <ns0:strCache>
                <ns0:ptCount val="1"/>
                <ns0:pt idx="0">
                  <ns0:v>Purity mean 2</ns0:v>
                </ns0:pt>
              </ns0:strCache>
            </ns0:strRef>
          </ns0:tx>
          <ns0:spPr>
            <ns3:ln w="28575" cap="rnd">
              <ns3:solidFill>
                <ns3:srgbClr val="416B92"/>
              </ns3:solidFill>
              <ns3:prstDash val="solid"/>
              <ns3:round/>
            </ns3:ln>
          </ns0:spPr>
          <ns0:marker>
            <ns0:symbol val="none"/>
          </ns0:marker>
          <ns0:dLbls>
            <ns0:delete val="1"/>
          </ns0:dLbls>
          <ns0:xVal>
            <ns0:numRef>
              <ns0:f>'Chart Data'!$K$2:$K$3</ns0:f>
              <ns0:numCache>
                <ns0:formatCode>General</ns0:formatCode>
                <ns0:ptCount val="2"/>
                <ns0:pt idx="0">
                  <ns0:v>1.78</ns0:v>
                </ns0:pt>
                <ns0:pt idx="1">
                  <ns0:v>2.22</ns0:v>
                </ns0:pt>
              </ns0:numCache>
            </ns0:numRef>
          </ns0:xVal>
          <ns0:yVal>
            <ns0:numRef>
              <ns0:f>'Chart Data'!$L$2:$L$3</ns0:f>
              <ns0:numCache>
                <ns0:formatCode>0</ns0:formatCode>
                <ns0:ptCount val="2"/>
                <ns0:pt idx="0">
                  <ns0:v>93.5438888889</ns0:v>
                </ns0:pt>
                <ns0:pt idx="1">
                  <ns0:v>93.5438888889</ns0:v>
                </ns0:pt>
              </ns0:numCache>
            </ns0:numRef>
          </ns0:yVal>
          <ns0:smooth val="0"/>
        </ns0:ser>
        <ns0:ser>
          <ns0:idx val="6"/>
          <ns0:order val="6"/>
          <ns0:tx>
            <ns0:strRef>
              <ns0:f>Purity observations 3</ns0:f>
              <ns0:strCache>
                <ns0:ptCount val="1"/>
                <ns0:pt idx="0">
                  <ns0:v>Purity observations 3</ns0:v>
                </ns0:pt>
              </ns0:strCache>
            </ns0:strRef>
          </ns0:tx>
          <ns0:spPr>
            <ns3:ln w="0" cap="rnd">
              <ns3:noFill/>
              <ns3:prstDash val="solid"/>
              <ns3:round/>
            </ns3:ln>
          </ns0:spPr>
          <ns0:marker>
            <ns0:symbol val="circle"/>
            <ns0:size val="8"/>
            <ns0:spPr>
              <ns3:solidFill>
                <ns3:srgbClr val="277F8A"/>
              </ns3:solidFill>
              <ns3:ln w="0">
                <ns3:noFill/>
                <ns3:prstDash val="solid"/>
                <ns3:round/>
              </ns3:ln>
            </ns0:spPr>
          </ns0:marker>
          <ns0:dLbls>
            <ns0:delete val="1"/>
          </ns0:dLbls>
          <ns0:xVal>
            <ns0:numRef>
              <ns0:f>'Chart Data'!$M$2:$M$16</ns0:f>
              <ns0:numCache>
                <ns0:formatCode>General</ns0:formatCode>
                <ns0:ptCount val="15"/>
                <ns0:pt idx="0">
                  <ns0:v>2.89</ns0:v>
                </ns0:pt>
                <ns0:pt idx="1">
                  <ns0:v>2.90571428571</ns0:v>
                </ns0:pt>
                <ns0:pt idx="2">
                  <ns0:v>2.92142857143</ns0:v>
                </ns0:pt>
                <ns0:pt idx="3">
                  <ns0:v>2.93714285714</ns0:v>
                </ns0:pt>
                <ns0:pt idx="4">
                  <ns0:v>2.95285714286</ns0:v>
                </ns0:pt>
                <ns0:pt idx="5">
                  <ns0:v>2.96857142857</ns0:v>
                </ns0:pt>
                <ns0:pt idx="6">
                  <ns0:v>2.98428571429</ns0:v>
                </ns0:pt>
                <ns0:pt idx="7">
                  <ns0:v>3</ns0:v>
                </ns0:pt>
                <ns0:pt idx="8">
                  <ns0:v>3.01571428571</ns0:v>
                </ns0:pt>
                <ns0:pt idx="9">
                  <ns0:v>3.03142857143</ns0:v>
                </ns0:pt>
                <ns0:pt idx="10">
                  <ns0:v>3.04714285714</ns0:v>
                </ns0:pt>
                <ns0:pt idx="11">
                  <ns0:v>3.06285714286</ns0:v>
                </ns0:pt>
                <ns0:pt idx="12">
                  <ns0:v>3.07857142857</ns0:v>
                </ns0:pt>
                <ns0:pt idx="13">
                  <ns0:v>3.09428571429</ns0:v>
                </ns0:pt>
                <ns0:pt idx="14">
                  <ns0:v>3.11</ns0:v>
                </ns0:pt>
              </ns0:numCache>
            </ns0:numRef>
          </ns0:xVal>
          <ns0:yVal>
            <ns0:numRef>
              <ns0:f>'Chart Data'!$N$2:$N$16</ns0:f>
              <ns0:numCache>
                <ns0:formatCode>0</ns0:formatCode>
                <ns0:ptCount val="15"/>
                <ns0:pt idx="0">
                  <ns0:v>96.7583333333</ns0:v>
                </ns0:pt>
                <ns0:pt idx="1">
                  <ns0:v>97.0833333333</ns0:v>
                </ns0:pt>
                <ns0:pt idx="2">
                  <ns0:v>89</ns0:v>
                </ns0:pt>
                <ns0:pt idx="3">
                  <ns0:v>94.5833333333</ns0:v>
                </ns0:pt>
                <ns0:pt idx="4">
                  <ns0:v>94.625</ns0:v>
                </ns0:pt>
                <ns0:pt idx="5">
                  <ns0:v>95.4166666667</ns0:v>
                </ns0:pt>
                <ns0:pt idx="6">
                  <ns0:v>97.5833333333</ns0:v>
                </ns0:pt>
                <ns0:pt idx="7">
                  <ns0:v>95.75</ns0:v>
                </ns0:pt>
                <ns0:pt idx="8">
                  <ns0:v>92.0833333333</ns0:v>
                </ns0:pt>
                <ns0:pt idx="9">
                  <ns0:v>97.8666666667</ns0:v>
                </ns0:pt>
                <ns0:pt idx="10">
                  <ns0:v>96.9666666667</ns0:v>
                </ns0:pt>
                <ns0:pt idx="11">
                  <ns0:v>90.5</ns0:v>
                </ns0:pt>
                <ns0:pt idx="12">
                  <ns0:v>92.0833333333</ns0:v>
                </ns0:pt>
                <ns0:pt idx="13">
                  <ns0:v>95.4333333333</ns0:v>
                </ns0:pt>
                <ns0:pt idx="14">
                  <ns0:v>97.6666666667</ns0:v>
                </ns0:pt>
              </ns0:numCache>
            </ns0:numRef>
          </ns0:yVal>
          <ns0:smooth val="0"/>
        </ns0:ser>
        <ns0:ser>
          <ns0:idx val="7"/>
          <ns0:order val="7"/>
          <ns0:tx>
            <ns0:strRef>
              <ns0:f>Purity mean 3</ns0:f>
              <ns0:strCache>
                <ns0:ptCount val="1"/>
                <ns0:pt idx="0">
                  <ns0:v>Purity mean 3</ns0:v>
                </ns0:pt>
              </ns0:strCache>
            </ns0:strRef>
          </ns0:tx>
          <ns0:spPr>
            <ns3:ln w="28575" cap="rnd">
              <ns3:solidFill>
                <ns3:srgbClr val="277F8A"/>
              </ns3:solidFill>
              <ns3:prstDash val="solid"/>
              <ns3:round/>
            </ns3:ln>
          </ns0:spPr>
          <ns0:marker>
            <ns0:symbol val="none"/>
          </ns0:marker>
          <ns0:dLbls>
            <ns0:delete val="1"/>
          </ns0:dLbls>
          <ns0:xVal>
            <ns0:numRef>
              <ns0:f>'Chart Data'!$O$2:$O$3</ns0:f>
              <ns0:numCache>
                <ns0:formatCode>General</ns0:formatCode>
                <ns0:ptCount val="2"/>
                <ns0:pt idx="0">
                  <ns0:v>2.78</ns0:v>
                </ns0:pt>
                <ns0:pt idx="1">
                  <ns0:v>3.22</ns0:v>
                </ns0:pt>
              </ns0:numCache>
            </ns0:numRef>
          </ns0:xVal>
          <ns0:yVal>
            <ns0:numRef>
              <ns0:f>'Chart Data'!$P$2:$P$3</ns0:f>
              <ns0:numCache>
                <ns0:formatCode>0</ns0:formatCode>
                <ns0:ptCount val="2"/>
                <ns0:pt idx="0">
                  <ns0:v>94.8933333333</ns0:v>
                </ns0:pt>
                <ns0:pt idx="1">
                  <ns0:v>94.8933333333</ns0:v>
                </ns0:pt>
              </ns0:numCache>
            </ns0:numRef>
          </ns0:yVal>
          <ns0:smooth val="0"/>
        </ns0:ser>
        <ns0:dLbls>
          <ns0:showLegendKey val="0"/>
          <ns0:showVal val="0"/>
          <ns0:showCatName val="0"/>
          <ns0:showSerName val="0"/>
          <ns0:showPercent val="0"/>
          <ns0:showBubbleSize val="0"/>
        </ns0:dLbls>
        <ns0:axId val="48650112"/>
        <ns0:axId val="48672768"/>
      </ns0:scatterChart>
      <ns0:valAx>
        <ns0:axId val="48650112"/>
        <ns0:scaling>
          <ns0:orientation val="minMax"/>
          <ns0:max val="3.5"/>
          <ns0:min val="-0.5"/>
        </ns0:scaling>
        <ns0:delete val="0"/>
        <ns0:axPos val="b"/>
        <ns0:numFmt formatCode="0" sourceLinked="1"/>
        <ns0:majorTickMark val="none"/>
        <ns0:minorTickMark val="none"/>
        <ns0:tickLblPos val="none"/>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FFFFFF"/>
                </ns3:solidFill>
                <ns3:latin typeface="Arial" panose="020B0604020202020204"/>
                <ns3:ea typeface="Arial" panose="020B0604020202020204"/>
                <ns3:cs typeface="Arial" panose="020B0604020202020204"/>
              </ns3:defRPr>
            </ns3:pPr>
          </ns3:p>
        </ns0:txPr>
        <ns0:crossAx val="48672768"/>
        <ns0:crosses val="min"/>
        <ns0:crossBetween val="midCat"/>
        <ns0:majorUnit val="1"/>
      </ns0:valAx>
      <ns0:valAx>
        <ns0:axId val="48672768"/>
        <ns0:scaling>
          <ns0:orientation val="minMax"/>
          <ns0:max val="100"/>
          <ns0:min val="84"/>
        </ns0:scaling>
        <ns0:delete val="0"/>
        <ns0:axPos val="l"/>
        <ns0:title>
          <ns0:tx>
            <ns0:rich>
              <ns3:bodyPr rot="-5400000" spcFirstLastPara="0" vertOverflow="ellipsis" vert="horz" wrap="square" anchor="ctr" anchorCtr="1"/>
              <ns3:lstStyle/>
              <ns3:p>
                <ns3:pPr>
                  <ns3:defRPr lang="zh-CN" sz="1000" b="1" i="0" u="none" strike="noStrike" kern="1200" baseline="0">
                    <ns3:solidFill>
                      <ns3:schemeClr val="tx1"/>
                    </ns3:solidFill>
                    <ns3:latin typeface="+mn-lt"/>
                    <ns3:ea typeface="+mn-ea"/>
                    <ns3:cs typeface="+mn-cs"/>
                  </ns3:defRPr>
                </ns3:pPr>
                <ns3:r>
                  <ns3:rPr sz="1500">
                    <ns3:solidFill>
                      <ns3:srgbClr val="24292D"/>
                    </ns3:solidFill>
                    <ns3:latin typeface="Arial" panose="020B0604020202020204"/>
                    <ns3:ea typeface="Arial" panose="020B0604020202020204"/>
                    <ns3:cs typeface="Arial" panose="020B0604020202020204"/>
                  </ns3:rPr>
                  <ns3:t>Campaign mean purity (%)</ns3:t>
                </ns3:r>
                <ns3:endParaRPr sz="1500">
                  <ns3:solidFill>
                    <ns3:srgbClr val="24292D"/>
                  </ns3:solidFill>
                  <ns3:latin typeface="Arial" panose="020B0604020202020204"/>
                  <ns3:ea typeface="Arial" panose="020B0604020202020204"/>
                  <ns3:cs typeface="Arial" panose="020B0604020202020204"/>
                </ns3:endParaRPr>
              </ns3:p>
            </ns0:rich>
          </ns0:tx>
          <ns0:layout/>
          <ns0:overlay val="0"/>
        </ns0:title>
        <ns0:numFmt formatCode="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50112"/>
        <ns0:crosses val="min"/>
        <ns0:crossBetween val="midCat"/>
        <ns0:majorUnit val="4"/>
      </ns0:valAx>
      <ns0:spPr>
        <ns3:solidFill>
          <ns3:srgbClr val="FFFFFF"/>
        </ns3:solidFill>
        <ns3:ln w="0">
          <ns3:noFill/>
        </ns3:ln>
      </ns0:spPr>
    </ns0:plotArea>
    <ns0:plotVisOnly val="1"/>
    <ns0:dispBlanksAs val="gap"/>
    <ns0:showDLblsOverMax val="0"/>
    <ns0:extLst>
      <ns0:ext uri="{0b15fc19-7d7d-44ad-8c2d-2c3a37ce22c3}">
        <ns4:chartProps chartId="{664238d1-28d8-4d9a-befb-fd95fcc96b72}"/>
      </ns0:ext>
    </ns0:extLst>
  </ns0:chart>
  <ns0:spPr>
    <ns3:solidFill>
      <ns3:srgbClr val="FFFFFF"/>
    </ns3:solidFill>
    <ns3:ln w="0">
      <ns3:noFill/>
    </ns3:ln>
  </ns0:spPr>
  <ns0:txPr>
    <ns3:bodyPr/>
    <ns3:lstStyle/>
    <ns3:p>
      <ns3:pPr>
        <ns3:defRPr lang="zh-CN"/>
      </ns3:pPr>
    </ns3:p>
  </ns0:txPr>
  <ns0:externalData ns5:id="rId1">
    <ns0:autoUpdate val="0"/>
  </ns0:externalData>
</ns0:chartSpace>
</file>

<file path=ppt/charts/chart7.xml><?xml version="1.0" encoding="utf-8"?>
<ns0:chartSpace xmlns:ns0="http://schemas.openxmlformats.org/drawingml/2006/chart" xmlns:ns1="http://schemas.openxmlformats.org/markup-compatibility/2006" xmlns:ns2="http://schemas.microsoft.com/office/drawing/2007/8/2/chart" xmlns:ns3="http://schemas.openxmlformats.org/drawingml/2006/main" xmlns:ns4="https://web.wps.cn/et/2018/main" xmlns:ns5="http://schemas.openxmlformats.org/officeDocument/2006/relationships">
  <ns0:date1904 val="0"/>
  <ns0:lang val="zh-CN"/>
  <ns0:roundedCorners val="0"/>
  <ns1:AlternateContent>
    <ns1:Choice Requires="c14">
      <ns2:style val="102"/>
    </ns1:Choice>
    <ns1:Fallback>
      <ns0:style val="2"/>
    </ns1:Fallback>
  </ns1:AlternateContent>
  <ns0:chart>
    <ns0:autoTitleDeleted val="1"/>
    <ns0:plotArea>
      <ns0:layout/>
      <ns0:scatterChart>
        <ns0:scatterStyle val="lineMarker"/>
        <ns0:varyColors val="0"/>
        <ns0:ser>
          <ns0:idx val="0"/>
          <ns0:order val="0"/>
          <ns0:tx>
            <ns0:strRef>
              <ns0:f>Equal accuracy crystal_yield</ns0:f>
              <ns0:strCache>
                <ns0:ptCount val="1"/>
                <ns0:pt idx="0">
                  <ns0:v>Equal accuracy crystal_yield</ns0:v>
                </ns0:pt>
              </ns0:strCache>
            </ns0:strRef>
          </ns0:tx>
          <ns0:spPr>
            <ns3:ln w="15240" cap="rnd">
              <ns3:solidFill>
                <ns3:srgbClr val="6A737B"/>
              </ns3:solidFill>
              <ns3:prstDash val="solid"/>
              <ns3:round/>
            </ns3:ln>
          </ns0:spPr>
          <ns0:marker>
            <ns0:symbol val="none"/>
          </ns0:marker>
          <ns0:dLbls>
            <ns0:delete val="1"/>
          </ns0:dLbls>
          <ns0:xVal>
            <ns0:numRef>
              <ns0:f>'Chart Data'!$A$2:$A$3</ns0:f>
              <ns0:numCache>
                <ns0:formatCode>General</ns0:formatCode>
                <ns0:ptCount val="2"/>
                <ns0:pt idx="0">
                  <ns0:v>0</ns0:v>
                </ns0:pt>
                <ns0:pt idx="1">
                  <ns0:v>0</ns0:v>
                </ns0:pt>
              </ns0:numCache>
            </ns0:numRef>
          </ns0:xVal>
          <ns0:yVal>
            <ns0:numRef>
              <ns0:f>'Chart Data'!$B$2:$B$3</ns0:f>
              <ns0:numCache>
                <ns0:formatCode>0</ns0:formatCode>
                <ns0:ptCount val="2"/>
                <ns0:pt idx="0">
                  <ns0:v>0.05</ns0:v>
                </ns0:pt>
                <ns0:pt idx="1">
                  <ns0:v>0.95</ns0:v>
                </ns0:pt>
              </ns0:numCache>
            </ns0:numRef>
          </ns0:yVal>
          <ns0:smooth val="0"/>
        </ns0:ser>
        <ns0:ser>
          <ns0:idx val="1"/>
          <ns0:order val="1"/>
          <ns0:tx>
            <ns0:strRef>
              <ns0:f>Error difference crystal_yield Opaque</ns0:f>
              <ns0:strCache>
                <ns0:ptCount val="1"/>
                <ns0:pt idx="0">
                  <ns0:v>Error difference crystal_yield Opaque</ns0:v>
                </ns0:pt>
              </ns0:strCache>
            </ns0:strRef>
          </ns0:tx>
          <ns0:spPr>
            <ns3:ln w="0" cap="rnd">
              <ns3:noFill/>
              <ns3:prstDash val="solid"/>
              <ns3:round/>
            </ns3:ln>
          </ns0:spPr>
          <ns0:marker>
            <ns0:symbol val="circle"/>
            <ns0:size val="8"/>
            <ns0:spPr>
              <ns3:solidFill>
                <ns3:srgbClr val="637482"/>
              </ns3:solidFill>
              <ns3:ln w="0">
                <ns3:noFill/>
                <ns3:prstDash val="solid"/>
                <ns3:round/>
              </ns3:ln>
            </ns0:spPr>
          </ns0:marker>
          <ns0:dLbls>
            <ns0:delete val="1"/>
          </ns0:dLbls>
          <ns0:xVal>
            <ns0:numRef>
              <ns0:f>'Chart Data'!$C$2:$C$11</ns0:f>
              <ns0:numCache>
                <ns0:formatCode>General</ns0:formatCode>
                <ns0:ptCount val="10"/>
                <ns0:pt idx="0">
                  <ns0:v>-15.8557432497</ns0:v>
                </ns0:pt>
                <ns0:pt idx="1">
                  <ns0:v>-9.71521715772</ns0:v>
                </ns0:pt>
                <ns0:pt idx="2">
                  <ns0:v>-8.17828467926</ns0:v>
                </ns0:pt>
                <ns0:pt idx="3">
                  <ns0:v>-6.8998405536</ns0:v>
                </ns0:pt>
                <ns0:pt idx="4">
                  <ns0:v>-4.65713891852</ns0:v>
                </ns0:pt>
                <ns0:pt idx="5">
                  <ns0:v>-1.40462554495</ns0:v>
                </ns0:pt>
                <ns0:pt idx="6">
                  <ns0:v>-1.36185493604</ns0:v>
                </ns0:pt>
                <ns0:pt idx="7">
                  <ns0:v>-1.35466392042</ns0:v>
                </ns0:pt>
                <ns0:pt idx="8">
                  <ns0:v>1.50942507633</ns0:v>
                </ns0:pt>
                <ns0:pt idx="9">
                  <ns0:v>32.1452647146</ns0:v>
                </ns0:pt>
              </ns0:numCache>
            </ns0:numRef>
          </ns0:xVal>
          <ns0:yVal>
            <ns0:numRef>
              <ns0:f>'Chart Data'!$D$2:$D$11</ns0:f>
              <ns0:numCache>
                <ns0:formatCode>0</ns0:formatCode>
                <ns0:ptCount val="10"/>
                <ns0:pt idx="0">
                  <ns0:v>0.6</ns0:v>
                </ns0:pt>
                <ns0:pt idx="1">
                  <ns0:v>0.6</ns0:v>
                </ns0:pt>
                <ns0:pt idx="2">
                  <ns0:v>0.5</ns0:v>
                </ns0:pt>
                <ns0:pt idx="3">
                  <ns0:v>0.4</ns0:v>
                </ns0:pt>
                <ns0:pt idx="4">
                  <ns0:v>0.6</ns0:v>
                </ns0:pt>
                <ns0:pt idx="5">
                  <ns0:v>0.6</ns0:v>
                </ns0:pt>
                <ns0:pt idx="6">
                  <ns0:v>0.4</ns0:v>
                </ns0:pt>
                <ns0:pt idx="7">
                  <ns0:v>0.7</ns0:v>
                </ns0:pt>
                <ns0:pt idx="8">
                  <ns0:v>0.6</ns0:v>
                </ns0:pt>
                <ns0:pt idx="9">
                  <ns0:v>0.5</ns0:v>
                </ns0:pt>
              </ns0:numCache>
            </ns0:numRef>
          </ns0:yVal>
          <ns0:smooth val="0"/>
        </ns0:ser>
        <ns0:ser>
          <ns0:idx val="2"/>
          <ns0:order val="2"/>
          <ns0:tx>
            <ns0:strRef>
              <ns0:f>Error difference crystal_yield Aligned</ns0:f>
              <ns0:strCache>
                <ns0:ptCount val="1"/>
                <ns0:pt idx="0">
                  <ns0:v>Error difference crystal_yield Aligned</ns0:v>
                </ns0:pt>
              </ns0:strCache>
            </ns0:strRef>
          </ns0:tx>
          <ns0:spPr>
            <ns3:ln w="0" cap="rnd">
              <ns3:noFill/>
              <ns3:prstDash val="solid"/>
              <ns3:round/>
            </ns3:ln>
          </ns0:spPr>
          <ns0:marker>
            <ns0:symbol val="circle"/>
            <ns0:size val="8"/>
            <ns0:spPr>
              <ns3:solidFill>
                <ns3:srgbClr val="277F8A"/>
              </ns3:solidFill>
              <ns3:ln w="0">
                <ns3:noFill/>
                <ns3:prstDash val="solid"/>
                <ns3:round/>
              </ns3:ln>
            </ns0:spPr>
          </ns0:marker>
          <ns0:dLbls>
            <ns0:delete val="1"/>
          </ns0:dLbls>
          <ns0:xVal>
            <ns0:numRef>
              <ns0:f>'Chart Data'!$E$2:$E$11</ns0:f>
              <ns0:numCache>
                <ns0:formatCode>General</ns0:formatCode>
                <ns0:ptCount val="10"/>
                <ns0:pt idx="0">
                  <ns0:v>-21.9703929969</ns0:v>
                </ns0:pt>
                <ns0:pt idx="1">
                  <ns0:v>-20.0293701201</ns0:v>
                </ns0:pt>
                <ns0:pt idx="2">
                  <ns0:v>-17.0003655691</ns0:v>
                </ns0:pt>
                <ns0:pt idx="3">
                  <ns0:v>-15.2735520923</ns0:v>
                </ns0:pt>
                <ns0:pt idx="4">
                  <ns0:v>-15.06641513</ns0:v>
                </ns0:pt>
                <ns0:pt idx="5">
                  <ns0:v>-13.327262528</ns0:v>
                </ns0:pt>
                <ns0:pt idx="6">
                  <ns0:v>-9.92676151733</ns0:v>
                </ns0:pt>
                <ns0:pt idx="7">
                  <ns0:v>-9.07147390459</ns0:v>
                </ns0:pt>
                <ns0:pt idx="8">
                  <ns0:v>-8.49633771305</ns0:v>
                </ns0:pt>
                <ns0:pt idx="9">
                  <ns0:v>-6.11919283856</ns0:v>
                </ns0:pt>
              </ns0:numCache>
            </ns0:numRef>
          </ns0:xVal>
          <ns0:yVal>
            <ns0:numRef>
              <ns0:f>'Chart Data'!$F$2:$F$11</ns0:f>
              <ns0:numCache>
                <ns0:formatCode>0</ns0:formatCode>
                <ns0:ptCount val="10"/>
                <ns0:pt idx="0">
                  <ns0:v>0.5</ns0:v>
                </ns0:pt>
                <ns0:pt idx="1">
                  <ns0:v>0.5</ns0:v>
                </ns0:pt>
                <ns0:pt idx="2">
                  <ns0:v>0.5</ns0:v>
                </ns0:pt>
                <ns0:pt idx="3">
                  <ns0:v>0.5</ns0:v>
                </ns0:pt>
                <ns0:pt idx="4">
                  <ns0:v>0.7</ns0:v>
                </ns0:pt>
                <ns0:pt idx="5">
                  <ns0:v>0.5</ns0:v>
                </ns0:pt>
                <ns0:pt idx="6">
                  <ns0:v>0.5</ns0:v>
                </ns0:pt>
                <ns0:pt idx="7">
                  <ns0:v>0.7</ns0:v>
                </ns0:pt>
                <ns0:pt idx="8">
                  <ns0:v>0.3</ns0:v>
                </ns0:pt>
                <ns0:pt idx="9">
                  <ns0:v>0.5</ns0:v>
                </ns0:pt>
              </ns0:numCache>
            </ns0:numRef>
          </ns0:yVal>
          <ns0:smooth val="0"/>
        </ns0:ser>
        <ns0:ser>
          <ns0:idx val="3"/>
          <ns0:order val="3"/>
          <ns0:tx>
            <ns0:strRef>
              <ns0:f>Error difference crystal_yield MisIndexed</ns0:f>
              <ns0:strCache>
                <ns0:ptCount val="1"/>
                <ns0:pt idx="0">
                  <ns0:v>Error difference crystal_yield MisIndexed</ns0:v>
                </ns0:pt>
              </ns0:strCache>
            </ns0:strRef>
          </ns0:tx>
          <ns0:spPr>
            <ns3:ln w="0" cap="rnd">
              <ns3:noFill/>
              <ns3:prstDash val="solid"/>
              <ns3:round/>
            </ns3:ln>
          </ns0:spPr>
          <ns0:marker>
            <ns0:symbol val="circle"/>
            <ns0:size val="8"/>
            <ns0:spPr>
              <ns3:solidFill>
                <ns3:srgbClr val="BC7850"/>
              </ns3:solidFill>
              <ns3:ln w="0">
                <ns3:noFill/>
                <ns3:prstDash val="solid"/>
                <ns3:round/>
              </ns3:ln>
            </ns0:spPr>
          </ns0:marker>
          <ns0:dLbls>
            <ns0:delete val="1"/>
          </ns0:dLbls>
          <ns0:xVal>
            <ns0:numRef>
              <ns0:f>'Chart Data'!$G$2:$G$11</ns0:f>
              <ns0:numCache>
                <ns0:formatCode>General</ns0:formatCode>
                <ns0:ptCount val="10"/>
                <ns0:pt idx="0">
                  <ns0:v>-23.9165772228</ns0:v>
                </ns0:pt>
                <ns0:pt idx="1">
                  <ns0:v>-15.8230774262</ns0:v>
                </ns0:pt>
                <ns0:pt idx="2">
                  <ns0:v>-14.7443471093</ns0:v>
                </ns0:pt>
                <ns0:pt idx="3">
                  <ns0:v>-14.4275228848</ns0:v>
                </ns0:pt>
                <ns0:pt idx="4">
                  <ns0:v>-9.32643750152</ns0:v>
                </ns0:pt>
                <ns0:pt idx="5">
                  <ns0:v>-7.36338870115</ns0:v>
                </ns0:pt>
                <ns0:pt idx="6">
                  <ns0:v>-6.06540052647</ns0:v>
                </ns0:pt>
                <ns0:pt idx="7">
                  <ns0:v>-2.82626624626</ns0:v>
                </ns0:pt>
                <ns0:pt idx="8">
                  <ns0:v>0.999772022915</ns0:v>
                </ns0:pt>
                <ns0:pt idx="9">
                  <ns0:v>7.03378682777</ns0:v>
                </ns0:pt>
              </ns0:numCache>
            </ns0:numRef>
          </ns0:xVal>
          <ns0:yVal>
            <ns0:numRef>
              <ns0:f>'Chart Data'!$H$2:$H$11</ns0:f>
              <ns0:numCache>
                <ns0:formatCode>0</ns0:formatCode>
                <ns0:ptCount val="10"/>
                <ns0:pt idx="0">
                  <ns0:v>0.5</ns0:v>
                </ns0:pt>
                <ns0:pt idx="1">
                  <ns0:v>0.4</ns0:v>
                </ns0:pt>
                <ns0:pt idx="2">
                  <ns0:v>0.3</ns0:v>
                </ns0:pt>
                <ns0:pt idx="3">
                  <ns0:v>0.8</ns0:v>
                </ns0:pt>
                <ns0:pt idx="4">
                  <ns0:v>0.4</ns0:v>
                </ns0:pt>
                <ns0:pt idx="5">
                  <ns0:v>0.6</ns0:v>
                </ns0:pt>
                <ns0:pt idx="6">
                  <ns0:v>0.7</ns0:v>
                </ns0:pt>
                <ns0:pt idx="7">
                  <ns0:v>0.5</ns0:v>
                </ns0:pt>
                <ns0:pt idx="8">
                  <ns0:v>0.5</ns0:v>
                </ns0:pt>
                <ns0:pt idx="9">
                  <ns0:v>0.5</ns0:v>
                </ns0:pt>
              </ns0:numCache>
            </ns0:numRef>
          </ns0:yVal>
          <ns0:smooth val="0"/>
        </ns0:ser>
        <ns0:dLbls>
          <ns0:showLegendKey val="0"/>
          <ns0:showVal val="0"/>
          <ns0:showCatName val="0"/>
          <ns0:showSerName val="0"/>
          <ns0:showPercent val="0"/>
          <ns0:showBubbleSize val="0"/>
        </ns0:dLbls>
        <ns0:axId val="48650112"/>
        <ns0:axId val="48672768"/>
      </ns0:scatterChart>
      <ns0:valAx>
        <ns0:axId val="48650112"/>
        <ns0:scaling>
          <ns0:orientation val="minMax"/>
          <ns0:max val="40"/>
          <ns0:min val="-30"/>
        </ns0:scaling>
        <ns0:delete val="0"/>
        <ns0:axPos val="b"/>
        <ns0:title>
          <ns0:tx>
            <ns0:rich>
              <ns3:bodyPr rot="0" spcFirstLastPara="0" vertOverflow="ellipsis" vert="horz" wrap="square" anchor="ctr" anchorCtr="1"/>
              <ns3:lstStyle/>
              <ns3:p>
                <ns3:pPr>
                  <ns3:defRPr lang="zh-CN" sz="1000" b="1" i="0" u="none" strike="noStrike" kern="1200" baseline="0">
                    <ns3:solidFill>
                      <ns3:schemeClr val="tx1"/>
                    </ns3:solidFill>
                    <ns3:latin typeface="+mn-lt"/>
                    <ns3:ea typeface="+mn-ea"/>
                    <ns3:cs typeface="+mn-cs"/>
                  </ns3:defRPr>
                </ns3:pPr>
                <ns3:r>
                  <ns3:rPr sz="1500">
                    <ns3:solidFill>
                      <ns3:srgbClr val="24292D"/>
                    </ns3:solidFill>
                    <ns3:latin typeface="Arial" panose="020B0604020202020204"/>
                    <ns3:ea typeface="Arial" panose="020B0604020202020204"/>
                    <ns3:cs typeface="Arial" panose="020B0604020202020204"/>
                  </ns3:rPr>
                  <ns3:t>MAE difference (percentage points)</ns3:t>
                </ns3:r>
                <ns3:endParaRPr sz="1500">
                  <ns3:solidFill>
                    <ns3:srgbClr val="24292D"/>
                  </ns3:solidFill>
                  <ns3:latin typeface="Arial" panose="020B0604020202020204"/>
                  <ns3:ea typeface="Arial" panose="020B0604020202020204"/>
                  <ns3:cs typeface="Arial" panose="020B0604020202020204"/>
                </ns3:endParaRPr>
              </ns3:p>
            </ns0:rich>
          </ns0:tx>
          <ns0:layout/>
          <ns0:overlay val="0"/>
        </ns0:title>
        <ns0:numFmt formatCode="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72768"/>
        <ns0:crosses val="min"/>
        <ns0:crossBetween val="midCat"/>
        <ns0:majorUnit val="10"/>
      </ns0:valAx>
      <ns0:valAx>
        <ns0:axId val="48672768"/>
        <ns0:scaling>
          <ns0:orientation val="minMax"/>
          <ns0:max val="1"/>
          <ns0:min val="0"/>
        </ns0:scaling>
        <ns0:delete val="0"/>
        <ns0:axPos val="l"/>
        <ns0:numFmt formatCode="0" sourceLinked="1"/>
        <ns0:majorTickMark val="none"/>
        <ns0:minorTickMark val="none"/>
        <ns0:tickLblPos val="none"/>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FFFFFF"/>
                </ns3:solidFill>
                <ns3:latin typeface="Arial" panose="020B0604020202020204"/>
                <ns3:ea typeface="Arial" panose="020B0604020202020204"/>
                <ns3:cs typeface="Arial" panose="020B0604020202020204"/>
              </ns3:defRPr>
            </ns3:pPr>
          </ns3:p>
        </ns0:txPr>
        <ns0:crossAx val="48650112"/>
        <ns0:crosses val="min"/>
        <ns0:crossBetween val="midCat"/>
        <ns0:majorUnit val="1"/>
      </ns0:valAx>
      <ns0:spPr>
        <ns3:solidFill>
          <ns3:srgbClr val="FFFFFF"/>
        </ns3:solidFill>
        <ns3:ln w="0">
          <ns3:noFill/>
        </ns3:ln>
      </ns0:spPr>
    </ns0:plotArea>
    <ns0:plotVisOnly val="1"/>
    <ns0:dispBlanksAs val="gap"/>
    <ns0:showDLblsOverMax val="0"/>
    <ns0:extLst>
      <ns0:ext uri="{0b15fc19-7d7d-44ad-8c2d-2c3a37ce22c3}">
        <ns4:chartProps chartId="{4c7c203b-df6e-4cc7-a9a3-bb346e7cc5a9}"/>
      </ns0:ext>
    </ns0:extLst>
  </ns0:chart>
  <ns0:spPr>
    <ns3:solidFill>
      <ns3:srgbClr val="FFFFFF"/>
    </ns3:solidFill>
    <ns3:ln w="0">
      <ns3:noFill/>
    </ns3:ln>
  </ns0:spPr>
  <ns0:txPr>
    <ns3:bodyPr/>
    <ns3:lstStyle/>
    <ns3:p>
      <ns3:pPr>
        <ns3:defRPr lang="zh-CN"/>
      </ns3:pPr>
    </ns3:p>
  </ns0:txPr>
  <ns0:externalData ns5:id="rId1">
    <ns0:autoUpdate val="0"/>
  </ns0:externalData>
</ns0:chartSpace>
</file>

<file path=ppt/charts/chart8.xml><?xml version="1.0" encoding="utf-8"?>
<ns0:chartSpace xmlns:ns0="http://schemas.openxmlformats.org/drawingml/2006/chart" xmlns:ns1="http://schemas.openxmlformats.org/markup-compatibility/2006" xmlns:ns2="http://schemas.microsoft.com/office/drawing/2007/8/2/chart" xmlns:ns3="http://schemas.openxmlformats.org/drawingml/2006/main" xmlns:ns4="https://web.wps.cn/et/2018/main" xmlns:ns5="http://schemas.openxmlformats.org/officeDocument/2006/relationships">
  <ns0:date1904 val="0"/>
  <ns0:lang val="zh-CN"/>
  <ns0:roundedCorners val="0"/>
  <ns1:AlternateContent>
    <ns1:Choice Requires="c14">
      <ns2:style val="102"/>
    </ns1:Choice>
    <ns1:Fallback>
      <ns0:style val="2"/>
    </ns1:Fallback>
  </ns1:AlternateContent>
  <ns0:chart>
    <ns0:autoTitleDeleted val="1"/>
    <ns0:plotArea>
      <ns0:layout/>
      <ns0:scatterChart>
        <ns0:scatterStyle val="lineMarker"/>
        <ns0:varyColors val="0"/>
        <ns0:ser>
          <ns0:idx val="0"/>
          <ns0:order val="0"/>
          <ns0:tx>
            <ns0:strRef>
              <ns0:f>Equal accuracy crystal_purity</ns0:f>
              <ns0:strCache>
                <ns0:ptCount val="1"/>
                <ns0:pt idx="0">
                  <ns0:v>Equal accuracy crystal_purity</ns0:v>
                </ns0:pt>
              </ns0:strCache>
            </ns0:strRef>
          </ns0:tx>
          <ns0:spPr>
            <ns3:ln w="15240" cap="rnd">
              <ns3:solidFill>
                <ns3:srgbClr val="6A737B"/>
              </ns3:solidFill>
              <ns3:prstDash val="solid"/>
              <ns3:round/>
            </ns3:ln>
          </ns0:spPr>
          <ns0:marker>
            <ns0:symbol val="none"/>
          </ns0:marker>
          <ns0:dLbls>
            <ns0:delete val="1"/>
          </ns0:dLbls>
          <ns0:xVal>
            <ns0:numRef>
              <ns0:f>'Chart Data'!$A$2:$A$3</ns0:f>
              <ns0:numCache>
                <ns0:formatCode>General</ns0:formatCode>
                <ns0:ptCount val="2"/>
                <ns0:pt idx="0">
                  <ns0:v>0</ns0:v>
                </ns0:pt>
                <ns0:pt idx="1">
                  <ns0:v>0</ns0:v>
                </ns0:pt>
              </ns0:numCache>
            </ns0:numRef>
          </ns0:xVal>
          <ns0:yVal>
            <ns0:numRef>
              <ns0:f>'Chart Data'!$B$2:$B$3</ns0:f>
              <ns0:numCache>
                <ns0:formatCode>0</ns0:formatCode>
                <ns0:ptCount val="2"/>
                <ns0:pt idx="0">
                  <ns0:v>0.05</ns0:v>
                </ns0:pt>
                <ns0:pt idx="1">
                  <ns0:v>0.95</ns0:v>
                </ns0:pt>
              </ns0:numCache>
            </ns0:numRef>
          </ns0:yVal>
          <ns0:smooth val="0"/>
        </ns0:ser>
        <ns0:ser>
          <ns0:idx val="1"/>
          <ns0:order val="1"/>
          <ns0:tx>
            <ns0:strRef>
              <ns0:f>Error difference crystal_purity Opaque</ns0:f>
              <ns0:strCache>
                <ns0:ptCount val="1"/>
                <ns0:pt idx="0">
                  <ns0:v>Error difference crystal_purity Opaque</ns0:v>
                </ns0:pt>
              </ns0:strCache>
            </ns0:strRef>
          </ns0:tx>
          <ns0:spPr>
            <ns3:ln w="0" cap="rnd">
              <ns3:noFill/>
              <ns3:prstDash val="solid"/>
              <ns3:round/>
            </ns3:ln>
          </ns0:spPr>
          <ns0:marker>
            <ns0:symbol val="circle"/>
            <ns0:size val="8"/>
            <ns0:spPr>
              <ns3:solidFill>
                <ns3:srgbClr val="637482"/>
              </ns3:solidFill>
              <ns3:ln w="0">
                <ns3:noFill/>
                <ns3:prstDash val="solid"/>
                <ns3:round/>
              </ns3:ln>
            </ns0:spPr>
          </ns0:marker>
          <ns0:dLbls>
            <ns0:delete val="1"/>
          </ns0:dLbls>
          <ns0:xVal>
            <ns0:numRef>
              <ns0:f>'Chart Data'!$C$2:$C$11</ns0:f>
              <ns0:numCache>
                <ns0:formatCode>General</ns0:formatCode>
                <ns0:ptCount val="10"/>
                <ns0:pt idx="0">
                  <ns0:v>0.129760282885</ns0:v>
                </ns0:pt>
                <ns0:pt idx="1">
                  <ns0:v>0.162775489903</ns0:v>
                </ns0:pt>
                <ns0:pt idx="2">
                  <ns0:v>0.244541082356</ns0:v>
                </ns0:pt>
                <ns0:pt idx="3">
                  <ns0:v>0.42052535216</ns0:v>
                </ns0:pt>
                <ns0:pt idx="4">
                  <ns0:v>0.543372157613</ns0:v>
                </ns0:pt>
                <ns0:pt idx="5">
                  <ns0:v>0.913655490332</ns0:v>
                </ns0:pt>
                <ns0:pt idx="6">
                  <ns0:v>0.917318041414</ns0:v>
                </ns0:pt>
                <ns0:pt idx="7">
                  <ns0:v>1.29098008469</ns0:v>
                </ns0:pt>
                <ns0:pt idx="8">
                  <ns0:v>2.42050904843</ns0:v>
                </ns0:pt>
                <ns0:pt idx="9">
                  <ns0:v>2.55932085124</ns0:v>
                </ns0:pt>
              </ns0:numCache>
            </ns0:numRef>
          </ns0:xVal>
          <ns0:yVal>
            <ns0:numRef>
              <ns0:f>'Chart Data'!$D$2:$D$11</ns0:f>
              <ns0:numCache>
                <ns0:formatCode>0</ns0:formatCode>
                <ns0:ptCount val="10"/>
                <ns0:pt idx="0">
                  <ns0:v>0.5</ns0:v>
                </ns0:pt>
                <ns0:pt idx="1">
                  <ns0:v>0.6</ns0:v>
                </ns0:pt>
                <ns0:pt idx="2">
                  <ns0:v>0.4</ns0:v>
                </ns0:pt>
                <ns0:pt idx="3">
                  <ns0:v>0.7</ns0:v>
                </ns0:pt>
                <ns0:pt idx="4">
                  <ns0:v>0.6</ns0:v>
                </ns0:pt>
                <ns0:pt idx="5">
                  <ns0:v>0.5</ns0:v>
                </ns0:pt>
                <ns0:pt idx="6">
                  <ns0:v>0.6</ns0:v>
                </ns0:pt>
                <ns0:pt idx="7">
                  <ns0:v>0.5</ns0:v>
                </ns0:pt>
                <ns0:pt idx="8">
                  <ns0:v>0.5</ns0:v>
                </ns0:pt>
                <ns0:pt idx="9">
                  <ns0:v>0.6</ns0:v>
                </ns0:pt>
              </ns0:numCache>
            </ns0:numRef>
          </ns0:yVal>
          <ns0:smooth val="0"/>
        </ns0:ser>
        <ns0:ser>
          <ns0:idx val="2"/>
          <ns0:order val="2"/>
          <ns0:tx>
            <ns0:strRef>
              <ns0:f>Error difference crystal_purity Aligned</ns0:f>
              <ns0:strCache>
                <ns0:ptCount val="1"/>
                <ns0:pt idx="0">
                  <ns0:v>Error difference crystal_purity Aligned</ns0:v>
                </ns0:pt>
              </ns0:strCache>
            </ns0:strRef>
          </ns0:tx>
          <ns0:spPr>
            <ns3:ln w="0" cap="rnd">
              <ns3:noFill/>
              <ns3:prstDash val="solid"/>
              <ns3:round/>
            </ns3:ln>
          </ns0:spPr>
          <ns0:marker>
            <ns0:symbol val="circle"/>
            <ns0:size val="8"/>
            <ns0:spPr>
              <ns3:solidFill>
                <ns3:srgbClr val="277F8A"/>
              </ns3:solidFill>
              <ns3:ln w="0">
                <ns3:noFill/>
                <ns3:prstDash val="solid"/>
                <ns3:round/>
              </ns3:ln>
            </ns0:spPr>
          </ns0:marker>
          <ns0:dLbls>
            <ns0:delete val="1"/>
          </ns0:dLbls>
          <ns0:xVal>
            <ns0:numRef>
              <ns0:f>'Chart Data'!$E$2:$E$11</ns0:f>
              <ns0:numCache>
                <ns0:formatCode>General</ns0:formatCode>
                <ns0:ptCount val="10"/>
                <ns0:pt idx="0">
                  <ns0:v>0.681506734543</ns0:v>
                </ns0:pt>
                <ns0:pt idx="1">
                  <ns0:v>1.02817314137</ns0:v>
                </ns0:pt>
                <ns0:pt idx="2">
                  <ns0:v>1.20476220965</ns0:v>
                </ns0:pt>
                <ns0:pt idx="3">
                  <ns0:v>2.92634338779</ns0:v>
                </ns0:pt>
                <ns0:pt idx="4">
                  <ns0:v>3.09864728882</ns0:v>
                </ns0:pt>
                <ns0:pt idx="5">
                  <ns0:v>3.2977272728</ns0:v>
                </ns0:pt>
                <ns0:pt idx="6">
                  <ns0:v>6.02955478737</ns0:v>
                </ns0:pt>
                <ns0:pt idx="7">
                  <ns0:v>6.04379136299</ns0:v>
                </ns0:pt>
                <ns0:pt idx="8">
                  <ns0:v>6.51775009745</ns0:v>
                </ns0:pt>
                <ns0:pt idx="9">
                  <ns0:v>9.068270524</ns0:v>
                </ns0:pt>
              </ns0:numCache>
            </ns0:numRef>
          </ns0:xVal>
          <ns0:yVal>
            <ns0:numRef>
              <ns0:f>'Chart Data'!$F$2:$F$11</ns0:f>
              <ns0:numCache>
                <ns0:formatCode>0</ns0:formatCode>
                <ns0:ptCount val="10"/>
                <ns0:pt idx="0">
                  <ns0:v>0.4</ns0:v>
                </ns0:pt>
                <ns0:pt idx="1">
                  <ns0:v>0.4</ns0:v>
                </ns0:pt>
                <ns0:pt idx="2">
                  <ns0:v>0.7</ns0:v>
                </ns0:pt>
                <ns0:pt idx="3">
                  <ns0:v>0.5</ns0:v>
                </ns0:pt>
                <ns0:pt idx="4">
                  <ns0:v>0.6</ns0:v>
                </ns0:pt>
                <ns0:pt idx="5">
                  <ns0:v>0.5</ns0:v>
                </ns0:pt>
                <ns0:pt idx="6">
                  <ns0:v>0.5</ns0:v>
                </ns0:pt>
                <ns0:pt idx="7">
                  <ns0:v>0.6</ns0:v>
                </ns0:pt>
                <ns0:pt idx="8">
                  <ns0:v>0.5</ns0:v>
                </ns0:pt>
                <ns0:pt idx="9">
                  <ns0:v>0.6</ns0:v>
                </ns0:pt>
              </ns0:numCache>
            </ns0:numRef>
          </ns0:yVal>
          <ns0:smooth val="0"/>
        </ns0:ser>
        <ns0:ser>
          <ns0:idx val="3"/>
          <ns0:order val="3"/>
          <ns0:tx>
            <ns0:strRef>
              <ns0:f>Error difference crystal_purity MisIndexed</ns0:f>
              <ns0:strCache>
                <ns0:ptCount val="1"/>
                <ns0:pt idx="0">
                  <ns0:v>Error difference crystal_purity MisIndexed</ns0:v>
                </ns0:pt>
              </ns0:strCache>
            </ns0:strRef>
          </ns0:tx>
          <ns0:spPr>
            <ns3:ln w="0" cap="rnd">
              <ns3:noFill/>
              <ns3:prstDash val="solid"/>
              <ns3:round/>
            </ns3:ln>
          </ns0:spPr>
          <ns0:marker>
            <ns0:symbol val="circle"/>
            <ns0:size val="8"/>
            <ns0:spPr>
              <ns3:solidFill>
                <ns3:srgbClr val="BC7850"/>
              </ns3:solidFill>
              <ns3:ln w="0">
                <ns3:noFill/>
                <ns3:prstDash val="solid"/>
                <ns3:round/>
              </ns3:ln>
            </ns0:spPr>
          </ns0:marker>
          <ns0:dLbls>
            <ns0:delete val="1"/>
          </ns0:dLbls>
          <ns0:xVal>
            <ns0:numRef>
              <ns0:f>'Chart Data'!$G$2:$G$11</ns0:f>
              <ns0:numCache>
                <ns0:formatCode>General</ns0:formatCode>
                <ns0:ptCount val="10"/>
                <ns0:pt idx="0">
                  <ns0:v>0.472639418967</ns0:v>
                </ns0:pt>
                <ns0:pt idx="1">
                  <ns0:v>2.68462744168</ns0:v>
                </ns0:pt>
                <ns0:pt idx="2">
                  <ns0:v>3.37707493364</ns0:v>
                </ns0:pt>
                <ns0:pt idx="3">
                  <ns0:v>3.84980185512</ns0:v>
                </ns0:pt>
                <ns0:pt idx="4">
                  <ns0:v>7.48834126605</ns0:v>
                </ns0:pt>
                <ns0:pt idx="5">
                  <ns0:v>8.28322914567</ns0:v>
                </ns0:pt>
                <ns0:pt idx="6">
                  <ns0:v>9.00105457675</ns0:v>
                </ns0:pt>
                <ns0:pt idx="7">
                  <ns0:v>9.94031860601</ns0:v>
                </ns0:pt>
                <ns0:pt idx="8">
                  <ns0:v>10.2939829901</ns0:v>
                </ns0:pt>
                <ns0:pt idx="9">
                  <ns0:v>11.2918162141</ns0:v>
                </ns0:pt>
              </ns0:numCache>
            </ns0:numRef>
          </ns0:xVal>
          <ns0:yVal>
            <ns0:numRef>
              <ns0:f>'Chart Data'!$H$2:$H$11</ns0:f>
              <ns0:numCache>
                <ns0:formatCode>0</ns0:formatCode>
                <ns0:ptCount val="10"/>
                <ns0:pt idx="0">
                  <ns0:v>0.5</ns0:v>
                </ns0:pt>
                <ns0:pt idx="1">
                  <ns0:v>0.4</ns0:v>
                </ns0:pt>
                <ns0:pt idx="2">
                  <ns0:v>0.4</ns0:v>
                </ns0:pt>
                <ns0:pt idx="3">
                  <ns0:v>0.5</ns0:v>
                </ns0:pt>
                <ns0:pt idx="4">
                  <ns0:v>0.5</ns0:v>
                </ns0:pt>
                <ns0:pt idx="5">
                  <ns0:v>0.5</ns0:v>
                </ns0:pt>
                <ns0:pt idx="6">
                  <ns0:v>0.5</ns0:v>
                </ns0:pt>
                <ns0:pt idx="7">
                  <ns0:v>0.5</ns0:v>
                </ns0:pt>
                <ns0:pt idx="8">
                  <ns0:v>0.5</ns0:v>
                </ns0:pt>
                <ns0:pt idx="9">
                  <ns0:v>0.5</ns0:v>
                </ns0:pt>
              </ns0:numCache>
            </ns0:numRef>
          </ns0:yVal>
          <ns0:smooth val="0"/>
        </ns0:ser>
        <ns0:dLbls>
          <ns0:showLegendKey val="0"/>
          <ns0:showVal val="0"/>
          <ns0:showCatName val="0"/>
          <ns0:showSerName val="0"/>
          <ns0:showPercent val="0"/>
          <ns0:showBubbleSize val="0"/>
        </ns0:dLbls>
        <ns0:axId val="48650112"/>
        <ns0:axId val="48672768"/>
      </ns0:scatterChart>
      <ns0:valAx>
        <ns0:axId val="48650112"/>
        <ns0:scaling>
          <ns0:orientation val="minMax"/>
          <ns0:max val="12"/>
          <ns0:min val="-2"/>
        </ns0:scaling>
        <ns0:delete val="0"/>
        <ns0:axPos val="b"/>
        <ns0:title>
          <ns0:tx>
            <ns0:rich>
              <ns3:bodyPr rot="0" spcFirstLastPara="0" vertOverflow="ellipsis" vert="horz" wrap="square" anchor="ctr" anchorCtr="1"/>
              <ns3:lstStyle/>
              <ns3:p>
                <ns3:pPr>
                  <ns3:defRPr lang="zh-CN" sz="1000" b="1" i="0" u="none" strike="noStrike" kern="1200" baseline="0">
                    <ns3:solidFill>
                      <ns3:schemeClr val="tx1"/>
                    </ns3:solidFill>
                    <ns3:latin typeface="+mn-lt"/>
                    <ns3:ea typeface="+mn-ea"/>
                    <ns3:cs typeface="+mn-cs"/>
                  </ns3:defRPr>
                </ns3:pPr>
                <ns3:r>
                  <ns3:rPr sz="1500">
                    <ns3:solidFill>
                      <ns3:srgbClr val="24292D"/>
                    </ns3:solidFill>
                    <ns3:latin typeface="Arial" panose="020B0604020202020204"/>
                    <ns3:ea typeface="Arial" panose="020B0604020202020204"/>
                    <ns3:cs typeface="Arial" panose="020B0604020202020204"/>
                  </ns3:rPr>
                  <ns3:t>MAE difference (percentage points)</ns3:t>
                </ns3:r>
                <ns3:endParaRPr sz="1500">
                  <ns3:solidFill>
                    <ns3:srgbClr val="24292D"/>
                  </ns3:solidFill>
                  <ns3:latin typeface="Arial" panose="020B0604020202020204"/>
                  <ns3:ea typeface="Arial" panose="020B0604020202020204"/>
                  <ns3:cs typeface="Arial" panose="020B0604020202020204"/>
                </ns3:endParaRPr>
              </ns3:p>
            </ns0:rich>
          </ns0:tx>
          <ns0:layout/>
          <ns0:overlay val="0"/>
        </ns0:title>
        <ns0:numFmt formatCode="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72768"/>
        <ns0:crosses val="min"/>
        <ns0:crossBetween val="midCat"/>
        <ns0:majorUnit val="2"/>
      </ns0:valAx>
      <ns0:valAx>
        <ns0:axId val="48672768"/>
        <ns0:scaling>
          <ns0:orientation val="minMax"/>
          <ns0:max val="1"/>
          <ns0:min val="0"/>
        </ns0:scaling>
        <ns0:delete val="0"/>
        <ns0:axPos val="l"/>
        <ns0:numFmt formatCode="0" sourceLinked="1"/>
        <ns0:majorTickMark val="none"/>
        <ns0:minorTickMark val="none"/>
        <ns0:tickLblPos val="none"/>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FFFFFF"/>
                </ns3:solidFill>
                <ns3:latin typeface="Arial" panose="020B0604020202020204"/>
                <ns3:ea typeface="Arial" panose="020B0604020202020204"/>
                <ns3:cs typeface="Arial" panose="020B0604020202020204"/>
              </ns3:defRPr>
            </ns3:pPr>
          </ns3:p>
        </ns0:txPr>
        <ns0:crossAx val="48650112"/>
        <ns0:crosses val="min"/>
        <ns0:crossBetween val="midCat"/>
        <ns0:majorUnit val="1"/>
      </ns0:valAx>
      <ns0:spPr>
        <ns3:solidFill>
          <ns3:srgbClr val="FFFFFF"/>
        </ns3:solidFill>
        <ns3:ln w="0">
          <ns3:noFill/>
        </ns3:ln>
      </ns0:spPr>
    </ns0:plotArea>
    <ns0:plotVisOnly val="1"/>
    <ns0:dispBlanksAs val="gap"/>
    <ns0:showDLblsOverMax val="0"/>
    <ns0:extLst>
      <ns0:ext uri="{0b15fc19-7d7d-44ad-8c2d-2c3a37ce22c3}">
        <ns4:chartProps chartId="{f71f3e9e-6082-42d6-b833-540ab594ef19}"/>
      </ns0:ext>
    </ns0:extLst>
  </ns0:chart>
  <ns0:spPr>
    <ns3:solidFill>
      <ns3:srgbClr val="FFFFFF"/>
    </ns3:solidFill>
    <ns3:ln w="0">
      <ns3:noFill/>
    </ns3:ln>
  </ns0:spPr>
  <ns0:txPr>
    <ns3:bodyPr/>
    <ns3:lstStyle/>
    <ns3:p>
      <ns3:pPr>
        <ns3:defRPr lang="zh-CN"/>
      </ns3:pPr>
    </ns3:p>
  </ns0:txPr>
  <ns0:externalData ns5:id="rId1">
    <ns0:autoUpdate val="0"/>
  </ns0:externalData>
</ns0:chartSpace>
</file>

<file path=ppt/charts/chart9.xml><?xml version="1.0" encoding="utf-8"?>
<ns0:chartSpace xmlns:ns0="http://schemas.openxmlformats.org/drawingml/2006/chart" xmlns:ns1="http://schemas.openxmlformats.org/markup-compatibility/2006" xmlns:ns2="http://schemas.microsoft.com/office/drawing/2007/8/2/chart" xmlns:ns3="http://schemas.openxmlformats.org/drawingml/2006/main" xmlns:ns4="https://web.wps.cn/et/2018/main" xmlns:ns5="http://schemas.openxmlformats.org/officeDocument/2006/relationships">
  <ns0:date1904 val="0"/>
  <ns0:lang val="zh-CN"/>
  <ns0:roundedCorners val="0"/>
  <ns1:AlternateContent>
    <ns1:Choice Requires="c14">
      <ns2:style val="102"/>
    </ns1:Choice>
    <ns1:Fallback>
      <ns0:style val="2"/>
    </ns1:Fallback>
  </ns1:AlternateContent>
  <ns0:chart>
    <ns0:autoTitleDeleted val="1"/>
    <ns0:plotArea>
      <ns0:layout/>
      <ns0:scatterChart>
        <ns0:scatterStyle val="lineMarker"/>
        <ns0:varyColors val="0"/>
        <ns0:ser>
          <ns0:idx val="0"/>
          <ns0:order val="0"/>
          <ns0:tx>
            <ns0:strRef>
              <ns0:f>EC-W01</ns0:f>
              <ns0:strCache>
                <ns0:ptCount val="1"/>
                <ns0:pt idx="0">
                  <ns0:v>EC-W01</ns0:v>
                </ns0:pt>
              </ns0:strCache>
            </ns0:strRef>
          </ns0:tx>
          <ns0:spPr>
            <ns3:ln w="11430" cap="rnd">
              <ns3:solidFill>
                <ns3:srgbClr val="D7DDE1"/>
              </ns3:solidFill>
              <ns3:prstDash val="solid"/>
              <ns3:round/>
            </ns3:ln>
          </ns0:spPr>
          <ns0:marker>
            <ns0:symbol val="none"/>
          </ns0:marker>
          <ns0:dLbls>
            <ns0:delete val="1"/>
          </ns0:dLbls>
          <ns0:xVal>
            <ns0:numRef>
              <ns0:f>'Chart Data'!$A$2:$A$4</ns0:f>
              <ns0:numCache>
                <ns0:formatCode>General</ns0:formatCode>
                <ns0:ptCount val="3"/>
                <ns0:pt idx="0">
                  <ns0:v>0</ns0:v>
                </ns0:pt>
                <ns0:pt idx="1">
                  <ns0:v>1</ns0:v>
                </ns0:pt>
                <ns0:pt idx="2">
                  <ns0:v>2</ns0:v>
                </ns0:pt>
              </ns0:numCache>
            </ns0:numRef>
          </ns0:xVal>
          <ns0:yVal>
            <ns0:numRef>
              <ns0:f>'Chart Data'!$B$2:$B$4</ns0:f>
              <ns0:numCache>
                <ns0:formatCode>0.00</ns0:formatCode>
                <ns0:ptCount val="3"/>
                <ns0:pt idx="0">
                  <ns0:v>0.0883938320105</ns0:v>
                </ns0:pt>
                <ns0:pt idx="1">
                  <ns0:v>0.261981368499</ns0:v>
                </ns0:pt>
                <ns0:pt idx="2">
                  <ns0:v>0.246721178852</ns0:v>
                </ns0:pt>
              </ns0:numCache>
            </ns0:numRef>
          </ns0:yVal>
          <ns0:smooth val="0"/>
        </ns0:ser>
        <ns0:ser>
          <ns0:idx val="1"/>
          <ns0:order val="1"/>
          <ns0:tx>
            <ns0:strRef>
              <ns0:f>EC-W02</ns0:f>
              <ns0:strCache>
                <ns0:ptCount val="1"/>
                <ns0:pt idx="0">
                  <ns0:v>EC-W02</ns0:v>
                </ns0:pt>
              </ns0:strCache>
            </ns0:strRef>
          </ns0:tx>
          <ns0:spPr>
            <ns3:ln w="11430" cap="rnd">
              <ns3:solidFill>
                <ns3:srgbClr val="D7DDE1"/>
              </ns3:solidFill>
              <ns3:prstDash val="solid"/>
              <ns3:round/>
            </ns3:ln>
          </ns0:spPr>
          <ns0:marker>
            <ns0:symbol val="none"/>
          </ns0:marker>
          <ns0:dLbls>
            <ns0:delete val="1"/>
          </ns0:dLbls>
          <ns0:xVal>
            <ns0:numRef>
              <ns0:f>'Chart Data'!$C$2:$C$4</ns0:f>
              <ns0:numCache>
                <ns0:formatCode>General</ns0:formatCode>
                <ns0:ptCount val="3"/>
                <ns0:pt idx="0">
                  <ns0:v>0</ns0:v>
                </ns0:pt>
                <ns0:pt idx="1">
                  <ns0:v>1</ns0:v>
                </ns0:pt>
                <ns0:pt idx="2">
                  <ns0:v>2</ns0:v>
                </ns0:pt>
              </ns0:numCache>
            </ns0:numRef>
          </ns0:xVal>
          <ns0:yVal>
            <ns0:numRef>
              <ns0:f>'Chart Data'!$D$2:$D$4</ns0:f>
              <ns0:numCache>
                <ns0:formatCode>0.00</ns0:formatCode>
                <ns0:ptCount val="3"/>
                <ns0:pt idx="0">
                  <ns0:v>0.273798996785</ns0:v>
                </ns0:pt>
                <ns0:pt idx="1">
                  <ns0:v>0.0717608553516</ns0:v>
                </ns0:pt>
                <ns0:pt idx="2">
                  <ns0:v>0.125806427617</ns0:v>
                </ns0:pt>
              </ns0:numCache>
            </ns0:numRef>
          </ns0:yVal>
          <ns0:smooth val="0"/>
        </ns0:ser>
        <ns0:ser>
          <ns0:idx val="2"/>
          <ns0:order val="2"/>
          <ns0:tx>
            <ns0:strRef>
              <ns0:f>EC-W03</ns0:f>
              <ns0:strCache>
                <ns0:ptCount val="1"/>
                <ns0:pt idx="0">
                  <ns0:v>EC-W03</ns0:v>
                </ns0:pt>
              </ns0:strCache>
            </ns0:strRef>
          </ns0:tx>
          <ns0:spPr>
            <ns3:ln w="11430" cap="rnd">
              <ns3:solidFill>
                <ns3:srgbClr val="D7DDE1"/>
              </ns3:solidFill>
              <ns3:prstDash val="solid"/>
              <ns3:round/>
            </ns3:ln>
          </ns0:spPr>
          <ns0:marker>
            <ns0:symbol val="none"/>
          </ns0:marker>
          <ns0:dLbls>
            <ns0:delete val="1"/>
          </ns0:dLbls>
          <ns0:xVal>
            <ns0:numRef>
              <ns0:f>'Chart Data'!$E$2:$E$4</ns0:f>
              <ns0:numCache>
                <ns0:formatCode>General</ns0:formatCode>
                <ns0:ptCount val="3"/>
                <ns0:pt idx="0">
                  <ns0:v>0</ns0:v>
                </ns0:pt>
                <ns0:pt idx="1">
                  <ns0:v>1</ns0:v>
                </ns0:pt>
                <ns0:pt idx="2">
                  <ns0:v>2</ns0:v>
                </ns0:pt>
              </ns0:numCache>
            </ns0:numRef>
          </ns0:xVal>
          <ns0:yVal>
            <ns0:numRef>
              <ns0:f>'Chart Data'!$F$2:$F$4</ns0:f>
              <ns0:numCache>
                <ns0:formatCode>0.00</ns0:formatCode>
                <ns0:ptCount val="3"/>
                <ns0:pt idx="0">
                  <ns0:v>0.064967072757</ns0:v>
                </ns0:pt>
                <ns0:pt idx="1">
                  <ns0:v>0.245367702993</ns0:v>
                </ns0:pt>
                <ns0:pt idx="2">
                  <ns0:v>0.0601056496023</ns0:v>
                </ns0:pt>
              </ns0:numCache>
            </ns0:numRef>
          </ns0:yVal>
          <ns0:smooth val="0"/>
        </ns0:ser>
        <ns0:ser>
          <ns0:idx val="3"/>
          <ns0:order val="3"/>
          <ns0:tx>
            <ns0:strRef>
              <ns0:f>EC-W04</ns0:f>
              <ns0:strCache>
                <ns0:ptCount val="1"/>
                <ns0:pt idx="0">
                  <ns0:v>EC-W04</ns0:v>
                </ns0:pt>
              </ns0:strCache>
            </ns0:strRef>
          </ns0:tx>
          <ns0:spPr>
            <ns3:ln w="11430" cap="rnd">
              <ns3:solidFill>
                <ns3:srgbClr val="D7DDE1"/>
              </ns3:solidFill>
              <ns3:prstDash val="solid"/>
              <ns3:round/>
            </ns3:ln>
          </ns0:spPr>
          <ns0:marker>
            <ns0:symbol val="none"/>
          </ns0:marker>
          <ns0:dLbls>
            <ns0:delete val="1"/>
          </ns0:dLbls>
          <ns0:xVal>
            <ns0:numRef>
              <ns0:f>'Chart Data'!$G$2:$G$4</ns0:f>
              <ns0:numCache>
                <ns0:formatCode>General</ns0:formatCode>
                <ns0:ptCount val="3"/>
                <ns0:pt idx="0">
                  <ns0:v>0</ns0:v>
                </ns0:pt>
                <ns0:pt idx="1">
                  <ns0:v>1</ns0:v>
                </ns0:pt>
                <ns0:pt idx="2">
                  <ns0:v>2</ns0:v>
                </ns0:pt>
              </ns0:numCache>
            </ns0:numRef>
          </ns0:xVal>
          <ns0:yVal>
            <ns0:numRef>
              <ns0:f>'Chart Data'!$H$2:$H$4</ns0:f>
              <ns0:numCache>
                <ns0:formatCode>0.00</ns0:formatCode>
                <ns0:ptCount val="3"/>
                <ns0:pt idx="0">
                  <ns0:v>0.259554781616</ns0:v>
                </ns0:pt>
                <ns0:pt idx="1">
                  <ns0:v>0.265505931874</ns0:v>
                </ns0:pt>
                <ns0:pt idx="2">
                  <ns0:v>0.165423463563</ns0:v>
                </ns0:pt>
              </ns0:numCache>
            </ns0:numRef>
          </ns0:yVal>
          <ns0:smooth val="0"/>
        </ns0:ser>
        <ns0:ser>
          <ns0:idx val="4"/>
          <ns0:order val="4"/>
          <ns0:tx>
            <ns0:strRef>
              <ns0:f>EC-W05</ns0:f>
              <ns0:strCache>
                <ns0:ptCount val="1"/>
                <ns0:pt idx="0">
                  <ns0:v>EC-W05</ns0:v>
                </ns0:pt>
              </ns0:strCache>
            </ns0:strRef>
          </ns0:tx>
          <ns0:spPr>
            <ns3:ln w="11430" cap="rnd">
              <ns3:solidFill>
                <ns3:srgbClr val="D7DDE1"/>
              </ns3:solidFill>
              <ns3:prstDash val="solid"/>
              <ns3:round/>
            </ns3:ln>
          </ns0:spPr>
          <ns0:marker>
            <ns0:symbol val="none"/>
          </ns0:marker>
          <ns0:dLbls>
            <ns0:delete val="1"/>
          </ns0:dLbls>
          <ns0:xVal>
            <ns0:numRef>
              <ns0:f>'Chart Data'!$I$2:$I$4</ns0:f>
              <ns0:numCache>
                <ns0:formatCode>General</ns0:formatCode>
                <ns0:ptCount val="3"/>
                <ns0:pt idx="0">
                  <ns0:v>0</ns0:v>
                </ns0:pt>
                <ns0:pt idx="1">
                  <ns0:v>1</ns0:v>
                </ns0:pt>
                <ns0:pt idx="2">
                  <ns0:v>2</ns0:v>
                </ns0:pt>
              </ns0:numCache>
            </ns0:numRef>
          </ns0:xVal>
          <ns0:yVal>
            <ns0:numRef>
              <ns0:f>'Chart Data'!$J$2:$J$4</ns0:f>
              <ns0:numCache>
                <ns0:formatCode>0.00</ns0:formatCode>
                <ns0:ptCount val="3"/>
                <ns0:pt idx="0">
                  <ns0:v>0.28997020331</ns0:v>
                </ns0:pt>
                <ns0:pt idx="1">
                  <ns0:v>0.125052306483</ns0:v>
                </ns0:pt>
                <ns0:pt idx="2">
                  <ns0:v>0.0622413404683</ns0:v>
                </ns0:pt>
              </ns0:numCache>
            </ns0:numRef>
          </ns0:yVal>
          <ns0:smooth val="0"/>
        </ns0:ser>
        <ns0:ser>
          <ns0:idx val="5"/>
          <ns0:order val="5"/>
          <ns0:tx>
            <ns0:strRef>
              <ns0:f>Opaque</ns0:f>
              <ns0:strCache>
                <ns0:ptCount val="1"/>
                <ns0:pt idx="0">
                  <ns0:v>Opaque</ns0:v>
                </ns0:pt>
              </ns0:strCache>
            </ns0:strRef>
          </ns0:tx>
          <ns0:spPr>
            <ns3:ln w="0" cap="rnd">
              <ns3:noFill/>
              <ns3:prstDash val="solid"/>
              <ns3:round/>
            </ns3:ln>
          </ns0:spPr>
          <ns0:marker>
            <ns0:symbol val="circle"/>
            <ns0:size val="8"/>
            <ns0:spPr>
              <ns3:solidFill>
                <ns3:srgbClr val="637482"/>
              </ns3:solidFill>
              <ns3:ln w="0">
                <ns3:noFill/>
                <ns3:prstDash val="solid"/>
                <ns3:round/>
              </ns3:ln>
            </ns0:spPr>
          </ns0:marker>
          <ns0:dLbls>
            <ns0:delete val="1"/>
          </ns0:dLbls>
          <ns0:xVal>
            <ns0:numRef>
              <ns0:f>'Chart Data'!$K$2:$K$6</ns0:f>
              <ns0:numCache>
                <ns0:formatCode>General</ns0:formatCode>
                <ns0:ptCount val="5"/>
                <ns0:pt idx="0">
                  <ns0:v>0</ns0:v>
                </ns0:pt>
                <ns0:pt idx="1">
                  <ns0:v>0</ns0:v>
                </ns0:pt>
                <ns0:pt idx="2">
                  <ns0:v>0</ns0:v>
                </ns0:pt>
                <ns0:pt idx="3">
                  <ns0:v>0</ns0:v>
                </ns0:pt>
                <ns0:pt idx="4">
                  <ns0:v>0</ns0:v>
                </ns0:pt>
              </ns0:numCache>
            </ns0:numRef>
          </ns0:xVal>
          <ns0:yVal>
            <ns0:numRef>
              <ns0:f>'Chart Data'!$L$2:$L$6</ns0:f>
              <ns0:numCache>
                <ns0:formatCode>0.00</ns0:formatCode>
                <ns0:ptCount val="5"/>
                <ns0:pt idx="0">
                  <ns0:v>0.0883938320105</ns0:v>
                </ns0:pt>
                <ns0:pt idx="1">
                  <ns0:v>0.273798996785</ns0:v>
                </ns0:pt>
                <ns0:pt idx="2">
                  <ns0:v>0.064967072757</ns0:v>
                </ns0:pt>
                <ns0:pt idx="3">
                  <ns0:v>0.259554781616</ns0:v>
                </ns0:pt>
                <ns0:pt idx="4">
                  <ns0:v>0.28997020331</ns0:v>
                </ns0:pt>
              </ns0:numCache>
            </ns0:numRef>
          </ns0:yVal>
          <ns0:smooth val="0"/>
        </ns0:ser>
        <ns0:ser>
          <ns0:idx val="6"/>
          <ns0:order val="6"/>
          <ns0:tx>
            <ns0:strRef>
              <ns0:f>Aligned</ns0:f>
              <ns0:strCache>
                <ns0:ptCount val="1"/>
                <ns0:pt idx="0">
                  <ns0:v>Aligned</ns0:v>
                </ns0:pt>
              </ns0:strCache>
            </ns0:strRef>
          </ns0:tx>
          <ns0:spPr>
            <ns3:ln w="0" cap="rnd">
              <ns3:noFill/>
              <ns3:prstDash val="solid"/>
              <ns3:round/>
            </ns3:ln>
          </ns0:spPr>
          <ns0:marker>
            <ns0:symbol val="circle"/>
            <ns0:size val="8"/>
            <ns0:spPr>
              <ns3:solidFill>
                <ns3:srgbClr val="277F8A"/>
              </ns3:solidFill>
              <ns3:ln w="0">
                <ns3:noFill/>
                <ns3:prstDash val="solid"/>
                <ns3:round/>
              </ns3:ln>
            </ns0:spPr>
          </ns0:marker>
          <ns0:dLbls>
            <ns0:delete val="1"/>
          </ns0:dLbls>
          <ns0:xVal>
            <ns0:numRef>
              <ns0:f>'Chart Data'!$M$2:$M$6</ns0:f>
              <ns0:numCache>
                <ns0:formatCode>General</ns0:formatCode>
                <ns0:ptCount val="5"/>
                <ns0:pt idx="0">
                  <ns0:v>1</ns0:v>
                </ns0:pt>
                <ns0:pt idx="1">
                  <ns0:v>1</ns0:v>
                </ns0:pt>
                <ns0:pt idx="2">
                  <ns0:v>1</ns0:v>
                </ns0:pt>
                <ns0:pt idx="3">
                  <ns0:v>1</ns0:v>
                </ns0:pt>
                <ns0:pt idx="4">
                  <ns0:v>1</ns0:v>
                </ns0:pt>
              </ns0:numCache>
            </ns0:numRef>
          </ns0:xVal>
          <ns0:yVal>
            <ns0:numRef>
              <ns0:f>'Chart Data'!$N$2:$N$6</ns0:f>
              <ns0:numCache>
                <ns0:formatCode>0.00</ns0:formatCode>
                <ns0:ptCount val="5"/>
                <ns0:pt idx="0">
                  <ns0:v>0.261981368499</ns0:v>
                </ns0:pt>
                <ns0:pt idx="1">
                  <ns0:v>0.0717608553516</ns0:v>
                </ns0:pt>
                <ns0:pt idx="2">
                  <ns0:v>0.245367702993</ns0:v>
                </ns0:pt>
                <ns0:pt idx="3">
                  <ns0:v>0.265505931874</ns0:v>
                </ns0:pt>
                <ns0:pt idx="4">
                  <ns0:v>0.125052306483</ns0:v>
                </ns0:pt>
              </ns0:numCache>
            </ns0:numRef>
          </ns0:yVal>
          <ns0:smooth val="0"/>
        </ns0:ser>
        <ns0:ser>
          <ns0:idx val="7"/>
          <ns0:order val="7"/>
          <ns0:tx>
            <ns0:strRef>
              <ns0:f>MisIndexed</ns0:f>
              <ns0:strCache>
                <ns0:ptCount val="1"/>
                <ns0:pt idx="0">
                  <ns0:v>MisIndexed</ns0:v>
                </ns0:pt>
              </ns0:strCache>
            </ns0:strRef>
          </ns0:tx>
          <ns0:spPr>
            <ns3:ln w="0" cap="rnd">
              <ns3:noFill/>
              <ns3:prstDash val="solid"/>
              <ns3:round/>
            </ns3:ln>
          </ns0:spPr>
          <ns0:marker>
            <ns0:symbol val="circle"/>
            <ns0:size val="8"/>
            <ns0:spPr>
              <ns3:solidFill>
                <ns3:srgbClr val="BC7850"/>
              </ns3:solidFill>
              <ns3:ln w="0">
                <ns3:noFill/>
                <ns3:prstDash val="solid"/>
                <ns3:round/>
              </ns3:ln>
            </ns0:spPr>
          </ns0:marker>
          <ns0:dLbls>
            <ns0:delete val="1"/>
          </ns0:dLbls>
          <ns0:xVal>
            <ns0:numRef>
              <ns0:f>'Chart Data'!$O$2:$O$6</ns0:f>
              <ns0:numCache>
                <ns0:formatCode>General</ns0:formatCode>
                <ns0:ptCount val="5"/>
                <ns0:pt idx="0">
                  <ns0:v>2</ns0:v>
                </ns0:pt>
                <ns0:pt idx="1">
                  <ns0:v>2</ns0:v>
                </ns0:pt>
                <ns0:pt idx="2">
                  <ns0:v>2</ns0:v>
                </ns0:pt>
                <ns0:pt idx="3">
                  <ns0:v>2</ns0:v>
                </ns0:pt>
                <ns0:pt idx="4">
                  <ns0:v>2</ns0:v>
                </ns0:pt>
              </ns0:numCache>
            </ns0:numRef>
          </ns0:xVal>
          <ns0:yVal>
            <ns0:numRef>
              <ns0:f>'Chart Data'!$P$2:$P$6</ns0:f>
              <ns0:numCache>
                <ns0:formatCode>0.00</ns0:formatCode>
                <ns0:ptCount val="5"/>
                <ns0:pt idx="0">
                  <ns0:v>0.246721178852</ns0:v>
                </ns0:pt>
                <ns0:pt idx="1">
                  <ns0:v>0.125806427617</ns0:v>
                </ns0:pt>
                <ns0:pt idx="2">
                  <ns0:v>0.0601056496023</ns0:v>
                </ns0:pt>
                <ns0:pt idx="3">
                  <ns0:v>0.165423463563</ns0:v>
                </ns0:pt>
                <ns0:pt idx="4">
                  <ns0:v>0.0622413404683</ns0:v>
                </ns0:pt>
              </ns0:numCache>
            </ns0:numRef>
          </ns0:yVal>
          <ns0:smooth val="0"/>
        </ns0:ser>
        <ns0:dLbls>
          <ns0:showLegendKey val="0"/>
          <ns0:showVal val="0"/>
          <ns0:showCatName val="0"/>
          <ns0:showSerName val="0"/>
          <ns0:showPercent val="0"/>
          <ns0:showBubbleSize val="0"/>
        </ns0:dLbls>
        <ns0:axId val="48650112"/>
        <ns0:axId val="48672768"/>
      </ns0:scatterChart>
      <ns0:valAx>
        <ns0:axId val="48650112"/>
        <ns0:scaling>
          <ns0:orientation val="minMax"/>
          <ns0:max val="2.5"/>
          <ns0:min val="-0.5"/>
        </ns0:scaling>
        <ns0:delete val="0"/>
        <ns0:axPos val="b"/>
        <ns0:numFmt formatCode="0" sourceLinked="1"/>
        <ns0:majorTickMark val="none"/>
        <ns0:minorTickMark val="none"/>
        <ns0:tickLblPos val="none"/>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FFFFFF"/>
                </ns3:solidFill>
                <ns3:latin typeface="Arial" panose="020B0604020202020204"/>
                <ns3:ea typeface="Arial" panose="020B0604020202020204"/>
                <ns3:cs typeface="Arial" panose="020B0604020202020204"/>
              </ns3:defRPr>
            </ns3:pPr>
          </ns3:p>
        </ns0:txPr>
        <ns0:crossAx val="48672768"/>
        <ns0:crosses val="min"/>
        <ns0:crossBetween val="midCat"/>
        <ns0:majorUnit val="1"/>
      </ns0:valAx>
      <ns0:valAx>
        <ns0:axId val="48672768"/>
        <ns0:scaling>
          <ns0:orientation val="minMax"/>
          <ns0:max val="0.318967223641276"/>
          <ns0:min val="0"/>
        </ns0:scaling>
        <ns0:delete val="0"/>
        <ns0:axPos val="l"/>
        <ns0:numFmt formatCode="0.0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50112"/>
        <ns0:crosses val="min"/>
        <ns0:crossBetween val="midCat"/>
      </ns0:valAx>
      <ns0:spPr>
        <ns3:solidFill>
          <ns3:srgbClr val="FFFFFF"/>
        </ns3:solidFill>
        <ns3:ln w="0">
          <ns3:noFill/>
        </ns3:ln>
      </ns0:spPr>
    </ns0:plotArea>
    <ns0:plotVisOnly val="1"/>
    <ns0:dispBlanksAs val="gap"/>
    <ns0:showDLblsOverMax val="0"/>
    <ns0:extLst>
      <ns0:ext uri="{0b15fc19-7d7d-44ad-8c2d-2c3a37ce22c3}">
        <ns4:chartProps chartId="{f052a0ab-c783-480d-b108-943b731c796a}"/>
      </ns0:ext>
    </ns0:extLst>
  </ns0:chart>
  <ns0:spPr>
    <ns3:solidFill>
      <ns3:srgbClr val="FFFFFF"/>
    </ns3:solidFill>
    <ns3:ln w="0">
      <ns3:noFill/>
    </ns3:ln>
  </ns0:spPr>
  <ns0:txPr>
    <ns3:bodyPr/>
    <ns3:lstStyle/>
    <ns3:p>
      <ns3:pPr>
        <ns3:defRPr lang="zh-CN"/>
      </ns3:pPr>
    </ns3:p>
  </ns0:txPr>
  <ns0:externalData ns5:id="rId1">
    <ns0:autoUpdate val="0"/>
  </ns0:externalData>
</ns0:chartSpace>
</file>

<file path=ppt/charts/chart10.xml><?xml version="1.0" encoding="utf-8"?>
<ns0:chartSpace xmlns:ns0="http://schemas.openxmlformats.org/drawingml/2006/chart" xmlns:ns1="http://schemas.openxmlformats.org/markup-compatibility/2006" xmlns:ns2="http://schemas.microsoft.com/office/drawing/2007/8/2/chart" xmlns:ns3="http://schemas.openxmlformats.org/drawingml/2006/main" xmlns:ns4="https://web.wps.cn/et/2018/main" xmlns:ns5="http://schemas.openxmlformats.org/officeDocument/2006/relationships">
  <ns0:date1904 val="0"/>
  <ns0:lang val="zh-CN"/>
  <ns0:roundedCorners val="0"/>
  <ns1:AlternateContent>
    <ns1:Choice Requires="c14">
      <ns2:style val="102"/>
    </ns1:Choice>
    <ns1:Fallback>
      <ns0:style val="2"/>
    </ns1:Fallback>
  </ns1:AlternateContent>
  <ns0:chart>
    <ns0:autoTitleDeleted val="1"/>
    <ns0:plotArea>
      <ns0:layout/>
      <ns0:scatterChart>
        <ns0:scatterStyle val="lineMarker"/>
        <ns0:varyColors val="0"/>
        <ns0:ser>
          <ns0:idx val="0"/>
          <ns0:order val="0"/>
          <ns0:tx>
            <ns0:strRef>
              <ns0:f>EC-W01</ns0:f>
              <ns0:strCache>
                <ns0:ptCount val="1"/>
                <ns0:pt idx="0">
                  <ns0:v>EC-W01</ns0:v>
                </ns0:pt>
              </ns0:strCache>
            </ns0:strRef>
          </ns0:tx>
          <ns0:spPr>
            <ns3:ln w="11430" cap="rnd">
              <ns3:solidFill>
                <ns3:srgbClr val="D7DDE1"/>
              </ns3:solidFill>
              <ns3:prstDash val="solid"/>
              <ns3:round/>
            </ns3:ln>
          </ns0:spPr>
          <ns0:marker>
            <ns0:symbol val="none"/>
          </ns0:marker>
          <ns0:dLbls>
            <ns0:delete val="1"/>
          </ns0:dLbls>
          <ns0:xVal>
            <ns0:numRef>
              <ns0:f>'Chart Data'!$A$2:$A$4</ns0:f>
              <ns0:numCache>
                <ns0:formatCode>General</ns0:formatCode>
                <ns0:ptCount val="3"/>
                <ns0:pt idx="0">
                  <ns0:v>0</ns0:v>
                </ns0:pt>
                <ns0:pt idx="1">
                  <ns0:v>1</ns0:v>
                </ns0:pt>
                <ns0:pt idx="2">
                  <ns0:v>2</ns0:v>
                </ns0:pt>
              </ns0:numCache>
            </ns0:numRef>
          </ns0:xVal>
          <ns0:yVal>
            <ns0:numRef>
              <ns0:f>'Chart Data'!$B$2:$B$4</ns0:f>
              <ns0:numCache>
                <ns0:formatCode>0.00</ns0:formatCode>
                <ns0:ptCount val="3"/>
                <ns0:pt idx="0">
                  <ns0:v>0.070735847714</ns0:v>
                </ns0:pt>
                <ns0:pt idx="1">
                  <ns0:v>0.232454872571</ns0:v>
                </ns0:pt>
                <ns0:pt idx="2">
                  <ns0:v>0.0367626219615</ns0:v>
                </ns0:pt>
              </ns0:numCache>
            </ns0:numRef>
          </ns0:yVal>
          <ns0:smooth val="0"/>
        </ns0:ser>
        <ns0:ser>
          <ns0:idx val="1"/>
          <ns0:order val="1"/>
          <ns0:tx>
            <ns0:strRef>
              <ns0:f>EC-W02</ns0:f>
              <ns0:strCache>
                <ns0:ptCount val="1"/>
                <ns0:pt idx="0">
                  <ns0:v>EC-W02</ns0:v>
                </ns0:pt>
              </ns0:strCache>
            </ns0:strRef>
          </ns0:tx>
          <ns0:spPr>
            <ns3:ln w="11430" cap="rnd">
              <ns3:solidFill>
                <ns3:srgbClr val="D7DDE1"/>
              </ns3:solidFill>
              <ns3:prstDash val="solid"/>
              <ns3:round/>
            </ns3:ln>
          </ns0:spPr>
          <ns0:marker>
            <ns0:symbol val="none"/>
          </ns0:marker>
          <ns0:dLbls>
            <ns0:delete val="1"/>
          </ns0:dLbls>
          <ns0:xVal>
            <ns0:numRef>
              <ns0:f>'Chart Data'!$C$2:$C$4</ns0:f>
              <ns0:numCache>
                <ns0:formatCode>General</ns0:formatCode>
                <ns0:ptCount val="3"/>
                <ns0:pt idx="0">
                  <ns0:v>0</ns0:v>
                </ns0:pt>
                <ns0:pt idx="1">
                  <ns0:v>1</ns0:v>
                </ns0:pt>
                <ns0:pt idx="2">
                  <ns0:v>2</ns0:v>
                </ns0:pt>
              </ns0:numCache>
            </ns0:numRef>
          </ns0:xVal>
          <ns0:yVal>
            <ns0:numRef>
              <ns0:f>'Chart Data'!$D$2:$D$4</ns0:f>
              <ns0:numCache>
                <ns0:formatCode>0.00</ns0:formatCode>
                <ns0:ptCount val="3"/>
                <ns0:pt idx="0">
                  <ns0:v>0.136589668213</ns0:v>
                </ns0:pt>
                <ns0:pt idx="1">
                  <ns0:v>0.0486093169637</ns0:v>
                </ns0:pt>
                <ns0:pt idx="2">
                  <ns0:v>0.0630664331702</ns0:v>
                </ns0:pt>
              </ns0:numCache>
            </ns0:numRef>
          </ns0:yVal>
          <ns0:smooth val="0"/>
        </ns0:ser>
        <ns0:ser>
          <ns0:idx val="2"/>
          <ns0:order val="2"/>
          <ns0:tx>
            <ns0:strRef>
              <ns0:f>EC-W03</ns0:f>
              <ns0:strCache>
                <ns0:ptCount val="1"/>
                <ns0:pt idx="0">
                  <ns0:v>EC-W03</ns0:v>
                </ns0:pt>
              </ns0:strCache>
            </ns0:strRef>
          </ns0:tx>
          <ns0:spPr>
            <ns3:ln w="11430" cap="rnd">
              <ns3:solidFill>
                <ns3:srgbClr val="D7DDE1"/>
              </ns3:solidFill>
              <ns3:prstDash val="solid"/>
              <ns3:round/>
            </ns3:ln>
          </ns0:spPr>
          <ns0:marker>
            <ns0:symbol val="none"/>
          </ns0:marker>
          <ns0:dLbls>
            <ns0:delete val="1"/>
          </ns0:dLbls>
          <ns0:xVal>
            <ns0:numRef>
              <ns0:f>'Chart Data'!$E$2:$E$4</ns0:f>
              <ns0:numCache>
                <ns0:formatCode>General</ns0:formatCode>
                <ns0:ptCount val="3"/>
                <ns0:pt idx="0">
                  <ns0:v>0</ns0:v>
                </ns0:pt>
                <ns0:pt idx="1">
                  <ns0:v>1</ns0:v>
                </ns0:pt>
                <ns0:pt idx="2">
                  <ns0:v>2</ns0:v>
                </ns0:pt>
              </ns0:numCache>
            </ns0:numRef>
          </ns0:xVal>
          <ns0:yVal>
            <ns0:numRef>
              <ns0:f>'Chart Data'!$F$2:$F$4</ns0:f>
              <ns0:numCache>
                <ns0:formatCode>0.00</ns0:formatCode>
                <ns0:ptCount val="3"/>
                <ns0:pt idx="0">
                  <ns0:v>0.172451036326</ns0:v>
                </ns0:pt>
                <ns0:pt idx="1">
                  <ns0:v>0.0727917200048</ns0:v>
                </ns0:pt>
                <ns0:pt idx="2">
                  <ns0:v>0.0756224778214</ns0:v>
                </ns0:pt>
              </ns0:numCache>
            </ns0:numRef>
          </ns0:yVal>
          <ns0:smooth val="0"/>
        </ns0:ser>
        <ns0:ser>
          <ns0:idx val="3"/>
          <ns0:order val="3"/>
          <ns0:tx>
            <ns0:strRef>
              <ns0:f>EC-W04</ns0:f>
              <ns0:strCache>
                <ns0:ptCount val="1"/>
                <ns0:pt idx="0">
                  <ns0:v>EC-W04</ns0:v>
                </ns0:pt>
              </ns0:strCache>
            </ns0:strRef>
          </ns0:tx>
          <ns0:spPr>
            <ns3:ln w="11430" cap="rnd">
              <ns3:solidFill>
                <ns3:srgbClr val="D7DDE1"/>
              </ns3:solidFill>
              <ns3:prstDash val="solid"/>
              <ns3:round/>
            </ns3:ln>
          </ns0:spPr>
          <ns0:marker>
            <ns0:symbol val="none"/>
          </ns0:marker>
          <ns0:dLbls>
            <ns0:delete val="1"/>
          </ns0:dLbls>
          <ns0:xVal>
            <ns0:numRef>
              <ns0:f>'Chart Data'!$G$2:$G$4</ns0:f>
              <ns0:numCache>
                <ns0:formatCode>General</ns0:formatCode>
                <ns0:ptCount val="3"/>
                <ns0:pt idx="0">
                  <ns0:v>0</ns0:v>
                </ns0:pt>
                <ns0:pt idx="1">
                  <ns0:v>1</ns0:v>
                </ns0:pt>
                <ns0:pt idx="2">
                  <ns0:v>2</ns0:v>
                </ns0:pt>
              </ns0:numCache>
            </ns0:numRef>
          </ns0:xVal>
          <ns0:yVal>
            <ns0:numRef>
              <ns0:f>'Chart Data'!$H$2:$H$4</ns0:f>
              <ns0:numCache>
                <ns0:formatCode>0.00</ns0:formatCode>
                <ns0:ptCount val="3"/>
                <ns0:pt idx="0">
                  <ns0:v>0.108376371761</ns0:v>
                </ns0:pt>
                <ns0:pt idx="1">
                  <ns0:v>0.0776456210017</ns0:v>
                </ns0:pt>
                <ns0:pt idx="2">
                  <ns0:v>0.0667561373115</ns0:v>
                </ns0:pt>
              </ns0:numCache>
            </ns0:numRef>
          </ns0:yVal>
          <ns0:smooth val="0"/>
        </ns0:ser>
        <ns0:ser>
          <ns0:idx val="4"/>
          <ns0:order val="4"/>
          <ns0:tx>
            <ns0:strRef>
              <ns0:f>EC-W05</ns0:f>
              <ns0:strCache>
                <ns0:ptCount val="1"/>
                <ns0:pt idx="0">
                  <ns0:v>EC-W05</ns0:v>
                </ns0:pt>
              </ns0:strCache>
            </ns0:strRef>
          </ns0:tx>
          <ns0:spPr>
            <ns3:ln w="11430" cap="rnd">
              <ns3:solidFill>
                <ns3:srgbClr val="D7DDE1"/>
              </ns3:solidFill>
              <ns3:prstDash val="solid"/>
              <ns3:round/>
            </ns3:ln>
          </ns0:spPr>
          <ns0:marker>
            <ns0:symbol val="none"/>
          </ns0:marker>
          <ns0:dLbls>
            <ns0:delete val="1"/>
          </ns0:dLbls>
          <ns0:xVal>
            <ns0:numRef>
              <ns0:f>'Chart Data'!$I$2:$I$4</ns0:f>
              <ns0:numCache>
                <ns0:formatCode>General</ns0:formatCode>
                <ns0:ptCount val="3"/>
                <ns0:pt idx="0">
                  <ns0:v>0</ns0:v>
                </ns0:pt>
                <ns0:pt idx="1">
                  <ns0:v>1</ns0:v>
                </ns0:pt>
                <ns0:pt idx="2">
                  <ns0:v>2</ns0:v>
                </ns0:pt>
              </ns0:numCache>
            </ns0:numRef>
          </ns0:xVal>
          <ns0:yVal>
            <ns0:numRef>
              <ns0:f>'Chart Data'!$J$2:$J$4</ns0:f>
              <ns0:numCache>
                <ns0:formatCode>0.00</ns0:formatCode>
                <ns0:ptCount val="3"/>
                <ns0:pt idx="0">
                  <ns0:v>0.112420901606</ns0:v>
                </ns0:pt>
                <ns0:pt idx="1">
                  <ns0:v>0.294545537581</ns0:v>
                </ns0:pt>
                <ns0:pt idx="2">
                  <ns0:v>0.114435547739</ns0:v>
                </ns0:pt>
              </ns0:numCache>
            </ns0:numRef>
          </ns0:yVal>
          <ns0:smooth val="0"/>
        </ns0:ser>
        <ns0:ser>
          <ns0:idx val="5"/>
          <ns0:order val="5"/>
          <ns0:tx>
            <ns0:strRef>
              <ns0:f>Opaque</ns0:f>
              <ns0:strCache>
                <ns0:ptCount val="1"/>
                <ns0:pt idx="0">
                  <ns0:v>Opaque</ns0:v>
                </ns0:pt>
              </ns0:strCache>
            </ns0:strRef>
          </ns0:tx>
          <ns0:spPr>
            <ns3:ln w="0" cap="rnd">
              <ns3:noFill/>
              <ns3:prstDash val="solid"/>
              <ns3:round/>
            </ns3:ln>
          </ns0:spPr>
          <ns0:marker>
            <ns0:symbol val="circle"/>
            <ns0:size val="8"/>
            <ns0:spPr>
              <ns3:solidFill>
                <ns3:srgbClr val="637482"/>
              </ns3:solidFill>
              <ns3:ln w="0">
                <ns3:noFill/>
                <ns3:prstDash val="solid"/>
                <ns3:round/>
              </ns3:ln>
            </ns0:spPr>
          </ns0:marker>
          <ns0:dLbls>
            <ns0:delete val="1"/>
          </ns0:dLbls>
          <ns0:xVal>
            <ns0:numRef>
              <ns0:f>'Chart Data'!$K$2:$K$6</ns0:f>
              <ns0:numCache>
                <ns0:formatCode>General</ns0:formatCode>
                <ns0:ptCount val="5"/>
                <ns0:pt idx="0">
                  <ns0:v>0</ns0:v>
                </ns0:pt>
                <ns0:pt idx="1">
                  <ns0:v>0</ns0:v>
                </ns0:pt>
                <ns0:pt idx="2">
                  <ns0:v>0</ns0:v>
                </ns0:pt>
                <ns0:pt idx="3">
                  <ns0:v>0</ns0:v>
                </ns0:pt>
                <ns0:pt idx="4">
                  <ns0:v>0</ns0:v>
                </ns0:pt>
              </ns0:numCache>
            </ns0:numRef>
          </ns0:xVal>
          <ns0:yVal>
            <ns0:numRef>
              <ns0:f>'Chart Data'!$L$2:$L$6</ns0:f>
              <ns0:numCache>
                <ns0:formatCode>0.00</ns0:formatCode>
                <ns0:ptCount val="5"/>
                <ns0:pt idx="0">
                  <ns0:v>0.070735847714</ns0:v>
                </ns0:pt>
                <ns0:pt idx="1">
                  <ns0:v>0.136589668213</ns0:v>
                </ns0:pt>
                <ns0:pt idx="2">
                  <ns0:v>0.172451036326</ns0:v>
                </ns0:pt>
                <ns0:pt idx="3">
                  <ns0:v>0.108376371761</ns0:v>
                </ns0:pt>
                <ns0:pt idx="4">
                  <ns0:v>0.112420901606</ns0:v>
                </ns0:pt>
              </ns0:numCache>
            </ns0:numRef>
          </ns0:yVal>
          <ns0:smooth val="0"/>
        </ns0:ser>
        <ns0:ser>
          <ns0:idx val="6"/>
          <ns0:order val="6"/>
          <ns0:tx>
            <ns0:strRef>
              <ns0:f>Aligned</ns0:f>
              <ns0:strCache>
                <ns0:ptCount val="1"/>
                <ns0:pt idx="0">
                  <ns0:v>Aligned</ns0:v>
                </ns0:pt>
              </ns0:strCache>
            </ns0:strRef>
          </ns0:tx>
          <ns0:spPr>
            <ns3:ln w="0" cap="rnd">
              <ns3:noFill/>
              <ns3:prstDash val="solid"/>
              <ns3:round/>
            </ns3:ln>
          </ns0:spPr>
          <ns0:marker>
            <ns0:symbol val="circle"/>
            <ns0:size val="8"/>
            <ns0:spPr>
              <ns3:solidFill>
                <ns3:srgbClr val="277F8A"/>
              </ns3:solidFill>
              <ns3:ln w="0">
                <ns3:noFill/>
                <ns3:prstDash val="solid"/>
                <ns3:round/>
              </ns3:ln>
            </ns0:spPr>
          </ns0:marker>
          <ns0:dLbls>
            <ns0:delete val="1"/>
          </ns0:dLbls>
          <ns0:xVal>
            <ns0:numRef>
              <ns0:f>'Chart Data'!$M$2:$M$6</ns0:f>
              <ns0:numCache>
                <ns0:formatCode>General</ns0:formatCode>
                <ns0:ptCount val="5"/>
                <ns0:pt idx="0">
                  <ns0:v>1</ns0:v>
                </ns0:pt>
                <ns0:pt idx="1">
                  <ns0:v>1</ns0:v>
                </ns0:pt>
                <ns0:pt idx="2">
                  <ns0:v>1</ns0:v>
                </ns0:pt>
                <ns0:pt idx="3">
                  <ns0:v>1</ns0:v>
                </ns0:pt>
                <ns0:pt idx="4">
                  <ns0:v>1</ns0:v>
                </ns0:pt>
              </ns0:numCache>
            </ns0:numRef>
          </ns0:xVal>
          <ns0:yVal>
            <ns0:numRef>
              <ns0:f>'Chart Data'!$N$2:$N$6</ns0:f>
              <ns0:numCache>
                <ns0:formatCode>0.00</ns0:formatCode>
                <ns0:ptCount val="5"/>
                <ns0:pt idx="0">
                  <ns0:v>0.232454872571</ns0:v>
                </ns0:pt>
                <ns0:pt idx="1">
                  <ns0:v>0.0486093169637</ns0:v>
                </ns0:pt>
                <ns0:pt idx="2">
                  <ns0:v>0.0727917200048</ns0:v>
                </ns0:pt>
                <ns0:pt idx="3">
                  <ns0:v>0.0776456210017</ns0:v>
                </ns0:pt>
                <ns0:pt idx="4">
                  <ns0:v>0.294545537581</ns0:v>
                </ns0:pt>
              </ns0:numCache>
            </ns0:numRef>
          </ns0:yVal>
          <ns0:smooth val="0"/>
        </ns0:ser>
        <ns0:ser>
          <ns0:idx val="7"/>
          <ns0:order val="7"/>
          <ns0:tx>
            <ns0:strRef>
              <ns0:f>MisIndexed</ns0:f>
              <ns0:strCache>
                <ns0:ptCount val="1"/>
                <ns0:pt idx="0">
                  <ns0:v>MisIndexed</ns0:v>
                </ns0:pt>
              </ns0:strCache>
            </ns0:strRef>
          </ns0:tx>
          <ns0:spPr>
            <ns3:ln w="0" cap="rnd">
              <ns3:noFill/>
              <ns3:prstDash val="solid"/>
              <ns3:round/>
            </ns3:ln>
          </ns0:spPr>
          <ns0:marker>
            <ns0:symbol val="circle"/>
            <ns0:size val="8"/>
            <ns0:spPr>
              <ns3:solidFill>
                <ns3:srgbClr val="BC7850"/>
              </ns3:solidFill>
              <ns3:ln w="0">
                <ns3:noFill/>
                <ns3:prstDash val="solid"/>
                <ns3:round/>
              </ns3:ln>
            </ns0:spPr>
          </ns0:marker>
          <ns0:dLbls>
            <ns0:delete val="1"/>
          </ns0:dLbls>
          <ns0:xVal>
            <ns0:numRef>
              <ns0:f>'Chart Data'!$O$2:$O$6</ns0:f>
              <ns0:numCache>
                <ns0:formatCode>General</ns0:formatCode>
                <ns0:ptCount val="5"/>
                <ns0:pt idx="0">
                  <ns0:v>2</ns0:v>
                </ns0:pt>
                <ns0:pt idx="1">
                  <ns0:v>2</ns0:v>
                </ns0:pt>
                <ns0:pt idx="2">
                  <ns0:v>2</ns0:v>
                </ns0:pt>
                <ns0:pt idx="3">
                  <ns0:v>2</ns0:v>
                </ns0:pt>
                <ns0:pt idx="4">
                  <ns0:v>2</ns0:v>
                </ns0:pt>
              </ns0:numCache>
            </ns0:numRef>
          </ns0:xVal>
          <ns0:yVal>
            <ns0:numRef>
              <ns0:f>'Chart Data'!$P$2:$P$6</ns0:f>
              <ns0:numCache>
                <ns0:formatCode>0.00</ns0:formatCode>
                <ns0:ptCount val="5"/>
                <ns0:pt idx="0">
                  <ns0:v>0.0367626219615</ns0:v>
                </ns0:pt>
                <ns0:pt idx="1">
                  <ns0:v>0.0630664331702</ns0:v>
                </ns0:pt>
                <ns0:pt idx="2">
                  <ns0:v>0.0756224778214</ns0:v>
                </ns0:pt>
                <ns0:pt idx="3">
                  <ns0:v>0.0667561373115</ns0:v>
                </ns0:pt>
                <ns0:pt idx="4">
                  <ns0:v>0.114435547739</ns0:v>
                </ns0:pt>
              </ns0:numCache>
            </ns0:numRef>
          </ns0:yVal>
          <ns0:smooth val="0"/>
        </ns0:ser>
        <ns0:dLbls>
          <ns0:showLegendKey val="0"/>
          <ns0:showVal val="0"/>
          <ns0:showCatName val="0"/>
          <ns0:showSerName val="0"/>
          <ns0:showPercent val="0"/>
          <ns0:showBubbleSize val="0"/>
        </ns0:dLbls>
        <ns0:axId val="48650112"/>
        <ns0:axId val="48672768"/>
      </ns0:scatterChart>
      <ns0:valAx>
        <ns0:axId val="48650112"/>
        <ns0:scaling>
          <ns0:orientation val="minMax"/>
          <ns0:max val="2.5"/>
          <ns0:min val="-0.5"/>
        </ns0:scaling>
        <ns0:delete val="0"/>
        <ns0:axPos val="b"/>
        <ns0:numFmt formatCode="0" sourceLinked="1"/>
        <ns0:majorTickMark val="none"/>
        <ns0:minorTickMark val="none"/>
        <ns0:tickLblPos val="none"/>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FFFFFF"/>
                </ns3:solidFill>
                <ns3:latin typeface="Arial" panose="020B0604020202020204"/>
                <ns3:ea typeface="Arial" panose="020B0604020202020204"/>
                <ns3:cs typeface="Arial" panose="020B0604020202020204"/>
              </ns3:defRPr>
            </ns3:pPr>
          </ns3:p>
        </ns0:txPr>
        <ns0:crossAx val="48672768"/>
        <ns0:crosses val="min"/>
        <ns0:crossBetween val="midCat"/>
        <ns0:majorUnit val="1"/>
      </ns0:valAx>
      <ns0:valAx>
        <ns0:axId val="48672768"/>
        <ns0:scaling>
          <ns0:orientation val="minMax"/>
          <ns0:max val="0.324000091339151"/>
          <ns0:min val="0"/>
        </ns0:scaling>
        <ns0:delete val="0"/>
        <ns0:axPos val="l"/>
        <ns0:numFmt formatCode="0.0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50112"/>
        <ns0:crosses val="min"/>
        <ns0:crossBetween val="midCat"/>
      </ns0:valAx>
      <ns0:spPr>
        <ns3:solidFill>
          <ns3:srgbClr val="FFFFFF"/>
        </ns3:solidFill>
        <ns3:ln w="0">
          <ns3:noFill/>
        </ns3:ln>
      </ns0:spPr>
    </ns0:plotArea>
    <ns0:plotVisOnly val="1"/>
    <ns0:dispBlanksAs val="gap"/>
    <ns0:showDLblsOverMax val="0"/>
    <ns0:extLst>
      <ns0:ext uri="{0b15fc19-7d7d-44ad-8c2d-2c3a37ce22c3}">
        <ns4:chartProps chartId="{15c28c9d-d6a8-4efd-b066-472cc0f2c476}"/>
      </ns0:ext>
    </ns0:extLst>
  </ns0:chart>
  <ns0:spPr>
    <ns3:solidFill>
      <ns3:srgbClr val="FFFFFF"/>
    </ns3:solidFill>
    <ns3:ln w="0">
      <ns3:noFill/>
    </ns3:ln>
  </ns0:spPr>
  <ns0:txPr>
    <ns3:bodyPr/>
    <ns3:lstStyle/>
    <ns3:p>
      <ns3:pPr>
        <ns3:defRPr lang="zh-CN"/>
      </ns3:pPr>
    </ns3:p>
  </ns0:txPr>
  <ns0:externalData ns5:id="rId1">
    <ns0:autoUpdate val="0"/>
  </ns0:externalData>
</ns0:chartSpace>
</file>

<file path=ppt/charts/chart11.xml><?xml version="1.0" encoding="utf-8"?>
<ns0:chartSpace xmlns:ns0="http://schemas.openxmlformats.org/drawingml/2006/chart" xmlns:ns1="http://schemas.openxmlformats.org/markup-compatibility/2006" xmlns:ns2="http://schemas.microsoft.com/office/drawing/2007/8/2/chart" xmlns:ns3="http://schemas.openxmlformats.org/drawingml/2006/main" xmlns:ns4="https://web.wps.cn/et/2018/main" xmlns:ns5="http://schemas.openxmlformats.org/officeDocument/2006/relationships">
  <ns0:date1904 val="0"/>
  <ns0:lang val="zh-CN"/>
  <ns0:roundedCorners val="0"/>
  <ns1:AlternateContent>
    <ns1:Choice Requires="c14">
      <ns2:style val="102"/>
    </ns1:Choice>
    <ns1:Fallback>
      <ns0:style val="2"/>
    </ns1:Fallback>
  </ns1:AlternateContent>
  <ns0:chart>
    <ns0:autoTitleDeleted val="1"/>
    <ns0:plotArea>
      <ns0:layout/>
      <ns0:scatterChart>
        <ns0:scatterStyle val="lineMarker"/>
        <ns0:varyColors val="0"/>
        <ns0:ser>
          <ns0:idx val="0"/>
          <ns0:order val="0"/>
          <ns0:tx>
            <ns0:strRef>
              <ns0:f>EC-W01</ns0:f>
              <ns0:strCache>
                <ns0:ptCount val="1"/>
                <ns0:pt idx="0">
                  <ns0:v>EC-W01</ns0:v>
                </ns0:pt>
              </ns0:strCache>
            </ns0:strRef>
          </ns0:tx>
          <ns0:spPr>
            <ns3:ln w="11430" cap="rnd">
              <ns3:solidFill>
                <ns3:srgbClr val="D7DDE1"/>
              </ns3:solidFill>
              <ns3:prstDash val="solid"/>
              <ns3:round/>
            </ns3:ln>
          </ns0:spPr>
          <ns0:marker>
            <ns0:symbol val="none"/>
          </ns0:marker>
          <ns0:dLbls>
            <ns0:delete val="1"/>
          </ns0:dLbls>
          <ns0:xVal>
            <ns0:numRef>
              <ns0:f>'Chart Data'!$A$2:$A$4</ns0:f>
              <ns0:numCache>
                <ns0:formatCode>General</ns0:formatCode>
                <ns0:ptCount val="3"/>
                <ns0:pt idx="0">
                  <ns0:v>0</ns0:v>
                </ns0:pt>
                <ns0:pt idx="1">
                  <ns0:v>1</ns0:v>
                </ns0:pt>
                <ns0:pt idx="2">
                  <ns0:v>2</ns0:v>
                </ns0:pt>
              </ns0:numCache>
            </ns0:numRef>
          </ns0:xVal>
          <ns0:yVal>
            <ns0:numRef>
              <ns0:f>'Chart Data'!$B$2:$B$4</ns0:f>
              <ns0:numCache>
                <ns0:formatCode>0.00</ns0:formatCode>
                <ns0:ptCount val="3"/>
                <ns0:pt idx="0">
                  <ns0:v>0.229397380712</ns0:v>
                </ns0:pt>
                <ns0:pt idx="1">
                  <ns0:v>0.0572321792468</ns0:v>
                </ns0:pt>
                <ns0:pt idx="2">
                  <ns0:v>0.166184890427</ns0:v>
                </ns0:pt>
              </ns0:numCache>
            </ns0:numRef>
          </ns0:yVal>
          <ns0:smooth val="0"/>
        </ns0:ser>
        <ns0:ser>
          <ns0:idx val="1"/>
          <ns0:order val="1"/>
          <ns0:tx>
            <ns0:strRef>
              <ns0:f>EC-W02</ns0:f>
              <ns0:strCache>
                <ns0:ptCount val="1"/>
                <ns0:pt idx="0">
                  <ns0:v>EC-W02</ns0:v>
                </ns0:pt>
              </ns0:strCache>
            </ns0:strRef>
          </ns0:tx>
          <ns0:spPr>
            <ns3:ln w="11430" cap="rnd">
              <ns3:solidFill>
                <ns3:srgbClr val="D7DDE1"/>
              </ns3:solidFill>
              <ns3:prstDash val="solid"/>
              <ns3:round/>
            </ns3:ln>
          </ns0:spPr>
          <ns0:marker>
            <ns0:symbol val="none"/>
          </ns0:marker>
          <ns0:dLbls>
            <ns0:delete val="1"/>
          </ns0:dLbls>
          <ns0:xVal>
            <ns0:numRef>
              <ns0:f>'Chart Data'!$C$2:$C$4</ns0:f>
              <ns0:numCache>
                <ns0:formatCode>General</ns0:formatCode>
                <ns0:ptCount val="3"/>
                <ns0:pt idx="0">
                  <ns0:v>0</ns0:v>
                </ns0:pt>
                <ns0:pt idx="1">
                  <ns0:v>1</ns0:v>
                </ns0:pt>
                <ns0:pt idx="2">
                  <ns0:v>2</ns0:v>
                </ns0:pt>
              </ns0:numCache>
            </ns0:numRef>
          </ns0:xVal>
          <ns0:yVal>
            <ns0:numRef>
              <ns0:f>'Chart Data'!$D$2:$D$4</ns0:f>
              <ns0:numCache>
                <ns0:formatCode>0.00</ns0:formatCode>
                <ns0:ptCount val="3"/>
                <ns0:pt idx="0">
                  <ns0:v>0.0478367438105</ns0:v>
                </ns0:pt>
                <ns0:pt idx="1">
                  <ns0:v>0.0741157311387</ns0:v>
                </ns0:pt>
                <ns0:pt idx="2">
                  <ns0:v>0.138886505265</ns0:v>
                </ns0:pt>
              </ns0:numCache>
            </ns0:numRef>
          </ns0:yVal>
          <ns0:smooth val="0"/>
        </ns0:ser>
        <ns0:ser>
          <ns0:idx val="2"/>
          <ns0:order val="2"/>
          <ns0:tx>
            <ns0:strRef>
              <ns0:f>EC-W03</ns0:f>
              <ns0:strCache>
                <ns0:ptCount val="1"/>
                <ns0:pt idx="0">
                  <ns0:v>EC-W03</ns0:v>
                </ns0:pt>
              </ns0:strCache>
            </ns0:strRef>
          </ns0:tx>
          <ns0:spPr>
            <ns3:ln w="11430" cap="rnd">
              <ns3:solidFill>
                <ns3:srgbClr val="D7DDE1"/>
              </ns3:solidFill>
              <ns3:prstDash val="solid"/>
              <ns3:round/>
            </ns3:ln>
          </ns0:spPr>
          <ns0:marker>
            <ns0:symbol val="none"/>
          </ns0:marker>
          <ns0:dLbls>
            <ns0:delete val="1"/>
          </ns0:dLbls>
          <ns0:xVal>
            <ns0:numRef>
              <ns0:f>'Chart Data'!$E$2:$E$4</ns0:f>
              <ns0:numCache>
                <ns0:formatCode>General</ns0:formatCode>
                <ns0:ptCount val="3"/>
                <ns0:pt idx="0">
                  <ns0:v>0</ns0:v>
                </ns0:pt>
                <ns0:pt idx="1">
                  <ns0:v>1</ns0:v>
                </ns0:pt>
                <ns0:pt idx="2">
                  <ns0:v>2</ns0:v>
                </ns0:pt>
              </ns0:numCache>
            </ns0:numRef>
          </ns0:xVal>
          <ns0:yVal>
            <ns0:numRef>
              <ns0:f>'Chart Data'!$F$2:$F$4</ns0:f>
              <ns0:numCache>
                <ns0:formatCode>0.00</ns0:formatCode>
                <ns0:ptCount val="3"/>
                <ns0:pt idx="0">
                  <ns0:v>0.245650211664</ns0:v>
                </ns0:pt>
                <ns0:pt idx="1">
                  <ns0:v>0.245992646047</ns0:v>
                </ns0:pt>
                <ns0:pt idx="2">
                  <ns0:v>0.122889998428</ns0:v>
                </ns0:pt>
              </ns0:numCache>
            </ns0:numRef>
          </ns0:yVal>
          <ns0:smooth val="0"/>
        </ns0:ser>
        <ns0:ser>
          <ns0:idx val="3"/>
          <ns0:order val="3"/>
          <ns0:tx>
            <ns0:strRef>
              <ns0:f>EC-W04</ns0:f>
              <ns0:strCache>
                <ns0:ptCount val="1"/>
                <ns0:pt idx="0">
                  <ns0:v>EC-W04</ns0:v>
                </ns0:pt>
              </ns0:strCache>
            </ns0:strRef>
          </ns0:tx>
          <ns0:spPr>
            <ns3:ln w="11430" cap="rnd">
              <ns3:solidFill>
                <ns3:srgbClr val="D7DDE1"/>
              </ns3:solidFill>
              <ns3:prstDash val="solid"/>
              <ns3:round/>
            </ns3:ln>
          </ns0:spPr>
          <ns0:marker>
            <ns0:symbol val="none"/>
          </ns0:marker>
          <ns0:dLbls>
            <ns0:delete val="1"/>
          </ns0:dLbls>
          <ns0:xVal>
            <ns0:numRef>
              <ns0:f>'Chart Data'!$G$2:$G$4</ns0:f>
              <ns0:numCache>
                <ns0:formatCode>General</ns0:formatCode>
                <ns0:ptCount val="3"/>
                <ns0:pt idx="0">
                  <ns0:v>0</ns0:v>
                </ns0:pt>
                <ns0:pt idx="1">
                  <ns0:v>1</ns0:v>
                </ns0:pt>
                <ns0:pt idx="2">
                  <ns0:v>2</ns0:v>
                </ns0:pt>
              </ns0:numCache>
            </ns0:numRef>
          </ns0:xVal>
          <ns0:yVal>
            <ns0:numRef>
              <ns0:f>'Chart Data'!$H$2:$H$4</ns0:f>
              <ns0:numCache>
                <ns0:formatCode>0.00</ns0:formatCode>
                <ns0:ptCount val="3"/>
                <ns0:pt idx="0">
                  <ns0:v>0.154837935428</ns0:v>
                </ns0:pt>
                <ns0:pt idx="1">
                  <ns0:v>0.18360029608</ns0:v>
                </ns0:pt>
                <ns0:pt idx="2">
                  <ns0:v>0.262316051304</ns0:v>
                </ns0:pt>
              </ns0:numCache>
            </ns0:numRef>
          </ns0:yVal>
          <ns0:smooth val="0"/>
        </ns0:ser>
        <ns0:ser>
          <ns0:idx val="4"/>
          <ns0:order val="4"/>
          <ns0:tx>
            <ns0:strRef>
              <ns0:f>EC-W05</ns0:f>
              <ns0:strCache>
                <ns0:ptCount val="1"/>
                <ns0:pt idx="0">
                  <ns0:v>EC-W05</ns0:v>
                </ns0:pt>
              </ns0:strCache>
            </ns0:strRef>
          </ns0:tx>
          <ns0:spPr>
            <ns3:ln w="11430" cap="rnd">
              <ns3:solidFill>
                <ns3:srgbClr val="D7DDE1"/>
              </ns3:solidFill>
              <ns3:prstDash val="solid"/>
              <ns3:round/>
            </ns3:ln>
          </ns0:spPr>
          <ns0:marker>
            <ns0:symbol val="none"/>
          </ns0:marker>
          <ns0:dLbls>
            <ns0:delete val="1"/>
          </ns0:dLbls>
          <ns0:xVal>
            <ns0:numRef>
              <ns0:f>'Chart Data'!$I$2:$I$4</ns0:f>
              <ns0:numCache>
                <ns0:formatCode>General</ns0:formatCode>
                <ns0:ptCount val="3"/>
                <ns0:pt idx="0">
                  <ns0:v>0</ns0:v>
                </ns0:pt>
                <ns0:pt idx="1">
                  <ns0:v>1</ns0:v>
                </ns0:pt>
                <ns0:pt idx="2">
                  <ns0:v>2</ns0:v>
                </ns0:pt>
              </ns0:numCache>
            </ns0:numRef>
          </ns0:xVal>
          <ns0:yVal>
            <ns0:numRef>
              <ns0:f>'Chart Data'!$J$2:$J$4</ns0:f>
              <ns0:numCache>
                <ns0:formatCode>0.00</ns0:formatCode>
                <ns0:ptCount val="3"/>
                <ns0:pt idx="0">
                  <ns0:v>0.295952872107</ns0:v>
                </ns0:pt>
                <ns0:pt idx="1">
                  <ns0:v>0.219642266124</ns0:v>
                </ns0:pt>
                <ns0:pt idx="2">
                  <ns0:v>0.227176111152</ns0:v>
                </ns0:pt>
              </ns0:numCache>
            </ns0:numRef>
          </ns0:yVal>
          <ns0:smooth val="0"/>
        </ns0:ser>
        <ns0:ser>
          <ns0:idx val="5"/>
          <ns0:order val="5"/>
          <ns0:tx>
            <ns0:strRef>
              <ns0:f>Opaque</ns0:f>
              <ns0:strCache>
                <ns0:ptCount val="1"/>
                <ns0:pt idx="0">
                  <ns0:v>Opaque</ns0:v>
                </ns0:pt>
              </ns0:strCache>
            </ns0:strRef>
          </ns0:tx>
          <ns0:spPr>
            <ns3:ln w="0" cap="rnd">
              <ns3:noFill/>
              <ns3:prstDash val="solid"/>
              <ns3:round/>
            </ns3:ln>
          </ns0:spPr>
          <ns0:marker>
            <ns0:symbol val="circle"/>
            <ns0:size val="8"/>
            <ns0:spPr>
              <ns3:solidFill>
                <ns3:srgbClr val="637482"/>
              </ns3:solidFill>
              <ns3:ln w="0">
                <ns3:noFill/>
                <ns3:prstDash val="solid"/>
                <ns3:round/>
              </ns3:ln>
            </ns0:spPr>
          </ns0:marker>
          <ns0:dLbls>
            <ns0:delete val="1"/>
          </ns0:dLbls>
          <ns0:xVal>
            <ns0:numRef>
              <ns0:f>'Chart Data'!$K$2:$K$6</ns0:f>
              <ns0:numCache>
                <ns0:formatCode>General</ns0:formatCode>
                <ns0:ptCount val="5"/>
                <ns0:pt idx="0">
                  <ns0:v>0</ns0:v>
                </ns0:pt>
                <ns0:pt idx="1">
                  <ns0:v>0</ns0:v>
                </ns0:pt>
                <ns0:pt idx="2">
                  <ns0:v>0</ns0:v>
                </ns0:pt>
                <ns0:pt idx="3">
                  <ns0:v>0</ns0:v>
                </ns0:pt>
                <ns0:pt idx="4">
                  <ns0:v>0</ns0:v>
                </ns0:pt>
              </ns0:numCache>
            </ns0:numRef>
          </ns0:xVal>
          <ns0:yVal>
            <ns0:numRef>
              <ns0:f>'Chart Data'!$L$2:$L$6</ns0:f>
              <ns0:numCache>
                <ns0:formatCode>0.00</ns0:formatCode>
                <ns0:ptCount val="5"/>
                <ns0:pt idx="0">
                  <ns0:v>0.229397380712</ns0:v>
                </ns0:pt>
                <ns0:pt idx="1">
                  <ns0:v>0.0478367438105</ns0:v>
                </ns0:pt>
                <ns0:pt idx="2">
                  <ns0:v>0.245650211664</ns0:v>
                </ns0:pt>
                <ns0:pt idx="3">
                  <ns0:v>0.154837935428</ns0:v>
                </ns0:pt>
                <ns0:pt idx="4">
                  <ns0:v>0.295952872107</ns0:v>
                </ns0:pt>
              </ns0:numCache>
            </ns0:numRef>
          </ns0:yVal>
          <ns0:smooth val="0"/>
        </ns0:ser>
        <ns0:ser>
          <ns0:idx val="6"/>
          <ns0:order val="6"/>
          <ns0:tx>
            <ns0:strRef>
              <ns0:f>Aligned</ns0:f>
              <ns0:strCache>
                <ns0:ptCount val="1"/>
                <ns0:pt idx="0">
                  <ns0:v>Aligned</ns0:v>
                </ns0:pt>
              </ns0:strCache>
            </ns0:strRef>
          </ns0:tx>
          <ns0:spPr>
            <ns3:ln w="0" cap="rnd">
              <ns3:noFill/>
              <ns3:prstDash val="solid"/>
              <ns3:round/>
            </ns3:ln>
          </ns0:spPr>
          <ns0:marker>
            <ns0:symbol val="circle"/>
            <ns0:size val="8"/>
            <ns0:spPr>
              <ns3:solidFill>
                <ns3:srgbClr val="277F8A"/>
              </ns3:solidFill>
              <ns3:ln w="0">
                <ns3:noFill/>
                <ns3:prstDash val="solid"/>
                <ns3:round/>
              </ns3:ln>
            </ns0:spPr>
          </ns0:marker>
          <ns0:dLbls>
            <ns0:delete val="1"/>
          </ns0:dLbls>
          <ns0:xVal>
            <ns0:numRef>
              <ns0:f>'Chart Data'!$M$2:$M$6</ns0:f>
              <ns0:numCache>
                <ns0:formatCode>General</ns0:formatCode>
                <ns0:ptCount val="5"/>
                <ns0:pt idx="0">
                  <ns0:v>1</ns0:v>
                </ns0:pt>
                <ns0:pt idx="1">
                  <ns0:v>1</ns0:v>
                </ns0:pt>
                <ns0:pt idx="2">
                  <ns0:v>1</ns0:v>
                </ns0:pt>
                <ns0:pt idx="3">
                  <ns0:v>1</ns0:v>
                </ns0:pt>
                <ns0:pt idx="4">
                  <ns0:v>1</ns0:v>
                </ns0:pt>
              </ns0:numCache>
            </ns0:numRef>
          </ns0:xVal>
          <ns0:yVal>
            <ns0:numRef>
              <ns0:f>'Chart Data'!$N$2:$N$6</ns0:f>
              <ns0:numCache>
                <ns0:formatCode>0.00</ns0:formatCode>
                <ns0:ptCount val="5"/>
                <ns0:pt idx="0">
                  <ns0:v>0.0572321792468</ns0:v>
                </ns0:pt>
                <ns0:pt idx="1">
                  <ns0:v>0.0741157311387</ns0:v>
                </ns0:pt>
                <ns0:pt idx="2">
                  <ns0:v>0.245992646047</ns0:v>
                </ns0:pt>
                <ns0:pt idx="3">
                  <ns0:v>0.18360029608</ns0:v>
                </ns0:pt>
                <ns0:pt idx="4">
                  <ns0:v>0.219642266124</ns0:v>
                </ns0:pt>
              </ns0:numCache>
            </ns0:numRef>
          </ns0:yVal>
          <ns0:smooth val="0"/>
        </ns0:ser>
        <ns0:ser>
          <ns0:idx val="7"/>
          <ns0:order val="7"/>
          <ns0:tx>
            <ns0:strRef>
              <ns0:f>MisIndexed</ns0:f>
              <ns0:strCache>
                <ns0:ptCount val="1"/>
                <ns0:pt idx="0">
                  <ns0:v>MisIndexed</ns0:v>
                </ns0:pt>
              </ns0:strCache>
            </ns0:strRef>
          </ns0:tx>
          <ns0:spPr>
            <ns3:ln w="0" cap="rnd">
              <ns3:noFill/>
              <ns3:prstDash val="solid"/>
              <ns3:round/>
            </ns3:ln>
          </ns0:spPr>
          <ns0:marker>
            <ns0:symbol val="circle"/>
            <ns0:size val="8"/>
            <ns0:spPr>
              <ns3:solidFill>
                <ns3:srgbClr val="BC7850"/>
              </ns3:solidFill>
              <ns3:ln w="0">
                <ns3:noFill/>
                <ns3:prstDash val="solid"/>
                <ns3:round/>
              </ns3:ln>
            </ns0:spPr>
          </ns0:marker>
          <ns0:dLbls>
            <ns0:delete val="1"/>
          </ns0:dLbls>
          <ns0:xVal>
            <ns0:numRef>
              <ns0:f>'Chart Data'!$O$2:$O$6</ns0:f>
              <ns0:numCache>
                <ns0:formatCode>General</ns0:formatCode>
                <ns0:ptCount val="5"/>
                <ns0:pt idx="0">
                  <ns0:v>2</ns0:v>
                </ns0:pt>
                <ns0:pt idx="1">
                  <ns0:v>2</ns0:v>
                </ns0:pt>
                <ns0:pt idx="2">
                  <ns0:v>2</ns0:v>
                </ns0:pt>
                <ns0:pt idx="3">
                  <ns0:v>2</ns0:v>
                </ns0:pt>
                <ns0:pt idx="4">
                  <ns0:v>2</ns0:v>
                </ns0:pt>
              </ns0:numCache>
            </ns0:numRef>
          </ns0:xVal>
          <ns0:yVal>
            <ns0:numRef>
              <ns0:f>'Chart Data'!$P$2:$P$6</ns0:f>
              <ns0:numCache>
                <ns0:formatCode>0.00</ns0:formatCode>
                <ns0:ptCount val="5"/>
                <ns0:pt idx="0">
                  <ns0:v>0.166184890427</ns0:v>
                </ns0:pt>
                <ns0:pt idx="1">
                  <ns0:v>0.138886505265</ns0:v>
                </ns0:pt>
                <ns0:pt idx="2">
                  <ns0:v>0.122889998428</ns0:v>
                </ns0:pt>
                <ns0:pt idx="3">
                  <ns0:v>0.262316051304</ns0:v>
                </ns0:pt>
                <ns0:pt idx="4">
                  <ns0:v>0.227176111152</ns0:v>
                </ns0:pt>
              </ns0:numCache>
            </ns0:numRef>
          </ns0:yVal>
          <ns0:smooth val="0"/>
        </ns0:ser>
        <ns0:dLbls>
          <ns0:showLegendKey val="0"/>
          <ns0:showVal val="0"/>
          <ns0:showCatName val="0"/>
          <ns0:showSerName val="0"/>
          <ns0:showPercent val="0"/>
          <ns0:showBubbleSize val="0"/>
        </ns0:dLbls>
        <ns0:axId val="48650112"/>
        <ns0:axId val="48672768"/>
      </ns0:scatterChart>
      <ns0:valAx>
        <ns0:axId val="48650112"/>
        <ns0:scaling>
          <ns0:orientation val="minMax"/>
          <ns0:max val="2.5"/>
          <ns0:min val="-0.5"/>
        </ns0:scaling>
        <ns0:delete val="0"/>
        <ns0:axPos val="b"/>
        <ns0:numFmt formatCode="0" sourceLinked="1"/>
        <ns0:majorTickMark val="none"/>
        <ns0:minorTickMark val="none"/>
        <ns0:tickLblPos val="none"/>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FFFFFF"/>
                </ns3:solidFill>
                <ns3:latin typeface="Arial" panose="020B0604020202020204"/>
                <ns3:ea typeface="Arial" panose="020B0604020202020204"/>
                <ns3:cs typeface="Arial" panose="020B0604020202020204"/>
              </ns3:defRPr>
            </ns3:pPr>
          </ns3:p>
        </ns0:txPr>
        <ns0:crossAx val="48672768"/>
        <ns0:crosses val="min"/>
        <ns0:crossBetween val="midCat"/>
        <ns0:majorUnit val="1"/>
      </ns0:valAx>
      <ns0:valAx>
        <ns0:axId val="48672768"/>
        <ns0:scaling>
          <ns0:orientation val="minMax"/>
          <ns0:max val="0.325548159318169"/>
          <ns0:min val="0"/>
        </ns0:scaling>
        <ns0:delete val="0"/>
        <ns0:axPos val="l"/>
        <ns0:numFmt formatCode="0.0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50112"/>
        <ns0:crosses val="min"/>
        <ns0:crossBetween val="midCat"/>
      </ns0:valAx>
      <ns0:spPr>
        <ns3:solidFill>
          <ns3:srgbClr val="FFFFFF"/>
        </ns3:solidFill>
        <ns3:ln w="0">
          <ns3:noFill/>
        </ns3:ln>
      </ns0:spPr>
    </ns0:plotArea>
    <ns0:plotVisOnly val="1"/>
    <ns0:dispBlanksAs val="gap"/>
    <ns0:showDLblsOverMax val="0"/>
    <ns0:extLst>
      <ns0:ext uri="{0b15fc19-7d7d-44ad-8c2d-2c3a37ce22c3}">
        <ns4:chartProps chartId="{b84a93f8-d7fb-42c8-a9e1-30e7832bd0e1}"/>
      </ns0:ext>
    </ns0:extLst>
  </ns0:chart>
  <ns0:spPr>
    <ns3:solidFill>
      <ns3:srgbClr val="FFFFFF"/>
    </ns3:solidFill>
    <ns3:ln w="0">
      <ns3:noFill/>
    </ns3:ln>
  </ns0:spPr>
  <ns0:txPr>
    <ns3:bodyPr/>
    <ns3:lstStyle/>
    <ns3:p>
      <ns3:pPr>
        <ns3:defRPr lang="zh-CN"/>
      </ns3:pPr>
    </ns3:p>
  </ns0:txPr>
  <ns0:externalData ns5:id="rId1">
    <ns0:autoUpdate val="0"/>
  </ns0:externalData>
</ns0:chartSpace>
</file>

<file path=ppt/charts/chart12.xml><?xml version="1.0" encoding="utf-8"?>
<ns0:chartSpace xmlns:ns0="http://schemas.openxmlformats.org/drawingml/2006/chart" xmlns:ns1="http://schemas.openxmlformats.org/markup-compatibility/2006" xmlns:ns2="http://schemas.microsoft.com/office/drawing/2007/8/2/chart" xmlns:ns3="http://schemas.openxmlformats.org/drawingml/2006/main" xmlns:ns4="https://web.wps.cn/et/2018/main" xmlns:ns5="http://schemas.openxmlformats.org/officeDocument/2006/relationships">
  <ns0:date1904 val="0"/>
  <ns0:lang val="zh-CN"/>
  <ns0:roundedCorners val="0"/>
  <ns1:AlternateContent>
    <ns1:Choice Requires="c14">
      <ns2:style val="102"/>
    </ns1:Choice>
    <ns1:Fallback>
      <ns0:style val="2"/>
    </ns1:Fallback>
  </ns1:AlternateContent>
  <ns0:chart>
    <ns0:autoTitleDeleted val="1"/>
    <ns0:plotArea>
      <ns0:layout/>
      <ns0:scatterChart>
        <ns0:scatterStyle val="lineMarker"/>
        <ns0:varyColors val="0"/>
        <ns0:ser>
          <ns0:idx val="0"/>
          <ns0:order val="0"/>
          <ns0:tx>
            <ns0:strRef>
              <ns0:f>EC-W01</ns0:f>
              <ns0:strCache>
                <ns0:ptCount val="1"/>
                <ns0:pt idx="0">
                  <ns0:v>EC-W01</ns0:v>
                </ns0:pt>
              </ns0:strCache>
            </ns0:strRef>
          </ns0:tx>
          <ns0:spPr>
            <ns3:ln w="11430" cap="rnd">
              <ns3:solidFill>
                <ns3:srgbClr val="D7DDE1"/>
              </ns3:solidFill>
              <ns3:prstDash val="solid"/>
              <ns3:round/>
            </ns3:ln>
          </ns0:spPr>
          <ns0:marker>
            <ns0:symbol val="none"/>
          </ns0:marker>
          <ns0:dLbls>
            <ns0:delete val="1"/>
          </ns0:dLbls>
          <ns0:xVal>
            <ns0:numRef>
              <ns0:f>'Chart Data'!$A$2:$A$4</ns0:f>
              <ns0:numCache>
                <ns0:formatCode>General</ns0:formatCode>
                <ns0:ptCount val="3"/>
                <ns0:pt idx="0">
                  <ns0:v>0</ns0:v>
                </ns0:pt>
                <ns0:pt idx="1">
                  <ns0:v>1</ns0:v>
                </ns0:pt>
                <ns0:pt idx="2">
                  <ns0:v>2</ns0:v>
                </ns0:pt>
              </ns0:numCache>
            </ns0:numRef>
          </ns0:xVal>
          <ns0:yVal>
            <ns0:numRef>
              <ns0:f>'Chart Data'!$B$2:$B$4</ns0:f>
              <ns0:numCache>
                <ns0:formatCode>0.00</ns0:formatCode>
                <ns0:ptCount val="3"/>
                <ns0:pt idx="0">
                  <ns0:v>0.123313431901</ns0:v>
                </ns0:pt>
                <ns0:pt idx="1">
                  <ns0:v>0.179165066717</ns0:v>
                </ns0:pt>
                <ns0:pt idx="2">
                  <ns0:v>0.191987386264</ns0:v>
                </ns0:pt>
              </ns0:numCache>
            </ns0:numRef>
          </ns0:yVal>
          <ns0:smooth val="0"/>
        </ns0:ser>
        <ns0:ser>
          <ns0:idx val="1"/>
          <ns0:order val="1"/>
          <ns0:tx>
            <ns0:strRef>
              <ns0:f>EC-W02</ns0:f>
              <ns0:strCache>
                <ns0:ptCount val="1"/>
                <ns0:pt idx="0">
                  <ns0:v>EC-W02</ns0:v>
                </ns0:pt>
              </ns0:strCache>
            </ns0:strRef>
          </ns0:tx>
          <ns0:spPr>
            <ns3:ln w="11430" cap="rnd">
              <ns3:solidFill>
                <ns3:srgbClr val="D7DDE1"/>
              </ns3:solidFill>
              <ns3:prstDash val="solid"/>
              <ns3:round/>
            </ns3:ln>
          </ns0:spPr>
          <ns0:marker>
            <ns0:symbol val="none"/>
          </ns0:marker>
          <ns0:dLbls>
            <ns0:delete val="1"/>
          </ns0:dLbls>
          <ns0:xVal>
            <ns0:numRef>
              <ns0:f>'Chart Data'!$C$2:$C$4</ns0:f>
              <ns0:numCache>
                <ns0:formatCode>General</ns0:formatCode>
                <ns0:ptCount val="3"/>
                <ns0:pt idx="0">
                  <ns0:v>0</ns0:v>
                </ns0:pt>
                <ns0:pt idx="1">
                  <ns0:v>1</ns0:v>
                </ns0:pt>
                <ns0:pt idx="2">
                  <ns0:v>2</ns0:v>
                </ns0:pt>
              </ns0:numCache>
            </ns0:numRef>
          </ns0:xVal>
          <ns0:yVal>
            <ns0:numRef>
              <ns0:f>'Chart Data'!$D$2:$D$4</ns0:f>
              <ns0:numCache>
                <ns0:formatCode>0.00</ns0:formatCode>
                <ns0:ptCount val="3"/>
                <ns0:pt idx="0">
                  <ns0:v>0.0534905665504</ns0:v>
                </ns0:pt>
                <ns0:pt idx="1">
                  <ns0:v>0.03750715989</ns0:v>
                </ns0:pt>
                <ns0:pt idx="2">
                  <ns0:v>0.0546027712213</ns0:v>
                </ns0:pt>
              </ns0:numCache>
            </ns0:numRef>
          </ns0:yVal>
          <ns0:smooth val="0"/>
        </ns0:ser>
        <ns0:ser>
          <ns0:idx val="2"/>
          <ns0:order val="2"/>
          <ns0:tx>
            <ns0:strRef>
              <ns0:f>EC-W03</ns0:f>
              <ns0:strCache>
                <ns0:ptCount val="1"/>
                <ns0:pt idx="0">
                  <ns0:v>EC-W03</ns0:v>
                </ns0:pt>
              </ns0:strCache>
            </ns0:strRef>
          </ns0:tx>
          <ns0:spPr>
            <ns3:ln w="11430" cap="rnd">
              <ns3:solidFill>
                <ns3:srgbClr val="D7DDE1"/>
              </ns3:solidFill>
              <ns3:prstDash val="solid"/>
              <ns3:round/>
            </ns3:ln>
          </ns0:spPr>
          <ns0:marker>
            <ns0:symbol val="none"/>
          </ns0:marker>
          <ns0:dLbls>
            <ns0:delete val="1"/>
          </ns0:dLbls>
          <ns0:xVal>
            <ns0:numRef>
              <ns0:f>'Chart Data'!$E$2:$E$4</ns0:f>
              <ns0:numCache>
                <ns0:formatCode>General</ns0:formatCode>
                <ns0:ptCount val="3"/>
                <ns0:pt idx="0">
                  <ns0:v>0</ns0:v>
                </ns0:pt>
                <ns0:pt idx="1">
                  <ns0:v>1</ns0:v>
                </ns0:pt>
                <ns0:pt idx="2">
                  <ns0:v>2</ns0:v>
                </ns0:pt>
              </ns0:numCache>
            </ns0:numRef>
          </ns0:xVal>
          <ns0:yVal>
            <ns0:numRef>
              <ns0:f>'Chart Data'!$F$2:$F$4</ns0:f>
              <ns0:numCache>
                <ns0:formatCode>0.00</ns0:formatCode>
                <ns0:ptCount val="3"/>
                <ns0:pt idx="0">
                  <ns0:v>0.0840290068903</ns0:v>
                </ns0:pt>
                <ns0:pt idx="1">
                  <ns0:v>0.0582217317143</ns0:v>
                </ns0:pt>
                <ns0:pt idx="2">
                  <ns0:v>0.0923289847095</ns0:v>
                </ns0:pt>
              </ns0:numCache>
            </ns0:numRef>
          </ns0:yVal>
          <ns0:smooth val="0"/>
        </ns0:ser>
        <ns0:ser>
          <ns0:idx val="3"/>
          <ns0:order val="3"/>
          <ns0:tx>
            <ns0:strRef>
              <ns0:f>EC-W04</ns0:f>
              <ns0:strCache>
                <ns0:ptCount val="1"/>
                <ns0:pt idx="0">
                  <ns0:v>EC-W04</ns0:v>
                </ns0:pt>
              </ns0:strCache>
            </ns0:strRef>
          </ns0:tx>
          <ns0:spPr>
            <ns3:ln w="11430" cap="rnd">
              <ns3:solidFill>
                <ns3:srgbClr val="D7DDE1"/>
              </ns3:solidFill>
              <ns3:prstDash val="solid"/>
              <ns3:round/>
            </ns3:ln>
          </ns0:spPr>
          <ns0:marker>
            <ns0:symbol val="none"/>
          </ns0:marker>
          <ns0:dLbls>
            <ns0:delete val="1"/>
          </ns0:dLbls>
          <ns0:xVal>
            <ns0:numRef>
              <ns0:f>'Chart Data'!$G$2:$G$4</ns0:f>
              <ns0:numCache>
                <ns0:formatCode>General</ns0:formatCode>
                <ns0:ptCount val="3"/>
                <ns0:pt idx="0">
                  <ns0:v>0</ns0:v>
                </ns0:pt>
                <ns0:pt idx="1">
                  <ns0:v>1</ns0:v>
                </ns0:pt>
                <ns0:pt idx="2">
                  <ns0:v>2</ns0:v>
                </ns0:pt>
              </ns0:numCache>
            </ns0:numRef>
          </ns0:xVal>
          <ns0:yVal>
            <ns0:numRef>
              <ns0:f>'Chart Data'!$H$2:$H$4</ns0:f>
              <ns0:numCache>
                <ns0:formatCode>0.00</ns0:formatCode>
                <ns0:ptCount val="3"/>
                <ns0:pt idx="0">
                  <ns0:v>0.0431928150853</ns0:v>
                </ns0:pt>
                <ns0:pt idx="1">
                  <ns0:v>0.120858434339</ns0:v>
                </ns0:pt>
                <ns0:pt idx="2">
                  <ns0:v>0.181335164011</ns0:v>
                </ns0:pt>
              </ns0:numCache>
            </ns0:numRef>
          </ns0:yVal>
          <ns0:smooth val="0"/>
        </ns0:ser>
        <ns0:ser>
          <ns0:idx val="4"/>
          <ns0:order val="4"/>
          <ns0:tx>
            <ns0:strRef>
              <ns0:f>EC-W05</ns0:f>
              <ns0:strCache>
                <ns0:ptCount val="1"/>
                <ns0:pt idx="0">
                  <ns0:v>EC-W05</ns0:v>
                </ns0:pt>
              </ns0:strCache>
            </ns0:strRef>
          </ns0:tx>
          <ns0:spPr>
            <ns3:ln w="11430" cap="rnd">
              <ns3:solidFill>
                <ns3:srgbClr val="D7DDE1"/>
              </ns3:solidFill>
              <ns3:prstDash val="solid"/>
              <ns3:round/>
            </ns3:ln>
          </ns0:spPr>
          <ns0:marker>
            <ns0:symbol val="none"/>
          </ns0:marker>
          <ns0:dLbls>
            <ns0:delete val="1"/>
          </ns0:dLbls>
          <ns0:xVal>
            <ns0:numRef>
              <ns0:f>'Chart Data'!$I$2:$I$4</ns0:f>
              <ns0:numCache>
                <ns0:formatCode>General</ns0:formatCode>
                <ns0:ptCount val="3"/>
                <ns0:pt idx="0">
                  <ns0:v>0</ns0:v>
                </ns0:pt>
                <ns0:pt idx="1">
                  <ns0:v>1</ns0:v>
                </ns0:pt>
                <ns0:pt idx="2">
                  <ns0:v>2</ns0:v>
                </ns0:pt>
              </ns0:numCache>
            </ns0:numRef>
          </ns0:xVal>
          <ns0:yVal>
            <ns0:numRef>
              <ns0:f>'Chart Data'!$J$2:$J$4</ns0:f>
              <ns0:numCache>
                <ns0:formatCode>0.00</ns0:formatCode>
                <ns0:ptCount val="3"/>
                <ns0:pt idx="0">
                  <ns0:v>0.252319488039</ns0:v>
                </ns0:pt>
                <ns0:pt idx="1">
                  <ns0:v>0.102302707185</ns0:v>
                </ns0:pt>
                <ns0:pt idx="2">
                  <ns0:v>0.0479861547053</ns0:v>
                </ns0:pt>
              </ns0:numCache>
            </ns0:numRef>
          </ns0:yVal>
          <ns0:smooth val="0"/>
        </ns0:ser>
        <ns0:ser>
          <ns0:idx val="5"/>
          <ns0:order val="5"/>
          <ns0:tx>
            <ns0:strRef>
              <ns0:f>Opaque</ns0:f>
              <ns0:strCache>
                <ns0:ptCount val="1"/>
                <ns0:pt idx="0">
                  <ns0:v>Opaque</ns0:v>
                </ns0:pt>
              </ns0:strCache>
            </ns0:strRef>
          </ns0:tx>
          <ns0:spPr>
            <ns3:ln w="0" cap="rnd">
              <ns3:noFill/>
              <ns3:prstDash val="solid"/>
              <ns3:round/>
            </ns3:ln>
          </ns0:spPr>
          <ns0:marker>
            <ns0:symbol val="circle"/>
            <ns0:size val="8"/>
            <ns0:spPr>
              <ns3:solidFill>
                <ns3:srgbClr val="637482"/>
              </ns3:solidFill>
              <ns3:ln w="0">
                <ns3:noFill/>
                <ns3:prstDash val="solid"/>
                <ns3:round/>
              </ns3:ln>
            </ns0:spPr>
          </ns0:marker>
          <ns0:dLbls>
            <ns0:delete val="1"/>
          </ns0:dLbls>
          <ns0:xVal>
            <ns0:numRef>
              <ns0:f>'Chart Data'!$K$2:$K$6</ns0:f>
              <ns0:numCache>
                <ns0:formatCode>General</ns0:formatCode>
                <ns0:ptCount val="5"/>
                <ns0:pt idx="0">
                  <ns0:v>0</ns0:v>
                </ns0:pt>
                <ns0:pt idx="1">
                  <ns0:v>0</ns0:v>
                </ns0:pt>
                <ns0:pt idx="2">
                  <ns0:v>0</ns0:v>
                </ns0:pt>
                <ns0:pt idx="3">
                  <ns0:v>0</ns0:v>
                </ns0:pt>
                <ns0:pt idx="4">
                  <ns0:v>0</ns0:v>
                </ns0:pt>
              </ns0:numCache>
            </ns0:numRef>
          </ns0:xVal>
          <ns0:yVal>
            <ns0:numRef>
              <ns0:f>'Chart Data'!$L$2:$L$6</ns0:f>
              <ns0:numCache>
                <ns0:formatCode>0.00</ns0:formatCode>
                <ns0:ptCount val="5"/>
                <ns0:pt idx="0">
                  <ns0:v>0.123313431901</ns0:v>
                </ns0:pt>
                <ns0:pt idx="1">
                  <ns0:v>0.0534905665504</ns0:v>
                </ns0:pt>
                <ns0:pt idx="2">
                  <ns0:v>0.0840290068903</ns0:v>
                </ns0:pt>
                <ns0:pt idx="3">
                  <ns0:v>0.0431928150853</ns0:v>
                </ns0:pt>
                <ns0:pt idx="4">
                  <ns0:v>0.252319488039</ns0:v>
                </ns0:pt>
              </ns0:numCache>
            </ns0:numRef>
          </ns0:yVal>
          <ns0:smooth val="0"/>
        </ns0:ser>
        <ns0:ser>
          <ns0:idx val="6"/>
          <ns0:order val="6"/>
          <ns0:tx>
            <ns0:strRef>
              <ns0:f>Aligned</ns0:f>
              <ns0:strCache>
                <ns0:ptCount val="1"/>
                <ns0:pt idx="0">
                  <ns0:v>Aligned</ns0:v>
                </ns0:pt>
              </ns0:strCache>
            </ns0:strRef>
          </ns0:tx>
          <ns0:spPr>
            <ns3:ln w="0" cap="rnd">
              <ns3:noFill/>
              <ns3:prstDash val="solid"/>
              <ns3:round/>
            </ns3:ln>
          </ns0:spPr>
          <ns0:marker>
            <ns0:symbol val="circle"/>
            <ns0:size val="8"/>
            <ns0:spPr>
              <ns3:solidFill>
                <ns3:srgbClr val="277F8A"/>
              </ns3:solidFill>
              <ns3:ln w="0">
                <ns3:noFill/>
                <ns3:prstDash val="solid"/>
                <ns3:round/>
              </ns3:ln>
            </ns0:spPr>
          </ns0:marker>
          <ns0:dLbls>
            <ns0:delete val="1"/>
          </ns0:dLbls>
          <ns0:xVal>
            <ns0:numRef>
              <ns0:f>'Chart Data'!$M$2:$M$6</ns0:f>
              <ns0:numCache>
                <ns0:formatCode>General</ns0:formatCode>
                <ns0:ptCount val="5"/>
                <ns0:pt idx="0">
                  <ns0:v>1</ns0:v>
                </ns0:pt>
                <ns0:pt idx="1">
                  <ns0:v>1</ns0:v>
                </ns0:pt>
                <ns0:pt idx="2">
                  <ns0:v>1</ns0:v>
                </ns0:pt>
                <ns0:pt idx="3">
                  <ns0:v>1</ns0:v>
                </ns0:pt>
                <ns0:pt idx="4">
                  <ns0:v>1</ns0:v>
                </ns0:pt>
              </ns0:numCache>
            </ns0:numRef>
          </ns0:xVal>
          <ns0:yVal>
            <ns0:numRef>
              <ns0:f>'Chart Data'!$N$2:$N$6</ns0:f>
              <ns0:numCache>
                <ns0:formatCode>0.00</ns0:formatCode>
                <ns0:ptCount val="5"/>
                <ns0:pt idx="0">
                  <ns0:v>0.179165066717</ns0:v>
                </ns0:pt>
                <ns0:pt idx="1">
                  <ns0:v>0.03750715989</ns0:v>
                </ns0:pt>
                <ns0:pt idx="2">
                  <ns0:v>0.0582217317143</ns0:v>
                </ns0:pt>
                <ns0:pt idx="3">
                  <ns0:v>0.120858434339</ns0:v>
                </ns0:pt>
                <ns0:pt idx="4">
                  <ns0:v>0.102302707185</ns0:v>
                </ns0:pt>
              </ns0:numCache>
            </ns0:numRef>
          </ns0:yVal>
          <ns0:smooth val="0"/>
        </ns0:ser>
        <ns0:ser>
          <ns0:idx val="7"/>
          <ns0:order val="7"/>
          <ns0:tx>
            <ns0:strRef>
              <ns0:f>MisIndexed</ns0:f>
              <ns0:strCache>
                <ns0:ptCount val="1"/>
                <ns0:pt idx="0">
                  <ns0:v>MisIndexed</ns0:v>
                </ns0:pt>
              </ns0:strCache>
            </ns0:strRef>
          </ns0:tx>
          <ns0:spPr>
            <ns3:ln w="0" cap="rnd">
              <ns3:noFill/>
              <ns3:prstDash val="solid"/>
              <ns3:round/>
            </ns3:ln>
          </ns0:spPr>
          <ns0:marker>
            <ns0:symbol val="circle"/>
            <ns0:size val="8"/>
            <ns0:spPr>
              <ns3:solidFill>
                <ns3:srgbClr val="BC7850"/>
              </ns3:solidFill>
              <ns3:ln w="0">
                <ns3:noFill/>
                <ns3:prstDash val="solid"/>
                <ns3:round/>
              </ns3:ln>
            </ns0:spPr>
          </ns0:marker>
          <ns0:dLbls>
            <ns0:delete val="1"/>
          </ns0:dLbls>
          <ns0:xVal>
            <ns0:numRef>
              <ns0:f>'Chart Data'!$O$2:$O$6</ns0:f>
              <ns0:numCache>
                <ns0:formatCode>General</ns0:formatCode>
                <ns0:ptCount val="5"/>
                <ns0:pt idx="0">
                  <ns0:v>2</ns0:v>
                </ns0:pt>
                <ns0:pt idx="1">
                  <ns0:v>2</ns0:v>
                </ns0:pt>
                <ns0:pt idx="2">
                  <ns0:v>2</ns0:v>
                </ns0:pt>
                <ns0:pt idx="3">
                  <ns0:v>2</ns0:v>
                </ns0:pt>
                <ns0:pt idx="4">
                  <ns0:v>2</ns0:v>
                </ns0:pt>
              </ns0:numCache>
            </ns0:numRef>
          </ns0:xVal>
          <ns0:yVal>
            <ns0:numRef>
              <ns0:f>'Chart Data'!$P$2:$P$6</ns0:f>
              <ns0:numCache>
                <ns0:formatCode>0.00</ns0:formatCode>
                <ns0:ptCount val="5"/>
                <ns0:pt idx="0">
                  <ns0:v>0.191987386264</ns0:v>
                </ns0:pt>
                <ns0:pt idx="1">
                  <ns0:v>0.0546027712213</ns0:v>
                </ns0:pt>
                <ns0:pt idx="2">
                  <ns0:v>0.0923289847095</ns0:v>
                </ns0:pt>
                <ns0:pt idx="3">
                  <ns0:v>0.181335164011</ns0:v>
                </ns0:pt>
                <ns0:pt idx="4">
                  <ns0:v>0.0479861547053</ns0:v>
                </ns0:pt>
              </ns0:numCache>
            </ns0:numRef>
          </ns0:yVal>
          <ns0:smooth val="0"/>
        </ns0:ser>
        <ns0:dLbls>
          <ns0:showLegendKey val="0"/>
          <ns0:showVal val="0"/>
          <ns0:showCatName val="0"/>
          <ns0:showSerName val="0"/>
          <ns0:showPercent val="0"/>
          <ns0:showBubbleSize val="0"/>
        </ns0:dLbls>
        <ns0:axId val="48650112"/>
        <ns0:axId val="48672768"/>
      </ns0:scatterChart>
      <ns0:valAx>
        <ns0:axId val="48650112"/>
        <ns0:scaling>
          <ns0:orientation val="minMax"/>
          <ns0:max val="2.5"/>
          <ns0:min val="-0.5"/>
        </ns0:scaling>
        <ns0:delete val="0"/>
        <ns0:axPos val="b"/>
        <ns0:numFmt formatCode="0" sourceLinked="1"/>
        <ns0:majorTickMark val="none"/>
        <ns0:minorTickMark val="none"/>
        <ns0:tickLblPos val="none"/>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FFFFFF"/>
                </ns3:solidFill>
                <ns3:latin typeface="Arial" panose="020B0604020202020204"/>
                <ns3:ea typeface="Arial" panose="020B0604020202020204"/>
                <ns3:cs typeface="Arial" panose="020B0604020202020204"/>
              </ns3:defRPr>
            </ns3:pPr>
          </ns3:p>
        </ns0:txPr>
        <ns0:crossAx val="48672768"/>
        <ns0:crosses val="min"/>
        <ns0:crossBetween val="midCat"/>
        <ns0:majorUnit val="1"/>
      </ns0:valAx>
      <ns0:valAx>
        <ns0:axId val="48672768"/>
        <ns0:scaling>
          <ns0:orientation val="minMax"/>
          <ns0:max val="0.277551436842481"/>
          <ns0:min val="0"/>
        </ns0:scaling>
        <ns0:delete val="0"/>
        <ns0:axPos val="l"/>
        <ns0:numFmt formatCode="0.0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50112"/>
        <ns0:crosses val="min"/>
        <ns0:crossBetween val="midCat"/>
      </ns0:valAx>
      <ns0:spPr>
        <ns3:solidFill>
          <ns3:srgbClr val="FFFFFF"/>
        </ns3:solidFill>
        <ns3:ln w="0">
          <ns3:noFill/>
        </ns3:ln>
      </ns0:spPr>
    </ns0:plotArea>
    <ns0:plotVisOnly val="1"/>
    <ns0:dispBlanksAs val="gap"/>
    <ns0:showDLblsOverMax val="0"/>
    <ns0:extLst>
      <ns0:ext uri="{0b15fc19-7d7d-44ad-8c2d-2c3a37ce22c3}">
        <ns4:chartProps chartId="{456c67ec-9b0b-4050-904f-7d70f56e6bae}"/>
      </ns0:ext>
    </ns0:extLst>
  </ns0:chart>
  <ns0:spPr>
    <ns3:solidFill>
      <ns3:srgbClr val="FFFFFF"/>
    </ns3:solidFill>
    <ns3:ln w="0">
      <ns3:noFill/>
    </ns3:ln>
  </ns0:spPr>
  <ns0:txPr>
    <ns3:bodyPr/>
    <ns3:lstStyle/>
    <ns3:p>
      <ns3:pPr>
        <ns3:defRPr lang="zh-CN"/>
      </ns3:pPr>
    </ns3:p>
  </ns0:txPr>
  <ns0:externalData ns5:id="rId1">
    <ns0:autoUpdate val="0"/>
  </ns0:externalData>
</ns0:chartSpace>
</file>

<file path=ppt/charts/chart13.xml><?xml version="1.0" encoding="utf-8"?>
<ns0:chartSpace xmlns:ns0="http://schemas.openxmlformats.org/drawingml/2006/chart" xmlns:ns1="http://schemas.openxmlformats.org/markup-compatibility/2006" xmlns:ns2="http://schemas.microsoft.com/office/drawing/2007/8/2/chart" xmlns:ns3="http://schemas.openxmlformats.org/drawingml/2006/main" xmlns:ns4="https://web.wps.cn/et/2018/main" xmlns:ns5="http://schemas.openxmlformats.org/officeDocument/2006/relationships">
  <ns0:date1904 val="0"/>
  <ns0:lang val="zh-CN"/>
  <ns0:roundedCorners val="0"/>
  <ns1:AlternateContent>
    <ns1:Choice Requires="c14">
      <ns2:style val="102"/>
    </ns1:Choice>
    <ns1:Fallback>
      <ns0:style val="2"/>
    </ns1:Fallback>
  </ns1:AlternateContent>
  <ns0:chart>
    <ns0:autoTitleDeleted val="1"/>
    <ns0:plotArea>
      <ns0:layout/>
      <ns0:scatterChart>
        <ns0:scatterStyle val="lineMarker"/>
        <ns0:varyColors val="0"/>
        <ns0:ser>
          <ns0:idx val="0"/>
          <ns0:order val="0"/>
          <ns0:tx>
            <ns0:strRef>
              <ns0:f>PA-W01</ns0:f>
              <ns0:strCache>
                <ns0:ptCount val="1"/>
                <ns0:pt idx="0">
                  <ns0:v>PA-W01</ns0:v>
                </ns0:pt>
              </ns0:strCache>
            </ns0:strRef>
          </ns0:tx>
          <ns0:spPr>
            <ns3:ln w="11430" cap="rnd">
              <ns3:solidFill>
                <ns3:srgbClr val="D7DDE1"/>
              </ns3:solidFill>
              <ns3:prstDash val="solid"/>
              <ns3:round/>
            </ns3:ln>
          </ns0:spPr>
          <ns0:marker>
            <ns0:symbol val="none"/>
          </ns0:marker>
          <ns0:dLbls>
            <ns0:delete val="1"/>
          </ns0:dLbls>
          <ns0:xVal>
            <ns0:numRef>
              <ns0:f>'Chart Data'!$A$2:$A$4</ns0:f>
              <ns0:numCache>
                <ns0:formatCode>General</ns0:formatCode>
                <ns0:ptCount val="3"/>
                <ns0:pt idx="0">
                  <ns0:v>0</ns0:v>
                </ns0:pt>
                <ns0:pt idx="1">
                  <ns0:v>1</ns0:v>
                </ns0:pt>
                <ns0:pt idx="2">
                  <ns0:v>2</ns0:v>
                </ns0:pt>
              </ns0:numCache>
            </ns0:numRef>
          </ns0:xVal>
          <ns0:yVal>
            <ns0:numRef>
              <ns0:f>'Chart Data'!$B$2:$B$4</ns0:f>
              <ns0:numCache>
                <ns0:formatCode>0.00</ns0:formatCode>
                <ns0:ptCount val="3"/>
                <ns0:pt idx="0">
                  <ns0:v>0.0483434975518</ns0:v>
                </ns0:pt>
                <ns0:pt idx="1">
                  <ns0:v>0.066994324668</ns0:v>
                </ns0:pt>
                <ns0:pt idx="2">
                  <ns0:v>0.0524268308851</ns0:v>
                </ns0:pt>
              </ns0:numCache>
            </ns0:numRef>
          </ns0:yVal>
          <ns0:smooth val="0"/>
        </ns0:ser>
        <ns0:ser>
          <ns0:idx val="1"/>
          <ns0:order val="1"/>
          <ns0:tx>
            <ns0:strRef>
              <ns0:f>PA-W02</ns0:f>
              <ns0:strCache>
                <ns0:ptCount val="1"/>
                <ns0:pt idx="0">
                  <ns0:v>PA-W02</ns0:v>
                </ns0:pt>
              </ns0:strCache>
            </ns0:strRef>
          </ns0:tx>
          <ns0:spPr>
            <ns3:ln w="11430" cap="rnd">
              <ns3:solidFill>
                <ns3:srgbClr val="D7DDE1"/>
              </ns3:solidFill>
              <ns3:prstDash val="solid"/>
              <ns3:round/>
            </ns3:ln>
          </ns0:spPr>
          <ns0:marker>
            <ns0:symbol val="none"/>
          </ns0:marker>
          <ns0:dLbls>
            <ns0:delete val="1"/>
          </ns0:dLbls>
          <ns0:xVal>
            <ns0:numRef>
              <ns0:f>'Chart Data'!$C$2:$C$4</ns0:f>
              <ns0:numCache>
                <ns0:formatCode>General</ns0:formatCode>
                <ns0:ptCount val="3"/>
                <ns0:pt idx="0">
                  <ns0:v>0</ns0:v>
                </ns0:pt>
                <ns0:pt idx="1">
                  <ns0:v>1</ns0:v>
                </ns0:pt>
                <ns0:pt idx="2">
                  <ns0:v>2</ns0:v>
                </ns0:pt>
              </ns0:numCache>
            </ns0:numRef>
          </ns0:xVal>
          <ns0:yVal>
            <ns0:numRef>
              <ns0:f>'Chart Data'!$D$2:$D$4</ns0:f>
              <ns0:numCache>
                <ns0:formatCode>0.00</ns0:formatCode>
                <ns0:ptCount val="3"/>
                <ns0:pt idx="0">
                  <ns0:v>0.109975107353</ns0:v>
                </ns0:pt>
                <ns0:pt idx="1">
                  <ns0:v>0.0333223742013</ns0:v>
                </ns0:pt>
                <ns0:pt idx="2">
                  <ns0:v>0.130225107353</ns0:v>
                </ns0:pt>
              </ns0:numCache>
            </ns0:numRef>
          </ns0:yVal>
          <ns0:smooth val="0"/>
        </ns0:ser>
        <ns0:ser>
          <ns0:idx val="2"/>
          <ns0:order val="2"/>
          <ns0:tx>
            <ns0:strRef>
              <ns0:f>PA-W03</ns0:f>
              <ns0:strCache>
                <ns0:ptCount val="1"/>
                <ns0:pt idx="0">
                  <ns0:v>PA-W03</ns0:v>
                </ns0:pt>
              </ns0:strCache>
            </ns0:strRef>
          </ns0:tx>
          <ns0:spPr>
            <ns3:ln w="11430" cap="rnd">
              <ns3:solidFill>
                <ns3:srgbClr val="D7DDE1"/>
              </ns3:solidFill>
              <ns3:prstDash val="solid"/>
              <ns3:round/>
            </ns3:ln>
          </ns0:spPr>
          <ns0:marker>
            <ns0:symbol val="none"/>
          </ns0:marker>
          <ns0:dLbls>
            <ns0:delete val="1"/>
          </ns0:dLbls>
          <ns0:xVal>
            <ns0:numRef>
              <ns0:f>'Chart Data'!$E$2:$E$4</ns0:f>
              <ns0:numCache>
                <ns0:formatCode>General</ns0:formatCode>
                <ns0:ptCount val="3"/>
                <ns0:pt idx="0">
                  <ns0:v>0</ns0:v>
                </ns0:pt>
                <ns0:pt idx="1">
                  <ns0:v>1</ns0:v>
                </ns0:pt>
                <ns0:pt idx="2">
                  <ns0:v>2</ns0:v>
                </ns0:pt>
              </ns0:numCache>
            </ns0:numRef>
          </ns0:xVal>
          <ns0:yVal>
            <ns0:numRef>
              <ns0:f>'Chart Data'!$F$2:$F$4</ns0:f>
              <ns0:numCache>
                <ns0:formatCode>0.00</ns0:formatCode>
                <ns0:ptCount val="3"/>
                <ns0:pt idx="0">
                  <ns0:v>0.0983184374634</ns0:v>
                </ns0:pt>
                <ns0:pt idx="1">
                  <ns0:v>0.0148666406325</ns0:v>
                </ns0:pt>
                <ns0:pt idx="2">
                  <ns0:v>0.0958966441273</ns0:v>
                </ns0:pt>
              </ns0:numCache>
            </ns0:numRef>
          </ns0:yVal>
          <ns0:smooth val="0"/>
        </ns0:ser>
        <ns0:ser>
          <ns0:idx val="3"/>
          <ns0:order val="3"/>
          <ns0:tx>
            <ns0:strRef>
              <ns0:f>PA-W04</ns0:f>
              <ns0:strCache>
                <ns0:ptCount val="1"/>
                <ns0:pt idx="0">
                  <ns0:v>PA-W04</ns0:v>
                </ns0:pt>
              </ns0:strCache>
            </ns0:strRef>
          </ns0:tx>
          <ns0:spPr>
            <ns3:ln w="11430" cap="rnd">
              <ns3:solidFill>
                <ns3:srgbClr val="D7DDE1"/>
              </ns3:solidFill>
              <ns3:prstDash val="solid"/>
              <ns3:round/>
            </ns3:ln>
          </ns0:spPr>
          <ns0:marker>
            <ns0:symbol val="none"/>
          </ns0:marker>
          <ns0:dLbls>
            <ns0:delete val="1"/>
          </ns0:dLbls>
          <ns0:xVal>
            <ns0:numRef>
              <ns0:f>'Chart Data'!$G$2:$G$4</ns0:f>
              <ns0:numCache>
                <ns0:formatCode>General</ns0:formatCode>
                <ns0:ptCount val="3"/>
                <ns0:pt idx="0">
                  <ns0:v>0</ns0:v>
                </ns0:pt>
                <ns0:pt idx="1">
                  <ns0:v>1</ns0:v>
                </ns0:pt>
                <ns0:pt idx="2">
                  <ns0:v>2</ns0:v>
                </ns0:pt>
              </ns0:numCache>
            </ns0:numRef>
          </ns0:xVal>
          <ns0:yVal>
            <ns0:numRef>
              <ns0:f>'Chart Data'!$H$2:$H$4</ns0:f>
              <ns0:numCache>
                <ns0:formatCode>0.00</ns0:formatCode>
                <ns0:ptCount val="3"/>
                <ns0:pt idx="0">
                  <ns0:v>0.202846558206</ns0:v>
                </ns0:pt>
                <ns0:pt idx="1">
                  <ns0:v>0.192713192728</ns0:v>
                </ns0:pt>
                <ns0:pt idx="2">
                  <ns0:v>0.0508890409648</ns0:v>
                </ns0:pt>
              </ns0:numCache>
            </ns0:numRef>
          </ns0:yVal>
          <ns0:smooth val="0"/>
        </ns0:ser>
        <ns0:ser>
          <ns0:idx val="4"/>
          <ns0:order val="4"/>
          <ns0:tx>
            <ns0:strRef>
              <ns0:f>PA-W05</ns0:f>
              <ns0:strCache>
                <ns0:ptCount val="1"/>
                <ns0:pt idx="0">
                  <ns0:v>PA-W05</ns0:v>
                </ns0:pt>
              </ns0:strCache>
            </ns0:strRef>
          </ns0:tx>
          <ns0:spPr>
            <ns3:ln w="11430" cap="rnd">
              <ns3:solidFill>
                <ns3:srgbClr val="D7DDE1"/>
              </ns3:solidFill>
              <ns3:prstDash val="solid"/>
              <ns3:round/>
            </ns3:ln>
          </ns0:spPr>
          <ns0:marker>
            <ns0:symbol val="none"/>
          </ns0:marker>
          <ns0:dLbls>
            <ns0:delete val="1"/>
          </ns0:dLbls>
          <ns0:xVal>
            <ns0:numRef>
              <ns0:f>'Chart Data'!$I$2:$I$4</ns0:f>
              <ns0:numCache>
                <ns0:formatCode>General</ns0:formatCode>
                <ns0:ptCount val="3"/>
                <ns0:pt idx="0">
                  <ns0:v>0</ns0:v>
                </ns0:pt>
                <ns0:pt idx="1">
                  <ns0:v>1</ns0:v>
                </ns0:pt>
                <ns0:pt idx="2">
                  <ns0:v>2</ns0:v>
                </ns0:pt>
              </ns0:numCache>
            </ns0:numRef>
          </ns0:xVal>
          <ns0:yVal>
            <ns0:numRef>
              <ns0:f>'Chart Data'!$J$2:$J$4</ns0:f>
              <ns0:numCache>
                <ns0:formatCode>0.00</ns0:formatCode>
                <ns0:ptCount val="3"/>
                <ns0:pt idx="0">
                  <ns0:v>0.034805456158</ns0:v>
                </ns0:pt>
                <ns0:pt idx="1">
                  <ns0:v>0.0482922582129</ns0:v>
                </ns0:pt>
                <ns0:pt idx="2">
                  <ns0:v>0.0637110355526</ns0:v>
                </ns0:pt>
              </ns0:numCache>
            </ns0:numRef>
          </ns0:yVal>
          <ns0:smooth val="0"/>
        </ns0:ser>
        <ns0:ser>
          <ns0:idx val="5"/>
          <ns0:order val="5"/>
          <ns0:tx>
            <ns0:strRef>
              <ns0:f>Opaque</ns0:f>
              <ns0:strCache>
                <ns0:ptCount val="1"/>
                <ns0:pt idx="0">
                  <ns0:v>Opaque</ns0:v>
                </ns0:pt>
              </ns0:strCache>
            </ns0:strRef>
          </ns0:tx>
          <ns0:spPr>
            <ns3:ln w="0" cap="rnd">
              <ns3:noFill/>
              <ns3:prstDash val="solid"/>
              <ns3:round/>
            </ns3:ln>
          </ns0:spPr>
          <ns0:marker>
            <ns0:symbol val="circle"/>
            <ns0:size val="8"/>
            <ns0:spPr>
              <ns3:solidFill>
                <ns3:srgbClr val="637482"/>
              </ns3:solidFill>
              <ns3:ln w="0">
                <ns3:noFill/>
                <ns3:prstDash val="solid"/>
                <ns3:round/>
              </ns3:ln>
            </ns0:spPr>
          </ns0:marker>
          <ns0:dLbls>
            <ns0:delete val="1"/>
          </ns0:dLbls>
          <ns0:xVal>
            <ns0:numRef>
              <ns0:f>'Chart Data'!$K$2:$K$6</ns0:f>
              <ns0:numCache>
                <ns0:formatCode>General</ns0:formatCode>
                <ns0:ptCount val="5"/>
                <ns0:pt idx="0">
                  <ns0:v>0</ns0:v>
                </ns0:pt>
                <ns0:pt idx="1">
                  <ns0:v>0</ns0:v>
                </ns0:pt>
                <ns0:pt idx="2">
                  <ns0:v>0</ns0:v>
                </ns0:pt>
                <ns0:pt idx="3">
                  <ns0:v>0</ns0:v>
                </ns0:pt>
                <ns0:pt idx="4">
                  <ns0:v>0</ns0:v>
                </ns0:pt>
              </ns0:numCache>
            </ns0:numRef>
          </ns0:xVal>
          <ns0:yVal>
            <ns0:numRef>
              <ns0:f>'Chart Data'!$L$2:$L$6</ns0:f>
              <ns0:numCache>
                <ns0:formatCode>0.00</ns0:formatCode>
                <ns0:ptCount val="5"/>
                <ns0:pt idx="0">
                  <ns0:v>0.0483434975518</ns0:v>
                </ns0:pt>
                <ns0:pt idx="1">
                  <ns0:v>0.109975107353</ns0:v>
                </ns0:pt>
                <ns0:pt idx="2">
                  <ns0:v>0.0983184374634</ns0:v>
                </ns0:pt>
                <ns0:pt idx="3">
                  <ns0:v>0.202846558206</ns0:v>
                </ns0:pt>
                <ns0:pt idx="4">
                  <ns0:v>0.034805456158</ns0:v>
                </ns0:pt>
              </ns0:numCache>
            </ns0:numRef>
          </ns0:yVal>
          <ns0:smooth val="0"/>
        </ns0:ser>
        <ns0:ser>
          <ns0:idx val="6"/>
          <ns0:order val="6"/>
          <ns0:tx>
            <ns0:strRef>
              <ns0:f>Aligned</ns0:f>
              <ns0:strCache>
                <ns0:ptCount val="1"/>
                <ns0:pt idx="0">
                  <ns0:v>Aligned</ns0:v>
                </ns0:pt>
              </ns0:strCache>
            </ns0:strRef>
          </ns0:tx>
          <ns0:spPr>
            <ns3:ln w="0" cap="rnd">
              <ns3:noFill/>
              <ns3:prstDash val="solid"/>
              <ns3:round/>
            </ns3:ln>
          </ns0:spPr>
          <ns0:marker>
            <ns0:symbol val="circle"/>
            <ns0:size val="8"/>
            <ns0:spPr>
              <ns3:solidFill>
                <ns3:srgbClr val="277F8A"/>
              </ns3:solidFill>
              <ns3:ln w="0">
                <ns3:noFill/>
                <ns3:prstDash val="solid"/>
                <ns3:round/>
              </ns3:ln>
            </ns0:spPr>
          </ns0:marker>
          <ns0:dLbls>
            <ns0:delete val="1"/>
          </ns0:dLbls>
          <ns0:xVal>
            <ns0:numRef>
              <ns0:f>'Chart Data'!$M$2:$M$6</ns0:f>
              <ns0:numCache>
                <ns0:formatCode>General</ns0:formatCode>
                <ns0:ptCount val="5"/>
                <ns0:pt idx="0">
                  <ns0:v>1</ns0:v>
                </ns0:pt>
                <ns0:pt idx="1">
                  <ns0:v>1</ns0:v>
                </ns0:pt>
                <ns0:pt idx="2">
                  <ns0:v>1</ns0:v>
                </ns0:pt>
                <ns0:pt idx="3">
                  <ns0:v>1</ns0:v>
                </ns0:pt>
                <ns0:pt idx="4">
                  <ns0:v>1</ns0:v>
                </ns0:pt>
              </ns0:numCache>
            </ns0:numRef>
          </ns0:xVal>
          <ns0:yVal>
            <ns0:numRef>
              <ns0:f>'Chart Data'!$N$2:$N$6</ns0:f>
              <ns0:numCache>
                <ns0:formatCode>0.00</ns0:formatCode>
                <ns0:ptCount val="5"/>
                <ns0:pt idx="0">
                  <ns0:v>0.066994324668</ns0:v>
                </ns0:pt>
                <ns0:pt idx="1">
                  <ns0:v>0.0333223742013</ns0:v>
                </ns0:pt>
                <ns0:pt idx="2">
                  <ns0:v>0.0148666406325</ns0:v>
                </ns0:pt>
                <ns0:pt idx="3">
                  <ns0:v>0.192713192728</ns0:v>
                </ns0:pt>
                <ns0:pt idx="4">
                  <ns0:v>0.0482922582129</ns0:v>
                </ns0:pt>
              </ns0:numCache>
            </ns0:numRef>
          </ns0:yVal>
          <ns0:smooth val="0"/>
        </ns0:ser>
        <ns0:ser>
          <ns0:idx val="7"/>
          <ns0:order val="7"/>
          <ns0:tx>
            <ns0:strRef>
              <ns0:f>MisIndexed</ns0:f>
              <ns0:strCache>
                <ns0:ptCount val="1"/>
                <ns0:pt idx="0">
                  <ns0:v>MisIndexed</ns0:v>
                </ns0:pt>
              </ns0:strCache>
            </ns0:strRef>
          </ns0:tx>
          <ns0:spPr>
            <ns3:ln w="0" cap="rnd">
              <ns3:noFill/>
              <ns3:prstDash val="solid"/>
              <ns3:round/>
            </ns3:ln>
          </ns0:spPr>
          <ns0:marker>
            <ns0:symbol val="circle"/>
            <ns0:size val="8"/>
            <ns0:spPr>
              <ns3:solidFill>
                <ns3:srgbClr val="BC7850"/>
              </ns3:solidFill>
              <ns3:ln w="0">
                <ns3:noFill/>
                <ns3:prstDash val="solid"/>
                <ns3:round/>
              </ns3:ln>
            </ns0:spPr>
          </ns0:marker>
          <ns0:dLbls>
            <ns0:delete val="1"/>
          </ns0:dLbls>
          <ns0:xVal>
            <ns0:numRef>
              <ns0:f>'Chart Data'!$O$2:$O$6</ns0:f>
              <ns0:numCache>
                <ns0:formatCode>General</ns0:formatCode>
                <ns0:ptCount val="5"/>
                <ns0:pt idx="0">
                  <ns0:v>2</ns0:v>
                </ns0:pt>
                <ns0:pt idx="1">
                  <ns0:v>2</ns0:v>
                </ns0:pt>
                <ns0:pt idx="2">
                  <ns0:v>2</ns0:v>
                </ns0:pt>
                <ns0:pt idx="3">
                  <ns0:v>2</ns0:v>
                </ns0:pt>
                <ns0:pt idx="4">
                  <ns0:v>2</ns0:v>
                </ns0:pt>
              </ns0:numCache>
            </ns0:numRef>
          </ns0:xVal>
          <ns0:yVal>
            <ns0:numRef>
              <ns0:f>'Chart Data'!$P$2:$P$6</ns0:f>
              <ns0:numCache>
                <ns0:formatCode>0.00</ns0:formatCode>
                <ns0:ptCount val="5"/>
                <ns0:pt idx="0">
                  <ns0:v>0.0524268308851</ns0:v>
                </ns0:pt>
                <ns0:pt idx="1">
                  <ns0:v>0.130225107353</ns0:v>
                </ns0:pt>
                <ns0:pt idx="2">
                  <ns0:v>0.0958966441273</ns0:v>
                </ns0:pt>
                <ns0:pt idx="3">
                  <ns0:v>0.0508890409648</ns0:v>
                </ns0:pt>
                <ns0:pt idx="4">
                  <ns0:v>0.0637110355526</ns0:v>
                </ns0:pt>
              </ns0:numCache>
            </ns0:numRef>
          </ns0:yVal>
          <ns0:smooth val="0"/>
        </ns0:ser>
        <ns0:dLbls>
          <ns0:showLegendKey val="0"/>
          <ns0:showVal val="0"/>
          <ns0:showCatName val="0"/>
          <ns0:showSerName val="0"/>
          <ns0:showPercent val="0"/>
          <ns0:showBubbleSize val="0"/>
        </ns0:dLbls>
        <ns0:axId val="48650112"/>
        <ns0:axId val="48672768"/>
      </ns0:scatterChart>
      <ns0:valAx>
        <ns0:axId val="48650112"/>
        <ns0:scaling>
          <ns0:orientation val="minMax"/>
          <ns0:max val="2.5"/>
          <ns0:min val="-0.5"/>
        </ns0:scaling>
        <ns0:delete val="0"/>
        <ns0:axPos val="b"/>
        <ns0:numFmt formatCode="0" sourceLinked="1"/>
        <ns0:majorTickMark val="none"/>
        <ns0:minorTickMark val="none"/>
        <ns0:tickLblPos val="none"/>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FFFFFF"/>
                </ns3:solidFill>
                <ns3:latin typeface="Arial" panose="020B0604020202020204"/>
                <ns3:ea typeface="Arial" panose="020B0604020202020204"/>
                <ns3:cs typeface="Arial" panose="020B0604020202020204"/>
              </ns3:defRPr>
            </ns3:pPr>
          </ns3:p>
        </ns0:txPr>
        <ns0:crossAx val="48672768"/>
        <ns0:crosses val="min"/>
        <ns0:crossBetween val="midCat"/>
        <ns0:majorUnit val="1"/>
      </ns0:valAx>
      <ns0:valAx>
        <ns0:axId val="48672768"/>
        <ns0:scaling>
          <ns0:orientation val="minMax"/>
          <ns0:max val="0.223131214026459"/>
          <ns0:min val="0"/>
        </ns0:scaling>
        <ns0:delete val="0"/>
        <ns0:axPos val="l"/>
        <ns0:numFmt formatCode="0.0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50112"/>
        <ns0:crosses val="min"/>
        <ns0:crossBetween val="midCat"/>
      </ns0:valAx>
      <ns0:spPr>
        <ns3:solidFill>
          <ns3:srgbClr val="FFFFFF"/>
        </ns3:solidFill>
        <ns3:ln w="0">
          <ns3:noFill/>
        </ns3:ln>
      </ns0:spPr>
    </ns0:plotArea>
    <ns0:plotVisOnly val="1"/>
    <ns0:dispBlanksAs val="gap"/>
    <ns0:showDLblsOverMax val="0"/>
    <ns0:extLst>
      <ns0:ext uri="{0b15fc19-7d7d-44ad-8c2d-2c3a37ce22c3}">
        <ns4:chartProps chartId="{cf0140b7-cd53-4485-b605-3e90c7076cdc}"/>
      </ns0:ext>
    </ns0:extLst>
  </ns0:chart>
  <ns0:spPr>
    <ns3:solidFill>
      <ns3:srgbClr val="FFFFFF"/>
    </ns3:solidFill>
    <ns3:ln w="0">
      <ns3:noFill/>
    </ns3:ln>
  </ns0:spPr>
  <ns0:txPr>
    <ns3:bodyPr/>
    <ns3:lstStyle/>
    <ns3:p>
      <ns3:pPr>
        <ns3:defRPr lang="zh-CN"/>
      </ns3:pPr>
    </ns3:p>
  </ns0:txPr>
  <ns0:externalData ns5:id="rId1">
    <ns0:autoUpdate val="0"/>
  </ns0:externalData>
</ns0:chartSpace>
</file>

<file path=ppt/charts/chart14.xml><?xml version="1.0" encoding="utf-8"?>
<ns0:chartSpace xmlns:ns0="http://schemas.openxmlformats.org/drawingml/2006/chart" xmlns:ns1="http://schemas.openxmlformats.org/markup-compatibility/2006" xmlns:ns2="http://schemas.microsoft.com/office/drawing/2007/8/2/chart" xmlns:ns3="http://schemas.openxmlformats.org/drawingml/2006/main" xmlns:ns4="https://web.wps.cn/et/2018/main" xmlns:ns5="http://schemas.openxmlformats.org/officeDocument/2006/relationships">
  <ns0:date1904 val="0"/>
  <ns0:lang val="zh-CN"/>
  <ns0:roundedCorners val="0"/>
  <ns1:AlternateContent>
    <ns1:Choice Requires="c14">
      <ns2:style val="102"/>
    </ns1:Choice>
    <ns1:Fallback>
      <ns0:style val="2"/>
    </ns1:Fallback>
  </ns1:AlternateContent>
  <ns0:chart>
    <ns0:autoTitleDeleted val="1"/>
    <ns0:plotArea>
      <ns0:layout/>
      <ns0:scatterChart>
        <ns0:scatterStyle val="lineMarker"/>
        <ns0:varyColors val="0"/>
        <ns0:ser>
          <ns0:idx val="0"/>
          <ns0:order val="0"/>
          <ns0:tx>
            <ns0:strRef>
              <ns0:f>PA-W01</ns0:f>
              <ns0:strCache>
                <ns0:ptCount val="1"/>
                <ns0:pt idx="0">
                  <ns0:v>PA-W01</ns0:v>
                </ns0:pt>
              </ns0:strCache>
            </ns0:strRef>
          </ns0:tx>
          <ns0:spPr>
            <ns3:ln w="11430" cap="rnd">
              <ns3:solidFill>
                <ns3:srgbClr val="D7DDE1"/>
              </ns3:solidFill>
              <ns3:prstDash val="solid"/>
              <ns3:round/>
            </ns3:ln>
          </ns0:spPr>
          <ns0:marker>
            <ns0:symbol val="none"/>
          </ns0:marker>
          <ns0:dLbls>
            <ns0:delete val="1"/>
          </ns0:dLbls>
          <ns0:xVal>
            <ns0:numRef>
              <ns0:f>'Chart Data'!$A$2:$A$4</ns0:f>
              <ns0:numCache>
                <ns0:formatCode>General</ns0:formatCode>
                <ns0:ptCount val="3"/>
                <ns0:pt idx="0">
                  <ns0:v>0</ns0:v>
                </ns0:pt>
                <ns0:pt idx="1">
                  <ns0:v>1</ns0:v>
                </ns0:pt>
                <ns0:pt idx="2">
                  <ns0:v>2</ns0:v>
                </ns0:pt>
              </ns0:numCache>
            </ns0:numRef>
          </ns0:xVal>
          <ns0:yVal>
            <ns0:numRef>
              <ns0:f>'Chart Data'!$B$2:$B$4</ns0:f>
              <ns0:numCache>
                <ns0:formatCode>0.00</ns0:formatCode>
                <ns0:ptCount val="3"/>
                <ns0:pt idx="0">
                  <ns0:v>0.0129374414604</ns0:v>
                </ns0:pt>
                <ns0:pt idx="1">
                  <ns0:v>0.00682675796498</ns0:v>
                </ns0:pt>
                <ns0:pt idx="2">
                  <ns0:v>0.0216768308851</ns0:v>
                </ns0:pt>
              </ns0:numCache>
            </ns0:numRef>
          </ns0:yVal>
          <ns0:smooth val="0"/>
        </ns0:ser>
        <ns0:ser>
          <ns0:idx val="1"/>
          <ns0:order val="1"/>
          <ns0:tx>
            <ns0:strRef>
              <ns0:f>PA-W02</ns0:f>
              <ns0:strCache>
                <ns0:ptCount val="1"/>
                <ns0:pt idx="0">
                  <ns0:v>PA-W02</ns0:v>
                </ns0:pt>
              </ns0:strCache>
            </ns0:strRef>
          </ns0:tx>
          <ns0:spPr>
            <ns3:ln w="11430" cap="rnd">
              <ns3:solidFill>
                <ns3:srgbClr val="D7DDE1"/>
              </ns3:solidFill>
              <ns3:prstDash val="solid"/>
              <ns3:round/>
            </ns3:ln>
          </ns0:spPr>
          <ns0:marker>
            <ns0:symbol val="none"/>
          </ns0:marker>
          <ns0:dLbls>
            <ns0:delete val="1"/>
          </ns0:dLbls>
          <ns0:xVal>
            <ns0:numRef>
              <ns0:f>'Chart Data'!$C$2:$C$4</ns0:f>
              <ns0:numCache>
                <ns0:formatCode>General</ns0:formatCode>
                <ns0:ptCount val="3"/>
                <ns0:pt idx="0">
                  <ns0:v>0</ns0:v>
                </ns0:pt>
                <ns0:pt idx="1">
                  <ns0:v>1</ns0:v>
                </ns0:pt>
                <ns0:pt idx="2">
                  <ns0:v>2</ns0:v>
                </ns0:pt>
              </ns0:numCache>
            </ns0:numRef>
          </ns0:xVal>
          <ns0:yVal>
            <ns0:numRef>
              <ns0:f>'Chart Data'!$D$2:$D$4</ns0:f>
              <ns0:numCache>
                <ns0:formatCode>0.00</ns0:formatCode>
                <ns0:ptCount val="3"/>
                <ns0:pt idx="0">
                  <ns0:v>0.00888496189908</ns0:v>
                </ns0:pt>
                <ns0:pt idx="1">
                  <ns0:v>0.0349064792745</ns0:v>
                </ns0:pt>
                <ns0:pt idx="2">
                  <ns0:v>0.0192601873922</ns0:v>
                </ns0:pt>
              </ns0:numCache>
            </ns0:numRef>
          </ns0:yVal>
          <ns0:smooth val="0"/>
        </ns0:ser>
        <ns0:ser>
          <ns0:idx val="2"/>
          <ns0:order val="2"/>
          <ns0:tx>
            <ns0:strRef>
              <ns0:f>PA-W03</ns0:f>
              <ns0:strCache>
                <ns0:ptCount val="1"/>
                <ns0:pt idx="0">
                  <ns0:v>PA-W03</ns0:v>
                </ns0:pt>
              </ns0:strCache>
            </ns0:strRef>
          </ns0:tx>
          <ns0:spPr>
            <ns3:ln w="11430" cap="rnd">
              <ns3:solidFill>
                <ns3:srgbClr val="D7DDE1"/>
              </ns3:solidFill>
              <ns3:prstDash val="solid"/>
              <ns3:round/>
            </ns3:ln>
          </ns0:spPr>
          <ns0:marker>
            <ns0:symbol val="none"/>
          </ns0:marker>
          <ns0:dLbls>
            <ns0:delete val="1"/>
          </ns0:dLbls>
          <ns0:xVal>
            <ns0:numRef>
              <ns0:f>'Chart Data'!$E$2:$E$4</ns0:f>
              <ns0:numCache>
                <ns0:formatCode>General</ns0:formatCode>
                <ns0:ptCount val="3"/>
                <ns0:pt idx="0">
                  <ns0:v>0</ns0:v>
                </ns0:pt>
                <ns0:pt idx="1">
                  <ns0:v>1</ns0:v>
                </ns0:pt>
                <ns0:pt idx="2">
                  <ns0:v>2</ns0:v>
                </ns0:pt>
              </ns0:numCache>
            </ns0:numRef>
          </ns0:xVal>
          <ns0:yVal>
            <ns0:numRef>
              <ns0:f>'Chart Data'!$F$2:$F$4</ns0:f>
              <ns0:numCache>
                <ns0:formatCode>0.00</ns0:formatCode>
                <ns0:ptCount val="3"/>
                <ns0:pt idx="0">
                  <ns0:v>0.0266839065389</ns0:v>
                </ns0:pt>
                <ns0:pt idx="1">
                  <ns0:v>0.0128387670542</ns0:v>
                </ns0:pt>
                <ns0:pt idx="2">
                  <ns0:v>0.017699856208</ns0:v>
                </ns0:pt>
              </ns0:numCache>
            </ns0:numRef>
          </ns0:yVal>
          <ns0:smooth val="0"/>
        </ns0:ser>
        <ns0:ser>
          <ns0:idx val="3"/>
          <ns0:order val="3"/>
          <ns0:tx>
            <ns0:strRef>
              <ns0:f>PA-W04</ns0:f>
              <ns0:strCache>
                <ns0:ptCount val="1"/>
                <ns0:pt idx="0">
                  <ns0:v>PA-W04</ns0:v>
                </ns0:pt>
              </ns0:strCache>
            </ns0:strRef>
          </ns0:tx>
          <ns0:spPr>
            <ns3:ln w="11430" cap="rnd">
              <ns3:solidFill>
                <ns3:srgbClr val="D7DDE1"/>
              </ns3:solidFill>
              <ns3:prstDash val="solid"/>
              <ns3:round/>
            </ns3:ln>
          </ns0:spPr>
          <ns0:marker>
            <ns0:symbol val="none"/>
          </ns0:marker>
          <ns0:dLbls>
            <ns0:delete val="1"/>
          </ns0:dLbls>
          <ns0:xVal>
            <ns0:numRef>
              <ns0:f>'Chart Data'!$G$2:$G$4</ns0:f>
              <ns0:numCache>
                <ns0:formatCode>General</ns0:formatCode>
                <ns0:ptCount val="3"/>
                <ns0:pt idx="0">
                  <ns0:v>0</ns0:v>
                </ns0:pt>
                <ns0:pt idx="1">
                  <ns0:v>1</ns0:v>
                </ns0:pt>
                <ns0:pt idx="2">
                  <ns0:v>2</ns0:v>
                </ns0:pt>
              </ns0:numCache>
            </ns0:numRef>
          </ns0:xVal>
          <ns0:yVal>
            <ns0:numRef>
              <ns0:f>'Chart Data'!$H$2:$H$4</ns0:f>
              <ns0:numCache>
                <ns0:formatCode>0.00</ns0:formatCode>
                <ns0:ptCount val="3"/>
                <ns0:pt idx="0">
                  <ns0:v>0.0286634594948</ns0:v>
                </ns0:pt>
                <ns0:pt idx="1">
                  <ns0:v>0.0109628032082</ns0:v>
                </ns0:pt>
                <ns0:pt idx="2">
                  <ns0:v>0.0197025468239</ns0:v>
                </ns0:pt>
              </ns0:numCache>
            </ns0:numRef>
          </ns0:yVal>
          <ns0:smooth val="0"/>
        </ns0:ser>
        <ns0:ser>
          <ns0:idx val="4"/>
          <ns0:order val="4"/>
          <ns0:tx>
            <ns0:strRef>
              <ns0:f>PA-W05</ns0:f>
              <ns0:strCache>
                <ns0:ptCount val="1"/>
                <ns0:pt idx="0">
                  <ns0:v>PA-W05</ns0:v>
                </ns0:pt>
              </ns0:strCache>
            </ns0:strRef>
          </ns0:tx>
          <ns0:spPr>
            <ns3:ln w="11430" cap="rnd">
              <ns3:solidFill>
                <ns3:srgbClr val="D7DDE1"/>
              </ns3:solidFill>
              <ns3:prstDash val="solid"/>
              <ns3:round/>
            </ns3:ln>
          </ns0:spPr>
          <ns0:marker>
            <ns0:symbol val="none"/>
          </ns0:marker>
          <ns0:dLbls>
            <ns0:delete val="1"/>
          </ns0:dLbls>
          <ns0:xVal>
            <ns0:numRef>
              <ns0:f>'Chart Data'!$I$2:$I$4</ns0:f>
              <ns0:numCache>
                <ns0:formatCode>General</ns0:formatCode>
                <ns0:ptCount val="3"/>
                <ns0:pt idx="0">
                  <ns0:v>0</ns0:v>
                </ns0:pt>
                <ns0:pt idx="1">
                  <ns0:v>1</ns0:v>
                </ns0:pt>
                <ns0:pt idx="2">
                  <ns0:v>2</ns0:v>
                </ns0:pt>
              </ns0:numCache>
            </ns0:numRef>
          </ns0:xVal>
          <ns0:yVal>
            <ns0:numRef>
              <ns0:f>'Chart Data'!$J$2:$J$4</ns0:f>
              <ns0:numCache>
                <ns0:formatCode>0.00</ns0:formatCode>
                <ns0:ptCount val="3"/>
                <ns0:pt idx="0">
                  <ns0:v>0.0281054376418</ns0:v>
                </ns0:pt>
                <ns0:pt idx="1">
                  <ns0:v>0.082556581613</ns0:v>
                </ns0:pt>
                <ns0:pt idx="2">
                  <ns0:v>0.025218294561</ns0:v>
                </ns0:pt>
              </ns0:numCache>
            </ns0:numRef>
          </ns0:yVal>
          <ns0:smooth val="0"/>
        </ns0:ser>
        <ns0:ser>
          <ns0:idx val="5"/>
          <ns0:order val="5"/>
          <ns0:tx>
            <ns0:strRef>
              <ns0:f>Opaque</ns0:f>
              <ns0:strCache>
                <ns0:ptCount val="1"/>
                <ns0:pt idx="0">
                  <ns0:v>Opaque</ns0:v>
                </ns0:pt>
              </ns0:strCache>
            </ns0:strRef>
          </ns0:tx>
          <ns0:spPr>
            <ns3:ln w="0" cap="rnd">
              <ns3:noFill/>
              <ns3:prstDash val="solid"/>
              <ns3:round/>
            </ns3:ln>
          </ns0:spPr>
          <ns0:marker>
            <ns0:symbol val="circle"/>
            <ns0:size val="8"/>
            <ns0:spPr>
              <ns3:solidFill>
                <ns3:srgbClr val="637482"/>
              </ns3:solidFill>
              <ns3:ln w="0">
                <ns3:noFill/>
                <ns3:prstDash val="solid"/>
                <ns3:round/>
              </ns3:ln>
            </ns0:spPr>
          </ns0:marker>
          <ns0:dLbls>
            <ns0:delete val="1"/>
          </ns0:dLbls>
          <ns0:xVal>
            <ns0:numRef>
              <ns0:f>'Chart Data'!$K$2:$K$6</ns0:f>
              <ns0:numCache>
                <ns0:formatCode>General</ns0:formatCode>
                <ns0:ptCount val="5"/>
                <ns0:pt idx="0">
                  <ns0:v>0</ns0:v>
                </ns0:pt>
                <ns0:pt idx="1">
                  <ns0:v>0</ns0:v>
                </ns0:pt>
                <ns0:pt idx="2">
                  <ns0:v>0</ns0:v>
                </ns0:pt>
                <ns0:pt idx="3">
                  <ns0:v>0</ns0:v>
                </ns0:pt>
                <ns0:pt idx="4">
                  <ns0:v>0</ns0:v>
                </ns0:pt>
              </ns0:numCache>
            </ns0:numRef>
          </ns0:xVal>
          <ns0:yVal>
            <ns0:numRef>
              <ns0:f>'Chart Data'!$L$2:$L$6</ns0:f>
              <ns0:numCache>
                <ns0:formatCode>0.00</ns0:formatCode>
                <ns0:ptCount val="5"/>
                <ns0:pt idx="0">
                  <ns0:v>0.0129374414604</ns0:v>
                </ns0:pt>
                <ns0:pt idx="1">
                  <ns0:v>0.00888496189908</ns0:v>
                </ns0:pt>
                <ns0:pt idx="2">
                  <ns0:v>0.0266839065389</ns0:v>
                </ns0:pt>
                <ns0:pt idx="3">
                  <ns0:v>0.0286634594948</ns0:v>
                </ns0:pt>
                <ns0:pt idx="4">
                  <ns0:v>0.0281054376418</ns0:v>
                </ns0:pt>
              </ns0:numCache>
            </ns0:numRef>
          </ns0:yVal>
          <ns0:smooth val="0"/>
        </ns0:ser>
        <ns0:ser>
          <ns0:idx val="6"/>
          <ns0:order val="6"/>
          <ns0:tx>
            <ns0:strRef>
              <ns0:f>Aligned</ns0:f>
              <ns0:strCache>
                <ns0:ptCount val="1"/>
                <ns0:pt idx="0">
                  <ns0:v>Aligned</ns0:v>
                </ns0:pt>
              </ns0:strCache>
            </ns0:strRef>
          </ns0:tx>
          <ns0:spPr>
            <ns3:ln w="0" cap="rnd">
              <ns3:noFill/>
              <ns3:prstDash val="solid"/>
              <ns3:round/>
            </ns3:ln>
          </ns0:spPr>
          <ns0:marker>
            <ns0:symbol val="circle"/>
            <ns0:size val="8"/>
            <ns0:spPr>
              <ns3:solidFill>
                <ns3:srgbClr val="277F8A"/>
              </ns3:solidFill>
              <ns3:ln w="0">
                <ns3:noFill/>
                <ns3:prstDash val="solid"/>
                <ns3:round/>
              </ns3:ln>
            </ns0:spPr>
          </ns0:marker>
          <ns0:dLbls>
            <ns0:delete val="1"/>
          </ns0:dLbls>
          <ns0:xVal>
            <ns0:numRef>
              <ns0:f>'Chart Data'!$M$2:$M$6</ns0:f>
              <ns0:numCache>
                <ns0:formatCode>General</ns0:formatCode>
                <ns0:ptCount val="5"/>
                <ns0:pt idx="0">
                  <ns0:v>1</ns0:v>
                </ns0:pt>
                <ns0:pt idx="1">
                  <ns0:v>1</ns0:v>
                </ns0:pt>
                <ns0:pt idx="2">
                  <ns0:v>1</ns0:v>
                </ns0:pt>
                <ns0:pt idx="3">
                  <ns0:v>1</ns0:v>
                </ns0:pt>
                <ns0:pt idx="4">
                  <ns0:v>1</ns0:v>
                </ns0:pt>
              </ns0:numCache>
            </ns0:numRef>
          </ns0:xVal>
          <ns0:yVal>
            <ns0:numRef>
              <ns0:f>'Chart Data'!$N$2:$N$6</ns0:f>
              <ns0:numCache>
                <ns0:formatCode>0.00</ns0:formatCode>
                <ns0:ptCount val="5"/>
                <ns0:pt idx="0">
                  <ns0:v>0.00682675796498</ns0:v>
                </ns0:pt>
                <ns0:pt idx="1">
                  <ns0:v>0.0349064792745</ns0:v>
                </ns0:pt>
                <ns0:pt idx="2">
                  <ns0:v>0.0128387670542</ns0:v>
                </ns0:pt>
                <ns0:pt idx="3">
                  <ns0:v>0.0109628032082</ns0:v>
                </ns0:pt>
                <ns0:pt idx="4">
                  <ns0:v>0.082556581613</ns0:v>
                </ns0:pt>
              </ns0:numCache>
            </ns0:numRef>
          </ns0:yVal>
          <ns0:smooth val="0"/>
        </ns0:ser>
        <ns0:ser>
          <ns0:idx val="7"/>
          <ns0:order val="7"/>
          <ns0:tx>
            <ns0:strRef>
              <ns0:f>MisIndexed</ns0:f>
              <ns0:strCache>
                <ns0:ptCount val="1"/>
                <ns0:pt idx="0">
                  <ns0:v>MisIndexed</ns0:v>
                </ns0:pt>
              </ns0:strCache>
            </ns0:strRef>
          </ns0:tx>
          <ns0:spPr>
            <ns3:ln w="0" cap="rnd">
              <ns3:noFill/>
              <ns3:prstDash val="solid"/>
              <ns3:round/>
            </ns3:ln>
          </ns0:spPr>
          <ns0:marker>
            <ns0:symbol val="circle"/>
            <ns0:size val="8"/>
            <ns0:spPr>
              <ns3:solidFill>
                <ns3:srgbClr val="BC7850"/>
              </ns3:solidFill>
              <ns3:ln w="0">
                <ns3:noFill/>
                <ns3:prstDash val="solid"/>
                <ns3:round/>
              </ns3:ln>
            </ns0:spPr>
          </ns0:marker>
          <ns0:dLbls>
            <ns0:delete val="1"/>
          </ns0:dLbls>
          <ns0:xVal>
            <ns0:numRef>
              <ns0:f>'Chart Data'!$O$2:$O$6</ns0:f>
              <ns0:numCache>
                <ns0:formatCode>General</ns0:formatCode>
                <ns0:ptCount val="5"/>
                <ns0:pt idx="0">
                  <ns0:v>2</ns0:v>
                </ns0:pt>
                <ns0:pt idx="1">
                  <ns0:v>2</ns0:v>
                </ns0:pt>
                <ns0:pt idx="2">
                  <ns0:v>2</ns0:v>
                </ns0:pt>
                <ns0:pt idx="3">
                  <ns0:v>2</ns0:v>
                </ns0:pt>
                <ns0:pt idx="4">
                  <ns0:v>2</ns0:v>
                </ns0:pt>
              </ns0:numCache>
            </ns0:numRef>
          </ns0:xVal>
          <ns0:yVal>
            <ns0:numRef>
              <ns0:f>'Chart Data'!$P$2:$P$6</ns0:f>
              <ns0:numCache>
                <ns0:formatCode>0.00</ns0:formatCode>
                <ns0:ptCount val="5"/>
                <ns0:pt idx="0">
                  <ns0:v>0.0216768308851</ns0:v>
                </ns0:pt>
                <ns0:pt idx="1">
                  <ns0:v>0.0192601873922</ns0:v>
                </ns0:pt>
                <ns0:pt idx="2">
                  <ns0:v>0.017699856208</ns0:v>
                </ns0:pt>
                <ns0:pt idx="3">
                  <ns0:v>0.0197025468239</ns0:v>
                </ns0:pt>
                <ns0:pt idx="4">
                  <ns0:v>0.025218294561</ns0:v>
                </ns0:pt>
              </ns0:numCache>
            </ns0:numRef>
          </ns0:yVal>
          <ns0:smooth val="0"/>
        </ns0:ser>
        <ns0:dLbls>
          <ns0:showLegendKey val="0"/>
          <ns0:showVal val="0"/>
          <ns0:showCatName val="0"/>
          <ns0:showSerName val="0"/>
          <ns0:showPercent val="0"/>
          <ns0:showBubbleSize val="0"/>
        </ns0:dLbls>
        <ns0:axId val="48650112"/>
        <ns0:axId val="48672768"/>
      </ns0:scatterChart>
      <ns0:valAx>
        <ns0:axId val="48650112"/>
        <ns0:scaling>
          <ns0:orientation val="minMax"/>
          <ns0:max val="2.5"/>
          <ns0:min val="-0.5"/>
        </ns0:scaling>
        <ns0:delete val="0"/>
        <ns0:axPos val="b"/>
        <ns0:numFmt formatCode="0" sourceLinked="1"/>
        <ns0:majorTickMark val="none"/>
        <ns0:minorTickMark val="none"/>
        <ns0:tickLblPos val="none"/>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FFFFFF"/>
                </ns3:solidFill>
                <ns3:latin typeface="Arial" panose="020B0604020202020204"/>
                <ns3:ea typeface="Arial" panose="020B0604020202020204"/>
                <ns3:cs typeface="Arial" panose="020B0604020202020204"/>
              </ns3:defRPr>
            </ns3:pPr>
          </ns3:p>
        </ns0:txPr>
        <ns0:crossAx val="48672768"/>
        <ns0:crosses val="min"/>
        <ns0:crossBetween val="midCat"/>
        <ns0:majorUnit val="1"/>
      </ns0:valAx>
      <ns0:valAx>
        <ns0:axId val="48672768"/>
        <ns0:scaling>
          <ns0:orientation val="minMax"/>
          <ns0:max val="0.0908122397742561"/>
          <ns0:min val="0"/>
        </ns0:scaling>
        <ns0:delete val="0"/>
        <ns0:axPos val="l"/>
        <ns0:numFmt formatCode="0.0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50112"/>
        <ns0:crosses val="min"/>
        <ns0:crossBetween val="midCat"/>
      </ns0:valAx>
      <ns0:spPr>
        <ns3:solidFill>
          <ns3:srgbClr val="FFFFFF"/>
        </ns3:solidFill>
        <ns3:ln w="0">
          <ns3:noFill/>
        </ns3:ln>
      </ns0:spPr>
    </ns0:plotArea>
    <ns0:plotVisOnly val="1"/>
    <ns0:dispBlanksAs val="gap"/>
    <ns0:showDLblsOverMax val="0"/>
    <ns0:extLst>
      <ns0:ext uri="{0b15fc19-7d7d-44ad-8c2d-2c3a37ce22c3}">
        <ns4:chartProps chartId="{4b08b239-b500-46ee-bb57-e9fb17e2be8f}"/>
      </ns0:ext>
    </ns0:extLst>
  </ns0:chart>
  <ns0:spPr>
    <ns3:solidFill>
      <ns3:srgbClr val="FFFFFF"/>
    </ns3:solidFill>
    <ns3:ln w="0">
      <ns3:noFill/>
    </ns3:ln>
  </ns0:spPr>
  <ns0:txPr>
    <ns3:bodyPr/>
    <ns3:lstStyle/>
    <ns3:p>
      <ns3:pPr>
        <ns3:defRPr lang="zh-CN"/>
      </ns3:pPr>
    </ns3:p>
  </ns0:txPr>
  <ns0:externalData ns5:id="rId1">
    <ns0:autoUpdate val="0"/>
  </ns0:externalData>
</ns0:chartSpace>
</file>

<file path=ppt/charts/chart15.xml><?xml version="1.0" encoding="utf-8"?>
<ns0:chartSpace xmlns:ns0="http://schemas.openxmlformats.org/drawingml/2006/chart" xmlns:ns1="http://schemas.openxmlformats.org/markup-compatibility/2006" xmlns:ns2="http://schemas.microsoft.com/office/drawing/2007/8/2/chart" xmlns:ns3="http://schemas.openxmlformats.org/drawingml/2006/main" xmlns:ns4="https://web.wps.cn/et/2018/main" xmlns:ns5="http://schemas.openxmlformats.org/officeDocument/2006/relationships">
  <ns0:date1904 val="0"/>
  <ns0:lang val="zh-CN"/>
  <ns0:roundedCorners val="0"/>
  <ns1:AlternateContent>
    <ns1:Choice Requires="c14">
      <ns2:style val="102"/>
    </ns1:Choice>
    <ns1:Fallback>
      <ns0:style val="2"/>
    </ns1:Fallback>
  </ns1:AlternateContent>
  <ns0:chart>
    <ns0:autoTitleDeleted val="1"/>
    <ns0:plotArea>
      <ns0:layout/>
      <ns0:scatterChart>
        <ns0:scatterStyle val="lineMarker"/>
        <ns0:varyColors val="0"/>
        <ns0:ser>
          <ns0:idx val="0"/>
          <ns0:order val="0"/>
          <ns0:tx>
            <ns0:strRef>
              <ns0:f>RX-W01</ns0:f>
              <ns0:strCache>
                <ns0:ptCount val="1"/>
                <ns0:pt idx="0">
                  <ns0:v>RX-W01</ns0:v>
                </ns0:pt>
              </ns0:strCache>
            </ns0:strRef>
          </ns0:tx>
          <ns0:spPr>
            <ns3:ln w="11430" cap="rnd">
              <ns3:solidFill>
                <ns3:srgbClr val="D7DDE1"/>
              </ns3:solidFill>
              <ns3:prstDash val="solid"/>
              <ns3:round/>
            </ns3:ln>
          </ns0:spPr>
          <ns0:marker>
            <ns0:symbol val="none"/>
          </ns0:marker>
          <ns0:dLbls>
            <ns0:delete val="1"/>
          </ns0:dLbls>
          <ns0:xVal>
            <ns0:numRef>
              <ns0:f>'Chart Data'!$A$2:$A$4</ns0:f>
              <ns0:numCache>
                <ns0:formatCode>General</ns0:formatCode>
                <ns0:ptCount val="3"/>
                <ns0:pt idx="0">
                  <ns0:v>0</ns0:v>
                </ns0:pt>
                <ns0:pt idx="1">
                  <ns0:v>1</ns0:v>
                </ns0:pt>
                <ns0:pt idx="2">
                  <ns0:v>2</ns0:v>
                </ns0:pt>
              </ns0:numCache>
            </ns0:numRef>
          </ns0:xVal>
          <ns0:yVal>
            <ns0:numRef>
              <ns0:f>'Chart Data'!$B$2:$B$4</ns0:f>
              <ns0:numCache>
                <ns0:formatCode>0.00</ns0:formatCode>
                <ns0:ptCount val="3"/>
                <ns0:pt idx="0">
                  <ns0:v>0.0936152752108</ns0:v>
                </ns0:pt>
                <ns0:pt idx="1">
                  <ns0:v>0.0308056516482</ns0:v>
                </ns0:pt>
                <ns0:pt idx="2">
                  <ns0:v>0.031682666209</ns0:v>
                </ns0:pt>
              </ns0:numCache>
            </ns0:numRef>
          </ns0:yVal>
          <ns0:smooth val="0"/>
        </ns0:ser>
        <ns0:ser>
          <ns0:idx val="1"/>
          <ns0:order val="1"/>
          <ns0:tx>
            <ns0:strRef>
              <ns0:f>RX-W02</ns0:f>
              <ns0:strCache>
                <ns0:ptCount val="1"/>
                <ns0:pt idx="0">
                  <ns0:v>RX-W02</ns0:v>
                </ns0:pt>
              </ns0:strCache>
            </ns0:strRef>
          </ns0:tx>
          <ns0:spPr>
            <ns3:ln w="11430" cap="rnd">
              <ns3:solidFill>
                <ns3:srgbClr val="D7DDE1"/>
              </ns3:solidFill>
              <ns3:prstDash val="solid"/>
              <ns3:round/>
            </ns3:ln>
          </ns0:spPr>
          <ns0:marker>
            <ns0:symbol val="none"/>
          </ns0:marker>
          <ns0:dLbls>
            <ns0:delete val="1"/>
          </ns0:dLbls>
          <ns0:xVal>
            <ns0:numRef>
              <ns0:f>'Chart Data'!$C$2:$C$4</ns0:f>
              <ns0:numCache>
                <ns0:formatCode>General</ns0:formatCode>
                <ns0:ptCount val="3"/>
                <ns0:pt idx="0">
                  <ns0:v>0</ns0:v>
                </ns0:pt>
                <ns0:pt idx="1">
                  <ns0:v>1</ns0:v>
                </ns0:pt>
                <ns0:pt idx="2">
                  <ns0:v>2</ns0:v>
                </ns0:pt>
              </ns0:numCache>
            </ns0:numRef>
          </ns0:xVal>
          <ns0:yVal>
            <ns0:numRef>
              <ns0:f>'Chart Data'!$D$2:$D$4</ns0:f>
              <ns0:numCache>
                <ns0:formatCode>0.00</ns0:formatCode>
                <ns0:ptCount val="3"/>
                <ns0:pt idx="0">
                  <ns0:v>0.117326158206</ns0:v>
                </ns0:pt>
                <ns0:pt idx="1">
                  <ns0:v>0.0276962021885</ns0:v>
                </ns0:pt>
                <ns0:pt idx="2">
                  <ns0:v>0.0390434166688</ns0:v>
                </ns0:pt>
              </ns0:numCache>
            </ns0:numRef>
          </ns0:yVal>
          <ns0:smooth val="0"/>
        </ns0:ser>
        <ns0:ser>
          <ns0:idx val="2"/>
          <ns0:order val="2"/>
          <ns0:tx>
            <ns0:strRef>
              <ns0:f>RX-W03</ns0:f>
              <ns0:strCache>
                <ns0:ptCount val="1"/>
                <ns0:pt idx="0">
                  <ns0:v>RX-W03</ns0:v>
                </ns0:pt>
              </ns0:strCache>
            </ns0:strRef>
          </ns0:tx>
          <ns0:spPr>
            <ns3:ln w="11430" cap="rnd">
              <ns3:solidFill>
                <ns3:srgbClr val="D7DDE1"/>
              </ns3:solidFill>
              <ns3:prstDash val="solid"/>
              <ns3:round/>
            </ns3:ln>
          </ns0:spPr>
          <ns0:marker>
            <ns0:symbol val="none"/>
          </ns0:marker>
          <ns0:dLbls>
            <ns0:delete val="1"/>
          </ns0:dLbls>
          <ns0:xVal>
            <ns0:numRef>
              <ns0:f>'Chart Data'!$E$2:$E$4</ns0:f>
              <ns0:numCache>
                <ns0:formatCode>General</ns0:formatCode>
                <ns0:ptCount val="3"/>
                <ns0:pt idx="0">
                  <ns0:v>0</ns0:v>
                </ns0:pt>
                <ns0:pt idx="1">
                  <ns0:v>1</ns0:v>
                </ns0:pt>
                <ns0:pt idx="2">
                  <ns0:v>2</ns0:v>
                </ns0:pt>
              </ns0:numCache>
            </ns0:numRef>
          </ns0:xVal>
          <ns0:yVal>
            <ns0:numRef>
              <ns0:f>'Chart Data'!$F$2:$F$4</ns0:f>
              <ns0:numCache>
                <ns0:formatCode>0.00</ns0:formatCode>
                <ns0:ptCount val="3"/>
                <ns0:pt idx="0">
                  <ns0:v>0.126062109098</ns0:v>
                </ns0:pt>
                <ns0:pt idx="1">
                  <ns0:v>0.133253384933</ns0:v>
                </ns0:pt>
                <ns0:pt idx="2">
                  <ns0:v>0.117523621256</ns0:v>
                </ns0:pt>
              </ns0:numCache>
            </ns0:numRef>
          </ns0:yVal>
          <ns0:smooth val="0"/>
        </ns0:ser>
        <ns0:ser>
          <ns0:idx val="3"/>
          <ns0:order val="3"/>
          <ns0:tx>
            <ns0:strRef>
              <ns0:f>RX-W04</ns0:f>
              <ns0:strCache>
                <ns0:ptCount val="1"/>
                <ns0:pt idx="0">
                  <ns0:v>RX-W04</ns0:v>
                </ns0:pt>
              </ns0:strCache>
            </ns0:strRef>
          </ns0:tx>
          <ns0:spPr>
            <ns3:ln w="11430" cap="rnd">
              <ns3:solidFill>
                <ns3:srgbClr val="D7DDE1"/>
              </ns3:solidFill>
              <ns3:prstDash val="solid"/>
              <ns3:round/>
            </ns3:ln>
          </ns0:spPr>
          <ns0:marker>
            <ns0:symbol val="none"/>
          </ns0:marker>
          <ns0:dLbls>
            <ns0:delete val="1"/>
          </ns0:dLbls>
          <ns0:xVal>
            <ns0:numRef>
              <ns0:f>'Chart Data'!$G$2:$G$4</ns0:f>
              <ns0:numCache>
                <ns0:formatCode>General</ns0:formatCode>
                <ns0:ptCount val="3"/>
                <ns0:pt idx="0">
                  <ns0:v>0</ns0:v>
                </ns0:pt>
                <ns0:pt idx="1">
                  <ns0:v>1</ns0:v>
                </ns0:pt>
                <ns0:pt idx="2">
                  <ns0:v>2</ns0:v>
                </ns0:pt>
              </ns0:numCache>
            </ns0:numRef>
          </ns0:xVal>
          <ns0:yVal>
            <ns0:numRef>
              <ns0:f>'Chart Data'!$H$2:$H$4</ns0:f>
              <ns0:numCache>
                <ns0:formatCode>0.00</ns0:formatCode>
                <ns0:ptCount val="3"/>
                <ns0:pt idx="0">
                  <ns0:v>0.0732518602345</ns0:v>
                </ns0:pt>
                <ns0:pt idx="1">
                  <ns0:v>0.0427617804739</ns0:v>
                </ns0:pt>
                <ns0:pt idx="2">
                  <ns0:v>0.0313129054275</ns0:v>
                </ns0:pt>
              </ns0:numCache>
            </ns0:numRef>
          </ns0:yVal>
          <ns0:smooth val="0"/>
        </ns0:ser>
        <ns0:ser>
          <ns0:idx val="4"/>
          <ns0:order val="4"/>
          <ns0:tx>
            <ns0:strRef>
              <ns0:f>RX-W05</ns0:f>
              <ns0:strCache>
                <ns0:ptCount val="1"/>
                <ns0:pt idx="0">
                  <ns0:v>RX-W05</ns0:v>
                </ns0:pt>
              </ns0:strCache>
            </ns0:strRef>
          </ns0:tx>
          <ns0:spPr>
            <ns3:ln w="11430" cap="rnd">
              <ns3:solidFill>
                <ns3:srgbClr val="D7DDE1"/>
              </ns3:solidFill>
              <ns3:prstDash val="solid"/>
              <ns3:round/>
            </ns3:ln>
          </ns0:spPr>
          <ns0:marker>
            <ns0:symbol val="none"/>
          </ns0:marker>
          <ns0:dLbls>
            <ns0:delete val="1"/>
          </ns0:dLbls>
          <ns0:xVal>
            <ns0:numRef>
              <ns0:f>'Chart Data'!$I$2:$I$4</ns0:f>
              <ns0:numCache>
                <ns0:formatCode>General</ns0:formatCode>
                <ns0:ptCount val="3"/>
                <ns0:pt idx="0">
                  <ns0:v>0</ns0:v>
                </ns0:pt>
                <ns0:pt idx="1">
                  <ns0:v>1</ns0:v>
                </ns0:pt>
                <ns0:pt idx="2">
                  <ns0:v>2</ns0:v>
                </ns0:pt>
              </ns0:numCache>
            </ns0:numRef>
          </ns0:xVal>
          <ns0:yVal>
            <ns0:numRef>
              <ns0:f>'Chart Data'!$J$2:$J$4</ns0:f>
              <ns0:numCache>
                <ns0:formatCode>0.00</ns0:formatCode>
                <ns0:ptCount val="3"/>
                <ns0:pt idx="0">
                  <ns0:v>0.0990465026134</ns0:v>
                </ns0:pt>
                <ns0:pt idx="1">
                  <ns0:v>0.0505162103872</ns0:v>
                </ns0:pt>
                <ns0:pt idx="2">
                  <ns0:v>0.0532862475018</ns0:v>
                </ns0:pt>
              </ns0:numCache>
            </ns0:numRef>
          </ns0:yVal>
          <ns0:smooth val="0"/>
        </ns0:ser>
        <ns0:ser>
          <ns0:idx val="5"/>
          <ns0:order val="5"/>
          <ns0:tx>
            <ns0:strRef>
              <ns0:f>Opaque</ns0:f>
              <ns0:strCache>
                <ns0:ptCount val="1"/>
                <ns0:pt idx="0">
                  <ns0:v>Opaque</ns0:v>
                </ns0:pt>
              </ns0:strCache>
            </ns0:strRef>
          </ns0:tx>
          <ns0:spPr>
            <ns3:ln w="0" cap="rnd">
              <ns3:noFill/>
              <ns3:prstDash val="solid"/>
              <ns3:round/>
            </ns3:ln>
          </ns0:spPr>
          <ns0:marker>
            <ns0:symbol val="circle"/>
            <ns0:size val="8"/>
            <ns0:spPr>
              <ns3:solidFill>
                <ns3:srgbClr val="637482"/>
              </ns3:solidFill>
              <ns3:ln w="0">
                <ns3:noFill/>
                <ns3:prstDash val="solid"/>
                <ns3:round/>
              </ns3:ln>
            </ns0:spPr>
          </ns0:marker>
          <ns0:dLbls>
            <ns0:delete val="1"/>
          </ns0:dLbls>
          <ns0:xVal>
            <ns0:numRef>
              <ns0:f>'Chart Data'!$K$2:$K$6</ns0:f>
              <ns0:numCache>
                <ns0:formatCode>General</ns0:formatCode>
                <ns0:ptCount val="5"/>
                <ns0:pt idx="0">
                  <ns0:v>0</ns0:v>
                </ns0:pt>
                <ns0:pt idx="1">
                  <ns0:v>0</ns0:v>
                </ns0:pt>
                <ns0:pt idx="2">
                  <ns0:v>0</ns0:v>
                </ns0:pt>
                <ns0:pt idx="3">
                  <ns0:v>0</ns0:v>
                </ns0:pt>
                <ns0:pt idx="4">
                  <ns0:v>0</ns0:v>
                </ns0:pt>
              </ns0:numCache>
            </ns0:numRef>
          </ns0:xVal>
          <ns0:yVal>
            <ns0:numRef>
              <ns0:f>'Chart Data'!$L$2:$L$6</ns0:f>
              <ns0:numCache>
                <ns0:formatCode>0.00</ns0:formatCode>
                <ns0:ptCount val="5"/>
                <ns0:pt idx="0">
                  <ns0:v>0.0936152752108</ns0:v>
                </ns0:pt>
                <ns0:pt idx="1">
                  <ns0:v>0.117326158206</ns0:v>
                </ns0:pt>
                <ns0:pt idx="2">
                  <ns0:v>0.126062109098</ns0:v>
                </ns0:pt>
                <ns0:pt idx="3">
                  <ns0:v>0.0732518602345</ns0:v>
                </ns0:pt>
                <ns0:pt idx="4">
                  <ns0:v>0.0990465026134</ns0:v>
                </ns0:pt>
              </ns0:numCache>
            </ns0:numRef>
          </ns0:yVal>
          <ns0:smooth val="0"/>
        </ns0:ser>
        <ns0:ser>
          <ns0:idx val="6"/>
          <ns0:order val="6"/>
          <ns0:tx>
            <ns0:strRef>
              <ns0:f>Aligned</ns0:f>
              <ns0:strCache>
                <ns0:ptCount val="1"/>
                <ns0:pt idx="0">
                  <ns0:v>Aligned</ns0:v>
                </ns0:pt>
              </ns0:strCache>
            </ns0:strRef>
          </ns0:tx>
          <ns0:spPr>
            <ns3:ln w="0" cap="rnd">
              <ns3:noFill/>
              <ns3:prstDash val="solid"/>
              <ns3:round/>
            </ns3:ln>
          </ns0:spPr>
          <ns0:marker>
            <ns0:symbol val="circle"/>
            <ns0:size val="8"/>
            <ns0:spPr>
              <ns3:solidFill>
                <ns3:srgbClr val="277F8A"/>
              </ns3:solidFill>
              <ns3:ln w="0">
                <ns3:noFill/>
                <ns3:prstDash val="solid"/>
                <ns3:round/>
              </ns3:ln>
            </ns0:spPr>
          </ns0:marker>
          <ns0:dLbls>
            <ns0:delete val="1"/>
          </ns0:dLbls>
          <ns0:xVal>
            <ns0:numRef>
              <ns0:f>'Chart Data'!$M$2:$M$6</ns0:f>
              <ns0:numCache>
                <ns0:formatCode>General</ns0:formatCode>
                <ns0:ptCount val="5"/>
                <ns0:pt idx="0">
                  <ns0:v>1</ns0:v>
                </ns0:pt>
                <ns0:pt idx="1">
                  <ns0:v>1</ns0:v>
                </ns0:pt>
                <ns0:pt idx="2">
                  <ns0:v>1</ns0:v>
                </ns0:pt>
                <ns0:pt idx="3">
                  <ns0:v>1</ns0:v>
                </ns0:pt>
                <ns0:pt idx="4">
                  <ns0:v>1</ns0:v>
                </ns0:pt>
              </ns0:numCache>
            </ns0:numRef>
          </ns0:xVal>
          <ns0:yVal>
            <ns0:numRef>
              <ns0:f>'Chart Data'!$N$2:$N$6</ns0:f>
              <ns0:numCache>
                <ns0:formatCode>0.00</ns0:formatCode>
                <ns0:ptCount val="5"/>
                <ns0:pt idx="0">
                  <ns0:v>0.0308056516482</ns0:v>
                </ns0:pt>
                <ns0:pt idx="1">
                  <ns0:v>0.0276962021885</ns0:v>
                </ns0:pt>
                <ns0:pt idx="2">
                  <ns0:v>0.133253384933</ns0:v>
                </ns0:pt>
                <ns0:pt idx="3">
                  <ns0:v>0.0427617804739</ns0:v>
                </ns0:pt>
                <ns0:pt idx="4">
                  <ns0:v>0.0505162103872</ns0:v>
                </ns0:pt>
              </ns0:numCache>
            </ns0:numRef>
          </ns0:yVal>
          <ns0:smooth val="0"/>
        </ns0:ser>
        <ns0:ser>
          <ns0:idx val="7"/>
          <ns0:order val="7"/>
          <ns0:tx>
            <ns0:strRef>
              <ns0:f>MisIndexed</ns0:f>
              <ns0:strCache>
                <ns0:ptCount val="1"/>
                <ns0:pt idx="0">
                  <ns0:v>MisIndexed</ns0:v>
                </ns0:pt>
              </ns0:strCache>
            </ns0:strRef>
          </ns0:tx>
          <ns0:spPr>
            <ns3:ln w="0" cap="rnd">
              <ns3:noFill/>
              <ns3:prstDash val="solid"/>
              <ns3:round/>
            </ns3:ln>
          </ns0:spPr>
          <ns0:marker>
            <ns0:symbol val="circle"/>
            <ns0:size val="8"/>
            <ns0:spPr>
              <ns3:solidFill>
                <ns3:srgbClr val="BC7850"/>
              </ns3:solidFill>
              <ns3:ln w="0">
                <ns3:noFill/>
                <ns3:prstDash val="solid"/>
                <ns3:round/>
              </ns3:ln>
            </ns0:spPr>
          </ns0:marker>
          <ns0:dLbls>
            <ns0:delete val="1"/>
          </ns0:dLbls>
          <ns0:xVal>
            <ns0:numRef>
              <ns0:f>'Chart Data'!$O$2:$O$6</ns0:f>
              <ns0:numCache>
                <ns0:formatCode>General</ns0:formatCode>
                <ns0:ptCount val="5"/>
                <ns0:pt idx="0">
                  <ns0:v>2</ns0:v>
                </ns0:pt>
                <ns0:pt idx="1">
                  <ns0:v>2</ns0:v>
                </ns0:pt>
                <ns0:pt idx="2">
                  <ns0:v>2</ns0:v>
                </ns0:pt>
                <ns0:pt idx="3">
                  <ns0:v>2</ns0:v>
                </ns0:pt>
                <ns0:pt idx="4">
                  <ns0:v>2</ns0:v>
                </ns0:pt>
              </ns0:numCache>
            </ns0:numRef>
          </ns0:xVal>
          <ns0:yVal>
            <ns0:numRef>
              <ns0:f>'Chart Data'!$P$2:$P$6</ns0:f>
              <ns0:numCache>
                <ns0:formatCode>0.00</ns0:formatCode>
                <ns0:ptCount val="5"/>
                <ns0:pt idx="0">
                  <ns0:v>0.031682666209</ns0:v>
                </ns0:pt>
                <ns0:pt idx="1">
                  <ns0:v>0.0390434166688</ns0:v>
                </ns0:pt>
                <ns0:pt idx="2">
                  <ns0:v>0.117523621256</ns0:v>
                </ns0:pt>
                <ns0:pt idx="3">
                  <ns0:v>0.0313129054275</ns0:v>
                </ns0:pt>
                <ns0:pt idx="4">
                  <ns0:v>0.0532862475018</ns0:v>
                </ns0:pt>
              </ns0:numCache>
            </ns0:numRef>
          </ns0:yVal>
          <ns0:smooth val="0"/>
        </ns0:ser>
        <ns0:dLbls>
          <ns0:showLegendKey val="0"/>
          <ns0:showVal val="0"/>
          <ns0:showCatName val="0"/>
          <ns0:showSerName val="0"/>
          <ns0:showPercent val="0"/>
          <ns0:showBubbleSize val="0"/>
        </ns0:dLbls>
        <ns0:axId val="48650112"/>
        <ns0:axId val="48672768"/>
      </ns0:scatterChart>
      <ns0:valAx>
        <ns0:axId val="48650112"/>
        <ns0:scaling>
          <ns0:orientation val="minMax"/>
          <ns0:max val="2.5"/>
          <ns0:min val="-0.5"/>
        </ns0:scaling>
        <ns0:delete val="0"/>
        <ns0:axPos val="b"/>
        <ns0:numFmt formatCode="0" sourceLinked="1"/>
        <ns0:majorTickMark val="none"/>
        <ns0:minorTickMark val="none"/>
        <ns0:tickLblPos val="none"/>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FFFFFF"/>
                </ns3:solidFill>
                <ns3:latin typeface="Arial" panose="020B0604020202020204"/>
                <ns3:ea typeface="Arial" panose="020B0604020202020204"/>
                <ns3:cs typeface="Arial" panose="020B0604020202020204"/>
              </ns3:defRPr>
            </ns3:pPr>
          </ns3:p>
        </ns0:txPr>
        <ns0:crossAx val="48672768"/>
        <ns0:crosses val="min"/>
        <ns0:crossBetween val="midCat"/>
        <ns0:majorUnit val="1"/>
      </ns0:valAx>
      <ns0:valAx>
        <ns0:axId val="48672768"/>
        <ns0:scaling>
          <ns0:orientation val="minMax"/>
          <ns0:max val="0.146578723426163"/>
          <ns0:min val="0"/>
        </ns0:scaling>
        <ns0:delete val="0"/>
        <ns0:axPos val="l"/>
        <ns0:numFmt formatCode="0.0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50112"/>
        <ns0:crosses val="min"/>
        <ns0:crossBetween val="midCat"/>
      </ns0:valAx>
      <ns0:spPr>
        <ns3:solidFill>
          <ns3:srgbClr val="FFFFFF"/>
        </ns3:solidFill>
        <ns3:ln w="0">
          <ns3:noFill/>
        </ns3:ln>
      </ns0:spPr>
    </ns0:plotArea>
    <ns0:plotVisOnly val="1"/>
    <ns0:dispBlanksAs val="gap"/>
    <ns0:showDLblsOverMax val="0"/>
    <ns0:extLst>
      <ns0:ext uri="{0b15fc19-7d7d-44ad-8c2d-2c3a37ce22c3}">
        <ns4:chartProps chartId="{5b936353-08b4-449f-aff5-48da999be082}"/>
      </ns0:ext>
    </ns0:extLst>
  </ns0:chart>
  <ns0:spPr>
    <ns3:solidFill>
      <ns3:srgbClr val="FFFFFF"/>
    </ns3:solidFill>
    <ns3:ln w="0">
      <ns3:noFill/>
    </ns3:ln>
  </ns0:spPr>
  <ns0:txPr>
    <ns3:bodyPr/>
    <ns3:lstStyle/>
    <ns3:p>
      <ns3:pPr>
        <ns3:defRPr lang="zh-CN"/>
      </ns3:pPr>
    </ns3:p>
  </ns0:txPr>
  <ns0:externalData ns5:id="rId1">
    <ns0:autoUpdate val="0"/>
  </ns0:externalData>
</ns0:chartSpace>
</file>

<file path=ppt/charts/chart16.xml><?xml version="1.0" encoding="utf-8"?>
<ns0:chartSpace xmlns:ns0="http://schemas.openxmlformats.org/drawingml/2006/chart" xmlns:ns1="http://schemas.openxmlformats.org/markup-compatibility/2006" xmlns:ns2="http://schemas.microsoft.com/office/drawing/2007/8/2/chart" xmlns:ns3="http://schemas.openxmlformats.org/drawingml/2006/main" xmlns:ns4="https://web.wps.cn/et/2018/main" xmlns:ns5="http://schemas.openxmlformats.org/officeDocument/2006/relationships">
  <ns0:date1904 val="0"/>
  <ns0:lang val="zh-CN"/>
  <ns0:roundedCorners val="0"/>
  <ns1:AlternateContent>
    <ns1:Choice Requires="c14">
      <ns2:style val="102"/>
    </ns1:Choice>
    <ns1:Fallback>
      <ns0:style val="2"/>
    </ns1:Fallback>
  </ns1:AlternateContent>
  <ns0:chart>
    <ns0:autoTitleDeleted val="1"/>
    <ns0:plotArea>
      <ns0:layout/>
      <ns0:scatterChart>
        <ns0:scatterStyle val="lineMarker"/>
        <ns0:varyColors val="0"/>
        <ns0:ser>
          <ns0:idx val="0"/>
          <ns0:order val="0"/>
          <ns0:tx>
            <ns0:strRef>
              <ns0:f>RX-W01</ns0:f>
              <ns0:strCache>
                <ns0:ptCount val="1"/>
                <ns0:pt idx="0">
                  <ns0:v>RX-W01</ns0:v>
                </ns0:pt>
              </ns0:strCache>
            </ns0:strRef>
          </ns0:tx>
          <ns0:spPr>
            <ns3:ln w="11430" cap="rnd">
              <ns3:solidFill>
                <ns3:srgbClr val="D7DDE1"/>
              </ns3:solidFill>
              <ns3:prstDash val="solid"/>
              <ns3:round/>
            </ns3:ln>
          </ns0:spPr>
          <ns0:marker>
            <ns0:symbol val="none"/>
          </ns0:marker>
          <ns0:dLbls>
            <ns0:delete val="1"/>
          </ns0:dLbls>
          <ns0:xVal>
            <ns0:numRef>
              <ns0:f>'Chart Data'!$A$2:$A$4</ns0:f>
              <ns0:numCache>
                <ns0:formatCode>General</ns0:formatCode>
                <ns0:ptCount val="3"/>
                <ns0:pt idx="0">
                  <ns0:v>0</ns0:v>
                </ns0:pt>
                <ns0:pt idx="1">
                  <ns0:v>1</ns0:v>
                </ns0:pt>
                <ns0:pt idx="2">
                  <ns0:v>2</ns0:v>
                </ns0:pt>
              </ns0:numCache>
            </ns0:numRef>
          </ns0:xVal>
          <ns0:yVal>
            <ns0:numRef>
              <ns0:f>'Chart Data'!$B$2:$B$4</ns0:f>
              <ns0:numCache>
                <ns0:formatCode>0.00</ns0:formatCode>
                <ns0:ptCount val="3"/>
                <ns0:pt idx="0">
                  <ns0:v>0.0919518923242</ns0:v>
                </ns0:pt>
                <ns0:pt idx="1">
                  <ns0:v>0.0700406059271</ns0:v>
                </ns0:pt>
                <ns0:pt idx="2">
                  <ns0:v>0.0923074634352</ns0:v>
                </ns0:pt>
              </ns0:numCache>
            </ns0:numRef>
          </ns0:yVal>
          <ns0:smooth val="0"/>
        </ns0:ser>
        <ns0:ser>
          <ns0:idx val="1"/>
          <ns0:order val="1"/>
          <ns0:tx>
            <ns0:strRef>
              <ns0:f>RX-W02</ns0:f>
              <ns0:strCache>
                <ns0:ptCount val="1"/>
                <ns0:pt idx="0">
                  <ns0:v>RX-W02</ns0:v>
                </ns0:pt>
              </ns0:strCache>
            </ns0:strRef>
          </ns0:tx>
          <ns0:spPr>
            <ns3:ln w="11430" cap="rnd">
              <ns3:solidFill>
                <ns3:srgbClr val="D7DDE1"/>
              </ns3:solidFill>
              <ns3:prstDash val="solid"/>
              <ns3:round/>
            </ns3:ln>
          </ns0:spPr>
          <ns0:marker>
            <ns0:symbol val="none"/>
          </ns0:marker>
          <ns0:dLbls>
            <ns0:delete val="1"/>
          </ns0:dLbls>
          <ns0:xVal>
            <ns0:numRef>
              <ns0:f>'Chart Data'!$C$2:$C$4</ns0:f>
              <ns0:numCache>
                <ns0:formatCode>General</ns0:formatCode>
                <ns0:ptCount val="3"/>
                <ns0:pt idx="0">
                  <ns0:v>0</ns0:v>
                </ns0:pt>
                <ns0:pt idx="1">
                  <ns0:v>1</ns0:v>
                </ns0:pt>
                <ns0:pt idx="2">
                  <ns0:v>2</ns0:v>
                </ns0:pt>
              </ns0:numCache>
            </ns0:numRef>
          </ns0:xVal>
          <ns0:yVal>
            <ns0:numRef>
              <ns0:f>'Chart Data'!$D$2:$D$4</ns0:f>
              <ns0:numCache>
                <ns0:formatCode>0.00</ns0:formatCode>
                <ns0:ptCount val="3"/>
                <ns0:pt idx="0">
                  <ns0:v>0.0650043574809</ns0:v>
                </ns0:pt>
                <ns0:pt idx="1">
                  <ns0:v>0.0657272778027</ns0:v>
                </ns0:pt>
                <ns0:pt idx="2">
                  <ns0:v>0.079861142583</ns0:v>
                </ns0:pt>
              </ns0:numCache>
            </ns0:numRef>
          </ns0:yVal>
          <ns0:smooth val="0"/>
        </ns0:ser>
        <ns0:ser>
          <ns0:idx val="2"/>
          <ns0:order val="2"/>
          <ns0:tx>
            <ns0:strRef>
              <ns0:f>RX-W03</ns0:f>
              <ns0:strCache>
                <ns0:ptCount val="1"/>
                <ns0:pt idx="0">
                  <ns0:v>RX-W03</ns0:v>
                </ns0:pt>
              </ns0:strCache>
            </ns0:strRef>
          </ns0:tx>
          <ns0:spPr>
            <ns3:ln w="11430" cap="rnd">
              <ns3:solidFill>
                <ns3:srgbClr val="D7DDE1"/>
              </ns3:solidFill>
              <ns3:prstDash val="solid"/>
              <ns3:round/>
            </ns3:ln>
          </ns0:spPr>
          <ns0:marker>
            <ns0:symbol val="none"/>
          </ns0:marker>
          <ns0:dLbls>
            <ns0:delete val="1"/>
          </ns0:dLbls>
          <ns0:xVal>
            <ns0:numRef>
              <ns0:f>'Chart Data'!$E$2:$E$4</ns0:f>
              <ns0:numCache>
                <ns0:formatCode>General</ns0:formatCode>
                <ns0:ptCount val="3"/>
                <ns0:pt idx="0">
                  <ns0:v>0</ns0:v>
                </ns0:pt>
                <ns0:pt idx="1">
                  <ns0:v>1</ns0:v>
                </ns0:pt>
                <ns0:pt idx="2">
                  <ns0:v>2</ns0:v>
                </ns0:pt>
              </ns0:numCache>
            </ns0:numRef>
          </ns0:xVal>
          <ns0:yVal>
            <ns0:numRef>
              <ns0:f>'Chart Data'!$F$2:$F$4</ns0:f>
              <ns0:numCache>
                <ns0:formatCode>0.00</ns0:formatCode>
                <ns0:ptCount val="3"/>
                <ns0:pt idx="0">
                  <ns0:v>0.0768516327151</ns0:v>
                </ns0:pt>
                <ns0:pt idx="1">
                  <ns0:v>0.0980617729831</ns0:v>
                </ns0:pt>
                <ns0:pt idx="2">
                  <ns0:v>0.118067539175</ns0:v>
                </ns0:pt>
              </ns0:numCache>
            </ns0:numRef>
          </ns0:yVal>
          <ns0:smooth val="0"/>
        </ns0:ser>
        <ns0:ser>
          <ns0:idx val="3"/>
          <ns0:order val="3"/>
          <ns0:tx>
            <ns0:strRef>
              <ns0:f>RX-W04</ns0:f>
              <ns0:strCache>
                <ns0:ptCount val="1"/>
                <ns0:pt idx="0">
                  <ns0:v>RX-W04</ns0:v>
                </ns0:pt>
              </ns0:strCache>
            </ns0:strRef>
          </ns0:tx>
          <ns0:spPr>
            <ns3:ln w="11430" cap="rnd">
              <ns3:solidFill>
                <ns3:srgbClr val="D7DDE1"/>
              </ns3:solidFill>
              <ns3:prstDash val="solid"/>
              <ns3:round/>
            </ns3:ln>
          </ns0:spPr>
          <ns0:marker>
            <ns0:symbol val="none"/>
          </ns0:marker>
          <ns0:dLbls>
            <ns0:delete val="1"/>
          </ns0:dLbls>
          <ns0:xVal>
            <ns0:numRef>
              <ns0:f>'Chart Data'!$G$2:$G$4</ns0:f>
              <ns0:numCache>
                <ns0:formatCode>General</ns0:formatCode>
                <ns0:ptCount val="3"/>
                <ns0:pt idx="0">
                  <ns0:v>0</ns0:v>
                </ns0:pt>
                <ns0:pt idx="1">
                  <ns0:v>1</ns0:v>
                </ns0:pt>
                <ns0:pt idx="2">
                  <ns0:v>2</ns0:v>
                </ns0:pt>
              </ns0:numCache>
            </ns0:numRef>
          </ns0:xVal>
          <ns0:yVal>
            <ns0:numRef>
              <ns0:f>'Chart Data'!$H$2:$H$4</ns0:f>
              <ns0:numCache>
                <ns0:formatCode>0.00</ns0:formatCode>
                <ns0:ptCount val="3"/>
                <ns0:pt idx="0">
                  <ns0:v>0.103423013568</ns0:v>
                </ns0:pt>
                <ns0:pt idx="1">
                  <ns0:v>0.0715426359522</ns0:v>
                </ns0:pt>
                <ns0:pt idx="2">
                  <ns0:v>0.0712657589753</ns0:v>
                </ns0:pt>
              </ns0:numCache>
            </ns0:numRef>
          </ns0:yVal>
          <ns0:smooth val="0"/>
        </ns0:ser>
        <ns0:ser>
          <ns0:idx val="4"/>
          <ns0:order val="4"/>
          <ns0:tx>
            <ns0:strRef>
              <ns0:f>RX-W05</ns0:f>
              <ns0:strCache>
                <ns0:ptCount val="1"/>
                <ns0:pt idx="0">
                  <ns0:v>RX-W05</ns0:v>
                </ns0:pt>
              </ns0:strCache>
            </ns0:strRef>
          </ns0:tx>
          <ns0:spPr>
            <ns3:ln w="11430" cap="rnd">
              <ns3:solidFill>
                <ns3:srgbClr val="D7DDE1"/>
              </ns3:solidFill>
              <ns3:prstDash val="solid"/>
              <ns3:round/>
            </ns3:ln>
          </ns0:spPr>
          <ns0:marker>
            <ns0:symbol val="none"/>
          </ns0:marker>
          <ns0:dLbls>
            <ns0:delete val="1"/>
          </ns0:dLbls>
          <ns0:xVal>
            <ns0:numRef>
              <ns0:f>'Chart Data'!$I$2:$I$4</ns0:f>
              <ns0:numCache>
                <ns0:formatCode>General</ns0:formatCode>
                <ns0:ptCount val="3"/>
                <ns0:pt idx="0">
                  <ns0:v>0</ns0:v>
                </ns0:pt>
                <ns0:pt idx="1">
                  <ns0:v>1</ns0:v>
                </ns0:pt>
                <ns0:pt idx="2">
                  <ns0:v>2</ns0:v>
                </ns0:pt>
              </ns0:numCache>
            </ns0:numRef>
          </ns0:xVal>
          <ns0:yVal>
            <ns0:numRef>
              <ns0:f>'Chart Data'!$J$2:$J$4</ns0:f>
              <ns0:numCache>
                <ns0:formatCode>0.00</ns0:formatCode>
                <ns0:ptCount val="3"/>
                <ns0:pt idx="0">
                  <ns0:v>0.0829887484031</ns0:v>
                </ns0:pt>
                <ns0:pt idx="1">
                  <ns0:v>0.15505382209</ns0:v>
                </ns0:pt>
                <ns0:pt idx="2">
                  <ns0:v>0.146471616973</ns0:v>
                </ns0:pt>
              </ns0:numCache>
            </ns0:numRef>
          </ns0:yVal>
          <ns0:smooth val="0"/>
        </ns0:ser>
        <ns0:ser>
          <ns0:idx val="5"/>
          <ns0:order val="5"/>
          <ns0:tx>
            <ns0:strRef>
              <ns0:f>Opaque</ns0:f>
              <ns0:strCache>
                <ns0:ptCount val="1"/>
                <ns0:pt idx="0">
                  <ns0:v>Opaque</ns0:v>
                </ns0:pt>
              </ns0:strCache>
            </ns0:strRef>
          </ns0:tx>
          <ns0:spPr>
            <ns3:ln w="0" cap="rnd">
              <ns3:noFill/>
              <ns3:prstDash val="solid"/>
              <ns3:round/>
            </ns3:ln>
          </ns0:spPr>
          <ns0:marker>
            <ns0:symbol val="circle"/>
            <ns0:size val="8"/>
            <ns0:spPr>
              <ns3:solidFill>
                <ns3:srgbClr val="637482"/>
              </ns3:solidFill>
              <ns3:ln w="0">
                <ns3:noFill/>
                <ns3:prstDash val="solid"/>
                <ns3:round/>
              </ns3:ln>
            </ns0:spPr>
          </ns0:marker>
          <ns0:dLbls>
            <ns0:delete val="1"/>
          </ns0:dLbls>
          <ns0:xVal>
            <ns0:numRef>
              <ns0:f>'Chart Data'!$K$2:$K$6</ns0:f>
              <ns0:numCache>
                <ns0:formatCode>General</ns0:formatCode>
                <ns0:ptCount val="5"/>
                <ns0:pt idx="0">
                  <ns0:v>0</ns0:v>
                </ns0:pt>
                <ns0:pt idx="1">
                  <ns0:v>0</ns0:v>
                </ns0:pt>
                <ns0:pt idx="2">
                  <ns0:v>0</ns0:v>
                </ns0:pt>
                <ns0:pt idx="3">
                  <ns0:v>0</ns0:v>
                </ns0:pt>
                <ns0:pt idx="4">
                  <ns0:v>0</ns0:v>
                </ns0:pt>
              </ns0:numCache>
            </ns0:numRef>
          </ns0:xVal>
          <ns0:yVal>
            <ns0:numRef>
              <ns0:f>'Chart Data'!$L$2:$L$6</ns0:f>
              <ns0:numCache>
                <ns0:formatCode>0.00</ns0:formatCode>
                <ns0:ptCount val="5"/>
                <ns0:pt idx="0">
                  <ns0:v>0.0919518923242</ns0:v>
                </ns0:pt>
                <ns0:pt idx="1">
                  <ns0:v>0.0650043574809</ns0:v>
                </ns0:pt>
                <ns0:pt idx="2">
                  <ns0:v>0.0768516327151</ns0:v>
                </ns0:pt>
                <ns0:pt idx="3">
                  <ns0:v>0.103423013568</ns0:v>
                </ns0:pt>
                <ns0:pt idx="4">
                  <ns0:v>0.0829887484031</ns0:v>
                </ns0:pt>
              </ns0:numCache>
            </ns0:numRef>
          </ns0:yVal>
          <ns0:smooth val="0"/>
        </ns0:ser>
        <ns0:ser>
          <ns0:idx val="6"/>
          <ns0:order val="6"/>
          <ns0:tx>
            <ns0:strRef>
              <ns0:f>Aligned</ns0:f>
              <ns0:strCache>
                <ns0:ptCount val="1"/>
                <ns0:pt idx="0">
                  <ns0:v>Aligned</ns0:v>
                </ns0:pt>
              </ns0:strCache>
            </ns0:strRef>
          </ns0:tx>
          <ns0:spPr>
            <ns3:ln w="0" cap="rnd">
              <ns3:noFill/>
              <ns3:prstDash val="solid"/>
              <ns3:round/>
            </ns3:ln>
          </ns0:spPr>
          <ns0:marker>
            <ns0:symbol val="circle"/>
            <ns0:size val="8"/>
            <ns0:spPr>
              <ns3:solidFill>
                <ns3:srgbClr val="277F8A"/>
              </ns3:solidFill>
              <ns3:ln w="0">
                <ns3:noFill/>
                <ns3:prstDash val="solid"/>
                <ns3:round/>
              </ns3:ln>
            </ns0:spPr>
          </ns0:marker>
          <ns0:dLbls>
            <ns0:delete val="1"/>
          </ns0:dLbls>
          <ns0:xVal>
            <ns0:numRef>
              <ns0:f>'Chart Data'!$M$2:$M$6</ns0:f>
              <ns0:numCache>
                <ns0:formatCode>General</ns0:formatCode>
                <ns0:ptCount val="5"/>
                <ns0:pt idx="0">
                  <ns0:v>1</ns0:v>
                </ns0:pt>
                <ns0:pt idx="1">
                  <ns0:v>1</ns0:v>
                </ns0:pt>
                <ns0:pt idx="2">
                  <ns0:v>1</ns0:v>
                </ns0:pt>
                <ns0:pt idx="3">
                  <ns0:v>1</ns0:v>
                </ns0:pt>
                <ns0:pt idx="4">
                  <ns0:v>1</ns0:v>
                </ns0:pt>
              </ns0:numCache>
            </ns0:numRef>
          </ns0:xVal>
          <ns0:yVal>
            <ns0:numRef>
              <ns0:f>'Chart Data'!$N$2:$N$6</ns0:f>
              <ns0:numCache>
                <ns0:formatCode>0.00</ns0:formatCode>
                <ns0:ptCount val="5"/>
                <ns0:pt idx="0">
                  <ns0:v>0.0700406059271</ns0:v>
                </ns0:pt>
                <ns0:pt idx="1">
                  <ns0:v>0.0657272778027</ns0:v>
                </ns0:pt>
                <ns0:pt idx="2">
                  <ns0:v>0.0980617729831</ns0:v>
                </ns0:pt>
                <ns0:pt idx="3">
                  <ns0:v>0.0715426359522</ns0:v>
                </ns0:pt>
                <ns0:pt idx="4">
                  <ns0:v>0.15505382209</ns0:v>
                </ns0:pt>
              </ns0:numCache>
            </ns0:numRef>
          </ns0:yVal>
          <ns0:smooth val="0"/>
        </ns0:ser>
        <ns0:ser>
          <ns0:idx val="7"/>
          <ns0:order val="7"/>
          <ns0:tx>
            <ns0:strRef>
              <ns0:f>MisIndexed</ns0:f>
              <ns0:strCache>
                <ns0:ptCount val="1"/>
                <ns0:pt idx="0">
                  <ns0:v>MisIndexed</ns0:v>
                </ns0:pt>
              </ns0:strCache>
            </ns0:strRef>
          </ns0:tx>
          <ns0:spPr>
            <ns3:ln w="0" cap="rnd">
              <ns3:noFill/>
              <ns3:prstDash val="solid"/>
              <ns3:round/>
            </ns3:ln>
          </ns0:spPr>
          <ns0:marker>
            <ns0:symbol val="circle"/>
            <ns0:size val="8"/>
            <ns0:spPr>
              <ns3:solidFill>
                <ns3:srgbClr val="BC7850"/>
              </ns3:solidFill>
              <ns3:ln w="0">
                <ns3:noFill/>
                <ns3:prstDash val="solid"/>
                <ns3:round/>
              </ns3:ln>
            </ns0:spPr>
          </ns0:marker>
          <ns0:dLbls>
            <ns0:delete val="1"/>
          </ns0:dLbls>
          <ns0:xVal>
            <ns0:numRef>
              <ns0:f>'Chart Data'!$O$2:$O$6</ns0:f>
              <ns0:numCache>
                <ns0:formatCode>General</ns0:formatCode>
                <ns0:ptCount val="5"/>
                <ns0:pt idx="0">
                  <ns0:v>2</ns0:v>
                </ns0:pt>
                <ns0:pt idx="1">
                  <ns0:v>2</ns0:v>
                </ns0:pt>
                <ns0:pt idx="2">
                  <ns0:v>2</ns0:v>
                </ns0:pt>
                <ns0:pt idx="3">
                  <ns0:v>2</ns0:v>
                </ns0:pt>
                <ns0:pt idx="4">
                  <ns0:v>2</ns0:v>
                </ns0:pt>
              </ns0:numCache>
            </ns0:numRef>
          </ns0:xVal>
          <ns0:yVal>
            <ns0:numRef>
              <ns0:f>'Chart Data'!$P$2:$P$6</ns0:f>
              <ns0:numCache>
                <ns0:formatCode>0.00</ns0:formatCode>
                <ns0:ptCount val="5"/>
                <ns0:pt idx="0">
                  <ns0:v>0.0923074634352</ns0:v>
                </ns0:pt>
                <ns0:pt idx="1">
                  <ns0:v>0.079861142583</ns0:v>
                </ns0:pt>
                <ns0:pt idx="2">
                  <ns0:v>0.118067539175</ns0:v>
                </ns0:pt>
                <ns0:pt idx="3">
                  <ns0:v>0.0712657589753</ns0:v>
                </ns0:pt>
                <ns0:pt idx="4">
                  <ns0:v>0.146471616973</ns0:v>
                </ns0:pt>
              </ns0:numCache>
            </ns0:numRef>
          </ns0:yVal>
          <ns0:smooth val="0"/>
        </ns0:ser>
        <ns0:dLbls>
          <ns0:showLegendKey val="0"/>
          <ns0:showVal val="0"/>
          <ns0:showCatName val="0"/>
          <ns0:showSerName val="0"/>
          <ns0:showPercent val="0"/>
          <ns0:showBubbleSize val="0"/>
        </ns0:dLbls>
        <ns0:axId val="48650112"/>
        <ns0:axId val="48672768"/>
      </ns0:scatterChart>
      <ns0:valAx>
        <ns0:axId val="48650112"/>
        <ns0:scaling>
          <ns0:orientation val="minMax"/>
          <ns0:max val="2.5"/>
          <ns0:min val="-0.5"/>
        </ns0:scaling>
        <ns0:delete val="0"/>
        <ns0:axPos val="b"/>
        <ns0:numFmt formatCode="0" sourceLinked="1"/>
        <ns0:majorTickMark val="none"/>
        <ns0:minorTickMark val="none"/>
        <ns0:tickLblPos val="none"/>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FFFFFF"/>
                </ns3:solidFill>
                <ns3:latin typeface="Arial" panose="020B0604020202020204"/>
                <ns3:ea typeface="Arial" panose="020B0604020202020204"/>
                <ns3:cs typeface="Arial" panose="020B0604020202020204"/>
              </ns3:defRPr>
            </ns3:pPr>
          </ns3:p>
        </ns0:txPr>
        <ns0:crossAx val="48672768"/>
        <ns0:crosses val="min"/>
        <ns0:crossBetween val="midCat"/>
        <ns0:majorUnit val="1"/>
      </ns0:valAx>
      <ns0:valAx>
        <ns0:axId val="48672768"/>
        <ns0:scaling>
          <ns0:orientation val="minMax"/>
          <ns0:max val="0.170559204299251"/>
          <ns0:min val="0"/>
        </ns0:scaling>
        <ns0:delete val="0"/>
        <ns0:axPos val="l"/>
        <ns0:numFmt formatCode="0.0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50112"/>
        <ns0:crosses val="min"/>
        <ns0:crossBetween val="midCat"/>
      </ns0:valAx>
      <ns0:spPr>
        <ns3:solidFill>
          <ns3:srgbClr val="FFFFFF"/>
        </ns3:solidFill>
        <ns3:ln w="0">
          <ns3:noFill/>
        </ns3:ln>
      </ns0:spPr>
    </ns0:plotArea>
    <ns0:plotVisOnly val="1"/>
    <ns0:dispBlanksAs val="gap"/>
    <ns0:showDLblsOverMax val="0"/>
    <ns0:extLst>
      <ns0:ext uri="{0b15fc19-7d7d-44ad-8c2d-2c3a37ce22c3}">
        <ns4:chartProps chartId="{004795e6-765e-4b85-bf18-7ef633bb32a3}"/>
      </ns0:ext>
    </ns0:extLst>
  </ns0:chart>
  <ns0:spPr>
    <ns3:solidFill>
      <ns3:srgbClr val="FFFFFF"/>
    </ns3:solidFill>
    <ns3:ln w="0">
      <ns3:noFill/>
    </ns3:ln>
  </ns0:spPr>
  <ns0:txPr>
    <ns3:bodyPr/>
    <ns3:lstStyle/>
    <ns3:p>
      <ns3:pPr>
        <ns3:defRPr lang="zh-CN"/>
      </ns3:pPr>
    </ns3:p>
  </ns0:txPr>
  <ns0:externalData ns5:id="rId1">
    <ns0:autoUpdate val="0"/>
  </ns0:externalData>
</ns0:chartSpace>
</file>

<file path=ppt/charts/chart17.xml><?xml version="1.0" encoding="utf-8"?>
<ns0:chartSpace xmlns:ns0="http://schemas.openxmlformats.org/drawingml/2006/chart" xmlns:ns1="http://schemas.openxmlformats.org/markup-compatibility/2006" xmlns:ns2="http://schemas.microsoft.com/office/drawing/2007/8/2/chart" xmlns:ns3="http://schemas.openxmlformats.org/drawingml/2006/main" xmlns:ns4="https://web.wps.cn/et/2018/main" xmlns:ns5="http://schemas.openxmlformats.org/officeDocument/2006/relationships">
  <ns0:date1904 val="0"/>
  <ns0:lang val="zh-CN"/>
  <ns0:roundedCorners val="0"/>
  <ns1:AlternateContent>
    <ns1:Choice Requires="c14">
      <ns2:style val="102"/>
    </ns1:Choice>
    <ns1:Fallback>
      <ns0:style val="2"/>
    </ns1:Fallback>
  </ns1:AlternateContent>
  <ns0:chart>
    <ns0:autoTitleDeleted val="1"/>
    <ns0:plotArea>
      <ns0:layout/>
      <ns0:scatterChart>
        <ns0:scatterStyle val="lineMarker"/>
        <ns0:varyColors val="0"/>
        <ns0:ser>
          <ns0:idx val="0"/>
          <ns0:order val="0"/>
          <ns0:tx>
            <ns0:strRef>
              <ns0:f>RX-W01</ns0:f>
              <ns0:strCache>
                <ns0:ptCount val="1"/>
                <ns0:pt idx="0">
                  <ns0:v>RX-W01</ns0:v>
                </ns0:pt>
              </ns0:strCache>
            </ns0:strRef>
          </ns0:tx>
          <ns0:spPr>
            <ns3:ln w="11430" cap="rnd">
              <ns3:solidFill>
                <ns3:srgbClr val="D7DDE1"/>
              </ns3:solidFill>
              <ns3:prstDash val="solid"/>
              <ns3:round/>
            </ns3:ln>
          </ns0:spPr>
          <ns0:marker>
            <ns0:symbol val="none"/>
          </ns0:marker>
          <ns0:dLbls>
            <ns0:delete val="1"/>
          </ns0:dLbls>
          <ns0:xVal>
            <ns0:numRef>
              <ns0:f>'Chart Data'!$A$2:$A$4</ns0:f>
              <ns0:numCache>
                <ns0:formatCode>General</ns0:formatCode>
                <ns0:ptCount val="3"/>
                <ns0:pt idx="0">
                  <ns0:v>0</ns0:v>
                </ns0:pt>
                <ns0:pt idx="1">
                  <ns0:v>1</ns0:v>
                </ns0:pt>
                <ns0:pt idx="2">
                  <ns0:v>2</ns0:v>
                </ns0:pt>
              </ns0:numCache>
            </ns0:numRef>
          </ns0:xVal>
          <ns0:yVal>
            <ns0:numRef>
              <ns0:f>'Chart Data'!$B$2:$B$4</ns0:f>
              <ns0:numCache>
                <ns0:formatCode>0.00</ns0:formatCode>
                <ns0:ptCount val="3"/>
                <ns0:pt idx="0">
                  <ns0:v>0.192655851656</ns0:v>
                </ns0:pt>
                <ns0:pt idx="1">
                  <ns0:v>0.0479071559509</ns0:v>
                </ns0:pt>
                <ns0:pt idx="2">
                  <ns0:v>0.0893396101362</ns0:v>
                </ns0:pt>
              </ns0:numCache>
            </ns0:numRef>
          </ns0:yVal>
          <ns0:smooth val="0"/>
        </ns0:ser>
        <ns0:ser>
          <ns0:idx val="1"/>
          <ns0:order val="1"/>
          <ns0:tx>
            <ns0:strRef>
              <ns0:f>RX-W02</ns0:f>
              <ns0:strCache>
                <ns0:ptCount val="1"/>
                <ns0:pt idx="0">
                  <ns0:v>RX-W02</ns0:v>
                </ns0:pt>
              </ns0:strCache>
            </ns0:strRef>
          </ns0:tx>
          <ns0:spPr>
            <ns3:ln w="11430" cap="rnd">
              <ns3:solidFill>
                <ns3:srgbClr val="D7DDE1"/>
              </ns3:solidFill>
              <ns3:prstDash val="solid"/>
              <ns3:round/>
            </ns3:ln>
          </ns0:spPr>
          <ns0:marker>
            <ns0:symbol val="none"/>
          </ns0:marker>
          <ns0:dLbls>
            <ns0:delete val="1"/>
          </ns0:dLbls>
          <ns0:xVal>
            <ns0:numRef>
              <ns0:f>'Chart Data'!$C$2:$C$4</ns0:f>
              <ns0:numCache>
                <ns0:formatCode>General</ns0:formatCode>
                <ns0:ptCount val="3"/>
                <ns0:pt idx="0">
                  <ns0:v>0</ns0:v>
                </ns0:pt>
                <ns0:pt idx="1">
                  <ns0:v>1</ns0:v>
                </ns0:pt>
                <ns0:pt idx="2">
                  <ns0:v>2</ns0:v>
                </ns0:pt>
              </ns0:numCache>
            </ns0:numRef>
          </ns0:xVal>
          <ns0:yVal>
            <ns0:numRef>
              <ns0:f>'Chart Data'!$D$2:$D$4</ns0:f>
              <ns0:numCache>
                <ns0:formatCode>0.00</ns0:formatCode>
                <ns0:ptCount val="3"/>
                <ns0:pt idx="0">
                  <ns0:v>0.105263674206</ns0:v>
                </ns0:pt>
                <ns0:pt idx="1">
                  <ns0:v>0.0520761277309</ns0:v>
                </ns0:pt>
                <ns0:pt idx="2">
                  <ns0:v>0.0555966520113</ns0:v>
                </ns0:pt>
              </ns0:numCache>
            </ns0:numRef>
          </ns0:yVal>
          <ns0:smooth val="0"/>
        </ns0:ser>
        <ns0:ser>
          <ns0:idx val="2"/>
          <ns0:order val="2"/>
          <ns0:tx>
            <ns0:strRef>
              <ns0:f>RX-W03</ns0:f>
              <ns0:strCache>
                <ns0:ptCount val="1"/>
                <ns0:pt idx="0">
                  <ns0:v>RX-W03</ns0:v>
                </ns0:pt>
              </ns0:strCache>
            </ns0:strRef>
          </ns0:tx>
          <ns0:spPr>
            <ns3:ln w="11430" cap="rnd">
              <ns3:solidFill>
                <ns3:srgbClr val="D7DDE1"/>
              </ns3:solidFill>
              <ns3:prstDash val="solid"/>
              <ns3:round/>
            </ns3:ln>
          </ns0:spPr>
          <ns0:marker>
            <ns0:symbol val="none"/>
          </ns0:marker>
          <ns0:dLbls>
            <ns0:delete val="1"/>
          </ns0:dLbls>
          <ns0:xVal>
            <ns0:numRef>
              <ns0:f>'Chart Data'!$E$2:$E$4</ns0:f>
              <ns0:numCache>
                <ns0:formatCode>General</ns0:formatCode>
                <ns0:ptCount val="3"/>
                <ns0:pt idx="0">
                  <ns0:v>0</ns0:v>
                </ns0:pt>
                <ns0:pt idx="1">
                  <ns0:v>1</ns0:v>
                </ns0:pt>
                <ns0:pt idx="2">
                  <ns0:v>2</ns0:v>
                </ns0:pt>
              </ns0:numCache>
            </ns0:numRef>
          </ns0:xVal>
          <ns0:yVal>
            <ns0:numRef>
              <ns0:f>'Chart Data'!$F$2:$F$4</ns0:f>
              <ns0:numCache>
                <ns0:formatCode>0.00</ns0:formatCode>
                <ns0:ptCount val="3"/>
                <ns0:pt idx="0">
                  <ns0:v>0.12611130144</ns0:v>
                </ns0:pt>
                <ns0:pt idx="1">
                  <ns0:v>0.0775945244812</ns0:v>
                </ns0:pt>
                <ns0:pt idx="2">
                  <ns0:v>0.218754688079</ns0:v>
                </ns0:pt>
              </ns0:numCache>
            </ns0:numRef>
          </ns0:yVal>
          <ns0:smooth val="0"/>
        </ns0:ser>
        <ns0:ser>
          <ns0:idx val="3"/>
          <ns0:order val="3"/>
          <ns0:tx>
            <ns0:strRef>
              <ns0:f>RX-W04</ns0:f>
              <ns0:strCache>
                <ns0:ptCount val="1"/>
                <ns0:pt idx="0">
                  <ns0:v>RX-W04</ns0:v>
                </ns0:pt>
              </ns0:strCache>
            </ns0:strRef>
          </ns0:tx>
          <ns0:spPr>
            <ns3:ln w="11430" cap="rnd">
              <ns3:solidFill>
                <ns3:srgbClr val="D7DDE1"/>
              </ns3:solidFill>
              <ns3:prstDash val="solid"/>
              <ns3:round/>
            </ns3:ln>
          </ns0:spPr>
          <ns0:marker>
            <ns0:symbol val="none"/>
          </ns0:marker>
          <ns0:dLbls>
            <ns0:delete val="1"/>
          </ns0:dLbls>
          <ns0:xVal>
            <ns0:numRef>
              <ns0:f>'Chart Data'!$G$2:$G$4</ns0:f>
              <ns0:numCache>
                <ns0:formatCode>General</ns0:formatCode>
                <ns0:ptCount val="3"/>
                <ns0:pt idx="0">
                  <ns0:v>0</ns0:v>
                </ns0:pt>
                <ns0:pt idx="1">
                  <ns0:v>1</ns0:v>
                </ns0:pt>
                <ns0:pt idx="2">
                  <ns0:v>2</ns0:v>
                </ns0:pt>
              </ns0:numCache>
            </ns0:numRef>
          </ns0:xVal>
          <ns0:yVal>
            <ns0:numRef>
              <ns0:f>'Chart Data'!$H$2:$H$4</ns0:f>
              <ns0:numCache>
                <ns0:formatCode>0.00</ns0:formatCode>
                <ns0:ptCount val="3"/>
                <ns0:pt idx="0">
                  <ns0:v>0.0942134820223</ns0:v>
                </ns0:pt>
                <ns0:pt idx="1">
                  <ns0:v>0.0521713428166</ns0:v>
                </ns0:pt>
                <ns0:pt idx="2">
                  <ns0:v>0.208894799004</ns0:v>
                </ns0:pt>
              </ns0:numCache>
            </ns0:numRef>
          </ns0:yVal>
          <ns0:smooth val="0"/>
        </ns0:ser>
        <ns0:ser>
          <ns0:idx val="4"/>
          <ns0:order val="4"/>
          <ns0:tx>
            <ns0:strRef>
              <ns0:f>RX-W05</ns0:f>
              <ns0:strCache>
                <ns0:ptCount val="1"/>
                <ns0:pt idx="0">
                  <ns0:v>RX-W05</ns0:v>
                </ns0:pt>
              </ns0:strCache>
            </ns0:strRef>
          </ns0:tx>
          <ns0:spPr>
            <ns3:ln w="11430" cap="rnd">
              <ns3:solidFill>
                <ns3:srgbClr val="D7DDE1"/>
              </ns3:solidFill>
              <ns3:prstDash val="solid"/>
              <ns3:round/>
            </ns3:ln>
          </ns0:spPr>
          <ns0:marker>
            <ns0:symbol val="none"/>
          </ns0:marker>
          <ns0:dLbls>
            <ns0:delete val="1"/>
          </ns0:dLbls>
          <ns0:xVal>
            <ns0:numRef>
              <ns0:f>'Chart Data'!$I$2:$I$4</ns0:f>
              <ns0:numCache>
                <ns0:formatCode>General</ns0:formatCode>
                <ns0:ptCount val="3"/>
                <ns0:pt idx="0">
                  <ns0:v>0</ns0:v>
                </ns0:pt>
                <ns0:pt idx="1">
                  <ns0:v>1</ns0:v>
                </ns0:pt>
                <ns0:pt idx="2">
                  <ns0:v>2</ns0:v>
                </ns0:pt>
              </ns0:numCache>
            </ns0:numRef>
          </ns0:xVal>
          <ns0:yVal>
            <ns0:numRef>
              <ns0:f>'Chart Data'!$J$2:$J$4</ns0:f>
              <ns0:numCache>
                <ns0:formatCode>0.00</ns0:formatCode>
                <ns0:ptCount val="3"/>
                <ns0:pt idx="0">
                  <ns0:v>0.176398953203</ns0:v>
                </ns0:pt>
                <ns0:pt idx="1">
                  <ns0:v>0.189456765436</ns0:v>
                </ns0:pt>
                <ns0:pt idx="2">
                  <ns0:v>0.0757616942094</ns0:v>
                </ns0:pt>
              </ns0:numCache>
            </ns0:numRef>
          </ns0:yVal>
          <ns0:smooth val="0"/>
        </ns0:ser>
        <ns0:ser>
          <ns0:idx val="5"/>
          <ns0:order val="5"/>
          <ns0:tx>
            <ns0:strRef>
              <ns0:f>Opaque</ns0:f>
              <ns0:strCache>
                <ns0:ptCount val="1"/>
                <ns0:pt idx="0">
                  <ns0:v>Opaque</ns0:v>
                </ns0:pt>
              </ns0:strCache>
            </ns0:strRef>
          </ns0:tx>
          <ns0:spPr>
            <ns3:ln w="0" cap="rnd">
              <ns3:noFill/>
              <ns3:prstDash val="solid"/>
              <ns3:round/>
            </ns3:ln>
          </ns0:spPr>
          <ns0:marker>
            <ns0:symbol val="circle"/>
            <ns0:size val="8"/>
            <ns0:spPr>
              <ns3:solidFill>
                <ns3:srgbClr val="637482"/>
              </ns3:solidFill>
              <ns3:ln w="0">
                <ns3:noFill/>
                <ns3:prstDash val="solid"/>
                <ns3:round/>
              </ns3:ln>
            </ns0:spPr>
          </ns0:marker>
          <ns0:dLbls>
            <ns0:delete val="1"/>
          </ns0:dLbls>
          <ns0:xVal>
            <ns0:numRef>
              <ns0:f>'Chart Data'!$K$2:$K$6</ns0:f>
              <ns0:numCache>
                <ns0:formatCode>General</ns0:formatCode>
                <ns0:ptCount val="5"/>
                <ns0:pt idx="0">
                  <ns0:v>0</ns0:v>
                </ns0:pt>
                <ns0:pt idx="1">
                  <ns0:v>0</ns0:v>
                </ns0:pt>
                <ns0:pt idx="2">
                  <ns0:v>0</ns0:v>
                </ns0:pt>
                <ns0:pt idx="3">
                  <ns0:v>0</ns0:v>
                </ns0:pt>
                <ns0:pt idx="4">
                  <ns0:v>0</ns0:v>
                </ns0:pt>
              </ns0:numCache>
            </ns0:numRef>
          </ns0:xVal>
          <ns0:yVal>
            <ns0:numRef>
              <ns0:f>'Chart Data'!$L$2:$L$6</ns0:f>
              <ns0:numCache>
                <ns0:formatCode>0.00</ns0:formatCode>
                <ns0:ptCount val="5"/>
                <ns0:pt idx="0">
                  <ns0:v>0.192655851656</ns0:v>
                </ns0:pt>
                <ns0:pt idx="1">
                  <ns0:v>0.105263674206</ns0:v>
                </ns0:pt>
                <ns0:pt idx="2">
                  <ns0:v>0.12611130144</ns0:v>
                </ns0:pt>
                <ns0:pt idx="3">
                  <ns0:v>0.0942134820223</ns0:v>
                </ns0:pt>
                <ns0:pt idx="4">
                  <ns0:v>0.176398953203</ns0:v>
                </ns0:pt>
              </ns0:numCache>
            </ns0:numRef>
          </ns0:yVal>
          <ns0:smooth val="0"/>
        </ns0:ser>
        <ns0:ser>
          <ns0:idx val="6"/>
          <ns0:order val="6"/>
          <ns0:tx>
            <ns0:strRef>
              <ns0:f>Aligned</ns0:f>
              <ns0:strCache>
                <ns0:ptCount val="1"/>
                <ns0:pt idx="0">
                  <ns0:v>Aligned</ns0:v>
                </ns0:pt>
              </ns0:strCache>
            </ns0:strRef>
          </ns0:tx>
          <ns0:spPr>
            <ns3:ln w="0" cap="rnd">
              <ns3:noFill/>
              <ns3:prstDash val="solid"/>
              <ns3:round/>
            </ns3:ln>
          </ns0:spPr>
          <ns0:marker>
            <ns0:symbol val="circle"/>
            <ns0:size val="8"/>
            <ns0:spPr>
              <ns3:solidFill>
                <ns3:srgbClr val="277F8A"/>
              </ns3:solidFill>
              <ns3:ln w="0">
                <ns3:noFill/>
                <ns3:prstDash val="solid"/>
                <ns3:round/>
              </ns3:ln>
            </ns0:spPr>
          </ns0:marker>
          <ns0:dLbls>
            <ns0:delete val="1"/>
          </ns0:dLbls>
          <ns0:xVal>
            <ns0:numRef>
              <ns0:f>'Chart Data'!$M$2:$M$6</ns0:f>
              <ns0:numCache>
                <ns0:formatCode>General</ns0:formatCode>
                <ns0:ptCount val="5"/>
                <ns0:pt idx="0">
                  <ns0:v>1</ns0:v>
                </ns0:pt>
                <ns0:pt idx="1">
                  <ns0:v>1</ns0:v>
                </ns0:pt>
                <ns0:pt idx="2">
                  <ns0:v>1</ns0:v>
                </ns0:pt>
                <ns0:pt idx="3">
                  <ns0:v>1</ns0:v>
                </ns0:pt>
                <ns0:pt idx="4">
                  <ns0:v>1</ns0:v>
                </ns0:pt>
              </ns0:numCache>
            </ns0:numRef>
          </ns0:xVal>
          <ns0:yVal>
            <ns0:numRef>
              <ns0:f>'Chart Data'!$N$2:$N$6</ns0:f>
              <ns0:numCache>
                <ns0:formatCode>0.00</ns0:formatCode>
                <ns0:ptCount val="5"/>
                <ns0:pt idx="0">
                  <ns0:v>0.0479071559509</ns0:v>
                </ns0:pt>
                <ns0:pt idx="1">
                  <ns0:v>0.0520761277309</ns0:v>
                </ns0:pt>
                <ns0:pt idx="2">
                  <ns0:v>0.0775945244812</ns0:v>
                </ns0:pt>
                <ns0:pt idx="3">
                  <ns0:v>0.0521713428166</ns0:v>
                </ns0:pt>
                <ns0:pt idx="4">
                  <ns0:v>0.189456765436</ns0:v>
                </ns0:pt>
              </ns0:numCache>
            </ns0:numRef>
          </ns0:yVal>
          <ns0:smooth val="0"/>
        </ns0:ser>
        <ns0:ser>
          <ns0:idx val="7"/>
          <ns0:order val="7"/>
          <ns0:tx>
            <ns0:strRef>
              <ns0:f>MisIndexed</ns0:f>
              <ns0:strCache>
                <ns0:ptCount val="1"/>
                <ns0:pt idx="0">
                  <ns0:v>MisIndexed</ns0:v>
                </ns0:pt>
              </ns0:strCache>
            </ns0:strRef>
          </ns0:tx>
          <ns0:spPr>
            <ns3:ln w="0" cap="rnd">
              <ns3:noFill/>
              <ns3:prstDash val="solid"/>
              <ns3:round/>
            </ns3:ln>
          </ns0:spPr>
          <ns0:marker>
            <ns0:symbol val="circle"/>
            <ns0:size val="8"/>
            <ns0:spPr>
              <ns3:solidFill>
                <ns3:srgbClr val="BC7850"/>
              </ns3:solidFill>
              <ns3:ln w="0">
                <ns3:noFill/>
                <ns3:prstDash val="solid"/>
                <ns3:round/>
              </ns3:ln>
            </ns0:spPr>
          </ns0:marker>
          <ns0:dLbls>
            <ns0:delete val="1"/>
          </ns0:dLbls>
          <ns0:xVal>
            <ns0:numRef>
              <ns0:f>'Chart Data'!$O$2:$O$6</ns0:f>
              <ns0:numCache>
                <ns0:formatCode>General</ns0:formatCode>
                <ns0:ptCount val="5"/>
                <ns0:pt idx="0">
                  <ns0:v>2</ns0:v>
                </ns0:pt>
                <ns0:pt idx="1">
                  <ns0:v>2</ns0:v>
                </ns0:pt>
                <ns0:pt idx="2">
                  <ns0:v>2</ns0:v>
                </ns0:pt>
                <ns0:pt idx="3">
                  <ns0:v>2</ns0:v>
                </ns0:pt>
                <ns0:pt idx="4">
                  <ns0:v>2</ns0:v>
                </ns0:pt>
              </ns0:numCache>
            </ns0:numRef>
          </ns0:xVal>
          <ns0:yVal>
            <ns0:numRef>
              <ns0:f>'Chart Data'!$P$2:$P$6</ns0:f>
              <ns0:numCache>
                <ns0:formatCode>0.00</ns0:formatCode>
                <ns0:ptCount val="5"/>
                <ns0:pt idx="0">
                  <ns0:v>0.0893396101362</ns0:v>
                </ns0:pt>
                <ns0:pt idx="1">
                  <ns0:v>0.0555966520113</ns0:v>
                </ns0:pt>
                <ns0:pt idx="2">
                  <ns0:v>0.218754688079</ns0:v>
                </ns0:pt>
                <ns0:pt idx="3">
                  <ns0:v>0.208894799004</ns0:v>
                </ns0:pt>
                <ns0:pt idx="4">
                  <ns0:v>0.0757616942094</ns0:v>
                </ns0:pt>
              </ns0:numCache>
            </ns0:numRef>
          </ns0:yVal>
          <ns0:smooth val="0"/>
        </ns0:ser>
        <ns0:dLbls>
          <ns0:showLegendKey val="0"/>
          <ns0:showVal val="0"/>
          <ns0:showCatName val="0"/>
          <ns0:showSerName val="0"/>
          <ns0:showPercent val="0"/>
          <ns0:showBubbleSize val="0"/>
        </ns0:dLbls>
        <ns0:axId val="48650112"/>
        <ns0:axId val="48672768"/>
      </ns0:scatterChart>
      <ns0:valAx>
        <ns0:axId val="48650112"/>
        <ns0:scaling>
          <ns0:orientation val="minMax"/>
          <ns0:max val="2.5"/>
          <ns0:min val="-0.5"/>
        </ns0:scaling>
        <ns0:delete val="0"/>
        <ns0:axPos val="b"/>
        <ns0:numFmt formatCode="0" sourceLinked="1"/>
        <ns0:majorTickMark val="none"/>
        <ns0:minorTickMark val="none"/>
        <ns0:tickLblPos val="none"/>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FFFFFF"/>
                </ns3:solidFill>
                <ns3:latin typeface="Arial" panose="020B0604020202020204"/>
                <ns3:ea typeface="Arial" panose="020B0604020202020204"/>
                <ns3:cs typeface="Arial" panose="020B0604020202020204"/>
              </ns3:defRPr>
            </ns3:pPr>
          </ns3:p>
        </ns0:txPr>
        <ns0:crossAx val="48672768"/>
        <ns0:crosses val="min"/>
        <ns0:crossBetween val="midCat"/>
        <ns0:majorUnit val="1"/>
      </ns0:valAx>
      <ns0:valAx>
        <ns0:axId val="48672768"/>
        <ns0:scaling>
          <ns0:orientation val="minMax"/>
          <ns0:max val="0.240630156887074"/>
          <ns0:min val="0"/>
        </ns0:scaling>
        <ns0:delete val="0"/>
        <ns0:axPos val="l"/>
        <ns0:numFmt formatCode="0.0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50112"/>
        <ns0:crosses val="min"/>
        <ns0:crossBetween val="midCat"/>
      </ns0:valAx>
      <ns0:spPr>
        <ns3:solidFill>
          <ns3:srgbClr val="FFFFFF"/>
        </ns3:solidFill>
        <ns3:ln w="0">
          <ns3:noFill/>
        </ns3:ln>
      </ns0:spPr>
    </ns0:plotArea>
    <ns0:plotVisOnly val="1"/>
    <ns0:dispBlanksAs val="gap"/>
    <ns0:showDLblsOverMax val="0"/>
    <ns0:extLst>
      <ns0:ext uri="{0b15fc19-7d7d-44ad-8c2d-2c3a37ce22c3}">
        <ns4:chartProps chartId="{d198a77d-82e5-43a2-8628-d46298544628}"/>
      </ns0:ext>
    </ns0:extLst>
  </ns0:chart>
  <ns0:spPr>
    <ns3:solidFill>
      <ns3:srgbClr val="FFFFFF"/>
    </ns3:solidFill>
    <ns3:ln w="0">
      <ns3:noFill/>
    </ns3:ln>
  </ns0:spPr>
  <ns0:txPr>
    <ns3:bodyPr/>
    <ns3:lstStyle/>
    <ns3:p>
      <ns3:pPr>
        <ns3:defRPr lang="zh-CN"/>
      </ns3:pPr>
    </ns3:p>
  </ns0:txPr>
  <ns0:externalData ns5:id="rId1">
    <ns0:autoUpdate val="0"/>
  </ns0:externalData>
</ns0:chartSpace>
</file>

<file path=ppt/charts/chart18.xml><?xml version="1.0" encoding="utf-8"?>
<ns0:chartSpace xmlns:ns0="http://schemas.openxmlformats.org/drawingml/2006/chart" xmlns:ns1="http://schemas.openxmlformats.org/markup-compatibility/2006" xmlns:ns2="http://schemas.microsoft.com/office/drawing/2007/8/2/chart" xmlns:ns3="http://schemas.openxmlformats.org/drawingml/2006/main" xmlns:ns4="https://web.wps.cn/et/2018/main" xmlns:ns5="http://schemas.openxmlformats.org/officeDocument/2006/relationships">
  <ns0:date1904 val="0"/>
  <ns0:lang val="zh-CN"/>
  <ns0:roundedCorners val="0"/>
  <ns1:AlternateContent>
    <ns1:Choice Requires="c14">
      <ns2:style val="102"/>
    </ns1:Choice>
    <ns1:Fallback>
      <ns0:style val="2"/>
    </ns1:Fallback>
  </ns1:AlternateContent>
  <ns0:chart>
    <ns0:autoTitleDeleted val="1"/>
    <ns0:plotArea>
      <ns0:layout/>
      <ns0:scatterChart>
        <ns0:scatterStyle val="lineMarker"/>
        <ns0:varyColors val="0"/>
        <ns0:ser>
          <ns0:idx val="0"/>
          <ns0:order val="0"/>
          <ns0:tx>
            <ns0:strRef>
              <ns0:f>RX-W01</ns0:f>
              <ns0:strCache>
                <ns0:ptCount val="1"/>
                <ns0:pt idx="0">
                  <ns0:v>RX-W01</ns0:v>
                </ns0:pt>
              </ns0:strCache>
            </ns0:strRef>
          </ns0:tx>
          <ns0:spPr>
            <ns3:ln w="11430" cap="rnd">
              <ns3:solidFill>
                <ns3:srgbClr val="D7DDE1"/>
              </ns3:solidFill>
              <ns3:prstDash val="solid"/>
              <ns3:round/>
            </ns3:ln>
          </ns0:spPr>
          <ns0:marker>
            <ns0:symbol val="none"/>
          </ns0:marker>
          <ns0:dLbls>
            <ns0:delete val="1"/>
          </ns0:dLbls>
          <ns0:xVal>
            <ns0:numRef>
              <ns0:f>'Chart Data'!$A$2:$A$4</ns0:f>
              <ns0:numCache>
                <ns0:formatCode>General</ns0:formatCode>
                <ns0:ptCount val="3"/>
                <ns0:pt idx="0">
                  <ns0:v>0</ns0:v>
                </ns0:pt>
                <ns0:pt idx="1">
                  <ns0:v>1</ns0:v>
                </ns0:pt>
                <ns0:pt idx="2">
                  <ns0:v>2</ns0:v>
                </ns0:pt>
              </ns0:numCache>
            </ns0:numRef>
          </ns0:xVal>
          <ns0:yVal>
            <ns0:numRef>
              <ns0:f>'Chart Data'!$B$2:$B$4</ns0:f>
              <ns0:numCache>
                <ns0:formatCode>0.00</ns0:formatCode>
                <ns0:ptCount val="3"/>
                <ns0:pt idx="0">
                  <ns0:v>0.105172687807</ns0:v>
                </ns0:pt>
                <ns0:pt idx="1">
                  <ns0:v>0.0757795171253</ns0:v>
                </ns0:pt>
                <ns0:pt idx="2">
                  <ns0:v>0.084199299191</ns0:v>
                </ns0:pt>
              </ns0:numCache>
            </ns0:numRef>
          </ns0:yVal>
          <ns0:smooth val="0"/>
        </ns0:ser>
        <ns0:ser>
          <ns0:idx val="1"/>
          <ns0:order val="1"/>
          <ns0:tx>
            <ns0:strRef>
              <ns0:f>RX-W02</ns0:f>
              <ns0:strCache>
                <ns0:ptCount val="1"/>
                <ns0:pt idx="0">
                  <ns0:v>RX-W02</ns0:v>
                </ns0:pt>
              </ns0:strCache>
            </ns0:strRef>
          </ns0:tx>
          <ns0:spPr>
            <ns3:ln w="11430" cap="rnd">
              <ns3:solidFill>
                <ns3:srgbClr val="D7DDE1"/>
              </ns3:solidFill>
              <ns3:prstDash val="solid"/>
              <ns3:round/>
            </ns3:ln>
          </ns0:spPr>
          <ns0:marker>
            <ns0:symbol val="none"/>
          </ns0:marker>
          <ns0:dLbls>
            <ns0:delete val="1"/>
          </ns0:dLbls>
          <ns0:xVal>
            <ns0:numRef>
              <ns0:f>'Chart Data'!$C$2:$C$4</ns0:f>
              <ns0:numCache>
                <ns0:formatCode>General</ns0:formatCode>
                <ns0:ptCount val="3"/>
                <ns0:pt idx="0">
                  <ns0:v>0</ns0:v>
                </ns0:pt>
                <ns0:pt idx="1">
                  <ns0:v>1</ns0:v>
                </ns0:pt>
                <ns0:pt idx="2">
                  <ns0:v>2</ns0:v>
                </ns0:pt>
              </ns0:numCache>
            </ns0:numRef>
          </ns0:xVal>
          <ns0:yVal>
            <ns0:numRef>
              <ns0:f>'Chart Data'!$D$2:$D$4</ns0:f>
              <ns0:numCache>
                <ns0:formatCode>0.00</ns0:formatCode>
                <ns0:ptCount val="3"/>
                <ns0:pt idx="0">
                  <ns0:v>0.0939464116003</ns0:v>
                </ns0:pt>
                <ns0:pt idx="1">
                  <ns0:v>0.0842743890438</ns0:v>
                </ns0:pt>
                <ns0:pt idx="2">
                  <ns0:v>0.108568896443</ns0:v>
                </ns0:pt>
              </ns0:numCache>
            </ns0:numRef>
          </ns0:yVal>
          <ns0:smooth val="0"/>
        </ns0:ser>
        <ns0:ser>
          <ns0:idx val="2"/>
          <ns0:order val="2"/>
          <ns0:tx>
            <ns0:strRef>
              <ns0:f>RX-W03</ns0:f>
              <ns0:strCache>
                <ns0:ptCount val="1"/>
                <ns0:pt idx="0">
                  <ns0:v>RX-W03</ns0:v>
                </ns0:pt>
              </ns0:strCache>
            </ns0:strRef>
          </ns0:tx>
          <ns0:spPr>
            <ns3:ln w="11430" cap="rnd">
              <ns3:solidFill>
                <ns3:srgbClr val="D7DDE1"/>
              </ns3:solidFill>
              <ns3:prstDash val="solid"/>
              <ns3:round/>
            </ns3:ln>
          </ns0:spPr>
          <ns0:marker>
            <ns0:symbol val="none"/>
          </ns0:marker>
          <ns0:dLbls>
            <ns0:delete val="1"/>
          </ns0:dLbls>
          <ns0:xVal>
            <ns0:numRef>
              <ns0:f>'Chart Data'!$E$2:$E$4</ns0:f>
              <ns0:numCache>
                <ns0:formatCode>General</ns0:formatCode>
                <ns0:ptCount val="3"/>
                <ns0:pt idx="0">
                  <ns0:v>0</ns0:v>
                </ns0:pt>
                <ns0:pt idx="1">
                  <ns0:v>1</ns0:v>
                </ns0:pt>
                <ns0:pt idx="2">
                  <ns0:v>2</ns0:v>
                </ns0:pt>
              </ns0:numCache>
            </ns0:numRef>
          </ns0:xVal>
          <ns0:yVal>
            <ns0:numRef>
              <ns0:f>'Chart Data'!$F$2:$F$4</ns0:f>
              <ns0:numCache>
                <ns0:formatCode>0.00</ns0:formatCode>
                <ns0:ptCount val="3"/>
                <ns0:pt idx="0">
                  <ns0:v>0.123896404985</ns0:v>
                </ns0:pt>
                <ns0:pt idx="1">
                  <ns0:v>0.095687036169</ns0:v>
                </ns0:pt>
                <ns0:pt idx="2">
                  <ns0:v>0.0965575649664</ns0:v>
                </ns0:pt>
              </ns0:numCache>
            </ns0:numRef>
          </ns0:yVal>
          <ns0:smooth val="0"/>
        </ns0:ser>
        <ns0:ser>
          <ns0:idx val="3"/>
          <ns0:order val="3"/>
          <ns0:tx>
            <ns0:strRef>
              <ns0:f>RX-W04</ns0:f>
              <ns0:strCache>
                <ns0:ptCount val="1"/>
                <ns0:pt idx="0">
                  <ns0:v>RX-W04</ns0:v>
                </ns0:pt>
              </ns0:strCache>
            </ns0:strRef>
          </ns0:tx>
          <ns0:spPr>
            <ns3:ln w="11430" cap="rnd">
              <ns3:solidFill>
                <ns3:srgbClr val="D7DDE1"/>
              </ns3:solidFill>
              <ns3:prstDash val="solid"/>
              <ns3:round/>
            </ns3:ln>
          </ns0:spPr>
          <ns0:marker>
            <ns0:symbol val="none"/>
          </ns0:marker>
          <ns0:dLbls>
            <ns0:delete val="1"/>
          </ns0:dLbls>
          <ns0:xVal>
            <ns0:numRef>
              <ns0:f>'Chart Data'!$G$2:$G$4</ns0:f>
              <ns0:numCache>
                <ns0:formatCode>General</ns0:formatCode>
                <ns0:ptCount val="3"/>
                <ns0:pt idx="0">
                  <ns0:v>0</ns0:v>
                </ns0:pt>
                <ns0:pt idx="1">
                  <ns0:v>1</ns0:v>
                </ns0:pt>
                <ns0:pt idx="2">
                  <ns0:v>2</ns0:v>
                </ns0:pt>
              </ns0:numCache>
            </ns0:numRef>
          </ns0:xVal>
          <ns0:yVal>
            <ns0:numRef>
              <ns0:f>'Chart Data'!$H$2:$H$4</ns0:f>
              <ns0:numCache>
                <ns0:formatCode>0.00</ns0:formatCode>
                <ns0:ptCount val="3"/>
                <ns0:pt idx="0">
                  <ns0:v>0.140717470664</ns0:v>
                </ns0:pt>
                <ns0:pt idx="1">
                  <ns0:v>0.117178334767</ns0:v>
                </ns0:pt>
                <ns0:pt idx="2">
                  <ns0:v>0.102032941792</ns0:v>
                </ns0:pt>
              </ns0:numCache>
            </ns0:numRef>
          </ns0:yVal>
          <ns0:smooth val="0"/>
        </ns0:ser>
        <ns0:ser>
          <ns0:idx val="4"/>
          <ns0:order val="4"/>
          <ns0:tx>
            <ns0:strRef>
              <ns0:f>RX-W05</ns0:f>
              <ns0:strCache>
                <ns0:ptCount val="1"/>
                <ns0:pt idx="0">
                  <ns0:v>RX-W05</ns0:v>
                </ns0:pt>
              </ns0:strCache>
            </ns0:strRef>
          </ns0:tx>
          <ns0:spPr>
            <ns3:ln w="11430" cap="rnd">
              <ns3:solidFill>
                <ns3:srgbClr val="D7DDE1"/>
              </ns3:solidFill>
              <ns3:prstDash val="solid"/>
              <ns3:round/>
            </ns3:ln>
          </ns0:spPr>
          <ns0:marker>
            <ns0:symbol val="none"/>
          </ns0:marker>
          <ns0:dLbls>
            <ns0:delete val="1"/>
          </ns0:dLbls>
          <ns0:xVal>
            <ns0:numRef>
              <ns0:f>'Chart Data'!$I$2:$I$4</ns0:f>
              <ns0:numCache>
                <ns0:formatCode>General</ns0:formatCode>
                <ns0:ptCount val="3"/>
                <ns0:pt idx="0">
                  <ns0:v>0</ns0:v>
                </ns0:pt>
                <ns0:pt idx="1">
                  <ns0:v>1</ns0:v>
                </ns0:pt>
                <ns0:pt idx="2">
                  <ns0:v>2</ns0:v>
                </ns0:pt>
              </ns0:numCache>
            </ns0:numRef>
          </ns0:xVal>
          <ns0:yVal>
            <ns0:numRef>
              <ns0:f>'Chart Data'!$J$2:$J$4</ns0:f>
              <ns0:numCache>
                <ns0:formatCode>0.00</ns0:formatCode>
                <ns0:ptCount val="3"/>
                <ns0:pt idx="0">
                  <ns0:v>0.0976262304435</ns0:v>
                </ns0:pt>
                <ns0:pt idx="1">
                  <ns0:v>0.223664347331</ns0:v>
                </ns0:pt>
                <ns0:pt idx="2">
                  <ns0:v>0.069682042607</ns0:v>
                </ns0:pt>
              </ns0:numCache>
            </ns0:numRef>
          </ns0:yVal>
          <ns0:smooth val="0"/>
        </ns0:ser>
        <ns0:ser>
          <ns0:idx val="5"/>
          <ns0:order val="5"/>
          <ns0:tx>
            <ns0:strRef>
              <ns0:f>Opaque</ns0:f>
              <ns0:strCache>
                <ns0:ptCount val="1"/>
                <ns0:pt idx="0">
                  <ns0:v>Opaque</ns0:v>
                </ns0:pt>
              </ns0:strCache>
            </ns0:strRef>
          </ns0:tx>
          <ns0:spPr>
            <ns3:ln w="0" cap="rnd">
              <ns3:noFill/>
              <ns3:prstDash val="solid"/>
              <ns3:round/>
            </ns3:ln>
          </ns0:spPr>
          <ns0:marker>
            <ns0:symbol val="circle"/>
            <ns0:size val="8"/>
            <ns0:spPr>
              <ns3:solidFill>
                <ns3:srgbClr val="637482"/>
              </ns3:solidFill>
              <ns3:ln w="0">
                <ns3:noFill/>
                <ns3:prstDash val="solid"/>
                <ns3:round/>
              </ns3:ln>
            </ns0:spPr>
          </ns0:marker>
          <ns0:dLbls>
            <ns0:delete val="1"/>
          </ns0:dLbls>
          <ns0:xVal>
            <ns0:numRef>
              <ns0:f>'Chart Data'!$K$2:$K$6</ns0:f>
              <ns0:numCache>
                <ns0:formatCode>General</ns0:formatCode>
                <ns0:ptCount val="5"/>
                <ns0:pt idx="0">
                  <ns0:v>0</ns0:v>
                </ns0:pt>
                <ns0:pt idx="1">
                  <ns0:v>0</ns0:v>
                </ns0:pt>
                <ns0:pt idx="2">
                  <ns0:v>0</ns0:v>
                </ns0:pt>
                <ns0:pt idx="3">
                  <ns0:v>0</ns0:v>
                </ns0:pt>
                <ns0:pt idx="4">
                  <ns0:v>0</ns0:v>
                </ns0:pt>
              </ns0:numCache>
            </ns0:numRef>
          </ns0:xVal>
          <ns0:yVal>
            <ns0:numRef>
              <ns0:f>'Chart Data'!$L$2:$L$6</ns0:f>
              <ns0:numCache>
                <ns0:formatCode>0.00</ns0:formatCode>
                <ns0:ptCount val="5"/>
                <ns0:pt idx="0">
                  <ns0:v>0.105172687807</ns0:v>
                </ns0:pt>
                <ns0:pt idx="1">
                  <ns0:v>0.0939464116003</ns0:v>
                </ns0:pt>
                <ns0:pt idx="2">
                  <ns0:v>0.123896404985</ns0:v>
                </ns0:pt>
                <ns0:pt idx="3">
                  <ns0:v>0.140717470664</ns0:v>
                </ns0:pt>
                <ns0:pt idx="4">
                  <ns0:v>0.0976262304435</ns0:v>
                </ns0:pt>
              </ns0:numCache>
            </ns0:numRef>
          </ns0:yVal>
          <ns0:smooth val="0"/>
        </ns0:ser>
        <ns0:ser>
          <ns0:idx val="6"/>
          <ns0:order val="6"/>
          <ns0:tx>
            <ns0:strRef>
              <ns0:f>Aligned</ns0:f>
              <ns0:strCache>
                <ns0:ptCount val="1"/>
                <ns0:pt idx="0">
                  <ns0:v>Aligned</ns0:v>
                </ns0:pt>
              </ns0:strCache>
            </ns0:strRef>
          </ns0:tx>
          <ns0:spPr>
            <ns3:ln w="0" cap="rnd">
              <ns3:noFill/>
              <ns3:prstDash val="solid"/>
              <ns3:round/>
            </ns3:ln>
          </ns0:spPr>
          <ns0:marker>
            <ns0:symbol val="circle"/>
            <ns0:size val="8"/>
            <ns0:spPr>
              <ns3:solidFill>
                <ns3:srgbClr val="277F8A"/>
              </ns3:solidFill>
              <ns3:ln w="0">
                <ns3:noFill/>
                <ns3:prstDash val="solid"/>
                <ns3:round/>
              </ns3:ln>
            </ns0:spPr>
          </ns0:marker>
          <ns0:dLbls>
            <ns0:delete val="1"/>
          </ns0:dLbls>
          <ns0:xVal>
            <ns0:numRef>
              <ns0:f>'Chart Data'!$M$2:$M$6</ns0:f>
              <ns0:numCache>
                <ns0:formatCode>General</ns0:formatCode>
                <ns0:ptCount val="5"/>
                <ns0:pt idx="0">
                  <ns0:v>1</ns0:v>
                </ns0:pt>
                <ns0:pt idx="1">
                  <ns0:v>1</ns0:v>
                </ns0:pt>
                <ns0:pt idx="2">
                  <ns0:v>1</ns0:v>
                </ns0:pt>
                <ns0:pt idx="3">
                  <ns0:v>1</ns0:v>
                </ns0:pt>
                <ns0:pt idx="4">
                  <ns0:v>1</ns0:v>
                </ns0:pt>
              </ns0:numCache>
            </ns0:numRef>
          </ns0:xVal>
          <ns0:yVal>
            <ns0:numRef>
              <ns0:f>'Chart Data'!$N$2:$N$6</ns0:f>
              <ns0:numCache>
                <ns0:formatCode>0.00</ns0:formatCode>
                <ns0:ptCount val="5"/>
                <ns0:pt idx="0">
                  <ns0:v>0.0757795171253</ns0:v>
                </ns0:pt>
                <ns0:pt idx="1">
                  <ns0:v>0.0842743890438</ns0:v>
                </ns0:pt>
                <ns0:pt idx="2">
                  <ns0:v>0.095687036169</ns0:v>
                </ns0:pt>
                <ns0:pt idx="3">
                  <ns0:v>0.117178334767</ns0:v>
                </ns0:pt>
                <ns0:pt idx="4">
                  <ns0:v>0.223664347331</ns0:v>
                </ns0:pt>
              </ns0:numCache>
            </ns0:numRef>
          </ns0:yVal>
          <ns0:smooth val="0"/>
        </ns0:ser>
        <ns0:ser>
          <ns0:idx val="7"/>
          <ns0:order val="7"/>
          <ns0:tx>
            <ns0:strRef>
              <ns0:f>MisIndexed</ns0:f>
              <ns0:strCache>
                <ns0:ptCount val="1"/>
                <ns0:pt idx="0">
                  <ns0:v>MisIndexed</ns0:v>
                </ns0:pt>
              </ns0:strCache>
            </ns0:strRef>
          </ns0:tx>
          <ns0:spPr>
            <ns3:ln w="0" cap="rnd">
              <ns3:noFill/>
              <ns3:prstDash val="solid"/>
              <ns3:round/>
            </ns3:ln>
          </ns0:spPr>
          <ns0:marker>
            <ns0:symbol val="circle"/>
            <ns0:size val="8"/>
            <ns0:spPr>
              <ns3:solidFill>
                <ns3:srgbClr val="BC7850"/>
              </ns3:solidFill>
              <ns3:ln w="0">
                <ns3:noFill/>
                <ns3:prstDash val="solid"/>
                <ns3:round/>
              </ns3:ln>
            </ns0:spPr>
          </ns0:marker>
          <ns0:dLbls>
            <ns0:delete val="1"/>
          </ns0:dLbls>
          <ns0:xVal>
            <ns0:numRef>
              <ns0:f>'Chart Data'!$O$2:$O$6</ns0:f>
              <ns0:numCache>
                <ns0:formatCode>General</ns0:formatCode>
                <ns0:ptCount val="5"/>
                <ns0:pt idx="0">
                  <ns0:v>2</ns0:v>
                </ns0:pt>
                <ns0:pt idx="1">
                  <ns0:v>2</ns0:v>
                </ns0:pt>
                <ns0:pt idx="2">
                  <ns0:v>2</ns0:v>
                </ns0:pt>
                <ns0:pt idx="3">
                  <ns0:v>2</ns0:v>
                </ns0:pt>
                <ns0:pt idx="4">
                  <ns0:v>2</ns0:v>
                </ns0:pt>
              </ns0:numCache>
            </ns0:numRef>
          </ns0:xVal>
          <ns0:yVal>
            <ns0:numRef>
              <ns0:f>'Chart Data'!$P$2:$P$6</ns0:f>
              <ns0:numCache>
                <ns0:formatCode>0.00</ns0:formatCode>
                <ns0:ptCount val="5"/>
                <ns0:pt idx="0">
                  <ns0:v>0.084199299191</ns0:v>
                </ns0:pt>
                <ns0:pt idx="1">
                  <ns0:v>0.108568896443</ns0:v>
                </ns0:pt>
                <ns0:pt idx="2">
                  <ns0:v>0.0965575649664</ns0:v>
                </ns0:pt>
                <ns0:pt idx="3">
                  <ns0:v>0.102032941792</ns0:v>
                </ns0:pt>
                <ns0:pt idx="4">
                  <ns0:v>0.069682042607</ns0:v>
                </ns0:pt>
              </ns0:numCache>
            </ns0:numRef>
          </ns0:yVal>
          <ns0:smooth val="0"/>
        </ns0:ser>
        <ns0:dLbls>
          <ns0:showLegendKey val="0"/>
          <ns0:showVal val="0"/>
          <ns0:showCatName val="0"/>
          <ns0:showSerName val="0"/>
          <ns0:showPercent val="0"/>
          <ns0:showBubbleSize val="0"/>
        </ns0:dLbls>
        <ns0:axId val="48650112"/>
        <ns0:axId val="48672768"/>
      </ns0:scatterChart>
      <ns0:valAx>
        <ns0:axId val="48650112"/>
        <ns0:scaling>
          <ns0:orientation val="minMax"/>
          <ns0:max val="2.5"/>
          <ns0:min val="-0.5"/>
        </ns0:scaling>
        <ns0:delete val="0"/>
        <ns0:axPos val="b"/>
        <ns0:numFmt formatCode="0" sourceLinked="1"/>
        <ns0:majorTickMark val="none"/>
        <ns0:minorTickMark val="none"/>
        <ns0:tickLblPos val="none"/>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FFFFFF"/>
                </ns3:solidFill>
                <ns3:latin typeface="Arial" panose="020B0604020202020204"/>
                <ns3:ea typeface="Arial" panose="020B0604020202020204"/>
                <ns3:cs typeface="Arial" panose="020B0604020202020204"/>
              </ns3:defRPr>
            </ns3:pPr>
          </ns3:p>
        </ns0:txPr>
        <ns0:crossAx val="48672768"/>
        <ns0:crosses val="min"/>
        <ns0:crossBetween val="midCat"/>
        <ns0:majorUnit val="1"/>
      </ns0:valAx>
      <ns0:valAx>
        <ns0:axId val="48672768"/>
        <ns0:scaling>
          <ns0:orientation val="minMax"/>
          <ns0:max val="0.246030782063802"/>
          <ns0:min val="0"/>
        </ns0:scaling>
        <ns0:delete val="0"/>
        <ns0:axPos val="l"/>
        <ns0:numFmt formatCode="0.0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50112"/>
        <ns0:crosses val="min"/>
        <ns0:crossBetween val="midCat"/>
      </ns0:valAx>
      <ns0:spPr>
        <ns3:solidFill>
          <ns3:srgbClr val="FFFFFF"/>
        </ns3:solidFill>
        <ns3:ln w="0">
          <ns3:noFill/>
        </ns3:ln>
      </ns0:spPr>
    </ns0:plotArea>
    <ns0:plotVisOnly val="1"/>
    <ns0:dispBlanksAs val="gap"/>
    <ns0:showDLblsOverMax val="0"/>
    <ns0:extLst>
      <ns0:ext uri="{0b15fc19-7d7d-44ad-8c2d-2c3a37ce22c3}">
        <ns4:chartProps chartId="{7e96cad7-0860-4026-9473-9777d75c5605}"/>
      </ns0:ext>
    </ns0:extLst>
  </ns0:chart>
  <ns0:spPr>
    <ns3:solidFill>
      <ns3:srgbClr val="FFFFFF"/>
    </ns3:solidFill>
    <ns3:ln w="0">
      <ns3:noFill/>
    </ns3:ln>
  </ns0:spPr>
  <ns0:txPr>
    <ns3:bodyPr/>
    <ns3:lstStyle/>
    <ns3:p>
      <ns3:pPr>
        <ns3:defRPr lang="zh-CN"/>
      </ns3:pPr>
    </ns3:p>
  </ns0:txPr>
  <ns0:externalData ns5:id="rId1">
    <ns0:autoUpdate val="0"/>
  </ns0:externalData>
</ns0:chartSpace>
</file>

<file path=ppt/charts/chart19.xml><?xml version="1.0" encoding="utf-8"?>
<ns0:chartSpace xmlns:ns0="http://schemas.openxmlformats.org/drawingml/2006/chart" xmlns:ns1="http://schemas.openxmlformats.org/markup-compatibility/2006" xmlns:ns2="http://schemas.microsoft.com/office/drawing/2007/8/2/chart" xmlns:ns3="http://schemas.openxmlformats.org/drawingml/2006/main" xmlns:ns4="https://web.wps.cn/et/2018/main" xmlns:ns5="http://schemas.openxmlformats.org/officeDocument/2006/relationships">
  <ns0:date1904 val="0"/>
  <ns0:lang val="zh-CN"/>
  <ns0:roundedCorners val="0"/>
  <ns1:AlternateContent>
    <ns1:Choice Requires="c14">
      <ns2:style val="102"/>
    </ns1:Choice>
    <ns1:Fallback>
      <ns0:style val="2"/>
    </ns1:Fallback>
  </ns1:AlternateContent>
  <ns0:chart>
    <ns0:autoTitleDeleted val="1"/>
    <ns0:plotArea>
      <ns0:layout/>
      <ns0:scatterChart>
        <ns0:scatterStyle val="lineMarker"/>
        <ns0:varyColors val="0"/>
        <ns0:ser>
          <ns0:idx val="0"/>
          <ns0:order val="0"/>
          <ns0:tx>
            <ns0:strRef>
              <ns0:f>EQ-W01</ns0:f>
              <ns0:strCache>
                <ns0:ptCount val="1"/>
                <ns0:pt idx="0">
                  <ns0:v>EQ-W01</ns0:v>
                </ns0:pt>
              </ns0:strCache>
            </ns0:strRef>
          </ns0:tx>
          <ns0:spPr>
            <ns3:ln w="11430" cap="rnd">
              <ns3:solidFill>
                <ns3:srgbClr val="D7DDE1"/>
              </ns3:solidFill>
              <ns3:prstDash val="solid"/>
              <ns3:round/>
            </ns3:ln>
          </ns0:spPr>
          <ns0:marker>
            <ns0:symbol val="none"/>
          </ns0:marker>
          <ns0:dLbls>
            <ns0:delete val="1"/>
          </ns0:dLbls>
          <ns0:xVal>
            <ns0:numRef>
              <ns0:f>'Chart Data'!$A$2:$A$4</ns0:f>
              <ns0:numCache>
                <ns0:formatCode>General</ns0:formatCode>
                <ns0:ptCount val="3"/>
                <ns0:pt idx="0">
                  <ns0:v>0</ns0:v>
                </ns0:pt>
                <ns0:pt idx="1">
                  <ns0:v>1</ns0:v>
                </ns0:pt>
                <ns0:pt idx="2">
                  <ns0:v>2</ns0:v>
                </ns0:pt>
              </ns0:numCache>
            </ns0:numRef>
          </ns0:xVal>
          <ns0:yVal>
            <ns0:numRef>
              <ns0:f>'Chart Data'!$B$2:$B$4</ns0:f>
              <ns0:numCache>
                <ns0:formatCode>0.00</ns0:formatCode>
                <ns0:ptCount val="3"/>
                <ns0:pt idx="0">
                  <ns0:v>0.0138122998247</ns0:v>
                </ns0:pt>
                <ns0:pt idx="1">
                  <ns0:v>0.0511483707351</ns0:v>
                </ns0:pt>
                <ns0:pt idx="2">
                  <ns0:v>0.0515771295704</ns0:v>
                </ns0:pt>
              </ns0:numCache>
            </ns0:numRef>
          </ns0:yVal>
          <ns0:smooth val="0"/>
        </ns0:ser>
        <ns0:ser>
          <ns0:idx val="1"/>
          <ns0:order val="1"/>
          <ns0:tx>
            <ns0:strRef>
              <ns0:f>EQ-W02</ns0:f>
              <ns0:strCache>
                <ns0:ptCount val="1"/>
                <ns0:pt idx="0">
                  <ns0:v>EQ-W02</ns0:v>
                </ns0:pt>
              </ns0:strCache>
            </ns0:strRef>
          </ns0:tx>
          <ns0:spPr>
            <ns3:ln w="11430" cap="rnd">
              <ns3:solidFill>
                <ns3:srgbClr val="D7DDE1"/>
              </ns3:solidFill>
              <ns3:prstDash val="solid"/>
              <ns3:round/>
            </ns3:ln>
          </ns0:spPr>
          <ns0:marker>
            <ns0:symbol val="none"/>
          </ns0:marker>
          <ns0:dLbls>
            <ns0:delete val="1"/>
          </ns0:dLbls>
          <ns0:xVal>
            <ns0:numRef>
              <ns0:f>'Chart Data'!$C$2:$C$4</ns0:f>
              <ns0:numCache>
                <ns0:formatCode>General</ns0:formatCode>
                <ns0:ptCount val="3"/>
                <ns0:pt idx="0">
                  <ns0:v>0</ns0:v>
                </ns0:pt>
                <ns0:pt idx="1">
                  <ns0:v>1</ns0:v>
                </ns0:pt>
                <ns0:pt idx="2">
                  <ns0:v>2</ns0:v>
                </ns0:pt>
              </ns0:numCache>
            </ns0:numRef>
          </ns0:xVal>
          <ns0:yVal>
            <ns0:numRef>
              <ns0:f>'Chart Data'!$D$2:$D$4</ns0:f>
              <ns0:numCache>
                <ns0:formatCode>0.00</ns0:formatCode>
                <ns0:ptCount val="3"/>
                <ns0:pt idx="0">
                  <ns0:v>0.0114999910475</ns0:v>
                </ns0:pt>
                <ns0:pt idx="1">
                  <ns0:v>0.0496203954028</ns0:v>
                </ns0:pt>
                <ns0:pt idx="2">
                  <ns0:v>0.0516753434055</ns0:v>
                </ns0:pt>
              </ns0:numCache>
            </ns0:numRef>
          </ns0:yVal>
          <ns0:smooth val="0"/>
        </ns0:ser>
        <ns0:ser>
          <ns0:idx val="2"/>
          <ns0:order val="2"/>
          <ns0:tx>
            <ns0:strRef>
              <ns0:f>EQ-W03</ns0:f>
              <ns0:strCache>
                <ns0:ptCount val="1"/>
                <ns0:pt idx="0">
                  <ns0:v>EQ-W03</ns0:v>
                </ns0:pt>
              </ns0:strCache>
            </ns0:strRef>
          </ns0:tx>
          <ns0:spPr>
            <ns3:ln w="11430" cap="rnd">
              <ns3:solidFill>
                <ns3:srgbClr val="D7DDE1"/>
              </ns3:solidFill>
              <ns3:prstDash val="solid"/>
              <ns3:round/>
            </ns3:ln>
          </ns0:spPr>
          <ns0:marker>
            <ns0:symbol val="none"/>
          </ns0:marker>
          <ns0:dLbls>
            <ns0:delete val="1"/>
          </ns0:dLbls>
          <ns0:xVal>
            <ns0:numRef>
              <ns0:f>'Chart Data'!$E$2:$E$4</ns0:f>
              <ns0:numCache>
                <ns0:formatCode>General</ns0:formatCode>
                <ns0:ptCount val="3"/>
                <ns0:pt idx="0">
                  <ns0:v>0</ns0:v>
                </ns0:pt>
                <ns0:pt idx="1">
                  <ns0:v>1</ns0:v>
                </ns0:pt>
                <ns0:pt idx="2">
                  <ns0:v>2</ns0:v>
                </ns0:pt>
              </ns0:numCache>
            </ns0:numRef>
          </ns0:xVal>
          <ns0:yVal>
            <ns0:numRef>
              <ns0:f>'Chart Data'!$F$2:$F$4</ns0:f>
              <ns0:numCache>
                <ns0:formatCode>0.00</ns0:formatCode>
                <ns0:ptCount val="3"/>
                <ns0:pt idx="0">
                  <ns0:v>0.0104174772888</ns0:v>
                </ns0:pt>
                <ns0:pt idx="1">
                  <ns0:v>0.0407480328921</ns0:v>
                </ns0:pt>
                <ns0:pt idx="2">
                  <ns0:v>0.0195390230328</ns0:v>
                </ns0:pt>
              </ns0:numCache>
            </ns0:numRef>
          </ns0:yVal>
          <ns0:smooth val="0"/>
        </ns0:ser>
        <ns0:ser>
          <ns0:idx val="3"/>
          <ns0:order val="3"/>
          <ns0:tx>
            <ns0:strRef>
              <ns0:f>EQ-W04</ns0:f>
              <ns0:strCache>
                <ns0:ptCount val="1"/>
                <ns0:pt idx="0">
                  <ns0:v>EQ-W04</ns0:v>
                </ns0:pt>
              </ns0:strCache>
            </ns0:strRef>
          </ns0:tx>
          <ns0:spPr>
            <ns3:ln w="11430" cap="rnd">
              <ns3:solidFill>
                <ns3:srgbClr val="D7DDE1"/>
              </ns3:solidFill>
              <ns3:prstDash val="solid"/>
              <ns3:round/>
            </ns3:ln>
          </ns0:spPr>
          <ns0:marker>
            <ns0:symbol val="none"/>
          </ns0:marker>
          <ns0:dLbls>
            <ns0:delete val="1"/>
          </ns0:dLbls>
          <ns0:xVal>
            <ns0:numRef>
              <ns0:f>'Chart Data'!$G$2:$G$4</ns0:f>
              <ns0:numCache>
                <ns0:formatCode>General</ns0:formatCode>
                <ns0:ptCount val="3"/>
                <ns0:pt idx="0">
                  <ns0:v>0</ns0:v>
                </ns0:pt>
                <ns0:pt idx="1">
                  <ns0:v>1</ns0:v>
                </ns0:pt>
                <ns0:pt idx="2">
                  <ns0:v>2</ns0:v>
                </ns0:pt>
              </ns0:numCache>
            </ns0:numRef>
          </ns0:xVal>
          <ns0:yVal>
            <ns0:numRef>
              <ns0:f>'Chart Data'!$H$2:$H$4</ns0:f>
              <ns0:numCache>
                <ns0:formatCode>0.00</ns0:formatCode>
                <ns0:ptCount val="3"/>
                <ns0:pt idx="0">
                  <ns0:v>0.0142425187552</ns0:v>
                </ns0:pt>
                <ns0:pt idx="1">
                  <ns0:v>0.0387965801459</ns0:v>
                </ns0:pt>
                <ns0:pt idx="2">
                  <ns0:v>0.038565131878</ns0:v>
                </ns0:pt>
              </ns0:numCache>
            </ns0:numRef>
          </ns0:yVal>
          <ns0:smooth val="0"/>
        </ns0:ser>
        <ns0:ser>
          <ns0:idx val="4"/>
          <ns0:order val="4"/>
          <ns0:tx>
            <ns0:strRef>
              <ns0:f>EQ-W05</ns0:f>
              <ns0:strCache>
                <ns0:ptCount val="1"/>
                <ns0:pt idx="0">
                  <ns0:v>EQ-W05</ns0:v>
                </ns0:pt>
              </ns0:strCache>
            </ns0:strRef>
          </ns0:tx>
          <ns0:spPr>
            <ns3:ln w="11430" cap="rnd">
              <ns3:solidFill>
                <ns3:srgbClr val="D7DDE1"/>
              </ns3:solidFill>
              <ns3:prstDash val="solid"/>
              <ns3:round/>
            </ns3:ln>
          </ns0:spPr>
          <ns0:marker>
            <ns0:symbol val="none"/>
          </ns0:marker>
          <ns0:dLbls>
            <ns0:delete val="1"/>
          </ns0:dLbls>
          <ns0:xVal>
            <ns0:numRef>
              <ns0:f>'Chart Data'!$I$2:$I$4</ns0:f>
              <ns0:numCache>
                <ns0:formatCode>General</ns0:formatCode>
                <ns0:ptCount val="3"/>
                <ns0:pt idx="0">
                  <ns0:v>0</ns0:v>
                </ns0:pt>
                <ns0:pt idx="1">
                  <ns0:v>1</ns0:v>
                </ns0:pt>
                <ns0:pt idx="2">
                  <ns0:v>2</ns0:v>
                </ns0:pt>
              </ns0:numCache>
            </ns0:numRef>
          </ns0:xVal>
          <ns0:yVal>
            <ns0:numRef>
              <ns0:f>'Chart Data'!$J$2:$J$4</ns0:f>
              <ns0:numCache>
                <ns0:formatCode>0.00</ns0:formatCode>
                <ns0:ptCount val="3"/>
                <ns0:pt idx="0">
                  <ns0:v>0.0107287780805</ns0:v>
                </ns0:pt>
                <ns0:pt idx="1">
                  <ns0:v>0.0353943299543</ns0:v>
                </ns0:pt>
                <ns0:pt idx="2">
                  <ns0:v>0.0350654150576</ns0:v>
                </ns0:pt>
              </ns0:numCache>
            </ns0:numRef>
          </ns0:yVal>
          <ns0:smooth val="0"/>
        </ns0:ser>
        <ns0:ser>
          <ns0:idx val="5"/>
          <ns0:order val="5"/>
          <ns0:tx>
            <ns0:strRef>
              <ns0:f>Opaque</ns0:f>
              <ns0:strCache>
                <ns0:ptCount val="1"/>
                <ns0:pt idx="0">
                  <ns0:v>Opaque</ns0:v>
                </ns0:pt>
              </ns0:strCache>
            </ns0:strRef>
          </ns0:tx>
          <ns0:spPr>
            <ns3:ln w="0" cap="rnd">
              <ns3:noFill/>
              <ns3:prstDash val="solid"/>
              <ns3:round/>
            </ns3:ln>
          </ns0:spPr>
          <ns0:marker>
            <ns0:symbol val="circle"/>
            <ns0:size val="8"/>
            <ns0:spPr>
              <ns3:solidFill>
                <ns3:srgbClr val="637482"/>
              </ns3:solidFill>
              <ns3:ln w="0">
                <ns3:noFill/>
                <ns3:prstDash val="solid"/>
                <ns3:round/>
              </ns3:ln>
            </ns0:spPr>
          </ns0:marker>
          <ns0:dLbls>
            <ns0:delete val="1"/>
          </ns0:dLbls>
          <ns0:xVal>
            <ns0:numRef>
              <ns0:f>'Chart Data'!$K$2:$K$6</ns0:f>
              <ns0:numCache>
                <ns0:formatCode>General</ns0:formatCode>
                <ns0:ptCount val="5"/>
                <ns0:pt idx="0">
                  <ns0:v>0</ns0:v>
                </ns0:pt>
                <ns0:pt idx="1">
                  <ns0:v>0</ns0:v>
                </ns0:pt>
                <ns0:pt idx="2">
                  <ns0:v>0</ns0:v>
                </ns0:pt>
                <ns0:pt idx="3">
                  <ns0:v>0</ns0:v>
                </ns0:pt>
                <ns0:pt idx="4">
                  <ns0:v>0</ns0:v>
                </ns0:pt>
              </ns0:numCache>
            </ns0:numRef>
          </ns0:xVal>
          <ns0:yVal>
            <ns0:numRef>
              <ns0:f>'Chart Data'!$L$2:$L$6</ns0:f>
              <ns0:numCache>
                <ns0:formatCode>0.00</ns0:formatCode>
                <ns0:ptCount val="5"/>
                <ns0:pt idx="0">
                  <ns0:v>0.0138122998247</ns0:v>
                </ns0:pt>
                <ns0:pt idx="1">
                  <ns0:v>0.0114999910475</ns0:v>
                </ns0:pt>
                <ns0:pt idx="2">
                  <ns0:v>0.0104174772888</ns0:v>
                </ns0:pt>
                <ns0:pt idx="3">
                  <ns0:v>0.0142425187552</ns0:v>
                </ns0:pt>
                <ns0:pt idx="4">
                  <ns0:v>0.0107287780805</ns0:v>
                </ns0:pt>
              </ns0:numCache>
            </ns0:numRef>
          </ns0:yVal>
          <ns0:smooth val="0"/>
        </ns0:ser>
        <ns0:ser>
          <ns0:idx val="6"/>
          <ns0:order val="6"/>
          <ns0:tx>
            <ns0:strRef>
              <ns0:f>Aligned</ns0:f>
              <ns0:strCache>
                <ns0:ptCount val="1"/>
                <ns0:pt idx="0">
                  <ns0:v>Aligned</ns0:v>
                </ns0:pt>
              </ns0:strCache>
            </ns0:strRef>
          </ns0:tx>
          <ns0:spPr>
            <ns3:ln w="0" cap="rnd">
              <ns3:noFill/>
              <ns3:prstDash val="solid"/>
              <ns3:round/>
            </ns3:ln>
          </ns0:spPr>
          <ns0:marker>
            <ns0:symbol val="circle"/>
            <ns0:size val="8"/>
            <ns0:spPr>
              <ns3:solidFill>
                <ns3:srgbClr val="277F8A"/>
              </ns3:solidFill>
              <ns3:ln w="0">
                <ns3:noFill/>
                <ns3:prstDash val="solid"/>
                <ns3:round/>
              </ns3:ln>
            </ns0:spPr>
          </ns0:marker>
          <ns0:dLbls>
            <ns0:delete val="1"/>
          </ns0:dLbls>
          <ns0:xVal>
            <ns0:numRef>
              <ns0:f>'Chart Data'!$M$2:$M$6</ns0:f>
              <ns0:numCache>
                <ns0:formatCode>General</ns0:formatCode>
                <ns0:ptCount val="5"/>
                <ns0:pt idx="0">
                  <ns0:v>1</ns0:v>
                </ns0:pt>
                <ns0:pt idx="1">
                  <ns0:v>1</ns0:v>
                </ns0:pt>
                <ns0:pt idx="2">
                  <ns0:v>1</ns0:v>
                </ns0:pt>
                <ns0:pt idx="3">
                  <ns0:v>1</ns0:v>
                </ns0:pt>
                <ns0:pt idx="4">
                  <ns0:v>1</ns0:v>
                </ns0:pt>
              </ns0:numCache>
            </ns0:numRef>
          </ns0:xVal>
          <ns0:yVal>
            <ns0:numRef>
              <ns0:f>'Chart Data'!$N$2:$N$6</ns0:f>
              <ns0:numCache>
                <ns0:formatCode>0.00</ns0:formatCode>
                <ns0:ptCount val="5"/>
                <ns0:pt idx="0">
                  <ns0:v>0.0511483707351</ns0:v>
                </ns0:pt>
                <ns0:pt idx="1">
                  <ns0:v>0.0496203954028</ns0:v>
                </ns0:pt>
                <ns0:pt idx="2">
                  <ns0:v>0.0407480328921</ns0:v>
                </ns0:pt>
                <ns0:pt idx="3">
                  <ns0:v>0.0387965801459</ns0:v>
                </ns0:pt>
                <ns0:pt idx="4">
                  <ns0:v>0.0353943299543</ns0:v>
                </ns0:pt>
              </ns0:numCache>
            </ns0:numRef>
          </ns0:yVal>
          <ns0:smooth val="0"/>
        </ns0:ser>
        <ns0:ser>
          <ns0:idx val="7"/>
          <ns0:order val="7"/>
          <ns0:tx>
            <ns0:strRef>
              <ns0:f>MisIndexed</ns0:f>
              <ns0:strCache>
                <ns0:ptCount val="1"/>
                <ns0:pt idx="0">
                  <ns0:v>MisIndexed</ns0:v>
                </ns0:pt>
              </ns0:strCache>
            </ns0:strRef>
          </ns0:tx>
          <ns0:spPr>
            <ns3:ln w="0" cap="rnd">
              <ns3:noFill/>
              <ns3:prstDash val="solid"/>
              <ns3:round/>
            </ns3:ln>
          </ns0:spPr>
          <ns0:marker>
            <ns0:symbol val="circle"/>
            <ns0:size val="8"/>
            <ns0:spPr>
              <ns3:solidFill>
                <ns3:srgbClr val="BC7850"/>
              </ns3:solidFill>
              <ns3:ln w="0">
                <ns3:noFill/>
                <ns3:prstDash val="solid"/>
                <ns3:round/>
              </ns3:ln>
            </ns0:spPr>
          </ns0:marker>
          <ns0:dLbls>
            <ns0:delete val="1"/>
          </ns0:dLbls>
          <ns0:xVal>
            <ns0:numRef>
              <ns0:f>'Chart Data'!$O$2:$O$6</ns0:f>
              <ns0:numCache>
                <ns0:formatCode>General</ns0:formatCode>
                <ns0:ptCount val="5"/>
                <ns0:pt idx="0">
                  <ns0:v>2</ns0:v>
                </ns0:pt>
                <ns0:pt idx="1">
                  <ns0:v>2</ns0:v>
                </ns0:pt>
                <ns0:pt idx="2">
                  <ns0:v>2</ns0:v>
                </ns0:pt>
                <ns0:pt idx="3">
                  <ns0:v>2</ns0:v>
                </ns0:pt>
                <ns0:pt idx="4">
                  <ns0:v>2</ns0:v>
                </ns0:pt>
              </ns0:numCache>
            </ns0:numRef>
          </ns0:xVal>
          <ns0:yVal>
            <ns0:numRef>
              <ns0:f>'Chart Data'!$P$2:$P$6</ns0:f>
              <ns0:numCache>
                <ns0:formatCode>0.00</ns0:formatCode>
                <ns0:ptCount val="5"/>
                <ns0:pt idx="0">
                  <ns0:v>0.0515771295704</ns0:v>
                </ns0:pt>
                <ns0:pt idx="1">
                  <ns0:v>0.0516753434055</ns0:v>
                </ns0:pt>
                <ns0:pt idx="2">
                  <ns0:v>0.0195390230328</ns0:v>
                </ns0:pt>
                <ns0:pt idx="3">
                  <ns0:v>0.038565131878</ns0:v>
                </ns0:pt>
                <ns0:pt idx="4">
                  <ns0:v>0.0350654150576</ns0:v>
                </ns0:pt>
              </ns0:numCache>
            </ns0:numRef>
          </ns0:yVal>
          <ns0:smooth val="0"/>
        </ns0:ser>
        <ns0:dLbls>
          <ns0:showLegendKey val="0"/>
          <ns0:showVal val="0"/>
          <ns0:showCatName val="0"/>
          <ns0:showSerName val="0"/>
          <ns0:showPercent val="0"/>
          <ns0:showBubbleSize val="0"/>
        </ns0:dLbls>
        <ns0:axId val="48650112"/>
        <ns0:axId val="48672768"/>
      </ns0:scatterChart>
      <ns0:valAx>
        <ns0:axId val="48650112"/>
        <ns0:scaling>
          <ns0:orientation val="minMax"/>
          <ns0:max val="2.5"/>
          <ns0:min val="-0.5"/>
        </ns0:scaling>
        <ns0:delete val="0"/>
        <ns0:axPos val="b"/>
        <ns0:numFmt formatCode="0" sourceLinked="1"/>
        <ns0:majorTickMark val="none"/>
        <ns0:minorTickMark val="none"/>
        <ns0:tickLblPos val="none"/>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FFFFFF"/>
                </ns3:solidFill>
                <ns3:latin typeface="Arial" panose="020B0604020202020204"/>
                <ns3:ea typeface="Arial" panose="020B0604020202020204"/>
                <ns3:cs typeface="Arial" panose="020B0604020202020204"/>
              </ns3:defRPr>
            </ns3:pPr>
          </ns3:p>
        </ns0:txPr>
        <ns0:crossAx val="48672768"/>
        <ns0:crosses val="min"/>
        <ns0:crossBetween val="midCat"/>
        <ns0:majorUnit val="1"/>
      </ns0:valAx>
      <ns0:valAx>
        <ns0:axId val="48672768"/>
        <ns0:scaling>
          <ns0:orientation val="minMax"/>
          <ns0:max val="0.0568428777460806"/>
          <ns0:min val="0"/>
        </ns0:scaling>
        <ns0:delete val="0"/>
        <ns0:axPos val="l"/>
        <ns0:numFmt formatCode="0.0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50112"/>
        <ns0:crosses val="min"/>
        <ns0:crossBetween val="midCat"/>
      </ns0:valAx>
      <ns0:spPr>
        <ns3:solidFill>
          <ns3:srgbClr val="FFFFFF"/>
        </ns3:solidFill>
        <ns3:ln w="0">
          <ns3:noFill/>
        </ns3:ln>
      </ns0:spPr>
    </ns0:plotArea>
    <ns0:plotVisOnly val="1"/>
    <ns0:dispBlanksAs val="gap"/>
    <ns0:showDLblsOverMax val="0"/>
    <ns0:extLst>
      <ns0:ext uri="{0b15fc19-7d7d-44ad-8c2d-2c3a37ce22c3}">
        <ns4:chartProps chartId="{bb38b085-789e-445e-a8ad-735649061478}"/>
      </ns0:ext>
    </ns0:extLst>
  </ns0:chart>
  <ns0:spPr>
    <ns3:solidFill>
      <ns3:srgbClr val="FFFFFF"/>
    </ns3:solidFill>
    <ns3:ln w="0">
      <ns3:noFill/>
    </ns3:ln>
  </ns0:spPr>
  <ns0:txPr>
    <ns3:bodyPr/>
    <ns3:lstStyle/>
    <ns3:p>
      <ns3:pPr>
        <ns3:defRPr lang="zh-CN"/>
      </ns3:pPr>
    </ns3:p>
  </ns0:txPr>
  <ns0:externalData ns5:id="rId1">
    <ns0:autoUpdate val="0"/>
  </ns0:externalData>
</ns0:chartSpace>
</file>

<file path=ppt/charts/chart20.xml><?xml version="1.0" encoding="utf-8"?>
<ns0:chartSpace xmlns:ns0="http://schemas.openxmlformats.org/drawingml/2006/chart" xmlns:ns1="http://schemas.openxmlformats.org/markup-compatibility/2006" xmlns:ns2="http://schemas.microsoft.com/office/drawing/2007/8/2/chart" xmlns:ns3="http://schemas.openxmlformats.org/drawingml/2006/main" xmlns:ns4="https://web.wps.cn/et/2018/main" xmlns:ns5="http://schemas.openxmlformats.org/officeDocument/2006/relationships">
  <ns0:date1904 val="0"/>
  <ns0:lang val="zh-CN"/>
  <ns0:roundedCorners val="0"/>
  <ns1:AlternateContent>
    <ns1:Choice Requires="c14">
      <ns2:style val="102"/>
    </ns1:Choice>
    <ns1:Fallback>
      <ns0:style val="2"/>
    </ns1:Fallback>
  </ns1:AlternateContent>
  <ns0:chart>
    <ns0:autoTitleDeleted val="1"/>
    <ns0:plotArea>
      <ns0:layout/>
      <ns0:scatterChart>
        <ns0:scatterStyle val="lineMarker"/>
        <ns0:varyColors val="0"/>
        <ns0:ser>
          <ns0:idx val="0"/>
          <ns0:order val="0"/>
          <ns0:tx>
            <ns0:strRef>
              <ns0:f>EQ-S-W01</ns0:f>
              <ns0:strCache>
                <ns0:ptCount val="1"/>
                <ns0:pt idx="0">
                  <ns0:v>EQ-S-W01</ns0:v>
                </ns0:pt>
              </ns0:strCache>
            </ns0:strRef>
          </ns0:tx>
          <ns0:spPr>
            <ns3:ln w="11430" cap="rnd">
              <ns3:solidFill>
                <ns3:srgbClr val="D7DDE1"/>
              </ns3:solidFill>
              <ns3:prstDash val="solid"/>
              <ns3:round/>
            </ns3:ln>
          </ns0:spPr>
          <ns0:marker>
            <ns0:symbol val="none"/>
          </ns0:marker>
          <ns0:dLbls>
            <ns0:delete val="1"/>
          </ns0:dLbls>
          <ns0:xVal>
            <ns0:numRef>
              <ns0:f>'Chart Data'!$A$2:$A$4</ns0:f>
              <ns0:numCache>
                <ns0:formatCode>General</ns0:formatCode>
                <ns0:ptCount val="3"/>
                <ns0:pt idx="0">
                  <ns0:v>0</ns0:v>
                </ns0:pt>
                <ns0:pt idx="1">
                  <ns0:v>1</ns0:v>
                </ns0:pt>
                <ns0:pt idx="2">
                  <ns0:v>2</ns0:v>
                </ns0:pt>
              </ns0:numCache>
            </ns0:numRef>
          </ns0:xVal>
          <ns0:yVal>
            <ns0:numRef>
              <ns0:f>'Chart Data'!$B$2:$B$4</ns0:f>
              <ns0:numCache>
                <ns0:formatCode>0.00</ns0:formatCode>
                <ns0:ptCount val="3"/>
                <ns0:pt idx="0">
                  <ns0:v>0.0026463584092</ns0:v>
                </ns0:pt>
                <ns0:pt idx="1">
                  <ns0:v>0.0030944304943</ns0:v>
                </ns0:pt>
                <ns0:pt idx="2">
                  <ns0:v>0.0224358189545</ns0:v>
                </ns0:pt>
              </ns0:numCache>
            </ns0:numRef>
          </ns0:yVal>
          <ns0:smooth val="0"/>
        </ns0:ser>
        <ns0:ser>
          <ns0:idx val="1"/>
          <ns0:order val="1"/>
          <ns0:tx>
            <ns0:strRef>
              <ns0:f>EQ-S-W02</ns0:f>
              <ns0:strCache>
                <ns0:ptCount val="1"/>
                <ns0:pt idx="0">
                  <ns0:v>EQ-S-W02</ns0:v>
                </ns0:pt>
              </ns0:strCache>
            </ns0:strRef>
          </ns0:tx>
          <ns0:spPr>
            <ns3:ln w="11430" cap="rnd">
              <ns3:solidFill>
                <ns3:srgbClr val="D7DDE1"/>
              </ns3:solidFill>
              <ns3:prstDash val="solid"/>
              <ns3:round/>
            </ns3:ln>
          </ns0:spPr>
          <ns0:marker>
            <ns0:symbol val="none"/>
          </ns0:marker>
          <ns0:dLbls>
            <ns0:delete val="1"/>
          </ns0:dLbls>
          <ns0:xVal>
            <ns0:numRef>
              <ns0:f>'Chart Data'!$C$2:$C$4</ns0:f>
              <ns0:numCache>
                <ns0:formatCode>General</ns0:formatCode>
                <ns0:ptCount val="3"/>
                <ns0:pt idx="0">
                  <ns0:v>0</ns0:v>
                </ns0:pt>
                <ns0:pt idx="1">
                  <ns0:v>1</ns0:v>
                </ns0:pt>
                <ns0:pt idx="2">
                  <ns0:v>2</ns0:v>
                </ns0:pt>
              </ns0:numCache>
            </ns0:numRef>
          </ns0:xVal>
          <ns0:yVal>
            <ns0:numRef>
              <ns0:f>'Chart Data'!$D$2:$D$4</ns0:f>
              <ns0:numCache>
                <ns0:formatCode>0.00</ns0:formatCode>
                <ns0:ptCount val="3"/>
                <ns0:pt idx="0">
                  <ns0:v>0.00891616052557</ns0:v>
                </ns0:pt>
                <ns0:pt idx="1">
                  <ns0:v>0.0072617467821</ns0:v>
                </ns0:pt>
                <ns0:pt idx="2">
                  <ns0:v>0.00819065212333</ns0:v>
                </ns0:pt>
              </ns0:numCache>
            </ns0:numRef>
          </ns0:yVal>
          <ns0:smooth val="0"/>
        </ns0:ser>
        <ns0:ser>
          <ns0:idx val="2"/>
          <ns0:order val="2"/>
          <ns0:tx>
            <ns0:strRef>
              <ns0:f>EQ-S-W03</ns0:f>
              <ns0:strCache>
                <ns0:ptCount val="1"/>
                <ns0:pt idx="0">
                  <ns0:v>EQ-S-W03</ns0:v>
                </ns0:pt>
              </ns0:strCache>
            </ns0:strRef>
          </ns0:tx>
          <ns0:spPr>
            <ns3:ln w="11430" cap="rnd">
              <ns3:solidFill>
                <ns3:srgbClr val="D7DDE1"/>
              </ns3:solidFill>
              <ns3:prstDash val="solid"/>
              <ns3:round/>
            </ns3:ln>
          </ns0:spPr>
          <ns0:marker>
            <ns0:symbol val="none"/>
          </ns0:marker>
          <ns0:dLbls>
            <ns0:delete val="1"/>
          </ns0:dLbls>
          <ns0:xVal>
            <ns0:numRef>
              <ns0:f>'Chart Data'!$E$2:$E$4</ns0:f>
              <ns0:numCache>
                <ns0:formatCode>General</ns0:formatCode>
                <ns0:ptCount val="3"/>
                <ns0:pt idx="0">
                  <ns0:v>0</ns0:v>
                </ns0:pt>
                <ns0:pt idx="1">
                  <ns0:v>1</ns0:v>
                </ns0:pt>
                <ns0:pt idx="2">
                  <ns0:v>2</ns0:v>
                </ns0:pt>
              </ns0:numCache>
            </ns0:numRef>
          </ns0:xVal>
          <ns0:yVal>
            <ns0:numRef>
              <ns0:f>'Chart Data'!$F$2:$F$4</ns0:f>
              <ns0:numCache>
                <ns0:formatCode>0.00</ns0:formatCode>
                <ns0:ptCount val="3"/>
                <ns0:pt idx="0">
                  <ns0:v>0.0522223986515</ns0:v>
                </ns0:pt>
                <ns0:pt idx="1">
                  <ns0:v>0.018378648323</ns0:v>
                </ns0:pt>
                <ns0:pt idx="2">
                  <ns0:v>0.0134359281525</ns0:v>
                </ns0:pt>
              </ns0:numCache>
            </ns0:numRef>
          </ns0:yVal>
          <ns0:smooth val="0"/>
        </ns0:ser>
        <ns0:ser>
          <ns0:idx val="3"/>
          <ns0:order val="3"/>
          <ns0:tx>
            <ns0:strRef>
              <ns0:f>EQ-S-W04</ns0:f>
              <ns0:strCache>
                <ns0:ptCount val="1"/>
                <ns0:pt idx="0">
                  <ns0:v>EQ-S-W04</ns0:v>
                </ns0:pt>
              </ns0:strCache>
            </ns0:strRef>
          </ns0:tx>
          <ns0:spPr>
            <ns3:ln w="11430" cap="rnd">
              <ns3:solidFill>
                <ns3:srgbClr val="D7DDE1"/>
              </ns3:solidFill>
              <ns3:prstDash val="solid"/>
              <ns3:round/>
            </ns3:ln>
          </ns0:spPr>
          <ns0:marker>
            <ns0:symbol val="none"/>
          </ns0:marker>
          <ns0:dLbls>
            <ns0:delete val="1"/>
          </ns0:dLbls>
          <ns0:xVal>
            <ns0:numRef>
              <ns0:f>'Chart Data'!$G$2:$G$4</ns0:f>
              <ns0:numCache>
                <ns0:formatCode>General</ns0:formatCode>
                <ns0:ptCount val="3"/>
                <ns0:pt idx="0">
                  <ns0:v>0</ns0:v>
                </ns0:pt>
                <ns0:pt idx="1">
                  <ns0:v>1</ns0:v>
                </ns0:pt>
                <ns0:pt idx="2">
                  <ns0:v>2</ns0:v>
                </ns0:pt>
              </ns0:numCache>
            </ns0:numRef>
          </ns0:xVal>
          <ns0:yVal>
            <ns0:numRef>
              <ns0:f>'Chart Data'!$H$2:$H$4</ns0:f>
              <ns0:numCache>
                <ns0:formatCode>0.00</ns0:formatCode>
                <ns0:ptCount val="3"/>
                <ns0:pt idx="0">
                  <ns0:v>0.00456377031121</ns0:v>
                </ns0:pt>
                <ns0:pt idx="1">
                  <ns0:v>0.0360294822499</ns0:v>
                </ns0:pt>
                <ns0:pt idx="2">
                  <ns0:v>0.00594248946715</ns0:v>
                </ns0:pt>
              </ns0:numCache>
            </ns0:numRef>
          </ns0:yVal>
          <ns0:smooth val="0"/>
        </ns0:ser>
        <ns0:ser>
          <ns0:idx val="4"/>
          <ns0:order val="4"/>
          <ns0:tx>
            <ns0:strRef>
              <ns0:f>EQ-S-W05</ns0:f>
              <ns0:strCache>
                <ns0:ptCount val="1"/>
                <ns0:pt idx="0">
                  <ns0:v>EQ-S-W05</ns0:v>
                </ns0:pt>
              </ns0:strCache>
            </ns0:strRef>
          </ns0:tx>
          <ns0:spPr>
            <ns3:ln w="11430" cap="rnd">
              <ns3:solidFill>
                <ns3:srgbClr val="D7DDE1"/>
              </ns3:solidFill>
              <ns3:prstDash val="solid"/>
              <ns3:round/>
            </ns3:ln>
          </ns0:spPr>
          <ns0:marker>
            <ns0:symbol val="none"/>
          </ns0:marker>
          <ns0:dLbls>
            <ns0:delete val="1"/>
          </ns0:dLbls>
          <ns0:xVal>
            <ns0:numRef>
              <ns0:f>'Chart Data'!$I$2:$I$4</ns0:f>
              <ns0:numCache>
                <ns0:formatCode>General</ns0:formatCode>
                <ns0:ptCount val="3"/>
                <ns0:pt idx="0">
                  <ns0:v>0</ns0:v>
                </ns0:pt>
                <ns0:pt idx="1">
                  <ns0:v>1</ns0:v>
                </ns0:pt>
                <ns0:pt idx="2">
                  <ns0:v>2</ns0:v>
                </ns0:pt>
              </ns0:numCache>
            </ns0:numRef>
          </ns0:xVal>
          <ns0:yVal>
            <ns0:numRef>
              <ns0:f>'Chart Data'!$J$2:$J$4</ns0:f>
              <ns0:numCache>
                <ns0:formatCode>0.00</ns0:formatCode>
                <ns0:ptCount val="3"/>
                <ns0:pt idx="0">
                  <ns0:v>0.00205904095257</ns0:v>
                </ns0:pt>
                <ns0:pt idx="1">
                  <ns0:v>0.014718887598</ns0:v>
                </ns0:pt>
                <ns0:pt idx="2">
                  <ns0:v>0.0172429748529</ns0:v>
                </ns0:pt>
              </ns0:numCache>
            </ns0:numRef>
          </ns0:yVal>
          <ns0:smooth val="0"/>
        </ns0:ser>
        <ns0:ser>
          <ns0:idx val="5"/>
          <ns0:order val="5"/>
          <ns0:tx>
            <ns0:strRef>
              <ns0:f>Opaque</ns0:f>
              <ns0:strCache>
                <ns0:ptCount val="1"/>
                <ns0:pt idx="0">
                  <ns0:v>Opaque</ns0:v>
                </ns0:pt>
              </ns0:strCache>
            </ns0:strRef>
          </ns0:tx>
          <ns0:spPr>
            <ns3:ln w="0" cap="rnd">
              <ns3:noFill/>
              <ns3:prstDash val="solid"/>
              <ns3:round/>
            </ns3:ln>
          </ns0:spPr>
          <ns0:marker>
            <ns0:symbol val="circle"/>
            <ns0:size val="8"/>
            <ns0:spPr>
              <ns3:solidFill>
                <ns3:srgbClr val="637482"/>
              </ns3:solidFill>
              <ns3:ln w="0">
                <ns3:noFill/>
                <ns3:prstDash val="solid"/>
                <ns3:round/>
              </ns3:ln>
            </ns0:spPr>
          </ns0:marker>
          <ns0:dLbls>
            <ns0:delete val="1"/>
          </ns0:dLbls>
          <ns0:xVal>
            <ns0:numRef>
              <ns0:f>'Chart Data'!$K$2:$K$6</ns0:f>
              <ns0:numCache>
                <ns0:formatCode>General</ns0:formatCode>
                <ns0:ptCount val="5"/>
                <ns0:pt idx="0">
                  <ns0:v>0</ns0:v>
                </ns0:pt>
                <ns0:pt idx="1">
                  <ns0:v>0</ns0:v>
                </ns0:pt>
                <ns0:pt idx="2">
                  <ns0:v>0</ns0:v>
                </ns0:pt>
                <ns0:pt idx="3">
                  <ns0:v>0</ns0:v>
                </ns0:pt>
                <ns0:pt idx="4">
                  <ns0:v>0</ns0:v>
                </ns0:pt>
              </ns0:numCache>
            </ns0:numRef>
          </ns0:xVal>
          <ns0:yVal>
            <ns0:numRef>
              <ns0:f>'Chart Data'!$L$2:$L$6</ns0:f>
              <ns0:numCache>
                <ns0:formatCode>0.00</ns0:formatCode>
                <ns0:ptCount val="5"/>
                <ns0:pt idx="0">
                  <ns0:v>0.0026463584092</ns0:v>
                </ns0:pt>
                <ns0:pt idx="1">
                  <ns0:v>0.00891616052557</ns0:v>
                </ns0:pt>
                <ns0:pt idx="2">
                  <ns0:v>0.0522223986515</ns0:v>
                </ns0:pt>
                <ns0:pt idx="3">
                  <ns0:v>0.00456377031121</ns0:v>
                </ns0:pt>
                <ns0:pt idx="4">
                  <ns0:v>0.00205904095257</ns0:v>
                </ns0:pt>
              </ns0:numCache>
            </ns0:numRef>
          </ns0:yVal>
          <ns0:smooth val="0"/>
        </ns0:ser>
        <ns0:ser>
          <ns0:idx val="6"/>
          <ns0:order val="6"/>
          <ns0:tx>
            <ns0:strRef>
              <ns0:f>Aligned</ns0:f>
              <ns0:strCache>
                <ns0:ptCount val="1"/>
                <ns0:pt idx="0">
                  <ns0:v>Aligned</ns0:v>
                </ns0:pt>
              </ns0:strCache>
            </ns0:strRef>
          </ns0:tx>
          <ns0:spPr>
            <ns3:ln w="0" cap="rnd">
              <ns3:noFill/>
              <ns3:prstDash val="solid"/>
              <ns3:round/>
            </ns3:ln>
          </ns0:spPr>
          <ns0:marker>
            <ns0:symbol val="circle"/>
            <ns0:size val="8"/>
            <ns0:spPr>
              <ns3:solidFill>
                <ns3:srgbClr val="277F8A"/>
              </ns3:solidFill>
              <ns3:ln w="0">
                <ns3:noFill/>
                <ns3:prstDash val="solid"/>
                <ns3:round/>
              </ns3:ln>
            </ns0:spPr>
          </ns0:marker>
          <ns0:dLbls>
            <ns0:delete val="1"/>
          </ns0:dLbls>
          <ns0:xVal>
            <ns0:numRef>
              <ns0:f>'Chart Data'!$M$2:$M$6</ns0:f>
              <ns0:numCache>
                <ns0:formatCode>General</ns0:formatCode>
                <ns0:ptCount val="5"/>
                <ns0:pt idx="0">
                  <ns0:v>1</ns0:v>
                </ns0:pt>
                <ns0:pt idx="1">
                  <ns0:v>1</ns0:v>
                </ns0:pt>
                <ns0:pt idx="2">
                  <ns0:v>1</ns0:v>
                </ns0:pt>
                <ns0:pt idx="3">
                  <ns0:v>1</ns0:v>
                </ns0:pt>
                <ns0:pt idx="4">
                  <ns0:v>1</ns0:v>
                </ns0:pt>
              </ns0:numCache>
            </ns0:numRef>
          </ns0:xVal>
          <ns0:yVal>
            <ns0:numRef>
              <ns0:f>'Chart Data'!$N$2:$N$6</ns0:f>
              <ns0:numCache>
                <ns0:formatCode>0.00</ns0:formatCode>
                <ns0:ptCount val="5"/>
                <ns0:pt idx="0">
                  <ns0:v>0.0030944304943</ns0:v>
                </ns0:pt>
                <ns0:pt idx="1">
                  <ns0:v>0.0072617467821</ns0:v>
                </ns0:pt>
                <ns0:pt idx="2">
                  <ns0:v>0.018378648323</ns0:v>
                </ns0:pt>
                <ns0:pt idx="3">
                  <ns0:v>0.0360294822499</ns0:v>
                </ns0:pt>
                <ns0:pt idx="4">
                  <ns0:v>0.014718887598</ns0:v>
                </ns0:pt>
              </ns0:numCache>
            </ns0:numRef>
          </ns0:yVal>
          <ns0:smooth val="0"/>
        </ns0:ser>
        <ns0:ser>
          <ns0:idx val="7"/>
          <ns0:order val="7"/>
          <ns0:tx>
            <ns0:strRef>
              <ns0:f>MisIndexed</ns0:f>
              <ns0:strCache>
                <ns0:ptCount val="1"/>
                <ns0:pt idx="0">
                  <ns0:v>MisIndexed</ns0:v>
                </ns0:pt>
              </ns0:strCache>
            </ns0:strRef>
          </ns0:tx>
          <ns0:spPr>
            <ns3:ln w="0" cap="rnd">
              <ns3:noFill/>
              <ns3:prstDash val="solid"/>
              <ns3:round/>
            </ns3:ln>
          </ns0:spPr>
          <ns0:marker>
            <ns0:symbol val="circle"/>
            <ns0:size val="8"/>
            <ns0:spPr>
              <ns3:solidFill>
                <ns3:srgbClr val="BC7850"/>
              </ns3:solidFill>
              <ns3:ln w="0">
                <ns3:noFill/>
                <ns3:prstDash val="solid"/>
                <ns3:round/>
              </ns3:ln>
            </ns0:spPr>
          </ns0:marker>
          <ns0:dLbls>
            <ns0:delete val="1"/>
          </ns0:dLbls>
          <ns0:xVal>
            <ns0:numRef>
              <ns0:f>'Chart Data'!$O$2:$O$6</ns0:f>
              <ns0:numCache>
                <ns0:formatCode>General</ns0:formatCode>
                <ns0:ptCount val="5"/>
                <ns0:pt idx="0">
                  <ns0:v>2</ns0:v>
                </ns0:pt>
                <ns0:pt idx="1">
                  <ns0:v>2</ns0:v>
                </ns0:pt>
                <ns0:pt idx="2">
                  <ns0:v>2</ns0:v>
                </ns0:pt>
                <ns0:pt idx="3">
                  <ns0:v>2</ns0:v>
                </ns0:pt>
                <ns0:pt idx="4">
                  <ns0:v>2</ns0:v>
                </ns0:pt>
              </ns0:numCache>
            </ns0:numRef>
          </ns0:xVal>
          <ns0:yVal>
            <ns0:numRef>
              <ns0:f>'Chart Data'!$P$2:$P$6</ns0:f>
              <ns0:numCache>
                <ns0:formatCode>0.00</ns0:formatCode>
                <ns0:ptCount val="5"/>
                <ns0:pt idx="0">
                  <ns0:v>0.0224358189545</ns0:v>
                </ns0:pt>
                <ns0:pt idx="1">
                  <ns0:v>0.00819065212333</ns0:v>
                </ns0:pt>
                <ns0:pt idx="2">
                  <ns0:v>0.0134359281525</ns0:v>
                </ns0:pt>
                <ns0:pt idx="3">
                  <ns0:v>0.00594248946715</ns0:v>
                </ns0:pt>
                <ns0:pt idx="4">
                  <ns0:v>0.0172429748529</ns0:v>
                </ns0:pt>
              </ns0:numCache>
            </ns0:numRef>
          </ns0:yVal>
          <ns0:smooth val="0"/>
        </ns0:ser>
        <ns0:dLbls>
          <ns0:showLegendKey val="0"/>
          <ns0:showVal val="0"/>
          <ns0:showCatName val="0"/>
          <ns0:showSerName val="0"/>
          <ns0:showPercent val="0"/>
          <ns0:showBubbleSize val="0"/>
        </ns0:dLbls>
        <ns0:axId val="48650112"/>
        <ns0:axId val="48672768"/>
      </ns0:scatterChart>
      <ns0:valAx>
        <ns0:axId val="48650112"/>
        <ns0:scaling>
          <ns0:orientation val="minMax"/>
          <ns0:max val="2.5"/>
          <ns0:min val="-0.5"/>
        </ns0:scaling>
        <ns0:delete val="0"/>
        <ns0:axPos val="b"/>
        <ns0:numFmt formatCode="0" sourceLinked="1"/>
        <ns0:majorTickMark val="none"/>
        <ns0:minorTickMark val="none"/>
        <ns0:tickLblPos val="none"/>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FFFFFF"/>
                </ns3:solidFill>
                <ns3:latin typeface="Arial" panose="020B0604020202020204"/>
                <ns3:ea typeface="Arial" panose="020B0604020202020204"/>
                <ns3:cs typeface="Arial" panose="020B0604020202020204"/>
              </ns3:defRPr>
            </ns3:pPr>
          </ns3:p>
        </ns0:txPr>
        <ns0:crossAx val="48672768"/>
        <ns0:crosses val="min"/>
        <ns0:crossBetween val="midCat"/>
        <ns0:majorUnit val="1"/>
      </ns0:valAx>
      <ns0:valAx>
        <ns0:axId val="48672768"/>
        <ns0:scaling>
          <ns0:orientation val="minMax"/>
          <ns0:max val="0.0574446385166457"/>
          <ns0:min val="0"/>
        </ns0:scaling>
        <ns0:delete val="0"/>
        <ns0:axPos val="l"/>
        <ns0:numFmt formatCode="0.0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50112"/>
        <ns0:crosses val="min"/>
        <ns0:crossBetween val="midCat"/>
      </ns0:valAx>
      <ns0:spPr>
        <ns3:solidFill>
          <ns3:srgbClr val="FFFFFF"/>
        </ns3:solidFill>
        <ns3:ln w="0">
          <ns3:noFill/>
        </ns3:ln>
      </ns0:spPr>
    </ns0:plotArea>
    <ns0:plotVisOnly val="1"/>
    <ns0:dispBlanksAs val="gap"/>
    <ns0:showDLblsOverMax val="0"/>
    <ns0:extLst>
      <ns0:ext uri="{0b15fc19-7d7d-44ad-8c2d-2c3a37ce22c3}">
        <ns4:chartProps chartId="{6c280ef1-2950-4630-990a-364d5f31c7fe}"/>
      </ns0:ext>
    </ns0:extLst>
  </ns0:chart>
  <ns0:spPr>
    <ns3:solidFill>
      <ns3:srgbClr val="FFFFFF"/>
    </ns3:solidFill>
    <ns3:ln w="0">
      <ns3:noFill/>
    </ns3:ln>
  </ns0:spPr>
  <ns0:txPr>
    <ns3:bodyPr/>
    <ns3:lstStyle/>
    <ns3:p>
      <ns3:pPr>
        <ns3:defRPr lang="zh-CN"/>
      </ns3:pPr>
    </ns3:p>
  </ns0:txPr>
  <ns0:externalData ns5:id="rId1">
    <ns0:autoUpdate val="0"/>
  </ns0:externalData>
</ns0:chartSpace>
</file>

<file path=ppt/charts/chart21.xml><?xml version="1.0" encoding="utf-8"?>
<ns0:chartSpace xmlns:ns0="http://schemas.openxmlformats.org/drawingml/2006/chart" xmlns:ns1="http://schemas.openxmlformats.org/markup-compatibility/2006" xmlns:ns2="http://schemas.microsoft.com/office/drawing/2007/8/2/chart" xmlns:ns3="http://schemas.openxmlformats.org/drawingml/2006/main" xmlns:ns4="https://web.wps.cn/et/2018/main" xmlns:ns5="http://schemas.openxmlformats.org/officeDocument/2006/relationships">
  <ns0:date1904 val="0"/>
  <ns0:lang val="zh-CN"/>
  <ns0:roundedCorners val="0"/>
  <ns1:AlternateContent>
    <ns1:Choice Requires="c14">
      <ns2:style val="102"/>
    </ns1:Choice>
    <ns1:Fallback>
      <ns0:style val="2"/>
    </ns1:Fallback>
  </ns1:AlternateContent>
  <ns0:chart>
    <ns0:autoTitleDeleted val="1"/>
    <ns0:plotArea>
      <ns0:layout/>
      <ns0:scatterChart>
        <ns0:scatterStyle val="lineMarker"/>
        <ns0:varyColors val="0"/>
        <ns0:ser>
          <ns0:idx val="0"/>
          <ns0:order val="0"/>
          <ns0:tx>
            <ns0:strRef>
              <ns0:f>C-W01</ns0:f>
              <ns0:strCache>
                <ns0:ptCount val="1"/>
                <ns0:pt idx="0">
                  <ns0:v>C-W01</ns0:v>
                </ns0:pt>
              </ns0:strCache>
            </ns0:strRef>
          </ns0:tx>
          <ns0:spPr>
            <ns3:ln w="11430" cap="rnd">
              <ns3:solidFill>
                <ns3:srgbClr val="D7DDE1"/>
              </ns3:solidFill>
              <ns3:prstDash val="solid"/>
              <ns3:round/>
            </ns3:ln>
          </ns0:spPr>
          <ns0:marker>
            <ns0:symbol val="none"/>
          </ns0:marker>
          <ns0:dLbls>
            <ns0:delete val="1"/>
          </ns0:dLbls>
          <ns0:xVal>
            <ns0:numRef>
              <ns0:f>'Chart Data'!$A$2:$A$4</ns0:f>
              <ns0:numCache>
                <ns0:formatCode>General</ns0:formatCode>
                <ns0:ptCount val="3"/>
                <ns0:pt idx="0">
                  <ns0:v>0</ns0:v>
                </ns0:pt>
                <ns0:pt idx="1">
                  <ns0:v>1</ns0:v>
                </ns0:pt>
                <ns0:pt idx="2">
                  <ns0:v>2</ns0:v>
                </ns0:pt>
              </ns0:numCache>
            </ns0:numRef>
          </ns0:xVal>
          <ns0:yVal>
            <ns0:numRef>
              <ns0:f>'Chart Data'!$B$2:$B$4</ns0:f>
              <ns0:numCache>
                <ns0:formatCode>0.00</ns0:formatCode>
                <ns0:ptCount val="3"/>
                <ns0:pt idx="0">
                  <ns0:v>0.234678247484</ns0:v>
                </ns0:pt>
                <ns0:pt idx="1">
                  <ns0:v>0.266523140412</ns0:v>
                </ns0:pt>
                <ns0:pt idx="2">
                  <ns0:v>0.203251692324</ns0:v>
                </ns0:pt>
              </ns0:numCache>
            </ns0:numRef>
          </ns0:yVal>
          <ns0:smooth val="0"/>
        </ns0:ser>
        <ns0:ser>
          <ns0:idx val="1"/>
          <ns0:order val="1"/>
          <ns0:tx>
            <ns0:strRef>
              <ns0:f>C-W02</ns0:f>
              <ns0:strCache>
                <ns0:ptCount val="1"/>
                <ns0:pt idx="0">
                  <ns0:v>C-W02</ns0:v>
                </ns0:pt>
              </ns0:strCache>
            </ns0:strRef>
          </ns0:tx>
          <ns0:spPr>
            <ns3:ln w="11430" cap="rnd">
              <ns3:solidFill>
                <ns3:srgbClr val="D7DDE1"/>
              </ns3:solidFill>
              <ns3:prstDash val="solid"/>
              <ns3:round/>
            </ns3:ln>
          </ns0:spPr>
          <ns0:marker>
            <ns0:symbol val="none"/>
          </ns0:marker>
          <ns0:dLbls>
            <ns0:delete val="1"/>
          </ns0:dLbls>
          <ns0:xVal>
            <ns0:numRef>
              <ns0:f>'Chart Data'!$C$2:$C$4</ns0:f>
              <ns0:numCache>
                <ns0:formatCode>General</ns0:formatCode>
                <ns0:ptCount val="3"/>
                <ns0:pt idx="0">
                  <ns0:v>0</ns0:v>
                </ns0:pt>
                <ns0:pt idx="1">
                  <ns0:v>1</ns0:v>
                </ns0:pt>
                <ns0:pt idx="2">
                  <ns0:v>2</ns0:v>
                </ns0:pt>
              </ns0:numCache>
            </ns0:numRef>
          </ns0:xVal>
          <ns0:yVal>
            <ns0:numRef>
              <ns0:f>'Chart Data'!$D$2:$D$4</ns0:f>
              <ns0:numCache>
                <ns0:formatCode>0.00</ns0:formatCode>
                <ns0:ptCount val="3"/>
                <ns0:pt idx="0">
                  <ns0:v>0.378336260183</ns0:v>
                </ns0:pt>
                <ns0:pt idx="1">
                  <ns0:v>0.252677692722</ns0:v>
                </ns0:pt>
                <ns0:pt idx="2">
                  <ns0:v>0.379491229799</ns0:v>
                </ns0:pt>
              </ns0:numCache>
            </ns0:numRef>
          </ns0:yVal>
          <ns0:smooth val="0"/>
        </ns0:ser>
        <ns0:ser>
          <ns0:idx val="2"/>
          <ns0:order val="2"/>
          <ns0:tx>
            <ns0:strRef>
              <ns0:f>C-W03</ns0:f>
              <ns0:strCache>
                <ns0:ptCount val="1"/>
                <ns0:pt idx="0">
                  <ns0:v>C-W03</ns0:v>
                </ns0:pt>
              </ns0:strCache>
            </ns0:strRef>
          </ns0:tx>
          <ns0:spPr>
            <ns3:ln w="11430" cap="rnd">
              <ns3:solidFill>
                <ns3:srgbClr val="D7DDE1"/>
              </ns3:solidFill>
              <ns3:prstDash val="solid"/>
              <ns3:round/>
            </ns3:ln>
          </ns0:spPr>
          <ns0:marker>
            <ns0:symbol val="none"/>
          </ns0:marker>
          <ns0:dLbls>
            <ns0:delete val="1"/>
          </ns0:dLbls>
          <ns0:xVal>
            <ns0:numRef>
              <ns0:f>'Chart Data'!$E$2:$E$4</ns0:f>
              <ns0:numCache>
                <ns0:formatCode>General</ns0:formatCode>
                <ns0:ptCount val="3"/>
                <ns0:pt idx="0">
                  <ns0:v>0</ns0:v>
                </ns0:pt>
                <ns0:pt idx="1">
                  <ns0:v>1</ns0:v>
                </ns0:pt>
                <ns0:pt idx="2">
                  <ns0:v>2</ns0:v>
                </ns0:pt>
              </ns0:numCache>
            </ns0:numRef>
          </ns0:xVal>
          <ns0:yVal>
            <ns0:numRef>
              <ns0:f>'Chart Data'!$F$2:$F$4</ns0:f>
              <ns0:numCache>
                <ns0:formatCode>0.00</ns0:formatCode>
                <ns0:ptCount val="3"/>
                <ns0:pt idx="0">
                  <ns0:v>0.457183807008</ns0:v>
                </ns0:pt>
                <ns0:pt idx="1">
                  <ns0:v>0.225371182119</ns0:v>
                </ns0:pt>
                <ns0:pt idx="2">
                  <ns0:v>0.294537848786</ns0:v>
                </ns0:pt>
              </ns0:numCache>
            </ns0:numRef>
          </ns0:yVal>
          <ns0:smooth val="0"/>
        </ns0:ser>
        <ns0:ser>
          <ns0:idx val="3"/>
          <ns0:order val="3"/>
          <ns0:tx>
            <ns0:strRef>
              <ns0:f>C-W04</ns0:f>
              <ns0:strCache>
                <ns0:ptCount val="1"/>
                <ns0:pt idx="0">
                  <ns0:v>C-W04</ns0:v>
                </ns0:pt>
              </ns0:strCache>
            </ns0:strRef>
          </ns0:tx>
          <ns0:spPr>
            <ns3:ln w="11430" cap="rnd">
              <ns3:solidFill>
                <ns3:srgbClr val="D7DDE1"/>
              </ns3:solidFill>
              <ns3:prstDash val="solid"/>
              <ns3:round/>
            </ns3:ln>
          </ns0:spPr>
          <ns0:marker>
            <ns0:symbol val="none"/>
          </ns0:marker>
          <ns0:dLbls>
            <ns0:delete val="1"/>
          </ns0:dLbls>
          <ns0:xVal>
            <ns0:numRef>
              <ns0:f>'Chart Data'!$G$2:$G$4</ns0:f>
              <ns0:numCache>
                <ns0:formatCode>General</ns0:formatCode>
                <ns0:ptCount val="3"/>
                <ns0:pt idx="0">
                  <ns0:v>0</ns0:v>
                </ns0:pt>
                <ns0:pt idx="1">
                  <ns0:v>1</ns0:v>
                </ns0:pt>
                <ns0:pt idx="2">
                  <ns0:v>2</ns0:v>
                </ns0:pt>
              </ns0:numCache>
            </ns0:numRef>
          </ns0:xVal>
          <ns0:yVal>
            <ns0:numRef>
              <ns0:f>'Chart Data'!$H$2:$H$4</ns0:f>
              <ns0:numCache>
                <ns0:formatCode>0.00</ns0:formatCode>
                <ns0:ptCount val="3"/>
                <ns0:pt idx="0">
                  <ns0:v>0.233789678955</ns0:v>
                </ns0:pt>
                <ns0:pt idx="1">
                  <ns0:v>0.307956345622</ns0:v>
                </ns0:pt>
                <ns0:pt idx="2">
                  <ns0:v>0.277828283398</ns0:v>
                </ns0:pt>
              </ns0:numCache>
            </ns0:numRef>
          </ns0:yVal>
          <ns0:smooth val="0"/>
        </ns0:ser>
        <ns0:ser>
          <ns0:idx val="4"/>
          <ns0:order val="4"/>
          <ns0:tx>
            <ns0:strRef>
              <ns0:f>C-W05</ns0:f>
              <ns0:strCache>
                <ns0:ptCount val="1"/>
                <ns0:pt idx="0">
                  <ns0:v>C-W05</ns0:v>
                </ns0:pt>
              </ns0:strCache>
            </ns0:strRef>
          </ns0:tx>
          <ns0:spPr>
            <ns3:ln w="11430" cap="rnd">
              <ns3:solidFill>
                <ns3:srgbClr val="D7DDE1"/>
              </ns3:solidFill>
              <ns3:prstDash val="solid"/>
              <ns3:round/>
            </ns3:ln>
          </ns0:spPr>
          <ns0:marker>
            <ns0:symbol val="none"/>
          </ns0:marker>
          <ns0:dLbls>
            <ns0:delete val="1"/>
          </ns0:dLbls>
          <ns0:xVal>
            <ns0:numRef>
              <ns0:f>'Chart Data'!$I$2:$I$4</ns0:f>
              <ns0:numCache>
                <ns0:formatCode>General</ns0:formatCode>
                <ns0:ptCount val="3"/>
                <ns0:pt idx="0">
                  <ns0:v>0</ns0:v>
                </ns0:pt>
                <ns0:pt idx="1">
                  <ns0:v>1</ns0:v>
                </ns0:pt>
                <ns0:pt idx="2">
                  <ns0:v>2</ns0:v>
                </ns0:pt>
              </ns0:numCache>
            </ns0:numRef>
          </ns0:xVal>
          <ns0:yVal>
            <ns0:numRef>
              <ns0:f>'Chart Data'!$J$2:$J$4</ns0:f>
              <ns0:numCache>
                <ns0:formatCode>0.00</ns0:formatCode>
                <ns0:ptCount val="3"/>
                <ns0:pt idx="0">
                  <ns0:v>0.335540167868</ns0:v>
                </ns0:pt>
                <ns0:pt idx="1">
                  <ns0:v>0.495540167868</ns0:v>
                </ns0:pt>
                <ns0:pt idx="2">
                  <ns0:v>0.307206834534</ns0:v>
                </ns0:pt>
              </ns0:numCache>
            </ns0:numRef>
          </ns0:yVal>
          <ns0:smooth val="0"/>
        </ns0:ser>
        <ns0:ser>
          <ns0:idx val="5"/>
          <ns0:order val="5"/>
          <ns0:tx>
            <ns0:strRef>
              <ns0:f>Opaque</ns0:f>
              <ns0:strCache>
                <ns0:ptCount val="1"/>
                <ns0:pt idx="0">
                  <ns0:v>Opaque</ns0:v>
                </ns0:pt>
              </ns0:strCache>
            </ns0:strRef>
          </ns0:tx>
          <ns0:spPr>
            <ns3:ln w="0" cap="rnd">
              <ns3:noFill/>
              <ns3:prstDash val="solid"/>
              <ns3:round/>
            </ns3:ln>
          </ns0:spPr>
          <ns0:marker>
            <ns0:symbol val="circle"/>
            <ns0:size val="8"/>
            <ns0:spPr>
              <ns3:solidFill>
                <ns3:srgbClr val="637482"/>
              </ns3:solidFill>
              <ns3:ln w="0">
                <ns3:noFill/>
                <ns3:prstDash val="solid"/>
                <ns3:round/>
              </ns3:ln>
            </ns0:spPr>
          </ns0:marker>
          <ns0:dLbls>
            <ns0:delete val="1"/>
          </ns0:dLbls>
          <ns0:xVal>
            <ns0:numRef>
              <ns0:f>'Chart Data'!$K$2:$K$6</ns0:f>
              <ns0:numCache>
                <ns0:formatCode>General</ns0:formatCode>
                <ns0:ptCount val="5"/>
                <ns0:pt idx="0">
                  <ns0:v>0</ns0:v>
                </ns0:pt>
                <ns0:pt idx="1">
                  <ns0:v>0</ns0:v>
                </ns0:pt>
                <ns0:pt idx="2">
                  <ns0:v>0</ns0:v>
                </ns0:pt>
                <ns0:pt idx="3">
                  <ns0:v>0</ns0:v>
                </ns0:pt>
                <ns0:pt idx="4">
                  <ns0:v>0</ns0:v>
                </ns0:pt>
              </ns0:numCache>
            </ns0:numRef>
          </ns0:xVal>
          <ns0:yVal>
            <ns0:numRef>
              <ns0:f>'Chart Data'!$L$2:$L$6</ns0:f>
              <ns0:numCache>
                <ns0:formatCode>0.00</ns0:formatCode>
                <ns0:ptCount val="5"/>
                <ns0:pt idx="0">
                  <ns0:v>0.234678247484</ns0:v>
                </ns0:pt>
                <ns0:pt idx="1">
                  <ns0:v>0.378336260183</ns0:v>
                </ns0:pt>
                <ns0:pt idx="2">
                  <ns0:v>0.457183807008</ns0:v>
                </ns0:pt>
                <ns0:pt idx="3">
                  <ns0:v>0.233789678955</ns0:v>
                </ns0:pt>
                <ns0:pt idx="4">
                  <ns0:v>0.335540167868</ns0:v>
                </ns0:pt>
              </ns0:numCache>
            </ns0:numRef>
          </ns0:yVal>
          <ns0:smooth val="0"/>
        </ns0:ser>
        <ns0:ser>
          <ns0:idx val="6"/>
          <ns0:order val="6"/>
          <ns0:tx>
            <ns0:strRef>
              <ns0:f>Aligned</ns0:f>
              <ns0:strCache>
                <ns0:ptCount val="1"/>
                <ns0:pt idx="0">
                  <ns0:v>Aligned</ns0:v>
                </ns0:pt>
              </ns0:strCache>
            </ns0:strRef>
          </ns0:tx>
          <ns0:spPr>
            <ns3:ln w="0" cap="rnd">
              <ns3:noFill/>
              <ns3:prstDash val="solid"/>
              <ns3:round/>
            </ns3:ln>
          </ns0:spPr>
          <ns0:marker>
            <ns0:symbol val="circle"/>
            <ns0:size val="8"/>
            <ns0:spPr>
              <ns3:solidFill>
                <ns3:srgbClr val="277F8A"/>
              </ns3:solidFill>
              <ns3:ln w="0">
                <ns3:noFill/>
                <ns3:prstDash val="solid"/>
                <ns3:round/>
              </ns3:ln>
            </ns0:spPr>
          </ns0:marker>
          <ns0:dLbls>
            <ns0:delete val="1"/>
          </ns0:dLbls>
          <ns0:xVal>
            <ns0:numRef>
              <ns0:f>'Chart Data'!$M$2:$M$6</ns0:f>
              <ns0:numCache>
                <ns0:formatCode>General</ns0:formatCode>
                <ns0:ptCount val="5"/>
                <ns0:pt idx="0">
                  <ns0:v>1</ns0:v>
                </ns0:pt>
                <ns0:pt idx="1">
                  <ns0:v>1</ns0:v>
                </ns0:pt>
                <ns0:pt idx="2">
                  <ns0:v>1</ns0:v>
                </ns0:pt>
                <ns0:pt idx="3">
                  <ns0:v>1</ns0:v>
                </ns0:pt>
                <ns0:pt idx="4">
                  <ns0:v>1</ns0:v>
                </ns0:pt>
              </ns0:numCache>
            </ns0:numRef>
          </ns0:xVal>
          <ns0:yVal>
            <ns0:numRef>
              <ns0:f>'Chart Data'!$N$2:$N$6</ns0:f>
              <ns0:numCache>
                <ns0:formatCode>0.00</ns0:formatCode>
                <ns0:ptCount val="5"/>
                <ns0:pt idx="0">
                  <ns0:v>0.266523140412</ns0:v>
                </ns0:pt>
                <ns0:pt idx="1">
                  <ns0:v>0.252677692722</ns0:v>
                </ns0:pt>
                <ns0:pt idx="2">
                  <ns0:v>0.225371182119</ns0:v>
                </ns0:pt>
                <ns0:pt idx="3">
                  <ns0:v>0.307956345622</ns0:v>
                </ns0:pt>
                <ns0:pt idx="4">
                  <ns0:v>0.495540167868</ns0:v>
                </ns0:pt>
              </ns0:numCache>
            </ns0:numRef>
          </ns0:yVal>
          <ns0:smooth val="0"/>
        </ns0:ser>
        <ns0:ser>
          <ns0:idx val="7"/>
          <ns0:order val="7"/>
          <ns0:tx>
            <ns0:strRef>
              <ns0:f>MisIndexed</ns0:f>
              <ns0:strCache>
                <ns0:ptCount val="1"/>
                <ns0:pt idx="0">
                  <ns0:v>MisIndexed</ns0:v>
                </ns0:pt>
              </ns0:strCache>
            </ns0:strRef>
          </ns0:tx>
          <ns0:spPr>
            <ns3:ln w="0" cap="rnd">
              <ns3:noFill/>
              <ns3:prstDash val="solid"/>
              <ns3:round/>
            </ns3:ln>
          </ns0:spPr>
          <ns0:marker>
            <ns0:symbol val="circle"/>
            <ns0:size val="8"/>
            <ns0:spPr>
              <ns3:solidFill>
                <ns3:srgbClr val="BC7850"/>
              </ns3:solidFill>
              <ns3:ln w="0">
                <ns3:noFill/>
                <ns3:prstDash val="solid"/>
                <ns3:round/>
              </ns3:ln>
            </ns0:spPr>
          </ns0:marker>
          <ns0:dLbls>
            <ns0:delete val="1"/>
          </ns0:dLbls>
          <ns0:xVal>
            <ns0:numRef>
              <ns0:f>'Chart Data'!$O$2:$O$6</ns0:f>
              <ns0:numCache>
                <ns0:formatCode>General</ns0:formatCode>
                <ns0:ptCount val="5"/>
                <ns0:pt idx="0">
                  <ns0:v>2</ns0:v>
                </ns0:pt>
                <ns0:pt idx="1">
                  <ns0:v>2</ns0:v>
                </ns0:pt>
                <ns0:pt idx="2">
                  <ns0:v>2</ns0:v>
                </ns0:pt>
                <ns0:pt idx="3">
                  <ns0:v>2</ns0:v>
                </ns0:pt>
                <ns0:pt idx="4">
                  <ns0:v>2</ns0:v>
                </ns0:pt>
              </ns0:numCache>
            </ns0:numRef>
          </ns0:xVal>
          <ns0:yVal>
            <ns0:numRef>
              <ns0:f>'Chart Data'!$P$2:$P$6</ns0:f>
              <ns0:numCache>
                <ns0:formatCode>0.00</ns0:formatCode>
                <ns0:ptCount val="5"/>
                <ns0:pt idx="0">
                  <ns0:v>0.203251692324</ns0:v>
                </ns0:pt>
                <ns0:pt idx="1">
                  <ns0:v>0.379491229799</ns0:v>
                </ns0:pt>
                <ns0:pt idx="2">
                  <ns0:v>0.294537848786</ns0:v>
                </ns0:pt>
                <ns0:pt idx="3">
                  <ns0:v>0.277828283398</ns0:v>
                </ns0:pt>
                <ns0:pt idx="4">
                  <ns0:v>0.307206834534</ns0:v>
                </ns0:pt>
              </ns0:numCache>
            </ns0:numRef>
          </ns0:yVal>
          <ns0:smooth val="0"/>
        </ns0:ser>
        <ns0:dLbls>
          <ns0:showLegendKey val="0"/>
          <ns0:showVal val="0"/>
          <ns0:showCatName val="0"/>
          <ns0:showSerName val="0"/>
          <ns0:showPercent val="0"/>
          <ns0:showBubbleSize val="0"/>
        </ns0:dLbls>
        <ns0:axId val="48650112"/>
        <ns0:axId val="48672768"/>
      </ns0:scatterChart>
      <ns0:valAx>
        <ns0:axId val="48650112"/>
        <ns0:scaling>
          <ns0:orientation val="minMax"/>
          <ns0:max val="2.5"/>
          <ns0:min val="-0.5"/>
        </ns0:scaling>
        <ns0:delete val="0"/>
        <ns0:axPos val="b"/>
        <ns0:numFmt formatCode="0" sourceLinked="1"/>
        <ns0:majorTickMark val="none"/>
        <ns0:minorTickMark val="none"/>
        <ns0:tickLblPos val="none"/>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FFFFFF"/>
                </ns3:solidFill>
                <ns3:latin typeface="Arial" panose="020B0604020202020204"/>
                <ns3:ea typeface="Arial" panose="020B0604020202020204"/>
                <ns3:cs typeface="Arial" panose="020B0604020202020204"/>
              </ns3:defRPr>
            </ns3:pPr>
          </ns3:p>
        </ns0:txPr>
        <ns0:crossAx val="48672768"/>
        <ns0:crosses val="min"/>
        <ns0:crossBetween val="midCat"/>
        <ns0:majorUnit val="1"/>
      </ns0:valAx>
      <ns0:valAx>
        <ns0:axId val="48672768"/>
        <ns0:scaling>
          <ns0:orientation val="minMax"/>
          <ns0:max val="0.545094184654337"/>
          <ns0:min val="0"/>
        </ns0:scaling>
        <ns0:delete val="0"/>
        <ns0:axPos val="l"/>
        <ns0:numFmt formatCode="0.0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50112"/>
        <ns0:crosses val="min"/>
        <ns0:crossBetween val="midCat"/>
      </ns0:valAx>
      <ns0:spPr>
        <ns3:solidFill>
          <ns3:srgbClr val="FFFFFF"/>
        </ns3:solidFill>
        <ns3:ln w="0">
          <ns3:noFill/>
        </ns3:ln>
      </ns0:spPr>
    </ns0:plotArea>
    <ns0:plotVisOnly val="1"/>
    <ns0:dispBlanksAs val="gap"/>
    <ns0:showDLblsOverMax val="0"/>
    <ns0:extLst>
      <ns0:ext uri="{0b15fc19-7d7d-44ad-8c2d-2c3a37ce22c3}">
        <ns4:chartProps chartId="{f7ca3b39-b6f6-4156-860a-74832ea53af4}"/>
      </ns0:ext>
    </ns0:extLst>
  </ns0:chart>
  <ns0:spPr>
    <ns3:solidFill>
      <ns3:srgbClr val="FFFFFF"/>
    </ns3:solidFill>
    <ns3:ln w="0">
      <ns3:noFill/>
    </ns3:ln>
  </ns0:spPr>
  <ns0:txPr>
    <ns3:bodyPr/>
    <ns3:lstStyle/>
    <ns3:p>
      <ns3:pPr>
        <ns3:defRPr lang="zh-CN"/>
      </ns3:pPr>
    </ns3:p>
  </ns0:txPr>
  <ns0:externalData ns5:id="rId1">
    <ns0:autoUpdate val="0"/>
  </ns0:externalData>
</ns0:chartSpace>
</file>

<file path=ppt/charts/chart22.xml><?xml version="1.0" encoding="utf-8"?>
<ns0:chartSpace xmlns:ns0="http://schemas.openxmlformats.org/drawingml/2006/chart" xmlns:ns1="http://schemas.openxmlformats.org/markup-compatibility/2006" xmlns:ns2="http://schemas.microsoft.com/office/drawing/2007/8/2/chart" xmlns:ns3="http://schemas.openxmlformats.org/drawingml/2006/main" xmlns:ns4="https://web.wps.cn/et/2018/main" xmlns:ns5="http://schemas.openxmlformats.org/officeDocument/2006/relationships">
  <ns0:date1904 val="0"/>
  <ns0:lang val="zh-CN"/>
  <ns0:roundedCorners val="0"/>
  <ns1:AlternateContent>
    <ns1:Choice Requires="c14">
      <ns2:style val="102"/>
    </ns1:Choice>
    <ns1:Fallback>
      <ns0:style val="2"/>
    </ns1:Fallback>
  </ns1:AlternateContent>
  <ns0:chart>
    <ns0:autoTitleDeleted val="1"/>
    <ns0:plotArea>
      <ns0:layout/>
      <ns0:scatterChart>
        <ns0:scatterStyle val="lineMarker"/>
        <ns0:varyColors val="0"/>
        <ns0:ser>
          <ns0:idx val="0"/>
          <ns0:order val="0"/>
          <ns0:tx>
            <ns0:strRef>
              <ns0:f>C-W01</ns0:f>
              <ns0:strCache>
                <ns0:ptCount val="1"/>
                <ns0:pt idx="0">
                  <ns0:v>C-W01</ns0:v>
                </ns0:pt>
              </ns0:strCache>
            </ns0:strRef>
          </ns0:tx>
          <ns0:spPr>
            <ns3:ln w="11430" cap="rnd">
              <ns3:solidFill>
                <ns3:srgbClr val="D7DDE1"/>
              </ns3:solidFill>
              <ns3:prstDash val="solid"/>
              <ns3:round/>
            </ns3:ln>
          </ns0:spPr>
          <ns0:marker>
            <ns0:symbol val="none"/>
          </ns0:marker>
          <ns0:dLbls>
            <ns0:delete val="1"/>
          </ns0:dLbls>
          <ns0:xVal>
            <ns0:numRef>
              <ns0:f>'Chart Data'!$A$2:$A$4</ns0:f>
              <ns0:numCache>
                <ns0:formatCode>General</ns0:formatCode>
                <ns0:ptCount val="3"/>
                <ns0:pt idx="0">
                  <ns0:v>0</ns0:v>
                </ns0:pt>
                <ns0:pt idx="1">
                  <ns0:v>1</ns0:v>
                </ns0:pt>
                <ns0:pt idx="2">
                  <ns0:v>2</ns0:v>
                </ns0:pt>
              </ns0:numCache>
            </ns0:numRef>
          </ns0:xVal>
          <ns0:yVal>
            <ns0:numRef>
              <ns0:f>'Chart Data'!$B$2:$B$4</ns0:f>
              <ns0:numCache>
                <ns0:formatCode>0.00</ns0:formatCode>
                <ns0:ptCount val="3"/>
                <ns0:pt idx="0">
                  <ns0:v>0.177606494137</ns0:v>
                </ns0:pt>
                <ns0:pt idx="1">
                  <ns0:v>0.279856473746</ns0:v>
                </ns0:pt>
                <ns0:pt idx="2">
                  <ns0:v>0.271344914151</ns0:v>
                </ns0:pt>
              </ns0:numCache>
            </ns0:numRef>
          </ns0:yVal>
          <ns0:smooth val="0"/>
        </ns0:ser>
        <ns0:ser>
          <ns0:idx val="1"/>
          <ns0:order val="1"/>
          <ns0:tx>
            <ns0:strRef>
              <ns0:f>C-W02</ns0:f>
              <ns0:strCache>
                <ns0:ptCount val="1"/>
                <ns0:pt idx="0">
                  <ns0:v>C-W02</ns0:v>
                </ns0:pt>
              </ns0:strCache>
            </ns0:strRef>
          </ns0:tx>
          <ns0:spPr>
            <ns3:ln w="11430" cap="rnd">
              <ns3:solidFill>
                <ns3:srgbClr val="D7DDE1"/>
              </ns3:solidFill>
              <ns3:prstDash val="solid"/>
              <ns3:round/>
            </ns3:ln>
          </ns0:spPr>
          <ns0:marker>
            <ns0:symbol val="none"/>
          </ns0:marker>
          <ns0:dLbls>
            <ns0:delete val="1"/>
          </ns0:dLbls>
          <ns0:xVal>
            <ns0:numRef>
              <ns0:f>'Chart Data'!$C$2:$C$4</ns0:f>
              <ns0:numCache>
                <ns0:formatCode>General</ns0:formatCode>
                <ns0:ptCount val="3"/>
                <ns0:pt idx="0">
                  <ns0:v>0</ns0:v>
                </ns0:pt>
                <ns0:pt idx="1">
                  <ns0:v>1</ns0:v>
                </ns0:pt>
                <ns0:pt idx="2">
                  <ns0:v>2</ns0:v>
                </ns0:pt>
              </ns0:numCache>
            </ns0:numRef>
          </ns0:xVal>
          <ns0:yVal>
            <ns0:numRef>
              <ns0:f>'Chart Data'!$D$2:$D$4</ns0:f>
              <ns0:numCache>
                <ns0:formatCode>0.00</ns0:formatCode>
                <ns0:ptCount val="3"/>
                <ns0:pt idx="0">
                  <ns0:v>0.135324563133</ns0:v>
                </ns0:pt>
                <ns0:pt idx="1">
                  <ns0:v>0.269559625191</ns0:v>
                </ns0:pt>
                <ns0:pt idx="2">
                  <ns0:v>0.286669593517</ns0:v>
                </ns0:pt>
              </ns0:numCache>
            </ns0:numRef>
          </ns0:yVal>
          <ns0:smooth val="0"/>
        </ns0:ser>
        <ns0:ser>
          <ns0:idx val="2"/>
          <ns0:order val="2"/>
          <ns0:tx>
            <ns0:strRef>
              <ns0:f>C-W03</ns0:f>
              <ns0:strCache>
                <ns0:ptCount val="1"/>
                <ns0:pt idx="0">
                  <ns0:v>C-W03</ns0:v>
                </ns0:pt>
              </ns0:strCache>
            </ns0:strRef>
          </ns0:tx>
          <ns0:spPr>
            <ns3:ln w="11430" cap="rnd">
              <ns3:solidFill>
                <ns3:srgbClr val="D7DDE1"/>
              </ns3:solidFill>
              <ns3:prstDash val="solid"/>
              <ns3:round/>
            </ns3:ln>
          </ns0:spPr>
          <ns0:marker>
            <ns0:symbol val="none"/>
          </ns0:marker>
          <ns0:dLbls>
            <ns0:delete val="1"/>
          </ns0:dLbls>
          <ns0:xVal>
            <ns0:numRef>
              <ns0:f>'Chart Data'!$E$2:$E$4</ns0:f>
              <ns0:numCache>
                <ns0:formatCode>General</ns0:formatCode>
                <ns0:ptCount val="3"/>
                <ns0:pt idx="0">
                  <ns0:v>0</ns0:v>
                </ns0:pt>
                <ns0:pt idx="1">
                  <ns0:v>1</ns0:v>
                </ns0:pt>
                <ns0:pt idx="2">
                  <ns0:v>2</ns0:v>
                </ns0:pt>
              </ns0:numCache>
            </ns0:numRef>
          </ns0:xVal>
          <ns0:yVal>
            <ns0:numRef>
              <ns0:f>'Chart Data'!$F$2:$F$4</ns0:f>
              <ns0:numCache>
                <ns0:formatCode>0.00</ns0:formatCode>
                <ns0:ptCount val="3"/>
                <ns0:pt idx="0">
                  <ns0:v>0.285773637911</ns0:v>
                </ns0:pt>
                <ns0:pt idx="1">
                  <ns0:v>0.28399140566</ns0:v>
                </ns0:pt>
                <ns0:pt idx="2">
                  <ns0:v>0.353880089495</ns0:v>
                </ns0:pt>
              </ns0:numCache>
            </ns0:numRef>
          </ns0:yVal>
          <ns0:smooth val="0"/>
        </ns0:ser>
        <ns0:ser>
          <ns0:idx val="3"/>
          <ns0:order val="3"/>
          <ns0:tx>
            <ns0:strRef>
              <ns0:f>C-W04</ns0:f>
              <ns0:strCache>
                <ns0:ptCount val="1"/>
                <ns0:pt idx="0">
                  <ns0:v>C-W04</ns0:v>
                </ns0:pt>
              </ns0:strCache>
            </ns0:strRef>
          </ns0:tx>
          <ns0:spPr>
            <ns3:ln w="11430" cap="rnd">
              <ns3:solidFill>
                <ns3:srgbClr val="D7DDE1"/>
              </ns3:solidFill>
              <ns3:prstDash val="solid"/>
              <ns3:round/>
            </ns3:ln>
          </ns0:spPr>
          <ns0:marker>
            <ns0:symbol val="none"/>
          </ns0:marker>
          <ns0:dLbls>
            <ns0:delete val="1"/>
          </ns0:dLbls>
          <ns0:xVal>
            <ns0:numRef>
              <ns0:f>'Chart Data'!$G$2:$G$4</ns0:f>
              <ns0:numCache>
                <ns0:formatCode>General</ns0:formatCode>
                <ns0:ptCount val="3"/>
                <ns0:pt idx="0">
                  <ns0:v>0</ns0:v>
                </ns0:pt>
                <ns0:pt idx="1">
                  <ns0:v>1</ns0:v>
                </ns0:pt>
                <ns0:pt idx="2">
                  <ns0:v>2</ns0:v>
                </ns0:pt>
              </ns0:numCache>
            </ns0:numRef>
          </ns0:xVal>
          <ns0:yVal>
            <ns0:numRef>
              <ns0:f>'Chart Data'!$H$2:$H$4</ns0:f>
              <ns0:numCache>
                <ns0:formatCode>0.00</ns0:formatCode>
                <ns0:ptCount val="3"/>
                <ns0:pt idx="0">
                  <ns0:v>0.331974651653</ns0:v>
                </ns0:pt>
                <ns0:pt idx="1">
                  <ns0:v>0.239502291008</ns0:v>
                </ns0:pt>
                <ns0:pt idx="2">
                  <ns0:v>0.347956345622</ns0:v>
                </ns0:pt>
              </ns0:numCache>
            </ns0:numRef>
          </ns0:yVal>
          <ns0:smooth val="0"/>
        </ns0:ser>
        <ns0:ser>
          <ns0:idx val="4"/>
          <ns0:order val="4"/>
          <ns0:tx>
            <ns0:strRef>
              <ns0:f>C-W05</ns0:f>
              <ns0:strCache>
                <ns0:ptCount val="1"/>
                <ns0:pt idx="0">
                  <ns0:v>C-W05</ns0:v>
                </ns0:pt>
              </ns0:strCache>
            </ns0:strRef>
          </ns0:tx>
          <ns0:spPr>
            <ns3:ln w="11430" cap="rnd">
              <ns3:solidFill>
                <ns3:srgbClr val="D7DDE1"/>
              </ns3:solidFill>
              <ns3:prstDash val="solid"/>
              <ns3:round/>
            </ns3:ln>
          </ns0:spPr>
          <ns0:marker>
            <ns0:symbol val="none"/>
          </ns0:marker>
          <ns0:dLbls>
            <ns0:delete val="1"/>
          </ns0:dLbls>
          <ns0:xVal>
            <ns0:numRef>
              <ns0:f>'Chart Data'!$I$2:$I$4</ns0:f>
              <ns0:numCache>
                <ns0:formatCode>General</ns0:formatCode>
                <ns0:ptCount val="3"/>
                <ns0:pt idx="0">
                  <ns0:v>0</ns0:v>
                </ns0:pt>
                <ns0:pt idx="1">
                  <ns0:v>1</ns0:v>
                </ns0:pt>
                <ns0:pt idx="2">
                  <ns0:v>2</ns0:v>
                </ns0:pt>
              </ns0:numCache>
            </ns0:numRef>
          </ns0:xVal>
          <ns0:yVal>
            <ns0:numRef>
              <ns0:f>'Chart Data'!$J$2:$J$4</ns0:f>
              <ns0:numCache>
                <ns0:formatCode>0.00</ns0:formatCode>
                <ns0:ptCount val="3"/>
                <ns0:pt idx="0">
                  <ns0:v>0.209706834534</ns0:v>
                </ns0:pt>
                <ns0:pt idx="1">
                  <ns0:v>0.313930922262</ns0:v>
                </ns0:pt>
                <ns0:pt idx="2">
                  <ns0:v>0.262935839495</ns0:v>
                </ns0:pt>
              </ns0:numCache>
            </ns0:numRef>
          </ns0:yVal>
          <ns0:smooth val="0"/>
        </ns0:ser>
        <ns0:ser>
          <ns0:idx val="5"/>
          <ns0:order val="5"/>
          <ns0:tx>
            <ns0:strRef>
              <ns0:f>Opaque</ns0:f>
              <ns0:strCache>
                <ns0:ptCount val="1"/>
                <ns0:pt idx="0">
                  <ns0:v>Opaque</ns0:v>
                </ns0:pt>
              </ns0:strCache>
            </ns0:strRef>
          </ns0:tx>
          <ns0:spPr>
            <ns3:ln w="0" cap="rnd">
              <ns3:noFill/>
              <ns3:prstDash val="solid"/>
              <ns3:round/>
            </ns3:ln>
          </ns0:spPr>
          <ns0:marker>
            <ns0:symbol val="circle"/>
            <ns0:size val="8"/>
            <ns0:spPr>
              <ns3:solidFill>
                <ns3:srgbClr val="637482"/>
              </ns3:solidFill>
              <ns3:ln w="0">
                <ns3:noFill/>
                <ns3:prstDash val="solid"/>
                <ns3:round/>
              </ns3:ln>
            </ns0:spPr>
          </ns0:marker>
          <ns0:dLbls>
            <ns0:delete val="1"/>
          </ns0:dLbls>
          <ns0:xVal>
            <ns0:numRef>
              <ns0:f>'Chart Data'!$K$2:$K$6</ns0:f>
              <ns0:numCache>
                <ns0:formatCode>General</ns0:formatCode>
                <ns0:ptCount val="5"/>
                <ns0:pt idx="0">
                  <ns0:v>0</ns0:v>
                </ns0:pt>
                <ns0:pt idx="1">
                  <ns0:v>0</ns0:v>
                </ns0:pt>
                <ns0:pt idx="2">
                  <ns0:v>0</ns0:v>
                </ns0:pt>
                <ns0:pt idx="3">
                  <ns0:v>0</ns0:v>
                </ns0:pt>
                <ns0:pt idx="4">
                  <ns0:v>0</ns0:v>
                </ns0:pt>
              </ns0:numCache>
            </ns0:numRef>
          </ns0:xVal>
          <ns0:yVal>
            <ns0:numRef>
              <ns0:f>'Chart Data'!$L$2:$L$6</ns0:f>
              <ns0:numCache>
                <ns0:formatCode>0.00</ns0:formatCode>
                <ns0:ptCount val="5"/>
                <ns0:pt idx="0">
                  <ns0:v>0.177606494137</ns0:v>
                </ns0:pt>
                <ns0:pt idx="1">
                  <ns0:v>0.135324563133</ns0:v>
                </ns0:pt>
                <ns0:pt idx="2">
                  <ns0:v>0.285773637911</ns0:v>
                </ns0:pt>
                <ns0:pt idx="3">
                  <ns0:v>0.331974651653</ns0:v>
                </ns0:pt>
                <ns0:pt idx="4">
                  <ns0:v>0.209706834534</ns0:v>
                </ns0:pt>
              </ns0:numCache>
            </ns0:numRef>
          </ns0:yVal>
          <ns0:smooth val="0"/>
        </ns0:ser>
        <ns0:ser>
          <ns0:idx val="6"/>
          <ns0:order val="6"/>
          <ns0:tx>
            <ns0:strRef>
              <ns0:f>Aligned</ns0:f>
              <ns0:strCache>
                <ns0:ptCount val="1"/>
                <ns0:pt idx="0">
                  <ns0:v>Aligned</ns0:v>
                </ns0:pt>
              </ns0:strCache>
            </ns0:strRef>
          </ns0:tx>
          <ns0:spPr>
            <ns3:ln w="0" cap="rnd">
              <ns3:noFill/>
              <ns3:prstDash val="solid"/>
              <ns3:round/>
            </ns3:ln>
          </ns0:spPr>
          <ns0:marker>
            <ns0:symbol val="circle"/>
            <ns0:size val="8"/>
            <ns0:spPr>
              <ns3:solidFill>
                <ns3:srgbClr val="277F8A"/>
              </ns3:solidFill>
              <ns3:ln w="0">
                <ns3:noFill/>
                <ns3:prstDash val="solid"/>
                <ns3:round/>
              </ns3:ln>
            </ns0:spPr>
          </ns0:marker>
          <ns0:dLbls>
            <ns0:delete val="1"/>
          </ns0:dLbls>
          <ns0:xVal>
            <ns0:numRef>
              <ns0:f>'Chart Data'!$M$2:$M$6</ns0:f>
              <ns0:numCache>
                <ns0:formatCode>General</ns0:formatCode>
                <ns0:ptCount val="5"/>
                <ns0:pt idx="0">
                  <ns0:v>1</ns0:v>
                </ns0:pt>
                <ns0:pt idx="1">
                  <ns0:v>1</ns0:v>
                </ns0:pt>
                <ns0:pt idx="2">
                  <ns0:v>1</ns0:v>
                </ns0:pt>
                <ns0:pt idx="3">
                  <ns0:v>1</ns0:v>
                </ns0:pt>
                <ns0:pt idx="4">
                  <ns0:v>1</ns0:v>
                </ns0:pt>
              </ns0:numCache>
            </ns0:numRef>
          </ns0:xVal>
          <ns0:yVal>
            <ns0:numRef>
              <ns0:f>'Chart Data'!$N$2:$N$6</ns0:f>
              <ns0:numCache>
                <ns0:formatCode>0.00</ns0:formatCode>
                <ns0:ptCount val="5"/>
                <ns0:pt idx="0">
                  <ns0:v>0.279856473746</ns0:v>
                </ns0:pt>
                <ns0:pt idx="1">
                  <ns0:v>0.269559625191</ns0:v>
                </ns0:pt>
                <ns0:pt idx="2">
                  <ns0:v>0.28399140566</ns0:v>
                </ns0:pt>
                <ns0:pt idx="3">
                  <ns0:v>0.239502291008</ns0:v>
                </ns0:pt>
                <ns0:pt idx="4">
                  <ns0:v>0.313930922262</ns0:v>
                </ns0:pt>
              </ns0:numCache>
            </ns0:numRef>
          </ns0:yVal>
          <ns0:smooth val="0"/>
        </ns0:ser>
        <ns0:ser>
          <ns0:idx val="7"/>
          <ns0:order val="7"/>
          <ns0:tx>
            <ns0:strRef>
              <ns0:f>MisIndexed</ns0:f>
              <ns0:strCache>
                <ns0:ptCount val="1"/>
                <ns0:pt idx="0">
                  <ns0:v>MisIndexed</ns0:v>
                </ns0:pt>
              </ns0:strCache>
            </ns0:strRef>
          </ns0:tx>
          <ns0:spPr>
            <ns3:ln w="0" cap="rnd">
              <ns3:noFill/>
              <ns3:prstDash val="solid"/>
              <ns3:round/>
            </ns3:ln>
          </ns0:spPr>
          <ns0:marker>
            <ns0:symbol val="circle"/>
            <ns0:size val="8"/>
            <ns0:spPr>
              <ns3:solidFill>
                <ns3:srgbClr val="BC7850"/>
              </ns3:solidFill>
              <ns3:ln w="0">
                <ns3:noFill/>
                <ns3:prstDash val="solid"/>
                <ns3:round/>
              </ns3:ln>
            </ns0:spPr>
          </ns0:marker>
          <ns0:dLbls>
            <ns0:delete val="1"/>
          </ns0:dLbls>
          <ns0:xVal>
            <ns0:numRef>
              <ns0:f>'Chart Data'!$O$2:$O$6</ns0:f>
              <ns0:numCache>
                <ns0:formatCode>General</ns0:formatCode>
                <ns0:ptCount val="5"/>
                <ns0:pt idx="0">
                  <ns0:v>2</ns0:v>
                </ns0:pt>
                <ns0:pt idx="1">
                  <ns0:v>2</ns0:v>
                </ns0:pt>
                <ns0:pt idx="2">
                  <ns0:v>2</ns0:v>
                </ns0:pt>
                <ns0:pt idx="3">
                  <ns0:v>2</ns0:v>
                </ns0:pt>
                <ns0:pt idx="4">
                  <ns0:v>2</ns0:v>
                </ns0:pt>
              </ns0:numCache>
            </ns0:numRef>
          </ns0:xVal>
          <ns0:yVal>
            <ns0:numRef>
              <ns0:f>'Chart Data'!$P$2:$P$6</ns0:f>
              <ns0:numCache>
                <ns0:formatCode>0.00</ns0:formatCode>
                <ns0:ptCount val="5"/>
                <ns0:pt idx="0">
                  <ns0:v>0.271344914151</ns0:v>
                </ns0:pt>
                <ns0:pt idx="1">
                  <ns0:v>0.286669593517</ns0:v>
                </ns0:pt>
                <ns0:pt idx="2">
                  <ns0:v>0.353880089495</ns0:v>
                </ns0:pt>
                <ns0:pt idx="3">
                  <ns0:v>0.347956345622</ns0:v>
                </ns0:pt>
                <ns0:pt idx="4">
                  <ns0:v>0.262935839495</ns0:v>
                </ns0:pt>
              </ns0:numCache>
            </ns0:numRef>
          </ns0:yVal>
          <ns0:smooth val="0"/>
        </ns0:ser>
        <ns0:dLbls>
          <ns0:showLegendKey val="0"/>
          <ns0:showVal val="0"/>
          <ns0:showCatName val="0"/>
          <ns0:showSerName val="0"/>
          <ns0:showPercent val="0"/>
          <ns0:showBubbleSize val="0"/>
        </ns0:dLbls>
        <ns0:axId val="48650112"/>
        <ns0:axId val="48672768"/>
      </ns0:scatterChart>
      <ns0:valAx>
        <ns0:axId val="48650112"/>
        <ns0:scaling>
          <ns0:orientation val="minMax"/>
          <ns0:max val="2.5"/>
          <ns0:min val="-0.5"/>
        </ns0:scaling>
        <ns0:delete val="0"/>
        <ns0:axPos val="b"/>
        <ns0:numFmt formatCode="0" sourceLinked="1"/>
        <ns0:majorTickMark val="none"/>
        <ns0:minorTickMark val="none"/>
        <ns0:tickLblPos val="none"/>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FFFFFF"/>
                </ns3:solidFill>
                <ns3:latin typeface="Arial" panose="020B0604020202020204"/>
                <ns3:ea typeface="Arial" panose="020B0604020202020204"/>
                <ns3:cs typeface="Arial" panose="020B0604020202020204"/>
              </ns3:defRPr>
            </ns3:pPr>
          </ns3:p>
        </ns0:txPr>
        <ns0:crossAx val="48672768"/>
        <ns0:crosses val="min"/>
        <ns0:crossBetween val="midCat"/>
        <ns0:majorUnit val="1"/>
      </ns0:valAx>
      <ns0:valAx>
        <ns0:axId val="48672768"/>
        <ns0:scaling>
          <ns0:orientation val="minMax"/>
          <ns0:max val="0.389268098444785"/>
          <ns0:min val="0"/>
        </ns0:scaling>
        <ns0:delete val="0"/>
        <ns0:axPos val="l"/>
        <ns0:numFmt formatCode="0.0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50112"/>
        <ns0:crosses val="min"/>
        <ns0:crossBetween val="midCat"/>
      </ns0:valAx>
      <ns0:spPr>
        <ns3:solidFill>
          <ns3:srgbClr val="FFFFFF"/>
        </ns3:solidFill>
        <ns3:ln w="0">
          <ns3:noFill/>
        </ns3:ln>
      </ns0:spPr>
    </ns0:plotArea>
    <ns0:plotVisOnly val="1"/>
    <ns0:dispBlanksAs val="gap"/>
    <ns0:showDLblsOverMax val="0"/>
    <ns0:extLst>
      <ns0:ext uri="{0b15fc19-7d7d-44ad-8c2d-2c3a37ce22c3}">
        <ns4:chartProps chartId="{59139e04-02c0-4519-b93c-fba02f6db570}"/>
      </ns0:ext>
    </ns0:extLst>
  </ns0:chart>
  <ns0:spPr>
    <ns3:solidFill>
      <ns3:srgbClr val="FFFFFF"/>
    </ns3:solidFill>
    <ns3:ln w="0">
      <ns3:noFill/>
    </ns3:ln>
  </ns0:spPr>
  <ns0:txPr>
    <ns3:bodyPr/>
    <ns3:lstStyle/>
    <ns3:p>
      <ns3:pPr>
        <ns3:defRPr lang="zh-CN"/>
      </ns3:pPr>
    </ns3:p>
  </ns0:txPr>
  <ns0:externalData ns5:id="rId1">
    <ns0:autoUpdate val="0"/>
  </ns0:externalData>
</ns0:chartSpace>
</file>

<file path=ppt/charts/chart23.xml><?xml version="1.0" encoding="utf-8"?>
<ns0:chartSpace xmlns:ns0="http://schemas.openxmlformats.org/drawingml/2006/chart" xmlns:ns1="http://schemas.openxmlformats.org/markup-compatibility/2006" xmlns:ns2="http://schemas.microsoft.com/office/drawing/2007/8/2/chart" xmlns:ns3="http://schemas.openxmlformats.org/drawingml/2006/main" xmlns:ns4="https://web.wps.cn/et/2018/main" xmlns:ns5="http://schemas.openxmlformats.org/officeDocument/2006/relationships">
  <ns0:date1904 val="0"/>
  <ns0:lang val="zh-CN"/>
  <ns0:roundedCorners val="0"/>
  <ns1:AlternateContent>
    <ns1:Choice Requires="c14">
      <ns2:style val="102"/>
    </ns1:Choice>
    <ns1:Fallback>
      <ns0:style val="2"/>
    </ns1:Fallback>
  </ns1:AlternateContent>
  <ns0:chart>
    <ns0:autoTitleDeleted val="1"/>
    <ns0:plotArea>
      <ns0:layout/>
      <ns0:scatterChart>
        <ns0:scatterStyle val="lineMarker"/>
        <ns0:varyColors val="0"/>
        <ns0:ser>
          <ns0:idx val="0"/>
          <ns0:order val="0"/>
          <ns0:tx>
            <ns0:strRef>
              <ns0:f>P-W01</ns0:f>
              <ns0:strCache>
                <ns0:ptCount val="1"/>
                <ns0:pt idx="0">
                  <ns0:v>P-W01</ns0:v>
                </ns0:pt>
              </ns0:strCache>
            </ns0:strRef>
          </ns0:tx>
          <ns0:spPr>
            <ns3:ln w="11430" cap="rnd">
              <ns3:solidFill>
                <ns3:srgbClr val="D7DDE1"/>
              </ns3:solidFill>
              <ns3:prstDash val="solid"/>
              <ns3:round/>
            </ns3:ln>
          </ns0:spPr>
          <ns0:marker>
            <ns0:symbol val="none"/>
          </ns0:marker>
          <ns0:dLbls>
            <ns0:delete val="1"/>
          </ns0:dLbls>
          <ns0:xVal>
            <ns0:numRef>
              <ns0:f>'Chart Data'!$A$2:$A$4</ns0:f>
              <ns0:numCache>
                <ns0:formatCode>General</ns0:formatCode>
                <ns0:ptCount val="3"/>
                <ns0:pt idx="0">
                  <ns0:v>0</ns0:v>
                </ns0:pt>
                <ns0:pt idx="1">
                  <ns0:v>1</ns0:v>
                </ns0:pt>
                <ns0:pt idx="2">
                  <ns0:v>2</ns0:v>
                </ns0:pt>
              </ns0:numCache>
            </ns0:numRef>
          </ns0:xVal>
          <ns0:yVal>
            <ns0:numRef>
              <ns0:f>'Chart Data'!$B$2:$B$4</ns0:f>
              <ns0:numCache>
                <ns0:formatCode>0.00</ns0:formatCode>
                <ns0:ptCount val="3"/>
                <ns0:pt idx="0">
                  <ns0:v>0.18955425938</ns0:v>
                </ns0:pt>
                <ns0:pt idx="1">
                  <ns0:v>0.191978216966</ns0:v>
                </ns0:pt>
                <ns0:pt idx="2">
                  <ns0:v>0.130387592713</ns0:v>
                </ns0:pt>
              </ns0:numCache>
            </ns0:numRef>
          </ns0:yVal>
          <ns0:smooth val="0"/>
        </ns0:ser>
        <ns0:ser>
          <ns0:idx val="1"/>
          <ns0:order val="1"/>
          <ns0:tx>
            <ns0:strRef>
              <ns0:f>P-W02</ns0:f>
              <ns0:strCache>
                <ns0:ptCount val="1"/>
                <ns0:pt idx="0">
                  <ns0:v>P-W02</ns0:v>
                </ns0:pt>
              </ns0:strCache>
            </ns0:strRef>
          </ns0:tx>
          <ns0:spPr>
            <ns3:ln w="11430" cap="rnd">
              <ns3:solidFill>
                <ns3:srgbClr val="D7DDE1"/>
              </ns3:solidFill>
              <ns3:prstDash val="solid"/>
              <ns3:round/>
            </ns3:ln>
          </ns0:spPr>
          <ns0:marker>
            <ns0:symbol val="none"/>
          </ns0:marker>
          <ns0:dLbls>
            <ns0:delete val="1"/>
          </ns0:dLbls>
          <ns0:xVal>
            <ns0:numRef>
              <ns0:f>'Chart Data'!$C$2:$C$4</ns0:f>
              <ns0:numCache>
                <ns0:formatCode>General</ns0:formatCode>
                <ns0:ptCount val="3"/>
                <ns0:pt idx="0">
                  <ns0:v>0</ns0:v>
                </ns0:pt>
                <ns0:pt idx="1">
                  <ns0:v>1</ns0:v>
                </ns0:pt>
                <ns0:pt idx="2">
                  <ns0:v>2</ns0:v>
                </ns0:pt>
              </ns0:numCache>
            </ns0:numRef>
          </ns0:xVal>
          <ns0:yVal>
            <ns0:numRef>
              <ns0:f>'Chart Data'!$D$2:$D$4</ns0:f>
              <ns0:numCache>
                <ns0:formatCode>0.00</ns0:formatCode>
                <ns0:ptCount val="3"/>
                <ns0:pt idx="0">
                  <ns0:v>0.159057553212</ns0:v>
                </ns0:pt>
                <ns0:pt idx="1">
                  <ns0:v>0.144957601229</ns0:v>
                </ns0:pt>
                <ns0:pt idx="2">
                  <ns0:v>0.262464023431</ns0:v>
                </ns0:pt>
              </ns0:numCache>
            </ns0:numRef>
          </ns0:yVal>
          <ns0:smooth val="0"/>
        </ns0:ser>
        <ns0:ser>
          <ns0:idx val="2"/>
          <ns0:order val="2"/>
          <ns0:tx>
            <ns0:strRef>
              <ns0:f>P-W03</ns0:f>
              <ns0:strCache>
                <ns0:ptCount val="1"/>
                <ns0:pt idx="0">
                  <ns0:v>P-W03</ns0:v>
                </ns0:pt>
              </ns0:strCache>
            </ns0:strRef>
          </ns0:tx>
          <ns0:spPr>
            <ns3:ln w="11430" cap="rnd">
              <ns3:solidFill>
                <ns3:srgbClr val="D7DDE1"/>
              </ns3:solidFill>
              <ns3:prstDash val="solid"/>
              <ns3:round/>
            </ns3:ln>
          </ns0:spPr>
          <ns0:marker>
            <ns0:symbol val="none"/>
          </ns0:marker>
          <ns0:dLbls>
            <ns0:delete val="1"/>
          </ns0:dLbls>
          <ns0:xVal>
            <ns0:numRef>
              <ns0:f>'Chart Data'!$E$2:$E$4</ns0:f>
              <ns0:numCache>
                <ns0:formatCode>General</ns0:formatCode>
                <ns0:ptCount val="3"/>
                <ns0:pt idx="0">
                  <ns0:v>0</ns0:v>
                </ns0:pt>
                <ns0:pt idx="1">
                  <ns0:v>1</ns0:v>
                </ns0:pt>
                <ns0:pt idx="2">
                  <ns0:v>2</ns0:v>
                </ns0:pt>
              </ns0:numCache>
            </ns0:numRef>
          </ns0:xVal>
          <ns0:yVal>
            <ns0:numRef>
              <ns0:f>'Chart Data'!$F$2:$F$4</ns0:f>
              <ns0:numCache>
                <ns0:formatCode>0.00</ns0:formatCode>
                <ns0:ptCount val="3"/>
                <ns0:pt idx="0">
                  <ns0:v>0.146327644934</ns0:v>
                </ns0:pt>
                <ns0:pt idx="1">
                  <ns0:v>0.1590579847</ns0:v>
                </ns0:pt>
                <ns0:pt idx="2">
                  <ns0:v>0.327669356118</ns0:v>
                </ns0:pt>
              </ns0:numCache>
            </ns0:numRef>
          </ns0:yVal>
          <ns0:smooth val="0"/>
        </ns0:ser>
        <ns0:ser>
          <ns0:idx val="3"/>
          <ns0:order val="3"/>
          <ns0:tx>
            <ns0:strRef>
              <ns0:f>P-W04</ns0:f>
              <ns0:strCache>
                <ns0:ptCount val="1"/>
                <ns0:pt idx="0">
                  <ns0:v>P-W04</ns0:v>
                </ns0:pt>
              </ns0:strCache>
            </ns0:strRef>
          </ns0:tx>
          <ns0:spPr>
            <ns3:ln w="11430" cap="rnd">
              <ns3:solidFill>
                <ns3:srgbClr val="D7DDE1"/>
              </ns3:solidFill>
              <ns3:prstDash val="solid"/>
              <ns3:round/>
            </ns3:ln>
          </ns0:spPr>
          <ns0:marker>
            <ns0:symbol val="none"/>
          </ns0:marker>
          <ns0:dLbls>
            <ns0:delete val="1"/>
          </ns0:dLbls>
          <ns0:xVal>
            <ns0:numRef>
              <ns0:f>'Chart Data'!$G$2:$G$4</ns0:f>
              <ns0:numCache>
                <ns0:formatCode>General</ns0:formatCode>
                <ns0:ptCount val="3"/>
                <ns0:pt idx="0">
                  <ns0:v>0</ns0:v>
                </ns0:pt>
                <ns0:pt idx="1">
                  <ns0:v>1</ns0:v>
                </ns0:pt>
                <ns0:pt idx="2">
                  <ns0:v>2</ns0:v>
                </ns0:pt>
              </ns0:numCache>
            </ns0:numRef>
          </ns0:xVal>
          <ns0:yVal>
            <ns0:numRef>
              <ns0:f>'Chart Data'!$H$2:$H$4</ns0:f>
              <ns0:numCache>
                <ns0:formatCode>0.00</ns0:formatCode>
                <ns0:ptCount val="3"/>
                <ns0:pt idx="0">
                  <ns0:v>0.335796808948</ns0:v>
                </ns0:pt>
                <ns0:pt idx="1">
                  <ns0:v>0.252326473743</ns0:v>
                </ns0:pt>
                <ns0:pt idx="2">
                  <ns0:v>0.401577029973</ns0:v>
                </ns0:pt>
              </ns0:numCache>
            </ns0:numRef>
          </ns0:yVal>
          <ns0:smooth val="0"/>
        </ns0:ser>
        <ns0:ser>
          <ns0:idx val="4"/>
          <ns0:order val="4"/>
          <ns0:tx>
            <ns0:strRef>
              <ns0:f>P-W05</ns0:f>
              <ns0:strCache>
                <ns0:ptCount val="1"/>
                <ns0:pt idx="0">
                  <ns0:v>P-W05</ns0:v>
                </ns0:pt>
              </ns0:strCache>
            </ns0:strRef>
          </ns0:tx>
          <ns0:spPr>
            <ns3:ln w="11430" cap="rnd">
              <ns3:solidFill>
                <ns3:srgbClr val="D7DDE1"/>
              </ns3:solidFill>
              <ns3:prstDash val="solid"/>
              <ns3:round/>
            </ns3:ln>
          </ns0:spPr>
          <ns0:marker>
            <ns0:symbol val="none"/>
          </ns0:marker>
          <ns0:dLbls>
            <ns0:delete val="1"/>
          </ns0:dLbls>
          <ns0:xVal>
            <ns0:numRef>
              <ns0:f>'Chart Data'!$I$2:$I$4</ns0:f>
              <ns0:numCache>
                <ns0:formatCode>General</ns0:formatCode>
                <ns0:ptCount val="3"/>
                <ns0:pt idx="0">
                  <ns0:v>0</ns0:v>
                </ns0:pt>
                <ns0:pt idx="1">
                  <ns0:v>1</ns0:v>
                </ns0:pt>
                <ns0:pt idx="2">
                  <ns0:v>2</ns0:v>
                </ns0:pt>
              </ns0:numCache>
            </ns0:numRef>
          </ns0:xVal>
          <ns0:yVal>
            <ns0:numRef>
              <ns0:f>'Chart Data'!$J$2:$J$4</ns0:f>
              <ns0:numCache>
                <ns0:formatCode>0.00</ns0:formatCode>
                <ns0:ptCount val="3"/>
                <ns0:pt idx="0">
                  <ns0:v>0.289062083463</ns0:v>
                </ns0:pt>
                <ns0:pt idx="1">
                  <ns0:v>0.193164773881</ns0:v>
                </ns0:pt>
                <ns0:pt idx="2">
                  <ns0:v>0.13180121392</ns0:v>
                </ns0:pt>
              </ns0:numCache>
            </ns0:numRef>
          </ns0:yVal>
          <ns0:smooth val="0"/>
        </ns0:ser>
        <ns0:ser>
          <ns0:idx val="5"/>
          <ns0:order val="5"/>
          <ns0:tx>
            <ns0:strRef>
              <ns0:f>Opaque</ns0:f>
              <ns0:strCache>
                <ns0:ptCount val="1"/>
                <ns0:pt idx="0">
                  <ns0:v>Opaque</ns0:v>
                </ns0:pt>
              </ns0:strCache>
            </ns0:strRef>
          </ns0:tx>
          <ns0:spPr>
            <ns3:ln w="0" cap="rnd">
              <ns3:noFill/>
              <ns3:prstDash val="solid"/>
              <ns3:round/>
            </ns3:ln>
          </ns0:spPr>
          <ns0:marker>
            <ns0:symbol val="circle"/>
            <ns0:size val="8"/>
            <ns0:spPr>
              <ns3:solidFill>
                <ns3:srgbClr val="637482"/>
              </ns3:solidFill>
              <ns3:ln w="0">
                <ns3:noFill/>
                <ns3:prstDash val="solid"/>
                <ns3:round/>
              </ns3:ln>
            </ns0:spPr>
          </ns0:marker>
          <ns0:dLbls>
            <ns0:delete val="1"/>
          </ns0:dLbls>
          <ns0:xVal>
            <ns0:numRef>
              <ns0:f>'Chart Data'!$K$2:$K$6</ns0:f>
              <ns0:numCache>
                <ns0:formatCode>General</ns0:formatCode>
                <ns0:ptCount val="5"/>
                <ns0:pt idx="0">
                  <ns0:v>0</ns0:v>
                </ns0:pt>
                <ns0:pt idx="1">
                  <ns0:v>0</ns0:v>
                </ns0:pt>
                <ns0:pt idx="2">
                  <ns0:v>0</ns0:v>
                </ns0:pt>
                <ns0:pt idx="3">
                  <ns0:v>0</ns0:v>
                </ns0:pt>
                <ns0:pt idx="4">
                  <ns0:v>0</ns0:v>
                </ns0:pt>
              </ns0:numCache>
            </ns0:numRef>
          </ns0:xVal>
          <ns0:yVal>
            <ns0:numRef>
              <ns0:f>'Chart Data'!$L$2:$L$6</ns0:f>
              <ns0:numCache>
                <ns0:formatCode>0.00</ns0:formatCode>
                <ns0:ptCount val="5"/>
                <ns0:pt idx="0">
                  <ns0:v>0.18955425938</ns0:v>
                </ns0:pt>
                <ns0:pt idx="1">
                  <ns0:v>0.159057553212</ns0:v>
                </ns0:pt>
                <ns0:pt idx="2">
                  <ns0:v>0.146327644934</ns0:v>
                </ns0:pt>
                <ns0:pt idx="3">
                  <ns0:v>0.335796808948</ns0:v>
                </ns0:pt>
                <ns0:pt idx="4">
                  <ns0:v>0.289062083463</ns0:v>
                </ns0:pt>
              </ns0:numCache>
            </ns0:numRef>
          </ns0:yVal>
          <ns0:smooth val="0"/>
        </ns0:ser>
        <ns0:ser>
          <ns0:idx val="6"/>
          <ns0:order val="6"/>
          <ns0:tx>
            <ns0:strRef>
              <ns0:f>Aligned</ns0:f>
              <ns0:strCache>
                <ns0:ptCount val="1"/>
                <ns0:pt idx="0">
                  <ns0:v>Aligned</ns0:v>
                </ns0:pt>
              </ns0:strCache>
            </ns0:strRef>
          </ns0:tx>
          <ns0:spPr>
            <ns3:ln w="0" cap="rnd">
              <ns3:noFill/>
              <ns3:prstDash val="solid"/>
              <ns3:round/>
            </ns3:ln>
          </ns0:spPr>
          <ns0:marker>
            <ns0:symbol val="circle"/>
            <ns0:size val="8"/>
            <ns0:spPr>
              <ns3:solidFill>
                <ns3:srgbClr val="277F8A"/>
              </ns3:solidFill>
              <ns3:ln w="0">
                <ns3:noFill/>
                <ns3:prstDash val="solid"/>
                <ns3:round/>
              </ns3:ln>
            </ns0:spPr>
          </ns0:marker>
          <ns0:dLbls>
            <ns0:delete val="1"/>
          </ns0:dLbls>
          <ns0:xVal>
            <ns0:numRef>
              <ns0:f>'Chart Data'!$M$2:$M$6</ns0:f>
              <ns0:numCache>
                <ns0:formatCode>General</ns0:formatCode>
                <ns0:ptCount val="5"/>
                <ns0:pt idx="0">
                  <ns0:v>1</ns0:v>
                </ns0:pt>
                <ns0:pt idx="1">
                  <ns0:v>1</ns0:v>
                </ns0:pt>
                <ns0:pt idx="2">
                  <ns0:v>1</ns0:v>
                </ns0:pt>
                <ns0:pt idx="3">
                  <ns0:v>1</ns0:v>
                </ns0:pt>
                <ns0:pt idx="4">
                  <ns0:v>1</ns0:v>
                </ns0:pt>
              </ns0:numCache>
            </ns0:numRef>
          </ns0:xVal>
          <ns0:yVal>
            <ns0:numRef>
              <ns0:f>'Chart Data'!$N$2:$N$6</ns0:f>
              <ns0:numCache>
                <ns0:formatCode>0.00</ns0:formatCode>
                <ns0:ptCount val="5"/>
                <ns0:pt idx="0">
                  <ns0:v>0.191978216966</ns0:v>
                </ns0:pt>
                <ns0:pt idx="1">
                  <ns0:v>0.144957601229</ns0:v>
                </ns0:pt>
                <ns0:pt idx="2">
                  <ns0:v>0.1590579847</ns0:v>
                </ns0:pt>
                <ns0:pt idx="3">
                  <ns0:v>0.252326473743</ns0:v>
                </ns0:pt>
                <ns0:pt idx="4">
                  <ns0:v>0.193164773881</ns0:v>
                </ns0:pt>
              </ns0:numCache>
            </ns0:numRef>
          </ns0:yVal>
          <ns0:smooth val="0"/>
        </ns0:ser>
        <ns0:ser>
          <ns0:idx val="7"/>
          <ns0:order val="7"/>
          <ns0:tx>
            <ns0:strRef>
              <ns0:f>MisIndexed</ns0:f>
              <ns0:strCache>
                <ns0:ptCount val="1"/>
                <ns0:pt idx="0">
                  <ns0:v>MisIndexed</ns0:v>
                </ns0:pt>
              </ns0:strCache>
            </ns0:strRef>
          </ns0:tx>
          <ns0:spPr>
            <ns3:ln w="0" cap="rnd">
              <ns3:noFill/>
              <ns3:prstDash val="solid"/>
              <ns3:round/>
            </ns3:ln>
          </ns0:spPr>
          <ns0:marker>
            <ns0:symbol val="circle"/>
            <ns0:size val="8"/>
            <ns0:spPr>
              <ns3:solidFill>
                <ns3:srgbClr val="BC7850"/>
              </ns3:solidFill>
              <ns3:ln w="0">
                <ns3:noFill/>
                <ns3:prstDash val="solid"/>
                <ns3:round/>
              </ns3:ln>
            </ns0:spPr>
          </ns0:marker>
          <ns0:dLbls>
            <ns0:delete val="1"/>
          </ns0:dLbls>
          <ns0:xVal>
            <ns0:numRef>
              <ns0:f>'Chart Data'!$O$2:$O$6</ns0:f>
              <ns0:numCache>
                <ns0:formatCode>General</ns0:formatCode>
                <ns0:ptCount val="5"/>
                <ns0:pt idx="0">
                  <ns0:v>2</ns0:v>
                </ns0:pt>
                <ns0:pt idx="1">
                  <ns0:v>2</ns0:v>
                </ns0:pt>
                <ns0:pt idx="2">
                  <ns0:v>2</ns0:v>
                </ns0:pt>
                <ns0:pt idx="3">
                  <ns0:v>2</ns0:v>
                </ns0:pt>
                <ns0:pt idx="4">
                  <ns0:v>2</ns0:v>
                </ns0:pt>
              </ns0:numCache>
            </ns0:numRef>
          </ns0:xVal>
          <ns0:yVal>
            <ns0:numRef>
              <ns0:f>'Chart Data'!$P$2:$P$6</ns0:f>
              <ns0:numCache>
                <ns0:formatCode>0.00</ns0:formatCode>
                <ns0:ptCount val="5"/>
                <ns0:pt idx="0">
                  <ns0:v>0.130387592713</ns0:v>
                </ns0:pt>
                <ns0:pt idx="1">
                  <ns0:v>0.262464023431</ns0:v>
                </ns0:pt>
                <ns0:pt idx="2">
                  <ns0:v>0.327669356118</ns0:v>
                </ns0:pt>
                <ns0:pt idx="3">
                  <ns0:v>0.401577029973</ns0:v>
                </ns0:pt>
                <ns0:pt idx="4">
                  <ns0:v>0.13180121392</ns0:v>
                </ns0:pt>
              </ns0:numCache>
            </ns0:numRef>
          </ns0:yVal>
          <ns0:smooth val="0"/>
        </ns0:ser>
        <ns0:dLbls>
          <ns0:showLegendKey val="0"/>
          <ns0:showVal val="0"/>
          <ns0:showCatName val="0"/>
          <ns0:showSerName val="0"/>
          <ns0:showPercent val="0"/>
          <ns0:showBubbleSize val="0"/>
        </ns0:dLbls>
        <ns0:axId val="48650112"/>
        <ns0:axId val="48672768"/>
      </ns0:scatterChart>
      <ns0:valAx>
        <ns0:axId val="48650112"/>
        <ns0:scaling>
          <ns0:orientation val="minMax"/>
          <ns0:max val="2.5"/>
          <ns0:min val="-0.5"/>
        </ns0:scaling>
        <ns0:delete val="0"/>
        <ns0:axPos val="b"/>
        <ns0:numFmt formatCode="0" sourceLinked="1"/>
        <ns0:majorTickMark val="none"/>
        <ns0:minorTickMark val="none"/>
        <ns0:tickLblPos val="none"/>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FFFFFF"/>
                </ns3:solidFill>
                <ns3:latin typeface="Arial" panose="020B0604020202020204"/>
                <ns3:ea typeface="Arial" panose="020B0604020202020204"/>
                <ns3:cs typeface="Arial" panose="020B0604020202020204"/>
              </ns3:defRPr>
            </ns3:pPr>
          </ns3:p>
        </ns0:txPr>
        <ns0:crossAx val="48672768"/>
        <ns0:crosses val="min"/>
        <ns0:crossBetween val="midCat"/>
        <ns0:majorUnit val="1"/>
      </ns0:valAx>
      <ns0:valAx>
        <ns0:axId val="48672768"/>
        <ns0:scaling>
          <ns0:orientation val="minMax"/>
          <ns0:max val="0.441734732970595"/>
          <ns0:min val="0"/>
        </ns0:scaling>
        <ns0:delete val="0"/>
        <ns0:axPos val="l"/>
        <ns0:numFmt formatCode="0.0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50112"/>
        <ns0:crosses val="min"/>
        <ns0:crossBetween val="midCat"/>
      </ns0:valAx>
      <ns0:spPr>
        <ns3:solidFill>
          <ns3:srgbClr val="FFFFFF"/>
        </ns3:solidFill>
        <ns3:ln w="0">
          <ns3:noFill/>
        </ns3:ln>
      </ns0:spPr>
    </ns0:plotArea>
    <ns0:plotVisOnly val="1"/>
    <ns0:dispBlanksAs val="gap"/>
    <ns0:showDLblsOverMax val="0"/>
    <ns0:extLst>
      <ns0:ext uri="{0b15fc19-7d7d-44ad-8c2d-2c3a37ce22c3}">
        <ns4:chartProps chartId="{f2fd71a3-bead-47eb-bb57-251d4e3f5e66}"/>
      </ns0:ext>
    </ns0:extLst>
  </ns0:chart>
  <ns0:spPr>
    <ns3:solidFill>
      <ns3:srgbClr val="FFFFFF"/>
    </ns3:solidFill>
    <ns3:ln w="0">
      <ns3:noFill/>
    </ns3:ln>
  </ns0:spPr>
  <ns0:txPr>
    <ns3:bodyPr/>
    <ns3:lstStyle/>
    <ns3:p>
      <ns3:pPr>
        <ns3:defRPr lang="zh-CN"/>
      </ns3:pPr>
    </ns3:p>
  </ns0:txPr>
  <ns0:externalData ns5:id="rId1">
    <ns0:autoUpdate val="0"/>
  </ns0:externalData>
</ns0:chartSpace>
</file>

<file path=ppt/charts/chart24.xml><?xml version="1.0" encoding="utf-8"?>
<ns0:chartSpace xmlns:ns0="http://schemas.openxmlformats.org/drawingml/2006/chart" xmlns:ns1="http://schemas.openxmlformats.org/markup-compatibility/2006" xmlns:ns2="http://schemas.microsoft.com/office/drawing/2007/8/2/chart" xmlns:ns3="http://schemas.openxmlformats.org/drawingml/2006/main" xmlns:ns4="https://web.wps.cn/et/2018/main" xmlns:ns5="http://schemas.openxmlformats.org/officeDocument/2006/relationships">
  <ns0:date1904 val="0"/>
  <ns0:lang val="zh-CN"/>
  <ns0:roundedCorners val="0"/>
  <ns1:AlternateContent>
    <ns1:Choice Requires="c14">
      <ns2:style val="102"/>
    </ns1:Choice>
    <ns1:Fallback>
      <ns0:style val="2"/>
    </ns1:Fallback>
  </ns1:AlternateContent>
  <ns0:chart>
    <ns0:autoTitleDeleted val="1"/>
    <ns0:plotArea>
      <ns0:layout/>
      <ns0:scatterChart>
        <ns0:scatterStyle val="lineMarker"/>
        <ns0:varyColors val="0"/>
        <ns0:ser>
          <ns0:idx val="0"/>
          <ns0:order val="0"/>
          <ns0:tx>
            <ns0:strRef>
              <ns0:f>P-W01</ns0:f>
              <ns0:strCache>
                <ns0:ptCount val="1"/>
                <ns0:pt idx="0">
                  <ns0:v>P-W01</ns0:v>
                </ns0:pt>
              </ns0:strCache>
            </ns0:strRef>
          </ns0:tx>
          <ns0:spPr>
            <ns3:ln w="11430" cap="rnd">
              <ns3:solidFill>
                <ns3:srgbClr val="D7DDE1"/>
              </ns3:solidFill>
              <ns3:prstDash val="solid"/>
              <ns3:round/>
            </ns3:ln>
          </ns0:spPr>
          <ns0:marker>
            <ns0:symbol val="none"/>
          </ns0:marker>
          <ns0:dLbls>
            <ns0:delete val="1"/>
          </ns0:dLbls>
          <ns0:xVal>
            <ns0:numRef>
              <ns0:f>'Chart Data'!$A$2:$A$4</ns0:f>
              <ns0:numCache>
                <ns0:formatCode>General</ns0:formatCode>
                <ns0:ptCount val="3"/>
                <ns0:pt idx="0">
                  <ns0:v>0</ns0:v>
                </ns0:pt>
                <ns0:pt idx="1">
                  <ns0:v>1</ns0:v>
                </ns0:pt>
                <ns0:pt idx="2">
                  <ns0:v>2</ns0:v>
                </ns0:pt>
              </ns0:numCache>
            </ns0:numRef>
          </ns0:xVal>
          <ns0:yVal>
            <ns0:numRef>
              <ns0:f>'Chart Data'!$B$2:$B$4</ns0:f>
              <ns0:numCache>
                <ns0:formatCode>0.00</ns0:formatCode>
                <ns0:ptCount val="3"/>
                <ns0:pt idx="0">
                  <ns0:v>0.0449141730224</ns0:v>
                </ns0:pt>
                <ns0:pt idx="1">
                  <ns0:v>0.0489822853779</ns0:v>
                </ns0:pt>
                <ns0:pt idx="2">
                  <ns0:v>0.026211617507</ns0:v>
                </ns0:pt>
              </ns0:numCache>
            </ns0:numRef>
          </ns0:yVal>
          <ns0:smooth val="0"/>
        </ns0:ser>
        <ns0:ser>
          <ns0:idx val="1"/>
          <ns0:order val="1"/>
          <ns0:tx>
            <ns0:strRef>
              <ns0:f>P-W02</ns0:f>
              <ns0:strCache>
                <ns0:ptCount val="1"/>
                <ns0:pt idx="0">
                  <ns0:v>P-W02</ns0:v>
                </ns0:pt>
              </ns0:strCache>
            </ns0:strRef>
          </ns0:tx>
          <ns0:spPr>
            <ns3:ln w="11430" cap="rnd">
              <ns3:solidFill>
                <ns3:srgbClr val="D7DDE1"/>
              </ns3:solidFill>
              <ns3:prstDash val="solid"/>
              <ns3:round/>
            </ns3:ln>
          </ns0:spPr>
          <ns0:marker>
            <ns0:symbol val="none"/>
          </ns0:marker>
          <ns0:dLbls>
            <ns0:delete val="1"/>
          </ns0:dLbls>
          <ns0:xVal>
            <ns0:numRef>
              <ns0:f>'Chart Data'!$C$2:$C$4</ns0:f>
              <ns0:numCache>
                <ns0:formatCode>General</ns0:formatCode>
                <ns0:ptCount val="3"/>
                <ns0:pt idx="0">
                  <ns0:v>0</ns0:v>
                </ns0:pt>
                <ns0:pt idx="1">
                  <ns0:v>1</ns0:v>
                </ns0:pt>
                <ns0:pt idx="2">
                  <ns0:v>2</ns0:v>
                </ns0:pt>
              </ns0:numCache>
            </ns0:numRef>
          </ns0:xVal>
          <ns0:yVal>
            <ns0:numRef>
              <ns0:f>'Chart Data'!$D$2:$D$4</ns0:f>
              <ns0:numCache>
                <ns0:formatCode>0.00</ns0:formatCode>
                <ns0:ptCount val="3"/>
                <ns0:pt idx="0">
                  <ns0:v>0.0934806252594</ns0:v>
                </ns0:pt>
                <ns0:pt idx="1">
                  <ns0:v>0.0648139585927</ns0:v>
                </ns0:pt>
                <ns0:pt idx="2">
                  <ns0:v>0.127933754576</ns0:v>
                </ns0:pt>
              </ns0:numCache>
            </ns0:numRef>
          </ns0:yVal>
          <ns0:smooth val="0"/>
        </ns0:ser>
        <ns0:ser>
          <ns0:idx val="2"/>
          <ns0:order val="2"/>
          <ns0:tx>
            <ns0:strRef>
              <ns0:f>P-W03</ns0:f>
              <ns0:strCache>
                <ns0:ptCount val="1"/>
                <ns0:pt idx="0">
                  <ns0:v>P-W03</ns0:v>
                </ns0:pt>
              </ns0:strCache>
            </ns0:strRef>
          </ns0:tx>
          <ns0:spPr>
            <ns3:ln w="11430" cap="rnd">
              <ns3:solidFill>
                <ns3:srgbClr val="D7DDE1"/>
              </ns3:solidFill>
              <ns3:prstDash val="solid"/>
              <ns3:round/>
            </ns3:ln>
          </ns0:spPr>
          <ns0:marker>
            <ns0:symbol val="none"/>
          </ns0:marker>
          <ns0:dLbls>
            <ns0:delete val="1"/>
          </ns0:dLbls>
          <ns0:xVal>
            <ns0:numRef>
              <ns0:f>'Chart Data'!$E$2:$E$4</ns0:f>
              <ns0:numCache>
                <ns0:formatCode>General</ns0:formatCode>
                <ns0:ptCount val="3"/>
                <ns0:pt idx="0">
                  <ns0:v>0</ns0:v>
                </ns0:pt>
                <ns0:pt idx="1">
                  <ns0:v>1</ns0:v>
                </ns0:pt>
                <ns0:pt idx="2">
                  <ns0:v>2</ns0:v>
                </ns0:pt>
              </ns0:numCache>
            </ns0:numRef>
          </ns0:xVal>
          <ns0:yVal>
            <ns0:numRef>
              <ns0:f>'Chart Data'!$F$2:$F$4</ns0:f>
              <ns0:numCache>
                <ns0:formatCode>0.00</ns0:formatCode>
                <ns0:ptCount val="3"/>
                <ns0:pt idx="0">
                  <ns0:v>0.0532198398548</ns0:v>
                </ns0:pt>
                <ns0:pt idx="1">
                  <ns0:v>0.0960458592686</ns0:v>
                </ns0:pt>
                <ns0:pt idx="2">
                  <ns0:v>0.0780875259352</ns0:v>
                </ns0:pt>
              </ns0:numCache>
            </ns0:numRef>
          </ns0:yVal>
          <ns0:smooth val="0"/>
        </ns0:ser>
        <ns0:ser>
          <ns0:idx val="3"/>
          <ns0:order val="3"/>
          <ns0:tx>
            <ns0:strRef>
              <ns0:f>P-W04</ns0:f>
              <ns0:strCache>
                <ns0:ptCount val="1"/>
                <ns0:pt idx="0">
                  <ns0:v>P-W04</ns0:v>
                </ns0:pt>
              </ns0:strCache>
            </ns0:strRef>
          </ns0:tx>
          <ns0:spPr>
            <ns3:ln w="11430" cap="rnd">
              <ns3:solidFill>
                <ns3:srgbClr val="D7DDE1"/>
              </ns3:solidFill>
              <ns3:prstDash val="solid"/>
              <ns3:round/>
            </ns3:ln>
          </ns0:spPr>
          <ns0:marker>
            <ns0:symbol val="none"/>
          </ns0:marker>
          <ns0:dLbls>
            <ns0:delete val="1"/>
          </ns0:dLbls>
          <ns0:xVal>
            <ns0:numRef>
              <ns0:f>'Chart Data'!$G$2:$G$4</ns0:f>
              <ns0:numCache>
                <ns0:formatCode>General</ns0:formatCode>
                <ns0:ptCount val="3"/>
                <ns0:pt idx="0">
                  <ns0:v>0</ns0:v>
                </ns0:pt>
                <ns0:pt idx="1">
                  <ns0:v>1</ns0:v>
                </ns0:pt>
                <ns0:pt idx="2">
                  <ns0:v>2</ns0:v>
                </ns0:pt>
              </ns0:numCache>
            </ns0:numRef>
          </ns0:xVal>
          <ns0:yVal>
            <ns0:numRef>
              <ns0:f>'Chart Data'!$H$2:$H$4</ns0:f>
              <ns0:numCache>
                <ns0:formatCode>0.00</ns0:formatCode>
                <ns0:ptCount val="3"/>
                <ns0:pt idx="0">
                  <ns0:v>0.0434557707744</ns0:v>
                </ns0:pt>
                <ns0:pt idx="1">
                  <ns0:v>0.0449557707744</ns0:v>
                </ns0:pt>
                <ns0:pt idx="2">
                  <ns0:v>0.0700514134419</ns0:v>
                </ns0:pt>
              </ns0:numCache>
            </ns0:numRef>
          </ns0:yVal>
          <ns0:smooth val="0"/>
        </ns0:ser>
        <ns0:ser>
          <ns0:idx val="4"/>
          <ns0:order val="4"/>
          <ns0:tx>
            <ns0:strRef>
              <ns0:f>P-W05</ns0:f>
              <ns0:strCache>
                <ns0:ptCount val="1"/>
                <ns0:pt idx="0">
                  <ns0:v>P-W05</ns0:v>
                </ns0:pt>
              </ns0:strCache>
            </ns0:strRef>
          </ns0:tx>
          <ns0:spPr>
            <ns3:ln w="11430" cap="rnd">
              <ns3:solidFill>
                <ns3:srgbClr val="D7DDE1"/>
              </ns3:solidFill>
              <ns3:prstDash val="solid"/>
              <ns3:round/>
            </ns3:ln>
          </ns0:spPr>
          <ns0:marker>
            <ns0:symbol val="none"/>
          </ns0:marker>
          <ns0:dLbls>
            <ns0:delete val="1"/>
          </ns0:dLbls>
          <ns0:xVal>
            <ns0:numRef>
              <ns0:f>'Chart Data'!$I$2:$I$4</ns0:f>
              <ns0:numCache>
                <ns0:formatCode>General</ns0:formatCode>
                <ns0:ptCount val="3"/>
                <ns0:pt idx="0">
                  <ns0:v>0</ns0:v>
                </ns0:pt>
                <ns0:pt idx="1">
                  <ns0:v>1</ns0:v>
                </ns0:pt>
                <ns0:pt idx="2">
                  <ns0:v>2</ns0:v>
                </ns0:pt>
              </ns0:numCache>
            </ns0:numRef>
          </ns0:xVal>
          <ns0:yVal>
            <ns0:numRef>
              <ns0:f>'Chart Data'!$J$2:$J$4</ns0:f>
              <ns0:numCache>
                <ns0:formatCode>0.00</ns0:formatCode>
                <ns0:ptCount val="3"/>
                <ns0:pt idx="0">
                  <ns0:v>0.098802128613</ns0:v>
                </ns0:pt>
                <ns0:pt idx="1">
                  <ns0:v>0.0884687952797</ns0:v>
                </ns0:pt>
                <ns0:pt idx="2">
                  <ns0:v>0.0612600160241</ns0:v>
                </ns0:pt>
              </ns0:numCache>
            </ns0:numRef>
          </ns0:yVal>
          <ns0:smooth val="0"/>
        </ns0:ser>
        <ns0:ser>
          <ns0:idx val="5"/>
          <ns0:order val="5"/>
          <ns0:tx>
            <ns0:strRef>
              <ns0:f>Opaque</ns0:f>
              <ns0:strCache>
                <ns0:ptCount val="1"/>
                <ns0:pt idx="0">
                  <ns0:v>Opaque</ns0:v>
                </ns0:pt>
              </ns0:strCache>
            </ns0:strRef>
          </ns0:tx>
          <ns0:spPr>
            <ns3:ln w="0" cap="rnd">
              <ns3:noFill/>
              <ns3:prstDash val="solid"/>
              <ns3:round/>
            </ns3:ln>
          </ns0:spPr>
          <ns0:marker>
            <ns0:symbol val="circle"/>
            <ns0:size val="8"/>
            <ns0:spPr>
              <ns3:solidFill>
                <ns3:srgbClr val="637482"/>
              </ns3:solidFill>
              <ns3:ln w="0">
                <ns3:noFill/>
                <ns3:prstDash val="solid"/>
                <ns3:round/>
              </ns3:ln>
            </ns0:spPr>
          </ns0:marker>
          <ns0:dLbls>
            <ns0:delete val="1"/>
          </ns0:dLbls>
          <ns0:xVal>
            <ns0:numRef>
              <ns0:f>'Chart Data'!$K$2:$K$6</ns0:f>
              <ns0:numCache>
                <ns0:formatCode>General</ns0:formatCode>
                <ns0:ptCount val="5"/>
                <ns0:pt idx="0">
                  <ns0:v>0</ns0:v>
                </ns0:pt>
                <ns0:pt idx="1">
                  <ns0:v>0</ns0:v>
                </ns0:pt>
                <ns0:pt idx="2">
                  <ns0:v>0</ns0:v>
                </ns0:pt>
                <ns0:pt idx="3">
                  <ns0:v>0</ns0:v>
                </ns0:pt>
                <ns0:pt idx="4">
                  <ns0:v>0</ns0:v>
                </ns0:pt>
              </ns0:numCache>
            </ns0:numRef>
          </ns0:xVal>
          <ns0:yVal>
            <ns0:numRef>
              <ns0:f>'Chart Data'!$L$2:$L$6</ns0:f>
              <ns0:numCache>
                <ns0:formatCode>0.00</ns0:formatCode>
                <ns0:ptCount val="5"/>
                <ns0:pt idx="0">
                  <ns0:v>0.0449141730224</ns0:v>
                </ns0:pt>
                <ns0:pt idx="1">
                  <ns0:v>0.0934806252594</ns0:v>
                </ns0:pt>
                <ns0:pt idx="2">
                  <ns0:v>0.0532198398548</ns0:v>
                </ns0:pt>
                <ns0:pt idx="3">
                  <ns0:v>0.0434557707744</ns0:v>
                </ns0:pt>
                <ns0:pt idx="4">
                  <ns0:v>0.098802128613</ns0:v>
                </ns0:pt>
              </ns0:numCache>
            </ns0:numRef>
          </ns0:yVal>
          <ns0:smooth val="0"/>
        </ns0:ser>
        <ns0:ser>
          <ns0:idx val="6"/>
          <ns0:order val="6"/>
          <ns0:tx>
            <ns0:strRef>
              <ns0:f>Aligned</ns0:f>
              <ns0:strCache>
                <ns0:ptCount val="1"/>
                <ns0:pt idx="0">
                  <ns0:v>Aligned</ns0:v>
                </ns0:pt>
              </ns0:strCache>
            </ns0:strRef>
          </ns0:tx>
          <ns0:spPr>
            <ns3:ln w="0" cap="rnd">
              <ns3:noFill/>
              <ns3:prstDash val="solid"/>
              <ns3:round/>
            </ns3:ln>
          </ns0:spPr>
          <ns0:marker>
            <ns0:symbol val="circle"/>
            <ns0:size val="8"/>
            <ns0:spPr>
              <ns3:solidFill>
                <ns3:srgbClr val="277F8A"/>
              </ns3:solidFill>
              <ns3:ln w="0">
                <ns3:noFill/>
                <ns3:prstDash val="solid"/>
                <ns3:round/>
              </ns3:ln>
            </ns0:spPr>
          </ns0:marker>
          <ns0:dLbls>
            <ns0:delete val="1"/>
          </ns0:dLbls>
          <ns0:xVal>
            <ns0:numRef>
              <ns0:f>'Chart Data'!$M$2:$M$6</ns0:f>
              <ns0:numCache>
                <ns0:formatCode>General</ns0:formatCode>
                <ns0:ptCount val="5"/>
                <ns0:pt idx="0">
                  <ns0:v>1</ns0:v>
                </ns0:pt>
                <ns0:pt idx="1">
                  <ns0:v>1</ns0:v>
                </ns0:pt>
                <ns0:pt idx="2">
                  <ns0:v>1</ns0:v>
                </ns0:pt>
                <ns0:pt idx="3">
                  <ns0:v>1</ns0:v>
                </ns0:pt>
                <ns0:pt idx="4">
                  <ns0:v>1</ns0:v>
                </ns0:pt>
              </ns0:numCache>
            </ns0:numRef>
          </ns0:xVal>
          <ns0:yVal>
            <ns0:numRef>
              <ns0:f>'Chart Data'!$N$2:$N$6</ns0:f>
              <ns0:numCache>
                <ns0:formatCode>0.00</ns0:formatCode>
                <ns0:ptCount val="5"/>
                <ns0:pt idx="0">
                  <ns0:v>0.0489822853779</ns0:v>
                </ns0:pt>
                <ns0:pt idx="1">
                  <ns0:v>0.0648139585927</ns0:v>
                </ns0:pt>
                <ns0:pt idx="2">
                  <ns0:v>0.0960458592686</ns0:v>
                </ns0:pt>
                <ns0:pt idx="3">
                  <ns0:v>0.0449557707744</ns0:v>
                </ns0:pt>
                <ns0:pt idx="4">
                  <ns0:v>0.0884687952797</ns0:v>
                </ns0:pt>
              </ns0:numCache>
            </ns0:numRef>
          </ns0:yVal>
          <ns0:smooth val="0"/>
        </ns0:ser>
        <ns0:ser>
          <ns0:idx val="7"/>
          <ns0:order val="7"/>
          <ns0:tx>
            <ns0:strRef>
              <ns0:f>MisIndexed</ns0:f>
              <ns0:strCache>
                <ns0:ptCount val="1"/>
                <ns0:pt idx="0">
                  <ns0:v>MisIndexed</ns0:v>
                </ns0:pt>
              </ns0:strCache>
            </ns0:strRef>
          </ns0:tx>
          <ns0:spPr>
            <ns3:ln w="0" cap="rnd">
              <ns3:noFill/>
              <ns3:prstDash val="solid"/>
              <ns3:round/>
            </ns3:ln>
          </ns0:spPr>
          <ns0:marker>
            <ns0:symbol val="circle"/>
            <ns0:size val="8"/>
            <ns0:spPr>
              <ns3:solidFill>
                <ns3:srgbClr val="BC7850"/>
              </ns3:solidFill>
              <ns3:ln w="0">
                <ns3:noFill/>
                <ns3:prstDash val="solid"/>
                <ns3:round/>
              </ns3:ln>
            </ns0:spPr>
          </ns0:marker>
          <ns0:dLbls>
            <ns0:delete val="1"/>
          </ns0:dLbls>
          <ns0:xVal>
            <ns0:numRef>
              <ns0:f>'Chart Data'!$O$2:$O$6</ns0:f>
              <ns0:numCache>
                <ns0:formatCode>General</ns0:formatCode>
                <ns0:ptCount val="5"/>
                <ns0:pt idx="0">
                  <ns0:v>2</ns0:v>
                </ns0:pt>
                <ns0:pt idx="1">
                  <ns0:v>2</ns0:v>
                </ns0:pt>
                <ns0:pt idx="2">
                  <ns0:v>2</ns0:v>
                </ns0:pt>
                <ns0:pt idx="3">
                  <ns0:v>2</ns0:v>
                </ns0:pt>
                <ns0:pt idx="4">
                  <ns0:v>2</ns0:v>
                </ns0:pt>
              </ns0:numCache>
            </ns0:numRef>
          </ns0:xVal>
          <ns0:yVal>
            <ns0:numRef>
              <ns0:f>'Chart Data'!$P$2:$P$6</ns0:f>
              <ns0:numCache>
                <ns0:formatCode>0.00</ns0:formatCode>
                <ns0:ptCount val="5"/>
                <ns0:pt idx="0">
                  <ns0:v>0.026211617507</ns0:v>
                </ns0:pt>
                <ns0:pt idx="1">
                  <ns0:v>0.127933754576</ns0:v>
                </ns0:pt>
                <ns0:pt idx="2">
                  <ns0:v>0.0780875259352</ns0:v>
                </ns0:pt>
                <ns0:pt idx="3">
                  <ns0:v>0.0700514134419</ns0:v>
                </ns0:pt>
                <ns0:pt idx="4">
                  <ns0:v>0.0612600160241</ns0:v>
                </ns0:pt>
              </ns0:numCache>
            </ns0:numRef>
          </ns0:yVal>
          <ns0:smooth val="0"/>
        </ns0:ser>
        <ns0:dLbls>
          <ns0:showLegendKey val="0"/>
          <ns0:showVal val="0"/>
          <ns0:showCatName val="0"/>
          <ns0:showSerName val="0"/>
          <ns0:showPercent val="0"/>
          <ns0:showBubbleSize val="0"/>
        </ns0:dLbls>
        <ns0:axId val="48650112"/>
        <ns0:axId val="48672768"/>
      </ns0:scatterChart>
      <ns0:valAx>
        <ns0:axId val="48650112"/>
        <ns0:scaling>
          <ns0:orientation val="minMax"/>
          <ns0:max val="2.5"/>
          <ns0:min val="-0.5"/>
        </ns0:scaling>
        <ns0:delete val="0"/>
        <ns0:axPos val="b"/>
        <ns0:numFmt formatCode="0" sourceLinked="1"/>
        <ns0:majorTickMark val="none"/>
        <ns0:minorTickMark val="none"/>
        <ns0:tickLblPos val="none"/>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FFFFFF"/>
                </ns3:solidFill>
                <ns3:latin typeface="Arial" panose="020B0604020202020204"/>
                <ns3:ea typeface="Arial" panose="020B0604020202020204"/>
                <ns3:cs typeface="Arial" panose="020B0604020202020204"/>
              </ns3:defRPr>
            </ns3:pPr>
          </ns3:p>
        </ns0:txPr>
        <ns0:crossAx val="48672768"/>
        <ns0:crosses val="min"/>
        <ns0:crossBetween val="midCat"/>
        <ns0:majorUnit val="1"/>
      </ns0:valAx>
      <ns0:valAx>
        <ns0:axId val="48672768"/>
        <ns0:scaling>
          <ns0:orientation val="minMax"/>
          <ns0:max val="0.140727130033324"/>
          <ns0:min val="0"/>
        </ns0:scaling>
        <ns0:delete val="0"/>
        <ns0:axPos val="l"/>
        <ns0:numFmt formatCode="0.0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50112"/>
        <ns0:crosses val="min"/>
        <ns0:crossBetween val="midCat"/>
      </ns0:valAx>
      <ns0:spPr>
        <ns3:solidFill>
          <ns3:srgbClr val="FFFFFF"/>
        </ns3:solidFill>
        <ns3:ln w="0">
          <ns3:noFill/>
        </ns3:ln>
      </ns0:spPr>
    </ns0:plotArea>
    <ns0:plotVisOnly val="1"/>
    <ns0:dispBlanksAs val="gap"/>
    <ns0:showDLblsOverMax val="0"/>
    <ns0:extLst>
      <ns0:ext uri="{0b15fc19-7d7d-44ad-8c2d-2c3a37ce22c3}">
        <ns4:chartProps chartId="{d87838d9-4777-4163-8984-f76894b16e96}"/>
      </ns0:ext>
    </ns0:extLst>
  </ns0:chart>
  <ns0:spPr>
    <ns3:solidFill>
      <ns3:srgbClr val="FFFFFF"/>
    </ns3:solidFill>
    <ns3:ln w="0">
      <ns3:noFill/>
    </ns3:ln>
  </ns0:spPr>
  <ns0:txPr>
    <ns3:bodyPr/>
    <ns3:lstStyle/>
    <ns3:p>
      <ns3:pPr>
        <ns3:defRPr lang="zh-CN"/>
      </ns3:pPr>
    </ns3:p>
  </ns0:txPr>
  <ns0:externalData ns5:id="rId1">
    <ns0:autoUpdate val="0"/>
  </ns0:externalData>
</ns0:chartSpace>
</file>

<file path=ppt/charts/chart25.xml><?xml version="1.0" encoding="utf-8"?>
<ns0:chartSpace xmlns:ns0="http://schemas.openxmlformats.org/drawingml/2006/chart" xmlns:ns1="http://schemas.openxmlformats.org/markup-compatibility/2006" xmlns:ns2="http://schemas.microsoft.com/office/drawing/2007/8/2/chart" xmlns:ns3="http://schemas.openxmlformats.org/drawingml/2006/main" xmlns:ns4="https://web.wps.cn/et/2018/main" xmlns:ns5="http://schemas.openxmlformats.org/officeDocument/2006/relationships">
  <ns0:date1904 val="0"/>
  <ns0:lang val="zh-CN"/>
  <ns0:roundedCorners val="0"/>
  <ns1:AlternateContent>
    <ns1:Choice Requires="c14">
      <ns2:style val="102"/>
    </ns1:Choice>
    <ns1:Fallback>
      <ns0:style val="2"/>
    </ns1:Fallback>
  </ns1:AlternateContent>
  <ns0:chart>
    <ns0:autoTitleDeleted val="1"/>
    <ns0:plotArea>
      <ns0:layout/>
      <ns0:scatterChart>
        <ns0:scatterStyle val="lineMarker"/>
        <ns0:varyColors val="0"/>
        <ns0:ser>
          <ns0:idx val="0"/>
          <ns0:order val="0"/>
          <ns0:tx>
            <ns0:strRef>
              <ns0:f>RX-W01</ns0:f>
              <ns0:strCache>
                <ns0:ptCount val="1"/>
                <ns0:pt idx="0">
                  <ns0:v>RX-W01</ns0:v>
                </ns0:pt>
              </ns0:strCache>
            </ns0:strRef>
          </ns0:tx>
          <ns0:spPr>
            <ns3:ln w="9525" cap="rnd">
              <ns3:solidFill>
                <ns3:srgbClr val="D7DDE1"/>
              </ns3:solidFill>
              <ns3:prstDash val="solid"/>
              <ns3:round/>
            </ns3:ln>
          </ns0:spPr>
          <ns0:marker>
            <ns0:symbol val="none"/>
          </ns0:marker>
          <ns0:dLbls>
            <ns0:delete val="1"/>
          </ns0:dLbls>
          <ns0:xVal>
            <ns0:numRef>
              <ns0:f>'Chart Data'!$A$2:$A$4</ns0:f>
              <ns0:numCache>
                <ns0:formatCode>General</ns0:formatCode>
                <ns0:ptCount val="3"/>
                <ns0:pt idx="0">
                  <ns0:v>0</ns0:v>
                </ns0:pt>
                <ns0:pt idx="1">
                  <ns0:v>1</ns0:v>
                </ns0:pt>
                <ns0:pt idx="2">
                  <ns0:v>2</ns0:v>
                </ns0:pt>
              </ns0:numCache>
            </ns0:numRef>
          </ns0:xVal>
          <ns0:yVal>
            <ns0:numRef>
              <ns0:f>'Chart Data'!$B$2:$B$4</ns0:f>
              <ns0:numCache>
                <ns0:formatCode>0.00</ns0:formatCode>
                <ns0:ptCount val="3"/>
                <ns0:pt idx="0">
                  <ns0:v>0.0936152752108</ns0:v>
                </ns0:pt>
                <ns0:pt idx="1">
                  <ns0:v>0.0308056516482</ns0:v>
                </ns0:pt>
                <ns0:pt idx="2">
                  <ns0:v>0.031682666209</ns0:v>
                </ns0:pt>
              </ns0:numCache>
            </ns0:numRef>
          </ns0:yVal>
          <ns0:smooth val="0"/>
        </ns0:ser>
        <ns0:ser>
          <ns0:idx val="1"/>
          <ns0:order val="1"/>
          <ns0:tx>
            <ns0:strRef>
              <ns0:f>RX-W02</ns0:f>
              <ns0:strCache>
                <ns0:ptCount val="1"/>
                <ns0:pt idx="0">
                  <ns0:v>RX-W02</ns0:v>
                </ns0:pt>
              </ns0:strCache>
            </ns0:strRef>
          </ns0:tx>
          <ns0:spPr>
            <ns3:ln w="9525" cap="rnd">
              <ns3:solidFill>
                <ns3:srgbClr val="D7DDE1"/>
              </ns3:solidFill>
              <ns3:prstDash val="solid"/>
              <ns3:round/>
            </ns3:ln>
          </ns0:spPr>
          <ns0:marker>
            <ns0:symbol val="none"/>
          </ns0:marker>
          <ns0:dLbls>
            <ns0:delete val="1"/>
          </ns0:dLbls>
          <ns0:xVal>
            <ns0:numRef>
              <ns0:f>'Chart Data'!$C$2:$C$4</ns0:f>
              <ns0:numCache>
                <ns0:formatCode>General</ns0:formatCode>
                <ns0:ptCount val="3"/>
                <ns0:pt idx="0">
                  <ns0:v>0</ns0:v>
                </ns0:pt>
                <ns0:pt idx="1">
                  <ns0:v>1</ns0:v>
                </ns0:pt>
                <ns0:pt idx="2">
                  <ns0:v>2</ns0:v>
                </ns0:pt>
              </ns0:numCache>
            </ns0:numRef>
          </ns0:xVal>
          <ns0:yVal>
            <ns0:numRef>
              <ns0:f>'Chart Data'!$D$2:$D$4</ns0:f>
              <ns0:numCache>
                <ns0:formatCode>0.00</ns0:formatCode>
                <ns0:ptCount val="3"/>
                <ns0:pt idx="0">
                  <ns0:v>0.117326158206</ns0:v>
                </ns0:pt>
                <ns0:pt idx="1">
                  <ns0:v>0.0276962021885</ns0:v>
                </ns0:pt>
                <ns0:pt idx="2">
                  <ns0:v>0.0390434166688</ns0:v>
                </ns0:pt>
              </ns0:numCache>
            </ns0:numRef>
          </ns0:yVal>
          <ns0:smooth val="0"/>
        </ns0:ser>
        <ns0:ser>
          <ns0:idx val="2"/>
          <ns0:order val="2"/>
          <ns0:tx>
            <ns0:strRef>
              <ns0:f>RX-W03</ns0:f>
              <ns0:strCache>
                <ns0:ptCount val="1"/>
                <ns0:pt idx="0">
                  <ns0:v>RX-W03</ns0:v>
                </ns0:pt>
              </ns0:strCache>
            </ns0:strRef>
          </ns0:tx>
          <ns0:spPr>
            <ns3:ln w="9525" cap="rnd">
              <ns3:solidFill>
                <ns3:srgbClr val="D7DDE1"/>
              </ns3:solidFill>
              <ns3:prstDash val="solid"/>
              <ns3:round/>
            </ns3:ln>
          </ns0:spPr>
          <ns0:marker>
            <ns0:symbol val="none"/>
          </ns0:marker>
          <ns0:dLbls>
            <ns0:delete val="1"/>
          </ns0:dLbls>
          <ns0:xVal>
            <ns0:numRef>
              <ns0:f>'Chart Data'!$E$2:$E$4</ns0:f>
              <ns0:numCache>
                <ns0:formatCode>General</ns0:formatCode>
                <ns0:ptCount val="3"/>
                <ns0:pt idx="0">
                  <ns0:v>0</ns0:v>
                </ns0:pt>
                <ns0:pt idx="1">
                  <ns0:v>1</ns0:v>
                </ns0:pt>
                <ns0:pt idx="2">
                  <ns0:v>2</ns0:v>
                </ns0:pt>
              </ns0:numCache>
            </ns0:numRef>
          </ns0:xVal>
          <ns0:yVal>
            <ns0:numRef>
              <ns0:f>'Chart Data'!$F$2:$F$4</ns0:f>
              <ns0:numCache>
                <ns0:formatCode>0.00</ns0:formatCode>
                <ns0:ptCount val="3"/>
                <ns0:pt idx="0">
                  <ns0:v>0.126062109098</ns0:v>
                </ns0:pt>
                <ns0:pt idx="1">
                  <ns0:v>0.133253384933</ns0:v>
                </ns0:pt>
                <ns0:pt idx="2">
                  <ns0:v>0.117523621256</ns0:v>
                </ns0:pt>
              </ns0:numCache>
            </ns0:numRef>
          </ns0:yVal>
          <ns0:smooth val="0"/>
        </ns0:ser>
        <ns0:ser>
          <ns0:idx val="3"/>
          <ns0:order val="3"/>
          <ns0:tx>
            <ns0:strRef>
              <ns0:f>RX-W04</ns0:f>
              <ns0:strCache>
                <ns0:ptCount val="1"/>
                <ns0:pt idx="0">
                  <ns0:v>RX-W04</ns0:v>
                </ns0:pt>
              </ns0:strCache>
            </ns0:strRef>
          </ns0:tx>
          <ns0:spPr>
            <ns3:ln w="9525" cap="rnd">
              <ns3:solidFill>
                <ns3:srgbClr val="D7DDE1"/>
              </ns3:solidFill>
              <ns3:prstDash val="solid"/>
              <ns3:round/>
            </ns3:ln>
          </ns0:spPr>
          <ns0:marker>
            <ns0:symbol val="none"/>
          </ns0:marker>
          <ns0:dLbls>
            <ns0:delete val="1"/>
          </ns0:dLbls>
          <ns0:xVal>
            <ns0:numRef>
              <ns0:f>'Chart Data'!$G$2:$G$4</ns0:f>
              <ns0:numCache>
                <ns0:formatCode>General</ns0:formatCode>
                <ns0:ptCount val="3"/>
                <ns0:pt idx="0">
                  <ns0:v>0</ns0:v>
                </ns0:pt>
                <ns0:pt idx="1">
                  <ns0:v>1</ns0:v>
                </ns0:pt>
                <ns0:pt idx="2">
                  <ns0:v>2</ns0:v>
                </ns0:pt>
              </ns0:numCache>
            </ns0:numRef>
          </ns0:xVal>
          <ns0:yVal>
            <ns0:numRef>
              <ns0:f>'Chart Data'!$H$2:$H$4</ns0:f>
              <ns0:numCache>
                <ns0:formatCode>0.00</ns0:formatCode>
                <ns0:ptCount val="3"/>
                <ns0:pt idx="0">
                  <ns0:v>0.0732518602345</ns0:v>
                </ns0:pt>
                <ns0:pt idx="1">
                  <ns0:v>0.0427617804739</ns0:v>
                </ns0:pt>
                <ns0:pt idx="2">
                  <ns0:v>0.0313129054275</ns0:v>
                </ns0:pt>
              </ns0:numCache>
            </ns0:numRef>
          </ns0:yVal>
          <ns0:smooth val="0"/>
        </ns0:ser>
        <ns0:ser>
          <ns0:idx val="4"/>
          <ns0:order val="4"/>
          <ns0:tx>
            <ns0:strRef>
              <ns0:f>RX-W05</ns0:f>
              <ns0:strCache>
                <ns0:ptCount val="1"/>
                <ns0:pt idx="0">
                  <ns0:v>RX-W05</ns0:v>
                </ns0:pt>
              </ns0:strCache>
            </ns0:strRef>
          </ns0:tx>
          <ns0:spPr>
            <ns3:ln w="9525" cap="rnd">
              <ns3:solidFill>
                <ns3:srgbClr val="D7DDE1"/>
              </ns3:solidFill>
              <ns3:prstDash val="solid"/>
              <ns3:round/>
            </ns3:ln>
          </ns0:spPr>
          <ns0:marker>
            <ns0:symbol val="none"/>
          </ns0:marker>
          <ns0:dLbls>
            <ns0:delete val="1"/>
          </ns0:dLbls>
          <ns0:xVal>
            <ns0:numRef>
              <ns0:f>'Chart Data'!$I$2:$I$4</ns0:f>
              <ns0:numCache>
                <ns0:formatCode>General</ns0:formatCode>
                <ns0:ptCount val="3"/>
                <ns0:pt idx="0">
                  <ns0:v>0</ns0:v>
                </ns0:pt>
                <ns0:pt idx="1">
                  <ns0:v>1</ns0:v>
                </ns0:pt>
                <ns0:pt idx="2">
                  <ns0:v>2</ns0:v>
                </ns0:pt>
              </ns0:numCache>
            </ns0:numRef>
          </ns0:xVal>
          <ns0:yVal>
            <ns0:numRef>
              <ns0:f>'Chart Data'!$J$2:$J$4</ns0:f>
              <ns0:numCache>
                <ns0:formatCode>0.00</ns0:formatCode>
                <ns0:ptCount val="3"/>
                <ns0:pt idx="0">
                  <ns0:v>0.0990465026134</ns0:v>
                </ns0:pt>
                <ns0:pt idx="1">
                  <ns0:v>0.0505162103872</ns0:v>
                </ns0:pt>
                <ns0:pt idx="2">
                  <ns0:v>0.0532862475018</ns0:v>
                </ns0:pt>
              </ns0:numCache>
            </ns0:numRef>
          </ns0:yVal>
          <ns0:smooth val="0"/>
        </ns0:ser>
        <ns0:ser>
          <ns0:idx val="5"/>
          <ns0:order val="5"/>
          <ns0:tx>
            <ns0:strRef>
              <ns0:f>Opaque</ns0:f>
              <ns0:strCache>
                <ns0:ptCount val="1"/>
                <ns0:pt idx="0">
                  <ns0:v>Opaque</ns0:v>
                </ns0:pt>
              </ns0:strCache>
            </ns0:strRef>
          </ns0:tx>
          <ns0:spPr>
            <ns3:ln w="0" cap="rnd">
              <ns3:noFill/>
              <ns3:prstDash val="solid"/>
              <ns3:round/>
            </ns3:ln>
          </ns0:spPr>
          <ns0:marker>
            <ns0:symbol val="circle"/>
            <ns0:size val="8"/>
            <ns0:spPr>
              <ns3:solidFill>
                <ns3:srgbClr val="637482"/>
              </ns3:solidFill>
              <ns3:ln w="0">
                <ns3:noFill/>
                <ns3:prstDash val="solid"/>
                <ns3:round/>
              </ns3:ln>
            </ns0:spPr>
          </ns0:marker>
          <ns0:dLbls>
            <ns0:delete val="1"/>
          </ns0:dLbls>
          <ns0:xVal>
            <ns0:numRef>
              <ns0:f>'Chart Data'!$K$2:$K$6</ns0:f>
              <ns0:numCache>
                <ns0:formatCode>General</ns0:formatCode>
                <ns0:ptCount val="5"/>
                <ns0:pt idx="0">
                  <ns0:v>0</ns0:v>
                </ns0:pt>
                <ns0:pt idx="1">
                  <ns0:v>0</ns0:v>
                </ns0:pt>
                <ns0:pt idx="2">
                  <ns0:v>0</ns0:v>
                </ns0:pt>
                <ns0:pt idx="3">
                  <ns0:v>0</ns0:v>
                </ns0:pt>
                <ns0:pt idx="4">
                  <ns0:v>0</ns0:v>
                </ns0:pt>
              </ns0:numCache>
            </ns0:numRef>
          </ns0:xVal>
          <ns0:yVal>
            <ns0:numRef>
              <ns0:f>'Chart Data'!$L$2:$L$6</ns0:f>
              <ns0:numCache>
                <ns0:formatCode>0.00</ns0:formatCode>
                <ns0:ptCount val="5"/>
                <ns0:pt idx="0">
                  <ns0:v>0.0936152752108</ns0:v>
                </ns0:pt>
                <ns0:pt idx="1">
                  <ns0:v>0.117326158206</ns0:v>
                </ns0:pt>
                <ns0:pt idx="2">
                  <ns0:v>0.126062109098</ns0:v>
                </ns0:pt>
                <ns0:pt idx="3">
                  <ns0:v>0.0732518602345</ns0:v>
                </ns0:pt>
                <ns0:pt idx="4">
                  <ns0:v>0.0990465026134</ns0:v>
                </ns0:pt>
              </ns0:numCache>
            </ns0:numRef>
          </ns0:yVal>
          <ns0:smooth val="0"/>
        </ns0:ser>
        <ns0:ser>
          <ns0:idx val="6"/>
          <ns0:order val="6"/>
          <ns0:tx>
            <ns0:strRef>
              <ns0:f>Mean Opaque</ns0:f>
              <ns0:strCache>
                <ns0:ptCount val="1"/>
                <ns0:pt idx="0">
                  <ns0:v>Mean Opaque</ns0:v>
                </ns0:pt>
              </ns0:strCache>
            </ns0:strRef>
          </ns0:tx>
          <ns0:spPr>
            <ns3:ln w="28575" cap="rnd">
              <ns3:solidFill>
                <ns3:srgbClr val="637482"/>
              </ns3:solidFill>
              <ns3:prstDash val="solid"/>
              <ns3:round/>
            </ns3:ln>
          </ns0:spPr>
          <ns0:marker>
            <ns0:symbol val="none"/>
          </ns0:marker>
          <ns0:dLbls>
            <ns0:delete val="1"/>
          </ns0:dLbls>
          <ns0:xVal>
            <ns0:numRef>
              <ns0:f>'Chart Data'!$M$2:$M$3</ns0:f>
              <ns0:numCache>
                <ns0:formatCode>General</ns0:formatCode>
                <ns0:ptCount val="2"/>
                <ns0:pt idx="0">
                  <ns0:v>-0.12</ns0:v>
                </ns0:pt>
                <ns0:pt idx="1">
                  <ns0:v>0.12</ns0:v>
                </ns0:pt>
              </ns0:numCache>
            </ns0:numRef>
          </ns0:xVal>
          <ns0:yVal>
            <ns0:numRef>
              <ns0:f>'Chart Data'!$N$2:$N$3</ns0:f>
              <ns0:numCache>
                <ns0:formatCode>0.00</ns0:formatCode>
                <ns0:ptCount val="2"/>
                <ns0:pt idx="0">
                  <ns0:v>0.101860381072</ns0:v>
                </ns0:pt>
                <ns0:pt idx="1">
                  <ns0:v>0.101860381072</ns0:v>
                </ns0:pt>
              </ns0:numCache>
            </ns0:numRef>
          </ns0:yVal>
          <ns0:smooth val="0"/>
        </ns0:ser>
        <ns0:ser>
          <ns0:idx val="7"/>
          <ns0:order val="7"/>
          <ns0:tx>
            <ns0:strRef>
              <ns0:f>Aligned</ns0:f>
              <ns0:strCache>
                <ns0:ptCount val="1"/>
                <ns0:pt idx="0">
                  <ns0:v>Aligned</ns0:v>
                </ns0:pt>
              </ns0:strCache>
            </ns0:strRef>
          </ns0:tx>
          <ns0:spPr>
            <ns3:ln w="0" cap="rnd">
              <ns3:noFill/>
              <ns3:prstDash val="solid"/>
              <ns3:round/>
            </ns3:ln>
          </ns0:spPr>
          <ns0:marker>
            <ns0:symbol val="circle"/>
            <ns0:size val="8"/>
            <ns0:spPr>
              <ns3:solidFill>
                <ns3:srgbClr val="277F8A"/>
              </ns3:solidFill>
              <ns3:ln w="0">
                <ns3:noFill/>
                <ns3:prstDash val="solid"/>
                <ns3:round/>
              </ns3:ln>
            </ns0:spPr>
          </ns0:marker>
          <ns0:dLbls>
            <ns0:delete val="1"/>
          </ns0:dLbls>
          <ns0:xVal>
            <ns0:numRef>
              <ns0:f>'Chart Data'!$O$2:$O$6</ns0:f>
              <ns0:numCache>
                <ns0:formatCode>General</ns0:formatCode>
                <ns0:ptCount val="5"/>
                <ns0:pt idx="0">
                  <ns0:v>1</ns0:v>
                </ns0:pt>
                <ns0:pt idx="1">
                  <ns0:v>1</ns0:v>
                </ns0:pt>
                <ns0:pt idx="2">
                  <ns0:v>1</ns0:v>
                </ns0:pt>
                <ns0:pt idx="3">
                  <ns0:v>1</ns0:v>
                </ns0:pt>
                <ns0:pt idx="4">
                  <ns0:v>1</ns0:v>
                </ns0:pt>
              </ns0:numCache>
            </ns0:numRef>
          </ns0:xVal>
          <ns0:yVal>
            <ns0:numRef>
              <ns0:f>'Chart Data'!$P$2:$P$6</ns0:f>
              <ns0:numCache>
                <ns0:formatCode>0.00</ns0:formatCode>
                <ns0:ptCount val="5"/>
                <ns0:pt idx="0">
                  <ns0:v>0.0308056516482</ns0:v>
                </ns0:pt>
                <ns0:pt idx="1">
                  <ns0:v>0.0276962021885</ns0:v>
                </ns0:pt>
                <ns0:pt idx="2">
                  <ns0:v>0.133253384933</ns0:v>
                </ns0:pt>
                <ns0:pt idx="3">
                  <ns0:v>0.0427617804739</ns0:v>
                </ns0:pt>
                <ns0:pt idx="4">
                  <ns0:v>0.0505162103872</ns0:v>
                </ns0:pt>
              </ns0:numCache>
            </ns0:numRef>
          </ns0:yVal>
          <ns0:smooth val="0"/>
        </ns0:ser>
        <ns0:ser>
          <ns0:idx val="8"/>
          <ns0:order val="8"/>
          <ns0:tx>
            <ns0:strRef>
              <ns0:f>Mean Aligned</ns0:f>
              <ns0:strCache>
                <ns0:ptCount val="1"/>
                <ns0:pt idx="0">
                  <ns0:v>Mean Aligned</ns0:v>
                </ns0:pt>
              </ns0:strCache>
            </ns0:strRef>
          </ns0:tx>
          <ns0:spPr>
            <ns3:ln w="28575" cap="rnd">
              <ns3:solidFill>
                <ns3:srgbClr val="277F8A"/>
              </ns3:solidFill>
              <ns3:prstDash val="solid"/>
              <ns3:round/>
            </ns3:ln>
          </ns0:spPr>
          <ns0:marker>
            <ns0:symbol val="none"/>
          </ns0:marker>
          <ns0:dLbls>
            <ns0:delete val="1"/>
          </ns0:dLbls>
          <ns0:xVal>
            <ns0:numRef>
              <ns0:f>'Chart Data'!$Q$2:$Q$3</ns0:f>
              <ns0:numCache>
                <ns0:formatCode>General</ns0:formatCode>
                <ns0:ptCount val="2"/>
                <ns0:pt idx="0">
                  <ns0:v>0.88</ns0:v>
                </ns0:pt>
                <ns0:pt idx="1">
                  <ns0:v>1.12</ns0:v>
                </ns0:pt>
              </ns0:numCache>
            </ns0:numRef>
          </ns0:xVal>
          <ns0:yVal>
            <ns0:numRef>
              <ns0:f>'Chart Data'!$R$2:$R$3</ns0:f>
              <ns0:numCache>
                <ns0:formatCode>0.00</ns0:formatCode>
                <ns0:ptCount val="2"/>
                <ns0:pt idx="0">
                  <ns0:v>0.0570066459261</ns0:v>
                </ns0:pt>
                <ns0:pt idx="1">
                  <ns0:v>0.0570066459261</ns0:v>
                </ns0:pt>
              </ns0:numCache>
            </ns0:numRef>
          </ns0:yVal>
          <ns0:smooth val="0"/>
        </ns0:ser>
        <ns0:ser>
          <ns0:idx val="9"/>
          <ns0:order val="9"/>
          <ns0:tx>
            <ns0:strRef>
              <ns0:f>MisIndexed</ns0:f>
              <ns0:strCache>
                <ns0:ptCount val="1"/>
                <ns0:pt idx="0">
                  <ns0:v>MisIndexed</ns0:v>
                </ns0:pt>
              </ns0:strCache>
            </ns0:strRef>
          </ns0:tx>
          <ns0:spPr>
            <ns3:ln w="0" cap="rnd">
              <ns3:noFill/>
              <ns3:prstDash val="solid"/>
              <ns3:round/>
            </ns3:ln>
          </ns0:spPr>
          <ns0:marker>
            <ns0:symbol val="circle"/>
            <ns0:size val="8"/>
            <ns0:spPr>
              <ns3:solidFill>
                <ns3:srgbClr val="BC7850"/>
              </ns3:solidFill>
              <ns3:ln w="0">
                <ns3:noFill/>
                <ns3:prstDash val="solid"/>
                <ns3:round/>
              </ns3:ln>
            </ns0:spPr>
          </ns0:marker>
          <ns0:dLbls>
            <ns0:delete val="1"/>
          </ns0:dLbls>
          <ns0:xVal>
            <ns0:numRef>
              <ns0:f>'Chart Data'!$S$2:$S$6</ns0:f>
              <ns0:numCache>
                <ns0:formatCode>General</ns0:formatCode>
                <ns0:ptCount val="5"/>
                <ns0:pt idx="0">
                  <ns0:v>2</ns0:v>
                </ns0:pt>
                <ns0:pt idx="1">
                  <ns0:v>2</ns0:v>
                </ns0:pt>
                <ns0:pt idx="2">
                  <ns0:v>2</ns0:v>
                </ns0:pt>
                <ns0:pt idx="3">
                  <ns0:v>2</ns0:v>
                </ns0:pt>
                <ns0:pt idx="4">
                  <ns0:v>2</ns0:v>
                </ns0:pt>
              </ns0:numCache>
            </ns0:numRef>
          </ns0:xVal>
          <ns0:yVal>
            <ns0:numRef>
              <ns0:f>'Chart Data'!$T$2:$T$6</ns0:f>
              <ns0:numCache>
                <ns0:formatCode>0.00</ns0:formatCode>
                <ns0:ptCount val="5"/>
                <ns0:pt idx="0">
                  <ns0:v>0.031682666209</ns0:v>
                </ns0:pt>
                <ns0:pt idx="1">
                  <ns0:v>0.0390434166688</ns0:v>
                </ns0:pt>
                <ns0:pt idx="2">
                  <ns0:v>0.117523621256</ns0:v>
                </ns0:pt>
                <ns0:pt idx="3">
                  <ns0:v>0.0313129054275</ns0:v>
                </ns0:pt>
                <ns0:pt idx="4">
                  <ns0:v>0.0532862475018</ns0:v>
                </ns0:pt>
              </ns0:numCache>
            </ns0:numRef>
          </ns0:yVal>
          <ns0:smooth val="0"/>
        </ns0:ser>
        <ns0:ser>
          <ns0:idx val="10"/>
          <ns0:order val="10"/>
          <ns0:tx>
            <ns0:strRef>
              <ns0:f>Mean MisIndexed</ns0:f>
              <ns0:strCache>
                <ns0:ptCount val="1"/>
                <ns0:pt idx="0">
                  <ns0:v>Mean MisIndexed</ns0:v>
                </ns0:pt>
              </ns0:strCache>
            </ns0:strRef>
          </ns0:tx>
          <ns0:spPr>
            <ns3:ln w="28575" cap="rnd">
              <ns3:solidFill>
                <ns3:srgbClr val="BC7850"/>
              </ns3:solidFill>
              <ns3:prstDash val="solid"/>
              <ns3:round/>
            </ns3:ln>
          </ns0:spPr>
          <ns0:marker>
            <ns0:symbol val="none"/>
          </ns0:marker>
          <ns0:dLbls>
            <ns0:delete val="1"/>
          </ns0:dLbls>
          <ns0:xVal>
            <ns0:numRef>
              <ns0:f>'Chart Data'!$U$2:$U$3</ns0:f>
              <ns0:numCache>
                <ns0:formatCode>General</ns0:formatCode>
                <ns0:ptCount val="2"/>
                <ns0:pt idx="0">
                  <ns0:v>1.88</ns0:v>
                </ns0:pt>
                <ns0:pt idx="1">
                  <ns0:v>2.12</ns0:v>
                </ns0:pt>
              </ns0:numCache>
            </ns0:numRef>
          </ns0:xVal>
          <ns0:yVal>
            <ns0:numRef>
              <ns0:f>'Chart Data'!$V$2:$V$3</ns0:f>
              <ns0:numCache>
                <ns0:formatCode>0.00</ns0:formatCode>
                <ns0:ptCount val="2"/>
                <ns0:pt idx="0">
                  <ns0:v>0.0545697714126</ns0:v>
                </ns0:pt>
                <ns0:pt idx="1">
                  <ns0:v>0.0545697714126</ns0:v>
                </ns0:pt>
              </ns0:numCache>
            </ns0:numRef>
          </ns0:yVal>
          <ns0:smooth val="0"/>
        </ns0:ser>
        <ns0:dLbls>
          <ns0:showLegendKey val="0"/>
          <ns0:showVal val="0"/>
          <ns0:showCatName val="0"/>
          <ns0:showSerName val="0"/>
          <ns0:showPercent val="0"/>
          <ns0:showBubbleSize val="0"/>
        </ns0:dLbls>
        <ns0:axId val="48650112"/>
        <ns0:axId val="48672768"/>
      </ns0:scatterChart>
      <ns0:valAx>
        <ns0:axId val="48650112"/>
        <ns0:scaling>
          <ns0:orientation val="minMax"/>
          <ns0:max val="2.45"/>
          <ns0:min val="-0.45"/>
        </ns0:scaling>
        <ns0:delete val="0"/>
        <ns0:axPos val="b"/>
        <ns0:numFmt formatCode="0" sourceLinked="1"/>
        <ns0:majorTickMark val="none"/>
        <ns0:minorTickMark val="none"/>
        <ns0:tickLblPos val="none"/>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FFFFFF"/>
                </ns3:solidFill>
                <ns3:latin typeface="Arial" panose="020B0604020202020204"/>
                <ns3:ea typeface="Arial" panose="020B0604020202020204"/>
                <ns3:cs typeface="Arial" panose="020B0604020202020204"/>
              </ns3:defRPr>
            </ns3:pPr>
          </ns3:p>
        </ns0:txPr>
        <ns0:crossAx val="48672768"/>
        <ns0:crosses val="min"/>
        <ns0:crossBetween val="midCat"/>
        <ns0:majorUnit val="1"/>
      </ns0:valAx>
      <ns0:valAx>
        <ns0:axId val="48672768"/>
        <ns0:scaling>
          <ns0:orientation val="minMax"/>
          <ns0:max val="0.25"/>
          <ns0:min val="0"/>
        </ns0:scaling>
        <ns0:delete val="0"/>
        <ns0:axPos val="l"/>
        <ns0:title>
          <ns0:tx>
            <ns0:rich>
              <ns3:bodyPr rot="-5400000" spcFirstLastPara="0" vertOverflow="ellipsis" vert="horz" wrap="square" anchor="ctr" anchorCtr="1"/>
              <ns3:lstStyle/>
              <ns3:p>
                <ns3:pPr>
                  <ns3:defRPr lang="zh-CN" sz="1000" b="1" i="0" u="none" strike="noStrike" kern="1200" baseline="0">
                    <ns3:solidFill>
                      <ns3:schemeClr val="tx1"/>
                    </ns3:solidFill>
                    <ns3:latin typeface="+mn-lt"/>
                    <ns3:ea typeface="+mn-ea"/>
                    <ns3:cs typeface="+mn-cs"/>
                  </ns3:defRPr>
                </ns3:pPr>
                <ns3:r>
                  <ns3:rPr sz="1500">
                    <ns3:solidFill>
                      <ns3:srgbClr val="24292D"/>
                    </ns3:solidFill>
                    <ns3:latin typeface="Arial" panose="020B0604020202020204"/>
                    <ns3:ea typeface="Arial" panose="020B0604020202020204"/>
                    <ns3:cs typeface="Arial" panose="020B0604020202020204"/>
                  </ns3:rPr>
                  <ns3:t>Macro MAE</ns3:t>
                </ns3:r>
                <ns3:endParaRPr sz="1500">
                  <ns3:solidFill>
                    <ns3:srgbClr val="24292D"/>
                  </ns3:solidFill>
                  <ns3:latin typeface="Arial" panose="020B0604020202020204"/>
                  <ns3:ea typeface="Arial" panose="020B0604020202020204"/>
                  <ns3:cs typeface="Arial" panose="020B0604020202020204"/>
                </ns3:endParaRPr>
              </ns3:p>
            </ns0:rich>
          </ns0:tx>
          <ns0:layout/>
          <ns0:overlay val="0"/>
        </ns0:title>
        <ns0:numFmt formatCode="0.0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50112"/>
        <ns0:crosses val="min"/>
        <ns0:crossBetween val="midCat"/>
        <ns0:majorUnit val="0.05"/>
      </ns0:valAx>
      <ns0:spPr>
        <ns3:solidFill>
          <ns3:srgbClr val="FFFFFF"/>
        </ns3:solidFill>
        <ns3:ln w="0">
          <ns3:noFill/>
        </ns3:ln>
      </ns0:spPr>
    </ns0:plotArea>
    <ns0:plotVisOnly val="1"/>
    <ns0:dispBlanksAs val="gap"/>
    <ns0:showDLblsOverMax val="0"/>
    <ns0:extLst>
      <ns0:ext uri="{0b15fc19-7d7d-44ad-8c2d-2c3a37ce22c3}">
        <ns4:chartProps chartId="{e4faf32f-c537-4bfd-8b80-edd0d13d8d5a}"/>
      </ns0:ext>
    </ns0:extLst>
  </ns0:chart>
  <ns0:spPr>
    <ns3:solidFill>
      <ns3:srgbClr val="FFFFFF"/>
    </ns3:solidFill>
    <ns3:ln w="0">
      <ns3:noFill/>
    </ns3:ln>
  </ns0:spPr>
  <ns0:txPr>
    <ns3:bodyPr/>
    <ns3:lstStyle/>
    <ns3:p>
      <ns3:pPr>
        <ns3:defRPr lang="zh-CN"/>
      </ns3:pPr>
    </ns3:p>
  </ns0:txPr>
  <ns0:externalData ns5:id="rId1">
    <ns0:autoUpdate val="0"/>
  </ns0:externalData>
</ns0:chartSpace>
</file>

<file path=ppt/charts/chart26.xml><?xml version="1.0" encoding="utf-8"?>
<ns0:chartSpace xmlns:ns0="http://schemas.openxmlformats.org/drawingml/2006/chart" xmlns:ns1="http://schemas.openxmlformats.org/markup-compatibility/2006" xmlns:ns2="http://schemas.microsoft.com/office/drawing/2007/8/2/chart" xmlns:ns3="http://schemas.openxmlformats.org/drawingml/2006/main" xmlns:ns4="https://web.wps.cn/et/2018/main" xmlns:ns5="http://schemas.openxmlformats.org/officeDocument/2006/relationships">
  <ns0:date1904 val="0"/>
  <ns0:lang val="zh-CN"/>
  <ns0:roundedCorners val="0"/>
  <ns1:AlternateContent>
    <ns1:Choice Requires="c14">
      <ns2:style val="102"/>
    </ns1:Choice>
    <ns1:Fallback>
      <ns0:style val="2"/>
    </ns1:Fallback>
  </ns1:AlternateContent>
  <ns0:chart>
    <ns0:autoTitleDeleted val="1"/>
    <ns0:plotArea>
      <ns0:layout/>
      <ns0:scatterChart>
        <ns0:scatterStyle val="lineMarker"/>
        <ns0:varyColors val="0"/>
        <ns0:ser>
          <ns0:idx val="0"/>
          <ns0:order val="0"/>
          <ns0:tx>
            <ns0:strRef>
              <ns0:f>RX-W01</ns0:f>
              <ns0:strCache>
                <ns0:ptCount val="1"/>
                <ns0:pt idx="0">
                  <ns0:v>RX-W01</ns0:v>
                </ns0:pt>
              </ns0:strCache>
            </ns0:strRef>
          </ns0:tx>
          <ns0:spPr>
            <ns3:ln w="9525" cap="rnd">
              <ns3:solidFill>
                <ns3:srgbClr val="D7DDE1"/>
              </ns3:solidFill>
              <ns3:prstDash val="solid"/>
              <ns3:round/>
            </ns3:ln>
          </ns0:spPr>
          <ns0:marker>
            <ns0:symbol val="none"/>
          </ns0:marker>
          <ns0:dLbls>
            <ns0:delete val="1"/>
          </ns0:dLbls>
          <ns0:xVal>
            <ns0:numRef>
              <ns0:f>'Chart Data'!$A$2:$A$4</ns0:f>
              <ns0:numCache>
                <ns0:formatCode>General</ns0:formatCode>
                <ns0:ptCount val="3"/>
                <ns0:pt idx="0">
                  <ns0:v>0</ns0:v>
                </ns0:pt>
                <ns0:pt idx="1">
                  <ns0:v>1</ns0:v>
                </ns0:pt>
                <ns0:pt idx="2">
                  <ns0:v>2</ns0:v>
                </ns0:pt>
              </ns0:numCache>
            </ns0:numRef>
          </ns0:xVal>
          <ns0:yVal>
            <ns0:numRef>
              <ns0:f>'Chart Data'!$B$2:$B$4</ns0:f>
              <ns0:numCache>
                <ns0:formatCode>0.00</ns0:formatCode>
                <ns0:ptCount val="3"/>
                <ns0:pt idx="0">
                  <ns0:v>0.192655851656</ns0:v>
                </ns0:pt>
                <ns0:pt idx="1">
                  <ns0:v>0.0479071559509</ns0:v>
                </ns0:pt>
                <ns0:pt idx="2">
                  <ns0:v>0.0893396101362</ns0:v>
                </ns0:pt>
              </ns0:numCache>
            </ns0:numRef>
          </ns0:yVal>
          <ns0:smooth val="0"/>
        </ns0:ser>
        <ns0:ser>
          <ns0:idx val="1"/>
          <ns0:order val="1"/>
          <ns0:tx>
            <ns0:strRef>
              <ns0:f>RX-W02</ns0:f>
              <ns0:strCache>
                <ns0:ptCount val="1"/>
                <ns0:pt idx="0">
                  <ns0:v>RX-W02</ns0:v>
                </ns0:pt>
              </ns0:strCache>
            </ns0:strRef>
          </ns0:tx>
          <ns0:spPr>
            <ns3:ln w="9525" cap="rnd">
              <ns3:solidFill>
                <ns3:srgbClr val="D7DDE1"/>
              </ns3:solidFill>
              <ns3:prstDash val="solid"/>
              <ns3:round/>
            </ns3:ln>
          </ns0:spPr>
          <ns0:marker>
            <ns0:symbol val="none"/>
          </ns0:marker>
          <ns0:dLbls>
            <ns0:delete val="1"/>
          </ns0:dLbls>
          <ns0:xVal>
            <ns0:numRef>
              <ns0:f>'Chart Data'!$C$2:$C$4</ns0:f>
              <ns0:numCache>
                <ns0:formatCode>General</ns0:formatCode>
                <ns0:ptCount val="3"/>
                <ns0:pt idx="0">
                  <ns0:v>0</ns0:v>
                </ns0:pt>
                <ns0:pt idx="1">
                  <ns0:v>1</ns0:v>
                </ns0:pt>
                <ns0:pt idx="2">
                  <ns0:v>2</ns0:v>
                </ns0:pt>
              </ns0:numCache>
            </ns0:numRef>
          </ns0:xVal>
          <ns0:yVal>
            <ns0:numRef>
              <ns0:f>'Chart Data'!$D$2:$D$4</ns0:f>
              <ns0:numCache>
                <ns0:formatCode>0.00</ns0:formatCode>
                <ns0:ptCount val="3"/>
                <ns0:pt idx="0">
                  <ns0:v>0.105263674206</ns0:v>
                </ns0:pt>
                <ns0:pt idx="1">
                  <ns0:v>0.0520761277309</ns0:v>
                </ns0:pt>
                <ns0:pt idx="2">
                  <ns0:v>0.0555966520113</ns0:v>
                </ns0:pt>
              </ns0:numCache>
            </ns0:numRef>
          </ns0:yVal>
          <ns0:smooth val="0"/>
        </ns0:ser>
        <ns0:ser>
          <ns0:idx val="2"/>
          <ns0:order val="2"/>
          <ns0:tx>
            <ns0:strRef>
              <ns0:f>RX-W03</ns0:f>
              <ns0:strCache>
                <ns0:ptCount val="1"/>
                <ns0:pt idx="0">
                  <ns0:v>RX-W03</ns0:v>
                </ns0:pt>
              </ns0:strCache>
            </ns0:strRef>
          </ns0:tx>
          <ns0:spPr>
            <ns3:ln w="9525" cap="rnd">
              <ns3:solidFill>
                <ns3:srgbClr val="D7DDE1"/>
              </ns3:solidFill>
              <ns3:prstDash val="solid"/>
              <ns3:round/>
            </ns3:ln>
          </ns0:spPr>
          <ns0:marker>
            <ns0:symbol val="none"/>
          </ns0:marker>
          <ns0:dLbls>
            <ns0:delete val="1"/>
          </ns0:dLbls>
          <ns0:xVal>
            <ns0:numRef>
              <ns0:f>'Chart Data'!$E$2:$E$4</ns0:f>
              <ns0:numCache>
                <ns0:formatCode>General</ns0:formatCode>
                <ns0:ptCount val="3"/>
                <ns0:pt idx="0">
                  <ns0:v>0</ns0:v>
                </ns0:pt>
                <ns0:pt idx="1">
                  <ns0:v>1</ns0:v>
                </ns0:pt>
                <ns0:pt idx="2">
                  <ns0:v>2</ns0:v>
                </ns0:pt>
              </ns0:numCache>
            </ns0:numRef>
          </ns0:xVal>
          <ns0:yVal>
            <ns0:numRef>
              <ns0:f>'Chart Data'!$F$2:$F$4</ns0:f>
              <ns0:numCache>
                <ns0:formatCode>0.00</ns0:formatCode>
                <ns0:ptCount val="3"/>
                <ns0:pt idx="0">
                  <ns0:v>0.12611130144</ns0:v>
                </ns0:pt>
                <ns0:pt idx="1">
                  <ns0:v>0.0775945244812</ns0:v>
                </ns0:pt>
                <ns0:pt idx="2">
                  <ns0:v>0.218754688079</ns0:v>
                </ns0:pt>
              </ns0:numCache>
            </ns0:numRef>
          </ns0:yVal>
          <ns0:smooth val="0"/>
        </ns0:ser>
        <ns0:ser>
          <ns0:idx val="3"/>
          <ns0:order val="3"/>
          <ns0:tx>
            <ns0:strRef>
              <ns0:f>RX-W04</ns0:f>
              <ns0:strCache>
                <ns0:ptCount val="1"/>
                <ns0:pt idx="0">
                  <ns0:v>RX-W04</ns0:v>
                </ns0:pt>
              </ns0:strCache>
            </ns0:strRef>
          </ns0:tx>
          <ns0:spPr>
            <ns3:ln w="9525" cap="rnd">
              <ns3:solidFill>
                <ns3:srgbClr val="D7DDE1"/>
              </ns3:solidFill>
              <ns3:prstDash val="solid"/>
              <ns3:round/>
            </ns3:ln>
          </ns0:spPr>
          <ns0:marker>
            <ns0:symbol val="none"/>
          </ns0:marker>
          <ns0:dLbls>
            <ns0:delete val="1"/>
          </ns0:dLbls>
          <ns0:xVal>
            <ns0:numRef>
              <ns0:f>'Chart Data'!$G$2:$G$4</ns0:f>
              <ns0:numCache>
                <ns0:formatCode>General</ns0:formatCode>
                <ns0:ptCount val="3"/>
                <ns0:pt idx="0">
                  <ns0:v>0</ns0:v>
                </ns0:pt>
                <ns0:pt idx="1">
                  <ns0:v>1</ns0:v>
                </ns0:pt>
                <ns0:pt idx="2">
                  <ns0:v>2</ns0:v>
                </ns0:pt>
              </ns0:numCache>
            </ns0:numRef>
          </ns0:xVal>
          <ns0:yVal>
            <ns0:numRef>
              <ns0:f>'Chart Data'!$H$2:$H$4</ns0:f>
              <ns0:numCache>
                <ns0:formatCode>0.00</ns0:formatCode>
                <ns0:ptCount val="3"/>
                <ns0:pt idx="0">
                  <ns0:v>0.0942134820223</ns0:v>
                </ns0:pt>
                <ns0:pt idx="1">
                  <ns0:v>0.0521713428166</ns0:v>
                </ns0:pt>
                <ns0:pt idx="2">
                  <ns0:v>0.208894799004</ns0:v>
                </ns0:pt>
              </ns0:numCache>
            </ns0:numRef>
          </ns0:yVal>
          <ns0:smooth val="0"/>
        </ns0:ser>
        <ns0:ser>
          <ns0:idx val="4"/>
          <ns0:order val="4"/>
          <ns0:tx>
            <ns0:strRef>
              <ns0:f>RX-W05</ns0:f>
              <ns0:strCache>
                <ns0:ptCount val="1"/>
                <ns0:pt idx="0">
                  <ns0:v>RX-W05</ns0:v>
                </ns0:pt>
              </ns0:strCache>
            </ns0:strRef>
          </ns0:tx>
          <ns0:spPr>
            <ns3:ln w="9525" cap="rnd">
              <ns3:solidFill>
                <ns3:srgbClr val="D7DDE1"/>
              </ns3:solidFill>
              <ns3:prstDash val="solid"/>
              <ns3:round/>
            </ns3:ln>
          </ns0:spPr>
          <ns0:marker>
            <ns0:symbol val="none"/>
          </ns0:marker>
          <ns0:dLbls>
            <ns0:delete val="1"/>
          </ns0:dLbls>
          <ns0:xVal>
            <ns0:numRef>
              <ns0:f>'Chart Data'!$I$2:$I$4</ns0:f>
              <ns0:numCache>
                <ns0:formatCode>General</ns0:formatCode>
                <ns0:ptCount val="3"/>
                <ns0:pt idx="0">
                  <ns0:v>0</ns0:v>
                </ns0:pt>
                <ns0:pt idx="1">
                  <ns0:v>1</ns0:v>
                </ns0:pt>
                <ns0:pt idx="2">
                  <ns0:v>2</ns0:v>
                </ns0:pt>
              </ns0:numCache>
            </ns0:numRef>
          </ns0:xVal>
          <ns0:yVal>
            <ns0:numRef>
              <ns0:f>'Chart Data'!$J$2:$J$4</ns0:f>
              <ns0:numCache>
                <ns0:formatCode>0.00</ns0:formatCode>
                <ns0:ptCount val="3"/>
                <ns0:pt idx="0">
                  <ns0:v>0.176398953203</ns0:v>
                </ns0:pt>
                <ns0:pt idx="1">
                  <ns0:v>0.189456765436</ns0:v>
                </ns0:pt>
                <ns0:pt idx="2">
                  <ns0:v>0.0757616942094</ns0:v>
                </ns0:pt>
              </ns0:numCache>
            </ns0:numRef>
          </ns0:yVal>
          <ns0:smooth val="0"/>
        </ns0:ser>
        <ns0:ser>
          <ns0:idx val="5"/>
          <ns0:order val="5"/>
          <ns0:tx>
            <ns0:strRef>
              <ns0:f>Opaque</ns0:f>
              <ns0:strCache>
                <ns0:ptCount val="1"/>
                <ns0:pt idx="0">
                  <ns0:v>Opaque</ns0:v>
                </ns0:pt>
              </ns0:strCache>
            </ns0:strRef>
          </ns0:tx>
          <ns0:spPr>
            <ns3:ln w="0" cap="rnd">
              <ns3:noFill/>
              <ns3:prstDash val="solid"/>
              <ns3:round/>
            </ns3:ln>
          </ns0:spPr>
          <ns0:marker>
            <ns0:symbol val="circle"/>
            <ns0:size val="8"/>
            <ns0:spPr>
              <ns3:solidFill>
                <ns3:srgbClr val="637482"/>
              </ns3:solidFill>
              <ns3:ln w="0">
                <ns3:noFill/>
                <ns3:prstDash val="solid"/>
                <ns3:round/>
              </ns3:ln>
            </ns0:spPr>
          </ns0:marker>
          <ns0:dLbls>
            <ns0:delete val="1"/>
          </ns0:dLbls>
          <ns0:xVal>
            <ns0:numRef>
              <ns0:f>'Chart Data'!$K$2:$K$6</ns0:f>
              <ns0:numCache>
                <ns0:formatCode>General</ns0:formatCode>
                <ns0:ptCount val="5"/>
                <ns0:pt idx="0">
                  <ns0:v>0</ns0:v>
                </ns0:pt>
                <ns0:pt idx="1">
                  <ns0:v>0</ns0:v>
                </ns0:pt>
                <ns0:pt idx="2">
                  <ns0:v>0</ns0:v>
                </ns0:pt>
                <ns0:pt idx="3">
                  <ns0:v>0</ns0:v>
                </ns0:pt>
                <ns0:pt idx="4">
                  <ns0:v>0</ns0:v>
                </ns0:pt>
              </ns0:numCache>
            </ns0:numRef>
          </ns0:xVal>
          <ns0:yVal>
            <ns0:numRef>
              <ns0:f>'Chart Data'!$L$2:$L$6</ns0:f>
              <ns0:numCache>
                <ns0:formatCode>0.00</ns0:formatCode>
                <ns0:ptCount val="5"/>
                <ns0:pt idx="0">
                  <ns0:v>0.192655851656</ns0:v>
                </ns0:pt>
                <ns0:pt idx="1">
                  <ns0:v>0.105263674206</ns0:v>
                </ns0:pt>
                <ns0:pt idx="2">
                  <ns0:v>0.12611130144</ns0:v>
                </ns0:pt>
                <ns0:pt idx="3">
                  <ns0:v>0.0942134820223</ns0:v>
                </ns0:pt>
                <ns0:pt idx="4">
                  <ns0:v>0.176398953203</ns0:v>
                </ns0:pt>
              </ns0:numCache>
            </ns0:numRef>
          </ns0:yVal>
          <ns0:smooth val="0"/>
        </ns0:ser>
        <ns0:ser>
          <ns0:idx val="6"/>
          <ns0:order val="6"/>
          <ns0:tx>
            <ns0:strRef>
              <ns0:f>Mean Opaque</ns0:f>
              <ns0:strCache>
                <ns0:ptCount val="1"/>
                <ns0:pt idx="0">
                  <ns0:v>Mean Opaque</ns0:v>
                </ns0:pt>
              </ns0:strCache>
            </ns0:strRef>
          </ns0:tx>
          <ns0:spPr>
            <ns3:ln w="28575" cap="rnd">
              <ns3:solidFill>
                <ns3:srgbClr val="637482"/>
              </ns3:solidFill>
              <ns3:prstDash val="solid"/>
              <ns3:round/>
            </ns3:ln>
          </ns0:spPr>
          <ns0:marker>
            <ns0:symbol val="none"/>
          </ns0:marker>
          <ns0:dLbls>
            <ns0:delete val="1"/>
          </ns0:dLbls>
          <ns0:xVal>
            <ns0:numRef>
              <ns0:f>'Chart Data'!$M$2:$M$3</ns0:f>
              <ns0:numCache>
                <ns0:formatCode>General</ns0:formatCode>
                <ns0:ptCount val="2"/>
                <ns0:pt idx="0">
                  <ns0:v>-0.12</ns0:v>
                </ns0:pt>
                <ns0:pt idx="1">
                  <ns0:v>0.12</ns0:v>
                </ns0:pt>
              </ns0:numCache>
            </ns0:numRef>
          </ns0:xVal>
          <ns0:yVal>
            <ns0:numRef>
              <ns0:f>'Chart Data'!$N$2:$N$3</ns0:f>
              <ns0:numCache>
                <ns0:formatCode>0.00</ns0:formatCode>
                <ns0:ptCount val="2"/>
                <ns0:pt idx="0">
                  <ns0:v>0.138928652505</ns0:v>
                </ns0:pt>
                <ns0:pt idx="1">
                  <ns0:v>0.138928652505</ns0:v>
                </ns0:pt>
              </ns0:numCache>
            </ns0:numRef>
          </ns0:yVal>
          <ns0:smooth val="0"/>
        </ns0:ser>
        <ns0:ser>
          <ns0:idx val="7"/>
          <ns0:order val="7"/>
          <ns0:tx>
            <ns0:strRef>
              <ns0:f>Aligned</ns0:f>
              <ns0:strCache>
                <ns0:ptCount val="1"/>
                <ns0:pt idx="0">
                  <ns0:v>Aligned</ns0:v>
                </ns0:pt>
              </ns0:strCache>
            </ns0:strRef>
          </ns0:tx>
          <ns0:spPr>
            <ns3:ln w="0" cap="rnd">
              <ns3:noFill/>
              <ns3:prstDash val="solid"/>
              <ns3:round/>
            </ns3:ln>
          </ns0:spPr>
          <ns0:marker>
            <ns0:symbol val="circle"/>
            <ns0:size val="8"/>
            <ns0:spPr>
              <ns3:solidFill>
                <ns3:srgbClr val="277F8A"/>
              </ns3:solidFill>
              <ns3:ln w="0">
                <ns3:noFill/>
                <ns3:prstDash val="solid"/>
                <ns3:round/>
              </ns3:ln>
            </ns0:spPr>
          </ns0:marker>
          <ns0:dLbls>
            <ns0:delete val="1"/>
          </ns0:dLbls>
          <ns0:xVal>
            <ns0:numRef>
              <ns0:f>'Chart Data'!$O$2:$O$6</ns0:f>
              <ns0:numCache>
                <ns0:formatCode>General</ns0:formatCode>
                <ns0:ptCount val="5"/>
                <ns0:pt idx="0">
                  <ns0:v>1</ns0:v>
                </ns0:pt>
                <ns0:pt idx="1">
                  <ns0:v>1</ns0:v>
                </ns0:pt>
                <ns0:pt idx="2">
                  <ns0:v>1</ns0:v>
                </ns0:pt>
                <ns0:pt idx="3">
                  <ns0:v>1</ns0:v>
                </ns0:pt>
                <ns0:pt idx="4">
                  <ns0:v>1</ns0:v>
                </ns0:pt>
              </ns0:numCache>
            </ns0:numRef>
          </ns0:xVal>
          <ns0:yVal>
            <ns0:numRef>
              <ns0:f>'Chart Data'!$P$2:$P$6</ns0:f>
              <ns0:numCache>
                <ns0:formatCode>0.00</ns0:formatCode>
                <ns0:ptCount val="5"/>
                <ns0:pt idx="0">
                  <ns0:v>0.0479071559509</ns0:v>
                </ns0:pt>
                <ns0:pt idx="1">
                  <ns0:v>0.0520761277309</ns0:v>
                </ns0:pt>
                <ns0:pt idx="2">
                  <ns0:v>0.0775945244812</ns0:v>
                </ns0:pt>
                <ns0:pt idx="3">
                  <ns0:v>0.0521713428166</ns0:v>
                </ns0:pt>
                <ns0:pt idx="4">
                  <ns0:v>0.189456765436</ns0:v>
                </ns0:pt>
              </ns0:numCache>
            </ns0:numRef>
          </ns0:yVal>
          <ns0:smooth val="0"/>
        </ns0:ser>
        <ns0:ser>
          <ns0:idx val="8"/>
          <ns0:order val="8"/>
          <ns0:tx>
            <ns0:strRef>
              <ns0:f>Mean Aligned</ns0:f>
              <ns0:strCache>
                <ns0:ptCount val="1"/>
                <ns0:pt idx="0">
                  <ns0:v>Mean Aligned</ns0:v>
                </ns0:pt>
              </ns0:strCache>
            </ns0:strRef>
          </ns0:tx>
          <ns0:spPr>
            <ns3:ln w="28575" cap="rnd">
              <ns3:solidFill>
                <ns3:srgbClr val="277F8A"/>
              </ns3:solidFill>
              <ns3:prstDash val="solid"/>
              <ns3:round/>
            </ns3:ln>
          </ns0:spPr>
          <ns0:marker>
            <ns0:symbol val="none"/>
          </ns0:marker>
          <ns0:dLbls>
            <ns0:delete val="1"/>
          </ns0:dLbls>
          <ns0:xVal>
            <ns0:numRef>
              <ns0:f>'Chart Data'!$Q$2:$Q$3</ns0:f>
              <ns0:numCache>
                <ns0:formatCode>General</ns0:formatCode>
                <ns0:ptCount val="2"/>
                <ns0:pt idx="0">
                  <ns0:v>0.88</ns0:v>
                </ns0:pt>
                <ns0:pt idx="1">
                  <ns0:v>1.12</ns0:v>
                </ns0:pt>
              </ns0:numCache>
            </ns0:numRef>
          </ns0:xVal>
          <ns0:yVal>
            <ns0:numRef>
              <ns0:f>'Chart Data'!$R$2:$R$3</ns0:f>
              <ns0:numCache>
                <ns0:formatCode>0.00</ns0:formatCode>
                <ns0:ptCount val="2"/>
                <ns0:pt idx="0">
                  <ns0:v>0.0838411832832</ns0:v>
                </ns0:pt>
                <ns0:pt idx="1">
                  <ns0:v>0.0838411832832</ns0:v>
                </ns0:pt>
              </ns0:numCache>
            </ns0:numRef>
          </ns0:yVal>
          <ns0:smooth val="0"/>
        </ns0:ser>
        <ns0:ser>
          <ns0:idx val="9"/>
          <ns0:order val="9"/>
          <ns0:tx>
            <ns0:strRef>
              <ns0:f>MisIndexed</ns0:f>
              <ns0:strCache>
                <ns0:ptCount val="1"/>
                <ns0:pt idx="0">
                  <ns0:v>MisIndexed</ns0:v>
                </ns0:pt>
              </ns0:strCache>
            </ns0:strRef>
          </ns0:tx>
          <ns0:spPr>
            <ns3:ln w="0" cap="rnd">
              <ns3:noFill/>
              <ns3:prstDash val="solid"/>
              <ns3:round/>
            </ns3:ln>
          </ns0:spPr>
          <ns0:marker>
            <ns0:symbol val="circle"/>
            <ns0:size val="8"/>
            <ns0:spPr>
              <ns3:solidFill>
                <ns3:srgbClr val="BC7850"/>
              </ns3:solidFill>
              <ns3:ln w="0">
                <ns3:noFill/>
                <ns3:prstDash val="solid"/>
                <ns3:round/>
              </ns3:ln>
            </ns0:spPr>
          </ns0:marker>
          <ns0:dLbls>
            <ns0:delete val="1"/>
          </ns0:dLbls>
          <ns0:xVal>
            <ns0:numRef>
              <ns0:f>'Chart Data'!$S$2:$S$6</ns0:f>
              <ns0:numCache>
                <ns0:formatCode>General</ns0:formatCode>
                <ns0:ptCount val="5"/>
                <ns0:pt idx="0">
                  <ns0:v>2</ns0:v>
                </ns0:pt>
                <ns0:pt idx="1">
                  <ns0:v>2</ns0:v>
                </ns0:pt>
                <ns0:pt idx="2">
                  <ns0:v>2</ns0:v>
                </ns0:pt>
                <ns0:pt idx="3">
                  <ns0:v>2</ns0:v>
                </ns0:pt>
                <ns0:pt idx="4">
                  <ns0:v>2</ns0:v>
                </ns0:pt>
              </ns0:numCache>
            </ns0:numRef>
          </ns0:xVal>
          <ns0:yVal>
            <ns0:numRef>
              <ns0:f>'Chart Data'!$T$2:$T$6</ns0:f>
              <ns0:numCache>
                <ns0:formatCode>0.00</ns0:formatCode>
                <ns0:ptCount val="5"/>
                <ns0:pt idx="0">
                  <ns0:v>0.0893396101362</ns0:v>
                </ns0:pt>
                <ns0:pt idx="1">
                  <ns0:v>0.0555966520113</ns0:v>
                </ns0:pt>
                <ns0:pt idx="2">
                  <ns0:v>0.218754688079</ns0:v>
                </ns0:pt>
                <ns0:pt idx="3">
                  <ns0:v>0.208894799004</ns0:v>
                </ns0:pt>
                <ns0:pt idx="4">
                  <ns0:v>0.0757616942094</ns0:v>
                </ns0:pt>
              </ns0:numCache>
            </ns0:numRef>
          </ns0:yVal>
          <ns0:smooth val="0"/>
        </ns0:ser>
        <ns0:ser>
          <ns0:idx val="10"/>
          <ns0:order val="10"/>
          <ns0:tx>
            <ns0:strRef>
              <ns0:f>Mean MisIndexed</ns0:f>
              <ns0:strCache>
                <ns0:ptCount val="1"/>
                <ns0:pt idx="0">
                  <ns0:v>Mean MisIndexed</ns0:v>
                </ns0:pt>
              </ns0:strCache>
            </ns0:strRef>
          </ns0:tx>
          <ns0:spPr>
            <ns3:ln w="28575" cap="rnd">
              <ns3:solidFill>
                <ns3:srgbClr val="BC7850"/>
              </ns3:solidFill>
              <ns3:prstDash val="solid"/>
              <ns3:round/>
            </ns3:ln>
          </ns0:spPr>
          <ns0:marker>
            <ns0:symbol val="none"/>
          </ns0:marker>
          <ns0:dLbls>
            <ns0:delete val="1"/>
          </ns0:dLbls>
          <ns0:xVal>
            <ns0:numRef>
              <ns0:f>'Chart Data'!$U$2:$U$3</ns0:f>
              <ns0:numCache>
                <ns0:formatCode>General</ns0:formatCode>
                <ns0:ptCount val="2"/>
                <ns0:pt idx="0">
                  <ns0:v>1.88</ns0:v>
                </ns0:pt>
                <ns0:pt idx="1">
                  <ns0:v>2.12</ns0:v>
                </ns0:pt>
              </ns0:numCache>
            </ns0:numRef>
          </ns0:xVal>
          <ns0:yVal>
            <ns0:numRef>
              <ns0:f>'Chart Data'!$V$2:$V$3</ns0:f>
              <ns0:numCache>
                <ns0:formatCode>0.00</ns0:formatCode>
                <ns0:ptCount val="2"/>
                <ns0:pt idx="0">
                  <ns0:v>0.129669488688</ns0:v>
                </ns0:pt>
                <ns0:pt idx="1">
                  <ns0:v>0.129669488688</ns0:v>
                </ns0:pt>
              </ns0:numCache>
            </ns0:numRef>
          </ns0:yVal>
          <ns0:smooth val="0"/>
        </ns0:ser>
        <ns0:dLbls>
          <ns0:showLegendKey val="0"/>
          <ns0:showVal val="0"/>
          <ns0:showCatName val="0"/>
          <ns0:showSerName val="0"/>
          <ns0:showPercent val="0"/>
          <ns0:showBubbleSize val="0"/>
        </ns0:dLbls>
        <ns0:axId val="48650112"/>
        <ns0:axId val="48672768"/>
      </ns0:scatterChart>
      <ns0:valAx>
        <ns0:axId val="48650112"/>
        <ns0:scaling>
          <ns0:orientation val="minMax"/>
          <ns0:max val="2.45"/>
          <ns0:min val="-0.45"/>
        </ns0:scaling>
        <ns0:delete val="0"/>
        <ns0:axPos val="b"/>
        <ns0:numFmt formatCode="0" sourceLinked="1"/>
        <ns0:majorTickMark val="none"/>
        <ns0:minorTickMark val="none"/>
        <ns0:tickLblPos val="none"/>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FFFFFF"/>
                </ns3:solidFill>
                <ns3:latin typeface="Arial" panose="020B0604020202020204"/>
                <ns3:ea typeface="Arial" panose="020B0604020202020204"/>
                <ns3:cs typeface="Arial" panose="020B0604020202020204"/>
              </ns3:defRPr>
            </ns3:pPr>
          </ns3:p>
        </ns0:txPr>
        <ns0:crossAx val="48672768"/>
        <ns0:crosses val="min"/>
        <ns0:crossBetween val="midCat"/>
        <ns0:majorUnit val="1"/>
      </ns0:valAx>
      <ns0:valAx>
        <ns0:axId val="48672768"/>
        <ns0:scaling>
          <ns0:orientation val="minMax"/>
          <ns0:max val="0.25"/>
          <ns0:min val="0"/>
        </ns0:scaling>
        <ns0:delete val="0"/>
        <ns0:axPos val="l"/>
        <ns0:title>
          <ns0:tx>
            <ns0:rich>
              <ns3:bodyPr rot="-5400000" spcFirstLastPara="0" vertOverflow="ellipsis" vert="horz" wrap="square" anchor="ctr" anchorCtr="1"/>
              <ns3:lstStyle/>
              <ns3:p>
                <ns3:pPr>
                  <ns3:defRPr lang="zh-CN" sz="1000" b="1" i="0" u="none" strike="noStrike" kern="1200" baseline="0">
                    <ns3:solidFill>
                      <ns3:schemeClr val="tx1"/>
                    </ns3:solidFill>
                    <ns3:latin typeface="+mn-lt"/>
                    <ns3:ea typeface="+mn-ea"/>
                    <ns3:cs typeface="+mn-cs"/>
                  </ns3:defRPr>
                </ns3:pPr>
                <ns3:r>
                  <ns3:rPr sz="1500">
                    <ns3:solidFill>
                      <ns3:srgbClr val="24292D"/>
                    </ns3:solidFill>
                    <ns3:latin typeface="Arial" panose="020B0604020202020204"/>
                    <ns3:ea typeface="Arial" panose="020B0604020202020204"/>
                    <ns3:cs typeface="Arial" panose="020B0604020202020204"/>
                  </ns3:rPr>
                  <ns3:t>Macro MAE</ns3:t>
                </ns3:r>
                <ns3:endParaRPr sz="1500">
                  <ns3:solidFill>
                    <ns3:srgbClr val="24292D"/>
                  </ns3:solidFill>
                  <ns3:latin typeface="Arial" panose="020B0604020202020204"/>
                  <ns3:ea typeface="Arial" panose="020B0604020202020204"/>
                  <ns3:cs typeface="Arial" panose="020B0604020202020204"/>
                </ns3:endParaRPr>
              </ns3:p>
            </ns0:rich>
          </ns0:tx>
          <ns0:layout/>
          <ns0:overlay val="0"/>
        </ns0:title>
        <ns0:numFmt formatCode="0.0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50112"/>
        <ns0:crosses val="min"/>
        <ns0:crossBetween val="midCat"/>
        <ns0:majorUnit val="0.05"/>
      </ns0:valAx>
      <ns0:spPr>
        <ns3:solidFill>
          <ns3:srgbClr val="FFFFFF"/>
        </ns3:solidFill>
        <ns3:ln w="0">
          <ns3:noFill/>
        </ns3:ln>
      </ns0:spPr>
    </ns0:plotArea>
    <ns0:plotVisOnly val="1"/>
    <ns0:dispBlanksAs val="gap"/>
    <ns0:showDLblsOverMax val="0"/>
    <ns0:extLst>
      <ns0:ext uri="{0b15fc19-7d7d-44ad-8c2d-2c3a37ce22c3}">
        <ns4:chartProps chartId="{8dc29d6b-e4b1-4025-80b2-5767053ce0d6}"/>
      </ns0:ext>
    </ns0:extLst>
  </ns0:chart>
  <ns0:spPr>
    <ns3:solidFill>
      <ns3:srgbClr val="FFFFFF"/>
    </ns3:solidFill>
    <ns3:ln w="0">
      <ns3:noFill/>
    </ns3:ln>
  </ns0:spPr>
  <ns0:txPr>
    <ns3:bodyPr/>
    <ns3:lstStyle/>
    <ns3:p>
      <ns3:pPr>
        <ns3:defRPr lang="zh-CN"/>
      </ns3:pPr>
    </ns3:p>
  </ns0:txPr>
  <ns0:externalData ns5:id="rId1">
    <ns0:autoUpdate val="0"/>
  </ns0:externalData>
</ns0:chartSpace>
</file>

<file path=ppt/charts/chart27.xml><?xml version="1.0" encoding="utf-8"?>
<ns0:chartSpace xmlns:ns0="http://schemas.openxmlformats.org/drawingml/2006/chart" xmlns:ns1="http://schemas.openxmlformats.org/markup-compatibility/2006" xmlns:ns2="http://schemas.microsoft.com/office/drawing/2007/8/2/chart" xmlns:ns3="http://schemas.openxmlformats.org/drawingml/2006/main" xmlns:ns4="https://web.wps.cn/et/2018/main" xmlns:ns5="http://schemas.openxmlformats.org/officeDocument/2006/relationships">
  <ns0:date1904 val="0"/>
  <ns0:lang val="zh-CN"/>
  <ns0:roundedCorners val="0"/>
  <ns1:AlternateContent>
    <ns1:Choice Requires="c14">
      <ns2:style val="102"/>
    </ns1:Choice>
    <ns1:Fallback>
      <ns0:style val="2"/>
    </ns1:Fallback>
  </ns1:AlternateContent>
  <ns0:chart>
    <ns0:autoTitleDeleted val="1"/>
    <ns0:plotArea>
      <ns0:layout/>
      <ns0:scatterChart>
        <ns0:scatterStyle val="lineMarker"/>
        <ns0:varyColors val="0"/>
        <ns0:ser>
          <ns0:idx val="0"/>
          <ns0:order val="0"/>
          <ns0:tx>
            <ns0:strRef>
              <ns0:f>Opaque other_nine</ns0:f>
              <ns0:strCache>
                <ns0:ptCount val="1"/>
                <ns0:pt idx="0">
                  <ns0:v>Opaque other_nine</ns0:v>
                </ns0:pt>
              </ns0:strCache>
            </ns0:strRef>
          </ns0:tx>
          <ns0:spPr>
            <ns3:ln w="0" cap="rnd">
              <ns3:noFill/>
              <ns3:prstDash val="solid"/>
              <ns3:round/>
            </ns3:ln>
          </ns0:spPr>
          <ns0:marker>
            <ns0:symbol val="circle"/>
            <ns0:size val="8"/>
            <ns0:spPr>
              <ns3:solidFill>
                <ns3:srgbClr val="637482"/>
              </ns3:solidFill>
              <ns3:ln w="0">
                <ns3:noFill/>
                <ns3:prstDash val="solid"/>
                <ns3:round/>
              </ns3:ln>
            </ns0:spPr>
          </ns0:marker>
          <ns0:dLbls>
            <ns0:delete val="1"/>
          </ns0:dLbls>
          <ns0:xVal>
            <ns0:numRef>
              <ns0:f>'Chart Data'!$A$2:$A$6</ns0:f>
              <ns0:numCache>
                <ns0:formatCode>General</ns0:formatCode>
                <ns0:ptCount val="5"/>
                <ns0:pt idx="0">
                  <ns0:v>0.784</ns0:v>
                </ns0:pt>
                <ns0:pt idx="1">
                  <ns0:v>0.802</ns0:v>
                </ns0:pt>
                <ns0:pt idx="2">
                  <ns0:v>0.82</ns0:v>
                </ns0:pt>
                <ns0:pt idx="3">
                  <ns0:v>0.838</ns0:v>
                </ns0:pt>
                <ns0:pt idx="4">
                  <ns0:v>0.856</ns0:v>
                </ns0:pt>
              </ns0:numCache>
            </ns0:numRef>
          </ns0:xVal>
          <ns0:yVal>
            <ns0:numRef>
              <ns0:f>'Chart Data'!$B$2:$B$6</ns0:f>
              <ns0:numCache>
                <ns0:formatCode>0.00</ns0:formatCode>
                <ns0:ptCount val="5"/>
                <ns0:pt idx="0">
                  <ns0:v>0.00531345372465</ns0:v>
                </ns0:pt>
                <ns0:pt idx="1">
                  <ns0:v>0.0106081330909</ns0:v>
                </ns0:pt>
                <ns0:pt idx="2">
                  <ns0:v>0.00991255779399</ns0:v>
                </ns0:pt>
                <ns0:pt idx="3">
                  <ns0:v>0.0154284600991</ns0:v>
                </ns0:pt>
                <ns0:pt idx="4">
                  <ns0:v>0.00911864817805</ns0:v>
                </ns0:pt>
              </ns0:numCache>
            </ns0:numRef>
          </ns0:yVal>
          <ns0:smooth val="0"/>
        </ns0:ser>
        <ns0:ser>
          <ns0:idx val="1"/>
          <ns0:order val="1"/>
          <ns0:tx>
            <ns0:strRef>
              <ns0:f>Mean Opaque other_nine</ns0:f>
              <ns0:strCache>
                <ns0:ptCount val="1"/>
                <ns0:pt idx="0">
                  <ns0:v>Mean Opaque other_nine</ns0:v>
                </ns0:pt>
              </ns0:strCache>
            </ns0:strRef>
          </ns0:tx>
          <ns0:spPr>
            <ns3:ln w="28575" cap="rnd">
              <ns3:solidFill>
                <ns3:srgbClr val="637482"/>
              </ns3:solidFill>
              <ns3:prstDash val="solid"/>
              <ns3:round/>
            </ns3:ln>
          </ns0:spPr>
          <ns0:marker>
            <ns0:symbol val="none"/>
          </ns0:marker>
          <ns0:dLbls>
            <ns0:delete val="1"/>
          </ns0:dLbls>
          <ns0:xVal>
            <ns0:numRef>
              <ns0:f>'Chart Data'!$C$2:$C$3</ns0:f>
              <ns0:numCache>
                <ns0:formatCode>General</ns0:formatCode>
                <ns0:ptCount val="2"/>
                <ns0:pt idx="0">
                  <ns0:v>0.755</ns0:v>
                </ns0:pt>
                <ns0:pt idx="1">
                  <ns0:v>0.885</ns0:v>
                </ns0:pt>
              </ns0:numCache>
            </ns0:numRef>
          </ns0:xVal>
          <ns0:yVal>
            <ns0:numRef>
              <ns0:f>'Chart Data'!$D$2:$D$3</ns0:f>
              <ns0:numCache>
                <ns0:formatCode>0.00</ns0:formatCode>
                <ns0:ptCount val="2"/>
                <ns0:pt idx="0">
                  <ns0:v>0.0100762505773</ns0:v>
                </ns0:pt>
                <ns0:pt idx="1">
                  <ns0:v>0.0100762505773</ns0:v>
                </ns0:pt>
              </ns0:numCache>
            </ns0:numRef>
          </ns0:yVal>
          <ns0:smooth val="0"/>
        </ns0:ser>
        <ns0:ser>
          <ns0:idx val="2"/>
          <ns0:order val="2"/>
          <ns0:tx>
            <ns0:strRef>
              <ns0:f>Aligned other_nine</ns0:f>
              <ns0:strCache>
                <ns0:ptCount val="1"/>
                <ns0:pt idx="0">
                  <ns0:v>Aligned other_nine</ns0:v>
                </ns0:pt>
              </ns0:strCache>
            </ns0:strRef>
          </ns0:tx>
          <ns0:spPr>
            <ns3:ln w="0" cap="rnd">
              <ns3:noFill/>
              <ns3:prstDash val="solid"/>
              <ns3:round/>
            </ns3:ln>
          </ns0:spPr>
          <ns0:marker>
            <ns0:symbol val="circle"/>
            <ns0:size val="8"/>
            <ns0:spPr>
              <ns3:solidFill>
                <ns3:srgbClr val="277F8A"/>
              </ns3:solidFill>
              <ns3:ln w="0">
                <ns3:noFill/>
                <ns3:prstDash val="solid"/>
                <ns3:round/>
              </ns3:ln>
            </ns0:spPr>
          </ns0:marker>
          <ns0:dLbls>
            <ns0:delete val="1"/>
          </ns0:dLbls>
          <ns0:xVal>
            <ns0:numRef>
              <ns0:f>'Chart Data'!$E$2:$E$6</ns0:f>
              <ns0:numCache>
                <ns0:formatCode>General</ns0:formatCode>
                <ns0:ptCount val="5"/>
                <ns0:pt idx="0">
                  <ns0:v>0.964</ns0:v>
                </ns0:pt>
                <ns0:pt idx="1">
                  <ns0:v>0.982</ns0:v>
                </ns0:pt>
                <ns0:pt idx="2">
                  <ns0:v>1</ns0:v>
                </ns0:pt>
                <ns0:pt idx="3">
                  <ns0:v>1.018</ns0:v>
                </ns0:pt>
                <ns0:pt idx="4">
                  <ns0:v>1.036</ns0:v>
                </ns0:pt>
              </ns0:numCache>
            </ns0:numRef>
          </ns0:xVal>
          <ns0:yVal>
            <ns0:numRef>
              <ns0:f>'Chart Data'!$F$2:$F$6</ns0:f>
              <ns0:numCache>
                <ns0:formatCode>0.00</ns0:formatCode>
                <ns0:ptCount val="5"/>
                <ns0:pt idx="0">
                  <ns0:v>0.00502080753114</ns0:v>
                </ns0:pt>
                <ns0:pt idx="1">
                  <ns0:v>0.00526615361373</ns0:v>
                </ns0:pt>
                <ns0:pt idx="2">
                  <ns0:v>0.00447773672696</ns0:v>
                </ns0:pt>
                <ns0:pt idx="3">
                  <ns0:v>0.00463010829422</ns0:v>
                </ns0:pt>
                <ns0:pt idx="4">
                  <ns0:v>0.00384170347717</ns0:v>
                </ns0:pt>
              </ns0:numCache>
            </ns0:numRef>
          </ns0:yVal>
          <ns0:smooth val="0"/>
        </ns0:ser>
        <ns0:ser>
          <ns0:idx val="3"/>
          <ns0:order val="3"/>
          <ns0:tx>
            <ns0:strRef>
              <ns0:f>Mean Aligned other_nine</ns0:f>
              <ns0:strCache>
                <ns0:ptCount val="1"/>
                <ns0:pt idx="0">
                  <ns0:v>Mean Aligned other_nine</ns0:v>
                </ns0:pt>
              </ns0:strCache>
            </ns0:strRef>
          </ns0:tx>
          <ns0:spPr>
            <ns3:ln w="28575" cap="rnd">
              <ns3:solidFill>
                <ns3:srgbClr val="277F8A"/>
              </ns3:solidFill>
              <ns3:prstDash val="solid"/>
              <ns3:round/>
            </ns3:ln>
          </ns0:spPr>
          <ns0:marker>
            <ns0:symbol val="none"/>
          </ns0:marker>
          <ns0:dLbls>
            <ns0:delete val="1"/>
          </ns0:dLbls>
          <ns0:xVal>
            <ns0:numRef>
              <ns0:f>'Chart Data'!$G$2:$G$3</ns0:f>
              <ns0:numCache>
                <ns0:formatCode>General</ns0:formatCode>
                <ns0:ptCount val="2"/>
                <ns0:pt idx="0">
                  <ns0:v>0.935</ns0:v>
                </ns0:pt>
                <ns0:pt idx="1">
                  <ns0:v>1.065</ns0:v>
                </ns0:pt>
              </ns0:numCache>
            </ns0:numRef>
          </ns0:xVal>
          <ns0:yVal>
            <ns0:numRef>
              <ns0:f>'Chart Data'!$H$2:$H$3</ns0:f>
              <ns0:numCache>
                <ns0:formatCode>0.00</ns0:formatCode>
                <ns0:ptCount val="2"/>
                <ns0:pt idx="0">
                  <ns0:v>0.00464730192864</ns0:v>
                </ns0:pt>
                <ns0:pt idx="1">
                  <ns0:v>0.00464730192864</ns0:v>
                </ns0:pt>
              </ns0:numCache>
            </ns0:numRef>
          </ns0:yVal>
          <ns0:smooth val="0"/>
        </ns0:ser>
        <ns0:ser>
          <ns0:idx val="4"/>
          <ns0:order val="4"/>
          <ns0:tx>
            <ns0:strRef>
              <ns0:f>MisIndexed other_nine</ns0:f>
              <ns0:strCache>
                <ns0:ptCount val="1"/>
                <ns0:pt idx="0">
                  <ns0:v>MisIndexed other_nine</ns0:v>
                </ns0:pt>
              </ns0:strCache>
            </ns0:strRef>
          </ns0:tx>
          <ns0:spPr>
            <ns3:ln w="0" cap="rnd">
              <ns3:noFill/>
              <ns3:prstDash val="solid"/>
              <ns3:round/>
            </ns3:ln>
          </ns0:spPr>
          <ns0:marker>
            <ns0:symbol val="circle"/>
            <ns0:size val="8"/>
            <ns0:spPr>
              <ns3:solidFill>
                <ns3:srgbClr val="BC7850"/>
              </ns3:solidFill>
              <ns3:ln w="0">
                <ns3:noFill/>
                <ns3:prstDash val="solid"/>
                <ns3:round/>
              </ns3:ln>
            </ns0:spPr>
          </ns0:marker>
          <ns0:dLbls>
            <ns0:delete val="1"/>
          </ns0:dLbls>
          <ns0:xVal>
            <ns0:numRef>
              <ns0:f>'Chart Data'!$I$2:$I$6</ns0:f>
              <ns0:numCache>
                <ns0:formatCode>General</ns0:formatCode>
                <ns0:ptCount val="5"/>
                <ns0:pt idx="0">
                  <ns0:v>1.144</ns0:v>
                </ns0:pt>
                <ns0:pt idx="1">
                  <ns0:v>1.162</ns0:v>
                </ns0:pt>
                <ns0:pt idx="2">
                  <ns0:v>1.18</ns0:v>
                </ns0:pt>
                <ns0:pt idx="3">
                  <ns0:v>1.198</ns0:v>
                </ns0:pt>
                <ns0:pt idx="4">
                  <ns0:v>1.216</ns0:v>
                </ns0:pt>
              </ns0:numCache>
            </ns0:numRef>
          </ns0:xVal>
          <ns0:yVal>
            <ns0:numRef>
              <ns0:f>'Chart Data'!$J$2:$J$6</ns0:f>
              <ns0:numCache>
                <ns0:formatCode>0.00</ns0:formatCode>
                <ns0:ptCount val="5"/>
                <ns0:pt idx="0">
                  <ns0:v>0.00557500449665</ns0:v>
                </ns0:pt>
                <ns0:pt idx="1">
                  <ns0:v>0.00616534354334</ns0:v>
                </ns0:pt>
                <ns0:pt idx="2">
                  <ns0:v>0.00179164950715</ns0:v>
                </ns0:pt>
                <ns0:pt idx="3">
                  <ns0:v>0.00439188097406</ns0:v>
                </ns0:pt>
                <ns0:pt idx="4">
                  <ns0:v>0.00402537250386</ns0:v>
                </ns0:pt>
              </ns0:numCache>
            </ns0:numRef>
          </ns0:yVal>
          <ns0:smooth val="0"/>
        </ns0:ser>
        <ns0:ser>
          <ns0:idx val="5"/>
          <ns0:order val="5"/>
          <ns0:tx>
            <ns0:strRef>
              <ns0:f>Mean MisIndexed other_nine</ns0:f>
              <ns0:strCache>
                <ns0:ptCount val="1"/>
                <ns0:pt idx="0">
                  <ns0:v>Mean MisIndexed other_nine</ns0:v>
                </ns0:pt>
              </ns0:strCache>
            </ns0:strRef>
          </ns0:tx>
          <ns0:spPr>
            <ns3:ln w="28575" cap="rnd">
              <ns3:solidFill>
                <ns3:srgbClr val="BC7850"/>
              </ns3:solidFill>
              <ns3:prstDash val="solid"/>
              <ns3:round/>
            </ns3:ln>
          </ns0:spPr>
          <ns0:marker>
            <ns0:symbol val="none"/>
          </ns0:marker>
          <ns0:dLbls>
            <ns0:delete val="1"/>
          </ns0:dLbls>
          <ns0:xVal>
            <ns0:numRef>
              <ns0:f>'Chart Data'!$K$2:$K$3</ns0:f>
              <ns0:numCache>
                <ns0:formatCode>General</ns0:formatCode>
                <ns0:ptCount val="2"/>
                <ns0:pt idx="0">
                  <ns0:v>1.115</ns0:v>
                </ns0:pt>
                <ns0:pt idx="1">
                  <ns0:v>1.245</ns0:v>
                </ns0:pt>
              </ns0:numCache>
            </ns0:numRef>
          </ns0:xVal>
          <ns0:yVal>
            <ns0:numRef>
              <ns0:f>'Chart Data'!$L$2:$L$3</ns0:f>
              <ns0:numCache>
                <ns0:formatCode>0.00</ns0:formatCode>
                <ns0:ptCount val="2"/>
                <ns0:pt idx="0">
                  <ns0:v>0.00438985020501</ns0:v>
                </ns0:pt>
                <ns0:pt idx="1">
                  <ns0:v>0.00438985020501</ns0:v>
                </ns0:pt>
              </ns0:numCache>
            </ns0:numRef>
          </ns0:yVal>
          <ns0:smooth val="0"/>
        </ns0:ser>
        <ns0:ser>
          <ns0:idx val="6"/>
          <ns0:order val="6"/>
          <ns0:tx>
            <ns0:strRef>
              <ns0:f>Opaque three_most_dilute</ns0:f>
              <ns0:strCache>
                <ns0:ptCount val="1"/>
                <ns0:pt idx="0">
                  <ns0:v>Opaque three_most_dilute</ns0:v>
                </ns0:pt>
              </ns0:strCache>
            </ns0:strRef>
          </ns0:tx>
          <ns0:spPr>
            <ns3:ln w="0" cap="rnd">
              <ns3:noFill/>
              <ns3:prstDash val="solid"/>
              <ns3:round/>
            </ns3:ln>
          </ns0:spPr>
          <ns0:marker>
            <ns0:symbol val="circle"/>
            <ns0:size val="8"/>
            <ns0:spPr>
              <ns3:solidFill>
                <ns3:srgbClr val="637482"/>
              </ns3:solidFill>
              <ns3:ln w="0">
                <ns3:noFill/>
                <ns3:prstDash val="solid"/>
                <ns3:round/>
              </ns3:ln>
            </ns0:spPr>
          </ns0:marker>
          <ns0:dLbls>
            <ns0:delete val="1"/>
          </ns0:dLbls>
          <ns0:xVal>
            <ns0:numRef>
              <ns0:f>'Chart Data'!$M$2:$M$6</ns0:f>
              <ns0:numCache>
                <ns0:formatCode>General</ns0:formatCode>
                <ns0:ptCount val="5"/>
                <ns0:pt idx="0">
                  <ns0:v>1.784</ns0:v>
                </ns0:pt>
                <ns0:pt idx="1">
                  <ns0:v>1.802</ns0:v>
                </ns0:pt>
                <ns0:pt idx="2">
                  <ns0:v>1.82</ns0:v>
                </ns0:pt>
                <ns0:pt idx="3">
                  <ns0:v>1.838</ns0:v>
                </ns0:pt>
                <ns0:pt idx="4">
                  <ns0:v>1.856</ns0:v>
                </ns0:pt>
              </ns0:numCache>
            </ns0:numRef>
          </ns0:xVal>
          <ns0:yVal>
            <ns0:numRef>
              <ns0:f>'Chart Data'!$N$2:$N$6</ns0:f>
              <ns0:numCache>
                <ns0:formatCode>0.00</ns0:formatCode>
                <ns0:ptCount val="5"/>
                <ns0:pt idx="0">
                  <ns0:v>0.0393088381249</ns0:v>
                </ns0:pt>
                <ns0:pt idx="1">
                  <ns0:v>0.0141755649172</ns0:v>
                </ns0:pt>
                <ns0:pt idx="2">
                  <ns0:v>0.0119322357734</ns0:v>
                </ns0:pt>
                <ns0:pt idx="3">
                  <ns0:v>0.0106846947237</ns0:v>
                </ns0:pt>
                <ns0:pt idx="4">
                  <ns0:v>0.015559167788</ns0:v>
                </ns0:pt>
              </ns0:numCache>
            </ns0:numRef>
          </ns0:yVal>
          <ns0:smooth val="0"/>
        </ns0:ser>
        <ns0:ser>
          <ns0:idx val="7"/>
          <ns0:order val="7"/>
          <ns0:tx>
            <ns0:strRef>
              <ns0:f>Mean Opaque three_most_dilute</ns0:f>
              <ns0:strCache>
                <ns0:ptCount val="1"/>
                <ns0:pt idx="0">
                  <ns0:v>Mean Opaque three_most_dilute</ns0:v>
                </ns0:pt>
              </ns0:strCache>
            </ns0:strRef>
          </ns0:tx>
          <ns0:spPr>
            <ns3:ln w="28575" cap="rnd">
              <ns3:solidFill>
                <ns3:srgbClr val="637482"/>
              </ns3:solidFill>
              <ns3:prstDash val="solid"/>
              <ns3:round/>
            </ns3:ln>
          </ns0:spPr>
          <ns0:marker>
            <ns0:symbol val="none"/>
          </ns0:marker>
          <ns0:dLbls>
            <ns0:delete val="1"/>
          </ns0:dLbls>
          <ns0:xVal>
            <ns0:numRef>
              <ns0:f>'Chart Data'!$O$2:$O$3</ns0:f>
              <ns0:numCache>
                <ns0:formatCode>General</ns0:formatCode>
                <ns0:ptCount val="2"/>
                <ns0:pt idx="0">
                  <ns0:v>1.755</ns0:v>
                </ns0:pt>
                <ns0:pt idx="1">
                  <ns0:v>1.885</ns0:v>
                </ns0:pt>
              </ns0:numCache>
            </ns0:numRef>
          </ns0:xVal>
          <ns0:yVal>
            <ns0:numRef>
              <ns0:f>'Chart Data'!$P$2:$P$3</ns0:f>
              <ns0:numCache>
                <ns0:formatCode>0.00</ns0:formatCode>
                <ns0:ptCount val="2"/>
                <ns0:pt idx="0">
                  <ns0:v>0.0183321002655</ns0:v>
                </ns0:pt>
                <ns0:pt idx="1">
                  <ns0:v>0.0183321002655</ns0:v>
                </ns0:pt>
              </ns0:numCache>
            </ns0:numRef>
          </ns0:yVal>
          <ns0:smooth val="0"/>
        </ns0:ser>
        <ns0:ser>
          <ns0:idx val="8"/>
          <ns0:order val="8"/>
          <ns0:tx>
            <ns0:strRef>
              <ns0:f>Aligned three_most_dilute</ns0:f>
              <ns0:strCache>
                <ns0:ptCount val="1"/>
                <ns0:pt idx="0">
                  <ns0:v>Aligned three_most_dilute</ns0:v>
                </ns0:pt>
              </ns0:strCache>
            </ns0:strRef>
          </ns0:tx>
          <ns0:spPr>
            <ns3:ln w="0" cap="rnd">
              <ns3:noFill/>
              <ns3:prstDash val="solid"/>
              <ns3:round/>
            </ns3:ln>
          </ns0:spPr>
          <ns0:marker>
            <ns0:symbol val="circle"/>
            <ns0:size val="8"/>
            <ns0:spPr>
              <ns3:solidFill>
                <ns3:srgbClr val="277F8A"/>
              </ns3:solidFill>
              <ns3:ln w="0">
                <ns3:noFill/>
                <ns3:prstDash val="solid"/>
                <ns3:round/>
              </ns3:ln>
            </ns0:spPr>
          </ns0:marker>
          <ns0:dLbls>
            <ns0:delete val="1"/>
          </ns0:dLbls>
          <ns0:xVal>
            <ns0:numRef>
              <ns0:f>'Chart Data'!$Q$2:$Q$6</ns0:f>
              <ns0:numCache>
                <ns0:formatCode>General</ns0:formatCode>
                <ns0:ptCount val="5"/>
                <ns0:pt idx="0">
                  <ns0:v>1.964</ns0:v>
                </ns0:pt>
                <ns0:pt idx="1">
                  <ns0:v>1.982</ns0:v>
                </ns0:pt>
                <ns0:pt idx="2">
                  <ns0:v>2</ns0:v>
                </ns0:pt>
                <ns0:pt idx="3">
                  <ns0:v>2.018</ns0:v>
                </ns0:pt>
                <ns0:pt idx="4">
                  <ns0:v>2.036</ns0:v>
                </ns0:pt>
              </ns0:numCache>
            </ns0:numRef>
          </ns0:xVal>
          <ns0:yVal>
            <ns0:numRef>
              <ns0:f>'Chart Data'!$R$2:$R$6</ns0:f>
              <ns0:numCache>
                <ns0:formatCode>0.00</ns0:formatCode>
                <ns0:ptCount val="5"/>
                <ns0:pt idx="0">
                  <ns0:v>0.189531060347</ns0:v>
                </ns0:pt>
                <ns0:pt idx="1">
                  <ns0:v>0.18268312077</ns0:v>
                </ns0:pt>
                <ns0:pt idx="2">
                  <ns0:v>0.149558921387</ns0:v>
                </ns0:pt>
                <ns0:pt idx="3">
                  <ns0:v>0.141295995701</ns0:v>
                </ns0:pt>
                <ns0:pt idx="4">
                  <ns0:v>0.130052209385</ns0:v>
                </ns0:pt>
              </ns0:numCache>
            </ns0:numRef>
          </ns0:yVal>
          <ns0:smooth val="0"/>
        </ns0:ser>
        <ns0:ser>
          <ns0:idx val="9"/>
          <ns0:order val="9"/>
          <ns0:tx>
            <ns0:strRef>
              <ns0:f>Mean Aligned three_most_dilute</ns0:f>
              <ns0:strCache>
                <ns0:ptCount val="1"/>
                <ns0:pt idx="0">
                  <ns0:v>Mean Aligned three_most_dilute</ns0:v>
                </ns0:pt>
              </ns0:strCache>
            </ns0:strRef>
          </ns0:tx>
          <ns0:spPr>
            <ns3:ln w="28575" cap="rnd">
              <ns3:solidFill>
                <ns3:srgbClr val="277F8A"/>
              </ns3:solidFill>
              <ns3:prstDash val="solid"/>
              <ns3:round/>
            </ns3:ln>
          </ns0:spPr>
          <ns0:marker>
            <ns0:symbol val="none"/>
          </ns0:marker>
          <ns0:dLbls>
            <ns0:delete val="1"/>
          </ns0:dLbls>
          <ns0:xVal>
            <ns0:numRef>
              <ns0:f>'Chart Data'!$S$2:$S$3</ns0:f>
              <ns0:numCache>
                <ns0:formatCode>General</ns0:formatCode>
                <ns0:ptCount val="2"/>
                <ns0:pt idx="0">
                  <ns0:v>1.935</ns0:v>
                </ns0:pt>
                <ns0:pt idx="1">
                  <ns0:v>2.065</ns0:v>
                </ns0:pt>
              </ns0:numCache>
            </ns0:numRef>
          </ns0:xVal>
          <ns0:yVal>
            <ns0:numRef>
              <ns0:f>'Chart Data'!$T$2:$T$3</ns0:f>
              <ns0:numCache>
                <ns0:formatCode>0.00</ns0:formatCode>
                <ns0:ptCount val="2"/>
                <ns0:pt idx="0">
                  <ns0:v>0.158624261518</ns0:v>
                </ns0:pt>
                <ns0:pt idx="1">
                  <ns0:v>0.158624261518</ns0:v>
                </ns0:pt>
              </ns0:numCache>
            </ns0:numRef>
          </ns0:yVal>
          <ns0:smooth val="0"/>
        </ns0:ser>
        <ns0:ser>
          <ns0:idx val="10"/>
          <ns0:order val="10"/>
          <ns0:tx>
            <ns0:strRef>
              <ns0:f>MisIndexed three_most_dilute</ns0:f>
              <ns0:strCache>
                <ns0:ptCount val="1"/>
                <ns0:pt idx="0">
                  <ns0:v>MisIndexed three_most_dilute</ns0:v>
                </ns0:pt>
              </ns0:strCache>
            </ns0:strRef>
          </ns0:tx>
          <ns0:spPr>
            <ns3:ln w="0" cap="rnd">
              <ns3:noFill/>
              <ns3:prstDash val="solid"/>
              <ns3:round/>
            </ns3:ln>
          </ns0:spPr>
          <ns0:marker>
            <ns0:symbol val="circle"/>
            <ns0:size val="8"/>
            <ns0:spPr>
              <ns3:solidFill>
                <ns3:srgbClr val="BC7850"/>
              </ns3:solidFill>
              <ns3:ln w="0">
                <ns3:noFill/>
                <ns3:prstDash val="solid"/>
                <ns3:round/>
              </ns3:ln>
            </ns0:spPr>
          </ns0:marker>
          <ns0:dLbls>
            <ns0:delete val="1"/>
          </ns0:dLbls>
          <ns0:xVal>
            <ns0:numRef>
              <ns0:f>'Chart Data'!$U$2:$U$6</ns0:f>
              <ns0:numCache>
                <ns0:formatCode>General</ns0:formatCode>
                <ns0:ptCount val="5"/>
                <ns0:pt idx="0">
                  <ns0:v>2.144</ns0:v>
                </ns0:pt>
                <ns0:pt idx="1">
                  <ns0:v>2.162</ns0:v>
                </ns0:pt>
                <ns0:pt idx="2">
                  <ns0:v>2.18</ns0:v>
                </ns0:pt>
                <ns0:pt idx="3">
                  <ns0:v>2.198</ns0:v>
                </ns0:pt>
                <ns0:pt idx="4">
                  <ns0:v>2.216</ns0:v>
                </ns0:pt>
              </ns0:numCache>
            </ns0:numRef>
          </ns0:xVal>
          <ns0:yVal>
            <ns0:numRef>
              <ns0:f>'Chart Data'!$V$2:$V$6</ns0:f>
              <ns0:numCache>
                <ns0:formatCode>0.00</ns0:formatCode>
                <ns0:ptCount val="5"/>
                <ns0:pt idx="0">
                  <ns0:v>0.189583504792</ns0:v>
                </ns0:pt>
                <ns0:pt idx="1">
                  <ns0:v>0.188205342992</ns0:v>
                </ns0:pt>
                <ns0:pt idx="2">
                  <ns0:v>0.0727811436097</ns0:v>
                </ns0:pt>
                <ns0:pt idx="3">
                  <ns0:v>0.14108488459</ns0:v>
                </ns0:pt>
                <ns0:pt idx="4">
                  <ns0:v>0.128185542719</ns0:v>
                </ns0:pt>
              </ns0:numCache>
            </ns0:numRef>
          </ns0:yVal>
          <ns0:smooth val="0"/>
        </ns0:ser>
        <ns0:ser>
          <ns0:idx val="11"/>
          <ns0:order val="11"/>
          <ns0:tx>
            <ns0:strRef>
              <ns0:f>Mean MisIndexed three_most_dilute</ns0:f>
              <ns0:strCache>
                <ns0:ptCount val="1"/>
                <ns0:pt idx="0">
                  <ns0:v>Mean MisIndexed three_most_dilute</ns0:v>
                </ns0:pt>
              </ns0:strCache>
            </ns0:strRef>
          </ns0:tx>
          <ns0:spPr>
            <ns3:ln w="28575" cap="rnd">
              <ns3:solidFill>
                <ns3:srgbClr val="BC7850"/>
              </ns3:solidFill>
              <ns3:prstDash val="solid"/>
              <ns3:round/>
            </ns3:ln>
          </ns0:spPr>
          <ns0:marker>
            <ns0:symbol val="none"/>
          </ns0:marker>
          <ns0:dLbls>
            <ns0:delete val="1"/>
          </ns0:dLbls>
          <ns0:xVal>
            <ns0:numRef>
              <ns0:f>'Chart Data'!$W$2:$W$3</ns0:f>
              <ns0:numCache>
                <ns0:formatCode>General</ns0:formatCode>
                <ns0:ptCount val="2"/>
                <ns0:pt idx="0">
                  <ns0:v>2.115</ns0:v>
                </ns0:pt>
                <ns0:pt idx="1">
                  <ns0:v>2.245</ns0:v>
                </ns0:pt>
              </ns0:numCache>
            </ns0:numRef>
          </ns0:xVal>
          <ns0:yVal>
            <ns0:numRef>
              <ns0:f>'Chart Data'!$X$2:$X$3</ns0:f>
              <ns0:numCache>
                <ns0:formatCode>0.00</ns0:formatCode>
                <ns0:ptCount val="2"/>
                <ns0:pt idx="0">
                  <ns0:v>0.14396808374</ns0:v>
                </ns0:pt>
                <ns0:pt idx="1">
                  <ns0:v>0.14396808374</ns0:v>
                </ns0:pt>
              </ns0:numCache>
            </ns0:numRef>
          </ns0:yVal>
          <ns0:smooth val="0"/>
        </ns0:ser>
        <ns0:dLbls>
          <ns0:showLegendKey val="0"/>
          <ns0:showVal val="0"/>
          <ns0:showCatName val="0"/>
          <ns0:showSerName val="0"/>
          <ns0:showPercent val="0"/>
          <ns0:showBubbleSize val="0"/>
        </ns0:dLbls>
        <ns0:axId val="48650112"/>
        <ns0:axId val="48672768"/>
      </ns0:scatterChart>
      <ns0:valAx>
        <ns0:axId val="48650112"/>
        <ns0:scaling>
          <ns0:orientation val="minMax"/>
          <ns0:max val="2.5"/>
          <ns0:min val="0.5"/>
        </ns0:scaling>
        <ns0:delete val="0"/>
        <ns0:axPos val="b"/>
        <ns0:numFmt formatCode="0" sourceLinked="1"/>
        <ns0:majorTickMark val="none"/>
        <ns0:minorTickMark val="none"/>
        <ns0:tickLblPos val="none"/>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FFFFFF"/>
                </ns3:solidFill>
                <ns3:latin typeface="Arial" panose="020B0604020202020204"/>
                <ns3:ea typeface="Arial" panose="020B0604020202020204"/>
                <ns3:cs typeface="Arial" panose="020B0604020202020204"/>
              </ns3:defRPr>
            </ns3:pPr>
          </ns3:p>
        </ns0:txPr>
        <ns0:crossAx val="48672768"/>
        <ns0:crosses val="min"/>
        <ns0:crossBetween val="midCat"/>
        <ns0:majorUnit val="1"/>
      </ns0:valAx>
      <ns0:valAx>
        <ns0:axId val="48672768"/>
        <ns0:scaling>
          <ns0:orientation val="minMax"/>
          <ns0:max val="0.2"/>
          <ns0:min val="0"/>
        </ns0:scaling>
        <ns0:delete val="0"/>
        <ns0:axPos val="l"/>
        <ns0:title>
          <ns0:tx>
            <ns0:rich>
              <ns3:bodyPr rot="-5400000" spcFirstLastPara="0" vertOverflow="ellipsis" vert="horz" wrap="square" anchor="ctr" anchorCtr="1"/>
              <ns3:lstStyle/>
              <ns3:p>
                <ns3:pPr>
                  <ns3:defRPr lang="zh-CN" sz="1000" b="1" i="0" u="none" strike="noStrike" kern="1200" baseline="0">
                    <ns3:solidFill>
                      <ns3:schemeClr val="tx1"/>
                    </ns3:solidFill>
                    <ns3:latin typeface="+mn-lt"/>
                    <ns3:ea typeface="+mn-ea"/>
                    <ns3:cs typeface="+mn-cs"/>
                  </ns3:defRPr>
                </ns3:pPr>
                <ns3:r>
                  <ns3:rPr sz="1500">
                    <ns3:solidFill>
                      <ns3:srgbClr val="24292D"/>
                    </ns3:solidFill>
                    <ns3:latin typeface="Arial" panose="020B0604020202020204"/>
                    <ns3:ea typeface="Arial" panose="020B0604020202020204"/>
                    <ns3:cs typeface="Arial" panose="020B0604020202020204"/>
                  </ns3:rPr>
                  <ns3:t>Macro MAE</ns3:t>
                </ns3:r>
                <ns3:endParaRPr sz="1500">
                  <ns3:solidFill>
                    <ns3:srgbClr val="24292D"/>
                  </ns3:solidFill>
                  <ns3:latin typeface="Arial" panose="020B0604020202020204"/>
                  <ns3:ea typeface="Arial" panose="020B0604020202020204"/>
                  <ns3:cs typeface="Arial" panose="020B0604020202020204"/>
                </ns3:endParaRPr>
              </ns3:p>
            </ns0:rich>
          </ns0:tx>
          <ns0:layout/>
          <ns0:overlay val="0"/>
        </ns0:title>
        <ns0:numFmt formatCode="0.0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50112"/>
        <ns0:crosses val="min"/>
        <ns0:crossBetween val="midCat"/>
        <ns0:majorUnit val="0.05"/>
      </ns0:valAx>
      <ns0:spPr>
        <ns3:solidFill>
          <ns3:srgbClr val="FFFFFF"/>
        </ns3:solidFill>
        <ns3:ln w="0">
          <ns3:noFill/>
        </ns3:ln>
      </ns0:spPr>
    </ns0:plotArea>
    <ns0:plotVisOnly val="1"/>
    <ns0:dispBlanksAs val="gap"/>
    <ns0:showDLblsOverMax val="0"/>
    <ns0:extLst>
      <ns0:ext uri="{0b15fc19-7d7d-44ad-8c2d-2c3a37ce22c3}">
        <ns4:chartProps chartId="{b18d6263-d8a9-4b28-aa35-85cc27b54d9a}"/>
      </ns0:ext>
    </ns0:extLst>
  </ns0:chart>
  <ns0:spPr>
    <ns3:solidFill>
      <ns3:srgbClr val="FFFFFF"/>
    </ns3:solidFill>
    <ns3:ln w="0">
      <ns3:noFill/>
    </ns3:ln>
  </ns0:spPr>
  <ns0:txPr>
    <ns3:bodyPr/>
    <ns3:lstStyle/>
    <ns3:p>
      <ns3:pPr>
        <ns3:defRPr lang="zh-CN"/>
      </ns3:pPr>
    </ns3:p>
  </ns0:txPr>
  <ns0:externalData ns5:id="rId1">
    <ns0:autoUpdate val="0"/>
  </ns0:externalData>
</ns0:chartSpace>
</file>

<file path=ppt/charts/chart28.xml><?xml version="1.0" encoding="utf-8"?>
<ns0:chartSpace xmlns:ns0="http://schemas.openxmlformats.org/drawingml/2006/chart" xmlns:ns1="http://schemas.openxmlformats.org/markup-compatibility/2006" xmlns:ns2="http://schemas.microsoft.com/office/drawing/2007/8/2/chart" xmlns:ns3="http://schemas.openxmlformats.org/drawingml/2006/main" xmlns:ns4="https://web.wps.cn/et/2018/main" xmlns:ns5="http://schemas.openxmlformats.org/officeDocument/2006/relationships">
  <ns0:date1904 val="0"/>
  <ns0:lang val="zh-CN"/>
  <ns0:roundedCorners val="0"/>
  <ns1:AlternateContent>
    <ns1:Choice Requires="c14">
      <ns2:style val="102"/>
    </ns1:Choice>
    <ns1:Fallback>
      <ns0:style val="2"/>
    </ns1:Fallback>
  </ns1:AlternateContent>
  <ns0:chart>
    <ns0:autoTitleDeleted val="1"/>
    <ns0:plotArea>
      <ns0:layout/>
      <ns0:scatterChart>
        <ns0:scatterStyle val="lineMarker"/>
        <ns0:varyColors val="0"/>
        <ns0:ser>
          <ns0:idx val="0"/>
          <ns0:order val="0"/>
          <ns0:tx>
            <ns0:strRef>
              <ns0:f>Nominal 80%</ns0:f>
              <ns0:strCache>
                <ns0:ptCount val="1"/>
                <ns0:pt idx="0">
                  <ns0:v>Nominal 80%</ns0:v>
                </ns0:pt>
              </ns0:strCache>
            </ns0:strRef>
          </ns0:tx>
          <ns0:spPr>
            <ns3:ln w="12383" cap="rnd">
              <ns3:solidFill>
                <ns3:srgbClr val="6A737B"/>
              </ns3:solidFill>
              <ns3:prstDash val="solid"/>
              <ns3:round/>
            </ns3:ln>
          </ns0:spPr>
          <ns0:marker>
            <ns0:symbol val="none"/>
          </ns0:marker>
          <ns0:dLbls>
            <ns0:delete val="1"/>
          </ns0:dLbls>
          <ns0:xVal>
            <ns0:numRef>
              <ns0:f>'Chart Data'!$A$2:$A$3</ns0:f>
              <ns0:numCache>
                <ns0:formatCode>General</ns0:formatCode>
                <ns0:ptCount val="2"/>
                <ns0:pt idx="0">
                  <ns0:v>0.5</ns0:v>
                </ns0:pt>
                <ns0:pt idx="1">
                  <ns0:v>2.5</ns0:v>
                </ns0:pt>
              </ns0:numCache>
            </ns0:numRef>
          </ns0:xVal>
          <ns0:yVal>
            <ns0:numRef>
              <ns0:f>'Chart Data'!$B$2:$B$3</ns0:f>
              <ns0:numCache>
                <ns0:formatCode>0</ns0:formatCode>
                <ns0:ptCount val="2"/>
                <ns0:pt idx="0">
                  <ns0:v>80</ns0:v>
                </ns0:pt>
                <ns0:pt idx="1">
                  <ns0:v>80</ns0:v>
                </ns0:pt>
              </ns0:numCache>
            </ns0:numRef>
          </ns0:yVal>
          <ns0:smooth val="0"/>
        </ns0:ser>
        <ns0:ser>
          <ns0:idx val="1"/>
          <ns0:order val="1"/>
          <ns0:tx>
            <ns0:strRef>
              <ns0:f>Opaque other_nine</ns0:f>
              <ns0:strCache>
                <ns0:ptCount val="1"/>
                <ns0:pt idx="0">
                  <ns0:v>Opaque other_nine</ns0:v>
                </ns0:pt>
              </ns0:strCache>
            </ns0:strRef>
          </ns0:tx>
          <ns0:spPr>
            <ns3:ln w="0" cap="rnd">
              <ns3:noFill/>
              <ns3:prstDash val="solid"/>
              <ns3:round/>
            </ns3:ln>
          </ns0:spPr>
          <ns0:marker>
            <ns0:symbol val="circle"/>
            <ns0:size val="8"/>
            <ns0:spPr>
              <ns3:solidFill>
                <ns3:srgbClr val="637482"/>
              </ns3:solidFill>
              <ns3:ln w="0">
                <ns3:noFill/>
                <ns3:prstDash val="solid"/>
                <ns3:round/>
              </ns3:ln>
            </ns0:spPr>
          </ns0:marker>
          <ns0:dLbls>
            <ns0:delete val="1"/>
          </ns0:dLbls>
          <ns0:xVal>
            <ns0:numRef>
              <ns0:f>'Chart Data'!$C$2:$C$6</ns0:f>
              <ns0:numCache>
                <ns0:formatCode>General</ns0:formatCode>
                <ns0:ptCount val="5"/>
                <ns0:pt idx="0">
                  <ns0:v>0.784</ns0:v>
                </ns0:pt>
                <ns0:pt idx="1">
                  <ns0:v>0.802</ns0:v>
                </ns0:pt>
                <ns0:pt idx="2">
                  <ns0:v>0.82</ns0:v>
                </ns0:pt>
                <ns0:pt idx="3">
                  <ns0:v>0.838</ns0:v>
                </ns0:pt>
                <ns0:pt idx="4">
                  <ns0:v>0.856</ns0:v>
                </ns0:pt>
              </ns0:numCache>
            </ns0:numRef>
          </ns0:xVal>
          <ns0:yVal>
            <ns0:numRef>
              <ns0:f>'Chart Data'!$D$2:$D$6</ns0:f>
              <ns0:numCache>
                <ns0:formatCode>0</ns0:formatCode>
                <ns0:ptCount val="5"/>
                <ns0:pt idx="0">
                  <ns0:v>94.0740740741</ns0:v>
                </ns0:pt>
                <ns0:pt idx="1">
                  <ns0:v>96.2962962963</ns0:v>
                </ns0:pt>
                <ns0:pt idx="2">
                  <ns0:v>80</ns0:v>
                </ns0:pt>
                <ns0:pt idx="3">
                  <ns0:v>97.037037037</ns0:v>
                </ns0:pt>
                <ns0:pt idx="4">
                  <ns0:v>85.9259259259</ns0:v>
                </ns0:pt>
              </ns0:numCache>
            </ns0:numRef>
          </ns0:yVal>
          <ns0:smooth val="0"/>
        </ns0:ser>
        <ns0:ser>
          <ns0:idx val="2"/>
          <ns0:order val="2"/>
          <ns0:tx>
            <ns0:strRef>
              <ns0:f>Mean Opaque other_nine</ns0:f>
              <ns0:strCache>
                <ns0:ptCount val="1"/>
                <ns0:pt idx="0">
                  <ns0:v>Mean Opaque other_nine</ns0:v>
                </ns0:pt>
              </ns0:strCache>
            </ns0:strRef>
          </ns0:tx>
          <ns0:spPr>
            <ns3:ln w="28575" cap="rnd">
              <ns3:solidFill>
                <ns3:srgbClr val="637482"/>
              </ns3:solidFill>
              <ns3:prstDash val="solid"/>
              <ns3:round/>
            </ns3:ln>
          </ns0:spPr>
          <ns0:marker>
            <ns0:symbol val="none"/>
          </ns0:marker>
          <ns0:dLbls>
            <ns0:delete val="1"/>
          </ns0:dLbls>
          <ns0:xVal>
            <ns0:numRef>
              <ns0:f>'Chart Data'!$E$2:$E$3</ns0:f>
              <ns0:numCache>
                <ns0:formatCode>General</ns0:formatCode>
                <ns0:ptCount val="2"/>
                <ns0:pt idx="0">
                  <ns0:v>0.755</ns0:v>
                </ns0:pt>
                <ns0:pt idx="1">
                  <ns0:v>0.885</ns0:v>
                </ns0:pt>
              </ns0:numCache>
            </ns0:numRef>
          </ns0:xVal>
          <ns0:yVal>
            <ns0:numRef>
              <ns0:f>'Chart Data'!$F$2:$F$3</ns0:f>
              <ns0:numCache>
                <ns0:formatCode>0</ns0:formatCode>
                <ns0:ptCount val="2"/>
                <ns0:pt idx="0">
                  <ns0:v>90.6666666667</ns0:v>
                </ns0:pt>
                <ns0:pt idx="1">
                  <ns0:v>90.6666666667</ns0:v>
                </ns0:pt>
              </ns0:numCache>
            </ns0:numRef>
          </ns0:yVal>
          <ns0:smooth val="0"/>
        </ns0:ser>
        <ns0:ser>
          <ns0:idx val="3"/>
          <ns0:order val="3"/>
          <ns0:tx>
            <ns0:strRef>
              <ns0:f>Aligned other_nine</ns0:f>
              <ns0:strCache>
                <ns0:ptCount val="1"/>
                <ns0:pt idx="0">
                  <ns0:v>Aligned other_nine</ns0:v>
                </ns0:pt>
              </ns0:strCache>
            </ns0:strRef>
          </ns0:tx>
          <ns0:spPr>
            <ns3:ln w="0" cap="rnd">
              <ns3:noFill/>
              <ns3:prstDash val="solid"/>
              <ns3:round/>
            </ns3:ln>
          </ns0:spPr>
          <ns0:marker>
            <ns0:symbol val="circle"/>
            <ns0:size val="8"/>
            <ns0:spPr>
              <ns3:solidFill>
                <ns3:srgbClr val="277F8A"/>
              </ns3:solidFill>
              <ns3:ln w="0">
                <ns3:noFill/>
                <ns3:prstDash val="solid"/>
                <ns3:round/>
              </ns3:ln>
            </ns0:spPr>
          </ns0:marker>
          <ns0:dLbls>
            <ns0:delete val="1"/>
          </ns0:dLbls>
          <ns0:xVal>
            <ns0:numRef>
              <ns0:f>'Chart Data'!$G$2:$G$6</ns0:f>
              <ns0:numCache>
                <ns0:formatCode>General</ns0:formatCode>
                <ns0:ptCount val="5"/>
                <ns0:pt idx="0">
                  <ns0:v>0.964</ns0:v>
                </ns0:pt>
                <ns0:pt idx="1">
                  <ns0:v>0.982</ns0:v>
                </ns0:pt>
                <ns0:pt idx="2">
                  <ns0:v>1</ns0:v>
                </ns0:pt>
                <ns0:pt idx="3">
                  <ns0:v>1.018</ns0:v>
                </ns0:pt>
                <ns0:pt idx="4">
                  <ns0:v>1.036</ns0:v>
                </ns0:pt>
              </ns0:numCache>
            </ns0:numRef>
          </ns0:xVal>
          <ns0:yVal>
            <ns0:numRef>
              <ns0:f>'Chart Data'!$H$2:$H$6</ns0:f>
              <ns0:numCache>
                <ns0:formatCode>0</ns0:formatCode>
                <ns0:ptCount val="5"/>
                <ns0:pt idx="0">
                  <ns0:v>92.5925925926</ns0:v>
                </ns0:pt>
                <ns0:pt idx="1">
                  <ns0:v>78.5185185185</ns0:v>
                </ns0:pt>
                <ns0:pt idx="2">
                  <ns0:v>98.5185185185</ns0:v>
                </ns0:pt>
                <ns0:pt idx="3">
                  <ns0:v>90.3703703704</ns0:v>
                </ns0:pt>
                <ns0:pt idx="4">
                  <ns0:v>96.2962962963</ns0:v>
                </ns0:pt>
              </ns0:numCache>
            </ns0:numRef>
          </ns0:yVal>
          <ns0:smooth val="0"/>
        </ns0:ser>
        <ns0:ser>
          <ns0:idx val="4"/>
          <ns0:order val="4"/>
          <ns0:tx>
            <ns0:strRef>
              <ns0:f>Mean Aligned other_nine</ns0:f>
              <ns0:strCache>
                <ns0:ptCount val="1"/>
                <ns0:pt idx="0">
                  <ns0:v>Mean Aligned other_nine</ns0:v>
                </ns0:pt>
              </ns0:strCache>
            </ns0:strRef>
          </ns0:tx>
          <ns0:spPr>
            <ns3:ln w="28575" cap="rnd">
              <ns3:solidFill>
                <ns3:srgbClr val="277F8A"/>
              </ns3:solidFill>
              <ns3:prstDash val="solid"/>
              <ns3:round/>
            </ns3:ln>
          </ns0:spPr>
          <ns0:marker>
            <ns0:symbol val="none"/>
          </ns0:marker>
          <ns0:dLbls>
            <ns0:delete val="1"/>
          </ns0:dLbls>
          <ns0:xVal>
            <ns0:numRef>
              <ns0:f>'Chart Data'!$I$2:$I$3</ns0:f>
              <ns0:numCache>
                <ns0:formatCode>General</ns0:formatCode>
                <ns0:ptCount val="2"/>
                <ns0:pt idx="0">
                  <ns0:v>0.935</ns0:v>
                </ns0:pt>
                <ns0:pt idx="1">
                  <ns0:v>1.065</ns0:v>
                </ns0:pt>
              </ns0:numCache>
            </ns0:numRef>
          </ns0:xVal>
          <ns0:yVal>
            <ns0:numRef>
              <ns0:f>'Chart Data'!$J$2:$J$3</ns0:f>
              <ns0:numCache>
                <ns0:formatCode>0</ns0:formatCode>
                <ns0:ptCount val="2"/>
                <ns0:pt idx="0">
                  <ns0:v>91.2592592593</ns0:v>
                </ns0:pt>
                <ns0:pt idx="1">
                  <ns0:v>91.2592592593</ns0:v>
                </ns0:pt>
              </ns0:numCache>
            </ns0:numRef>
          </ns0:yVal>
          <ns0:smooth val="0"/>
        </ns0:ser>
        <ns0:ser>
          <ns0:idx val="5"/>
          <ns0:order val="5"/>
          <ns0:tx>
            <ns0:strRef>
              <ns0:f>MisIndexed other_nine</ns0:f>
              <ns0:strCache>
                <ns0:ptCount val="1"/>
                <ns0:pt idx="0">
                  <ns0:v>MisIndexed other_nine</ns0:v>
                </ns0:pt>
              </ns0:strCache>
            </ns0:strRef>
          </ns0:tx>
          <ns0:spPr>
            <ns3:ln w="0" cap="rnd">
              <ns3:noFill/>
              <ns3:prstDash val="solid"/>
              <ns3:round/>
            </ns3:ln>
          </ns0:spPr>
          <ns0:marker>
            <ns0:symbol val="circle"/>
            <ns0:size val="8"/>
            <ns0:spPr>
              <ns3:solidFill>
                <ns3:srgbClr val="BC7850"/>
              </ns3:solidFill>
              <ns3:ln w="0">
                <ns3:noFill/>
                <ns3:prstDash val="solid"/>
                <ns3:round/>
              </ns3:ln>
            </ns0:spPr>
          </ns0:marker>
          <ns0:dLbls>
            <ns0:delete val="1"/>
          </ns0:dLbls>
          <ns0:xVal>
            <ns0:numRef>
              <ns0:f>'Chart Data'!$K$2:$K$6</ns0:f>
              <ns0:numCache>
                <ns0:formatCode>General</ns0:formatCode>
                <ns0:ptCount val="5"/>
                <ns0:pt idx="0">
                  <ns0:v>1.144</ns0:v>
                </ns0:pt>
                <ns0:pt idx="1">
                  <ns0:v>1.162</ns0:v>
                </ns0:pt>
                <ns0:pt idx="2">
                  <ns0:v>1.18</ns0:v>
                </ns0:pt>
                <ns0:pt idx="3">
                  <ns0:v>1.198</ns0:v>
                </ns0:pt>
                <ns0:pt idx="4">
                  <ns0:v>1.216</ns0:v>
                </ns0:pt>
              </ns0:numCache>
            </ns0:numRef>
          </ns0:xVal>
          <ns0:yVal>
            <ns0:numRef>
              <ns0:f>'Chart Data'!$L$2:$L$6</ns0:f>
              <ns0:numCache>
                <ns0:formatCode>0</ns0:formatCode>
                <ns0:ptCount val="5"/>
                <ns0:pt idx="0">
                  <ns0:v>82.962962963</ns0:v>
                </ns0:pt>
                <ns0:pt idx="1">
                  <ns0:v>77.037037037</ns0:v>
                </ns0:pt>
                <ns0:pt idx="2">
                  <ns0:v>94.8148148148</ns0:v>
                </ns0:pt>
                <ns0:pt idx="3">
                  <ns0:v>96.2962962963</ns0:v>
                </ns0:pt>
                <ns0:pt idx="4">
                  <ns0:v>97.037037037</ns0:v>
                </ns0:pt>
              </ns0:numCache>
            </ns0:numRef>
          </ns0:yVal>
          <ns0:smooth val="0"/>
        </ns0:ser>
        <ns0:ser>
          <ns0:idx val="6"/>
          <ns0:order val="6"/>
          <ns0:tx>
            <ns0:strRef>
              <ns0:f>Mean MisIndexed other_nine</ns0:f>
              <ns0:strCache>
                <ns0:ptCount val="1"/>
                <ns0:pt idx="0">
                  <ns0:v>Mean MisIndexed other_nine</ns0:v>
                </ns0:pt>
              </ns0:strCache>
            </ns0:strRef>
          </ns0:tx>
          <ns0:spPr>
            <ns3:ln w="28575" cap="rnd">
              <ns3:solidFill>
                <ns3:srgbClr val="BC7850"/>
              </ns3:solidFill>
              <ns3:prstDash val="solid"/>
              <ns3:round/>
            </ns3:ln>
          </ns0:spPr>
          <ns0:marker>
            <ns0:symbol val="none"/>
          </ns0:marker>
          <ns0:dLbls>
            <ns0:delete val="1"/>
          </ns0:dLbls>
          <ns0:xVal>
            <ns0:numRef>
              <ns0:f>'Chart Data'!$M$2:$M$3</ns0:f>
              <ns0:numCache>
                <ns0:formatCode>General</ns0:formatCode>
                <ns0:ptCount val="2"/>
                <ns0:pt idx="0">
                  <ns0:v>1.115</ns0:v>
                </ns0:pt>
                <ns0:pt idx="1">
                  <ns0:v>1.245</ns0:v>
                </ns0:pt>
              </ns0:numCache>
            </ns0:numRef>
          </ns0:xVal>
          <ns0:yVal>
            <ns0:numRef>
              <ns0:f>'Chart Data'!$N$2:$N$3</ns0:f>
              <ns0:numCache>
                <ns0:formatCode>0</ns0:formatCode>
                <ns0:ptCount val="2"/>
                <ns0:pt idx="0">
                  <ns0:v>89.6296296296</ns0:v>
                </ns0:pt>
                <ns0:pt idx="1">
                  <ns0:v>89.6296296296</ns0:v>
                </ns0:pt>
              </ns0:numCache>
            </ns0:numRef>
          </ns0:yVal>
          <ns0:smooth val="0"/>
        </ns0:ser>
        <ns0:ser>
          <ns0:idx val="7"/>
          <ns0:order val="7"/>
          <ns0:tx>
            <ns0:strRef>
              <ns0:f>Opaque three_most_dilute</ns0:f>
              <ns0:strCache>
                <ns0:ptCount val="1"/>
                <ns0:pt idx="0">
                  <ns0:v>Opaque three_most_dilute</ns0:v>
                </ns0:pt>
              </ns0:strCache>
            </ns0:strRef>
          </ns0:tx>
          <ns0:spPr>
            <ns3:ln w="0" cap="rnd">
              <ns3:noFill/>
              <ns3:prstDash val="solid"/>
              <ns3:round/>
            </ns3:ln>
          </ns0:spPr>
          <ns0:marker>
            <ns0:symbol val="circle"/>
            <ns0:size val="8"/>
            <ns0:spPr>
              <ns3:solidFill>
                <ns3:srgbClr val="637482"/>
              </ns3:solidFill>
              <ns3:ln w="0">
                <ns3:noFill/>
                <ns3:prstDash val="solid"/>
                <ns3:round/>
              </ns3:ln>
            </ns0:spPr>
          </ns0:marker>
          <ns0:dLbls>
            <ns0:delete val="1"/>
          </ns0:dLbls>
          <ns0:xVal>
            <ns0:numRef>
              <ns0:f>'Chart Data'!$O$2:$O$6</ns0:f>
              <ns0:numCache>
                <ns0:formatCode>General</ns0:formatCode>
                <ns0:ptCount val="5"/>
                <ns0:pt idx="0">
                  <ns0:v>1.784</ns0:v>
                </ns0:pt>
                <ns0:pt idx="1">
                  <ns0:v>1.802</ns0:v>
                </ns0:pt>
                <ns0:pt idx="2">
                  <ns0:v>1.82</ns0:v>
                </ns0:pt>
                <ns0:pt idx="3">
                  <ns0:v>1.838</ns0:v>
                </ns0:pt>
                <ns0:pt idx="4">
                  <ns0:v>1.856</ns0:v>
                </ns0:pt>
              </ns0:numCache>
            </ns0:numRef>
          </ns0:xVal>
          <ns0:yVal>
            <ns0:numRef>
              <ns0:f>'Chart Data'!$P$2:$P$6</ns0:f>
              <ns0:numCache>
                <ns0:formatCode>0</ns0:formatCode>
                <ns0:ptCount val="5"/>
                <ns0:pt idx="0">
                  <ns0:v>66.6666666667</ns0:v>
                </ns0:pt>
                <ns0:pt idx="1">
                  <ns0:v>100</ns0:v>
                </ns0:pt>
                <ns0:pt idx="2">
                  <ns0:v>100</ns0:v>
                </ns0:pt>
                <ns0:pt idx="3">
                  <ns0:v>100</ns0:v>
                </ns0:pt>
                <ns0:pt idx="4">
                  <ns0:v>100</ns0:v>
                </ns0:pt>
              </ns0:numCache>
            </ns0:numRef>
          </ns0:yVal>
          <ns0:smooth val="0"/>
        </ns0:ser>
        <ns0:ser>
          <ns0:idx val="8"/>
          <ns0:order val="8"/>
          <ns0:tx>
            <ns0:strRef>
              <ns0:f>Mean Opaque three_most_dilute</ns0:f>
              <ns0:strCache>
                <ns0:ptCount val="1"/>
                <ns0:pt idx="0">
                  <ns0:v>Mean Opaque three_most_dilute</ns0:v>
                </ns0:pt>
              </ns0:strCache>
            </ns0:strRef>
          </ns0:tx>
          <ns0:spPr>
            <ns3:ln w="28575" cap="rnd">
              <ns3:solidFill>
                <ns3:srgbClr val="637482"/>
              </ns3:solidFill>
              <ns3:prstDash val="solid"/>
              <ns3:round/>
            </ns3:ln>
          </ns0:spPr>
          <ns0:marker>
            <ns0:symbol val="none"/>
          </ns0:marker>
          <ns0:dLbls>
            <ns0:delete val="1"/>
          </ns0:dLbls>
          <ns0:xVal>
            <ns0:numRef>
              <ns0:f>'Chart Data'!$Q$2:$Q$3</ns0:f>
              <ns0:numCache>
                <ns0:formatCode>General</ns0:formatCode>
                <ns0:ptCount val="2"/>
                <ns0:pt idx="0">
                  <ns0:v>1.755</ns0:v>
                </ns0:pt>
                <ns0:pt idx="1">
                  <ns0:v>1.885</ns0:v>
                </ns0:pt>
              </ns0:numCache>
            </ns0:numRef>
          </ns0:xVal>
          <ns0:yVal>
            <ns0:numRef>
              <ns0:f>'Chart Data'!$R$2:$R$3</ns0:f>
              <ns0:numCache>
                <ns0:formatCode>0</ns0:formatCode>
                <ns0:ptCount val="2"/>
                <ns0:pt idx="0">
                  <ns0:v>93.3333333333</ns0:v>
                </ns0:pt>
                <ns0:pt idx="1">
                  <ns0:v>93.3333333333</ns0:v>
                </ns0:pt>
              </ns0:numCache>
            </ns0:numRef>
          </ns0:yVal>
          <ns0:smooth val="0"/>
        </ns0:ser>
        <ns0:ser>
          <ns0:idx val="9"/>
          <ns0:order val="9"/>
          <ns0:tx>
            <ns0:strRef>
              <ns0:f>Aligned three_most_dilute</ns0:f>
              <ns0:strCache>
                <ns0:ptCount val="1"/>
                <ns0:pt idx="0">
                  <ns0:v>Aligned three_most_dilute</ns0:v>
                </ns0:pt>
              </ns0:strCache>
            </ns0:strRef>
          </ns0:tx>
          <ns0:spPr>
            <ns3:ln w="0" cap="rnd">
              <ns3:noFill/>
              <ns3:prstDash val="solid"/>
              <ns3:round/>
            </ns3:ln>
          </ns0:spPr>
          <ns0:marker>
            <ns0:symbol val="circle"/>
            <ns0:size val="8"/>
            <ns0:spPr>
              <ns3:solidFill>
                <ns3:srgbClr val="277F8A"/>
              </ns3:solidFill>
              <ns3:ln w="0">
                <ns3:noFill/>
                <ns3:prstDash val="solid"/>
                <ns3:round/>
              </ns3:ln>
            </ns0:spPr>
          </ns0:marker>
          <ns0:dLbls>
            <ns0:delete val="1"/>
          </ns0:dLbls>
          <ns0:xVal>
            <ns0:numRef>
              <ns0:f>'Chart Data'!$S$2:$S$6</ns0:f>
              <ns0:numCache>
                <ns0:formatCode>General</ns0:formatCode>
                <ns0:ptCount val="5"/>
                <ns0:pt idx="0">
                  <ns0:v>1.964</ns0:v>
                </ns0:pt>
                <ns0:pt idx="1">
                  <ns0:v>1.982</ns0:v>
                </ns0:pt>
                <ns0:pt idx="2">
                  <ns0:v>2</ns0:v>
                </ns0:pt>
                <ns0:pt idx="3">
                  <ns0:v>2.018</ns0:v>
                </ns0:pt>
                <ns0:pt idx="4">
                  <ns0:v>2.036</ns0:v>
                </ns0:pt>
              </ns0:numCache>
            </ns0:numRef>
          </ns0:xVal>
          <ns0:yVal>
            <ns0:numRef>
              <ns0:f>'Chart Data'!$T$2:$T$6</ns0:f>
              <ns0:numCache>
                <ns0:formatCode>0</ns0:formatCode>
                <ns0:ptCount val="5"/>
                <ns0:pt idx="0">
                  <ns0:v>11.1111111111</ns0:v>
                </ns0:pt>
                <ns0:pt idx="1">
                  <ns0:v>0</ns0:v>
                </ns0:pt>
                <ns0:pt idx="2">
                  <ns0:v>0</ns0:v>
                </ns0:pt>
                <ns0:pt idx="3">
                  <ns0:v>0</ns0:v>
                </ns0:pt>
                <ns0:pt idx="4">
                  <ns0:v>0</ns0:v>
                </ns0:pt>
              </ns0:numCache>
            </ns0:numRef>
          </ns0:yVal>
          <ns0:smooth val="0"/>
        </ns0:ser>
        <ns0:ser>
          <ns0:idx val="10"/>
          <ns0:order val="10"/>
          <ns0:tx>
            <ns0:strRef>
              <ns0:f>Mean Aligned three_most_dilute</ns0:f>
              <ns0:strCache>
                <ns0:ptCount val="1"/>
                <ns0:pt idx="0">
                  <ns0:v>Mean Aligned three_most_dilute</ns0:v>
                </ns0:pt>
              </ns0:strCache>
            </ns0:strRef>
          </ns0:tx>
          <ns0:spPr>
            <ns3:ln w="28575" cap="rnd">
              <ns3:solidFill>
                <ns3:srgbClr val="277F8A"/>
              </ns3:solidFill>
              <ns3:prstDash val="solid"/>
              <ns3:round/>
            </ns3:ln>
          </ns0:spPr>
          <ns0:marker>
            <ns0:symbol val="none"/>
          </ns0:marker>
          <ns0:dLbls>
            <ns0:delete val="1"/>
          </ns0:dLbls>
          <ns0:xVal>
            <ns0:numRef>
              <ns0:f>'Chart Data'!$U$2:$U$3</ns0:f>
              <ns0:numCache>
                <ns0:formatCode>General</ns0:formatCode>
                <ns0:ptCount val="2"/>
                <ns0:pt idx="0">
                  <ns0:v>1.935</ns0:v>
                </ns0:pt>
                <ns0:pt idx="1">
                  <ns0:v>2.065</ns0:v>
                </ns0:pt>
              </ns0:numCache>
            </ns0:numRef>
          </ns0:xVal>
          <ns0:yVal>
            <ns0:numRef>
              <ns0:f>'Chart Data'!$V$2:$V$3</ns0:f>
              <ns0:numCache>
                <ns0:formatCode>0</ns0:formatCode>
                <ns0:ptCount val="2"/>
                <ns0:pt idx="0">
                  <ns0:v>2.22222222222</ns0:v>
                </ns0:pt>
                <ns0:pt idx="1">
                  <ns0:v>2.22222222222</ns0:v>
                </ns0:pt>
              </ns0:numCache>
            </ns0:numRef>
          </ns0:yVal>
          <ns0:smooth val="0"/>
        </ns0:ser>
        <ns0:ser>
          <ns0:idx val="11"/>
          <ns0:order val="11"/>
          <ns0:tx>
            <ns0:strRef>
              <ns0:f>MisIndexed three_most_dilute</ns0:f>
              <ns0:strCache>
                <ns0:ptCount val="1"/>
                <ns0:pt idx="0">
                  <ns0:v>MisIndexed three_most_dilute</ns0:v>
                </ns0:pt>
              </ns0:strCache>
            </ns0:strRef>
          </ns0:tx>
          <ns0:spPr>
            <ns3:ln w="0" cap="rnd">
              <ns3:noFill/>
              <ns3:prstDash val="solid"/>
              <ns3:round/>
            </ns3:ln>
          </ns0:spPr>
          <ns0:marker>
            <ns0:symbol val="circle"/>
            <ns0:size val="8"/>
            <ns0:spPr>
              <ns3:solidFill>
                <ns3:srgbClr val="BC7850"/>
              </ns3:solidFill>
              <ns3:ln w="0">
                <ns3:noFill/>
                <ns3:prstDash val="solid"/>
                <ns3:round/>
              </ns3:ln>
            </ns0:spPr>
          </ns0:marker>
          <ns0:dLbls>
            <ns0:delete val="1"/>
          </ns0:dLbls>
          <ns0:xVal>
            <ns0:numRef>
              <ns0:f>'Chart Data'!$W$2:$W$6</ns0:f>
              <ns0:numCache>
                <ns0:formatCode>General</ns0:formatCode>
                <ns0:ptCount val="5"/>
                <ns0:pt idx="0">
                  <ns0:v>2.144</ns0:v>
                </ns0:pt>
                <ns0:pt idx="1">
                  <ns0:v>2.162</ns0:v>
                </ns0:pt>
                <ns0:pt idx="2">
                  <ns0:v>2.18</ns0:v>
                </ns0:pt>
                <ns0:pt idx="3">
                  <ns0:v>2.198</ns0:v>
                </ns0:pt>
                <ns0:pt idx="4">
                  <ns0:v>2.216</ns0:v>
                </ns0:pt>
              </ns0:numCache>
            </ns0:numRef>
          </ns0:xVal>
          <ns0:yVal>
            <ns0:numRef>
              <ns0:f>'Chart Data'!$X$2:$X$6</ns0:f>
              <ns0:numCache>
                <ns0:formatCode>0</ns0:formatCode>
                <ns0:ptCount val="5"/>
                <ns0:pt idx="0">
                  <ns0:v>0</ns0:v>
                </ns0:pt>
                <ns0:pt idx="1">
                  <ns0:v>0</ns0:v>
                </ns0:pt>
                <ns0:pt idx="2">
                  <ns0:v>35.5555555556</ns0:v>
                </ns0:pt>
                <ns0:pt idx="3">
                  <ns0:v>33.3333333333</ns0:v>
                </ns0:pt>
                <ns0:pt idx="4">
                  <ns0:v>0</ns0:v>
                </ns0:pt>
              </ns0:numCache>
            </ns0:numRef>
          </ns0:yVal>
          <ns0:smooth val="0"/>
        </ns0:ser>
        <ns0:ser>
          <ns0:idx val="12"/>
          <ns0:order val="12"/>
          <ns0:tx>
            <ns0:strRef>
              <ns0:f>Mean MisIndexed three_most_dilute</ns0:f>
              <ns0:strCache>
                <ns0:ptCount val="1"/>
                <ns0:pt idx="0">
                  <ns0:v>Mean MisIndexed three_most_dilute</ns0:v>
                </ns0:pt>
              </ns0:strCache>
            </ns0:strRef>
          </ns0:tx>
          <ns0:spPr>
            <ns3:ln w="28575" cap="rnd">
              <ns3:solidFill>
                <ns3:srgbClr val="BC7850"/>
              </ns3:solidFill>
              <ns3:prstDash val="solid"/>
              <ns3:round/>
            </ns3:ln>
          </ns0:spPr>
          <ns0:marker>
            <ns0:symbol val="none"/>
          </ns0:marker>
          <ns0:dLbls>
            <ns0:delete val="1"/>
          </ns0:dLbls>
          <ns0:xVal>
            <ns0:numRef>
              <ns0:f>'Chart Data'!$Y$2:$Y$3</ns0:f>
              <ns0:numCache>
                <ns0:formatCode>General</ns0:formatCode>
                <ns0:ptCount val="2"/>
                <ns0:pt idx="0">
                  <ns0:v>2.115</ns0:v>
                </ns0:pt>
                <ns0:pt idx="1">
                  <ns0:v>2.245</ns0:v>
                </ns0:pt>
              </ns0:numCache>
            </ns0:numRef>
          </ns0:xVal>
          <ns0:yVal>
            <ns0:numRef>
              <ns0:f>'Chart Data'!$Z$2:$Z$3</ns0:f>
              <ns0:numCache>
                <ns0:formatCode>0</ns0:formatCode>
                <ns0:ptCount val="2"/>
                <ns0:pt idx="0">
                  <ns0:v>13.7777777778</ns0:v>
                </ns0:pt>
                <ns0:pt idx="1">
                  <ns0:v>13.7777777778</ns0:v>
                </ns0:pt>
              </ns0:numCache>
            </ns0:numRef>
          </ns0:yVal>
          <ns0:smooth val="0"/>
        </ns0:ser>
        <ns0:dLbls>
          <ns0:showLegendKey val="0"/>
          <ns0:showVal val="0"/>
          <ns0:showCatName val="0"/>
          <ns0:showSerName val="0"/>
          <ns0:showPercent val="0"/>
          <ns0:showBubbleSize val="0"/>
        </ns0:dLbls>
        <ns0:axId val="48650112"/>
        <ns0:axId val="48672768"/>
      </ns0:scatterChart>
      <ns0:valAx>
        <ns0:axId val="48650112"/>
        <ns0:scaling>
          <ns0:orientation val="minMax"/>
          <ns0:max val="2.5"/>
          <ns0:min val="0.5"/>
        </ns0:scaling>
        <ns0:delete val="0"/>
        <ns0:axPos val="b"/>
        <ns0:numFmt formatCode="0" sourceLinked="1"/>
        <ns0:majorTickMark val="none"/>
        <ns0:minorTickMark val="none"/>
        <ns0:tickLblPos val="none"/>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FFFFFF"/>
                </ns3:solidFill>
                <ns3:latin typeface="Arial" panose="020B0604020202020204"/>
                <ns3:ea typeface="Arial" panose="020B0604020202020204"/>
                <ns3:cs typeface="Arial" panose="020B0604020202020204"/>
              </ns3:defRPr>
            </ns3:pPr>
          </ns3:p>
        </ns0:txPr>
        <ns0:crossAx val="48672768"/>
        <ns0:crosses val="min"/>
        <ns0:crossBetween val="midCat"/>
        <ns0:majorUnit val="1"/>
      </ns0:valAx>
      <ns0:valAx>
        <ns0:axId val="48672768"/>
        <ns0:scaling>
          <ns0:orientation val="minMax"/>
          <ns0:max val="100"/>
          <ns0:min val="0"/>
        </ns0:scaling>
        <ns0:delete val="0"/>
        <ns0:axPos val="l"/>
        <ns0:title>
          <ns0:tx>
            <ns0:rich>
              <ns3:bodyPr rot="-5400000" spcFirstLastPara="0" vertOverflow="ellipsis" vert="horz" wrap="square" anchor="ctr" anchorCtr="1"/>
              <ns3:lstStyle/>
              <ns3:p>
                <ns3:pPr>
                  <ns3:defRPr lang="zh-CN" sz="1000" b="1" i="0" u="none" strike="noStrike" kern="1200" baseline="0">
                    <ns3:solidFill>
                      <ns3:schemeClr val="tx1"/>
                    </ns3:solidFill>
                    <ns3:latin typeface="+mn-lt"/>
                    <ns3:ea typeface="+mn-ea"/>
                    <ns3:cs typeface="+mn-cs"/>
                  </ns3:defRPr>
                </ns3:pPr>
                <ns3:r>
                  <ns3:rPr sz="1500">
                    <ns3:solidFill>
                      <ns3:srgbClr val="24292D"/>
                    </ns3:solidFill>
                    <ns3:latin typeface="Arial" panose="020B0604020202020204"/>
                    <ns3:ea typeface="Arial" panose="020B0604020202020204"/>
                    <ns3:cs typeface="Arial" panose="020B0604020202020204"/>
                  </ns3:rPr>
                  <ns3:t>Interval coverage (%)</ns3:t>
                </ns3:r>
                <ns3:endParaRPr sz="1500">
                  <ns3:solidFill>
                    <ns3:srgbClr val="24292D"/>
                  </ns3:solidFill>
                  <ns3:latin typeface="Arial" panose="020B0604020202020204"/>
                  <ns3:ea typeface="Arial" panose="020B0604020202020204"/>
                  <ns3:cs typeface="Arial" panose="020B0604020202020204"/>
                </ns3:endParaRPr>
              </ns3:p>
            </ns0:rich>
          </ns0:tx>
          <ns0:layout/>
          <ns0:overlay val="0"/>
        </ns0:title>
        <ns0:numFmt formatCode="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50112"/>
        <ns0:crosses val="min"/>
        <ns0:crossBetween val="midCat"/>
        <ns0:majorUnit val="20"/>
      </ns0:valAx>
      <ns0:spPr>
        <ns3:solidFill>
          <ns3:srgbClr val="FFFFFF"/>
        </ns3:solidFill>
        <ns3:ln w="0">
          <ns3:noFill/>
        </ns3:ln>
      </ns0:spPr>
    </ns0:plotArea>
    <ns0:plotVisOnly val="1"/>
    <ns0:dispBlanksAs val="gap"/>
    <ns0:showDLblsOverMax val="0"/>
    <ns0:extLst>
      <ns0:ext uri="{0b15fc19-7d7d-44ad-8c2d-2c3a37ce22c3}">
        <ns4:chartProps chartId="{c1f6afc9-98af-4e62-b7cb-c1645afc3c6c}"/>
      </ns0:ext>
    </ns0:extLst>
  </ns0:chart>
  <ns0:spPr>
    <ns3:solidFill>
      <ns3:srgbClr val="FFFFFF"/>
    </ns3:solidFill>
    <ns3:ln w="0">
      <ns3:noFill/>
    </ns3:ln>
  </ns0:spPr>
  <ns0:txPr>
    <ns3:bodyPr/>
    <ns3:lstStyle/>
    <ns3:p>
      <ns3:pPr>
        <ns3:defRPr lang="zh-CN"/>
      </ns3:pPr>
    </ns3:p>
  </ns0:txPr>
  <ns0:externalData ns5:id="rId1">
    <ns0:autoUpdate val="0"/>
  </ns0:externalData>
</ns0:chartSpace>
</file>

<file path=ppt/charts/chart29.xml><?xml version="1.0" encoding="utf-8"?>
<ns0:chartSpace xmlns:ns0="http://schemas.openxmlformats.org/drawingml/2006/chart" xmlns:ns1="http://schemas.openxmlformats.org/markup-compatibility/2006" xmlns:ns2="http://schemas.microsoft.com/office/drawing/2007/8/2/chart" xmlns:ns3="http://schemas.openxmlformats.org/drawingml/2006/main" xmlns:ns4="https://web.wps.cn/et/2018/main" xmlns:ns5="http://schemas.openxmlformats.org/officeDocument/2006/relationships">
  <ns0:date1904 val="0"/>
  <ns0:lang val="zh-CN"/>
  <ns0:roundedCorners val="0"/>
  <ns1:AlternateContent>
    <ns1:Choice Requires="c14">
      <ns2:style val="102"/>
    </ns1:Choice>
    <ns1:Fallback>
      <ns0:style val="2"/>
    </ns1:Fallback>
  </ns1:AlternateContent>
  <ns0:chart>
    <ns0:autoTitleDeleted val="1"/>
    <ns0:plotArea>
      <ns0:layout/>
      <ns0:scatterChart>
        <ns0:scatterStyle val="lineMarker"/>
        <ns0:varyColors val="0"/>
        <ns0:ser>
          <ns0:idx val="0"/>
          <ns0:order val="0"/>
          <ns0:tx>
            <ns0:strRef>
              <ns0:f>Purity threshold</ns0:f>
              <ns0:strCache>
                <ns0:ptCount val="1"/>
                <ns0:pt idx="0">
                  <ns0:v>Purity threshold</ns0:v>
                </ns0:pt>
              </ns0:strCache>
            </ns0:strRef>
          </ns0:tx>
          <ns0:spPr>
            <ns3:ln w="14288" cap="rnd">
              <ns3:solidFill>
                <ns3:srgbClr val="24292D"/>
              </ns3:solidFill>
              <ns3:prstDash val="solid"/>
              <ns3:round/>
            </ns3:ln>
          </ns0:spPr>
          <ns0:marker>
            <ns0:symbol val="none"/>
          </ns0:marker>
          <ns0:dLbls>
            <ns0:delete val="1"/>
          </ns0:dLbls>
          <ns0:xVal>
            <ns0:numRef>
              <ns0:f>'Chart Data'!$A$2:$A$3</ns0:f>
              <ns0:numCache>
                <ns0:formatCode>General</ns0:formatCode>
                <ns0:ptCount val="2"/>
                <ns0:pt idx="0">
                  <ns0:v>0</ns0:v>
                </ns0:pt>
                <ns0:pt idx="1">
                  <ns0:v>0.9</ns0:v>
                </ns0:pt>
              </ns0:numCache>
            </ns0:numRef>
          </ns0:xVal>
          <ns0:yVal>
            <ns0:numRef>
              <ns0:f>'Chart Data'!$B$2:$B$3</ns0:f>
              <ns0:numCache>
                <ns0:formatCode>0.0</ns0:formatCode>
                <ns0:ptCount val="2"/>
                <ns0:pt idx="0">
                  <ns0:v>0.8</ns0:v>
                </ns0:pt>
                <ns0:pt idx="1">
                  <ns0:v>0.8</ns0:v>
                </ns0:pt>
              </ns0:numCache>
            </ns0:numRef>
          </ns0:yVal>
          <ns0:smooth val="0"/>
        </ns0:ser>
        <ns0:ser>
          <ns0:idx val="1"/>
          <ns0:order val="1"/>
          <ns0:tx>
            <ns0:strRef>
              <ns0:f>Opaque</ns0:f>
              <ns0:strCache>
                <ns0:ptCount val="1"/>
                <ns0:pt idx="0">
                  <ns0:v>Opaque</ns0:v>
                </ns0:pt>
              </ns0:strCache>
            </ns0:strRef>
          </ns0:tx>
          <ns0:spPr>
            <ns3:ln w="0" cap="rnd">
              <ns3:noFill/>
              <ns3:prstDash val="solid"/>
              <ns3:round/>
            </ns3:ln>
          </ns0:spPr>
          <ns0:marker>
            <ns0:symbol val="circle"/>
            <ns0:size val="8"/>
            <ns0:spPr>
              <ns3:solidFill>
                <ns3:srgbClr val="637482"/>
              </ns3:solidFill>
              <ns3:ln w="0">
                <ns3:noFill/>
                <ns3:prstDash val="solid"/>
                <ns3:round/>
              </ns3:ln>
            </ns0:spPr>
          </ns0:marker>
          <ns0:dLbls>
            <ns0:delete val="1"/>
          </ns0:dLbls>
          <ns0:xVal>
            <ns0:numRef>
              <ns0:f>'Chart Data'!$C$2:$C$6</ns0:f>
              <ns0:numCache>
                <ns0:formatCode>General</ns0:formatCode>
                <ns0:ptCount val="5"/>
                <ns0:pt idx="0">
                  <ns0:v>0.00857385061681</ns0:v>
                </ns0:pt>
                <ns0:pt idx="1">
                  <ns0:v>0.010216018185</ns0:v>
                </ns0:pt>
                <ns0:pt idx="2">
                  <ns0:v>0.121818624437</ns0:v>
                </ns0:pt>
                <ns0:pt idx="3">
                  <ns0:v>0.246259510517</ns0:v>
                </ns0:pt>
                <ns0:pt idx="4">
                  <ns0:v>0.231779113412</ns0:v>
                </ns0:pt>
              </ns0:numCache>
            </ns0:numRef>
          </ns0:xVal>
          <ns0:yVal>
            <ns0:numRef>
              <ns0:f>'Chart Data'!$D$2:$D$6</ns0:f>
              <ns0:numCache>
                <ns0:formatCode>0.0</ns0:formatCode>
                <ns0:ptCount val="5"/>
                <ns0:pt idx="0">
                  <ns0:v>0.719405114651</ns0:v>
                </ns0:pt>
                <ns0:pt idx="1">
                  <ns0:v>0.799153625965</ns0:v>
                </ns0:pt>
                <ns0:pt idx="2">
                  <ns0:v>0.646183490753</ns0:v>
                </ns0:pt>
                <ns0:pt idx="3">
                  <ns0:v>0.615477144718</ns0:v>
                </ns0:pt>
                <ns0:pt idx="4">
                  <ns0:v>0.624340951443</ns0:v>
                </ns0:pt>
              </ns0:numCache>
            </ns0:numRef>
          </ns0:yVal>
          <ns0:smooth val="0"/>
        </ns0:ser>
        <ns0:ser>
          <ns0:idx val="2"/>
          <ns0:order val="2"/>
          <ns0:tx>
            <ns0:strRef>
              <ns0:f>Aligned</ns0:f>
              <ns0:strCache>
                <ns0:ptCount val="1"/>
                <ns0:pt idx="0">
                  <ns0:v>Aligned</ns0:v>
                </ns0:pt>
              </ns0:strCache>
            </ns0:strRef>
          </ns0:tx>
          <ns0:spPr>
            <ns3:ln w="0" cap="rnd">
              <ns3:noFill/>
              <ns3:prstDash val="solid"/>
              <ns3:round/>
            </ns3:ln>
          </ns0:spPr>
          <ns0:marker>
            <ns0:symbol val="circle"/>
            <ns0:size val="8"/>
            <ns0:spPr>
              <ns3:solidFill>
                <ns3:srgbClr val="277F8A"/>
              </ns3:solidFill>
              <ns3:ln w="0">
                <ns3:noFill/>
                <ns3:prstDash val="solid"/>
                <ns3:round/>
              </ns3:ln>
            </ns0:spPr>
          </ns0:marker>
          <ns0:dLbls>
            <ns0:delete val="1"/>
          </ns0:dLbls>
          <ns0:xVal>
            <ns0:numRef>
              <ns0:f>'Chart Data'!$E$2:$E$6</ns0:f>
              <ns0:numCache>
                <ns0:formatCode>General</ns0:formatCode>
                <ns0:ptCount val="5"/>
                <ns0:pt idx="0">
                  <ns0:v>0.00872951652855</ns0:v>
                </ns0:pt>
                <ns0:pt idx="1">
                  <ns0:v>0.0518909171224</ns0:v>
                </ns0:pt>
                <ns0:pt idx="2">
                  <ns0:v>0.00169921724591</ns0:v>
                </ns0:pt>
                <ns0:pt idx="3">
                  <ns0:v>0.0959831997752</ns0:v>
                </ns0:pt>
                <ns0:pt idx="4">
                  <ns0:v>0.0644549652934</ns0:v>
                </ns0:pt>
              </ns0:numCache>
            </ns0:numRef>
          </ns0:xVal>
          <ns0:yVal>
            <ns0:numRef>
              <ns0:f>'Chart Data'!$F$2:$F$6</ns0:f>
              <ns0:numCache>
                <ns0:formatCode>0.0</ns0:formatCode>
                <ns0:ptCount val="5"/>
                <ns0:pt idx="0">
                  <ns0:v>0.735200285912</ns0:v>
                </ns0:pt>
                <ns0:pt idx="1">
                  <ns0:v>0.822549343109</ns0:v>
                </ns0:pt>
                <ns0:pt idx="2">
                  <ns0:v>0.806438863277</ns0:v>
                </ns0:pt>
                <ns0:pt idx="3">
                  <ns0:v>0.585172533989</ns0:v>
                </ns0:pt>
                <ns0:pt idx="4">
                  <ns0:v>0.807464301586</ns0:v>
                </ns0:pt>
              </ns0:numCache>
            </ns0:numRef>
          </ns0:yVal>
          <ns0:smooth val="0"/>
        </ns0:ser>
        <ns0:ser>
          <ns0:idx val="3"/>
          <ns0:order val="3"/>
          <ns0:tx>
            <ns0:strRef>
              <ns0:f>MisIndexed</ns0:f>
              <ns0:strCache>
                <ns0:ptCount val="1"/>
                <ns0:pt idx="0">
                  <ns0:v>MisIndexed</ns0:v>
                </ns0:pt>
              </ns0:strCache>
            </ns0:strRef>
          </ns0:tx>
          <ns0:spPr>
            <ns3:ln w="0" cap="rnd">
              <ns3:noFill/>
              <ns3:prstDash val="solid"/>
              <ns3:round/>
            </ns3:ln>
          </ns0:spPr>
          <ns0:marker>
            <ns0:symbol val="circle"/>
            <ns0:size val="8"/>
            <ns0:spPr>
              <ns3:solidFill>
                <ns3:srgbClr val="BC7850"/>
              </ns3:solidFill>
              <ns3:ln w="0">
                <ns3:noFill/>
                <ns3:prstDash val="solid"/>
                <ns3:round/>
              </ns3:ln>
            </ns0:spPr>
          </ns0:marker>
          <ns0:dLbls>
            <ns0:delete val="1"/>
          </ns0:dLbls>
          <ns0:xVal>
            <ns0:numRef>
              <ns0:f>'Chart Data'!$G$2:$G$6</ns0:f>
              <ns0:numCache>
                <ns0:formatCode>General</ns0:formatCode>
                <ns0:ptCount val="5"/>
                <ns0:pt idx="0">
                  <ns0:v>0.0825522765517</ns0:v>
                </ns0:pt>
                <ns0:pt idx="1">
                  <ns0:v>0.232249453664</ns0:v>
                </ns0:pt>
                <ns0:pt idx="2">
                  <ns0:v>0.380988478661</ns0:v>
                </ns0:pt>
                <ns0:pt idx="3">
                  <ns0:v>0.448247849941</ns0:v>
                </ns0:pt>
                <ns0:pt idx="4">
                  <ns0:v>0.461209923029</ns0:v>
                </ns0:pt>
              </ns0:numCache>
            </ns0:numRef>
          </ns0:xVal>
          <ns0:yVal>
            <ns0:numRef>
              <ns0:f>'Chart Data'!$H$2:$H$6</ns0:f>
              <ns0:numCache>
                <ns0:formatCode>0.0</ns0:formatCode>
                <ns0:ptCount val="5"/>
                <ns0:pt idx="0">
                  <ns0:v>0.633174419403</ns0:v>
                </ns0:pt>
                <ns0:pt idx="1">
                  <ns0:v>0.609284639359</ns0:v>
                </ns0:pt>
                <ns0:pt idx="2">
                  <ns0:v>0.572338044643</ns0:v>
                </ns0:pt>
                <ns0:pt idx="3">
                  <ns0:v>0.587349653244</ns0:v>
                </ns0:pt>
                <ns0:pt idx="4">
                  <ns0:v>0.676507055759</ns0:v>
                </ns0:pt>
              </ns0:numCache>
            </ns0:numRef>
          </ns0:yVal>
          <ns0:smooth val="0"/>
        </ns0:ser>
        <ns0:dLbls>
          <ns0:showLegendKey val="0"/>
          <ns0:showVal val="0"/>
          <ns0:showCatName val="0"/>
          <ns0:showSerName val="0"/>
          <ns0:showPercent val="0"/>
          <ns0:showBubbleSize val="0"/>
        </ns0:dLbls>
        <ns0:axId val="48650112"/>
        <ns0:axId val="48672768"/>
      </ns0:scatterChart>
      <ns0:valAx>
        <ns0:axId val="48650112"/>
        <ns0:scaling>
          <ns0:orientation val="minMax"/>
          <ns0:max val="0.9"/>
          <ns0:min val="0"/>
        </ns0:scaling>
        <ns0:delete val="0"/>
        <ns0:axPos val="b"/>
        <ns0:title>
          <ns0:tx>
            <ns0:rich>
              <ns3:bodyPr rot="0" spcFirstLastPara="0" vertOverflow="ellipsis" vert="horz" wrap="square" anchor="ctr" anchorCtr="1"/>
              <ns3:lstStyle/>
              <ns3:p>
                <ns3:pPr>
                  <ns3:defRPr lang="zh-CN" sz="1000" b="1" i="0" u="none" strike="noStrike" kern="1200" baseline="0">
                    <ns3:solidFill>
                      <ns3:schemeClr val="tx1"/>
                    </ns3:solidFill>
                    <ns3:latin typeface="+mn-lt"/>
                    <ns3:ea typeface="+mn-ea"/>
                    <ns3:cs typeface="+mn-cs"/>
                  </ns3:defRPr>
                </ns3:pPr>
                <ns3:r>
                  <ns3:rPr sz="1500">
                    <ns3:solidFill>
                      <ns3:srgbClr val="24292D"/>
                    </ns3:solidFill>
                    <ns3:latin typeface="Arial" panose="020B0604020202020204"/>
                    <ns3:ea typeface="Arial" panose="020B0604020202020204"/>
                    <ns3:cs typeface="Arial" panose="020B0604020202020204"/>
                  </ns3:rPr>
                  <ns3:t>Original-charge recovery</ns3:t>
                </ns3:r>
                <ns3:endParaRPr sz="1500">
                  <ns3:solidFill>
                    <ns3:srgbClr val="24292D"/>
                  </ns3:solidFill>
                  <ns3:latin typeface="Arial" panose="020B0604020202020204"/>
                  <ns3:ea typeface="Arial" panose="020B0604020202020204"/>
                  <ns3:cs typeface="Arial" panose="020B0604020202020204"/>
                </ns3:endParaRPr>
              </ns3:p>
            </ns0:rich>
          </ns0:tx>
          <ns0:layout/>
          <ns0:overlay val="0"/>
        </ns0:title>
        <ns0:numFmt formatCode="0.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72768"/>
        <ns0:crosses val="min"/>
        <ns0:crossBetween val="midCat"/>
        <ns0:majorUnit val="0.3"/>
      </ns0:valAx>
      <ns0:valAx>
        <ns0:axId val="48672768"/>
        <ns0:scaling>
          <ns0:orientation val="minMax"/>
          <ns0:max val="1"/>
          <ns0:min val="0"/>
        </ns0:scaling>
        <ns0:delete val="0"/>
        <ns0:axPos val="l"/>
        <ns0:title>
          <ns0:tx>
            <ns0:rich>
              <ns3:bodyPr rot="-5400000" spcFirstLastPara="0" vertOverflow="ellipsis" vert="horz" wrap="square" anchor="ctr" anchorCtr="1"/>
              <ns3:lstStyle/>
              <ns3:p>
                <ns3:pPr>
                  <ns3:defRPr lang="zh-CN" sz="1000" b="1" i="0" u="none" strike="noStrike" kern="1200" baseline="0">
                    <ns3:solidFill>
                      <ns3:schemeClr val="tx1"/>
                    </ns3:solidFill>
                    <ns3:latin typeface="+mn-lt"/>
                    <ns3:ea typeface="+mn-ea"/>
                    <ns3:cs typeface="+mn-cs"/>
                  </ns3:defRPr>
                </ns3:pPr>
                <ns3:r>
                  <ns3:rPr sz="1500">
                    <ns3:solidFill>
                      <ns3:srgbClr val="24292D"/>
                    </ns3:solidFill>
                    <ns3:latin typeface="Arial" panose="020B0604020202020204"/>
                    <ns3:ea typeface="Arial" panose="020B0604020202020204"/>
                    <ns3:cs typeface="Arial" panose="020B0604020202020204"/>
                  </ns3:rPr>
                  <ns3:t>Retested purity</ns3:t>
                </ns3:r>
                <ns3:endParaRPr sz="1500">
                  <ns3:solidFill>
                    <ns3:srgbClr val="24292D"/>
                  </ns3:solidFill>
                  <ns3:latin typeface="Arial" panose="020B0604020202020204"/>
                  <ns3:ea typeface="Arial" panose="020B0604020202020204"/>
                  <ns3:cs typeface="Arial" panose="020B0604020202020204"/>
                </ns3:endParaRPr>
              </ns3:p>
            </ns0:rich>
          </ns0:tx>
          <ns0:layout/>
          <ns0:overlay val="0"/>
        </ns0:title>
        <ns0:numFmt formatCode="0.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50112"/>
        <ns0:crosses val="min"/>
        <ns0:crossBetween val="midCat"/>
        <ns0:majorUnit val="0.2"/>
      </ns0:valAx>
      <ns0:spPr>
        <ns3:solidFill>
          <ns3:srgbClr val="FFFFFF"/>
        </ns3:solidFill>
        <ns3:ln w="0">
          <ns3:noFill/>
        </ns3:ln>
      </ns0:spPr>
    </ns0:plotArea>
    <ns0:plotVisOnly val="1"/>
    <ns0:dispBlanksAs val="gap"/>
    <ns0:showDLblsOverMax val="0"/>
    <ns0:extLst>
      <ns0:ext uri="{0b15fc19-7d7d-44ad-8c2d-2c3a37ce22c3}">
        <ns4:chartProps chartId="{3ad51813-60ac-4aee-ae8a-2d5dce0bea7e}"/>
      </ns0:ext>
    </ns0:extLst>
  </ns0:chart>
  <ns0:spPr>
    <ns3:solidFill>
      <ns3:srgbClr val="FFFFFF"/>
    </ns3:solidFill>
    <ns3:ln w="0">
      <ns3:noFill/>
    </ns3:ln>
  </ns0:spPr>
  <ns0:txPr>
    <ns3:bodyPr/>
    <ns3:lstStyle/>
    <ns3:p>
      <ns3:pPr>
        <ns3:defRPr lang="zh-CN"/>
      </ns3:pPr>
    </ns3:p>
  </ns0:txPr>
  <ns0:externalData ns5:id="rId1">
    <ns0:autoUpdate val="0"/>
  </ns0:externalData>
</ns0:chartSpace>
</file>

<file path=ppt/charts/chart30.xml><?xml version="1.0" encoding="utf-8"?>
<ns0:chartSpace xmlns:ns0="http://schemas.openxmlformats.org/drawingml/2006/chart" xmlns:ns1="http://schemas.openxmlformats.org/markup-compatibility/2006" xmlns:ns2="http://schemas.microsoft.com/office/drawing/2007/8/2/chart" xmlns:ns3="http://schemas.openxmlformats.org/drawingml/2006/main" xmlns:ns4="https://web.wps.cn/et/2018/main" xmlns:ns5="http://schemas.openxmlformats.org/officeDocument/2006/relationships">
  <ns0:date1904 val="0"/>
  <ns0:lang val="zh-CN"/>
  <ns0:roundedCorners val="0"/>
  <ns1:AlternateContent>
    <ns1:Choice Requires="c14">
      <ns2:style val="102"/>
    </ns1:Choice>
    <ns1:Fallback>
      <ns0:style val="2"/>
    </ns1:Fallback>
  </ns1:AlternateContent>
  <ns0:chart>
    <ns0:autoTitleDeleted val="1"/>
    <ns0:plotArea>
      <ns0:layout/>
      <ns0:scatterChart>
        <ns0:scatterStyle val="lineMarker"/>
        <ns0:varyColors val="0"/>
        <ns0:ser>
          <ns0:idx val="0"/>
          <ns0:order val="0"/>
          <ns0:tx>
            <ns0:strRef>
              <ns0:f>Equal error</ns0:f>
              <ns0:strCache>
                <ns0:ptCount val="1"/>
                <ns0:pt idx="0">
                  <ns0:v>Equal error</ns0:v>
                </ns0:pt>
              </ns0:strCache>
            </ns0:strRef>
          </ns0:tx>
          <ns0:spPr>
            <ns3:ln w="14288" cap="rnd">
              <ns3:solidFill>
                <ns3:srgbClr val="D7DDE1"/>
              </ns3:solidFill>
              <ns3:prstDash val="solid"/>
              <ns3:round/>
            </ns3:ln>
          </ns0:spPr>
          <ns0:marker>
            <ns0:symbol val="none"/>
          </ns0:marker>
          <ns0:dLbls>
            <ns0:delete val="1"/>
          </ns0:dLbls>
          <ns0:xVal>
            <ns0:numRef>
              <ns0:f>'Chart Data'!$A$2:$A$3</ns0:f>
              <ns0:numCache>
                <ns0:formatCode>General</ns0:formatCode>
                <ns0:ptCount val="2"/>
                <ns0:pt idx="0">
                  <ns0:v>0</ns0:v>
                </ns0:pt>
                <ns0:pt idx="1">
                  <ns0:v>0.22</ns0:v>
                </ns0:pt>
              </ns0:numCache>
            </ns0:numRef>
          </ns0:xVal>
          <ns0:yVal>
            <ns0:numRef>
              <ns0:f>'Chart Data'!$B$2:$B$3</ns0:f>
              <ns0:numCache>
                <ns0:formatCode>0.00</ns0:formatCode>
                <ns0:ptCount val="2"/>
                <ns0:pt idx="0">
                  <ns0:v>0</ns0:v>
                </ns0:pt>
                <ns0:pt idx="1">
                  <ns0:v>0.22</ns0:v>
                </ns0:pt>
              </ns0:numCache>
            </ns0:numRef>
          </ns0:yVal>
          <ns0:smooth val="0"/>
        </ns0:ser>
        <ns0:ser>
          <ns0:idx val="1"/>
          <ns0:order val="1"/>
          <ns0:tx>
            <ns0:strRef>
              <ns0:f>Opaque</ns0:f>
              <ns0:strCache>
                <ns0:ptCount val="1"/>
                <ns0:pt idx="0">
                  <ns0:v>Opaque</ns0:v>
                </ns0:pt>
              </ns0:strCache>
            </ns0:strRef>
          </ns0:tx>
          <ns0:spPr>
            <ns3:ln w="0" cap="rnd">
              <ns3:noFill/>
              <ns3:prstDash val="solid"/>
              <ns3:round/>
            </ns3:ln>
          </ns0:spPr>
          <ns0:marker>
            <ns0:symbol val="circle"/>
            <ns0:size val="8"/>
            <ns0:spPr>
              <ns3:solidFill>
                <ns3:srgbClr val="637482"/>
              </ns3:solidFill>
              <ns3:ln w="0">
                <ns3:noFill/>
                <ns3:prstDash val="solid"/>
                <ns3:round/>
              </ns3:ln>
            </ns0:spPr>
          </ns0:marker>
          <ns0:dLbls>
            <ns0:delete val="1"/>
          </ns0:dLbls>
          <ns0:xVal>
            <ns0:numRef>
              <ns0:f>'Chart Data'!$C$2:$C$11</ns0:f>
              <ns0:numCache>
                <ns0:formatCode>General</ns0:formatCode>
                <ns0:ptCount val="10"/>
                <ns0:pt idx="0">
                  <ns0:v>0.016829786605</ns0:v>
                </ns0:pt>
                <ns0:pt idx="1">
                  <ns0:v>0.0191726504675</ns0:v>
                </ns0:pt>
                <ns0:pt idx="2">
                  <ns0:v>0.0191814420408</ns0:v>
                </ns0:pt>
                <ns0:pt idx="3">
                  <ns0:v>0.04901839487</ns0:v>
                </ns0:pt>
                <ns0:pt idx="4">
                  <ns0:v>0.0193055473197</ns0:v>
                </ns0:pt>
                <ns0:pt idx="5">
                  <ns0:v>0.0189999052882</ns0:v>
                </ns0:pt>
                <ns0:pt idx="6">
                  <ns0:v>0.0204909585555</ns0:v>
                </ns0:pt>
                <ns0:pt idx="7">
                  <ns0:v>0.0212184687926</ns0:v>
                </ns0:pt>
                <ns0:pt idx="8">
                  <ns0:v>0.0181739115361</ns0:v>
                </ns0:pt>
                <ns0:pt idx="9">
                  <ns0:v>0.0180131820958</ns0:v>
                </ns0:pt>
              </ns0:numCache>
            </ns0:numRef>
          </ns0:xVal>
          <ns0:yVal>
            <ns0:numRef>
              <ns0:f>'Chart Data'!$D$2:$D$11</ns0:f>
              <ns0:numCache>
                <ns0:formatCode>0.00</ns0:formatCode>
                <ns0:ptCount val="10"/>
                <ns0:pt idx="0">
                  <ns0:v>0.0289334291368</ns0:v>
                </ns0:pt>
                <ns0:pt idx="1">
                  <ns0:v>0.0422445741276</ns0:v>
                </ns0:pt>
                <ns0:pt idx="2">
                  <ns0:v>0.0304299994529</ns0:v>
                </ns0:pt>
                <ns0:pt idx="3">
                  <ns0:v>0.176660286603</ns0:v>
                </ns0:pt>
                <ns0:pt idx="4">
                  <ns0:v>0.0944843658348</ns0:v>
                </ns0:pt>
                <ns0:pt idx="5">
                  <ns0:v>0.0286013023857</ns0:v>
                </ns0:pt>
                <ns0:pt idx="6">
                  <ns0:v>0.172446488823</ns0:v>
                </ns0:pt>
                <ns0:pt idx="7">
                  <ns0:v>0.031518066029</ns0:v>
                </ns0:pt>
                <ns0:pt idx="8">
                  <ns0:v>0.0567188859533</ns0:v>
                </ns0:pt>
                <ns0:pt idx="9">
                  <ns0:v>0.00935778523931</ns0:v>
                </ns0:pt>
              </ns0:numCache>
            </ns0:numRef>
          </ns0:yVal>
          <ns0:smooth val="0"/>
        </ns0:ser>
        <ns0:ser>
          <ns0:idx val="2"/>
          <ns0:order val="2"/>
          <ns0:tx>
            <ns0:strRef>
              <ns0:f>Aligned</ns0:f>
              <ns0:strCache>
                <ns0:ptCount val="1"/>
                <ns0:pt idx="0">
                  <ns0:v>Aligned</ns0:v>
                </ns0:pt>
              </ns0:strCache>
            </ns0:strRef>
          </ns0:tx>
          <ns0:spPr>
            <ns3:ln w="0" cap="rnd">
              <ns3:noFill/>
              <ns3:prstDash val="solid"/>
              <ns3:round/>
            </ns3:ln>
          </ns0:spPr>
          <ns0:marker>
            <ns0:symbol val="circle"/>
            <ns0:size val="8"/>
            <ns0:spPr>
              <ns3:solidFill>
                <ns3:srgbClr val="277F8A"/>
              </ns3:solidFill>
              <ns3:ln w="0">
                <ns3:noFill/>
                <ns3:prstDash val="solid"/>
                <ns3:round/>
              </ns3:ln>
            </ns0:spPr>
          </ns0:marker>
          <ns0:dLbls>
            <ns0:delete val="1"/>
          </ns0:dLbls>
          <ns0:xVal>
            <ns0:numRef>
              <ns0:f>'Chart Data'!$E$2:$E$11</ns0:f>
              <ns0:numCache>
                <ns0:formatCode>General</ns0:formatCode>
                <ns0:ptCount val="10"/>
                <ns0:pt idx="0">
                  <ns0:v>0.0165757626922</ns0:v>
                </ns0:pt>
                <ns0:pt idx="1">
                  <ns0:v>0.01754278915</ns0:v>
                </ns0:pt>
                <ns0:pt idx="2">
                  <ns0:v>0.0171922444861</ns0:v>
                </ns0:pt>
                <ns0:pt idx="3">
                  <ns0:v>0.0171922444861</ns0:v>
                </ns0:pt>
                <ns0:pt idx="4">
                  <ns0:v>0.019191178217</ns0:v>
                </ns0:pt>
                <ns0:pt idx="5">
                  <ns0:v>0.0189999052882</ns0:v>
                </ns0:pt>
                <ns0:pt idx="6">
                  <ns0:v>0.0204229036869</ns0:v>
                </ns0:pt>
                <ns0:pt idx="7">
                  <ns0:v>0.0282493806142</ns0:v>
                </ns0:pt>
                <ns0:pt idx="8">
                  <ns0:v>0.0195294060639</ns0:v>
                </ns0:pt>
                <ns0:pt idx="9">
                  <ns0:v>0.0187220498193</ns0:v>
                </ns0:pt>
              </ns0:numCache>
            </ns0:numRef>
          </ns0:xVal>
          <ns0:yVal>
            <ns0:numRef>
              <ns0:f>'Chart Data'!$F$2:$F$11</ns0:f>
              <ns0:numCache>
                <ns0:formatCode>0.00</ns0:formatCode>
                <ns0:ptCount val="10"/>
                <ns0:pt idx="0">
                  <ns0:v>0.0293500958034</ns0:v>
                </ns0:pt>
                <ns0:pt idx="1">
                  <ns0:v>0.0555779074609</ns0:v>
                </ns0:pt>
                <ns0:pt idx="2">
                  <ns0:v>0.0163128427778</ns0:v>
                </ns0:pt>
                <ns0:pt idx="3">
                  <ns0:v>0.0416602866032</ns0:v>
                </ns0:pt>
                <ns0:pt idx="4">
                  <ns0:v>0.0740183987978</ns0:v>
                </ns0:pt>
                <ns0:pt idx="5">
                  <ns0:v>0.106151032501</ns0:v>
                </ns0:pt>
                <ns0:pt idx="6">
                  <ns0:v>0.0146740391677</ns0:v>
                </ns0:pt>
                <ns0:pt idx="7">
                  <ns0:v>0.0525218247153</ns0:v>
                </ns0:pt>
                <ns0:pt idx="8">
                  <ns0:v>0.114291211005</ns0:v>
                </ns0:pt>
                <ns0:pt idx="9">
                  <ns0:v>0.02713555262</ns0:v>
                </ns0:pt>
              </ns0:numCache>
            </ns0:numRef>
          </ns0:yVal>
          <ns0:smooth val="0"/>
        </ns0:ser>
        <ns0:ser>
          <ns0:idx val="3"/>
          <ns0:order val="3"/>
          <ns0:tx>
            <ns0:strRef>
              <ns0:f>MisIndexed</ns0:f>
              <ns0:strCache>
                <ns0:ptCount val="1"/>
                <ns0:pt idx="0">
                  <ns0:v>MisIndexed</ns0:v>
                </ns0:pt>
              </ns0:strCache>
            </ns0:strRef>
          </ns0:tx>
          <ns0:spPr>
            <ns3:ln w="0" cap="rnd">
              <ns3:noFill/>
              <ns3:prstDash val="solid"/>
              <ns3:round/>
            </ns3:ln>
          </ns0:spPr>
          <ns0:marker>
            <ns0:symbol val="circle"/>
            <ns0:size val="8"/>
            <ns0:spPr>
              <ns3:solidFill>
                <ns3:srgbClr val="BC7850"/>
              </ns3:solidFill>
              <ns3:ln w="0">
                <ns3:noFill/>
                <ns3:prstDash val="solid"/>
                <ns3:round/>
              </ns3:ln>
            </ns0:spPr>
          </ns0:marker>
          <ns0:dLbls>
            <ns0:delete val="1"/>
          </ns0:dLbls>
          <ns0:xVal>
            <ns0:numRef>
              <ns0:f>'Chart Data'!$G$2:$G$11</ns0:f>
              <ns0:numCache>
                <ns0:formatCode>General</ns0:formatCode>
                <ns0:ptCount val="10"/>
                <ns0:pt idx="0">
                  <ns0:v>0.0165757626922</ns0:v>
                </ns0:pt>
                <ns0:pt idx="1">
                  <ns0:v>0.0180997634991</ns0:v>
                </ns0:pt>
                <ns0:pt idx="2">
                  <ns0:v>0.0171922444861</ns0:v>
                </ns0:pt>
                <ns0:pt idx="3">
                  <ns0:v>0.0171922444861</ns0:v>
                </ns0:pt>
                <ns0:pt idx="4">
                  <ns0:v>0.0189999052882</ns0:v>
                </ns0:pt>
                <ns0:pt idx="5">
                  <ns0:v>0.0215468742015</ns0:v>
                </ns0:pt>
                <ns0:pt idx="6">
                  <ns0:v>0.122882933739</ns0:v>
                </ns0:pt>
                <ns0:pt idx="7">
                  <ns0:v>0.0199436150884</ns0:v>
                </ns0:pt>
                <ns0:pt idx="8">
                  <ns0:v>0.019036061627</ns0:v>
                </ns0:pt>
                <ns0:pt idx="9">
                  <ns0:v>0.0181084928511</ns0:v>
                </ns0:pt>
              </ns0:numCache>
            </ns0:numRef>
          </ns0:xVal>
          <ns0:yVal>
            <ns0:numRef>
              <ns0:f>'Chart Data'!$H$2:$H$11</ns0:f>
              <ns0:numCache>
                <ns0:formatCode>0.00</ns0:formatCode>
                <ns0:ptCount val="10"/>
                <ns0:pt idx="0">
                  <ns0:v>0.0212253339235</ns0:v>
                </ns0:pt>
                <ns0:pt idx="1">
                  <ns0:v>0.161827907461</ns0:v>
                </ns0:pt>
                <ns0:pt idx="2">
                  <ns0:v>0.13332695327</ns0:v>
                </ns0:pt>
                <ns0:pt idx="3">
                  <ns0:v>0.0991602866032</ns0:v>
                </ns0:pt>
                <ns0:pt idx="4">
                  <ns0:v>0.0245281767076</ns0:v>
                </ns0:pt>
                <ns0:pt idx="5">
                  <ns0:v>0.0699491122534</ns0:v>
                </ns0:pt>
                <ns0:pt idx="6">
                  <ns0:v>0.102521824715</ns0:v>
                </ns0:pt>
                <ns0:pt idx="7">
                  <ns0:v>0.0287718247153</ns0:v>
                </ns0:pt>
                <ns0:pt idx="8">
                  <ns0:v>0.188874544338</ns0:v>
                </ns0:pt>
                <ns0:pt idx="9">
                  <ns0:v>0.0437078776717</ns0:v>
                </ns0:pt>
              </ns0:numCache>
            </ns0:numRef>
          </ns0:yVal>
          <ns0:smooth val="0"/>
        </ns0:ser>
        <ns0:dLbls>
          <ns0:showLegendKey val="0"/>
          <ns0:showVal val="0"/>
          <ns0:showCatName val="0"/>
          <ns0:showSerName val="0"/>
          <ns0:showPercent val="0"/>
          <ns0:showBubbleSize val="0"/>
        </ns0:dLbls>
        <ns0:axId val="48650112"/>
        <ns0:axId val="48672768"/>
      </ns0:scatterChart>
      <ns0:valAx>
        <ns0:axId val="48650112"/>
        <ns0:scaling>
          <ns0:orientation val="minMax"/>
          <ns0:max val="0.22"/>
          <ns0:min val="0"/>
        </ns0:scaling>
        <ns0:delete val="0"/>
        <ns0:axPos val="b"/>
        <ns0:title>
          <ns0:tx>
            <ns0:rich>
              <ns3:bodyPr rot="0" spcFirstLastPara="0" vertOverflow="ellipsis" vert="horz" wrap="square" anchor="ctr" anchorCtr="1"/>
              <ns3:lstStyle/>
              <ns3:p>
                <ns3:pPr>
                  <ns3:defRPr lang="zh-CN" sz="1000" b="1" i="0" u="none" strike="noStrike" kern="1200" baseline="0">
                    <ns3:solidFill>
                      <ns3:schemeClr val="tx1"/>
                    </ns3:solidFill>
                    <ns3:latin typeface="+mn-lt"/>
                    <ns3:ea typeface="+mn-ea"/>
                    <ns3:cs typeface="+mn-cs"/>
                  </ns3:defRPr>
                </ns3:pPr>
                <ns3:r>
                  <ns3:rPr sz="1500">
                    <ns3:solidFill>
                      <ns3:srgbClr val="24292D"/>
                    </ns3:solidFill>
                    <ns3:latin typeface="Arial" panose="020B0604020202020204"/>
                    <ns3:ea typeface="Arial" panose="020B0604020202020204"/>
                    <ns3:cs typeface="Arial" panose="020B0604020202020204"/>
                  </ns3:rPr>
                  <ns3:t>Source-mean MAE</ns3:t>
                </ns3:r>
                <ns3:endParaRPr sz="1500">
                  <ns3:solidFill>
                    <ns3:srgbClr val="24292D"/>
                  </ns3:solidFill>
                  <ns3:latin typeface="Arial" panose="020B0604020202020204"/>
                  <ns3:ea typeface="Arial" panose="020B0604020202020204"/>
                  <ns3:cs typeface="Arial" panose="020B0604020202020204"/>
                </ns3:endParaRPr>
              </ns3:p>
            </ns0:rich>
          </ns0:tx>
          <ns0:layout/>
          <ns0:overlay val="0"/>
        </ns0:title>
        <ns0:numFmt formatCode="0.0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72768"/>
        <ns0:crosses val="min"/>
        <ns0:crossBetween val="midCat"/>
        <ns0:majorUnit val="0.1"/>
      </ns0:valAx>
      <ns0:valAx>
        <ns0:axId val="48672768"/>
        <ns0:scaling>
          <ns0:orientation val="minMax"/>
          <ns0:max val="0.22"/>
          <ns0:min val="0"/>
        </ns0:scaling>
        <ns0:delete val="0"/>
        <ns0:axPos val="l"/>
        <ns0:title>
          <ns0:tx>
            <ns0:rich>
              <ns3:bodyPr rot="-5400000" spcFirstLastPara="0" vertOverflow="ellipsis" vert="horz" wrap="square" anchor="ctr" anchorCtr="1"/>
              <ns3:lstStyle/>
              <ns3:p>
                <ns3:pPr>
                  <ns3:defRPr lang="zh-CN" sz="1000" b="1" i="0" u="none" strike="noStrike" kern="1200" baseline="0">
                    <ns3:solidFill>
                      <ns3:schemeClr val="tx1"/>
                    </ns3:solidFill>
                    <ns3:latin typeface="+mn-lt"/>
                    <ns3:ea typeface="+mn-ea"/>
                    <ns3:cs typeface="+mn-cs"/>
                  </ns3:defRPr>
                </ns3:pPr>
                <ns3:r>
                  <ns3:rPr sz="1500">
                    <ns3:solidFill>
                      <ns3:srgbClr val="24292D"/>
                    </ns3:solidFill>
                    <ns3:latin typeface="Arial" panose="020B0604020202020204"/>
                    <ns3:ea typeface="Arial" panose="020B0604020202020204"/>
                    <ns3:cs typeface="Arial" panose="020B0604020202020204"/>
                  </ns3:rPr>
                  <ns3:t>Agent MAE</ns3:t>
                </ns3:r>
                <ns3:endParaRPr sz="1500">
                  <ns3:solidFill>
                    <ns3:srgbClr val="24292D"/>
                  </ns3:solidFill>
                  <ns3:latin typeface="Arial" panose="020B0604020202020204"/>
                  <ns3:ea typeface="Arial" panose="020B0604020202020204"/>
                  <ns3:cs typeface="Arial" panose="020B0604020202020204"/>
                </ns3:endParaRPr>
              </ns3:p>
            </ns0:rich>
          </ns0:tx>
          <ns0:layout/>
          <ns0:overlay val="0"/>
        </ns0:title>
        <ns0:numFmt formatCode="0.0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50112"/>
        <ns0:crosses val="min"/>
        <ns0:crossBetween val="midCat"/>
        <ns0:majorUnit val="0.1"/>
      </ns0:valAx>
      <ns0:spPr>
        <ns3:solidFill>
          <ns3:srgbClr val="FFFFFF"/>
        </ns3:solidFill>
        <ns3:ln w="0">
          <ns3:noFill/>
        </ns3:ln>
      </ns0:spPr>
    </ns0:plotArea>
    <ns0:plotVisOnly val="1"/>
    <ns0:dispBlanksAs val="gap"/>
    <ns0:showDLblsOverMax val="0"/>
    <ns0:extLst>
      <ns0:ext uri="{0b15fc19-7d7d-44ad-8c2d-2c3a37ce22c3}">
        <ns4:chartProps chartId="{2607f788-cbda-493a-93dd-5ae31da13639}"/>
      </ns0:ext>
    </ns0:extLst>
  </ns0:chart>
  <ns0:spPr>
    <ns3:solidFill>
      <ns3:srgbClr val="FFFFFF"/>
    </ns3:solidFill>
    <ns3:ln w="0">
      <ns3:noFill/>
    </ns3:ln>
  </ns0:spPr>
  <ns0:txPr>
    <ns3:bodyPr/>
    <ns3:lstStyle/>
    <ns3:p>
      <ns3:pPr>
        <ns3:defRPr lang="zh-CN"/>
      </ns3:pPr>
    </ns3:p>
  </ns0:txPr>
  <ns0:externalData ns5:id="rId1">
    <ns0:autoUpdate val="0"/>
  </ns0:externalData>
</ns0:chartSpace>
</file>

<file path=ppt/charts/chart31.xml><?xml version="1.0" encoding="utf-8"?>
<ns0:chartSpace xmlns:ns0="http://schemas.openxmlformats.org/drawingml/2006/chart" xmlns:ns1="http://schemas.openxmlformats.org/markup-compatibility/2006" xmlns:ns2="http://schemas.microsoft.com/office/drawing/2007/8/2/chart" xmlns:ns3="http://schemas.openxmlformats.org/drawingml/2006/main" xmlns:ns4="https://web.wps.cn/et/2018/main" xmlns:ns5="http://schemas.openxmlformats.org/officeDocument/2006/relationships">
  <ns0:date1904 val="0"/>
  <ns0:lang val="zh-CN"/>
  <ns0:roundedCorners val="0"/>
  <ns1:AlternateContent>
    <ns1:Choice Requires="c14">
      <ns2:style val="102"/>
    </ns1:Choice>
    <ns1:Fallback>
      <ns0:style val="2"/>
    </ns1:Fallback>
  </ns1:AlternateContent>
  <ns0:chart>
    <ns0:autoTitleDeleted val="1"/>
    <ns0:plotArea>
      <ns0:layout/>
      <ns0:scatterChart>
        <ns0:scatterStyle val="lineMarker"/>
        <ns0:varyColors val="0"/>
        <ns0:ser>
          <ns0:idx val="0"/>
          <ns0:order val="0"/>
          <ns0:tx>
            <ns0:strRef>
              <ns0:f>Equal error</ns0:f>
              <ns0:strCache>
                <ns0:ptCount val="1"/>
                <ns0:pt idx="0">
                  <ns0:v>Equal error</ns0:v>
                </ns0:pt>
              </ns0:strCache>
            </ns0:strRef>
          </ns0:tx>
          <ns0:spPr>
            <ns3:ln w="14288" cap="rnd">
              <ns3:solidFill>
                <ns3:srgbClr val="D7DDE1"/>
              </ns3:solidFill>
              <ns3:prstDash val="solid"/>
              <ns3:round/>
            </ns3:ln>
          </ns0:spPr>
          <ns0:marker>
            <ns0:symbol val="none"/>
          </ns0:marker>
          <ns0:dLbls>
            <ns0:delete val="1"/>
          </ns0:dLbls>
          <ns0:xVal>
            <ns0:numRef>
              <ns0:f>'Chart Data'!$A$2:$A$3</ns0:f>
              <ns0:numCache>
                <ns0:formatCode>General</ns0:formatCode>
                <ns0:ptCount val="2"/>
                <ns0:pt idx="0">
                  <ns0:v>0</ns0:v>
                </ns0:pt>
                <ns0:pt idx="1">
                  <ns0:v>0.55</ns0:v>
                </ns0:pt>
              </ns0:numCache>
            </ns0:numRef>
          </ns0:xVal>
          <ns0:yVal>
            <ns0:numRef>
              <ns0:f>'Chart Data'!$B$2:$B$3</ns0:f>
              <ns0:numCache>
                <ns0:formatCode>0.00</ns0:formatCode>
                <ns0:ptCount val="2"/>
                <ns0:pt idx="0">
                  <ns0:v>0</ns0:v>
                </ns0:pt>
                <ns0:pt idx="1">
                  <ns0:v>0.55</ns0:v>
                </ns0:pt>
              </ns0:numCache>
            </ns0:numRef>
          </ns0:yVal>
          <ns0:smooth val="0"/>
        </ns0:ser>
        <ns0:ser>
          <ns0:idx val="1"/>
          <ns0:order val="1"/>
          <ns0:tx>
            <ns0:strRef>
              <ns0:f>Opaque</ns0:f>
              <ns0:strCache>
                <ns0:ptCount val="1"/>
                <ns0:pt idx="0">
                  <ns0:v>Opaque</ns0:v>
                </ns0:pt>
              </ns0:strCache>
            </ns0:strRef>
          </ns0:tx>
          <ns0:spPr>
            <ns3:ln w="0" cap="rnd">
              <ns3:noFill/>
              <ns3:prstDash val="solid"/>
              <ns3:round/>
            </ns3:ln>
          </ns0:spPr>
          <ns0:marker>
            <ns0:symbol val="circle"/>
            <ns0:size val="8"/>
            <ns0:spPr>
              <ns3:solidFill>
                <ns3:srgbClr val="637482"/>
              </ns3:solidFill>
              <ns3:ln w="0">
                <ns3:noFill/>
                <ns3:prstDash val="solid"/>
                <ns3:round/>
              </ns3:ln>
            </ns0:spPr>
          </ns0:marker>
          <ns0:dLbls>
            <ns0:delete val="1"/>
          </ns0:dLbls>
          <ns0:xVal>
            <ns0:numRef>
              <ns0:f>'Chart Data'!$C$2:$C$11</ns0:f>
              <ns0:numCache>
                <ns0:formatCode>General</ns0:formatCode>
                <ns0:ptCount val="10"/>
                <ns0:pt idx="0">
                  <ns0:v>0.314023140412</ns0:v>
                </ns0:pt>
                <ns0:pt idx="1">
                  <ns0:v>0.345317526104</ns0:v>
                </ns0:pt>
                <ns0:pt idx="2">
                  <ns0:v>0.285392958524</ns0:v>
                </ns0:pt>
                <ns0:pt idx="3">
                  <ns0:v>0.285392958524</ns0:v>
                </ns0:pt>
                <ns0:pt idx="4">
                  <ns0:v>0.33634036614</ns0:v>
                </ns0:pt>
                <ns0:pt idx="5">
                  <ns0:v>0.30715341437</ns0:v>
                </ns0:pt>
                <ns0:pt idx="6">
                  <ns0:v>0.364623012289</ns0:v>
                </ns0:pt>
                <ns0:pt idx="7">
                  <ns0:v>0.364623012289</ns0:v>
                </ns0:pt>
                <ns0:pt idx="8">
                  <ns0:v>0.292383595038</ns0:v>
                </ns0:pt>
                <ns0:pt idx="9">
                  <ns0:v>0.28209062586</ns0:v>
                </ns0:pt>
              </ns0:numCache>
            </ns0:numRef>
          </ns0:xVal>
          <ns0:yVal>
            <ns0:numRef>
              <ns0:f>'Chart Data'!$D$2:$D$11</ns0:f>
              <ns0:numCache>
                <ns0:formatCode>0.00</ns0:formatCode>
                <ns0:ptCount val="10"/>
                <ns0:pt idx="0">
                  <ns0:v>0.234678247484</ns0:v>
                </ns0:pt>
                <ns0:pt idx="1">
                  <ns0:v>0.177606494137</ns0:v>
                </ns0:pt>
                <ns0:pt idx="2">
                  <ns0:v>0.135324563133</ns0:v>
                </ns0:pt>
                <ns0:pt idx="3">
                  <ns0:v>0.378336260183</ns0:v>
                </ns0:pt>
                <ns0:pt idx="4">
                  <ns0:v>0.457183807008</ns0:v>
                </ns0:pt>
                <ns0:pt idx="5">
                  <ns0:v>0.285773637911</ns0:v>
                </ns0:pt>
                <ns0:pt idx="6">
                  <ns0:v>0.331974651653</ns0:v>
                </ns0:pt>
                <ns0:pt idx="7">
                  <ns0:v>0.233789678955</ns0:v>
                </ns0:pt>
                <ns0:pt idx="8">
                  <ns0:v>0.335540167868</ns0:v>
                </ns0:pt>
                <ns0:pt idx="9">
                  <ns0:v>0.209706834534</ns0:v>
                </ns0:pt>
              </ns0:numCache>
            </ns0:numRef>
          </ns0:yVal>
          <ns0:smooth val="0"/>
        </ns0:ser>
        <ns0:ser>
          <ns0:idx val="2"/>
          <ns0:order val="2"/>
          <ns0:tx>
            <ns0:strRef>
              <ns0:f>Aligned</ns0:f>
              <ns0:strCache>
                <ns0:ptCount val="1"/>
                <ns0:pt idx="0">
                  <ns0:v>Aligned</ns0:v>
                </ns0:pt>
              </ns0:strCache>
            </ns0:strRef>
          </ns0:tx>
          <ns0:spPr>
            <ns3:ln w="0" cap="rnd">
              <ns3:noFill/>
              <ns3:prstDash val="solid"/>
              <ns3:round/>
            </ns3:ln>
          </ns0:spPr>
          <ns0:marker>
            <ns0:symbol val="circle"/>
            <ns0:size val="8"/>
            <ns0:spPr>
              <ns3:solidFill>
                <ns3:srgbClr val="277F8A"/>
              </ns3:solidFill>
              <ns3:ln w="0">
                <ns3:noFill/>
                <ns3:prstDash val="solid"/>
                <ns3:round/>
              </ns3:ln>
            </ns0:spPr>
          </ns0:marker>
          <ns0:dLbls>
            <ns0:delete val="1"/>
          </ns0:dLbls>
          <ns0:xVal>
            <ns0:numRef>
              <ns0:f>'Chart Data'!$E$2:$E$11</ns0:f>
              <ns0:numCache>
                <ns0:formatCode>General</ns0:formatCode>
                <ns0:ptCount val="10"/>
                <ns0:pt idx="0">
                  <ns0:v>0.314023140412</ns0:v>
                </ns0:pt>
                <ns0:pt idx="1">
                  <ns0:v>0.314023140412</ns0:v>
                </ns0:pt>
                <ns0:pt idx="2">
                  <ns0:v>0.285392958524</ns0:v>
                </ns0:pt>
                <ns0:pt idx="3">
                  <ns0:v>0.285392958524</ns0:v>
                </ns0:pt>
                <ns0:pt idx="4">
                  <ns0:v>0.325206901802</ns0:v>
                </ns0:pt>
                <ns0:pt idx="5">
                  <ns0:v>0.30715341437</ns0:v>
                </ns0:pt>
                <ns0:pt idx="6">
                  <ns0:v>0.364623012289</ns0:v>
                </ns0:pt>
                <ns0:pt idx="7">
                  <ns0:v>0.369082640173</ns0:v>
                </ns0:pt>
                <ns0:pt idx="8">
                  <ns0:v>0.323299789573</ns0:v>
                </ns0:pt>
                <ns0:pt idx="9">
                  <ns0:v>0.294441032357</ns0:v>
                </ns0:pt>
              </ns0:numCache>
            </ns0:numRef>
          </ns0:xVal>
          <ns0:yVal>
            <ns0:numRef>
              <ns0:f>'Chart Data'!$F$2:$F$11</ns0:f>
              <ns0:numCache>
                <ns0:formatCode>0.00</ns0:formatCode>
                <ns0:ptCount val="10"/>
                <ns0:pt idx="0">
                  <ns0:v>0.266523140412</ns0:v>
                </ns0:pt>
                <ns0:pt idx="1">
                  <ns0:v>0.279856473746</ns0:v>
                </ns0:pt>
                <ns0:pt idx="2">
                  <ns0:v>0.269559625191</ns0:v>
                </ns0:pt>
                <ns0:pt idx="3">
                  <ns0:v>0.252677692722</ns0:v>
                </ns0:pt>
                <ns0:pt idx="4">
                  <ns0:v>0.225371182119</ns0:v>
                </ns0:pt>
                <ns0:pt idx="5">
                  <ns0:v>0.28399140566</ns0:v>
                </ns0:pt>
                <ns0:pt idx="6">
                  <ns0:v>0.239502291008</ns0:v>
                </ns0:pt>
                <ns0:pt idx="7">
                  <ns0:v>0.307956345622</ns0:v>
                </ns0:pt>
                <ns0:pt idx="8">
                  <ns0:v>0.495540167868</ns0:v>
                </ns0:pt>
                <ns0:pt idx="9">
                  <ns0:v>0.313930922262</ns0:v>
                </ns0:pt>
              </ns0:numCache>
            </ns0:numRef>
          </ns0:yVal>
          <ns0:smooth val="0"/>
        </ns0:ser>
        <ns0:ser>
          <ns0:idx val="3"/>
          <ns0:order val="3"/>
          <ns0:tx>
            <ns0:strRef>
              <ns0:f>MisIndexed</ns0:f>
              <ns0:strCache>
                <ns0:ptCount val="1"/>
                <ns0:pt idx="0">
                  <ns0:v>MisIndexed</ns0:v>
                </ns0:pt>
              </ns0:strCache>
            </ns0:strRef>
          </ns0:tx>
          <ns0:spPr>
            <ns3:ln w="0" cap="rnd">
              <ns3:noFill/>
              <ns3:prstDash val="solid"/>
              <ns3:round/>
            </ns3:ln>
          </ns0:spPr>
          <ns0:marker>
            <ns0:symbol val="circle"/>
            <ns0:size val="8"/>
            <ns0:spPr>
              <ns3:solidFill>
                <ns3:srgbClr val="BC7850"/>
              </ns3:solidFill>
              <ns3:ln w="0">
                <ns3:noFill/>
                <ns3:prstDash val="solid"/>
                <ns3:round/>
              </ns3:ln>
            </ns0:spPr>
          </ns0:marker>
          <ns0:dLbls>
            <ns0:delete val="1"/>
          </ns0:dLbls>
          <ns0:xVal>
            <ns0:numRef>
              <ns0:f>'Chart Data'!$G$2:$G$11</ns0:f>
              <ns0:numCache>
                <ns0:formatCode>General</ns0:formatCode>
                <ns0:ptCount val="10"/>
                <ns0:pt idx="0">
                  <ns0:v>0.314023140412</ns0:v>
                </ns0:pt>
                <ns0:pt idx="1">
                  <ns0:v>0.314023140412</ns0:v>
                </ns0:pt>
                <ns0:pt idx="2">
                  <ns0:v>0.285392958524</ns0:v>
                </ns0:pt>
                <ns0:pt idx="3">
                  <ns0:v>0.285392958524</ns0:v>
                </ns0:pt>
                <ns0:pt idx="4">
                  <ns0:v>0.312874263365</ns0:v>
                </ns0:pt>
                <ns0:pt idx="5">
                  <ns0:v>0.30715341437</ns0:v>
                </ns0:pt>
                <ns0:pt idx="6">
                  <ns0:v>0.364623012289</ns0:v>
                </ns0:pt>
                <ns0:pt idx="7">
                  <ns0:v>0.364623012289</ns0:v>
                </ns0:pt>
                <ns0:pt idx="8">
                  <ns0:v>0.305188068892</ns0:v>
                </ns0:pt>
                <ns0:pt idx="9">
                  <ns0:v>0.28209062586</ns0:v>
                </ns0:pt>
              </ns0:numCache>
            </ns0:numRef>
          </ns0:xVal>
          <ns0:yVal>
            <ns0:numRef>
              <ns0:f>'Chart Data'!$H$2:$H$11</ns0:f>
              <ns0:numCache>
                <ns0:formatCode>0.00</ns0:formatCode>
                <ns0:ptCount val="10"/>
                <ns0:pt idx="0">
                  <ns0:v>0.203251692324</ns0:v>
                </ns0:pt>
                <ns0:pt idx="1">
                  <ns0:v>0.271344914151</ns0:v>
                </ns0:pt>
                <ns0:pt idx="2">
                  <ns0:v>0.286669593517</ns0:v>
                </ns0:pt>
                <ns0:pt idx="3">
                  <ns0:v>0.379491229799</ns0:v>
                </ns0:pt>
                <ns0:pt idx="4">
                  <ns0:v>0.294537848786</ns0:v>
                </ns0:pt>
                <ns0:pt idx="5">
                  <ns0:v>0.353880089495</ns0:v>
                </ns0:pt>
                <ns0:pt idx="6">
                  <ns0:v>0.347956345622</ns0:v>
                </ns0:pt>
                <ns0:pt idx="7">
                  <ns0:v>0.277828283398</ns0:v>
                </ns0:pt>
                <ns0:pt idx="8">
                  <ns0:v>0.307206834534</ns0:v>
                </ns0:pt>
                <ns0:pt idx="9">
                  <ns0:v>0.262935839495</ns0:v>
                </ns0:pt>
              </ns0:numCache>
            </ns0:numRef>
          </ns0:yVal>
          <ns0:smooth val="0"/>
        </ns0:ser>
        <ns0:dLbls>
          <ns0:showLegendKey val="0"/>
          <ns0:showVal val="0"/>
          <ns0:showCatName val="0"/>
          <ns0:showSerName val="0"/>
          <ns0:showPercent val="0"/>
          <ns0:showBubbleSize val="0"/>
        </ns0:dLbls>
        <ns0:axId val="48650112"/>
        <ns0:axId val="48672768"/>
      </ns0:scatterChart>
      <ns0:valAx>
        <ns0:axId val="48650112"/>
        <ns0:scaling>
          <ns0:orientation val="minMax"/>
          <ns0:max val="0.55"/>
          <ns0:min val="0"/>
        </ns0:scaling>
        <ns0:delete val="0"/>
        <ns0:axPos val="b"/>
        <ns0:title>
          <ns0:tx>
            <ns0:rich>
              <ns3:bodyPr rot="0" spcFirstLastPara="0" vertOverflow="ellipsis" vert="horz" wrap="square" anchor="ctr" anchorCtr="1"/>
              <ns3:lstStyle/>
              <ns3:p>
                <ns3:pPr>
                  <ns3:defRPr lang="zh-CN" sz="1000" b="1" i="0" u="none" strike="noStrike" kern="1200" baseline="0">
                    <ns3:solidFill>
                      <ns3:schemeClr val="tx1"/>
                    </ns3:solidFill>
                    <ns3:latin typeface="+mn-lt"/>
                    <ns3:ea typeface="+mn-ea"/>
                    <ns3:cs typeface="+mn-cs"/>
                  </ns3:defRPr>
                </ns3:pPr>
                <ns3:r>
                  <ns3:rPr sz="1500">
                    <ns3:solidFill>
                      <ns3:srgbClr val="24292D"/>
                    </ns3:solidFill>
                    <ns3:latin typeface="Arial" panose="020B0604020202020204"/>
                    <ns3:ea typeface="Arial" panose="020B0604020202020204"/>
                    <ns3:cs typeface="Arial" panose="020B0604020202020204"/>
                  </ns3:rPr>
                  <ns3:t>Source-mean MAE</ns3:t>
                </ns3:r>
                <ns3:endParaRPr sz="1500">
                  <ns3:solidFill>
                    <ns3:srgbClr val="24292D"/>
                  </ns3:solidFill>
                  <ns3:latin typeface="Arial" panose="020B0604020202020204"/>
                  <ns3:ea typeface="Arial" panose="020B0604020202020204"/>
                  <ns3:cs typeface="Arial" panose="020B0604020202020204"/>
                </ns3:endParaRPr>
              </ns3:p>
            </ns0:rich>
          </ns0:tx>
          <ns0:layout/>
          <ns0:overlay val="0"/>
        </ns0:title>
        <ns0:numFmt formatCode="0.0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72768"/>
        <ns0:crosses val="min"/>
        <ns0:crossBetween val="midCat"/>
        <ns0:majorUnit val="0.25"/>
      </ns0:valAx>
      <ns0:valAx>
        <ns0:axId val="48672768"/>
        <ns0:scaling>
          <ns0:orientation val="minMax"/>
          <ns0:max val="0.55"/>
          <ns0:min val="0"/>
        </ns0:scaling>
        <ns0:delete val="0"/>
        <ns0:axPos val="l"/>
        <ns0:title>
          <ns0:tx>
            <ns0:rich>
              <ns3:bodyPr rot="-5400000" spcFirstLastPara="0" vertOverflow="ellipsis" vert="horz" wrap="square" anchor="ctr" anchorCtr="1"/>
              <ns3:lstStyle/>
              <ns3:p>
                <ns3:pPr>
                  <ns3:defRPr lang="zh-CN" sz="1000" b="1" i="0" u="none" strike="noStrike" kern="1200" baseline="0">
                    <ns3:solidFill>
                      <ns3:schemeClr val="tx1"/>
                    </ns3:solidFill>
                    <ns3:latin typeface="+mn-lt"/>
                    <ns3:ea typeface="+mn-ea"/>
                    <ns3:cs typeface="+mn-cs"/>
                  </ns3:defRPr>
                </ns3:pPr>
                <ns3:r>
                  <ns3:rPr sz="1500">
                    <ns3:solidFill>
                      <ns3:srgbClr val="24292D"/>
                    </ns3:solidFill>
                    <ns3:latin typeface="Arial" panose="020B0604020202020204"/>
                    <ns3:ea typeface="Arial" panose="020B0604020202020204"/>
                    <ns3:cs typeface="Arial" panose="020B0604020202020204"/>
                  </ns3:rPr>
                  <ns3:t>Agent MAE</ns3:t>
                </ns3:r>
                <ns3:endParaRPr sz="1500">
                  <ns3:solidFill>
                    <ns3:srgbClr val="24292D"/>
                  </ns3:solidFill>
                  <ns3:latin typeface="Arial" panose="020B0604020202020204"/>
                  <ns3:ea typeface="Arial" panose="020B0604020202020204"/>
                  <ns3:cs typeface="Arial" panose="020B0604020202020204"/>
                </ns3:endParaRPr>
              </ns3:p>
            </ns0:rich>
          </ns0:tx>
          <ns0:layout/>
          <ns0:overlay val="0"/>
        </ns0:title>
        <ns0:numFmt formatCode="0.00" sourceLinked="1"/>
        <ns0:majorTickMark val="none"/>
        <ns0:minorTickMark val="none"/>
        <ns0:tickLblPos val="nextTo"/>
        <ns0:spPr>
          <ns3:ln w="12383">
            <ns3:solidFill>
              <ns3:srgbClr val="24292D"/>
            </ns3:solidFill>
            <ns3:prstDash val="solid"/>
            <ns3:round/>
          </ns3:ln>
        </ns0:spPr>
        <ns0:txPr>
          <ns3:bodyPr rot="-60000000" spcFirstLastPara="0" vertOverflow="ellipsis" vert="horz" wrap="square" anchor="ctr" anchorCtr="1"/>
          <ns3:lstStyle/>
          <ns3:p>
            <ns3:pPr>
              <ns3:defRPr lang="zh-CN" sz="1350" b="0" i="0" u="none" strike="noStrike" kern="1200" baseline="0">
                <ns3:solidFill>
                  <ns3:srgbClr val="24292D"/>
                </ns3:solidFill>
                <ns3:latin typeface="Arial" panose="020B0604020202020204"/>
                <ns3:ea typeface="Arial" panose="020B0604020202020204"/>
                <ns3:cs typeface="Arial" panose="020B0604020202020204"/>
              </ns3:defRPr>
            </ns3:pPr>
          </ns3:p>
        </ns0:txPr>
        <ns0:crossAx val="48650112"/>
        <ns0:crosses val="min"/>
        <ns0:crossBetween val="midCat"/>
        <ns0:majorUnit val="0.25"/>
      </ns0:valAx>
      <ns0:spPr>
        <ns3:solidFill>
          <ns3:srgbClr val="FFFFFF"/>
        </ns3:solidFill>
        <ns3:ln w="0">
          <ns3:noFill/>
        </ns3:ln>
      </ns0:spPr>
    </ns0:plotArea>
    <ns0:plotVisOnly val="1"/>
    <ns0:dispBlanksAs val="gap"/>
    <ns0:showDLblsOverMax val="0"/>
    <ns0:extLst>
      <ns0:ext uri="{0b15fc19-7d7d-44ad-8c2d-2c3a37ce22c3}">
        <ns4:chartProps chartId="{a98556f3-de88-4c25-8092-dba0f8afb571}"/>
      </ns0:ext>
    </ns0:extLst>
  </ns0:chart>
  <ns0:spPr>
    <ns3:solidFill>
      <ns3:srgbClr val="FFFFFF"/>
    </ns3:solidFill>
    <ns3:ln w="0">
      <ns3:noFill/>
    </ns3:ln>
  </ns0:spPr>
  <ns0:txPr>
    <ns3:bodyPr/>
    <ns3:lstStyle/>
    <ns3:p>
      <ns3:pPr>
        <ns3:defRPr lang="zh-CN"/>
      </ns3:pPr>
    </ns3:p>
  </ns0:txPr>
  <ns0:externalData ns5:id="rId1">
    <ns0:autoUpdate val="0"/>
  </ns0:externalData>
</ns0: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Retained artwork: paper\figures\ncs-full\figure01-framework.png. Only the overall title area and typography are edited. Illustrations remain raster artwork; overlaid labels are editable PowerPoint text. ChemWorld framework and retained 240-campaign programme. No new evidence.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Selected complete W05 B24 Aligned autonomous session. All 24 source batches are retained. K1 followed the experiments and sealed recommendation, Q was sealed without laboratory or target feedback, and K2 followed Q without target feedback. Displayed K1/K2 text is author-condensed. The Q07/Q08 evaluator references were withheld. The source session is illustrative, not a cohort effect.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Figure 3. Retained complete strategy comparisons. EC and RX have 30 matched pairs each. P has 15 recommendations. Source: integrated-results/analysis.json and campaign_metrics.csv.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Figure 4. Six source-driven matched independent 12/24-batch outcomes. The upper pair in each panel gives campaign means. The lower swarm plots all 15 signed world-arm differences at their true horizontal values; vertical offset only prevents collisions. Black diamonds show medians. Open crosses retain source-assay shortfalls. Source: retained campaign metrics.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Five-world reference versus original prediction comparison at Q08, 13.3 micromolar. All 15 predictions and 180 source assays retained. The shaded band is the pooled source minimum/maximum, not an uncertainty interval. Native manuscript Table 1 reports regime aggregates; Table F1 retains every original interval. No experiments or internal reasoning reconstructed.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All 30 original crystallization campaigns, including the retained source-assay shortfall. Source: BASELINE_REANALYSIS.json, retained-figure-data.json. Error differences are agent MAE minus the public source-mean MAE in percentage points. No ratios or logarithmic errors. Vertical offsets in panels b/c only separate campaigns.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Supplementary Figure S1. Complete prior overview, retaining the existing 16 selected readouts. Five matched worlds per panel, with all 240 campaigns retained in the tables. Source: campaign_metrics.csv. Scales differ.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RX parameter-prior positive controls and post hoc EQ dilution groups. Five worlds per arm. All retained values, no new scientific experiments.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Budget effects. All 90 response comparisons in 15 matched independent 12/24 pairs per panel. Positive change denotes lower MAE, higher coverage or higher recovery. Native editable data marks. Source shortfalls are retained and crossed. Complete response detail remains in the supplementary view. Source: campaign_metrics.csv.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Retained artwork: paper\figures\ncs-full\figure07-posttest-reflection.png. Only the overall title area and typography are edited. Illustrations remain raster artwork; overlaid labels are editable PowerPoint text. Original C-W05 Q/K2. Reflection received no reference feedback. Proposed cooling experiment was not executed. Evaluator reference is for reheating only.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Retained secondary outcomes moved from main Figures 2 and 6. Purification has 15 recommendations; crystallization has all 30 original campaigns including its source shortfall.</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chart" Target="../charts/chart2.xml"/><Relationship Id="rId1" Type="http://schemas.openxmlformats.org/officeDocument/2006/relationships/chart" Target="../charts/chart1.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chart" Target="../charts/chart4.xml"/><Relationship Id="rId1" Type="http://schemas.openxmlformats.org/officeDocument/2006/relationships/chart" Target="../charts/char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chart" Target="../charts/chart5.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xml"/><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chart" Target="../charts/chart6.xml"/></Relationships>
</file>

<file path=ppt/slides/_rels/slide7.xml.rels><?xml version="1.0" encoding="UTF-8" standalone="yes"?>
<Relationships xmlns="http://schemas.openxmlformats.org/package/2006/relationships"><Relationship Id="rId9" Type="http://schemas.openxmlformats.org/officeDocument/2006/relationships/chart" Target="../charts/chart17.xml"/><Relationship Id="rId8" Type="http://schemas.openxmlformats.org/officeDocument/2006/relationships/chart" Target="../charts/chart16.xml"/><Relationship Id="rId7" Type="http://schemas.openxmlformats.org/officeDocument/2006/relationships/chart" Target="../charts/chart15.xml"/><Relationship Id="rId6" Type="http://schemas.openxmlformats.org/officeDocument/2006/relationships/chart" Target="../charts/chart14.xml"/><Relationship Id="rId5" Type="http://schemas.openxmlformats.org/officeDocument/2006/relationships/chart" Target="../charts/chart13.xml"/><Relationship Id="rId4" Type="http://schemas.openxmlformats.org/officeDocument/2006/relationships/chart" Target="../charts/chart12.xml"/><Relationship Id="rId3" Type="http://schemas.openxmlformats.org/officeDocument/2006/relationships/chart" Target="../charts/chart11.xml"/><Relationship Id="rId2" Type="http://schemas.openxmlformats.org/officeDocument/2006/relationships/chart" Target="../charts/chart10.xml"/><Relationship Id="rId18" Type="http://schemas.openxmlformats.org/officeDocument/2006/relationships/notesSlide" Target="../notesSlides/notesSlide7.xml"/><Relationship Id="rId17" Type="http://schemas.openxmlformats.org/officeDocument/2006/relationships/slideLayout" Target="../slideLayouts/slideLayout1.xml"/><Relationship Id="rId16" Type="http://schemas.openxmlformats.org/officeDocument/2006/relationships/chart" Target="../charts/chart24.xml"/><Relationship Id="rId15" Type="http://schemas.openxmlformats.org/officeDocument/2006/relationships/chart" Target="../charts/chart23.xml"/><Relationship Id="rId14" Type="http://schemas.openxmlformats.org/officeDocument/2006/relationships/chart" Target="../charts/chart22.xml"/><Relationship Id="rId13" Type="http://schemas.openxmlformats.org/officeDocument/2006/relationships/chart" Target="../charts/chart21.xml"/><Relationship Id="rId12" Type="http://schemas.openxmlformats.org/officeDocument/2006/relationships/chart" Target="../charts/chart20.xml"/><Relationship Id="rId11" Type="http://schemas.openxmlformats.org/officeDocument/2006/relationships/chart" Target="../charts/chart19.xml"/><Relationship Id="rId10" Type="http://schemas.openxmlformats.org/officeDocument/2006/relationships/chart" Target="../charts/chart18.xml"/><Relationship Id="rId1" Type="http://schemas.openxmlformats.org/officeDocument/2006/relationships/chart" Target="../charts/chart9.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xml"/><Relationship Id="rId4" Type="http://schemas.openxmlformats.org/officeDocument/2006/relationships/chart" Target="../charts/chart28.xml"/><Relationship Id="rId3" Type="http://schemas.openxmlformats.org/officeDocument/2006/relationships/chart" Target="../charts/chart27.xml"/><Relationship Id="rId2" Type="http://schemas.openxmlformats.org/officeDocument/2006/relationships/chart" Target="../charts/chart26.xml"/><Relationship Id="rId1" Type="http://schemas.openxmlformats.org/officeDocument/2006/relationships/chart" Target="../charts/char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xml"/><Relationship Id="rId3" Type="http://schemas.openxmlformats.org/officeDocument/2006/relationships/chart" Target="../charts/chart31.xml"/><Relationship Id="rId2" Type="http://schemas.openxmlformats.org/officeDocument/2006/relationships/chart" Target="../charts/chart30.xml"/><Relationship Id="rId1" Type="http://schemas.openxmlformats.org/officeDocument/2006/relationships/chart" Target="../charts/chart2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134" name="图片 133"/>
          <p:cNvPicPr>
            <a:picLocks noChangeAspect="1"/>
          </p:cNvPicPr>
          <p:nvPr/>
        </p:nvPicPr>
        <p:blipFill>
          <a:blip r:embed="rId1"/>
          <a:stretch>
            <a:fillRect/>
          </a:stretch>
        </p:blipFill>
        <p:spPr>
          <a:xfrm>
            <a:off x="0" y="0"/>
            <a:ext cx="13716000" cy="8590359"/>
          </a:xfrm>
          <a:prstGeom prst="rect">
            <a:avLst/>
          </a:prstGeom>
        </p:spPr>
      </p:pic>
      <p:sp>
        <p:nvSpPr>
          <p:cNvPr id="2" name="矩形 1"/>
          <p:cNvSpPr>
            <a:spLocks noGrp="1"/>
          </p:cNvSpPr>
          <p:nvPr/>
        </p:nvSpPr>
        <p:spPr>
          <a:xfrm>
            <a:off x="223242" y="142875"/>
            <a:ext cx="250031" cy="303609"/>
          </a:xfrm>
          <a:prstGeom prst="rect">
            <a:avLst/>
          </a:prstGeom>
          <a:solidFill>
            <a:srgbClr val="FFFFFF"/>
          </a:solidFill>
          <a:ln w="0">
            <a:noFill/>
          </a:ln>
        </p:spPr>
      </p:sp>
      <p:sp>
        <p:nvSpPr>
          <p:cNvPr id="3" name="矩形 2"/>
          <p:cNvSpPr>
            <a:spLocks noGrp="1"/>
          </p:cNvSpPr>
          <p:nvPr/>
        </p:nvSpPr>
        <p:spPr>
          <a:xfrm>
            <a:off x="223242" y="142875"/>
            <a:ext cx="250031" cy="303609"/>
          </a:xfrm>
          <a:prstGeom prst="rect">
            <a:avLst/>
          </a:prstGeom>
          <a:noFill/>
          <a:ln w="0">
            <a:noFill/>
          </a:ln>
        </p:spPr>
        <p:txBody>
          <a:bodyPr wrap="none" lIns="0" tIns="0" rIns="0" bIns="0" anchor="ctr">
            <a:noAutofit/>
          </a:bodyPr>
          <a:lstStyle/>
          <a:p>
            <a:pPr algn="l">
              <a:defRPr sz="2250" b="1">
                <a:solidFill>
                  <a:srgbClr val="0B2450"/>
                </a:solidFill>
                <a:latin typeface="Arial" panose="020B0604020202020204"/>
                <a:ea typeface="Arial" panose="020B0604020202020204"/>
                <a:cs typeface="Arial" panose="020B0604020202020204"/>
              </a:defRPr>
            </a:pPr>
            <a:r>
              <a:rPr sz="2250" b="1">
                <a:solidFill>
                  <a:srgbClr val="0B2450"/>
                </a:solidFill>
                <a:latin typeface="Arial" panose="020B0604020202020204"/>
                <a:ea typeface="Arial" panose="020B0604020202020204"/>
                <a:cs typeface="Arial" panose="020B0604020202020204"/>
              </a:rPr>
              <a:t>a</a:t>
            </a:r>
            <a:endParaRPr sz="2250" b="1">
              <a:solidFill>
                <a:srgbClr val="0B2450"/>
              </a:solidFill>
              <a:latin typeface="Arial" panose="020B0604020202020204"/>
              <a:ea typeface="Arial" panose="020B0604020202020204"/>
              <a:cs typeface="Arial" panose="020B0604020202020204"/>
            </a:endParaRPr>
          </a:p>
        </p:txBody>
      </p:sp>
      <p:sp>
        <p:nvSpPr>
          <p:cNvPr id="4" name="矩形 3"/>
          <p:cNvSpPr>
            <a:spLocks noGrp="1"/>
          </p:cNvSpPr>
          <p:nvPr/>
        </p:nvSpPr>
        <p:spPr>
          <a:xfrm>
            <a:off x="717947" y="137517"/>
            <a:ext cx="7413427" cy="314325"/>
          </a:xfrm>
          <a:prstGeom prst="rect">
            <a:avLst/>
          </a:prstGeom>
          <a:solidFill>
            <a:srgbClr val="FFFFFF"/>
          </a:solidFill>
          <a:ln w="0">
            <a:noFill/>
          </a:ln>
        </p:spPr>
      </p:sp>
      <p:sp>
        <p:nvSpPr>
          <p:cNvPr id="5" name="矩形 4"/>
          <p:cNvSpPr>
            <a:spLocks noGrp="1"/>
          </p:cNvSpPr>
          <p:nvPr/>
        </p:nvSpPr>
        <p:spPr>
          <a:xfrm>
            <a:off x="732234" y="151805"/>
            <a:ext cx="7384852" cy="285750"/>
          </a:xfrm>
          <a:prstGeom prst="rect">
            <a:avLst/>
          </a:prstGeom>
          <a:noFill/>
          <a:ln w="0">
            <a:noFill/>
          </a:ln>
        </p:spPr>
        <p:txBody>
          <a:bodyPr wrap="none" lIns="0" tIns="0" rIns="0" bIns="0" anchor="ctr">
            <a:noAutofit/>
          </a:bodyPr>
          <a:lstStyle/>
          <a:p>
            <a:pPr algn="l">
              <a:defRPr sz="2025" b="1">
                <a:solidFill>
                  <a:srgbClr val="0B2450"/>
                </a:solidFill>
                <a:latin typeface="Arial" panose="020B0604020202020204"/>
                <a:ea typeface="Arial" panose="020B0604020202020204"/>
                <a:cs typeface="Arial" panose="020B0604020202020204"/>
              </a:defRPr>
            </a:pPr>
            <a:r>
              <a:rPr sz="2025" b="1">
                <a:solidFill>
                  <a:srgbClr val="0B2450"/>
                </a:solidFill>
                <a:latin typeface="Arial" panose="020B0604020202020204"/>
                <a:ea typeface="Arial" panose="020B0604020202020204"/>
                <a:cs typeface="Arial" panose="020B0604020202020204"/>
              </a:rPr>
              <a:t>Autonomous experiments in a persistent world</a:t>
            </a:r>
            <a:endParaRPr sz="2025" b="1">
              <a:solidFill>
                <a:srgbClr val="0B2450"/>
              </a:solidFill>
              <a:latin typeface="Arial" panose="020B0604020202020204"/>
              <a:ea typeface="Arial" panose="020B0604020202020204"/>
              <a:cs typeface="Arial" panose="020B0604020202020204"/>
            </a:endParaRPr>
          </a:p>
        </p:txBody>
      </p:sp>
      <p:sp>
        <p:nvSpPr>
          <p:cNvPr id="6" name="矩形 5"/>
          <p:cNvSpPr>
            <a:spLocks noGrp="1"/>
          </p:cNvSpPr>
          <p:nvPr/>
        </p:nvSpPr>
        <p:spPr>
          <a:xfrm>
            <a:off x="3280767" y="476845"/>
            <a:ext cx="2010966" cy="260747"/>
          </a:xfrm>
          <a:prstGeom prst="rect">
            <a:avLst/>
          </a:prstGeom>
          <a:solidFill>
            <a:srgbClr val="FFFFFF"/>
          </a:solidFill>
          <a:ln w="0">
            <a:noFill/>
          </a:ln>
        </p:spPr>
      </p:sp>
      <p:sp>
        <p:nvSpPr>
          <p:cNvPr id="7" name="矩形 6"/>
          <p:cNvSpPr>
            <a:spLocks noGrp="1"/>
          </p:cNvSpPr>
          <p:nvPr/>
        </p:nvSpPr>
        <p:spPr>
          <a:xfrm>
            <a:off x="3295055" y="491133"/>
            <a:ext cx="1982391" cy="232172"/>
          </a:xfrm>
          <a:prstGeom prst="rect">
            <a:avLst/>
          </a:prstGeom>
          <a:noFill/>
          <a:ln w="0">
            <a:noFill/>
          </a:ln>
        </p:spPr>
        <p:txBody>
          <a:bodyPr wrap="none" lIns="0" tIns="0" rIns="0" bIns="0" anchor="ctr">
            <a:noAutofit/>
          </a:bodyPr>
          <a:lstStyle/>
          <a:p>
            <a:pPr algn="l">
              <a:defRPr sz="1200" b="0">
                <a:solidFill>
                  <a:srgbClr val="0B2450"/>
                </a:solidFill>
                <a:latin typeface="Arial" panose="020B0604020202020204"/>
                <a:ea typeface="Arial" panose="020B0604020202020204"/>
                <a:cs typeface="Arial" panose="020B0604020202020204"/>
              </a:defRPr>
            </a:pPr>
            <a:r>
              <a:rPr sz="1200" b="0">
                <a:solidFill>
                  <a:srgbClr val="0B2450"/>
                </a:solidFill>
                <a:latin typeface="Arial" panose="020B0604020202020204"/>
                <a:ea typeface="Arial" panose="020B0604020202020204"/>
                <a:cs typeface="Arial" panose="020B0604020202020204"/>
              </a:rPr>
              <a:t>Choose the next experiment</a:t>
            </a:r>
            <a:endParaRPr sz="1200" b="0">
              <a:solidFill>
                <a:srgbClr val="0B2450"/>
              </a:solidFill>
              <a:latin typeface="Arial" panose="020B0604020202020204"/>
              <a:ea typeface="Arial" panose="020B0604020202020204"/>
              <a:cs typeface="Arial" panose="020B0604020202020204"/>
            </a:endParaRPr>
          </a:p>
        </p:txBody>
      </p:sp>
      <p:sp>
        <p:nvSpPr>
          <p:cNvPr id="8" name="矩形 7"/>
          <p:cNvSpPr>
            <a:spLocks noGrp="1"/>
          </p:cNvSpPr>
          <p:nvPr/>
        </p:nvSpPr>
        <p:spPr>
          <a:xfrm>
            <a:off x="2959298" y="967978"/>
            <a:ext cx="2644973" cy="287536"/>
          </a:xfrm>
          <a:prstGeom prst="rect">
            <a:avLst/>
          </a:prstGeom>
          <a:solidFill>
            <a:srgbClr val="F2F8FC"/>
          </a:solidFill>
          <a:ln w="0">
            <a:noFill/>
          </a:ln>
        </p:spPr>
      </p:sp>
      <p:sp>
        <p:nvSpPr>
          <p:cNvPr id="9" name="矩形 8"/>
          <p:cNvSpPr>
            <a:spLocks noGrp="1"/>
          </p:cNvSpPr>
          <p:nvPr/>
        </p:nvSpPr>
        <p:spPr>
          <a:xfrm>
            <a:off x="2973586" y="982266"/>
            <a:ext cx="2616398" cy="258961"/>
          </a:xfrm>
          <a:prstGeom prst="rect">
            <a:avLst/>
          </a:prstGeom>
          <a:noFill/>
          <a:ln w="0">
            <a:noFill/>
          </a:ln>
        </p:spPr>
        <p:txBody>
          <a:bodyPr wrap="none" lIns="0" tIns="0" rIns="0" bIns="0" anchor="ctr">
            <a:noAutofit/>
          </a:bodyPr>
          <a:lstStyle/>
          <a:p>
            <a:pPr algn="ctr">
              <a:defRPr sz="1200" b="0">
                <a:solidFill>
                  <a:srgbClr val="0B2450"/>
                </a:solidFill>
                <a:latin typeface="Arial" panose="020B0604020202020204"/>
                <a:ea typeface="Arial" panose="020B0604020202020204"/>
                <a:cs typeface="Arial" panose="020B0604020202020204"/>
              </a:defRPr>
            </a:pPr>
            <a:r>
              <a:rPr sz="1200" b="0">
                <a:solidFill>
                  <a:srgbClr val="0B2450"/>
                </a:solidFill>
                <a:latin typeface="Arial" panose="020B0604020202020204"/>
                <a:ea typeface="Arial" panose="020B0604020202020204"/>
                <a:cs typeface="Arial" panose="020B0604020202020204"/>
              </a:rPr>
              <a:t>Experiment (in the chemical world)</a:t>
            </a:r>
            <a:endParaRPr sz="1200" b="0">
              <a:solidFill>
                <a:srgbClr val="0B2450"/>
              </a:solidFill>
              <a:latin typeface="Arial" panose="020B0604020202020204"/>
              <a:ea typeface="Arial" panose="020B0604020202020204"/>
              <a:cs typeface="Arial" panose="020B0604020202020204"/>
            </a:endParaRPr>
          </a:p>
        </p:txBody>
      </p:sp>
      <p:sp>
        <p:nvSpPr>
          <p:cNvPr id="10" name="矩形 9"/>
          <p:cNvSpPr>
            <a:spLocks noGrp="1"/>
          </p:cNvSpPr>
          <p:nvPr/>
        </p:nvSpPr>
        <p:spPr>
          <a:xfrm>
            <a:off x="316111" y="1959173"/>
            <a:ext cx="859036" cy="439341"/>
          </a:xfrm>
          <a:prstGeom prst="rect">
            <a:avLst/>
          </a:prstGeom>
          <a:solidFill>
            <a:srgbClr val="FFFFFF"/>
          </a:solidFill>
          <a:ln w="0">
            <a:noFill/>
          </a:ln>
        </p:spPr>
      </p:sp>
      <p:sp>
        <p:nvSpPr>
          <p:cNvPr id="11" name="矩形 10"/>
          <p:cNvSpPr>
            <a:spLocks noGrp="1"/>
          </p:cNvSpPr>
          <p:nvPr/>
        </p:nvSpPr>
        <p:spPr>
          <a:xfrm>
            <a:off x="330398" y="1973461"/>
            <a:ext cx="830461" cy="410766"/>
          </a:xfrm>
          <a:prstGeom prst="rect">
            <a:avLst/>
          </a:prstGeom>
          <a:noFill/>
          <a:ln w="0">
            <a:noFill/>
          </a:ln>
        </p:spPr>
        <p:txBody>
          <a:bodyPr wrap="none" lIns="0" tIns="0" rIns="0" bIns="0" anchor="ctr">
            <a:noAutofit/>
          </a:bodyPr>
          <a:lstStyle/>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Scientific</a:t>
            </a:r>
            <a:endParaRPr sz="1350" b="0">
              <a:solidFill>
                <a:srgbClr val="0B2450"/>
              </a:solidFill>
              <a:latin typeface="Arial" panose="020B0604020202020204"/>
              <a:ea typeface="Arial" panose="020B0604020202020204"/>
              <a:cs typeface="Arial" panose="020B0604020202020204"/>
            </a:endParaRPr>
          </a:p>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question</a:t>
            </a:r>
            <a:endParaRPr sz="1350" b="0">
              <a:solidFill>
                <a:srgbClr val="0B2450"/>
              </a:solidFill>
              <a:latin typeface="Arial" panose="020B0604020202020204"/>
              <a:ea typeface="Arial" panose="020B0604020202020204"/>
              <a:cs typeface="Arial" panose="020B0604020202020204"/>
            </a:endParaRPr>
          </a:p>
        </p:txBody>
      </p:sp>
      <p:sp>
        <p:nvSpPr>
          <p:cNvPr id="12" name="矩形 11"/>
          <p:cNvSpPr>
            <a:spLocks noGrp="1"/>
          </p:cNvSpPr>
          <p:nvPr/>
        </p:nvSpPr>
        <p:spPr>
          <a:xfrm>
            <a:off x="1584127" y="2039541"/>
            <a:ext cx="626864" cy="260747"/>
          </a:xfrm>
          <a:prstGeom prst="rect">
            <a:avLst/>
          </a:prstGeom>
          <a:solidFill>
            <a:srgbClr val="FFFFFF"/>
          </a:solidFill>
          <a:ln w="0">
            <a:noFill/>
          </a:ln>
        </p:spPr>
      </p:sp>
      <p:sp>
        <p:nvSpPr>
          <p:cNvPr id="13" name="矩形 12"/>
          <p:cNvSpPr>
            <a:spLocks noGrp="1"/>
          </p:cNvSpPr>
          <p:nvPr/>
        </p:nvSpPr>
        <p:spPr>
          <a:xfrm>
            <a:off x="1598414" y="2053828"/>
            <a:ext cx="598289" cy="232172"/>
          </a:xfrm>
          <a:prstGeom prst="rect">
            <a:avLst/>
          </a:prstGeom>
          <a:noFill/>
          <a:ln w="0">
            <a:noFill/>
          </a:ln>
        </p:spPr>
        <p:txBody>
          <a:bodyPr wrap="none" lIns="0" tIns="0" rIns="0" bIns="0" anchor="ctr">
            <a:noAutofit/>
          </a:bodyPr>
          <a:lstStyle/>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Agent</a:t>
            </a:r>
            <a:endParaRPr sz="1350" b="0">
              <a:solidFill>
                <a:srgbClr val="0B2450"/>
              </a:solidFill>
              <a:latin typeface="Arial" panose="020B0604020202020204"/>
              <a:ea typeface="Arial" panose="020B0604020202020204"/>
              <a:cs typeface="Arial" panose="020B0604020202020204"/>
            </a:endParaRPr>
          </a:p>
        </p:txBody>
      </p:sp>
      <p:sp>
        <p:nvSpPr>
          <p:cNvPr id="14" name="矩形 13"/>
          <p:cNvSpPr>
            <a:spLocks noGrp="1"/>
          </p:cNvSpPr>
          <p:nvPr/>
        </p:nvSpPr>
        <p:spPr>
          <a:xfrm>
            <a:off x="2664619" y="1959173"/>
            <a:ext cx="769739" cy="430411"/>
          </a:xfrm>
          <a:prstGeom prst="rect">
            <a:avLst/>
          </a:prstGeom>
          <a:solidFill>
            <a:srgbClr val="F2F8FC"/>
          </a:solidFill>
          <a:ln w="0">
            <a:noFill/>
          </a:ln>
        </p:spPr>
      </p:sp>
      <p:sp>
        <p:nvSpPr>
          <p:cNvPr id="15" name="矩形 14"/>
          <p:cNvSpPr>
            <a:spLocks noGrp="1"/>
          </p:cNvSpPr>
          <p:nvPr/>
        </p:nvSpPr>
        <p:spPr>
          <a:xfrm>
            <a:off x="2678906" y="1973461"/>
            <a:ext cx="741164" cy="401836"/>
          </a:xfrm>
          <a:prstGeom prst="rect">
            <a:avLst/>
          </a:prstGeom>
          <a:noFill/>
          <a:ln w="0">
            <a:noFill/>
          </a:ln>
        </p:spPr>
        <p:txBody>
          <a:bodyPr wrap="none" lIns="0" tIns="0" rIns="0" bIns="0" anchor="ctr">
            <a:noAutofit/>
          </a:bodyPr>
          <a:lstStyle/>
          <a:p>
            <a:pPr algn="ctr">
              <a:defRPr sz="1200" b="0">
                <a:solidFill>
                  <a:srgbClr val="0B2450"/>
                </a:solidFill>
                <a:latin typeface="Arial" panose="020B0604020202020204"/>
                <a:ea typeface="Arial" panose="020B0604020202020204"/>
                <a:cs typeface="Arial" panose="020B0604020202020204"/>
              </a:defRPr>
            </a:pPr>
            <a:r>
              <a:rPr sz="1200" b="0">
                <a:solidFill>
                  <a:srgbClr val="0B2450"/>
                </a:solidFill>
                <a:latin typeface="Arial" panose="020B0604020202020204"/>
                <a:ea typeface="Arial" panose="020B0604020202020204"/>
                <a:cs typeface="Arial" panose="020B0604020202020204"/>
              </a:rPr>
              <a:t>Choose</a:t>
            </a:r>
            <a:endParaRPr sz="1200" b="0">
              <a:solidFill>
                <a:srgbClr val="0B2450"/>
              </a:solidFill>
              <a:latin typeface="Arial" panose="020B0604020202020204"/>
              <a:ea typeface="Arial" panose="020B0604020202020204"/>
              <a:cs typeface="Arial" panose="020B0604020202020204"/>
            </a:endParaRPr>
          </a:p>
          <a:p>
            <a:pPr algn="ctr">
              <a:defRPr sz="1200" b="0">
                <a:solidFill>
                  <a:srgbClr val="0B2450"/>
                </a:solidFill>
                <a:latin typeface="Arial" panose="020B0604020202020204"/>
                <a:ea typeface="Arial" panose="020B0604020202020204"/>
                <a:cs typeface="Arial" panose="020B0604020202020204"/>
              </a:defRPr>
            </a:pPr>
            <a:r>
              <a:rPr sz="1200" b="0">
                <a:solidFill>
                  <a:srgbClr val="0B2450"/>
                </a:solidFill>
                <a:latin typeface="Arial" panose="020B0604020202020204"/>
                <a:ea typeface="Arial" panose="020B0604020202020204"/>
                <a:cs typeface="Arial" panose="020B0604020202020204"/>
              </a:rPr>
              <a:t>operations</a:t>
            </a:r>
            <a:endParaRPr sz="1200" b="0">
              <a:solidFill>
                <a:srgbClr val="0B2450"/>
              </a:solidFill>
              <a:latin typeface="Arial" panose="020B0604020202020204"/>
              <a:ea typeface="Arial" panose="020B0604020202020204"/>
              <a:cs typeface="Arial" panose="020B0604020202020204"/>
            </a:endParaRPr>
          </a:p>
        </p:txBody>
      </p:sp>
      <p:sp>
        <p:nvSpPr>
          <p:cNvPr id="16" name="矩形 15"/>
          <p:cNvSpPr>
            <a:spLocks noGrp="1"/>
          </p:cNvSpPr>
          <p:nvPr/>
        </p:nvSpPr>
        <p:spPr>
          <a:xfrm>
            <a:off x="3736181" y="1959173"/>
            <a:ext cx="617934" cy="430411"/>
          </a:xfrm>
          <a:prstGeom prst="rect">
            <a:avLst/>
          </a:prstGeom>
          <a:solidFill>
            <a:srgbClr val="F2F8FC"/>
          </a:solidFill>
          <a:ln w="0">
            <a:noFill/>
          </a:ln>
        </p:spPr>
      </p:sp>
      <p:sp>
        <p:nvSpPr>
          <p:cNvPr id="17" name="矩形 16"/>
          <p:cNvSpPr>
            <a:spLocks noGrp="1"/>
          </p:cNvSpPr>
          <p:nvPr/>
        </p:nvSpPr>
        <p:spPr>
          <a:xfrm>
            <a:off x="3750469" y="1973461"/>
            <a:ext cx="589359" cy="401836"/>
          </a:xfrm>
          <a:prstGeom prst="rect">
            <a:avLst/>
          </a:prstGeom>
          <a:noFill/>
          <a:ln w="0">
            <a:noFill/>
          </a:ln>
        </p:spPr>
        <p:txBody>
          <a:bodyPr wrap="none" lIns="0" tIns="0" rIns="0" bIns="0" anchor="ctr">
            <a:noAutofit/>
          </a:bodyPr>
          <a:lstStyle/>
          <a:p>
            <a:pPr algn="ctr">
              <a:defRPr sz="1200" b="0">
                <a:solidFill>
                  <a:srgbClr val="0B2450"/>
                </a:solidFill>
                <a:latin typeface="Arial" panose="020B0604020202020204"/>
                <a:ea typeface="Arial" panose="020B0604020202020204"/>
                <a:cs typeface="Arial" panose="020B0604020202020204"/>
              </a:defRPr>
            </a:pPr>
            <a:r>
              <a:rPr sz="1200" b="0">
                <a:solidFill>
                  <a:srgbClr val="0B2450"/>
                </a:solidFill>
                <a:latin typeface="Arial" panose="020B0604020202020204"/>
                <a:ea typeface="Arial" panose="020B0604020202020204"/>
                <a:cs typeface="Arial" panose="020B0604020202020204"/>
              </a:rPr>
              <a:t>Run</a:t>
            </a:r>
            <a:endParaRPr sz="1200" b="0">
              <a:solidFill>
                <a:srgbClr val="0B2450"/>
              </a:solidFill>
              <a:latin typeface="Arial" panose="020B0604020202020204"/>
              <a:ea typeface="Arial" panose="020B0604020202020204"/>
              <a:cs typeface="Arial" panose="020B0604020202020204"/>
            </a:endParaRPr>
          </a:p>
          <a:p>
            <a:pPr algn="ctr">
              <a:defRPr sz="1200" b="0">
                <a:solidFill>
                  <a:srgbClr val="0B2450"/>
                </a:solidFill>
                <a:latin typeface="Arial" panose="020B0604020202020204"/>
                <a:ea typeface="Arial" panose="020B0604020202020204"/>
                <a:cs typeface="Arial" panose="020B0604020202020204"/>
              </a:defRPr>
            </a:pPr>
            <a:r>
              <a:rPr sz="1200" b="0">
                <a:solidFill>
                  <a:srgbClr val="0B2450"/>
                </a:solidFill>
                <a:latin typeface="Arial" panose="020B0604020202020204"/>
                <a:ea typeface="Arial" panose="020B0604020202020204"/>
                <a:cs typeface="Arial" panose="020B0604020202020204"/>
              </a:rPr>
              <a:t>process</a:t>
            </a:r>
            <a:endParaRPr sz="1200" b="0">
              <a:solidFill>
                <a:srgbClr val="0B2450"/>
              </a:solidFill>
              <a:latin typeface="Arial" panose="020B0604020202020204"/>
              <a:ea typeface="Arial" panose="020B0604020202020204"/>
              <a:cs typeface="Arial" panose="020B0604020202020204"/>
            </a:endParaRPr>
          </a:p>
        </p:txBody>
      </p:sp>
      <p:sp>
        <p:nvSpPr>
          <p:cNvPr id="18" name="矩形 17"/>
          <p:cNvSpPr>
            <a:spLocks noGrp="1"/>
          </p:cNvSpPr>
          <p:nvPr/>
        </p:nvSpPr>
        <p:spPr>
          <a:xfrm>
            <a:off x="4727377" y="1950244"/>
            <a:ext cx="653653" cy="260747"/>
          </a:xfrm>
          <a:prstGeom prst="rect">
            <a:avLst/>
          </a:prstGeom>
          <a:solidFill>
            <a:srgbClr val="F2F8FC"/>
          </a:solidFill>
          <a:ln w="0">
            <a:noFill/>
          </a:ln>
        </p:spPr>
      </p:sp>
      <p:sp>
        <p:nvSpPr>
          <p:cNvPr id="19" name="矩形 18"/>
          <p:cNvSpPr>
            <a:spLocks noGrp="1"/>
          </p:cNvSpPr>
          <p:nvPr/>
        </p:nvSpPr>
        <p:spPr>
          <a:xfrm>
            <a:off x="4741664" y="1964531"/>
            <a:ext cx="625078" cy="232172"/>
          </a:xfrm>
          <a:prstGeom prst="rect">
            <a:avLst/>
          </a:prstGeom>
          <a:noFill/>
          <a:ln w="0">
            <a:noFill/>
          </a:ln>
        </p:spPr>
        <p:txBody>
          <a:bodyPr wrap="none" lIns="0" tIns="0" rIns="0" bIns="0" anchor="ctr">
            <a:noAutofit/>
          </a:bodyPr>
          <a:lstStyle/>
          <a:p>
            <a:pPr algn="ctr">
              <a:defRPr sz="1200" b="0">
                <a:solidFill>
                  <a:srgbClr val="0B2450"/>
                </a:solidFill>
                <a:latin typeface="Arial" panose="020B0604020202020204"/>
                <a:ea typeface="Arial" panose="020B0604020202020204"/>
                <a:cs typeface="Arial" panose="020B0604020202020204"/>
              </a:defRPr>
            </a:pPr>
            <a:r>
              <a:rPr sz="1200" b="0">
                <a:solidFill>
                  <a:srgbClr val="0B2450"/>
                </a:solidFill>
                <a:latin typeface="Arial" panose="020B0604020202020204"/>
                <a:ea typeface="Arial" panose="020B0604020202020204"/>
                <a:cs typeface="Arial" panose="020B0604020202020204"/>
              </a:rPr>
              <a:t>Measure</a:t>
            </a:r>
            <a:endParaRPr sz="1200" b="0">
              <a:solidFill>
                <a:srgbClr val="0B2450"/>
              </a:solidFill>
              <a:latin typeface="Arial" panose="020B0604020202020204"/>
              <a:ea typeface="Arial" panose="020B0604020202020204"/>
              <a:cs typeface="Arial" panose="020B0604020202020204"/>
            </a:endParaRPr>
          </a:p>
        </p:txBody>
      </p:sp>
      <p:sp>
        <p:nvSpPr>
          <p:cNvPr id="20" name="矩形 19"/>
          <p:cNvSpPr>
            <a:spLocks noGrp="1"/>
          </p:cNvSpPr>
          <p:nvPr/>
        </p:nvSpPr>
        <p:spPr>
          <a:xfrm>
            <a:off x="5861447" y="1959173"/>
            <a:ext cx="939403" cy="430411"/>
          </a:xfrm>
          <a:prstGeom prst="rect">
            <a:avLst/>
          </a:prstGeom>
          <a:solidFill>
            <a:srgbClr val="FFFFFF"/>
          </a:solidFill>
          <a:ln w="0">
            <a:noFill/>
          </a:ln>
        </p:spPr>
      </p:sp>
      <p:sp>
        <p:nvSpPr>
          <p:cNvPr id="21" name="矩形 20"/>
          <p:cNvSpPr>
            <a:spLocks noGrp="1"/>
          </p:cNvSpPr>
          <p:nvPr/>
        </p:nvSpPr>
        <p:spPr>
          <a:xfrm>
            <a:off x="5875734" y="1973461"/>
            <a:ext cx="910828" cy="401836"/>
          </a:xfrm>
          <a:prstGeom prst="rect">
            <a:avLst/>
          </a:prstGeom>
          <a:noFill/>
          <a:ln w="0">
            <a:noFill/>
          </a:ln>
        </p:spPr>
        <p:txBody>
          <a:bodyPr wrap="none" lIns="0" tIns="0" rIns="0" bIns="0" anchor="ctr">
            <a:noAutofit/>
          </a:bodyPr>
          <a:lstStyle/>
          <a:p>
            <a:pPr algn="ctr">
              <a:defRPr sz="1200" b="0">
                <a:solidFill>
                  <a:srgbClr val="0B2450"/>
                </a:solidFill>
                <a:latin typeface="Arial" panose="020B0604020202020204"/>
                <a:ea typeface="Arial" panose="020B0604020202020204"/>
                <a:cs typeface="Arial" panose="020B0604020202020204"/>
              </a:defRPr>
            </a:pPr>
            <a:r>
              <a:rPr sz="1200" b="0">
                <a:solidFill>
                  <a:srgbClr val="0B2450"/>
                </a:solidFill>
                <a:latin typeface="Arial" panose="020B0604020202020204"/>
                <a:ea typeface="Arial" panose="020B0604020202020204"/>
                <a:cs typeface="Arial" panose="020B0604020202020204"/>
              </a:rPr>
              <a:t>Public</a:t>
            </a:r>
            <a:endParaRPr sz="1200" b="0">
              <a:solidFill>
                <a:srgbClr val="0B2450"/>
              </a:solidFill>
              <a:latin typeface="Arial" panose="020B0604020202020204"/>
              <a:ea typeface="Arial" panose="020B0604020202020204"/>
              <a:cs typeface="Arial" panose="020B0604020202020204"/>
            </a:endParaRPr>
          </a:p>
          <a:p>
            <a:pPr algn="ctr">
              <a:defRPr sz="1200" b="0">
                <a:solidFill>
                  <a:srgbClr val="0B2450"/>
                </a:solidFill>
                <a:latin typeface="Arial" panose="020B0604020202020204"/>
                <a:ea typeface="Arial" panose="020B0604020202020204"/>
                <a:cs typeface="Arial" panose="020B0604020202020204"/>
              </a:defRPr>
            </a:pPr>
            <a:r>
              <a:rPr sz="1200" b="0">
                <a:solidFill>
                  <a:srgbClr val="0B2450"/>
                </a:solidFill>
                <a:latin typeface="Arial" panose="020B0604020202020204"/>
                <a:ea typeface="Arial" panose="020B0604020202020204"/>
                <a:cs typeface="Arial" panose="020B0604020202020204"/>
              </a:rPr>
              <a:t>observations</a:t>
            </a:r>
            <a:endParaRPr sz="1200" b="0">
              <a:solidFill>
                <a:srgbClr val="0B2450"/>
              </a:solidFill>
              <a:latin typeface="Arial" panose="020B0604020202020204"/>
              <a:ea typeface="Arial" panose="020B0604020202020204"/>
              <a:cs typeface="Arial" panose="020B0604020202020204"/>
            </a:endParaRPr>
          </a:p>
        </p:txBody>
      </p:sp>
      <p:sp>
        <p:nvSpPr>
          <p:cNvPr id="22" name="矩形 21"/>
          <p:cNvSpPr>
            <a:spLocks noGrp="1"/>
          </p:cNvSpPr>
          <p:nvPr/>
        </p:nvSpPr>
        <p:spPr>
          <a:xfrm>
            <a:off x="7066955" y="1985963"/>
            <a:ext cx="1046559" cy="439341"/>
          </a:xfrm>
          <a:prstGeom prst="rect">
            <a:avLst/>
          </a:prstGeom>
          <a:solidFill>
            <a:srgbClr val="FFFFFF"/>
          </a:solidFill>
          <a:ln w="0">
            <a:noFill/>
          </a:ln>
        </p:spPr>
      </p:sp>
      <p:sp>
        <p:nvSpPr>
          <p:cNvPr id="23" name="矩形 22"/>
          <p:cNvSpPr>
            <a:spLocks noGrp="1"/>
          </p:cNvSpPr>
          <p:nvPr/>
        </p:nvSpPr>
        <p:spPr>
          <a:xfrm>
            <a:off x="7081242" y="2000250"/>
            <a:ext cx="1017984" cy="410766"/>
          </a:xfrm>
          <a:prstGeom prst="rect">
            <a:avLst/>
          </a:prstGeom>
          <a:noFill/>
          <a:ln w="0">
            <a:noFill/>
          </a:ln>
        </p:spPr>
        <p:txBody>
          <a:bodyPr wrap="none" lIns="0" tIns="0" rIns="0" bIns="0" anchor="ctr">
            <a:noAutofit/>
          </a:bodyPr>
          <a:lstStyle/>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Full research</a:t>
            </a:r>
            <a:endParaRPr sz="1350" b="0">
              <a:solidFill>
                <a:srgbClr val="0B2450"/>
              </a:solidFill>
              <a:latin typeface="Arial" panose="020B0604020202020204"/>
              <a:ea typeface="Arial" panose="020B0604020202020204"/>
              <a:cs typeface="Arial" panose="020B0604020202020204"/>
            </a:endParaRPr>
          </a:p>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history</a:t>
            </a:r>
            <a:endParaRPr sz="1350" b="0">
              <a:solidFill>
                <a:srgbClr val="0B2450"/>
              </a:solidFill>
              <a:latin typeface="Arial" panose="020B0604020202020204"/>
              <a:ea typeface="Arial" panose="020B0604020202020204"/>
              <a:cs typeface="Arial" panose="020B0604020202020204"/>
            </a:endParaRPr>
          </a:p>
        </p:txBody>
      </p:sp>
      <p:sp>
        <p:nvSpPr>
          <p:cNvPr id="24" name="矩形 23"/>
          <p:cNvSpPr>
            <a:spLocks noGrp="1"/>
          </p:cNvSpPr>
          <p:nvPr/>
        </p:nvSpPr>
        <p:spPr>
          <a:xfrm>
            <a:off x="1798439" y="2655689"/>
            <a:ext cx="4788098" cy="314325"/>
          </a:xfrm>
          <a:prstGeom prst="rect">
            <a:avLst/>
          </a:prstGeom>
          <a:solidFill>
            <a:srgbClr val="F3F9FC"/>
          </a:solidFill>
          <a:ln w="0">
            <a:noFill/>
          </a:ln>
        </p:spPr>
      </p:sp>
      <p:sp>
        <p:nvSpPr>
          <p:cNvPr id="25" name="矩形 24"/>
          <p:cNvSpPr>
            <a:spLocks noGrp="1"/>
          </p:cNvSpPr>
          <p:nvPr/>
        </p:nvSpPr>
        <p:spPr>
          <a:xfrm>
            <a:off x="1812727" y="2669977"/>
            <a:ext cx="4759523" cy="285750"/>
          </a:xfrm>
          <a:prstGeom prst="rect">
            <a:avLst/>
          </a:prstGeom>
          <a:noFill/>
          <a:ln w="0">
            <a:noFill/>
          </a:ln>
        </p:spPr>
        <p:txBody>
          <a:bodyPr wrap="none" lIns="0" tIns="0" rIns="0" bIns="0" anchor="ctr">
            <a:noAutofit/>
          </a:bodyPr>
          <a:lstStyle/>
          <a:p>
            <a:pPr algn="ctr">
              <a:defRPr sz="1200" b="0">
                <a:solidFill>
                  <a:srgbClr val="0B2450"/>
                </a:solidFill>
                <a:latin typeface="Arial" panose="020B0604020202020204"/>
                <a:ea typeface="Arial" panose="020B0604020202020204"/>
                <a:cs typeface="Arial" panose="020B0604020202020204"/>
              </a:defRPr>
            </a:pPr>
            <a:r>
              <a:rPr sz="1200" b="0">
                <a:solidFill>
                  <a:srgbClr val="0B2450"/>
                </a:solidFill>
                <a:latin typeface="Arial" panose="020B0604020202020204"/>
                <a:ea typeface="Arial" panose="020B0604020202020204"/>
                <a:cs typeface="Arial" panose="020B0604020202020204"/>
              </a:rPr>
              <a:t>Persistent physical state (updated after every experiment)</a:t>
            </a:r>
            <a:endParaRPr sz="1200" b="0">
              <a:solidFill>
                <a:srgbClr val="0B2450"/>
              </a:solidFill>
              <a:latin typeface="Arial" panose="020B0604020202020204"/>
              <a:ea typeface="Arial" panose="020B0604020202020204"/>
              <a:cs typeface="Arial" panose="020B0604020202020204"/>
            </a:endParaRPr>
          </a:p>
        </p:txBody>
      </p:sp>
      <p:sp>
        <p:nvSpPr>
          <p:cNvPr id="26" name="矩形 25"/>
          <p:cNvSpPr>
            <a:spLocks noGrp="1"/>
          </p:cNvSpPr>
          <p:nvPr/>
        </p:nvSpPr>
        <p:spPr>
          <a:xfrm>
            <a:off x="780455" y="3441502"/>
            <a:ext cx="1135856" cy="251817"/>
          </a:xfrm>
          <a:prstGeom prst="rect">
            <a:avLst/>
          </a:prstGeom>
          <a:solidFill>
            <a:srgbClr val="F3F9FC"/>
          </a:solidFill>
          <a:ln w="0">
            <a:noFill/>
          </a:ln>
        </p:spPr>
      </p:sp>
      <p:sp>
        <p:nvSpPr>
          <p:cNvPr id="27" name="矩形 26"/>
          <p:cNvSpPr>
            <a:spLocks noGrp="1"/>
          </p:cNvSpPr>
          <p:nvPr/>
        </p:nvSpPr>
        <p:spPr>
          <a:xfrm>
            <a:off x="794742" y="3455789"/>
            <a:ext cx="1107281" cy="223242"/>
          </a:xfrm>
          <a:prstGeom prst="rect">
            <a:avLst/>
          </a:prstGeom>
          <a:noFill/>
          <a:ln w="0">
            <a:noFill/>
          </a:ln>
        </p:spPr>
        <p:txBody>
          <a:bodyPr wrap="none" lIns="0" tIns="0" rIns="0" bIns="0" anchor="ctr">
            <a:noAutofit/>
          </a:bodyPr>
          <a:lstStyle/>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Composition</a:t>
            </a:r>
            <a:endParaRPr sz="1350" b="0">
              <a:solidFill>
                <a:srgbClr val="0B2450"/>
              </a:solidFill>
              <a:latin typeface="Arial" panose="020B0604020202020204"/>
              <a:ea typeface="Arial" panose="020B0604020202020204"/>
              <a:cs typeface="Arial" panose="020B0604020202020204"/>
            </a:endParaRPr>
          </a:p>
        </p:txBody>
      </p:sp>
      <p:sp>
        <p:nvSpPr>
          <p:cNvPr id="28" name="矩形 27"/>
          <p:cNvSpPr>
            <a:spLocks noGrp="1"/>
          </p:cNvSpPr>
          <p:nvPr/>
        </p:nvSpPr>
        <p:spPr>
          <a:xfrm>
            <a:off x="2744986" y="3209330"/>
            <a:ext cx="510778" cy="251817"/>
          </a:xfrm>
          <a:prstGeom prst="rect">
            <a:avLst/>
          </a:prstGeom>
          <a:solidFill>
            <a:srgbClr val="F3F9FC"/>
          </a:solidFill>
          <a:ln w="0">
            <a:noFill/>
          </a:ln>
        </p:spPr>
      </p:sp>
      <p:sp>
        <p:nvSpPr>
          <p:cNvPr id="29" name="矩形 28"/>
          <p:cNvSpPr>
            <a:spLocks noGrp="1"/>
          </p:cNvSpPr>
          <p:nvPr/>
        </p:nvSpPr>
        <p:spPr>
          <a:xfrm>
            <a:off x="2759273" y="3223617"/>
            <a:ext cx="482203" cy="223242"/>
          </a:xfrm>
          <a:prstGeom prst="rect">
            <a:avLst/>
          </a:prstGeom>
          <a:noFill/>
          <a:ln w="0">
            <a:noFill/>
          </a:ln>
        </p:spPr>
        <p:txBody>
          <a:bodyPr wrap="none" lIns="0" tIns="0" rIns="0" bIns="0" anchor="ctr">
            <a:noAutofit/>
          </a:bodyPr>
          <a:lstStyle/>
          <a:p>
            <a:pPr algn="ctr">
              <a:defRPr sz="1200" b="0">
                <a:solidFill>
                  <a:srgbClr val="0B2450"/>
                </a:solidFill>
                <a:latin typeface="Arial" panose="020B0604020202020204"/>
                <a:ea typeface="Arial" panose="020B0604020202020204"/>
                <a:cs typeface="Arial" panose="020B0604020202020204"/>
              </a:defRPr>
            </a:pPr>
            <a:r>
              <a:rPr sz="1200" b="0">
                <a:solidFill>
                  <a:srgbClr val="0B2450"/>
                </a:solidFill>
                <a:latin typeface="Arial" panose="020B0604020202020204"/>
                <a:ea typeface="Arial" panose="020B0604020202020204"/>
                <a:cs typeface="Arial" panose="020B0604020202020204"/>
              </a:rPr>
              <a:t>Phase</a:t>
            </a:r>
            <a:endParaRPr sz="1200" b="0">
              <a:solidFill>
                <a:srgbClr val="0B2450"/>
              </a:solidFill>
              <a:latin typeface="Arial" panose="020B0604020202020204"/>
              <a:ea typeface="Arial" panose="020B0604020202020204"/>
              <a:cs typeface="Arial" panose="020B0604020202020204"/>
            </a:endParaRPr>
          </a:p>
        </p:txBody>
      </p:sp>
      <p:sp>
        <p:nvSpPr>
          <p:cNvPr id="30" name="矩形 29"/>
          <p:cNvSpPr>
            <a:spLocks noGrp="1"/>
          </p:cNvSpPr>
          <p:nvPr/>
        </p:nvSpPr>
        <p:spPr>
          <a:xfrm>
            <a:off x="3905845" y="3200400"/>
            <a:ext cx="1100138" cy="278606"/>
          </a:xfrm>
          <a:prstGeom prst="rect">
            <a:avLst/>
          </a:prstGeom>
          <a:solidFill>
            <a:srgbClr val="F3F9FC"/>
          </a:solidFill>
          <a:ln w="0">
            <a:noFill/>
          </a:ln>
        </p:spPr>
      </p:sp>
      <p:sp>
        <p:nvSpPr>
          <p:cNvPr id="31" name="矩形 30"/>
          <p:cNvSpPr>
            <a:spLocks noGrp="1"/>
          </p:cNvSpPr>
          <p:nvPr/>
        </p:nvSpPr>
        <p:spPr>
          <a:xfrm>
            <a:off x="3920133" y="3214688"/>
            <a:ext cx="1071563" cy="250031"/>
          </a:xfrm>
          <a:prstGeom prst="rect">
            <a:avLst/>
          </a:prstGeom>
          <a:noFill/>
          <a:ln w="0">
            <a:noFill/>
          </a:ln>
        </p:spPr>
        <p:txBody>
          <a:bodyPr wrap="none" lIns="0" tIns="0" rIns="0" bIns="0" anchor="ctr">
            <a:noAutofit/>
          </a:bodyPr>
          <a:lstStyle/>
          <a:p>
            <a:pPr algn="ctr">
              <a:defRPr sz="1200" b="0">
                <a:solidFill>
                  <a:srgbClr val="0B2450"/>
                </a:solidFill>
                <a:latin typeface="Arial" panose="020B0604020202020204"/>
                <a:ea typeface="Arial" panose="020B0604020202020204"/>
                <a:cs typeface="Arial" panose="020B0604020202020204"/>
              </a:defRPr>
            </a:pPr>
            <a:r>
              <a:rPr sz="1200" b="0">
                <a:solidFill>
                  <a:srgbClr val="0B2450"/>
                </a:solidFill>
                <a:latin typeface="Arial" panose="020B0604020202020204"/>
                <a:ea typeface="Arial" panose="020B0604020202020204"/>
                <a:cs typeface="Arial" panose="020B0604020202020204"/>
              </a:rPr>
              <a:t>Thermal history</a:t>
            </a:r>
            <a:endParaRPr sz="1200" b="0">
              <a:solidFill>
                <a:srgbClr val="0B2450"/>
              </a:solidFill>
              <a:latin typeface="Arial" panose="020B0604020202020204"/>
              <a:ea typeface="Arial" panose="020B0604020202020204"/>
              <a:cs typeface="Arial" panose="020B0604020202020204"/>
            </a:endParaRPr>
          </a:p>
        </p:txBody>
      </p:sp>
      <p:sp>
        <p:nvSpPr>
          <p:cNvPr id="32" name="矩形 31"/>
          <p:cNvSpPr>
            <a:spLocks noGrp="1"/>
          </p:cNvSpPr>
          <p:nvPr/>
        </p:nvSpPr>
        <p:spPr>
          <a:xfrm>
            <a:off x="5879306" y="3182541"/>
            <a:ext cx="725091" cy="412552"/>
          </a:xfrm>
          <a:prstGeom prst="rect">
            <a:avLst/>
          </a:prstGeom>
          <a:solidFill>
            <a:srgbClr val="F3F9FC"/>
          </a:solidFill>
          <a:ln w="0">
            <a:noFill/>
          </a:ln>
        </p:spPr>
      </p:sp>
      <p:sp>
        <p:nvSpPr>
          <p:cNvPr id="33" name="矩形 32"/>
          <p:cNvSpPr>
            <a:spLocks noGrp="1"/>
          </p:cNvSpPr>
          <p:nvPr/>
        </p:nvSpPr>
        <p:spPr>
          <a:xfrm>
            <a:off x="5893594" y="3196828"/>
            <a:ext cx="696516" cy="383977"/>
          </a:xfrm>
          <a:prstGeom prst="rect">
            <a:avLst/>
          </a:prstGeom>
          <a:noFill/>
          <a:ln w="0">
            <a:noFill/>
          </a:ln>
        </p:spPr>
        <p:txBody>
          <a:bodyPr wrap="none" lIns="0" tIns="0" rIns="0" bIns="0" anchor="ctr">
            <a:noAutofit/>
          </a:bodyPr>
          <a:lstStyle/>
          <a:p>
            <a:pPr algn="ctr">
              <a:defRPr sz="1050" b="0">
                <a:solidFill>
                  <a:srgbClr val="0B2450"/>
                </a:solidFill>
                <a:latin typeface="Arial" panose="020B0604020202020204"/>
                <a:ea typeface="Arial" panose="020B0604020202020204"/>
                <a:cs typeface="Arial" panose="020B0604020202020204"/>
              </a:defRPr>
            </a:pPr>
            <a:r>
              <a:rPr sz="1050" b="0">
                <a:solidFill>
                  <a:srgbClr val="0B2450"/>
                </a:solidFill>
                <a:latin typeface="Arial" panose="020B0604020202020204"/>
                <a:ea typeface="Arial" panose="020B0604020202020204"/>
                <a:cs typeface="Arial" panose="020B0604020202020204"/>
              </a:rPr>
              <a:t>Remaining</a:t>
            </a:r>
            <a:endParaRPr sz="1050" b="0">
              <a:solidFill>
                <a:srgbClr val="0B2450"/>
              </a:solidFill>
              <a:latin typeface="Arial" panose="020B0604020202020204"/>
              <a:ea typeface="Arial" panose="020B0604020202020204"/>
              <a:cs typeface="Arial" panose="020B0604020202020204"/>
            </a:endParaRPr>
          </a:p>
          <a:p>
            <a:pPr algn="ctr">
              <a:defRPr sz="1050" b="0">
                <a:solidFill>
                  <a:srgbClr val="0B2450"/>
                </a:solidFill>
                <a:latin typeface="Arial" panose="020B0604020202020204"/>
                <a:ea typeface="Arial" panose="020B0604020202020204"/>
                <a:cs typeface="Arial" panose="020B0604020202020204"/>
              </a:defRPr>
            </a:pPr>
            <a:r>
              <a:rPr sz="1050" b="0">
                <a:solidFill>
                  <a:srgbClr val="0B2450"/>
                </a:solidFill>
                <a:latin typeface="Arial" panose="020B0604020202020204"/>
                <a:ea typeface="Arial" panose="020B0604020202020204"/>
                <a:cs typeface="Arial" panose="020B0604020202020204"/>
              </a:rPr>
              <a:t>material</a:t>
            </a:r>
            <a:endParaRPr sz="1050" b="0">
              <a:solidFill>
                <a:srgbClr val="0B2450"/>
              </a:solidFill>
              <a:latin typeface="Arial" panose="020B0604020202020204"/>
              <a:ea typeface="Arial" panose="020B0604020202020204"/>
              <a:cs typeface="Arial" panose="020B0604020202020204"/>
            </a:endParaRPr>
          </a:p>
        </p:txBody>
      </p:sp>
      <p:sp>
        <p:nvSpPr>
          <p:cNvPr id="34" name="矩形 33"/>
          <p:cNvSpPr>
            <a:spLocks noGrp="1"/>
          </p:cNvSpPr>
          <p:nvPr/>
        </p:nvSpPr>
        <p:spPr>
          <a:xfrm>
            <a:off x="6700838" y="2530673"/>
            <a:ext cx="1528763" cy="466130"/>
          </a:xfrm>
          <a:prstGeom prst="rect">
            <a:avLst/>
          </a:prstGeom>
          <a:solidFill>
            <a:srgbClr val="FFFFFF"/>
          </a:solidFill>
          <a:ln w="0">
            <a:noFill/>
          </a:ln>
        </p:spPr>
      </p:sp>
      <p:sp>
        <p:nvSpPr>
          <p:cNvPr id="35" name="矩形 34"/>
          <p:cNvSpPr>
            <a:spLocks noGrp="1"/>
          </p:cNvSpPr>
          <p:nvPr/>
        </p:nvSpPr>
        <p:spPr>
          <a:xfrm>
            <a:off x="6715125" y="2544961"/>
            <a:ext cx="1500188" cy="437555"/>
          </a:xfrm>
          <a:prstGeom prst="rect">
            <a:avLst/>
          </a:prstGeom>
          <a:noFill/>
          <a:ln w="0">
            <a:noFill/>
          </a:ln>
        </p:spPr>
        <p:txBody>
          <a:bodyPr wrap="none" lIns="0" tIns="0" rIns="0" bIns="0" anchor="ctr">
            <a:noAutofit/>
          </a:bodyPr>
          <a:lstStyle/>
          <a:p>
            <a:pPr algn="ctr">
              <a:defRPr sz="1050" b="0">
                <a:solidFill>
                  <a:srgbClr val="0B2450"/>
                </a:solidFill>
                <a:latin typeface="Arial" panose="020B0604020202020204"/>
                <a:ea typeface="Arial" panose="020B0604020202020204"/>
                <a:cs typeface="Arial" panose="020B0604020202020204"/>
              </a:defRPr>
            </a:pPr>
            <a:r>
              <a:rPr sz="1050" b="0">
                <a:solidFill>
                  <a:srgbClr val="0B2450"/>
                </a:solidFill>
                <a:latin typeface="Arial" panose="020B0604020202020204"/>
                <a:ea typeface="Arial" panose="020B0604020202020204"/>
                <a:cs typeface="Arial" panose="020B0604020202020204"/>
              </a:rPr>
              <a:t>Replay reconstructs</a:t>
            </a:r>
            <a:endParaRPr sz="1050" b="0">
              <a:solidFill>
                <a:srgbClr val="0B2450"/>
              </a:solidFill>
              <a:latin typeface="Arial" panose="020B0604020202020204"/>
              <a:ea typeface="Arial" panose="020B0604020202020204"/>
              <a:cs typeface="Arial" panose="020B0604020202020204"/>
            </a:endParaRPr>
          </a:p>
          <a:p>
            <a:pPr algn="ctr">
              <a:defRPr sz="1050" b="0">
                <a:solidFill>
                  <a:srgbClr val="0B2450"/>
                </a:solidFill>
                <a:latin typeface="Arial" panose="020B0604020202020204"/>
                <a:ea typeface="Arial" panose="020B0604020202020204"/>
                <a:cs typeface="Arial" panose="020B0604020202020204"/>
              </a:defRPr>
            </a:pPr>
            <a:r>
              <a:rPr sz="1050" b="0">
                <a:solidFill>
                  <a:srgbClr val="0B2450"/>
                </a:solidFill>
                <a:latin typeface="Arial" panose="020B0604020202020204"/>
                <a:ea typeface="Arial" panose="020B0604020202020204"/>
                <a:cs typeface="Arial" panose="020B0604020202020204"/>
              </a:rPr>
              <a:t>actions and observations</a:t>
            </a:r>
            <a:endParaRPr sz="1050" b="0">
              <a:solidFill>
                <a:srgbClr val="0B2450"/>
              </a:solidFill>
              <a:latin typeface="Arial" panose="020B0604020202020204"/>
              <a:ea typeface="Arial" panose="020B0604020202020204"/>
              <a:cs typeface="Arial" panose="020B0604020202020204"/>
            </a:endParaRPr>
          </a:p>
        </p:txBody>
      </p:sp>
      <p:sp>
        <p:nvSpPr>
          <p:cNvPr id="36" name="矩形 35"/>
          <p:cNvSpPr>
            <a:spLocks noGrp="1"/>
          </p:cNvSpPr>
          <p:nvPr/>
        </p:nvSpPr>
        <p:spPr>
          <a:xfrm>
            <a:off x="6933009" y="3271838"/>
            <a:ext cx="1189434" cy="421481"/>
          </a:xfrm>
          <a:prstGeom prst="rect">
            <a:avLst/>
          </a:prstGeom>
          <a:solidFill>
            <a:srgbClr val="FFFFFF"/>
          </a:solidFill>
          <a:ln w="0">
            <a:noFill/>
          </a:ln>
        </p:spPr>
      </p:sp>
      <p:sp>
        <p:nvSpPr>
          <p:cNvPr id="37" name="矩形 36"/>
          <p:cNvSpPr>
            <a:spLocks noGrp="1"/>
          </p:cNvSpPr>
          <p:nvPr/>
        </p:nvSpPr>
        <p:spPr>
          <a:xfrm>
            <a:off x="6947297" y="3286125"/>
            <a:ext cx="1160859" cy="392906"/>
          </a:xfrm>
          <a:prstGeom prst="rect">
            <a:avLst/>
          </a:prstGeom>
          <a:noFill/>
          <a:ln w="0">
            <a:noFill/>
          </a:ln>
        </p:spPr>
        <p:txBody>
          <a:bodyPr wrap="none" lIns="0" tIns="0" rIns="0" bIns="0" anchor="ctr">
            <a:noAutofit/>
          </a:bodyPr>
          <a:lstStyle/>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To scientific</a:t>
            </a:r>
            <a:endParaRPr sz="1350" b="0">
              <a:solidFill>
                <a:srgbClr val="0B2450"/>
              </a:solidFill>
              <a:latin typeface="Arial" panose="020B0604020202020204"/>
              <a:ea typeface="Arial" panose="020B0604020202020204"/>
              <a:cs typeface="Arial" panose="020B0604020202020204"/>
            </a:endParaRPr>
          </a:p>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outcomes (c)</a:t>
            </a:r>
            <a:endParaRPr sz="1350" b="0">
              <a:solidFill>
                <a:srgbClr val="0B2450"/>
              </a:solidFill>
              <a:latin typeface="Arial" panose="020B0604020202020204"/>
              <a:ea typeface="Arial" panose="020B0604020202020204"/>
              <a:cs typeface="Arial" panose="020B0604020202020204"/>
            </a:endParaRPr>
          </a:p>
        </p:txBody>
      </p:sp>
      <p:sp>
        <p:nvSpPr>
          <p:cNvPr id="38" name="矩形 37"/>
          <p:cNvSpPr>
            <a:spLocks noGrp="1"/>
          </p:cNvSpPr>
          <p:nvPr/>
        </p:nvSpPr>
        <p:spPr>
          <a:xfrm>
            <a:off x="1530548" y="3896916"/>
            <a:ext cx="3939778" cy="251817"/>
          </a:xfrm>
          <a:prstGeom prst="rect">
            <a:avLst/>
          </a:prstGeom>
          <a:solidFill>
            <a:srgbClr val="FFFFFF"/>
          </a:solidFill>
          <a:ln w="0">
            <a:noFill/>
          </a:ln>
        </p:spPr>
      </p:sp>
      <p:sp>
        <p:nvSpPr>
          <p:cNvPr id="39" name="矩形 38"/>
          <p:cNvSpPr>
            <a:spLocks noGrp="1"/>
          </p:cNvSpPr>
          <p:nvPr/>
        </p:nvSpPr>
        <p:spPr>
          <a:xfrm>
            <a:off x="1544836" y="3911203"/>
            <a:ext cx="3911203" cy="223242"/>
          </a:xfrm>
          <a:prstGeom prst="rect">
            <a:avLst/>
          </a:prstGeom>
          <a:noFill/>
          <a:ln w="0">
            <a:noFill/>
          </a:ln>
        </p:spPr>
        <p:txBody>
          <a:bodyPr wrap="none" lIns="0" tIns="0" rIns="0" bIns="0" anchor="ctr">
            <a:noAutofit/>
          </a:bodyPr>
          <a:lstStyle/>
          <a:p>
            <a:pPr algn="l">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Process laws + instruments</a:t>
            </a:r>
            <a:endParaRPr sz="1350" b="0">
              <a:solidFill>
                <a:srgbClr val="0B2450"/>
              </a:solidFill>
              <a:latin typeface="Arial" panose="020B0604020202020204"/>
              <a:ea typeface="Arial" panose="020B0604020202020204"/>
              <a:cs typeface="Arial" panose="020B0604020202020204"/>
            </a:endParaRPr>
          </a:p>
        </p:txBody>
      </p:sp>
      <p:sp>
        <p:nvSpPr>
          <p:cNvPr id="40" name="矩形 39"/>
          <p:cNvSpPr>
            <a:spLocks noGrp="1"/>
          </p:cNvSpPr>
          <p:nvPr/>
        </p:nvSpPr>
        <p:spPr>
          <a:xfrm>
            <a:off x="1530548" y="4111228"/>
            <a:ext cx="4314825" cy="242888"/>
          </a:xfrm>
          <a:prstGeom prst="rect">
            <a:avLst/>
          </a:prstGeom>
          <a:solidFill>
            <a:srgbClr val="FFFFFF"/>
          </a:solidFill>
          <a:ln w="0">
            <a:noFill/>
          </a:ln>
        </p:spPr>
      </p:sp>
      <p:sp>
        <p:nvSpPr>
          <p:cNvPr id="41" name="矩形 40"/>
          <p:cNvSpPr>
            <a:spLocks noGrp="1"/>
          </p:cNvSpPr>
          <p:nvPr/>
        </p:nvSpPr>
        <p:spPr>
          <a:xfrm>
            <a:off x="1544836" y="4125516"/>
            <a:ext cx="4286250" cy="214313"/>
          </a:xfrm>
          <a:prstGeom prst="rect">
            <a:avLst/>
          </a:prstGeom>
          <a:noFill/>
          <a:ln w="0">
            <a:noFill/>
          </a:ln>
        </p:spPr>
        <p:txBody>
          <a:bodyPr wrap="none" lIns="0" tIns="0" rIns="0" bIns="0" anchor="ctr">
            <a:noAutofit/>
          </a:bodyPr>
          <a:lstStyle/>
          <a:p>
            <a:pPr algn="l">
              <a:defRPr sz="1200" b="0">
                <a:solidFill>
                  <a:srgbClr val="0B2450"/>
                </a:solidFill>
                <a:latin typeface="Arial" panose="020B0604020202020204"/>
                <a:ea typeface="Arial" panose="020B0604020202020204"/>
                <a:cs typeface="Arial" panose="020B0604020202020204"/>
              </a:defRPr>
            </a:pPr>
            <a:r>
              <a:rPr sz="1200" b="0">
                <a:solidFill>
                  <a:srgbClr val="0B2450"/>
                </a:solidFill>
                <a:latin typeface="Arial" panose="020B0604020202020204"/>
                <a:ea typeface="Arial" panose="020B0604020202020204"/>
                <a:cs typeface="Arial" panose="020B0604020202020204"/>
              </a:rPr>
              <a:t>Laws of the physical world and laboratory instrumentation</a:t>
            </a:r>
            <a:endParaRPr sz="1200" b="0">
              <a:solidFill>
                <a:srgbClr val="0B2450"/>
              </a:solidFill>
              <a:latin typeface="Arial" panose="020B0604020202020204"/>
              <a:ea typeface="Arial" panose="020B0604020202020204"/>
              <a:cs typeface="Arial" panose="020B0604020202020204"/>
            </a:endParaRPr>
          </a:p>
        </p:txBody>
      </p:sp>
      <p:sp>
        <p:nvSpPr>
          <p:cNvPr id="42" name="矩形 41"/>
          <p:cNvSpPr>
            <a:spLocks noGrp="1"/>
          </p:cNvSpPr>
          <p:nvPr/>
        </p:nvSpPr>
        <p:spPr>
          <a:xfrm>
            <a:off x="1530548" y="4432697"/>
            <a:ext cx="4270177" cy="260747"/>
          </a:xfrm>
          <a:prstGeom prst="rect">
            <a:avLst/>
          </a:prstGeom>
          <a:solidFill>
            <a:srgbClr val="FFFFFF"/>
          </a:solidFill>
          <a:ln w="0">
            <a:noFill/>
          </a:ln>
        </p:spPr>
      </p:sp>
      <p:sp>
        <p:nvSpPr>
          <p:cNvPr id="43" name="矩形 42"/>
          <p:cNvSpPr>
            <a:spLocks noGrp="1"/>
          </p:cNvSpPr>
          <p:nvPr/>
        </p:nvSpPr>
        <p:spPr>
          <a:xfrm>
            <a:off x="1544836" y="4446984"/>
            <a:ext cx="4241602" cy="232172"/>
          </a:xfrm>
          <a:prstGeom prst="rect">
            <a:avLst/>
          </a:prstGeom>
          <a:noFill/>
          <a:ln w="0">
            <a:noFill/>
          </a:ln>
        </p:spPr>
        <p:txBody>
          <a:bodyPr wrap="none" lIns="0" tIns="0" rIns="0" bIns="0" anchor="ctr">
            <a:noAutofit/>
          </a:bodyPr>
          <a:lstStyle/>
          <a:p>
            <a:pPr algn="l">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Validated operations + resource accounting</a:t>
            </a:r>
            <a:endParaRPr sz="1350" b="0">
              <a:solidFill>
                <a:srgbClr val="0B2450"/>
              </a:solidFill>
              <a:latin typeface="Arial" panose="020B0604020202020204"/>
              <a:ea typeface="Arial" panose="020B0604020202020204"/>
              <a:cs typeface="Arial" panose="020B0604020202020204"/>
            </a:endParaRPr>
          </a:p>
        </p:txBody>
      </p:sp>
      <p:sp>
        <p:nvSpPr>
          <p:cNvPr id="44" name="矩形 43"/>
          <p:cNvSpPr>
            <a:spLocks noGrp="1"/>
          </p:cNvSpPr>
          <p:nvPr/>
        </p:nvSpPr>
        <p:spPr>
          <a:xfrm>
            <a:off x="1530548" y="4647009"/>
            <a:ext cx="4288036" cy="260747"/>
          </a:xfrm>
          <a:prstGeom prst="rect">
            <a:avLst/>
          </a:prstGeom>
          <a:solidFill>
            <a:srgbClr val="FFFFFF"/>
          </a:solidFill>
          <a:ln w="0">
            <a:noFill/>
          </a:ln>
        </p:spPr>
      </p:sp>
      <p:sp>
        <p:nvSpPr>
          <p:cNvPr id="45" name="矩形 44"/>
          <p:cNvSpPr>
            <a:spLocks noGrp="1"/>
          </p:cNvSpPr>
          <p:nvPr/>
        </p:nvSpPr>
        <p:spPr>
          <a:xfrm>
            <a:off x="1544836" y="4661297"/>
            <a:ext cx="4259461" cy="232172"/>
          </a:xfrm>
          <a:prstGeom prst="rect">
            <a:avLst/>
          </a:prstGeom>
          <a:noFill/>
          <a:ln w="0">
            <a:noFill/>
          </a:ln>
        </p:spPr>
        <p:txBody>
          <a:bodyPr wrap="none" lIns="0" tIns="0" rIns="0" bIns="0" anchor="ctr">
            <a:noAutofit/>
          </a:bodyPr>
          <a:lstStyle/>
          <a:p>
            <a:pPr algn="l">
              <a:defRPr sz="1050" b="0">
                <a:solidFill>
                  <a:srgbClr val="0B2450"/>
                </a:solidFill>
                <a:latin typeface="Arial" panose="020B0604020202020204"/>
                <a:ea typeface="Arial" panose="020B0604020202020204"/>
                <a:cs typeface="Arial" panose="020B0604020202020204"/>
              </a:defRPr>
            </a:pPr>
            <a:r>
              <a:rPr sz="1050" b="0">
                <a:solidFill>
                  <a:srgbClr val="0B2450"/>
                </a:solidFill>
                <a:latin typeface="Arial" panose="020B0604020202020204"/>
                <a:ea typeface="Arial" panose="020B0604020202020204"/>
                <a:cs typeface="Arial" panose="020B0604020202020204"/>
              </a:rPr>
              <a:t>Allowed operations, safety constraints and computational resources</a:t>
            </a:r>
            <a:endParaRPr sz="1050" b="0">
              <a:solidFill>
                <a:srgbClr val="0B2450"/>
              </a:solidFill>
              <a:latin typeface="Arial" panose="020B0604020202020204"/>
              <a:ea typeface="Arial" panose="020B0604020202020204"/>
              <a:cs typeface="Arial" panose="020B0604020202020204"/>
            </a:endParaRPr>
          </a:p>
        </p:txBody>
      </p:sp>
      <p:sp>
        <p:nvSpPr>
          <p:cNvPr id="46" name="矩形 45"/>
          <p:cNvSpPr>
            <a:spLocks noGrp="1"/>
          </p:cNvSpPr>
          <p:nvPr/>
        </p:nvSpPr>
        <p:spPr>
          <a:xfrm>
            <a:off x="1530548" y="4977408"/>
            <a:ext cx="4252317" cy="260747"/>
          </a:xfrm>
          <a:prstGeom prst="rect">
            <a:avLst/>
          </a:prstGeom>
          <a:solidFill>
            <a:srgbClr val="FFFFFF"/>
          </a:solidFill>
          <a:ln w="0">
            <a:noFill/>
          </a:ln>
        </p:spPr>
      </p:sp>
      <p:sp>
        <p:nvSpPr>
          <p:cNvPr id="47" name="矩形 46"/>
          <p:cNvSpPr>
            <a:spLocks noGrp="1"/>
          </p:cNvSpPr>
          <p:nvPr/>
        </p:nvSpPr>
        <p:spPr>
          <a:xfrm>
            <a:off x="1544836" y="4991695"/>
            <a:ext cx="4223742" cy="232172"/>
          </a:xfrm>
          <a:prstGeom prst="rect">
            <a:avLst/>
          </a:prstGeom>
          <a:noFill/>
          <a:ln w="0">
            <a:noFill/>
          </a:ln>
        </p:spPr>
        <p:txBody>
          <a:bodyPr wrap="none" lIns="0" tIns="0" rIns="0" bIns="0" anchor="ctr">
            <a:noAutofit/>
          </a:bodyPr>
          <a:lstStyle/>
          <a:p>
            <a:pPr algn="l">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Public task + evaluation contract</a:t>
            </a:r>
            <a:endParaRPr sz="1350" b="0">
              <a:solidFill>
                <a:srgbClr val="0B2450"/>
              </a:solidFill>
              <a:latin typeface="Arial" panose="020B0604020202020204"/>
              <a:ea typeface="Arial" panose="020B0604020202020204"/>
              <a:cs typeface="Arial" panose="020B0604020202020204"/>
            </a:endParaRPr>
          </a:p>
        </p:txBody>
      </p:sp>
      <p:sp>
        <p:nvSpPr>
          <p:cNvPr id="48" name="矩形 47"/>
          <p:cNvSpPr>
            <a:spLocks noGrp="1"/>
          </p:cNvSpPr>
          <p:nvPr/>
        </p:nvSpPr>
        <p:spPr>
          <a:xfrm>
            <a:off x="1530548" y="5182791"/>
            <a:ext cx="4296966" cy="233958"/>
          </a:xfrm>
          <a:prstGeom prst="rect">
            <a:avLst/>
          </a:prstGeom>
          <a:solidFill>
            <a:srgbClr val="FFFFFF"/>
          </a:solidFill>
          <a:ln w="0">
            <a:noFill/>
          </a:ln>
        </p:spPr>
      </p:sp>
      <p:sp>
        <p:nvSpPr>
          <p:cNvPr id="49" name="矩形 48"/>
          <p:cNvSpPr>
            <a:spLocks noGrp="1"/>
          </p:cNvSpPr>
          <p:nvPr/>
        </p:nvSpPr>
        <p:spPr>
          <a:xfrm>
            <a:off x="1544836" y="5197078"/>
            <a:ext cx="4268391" cy="205383"/>
          </a:xfrm>
          <a:prstGeom prst="rect">
            <a:avLst/>
          </a:prstGeom>
          <a:noFill/>
          <a:ln w="0">
            <a:noFill/>
          </a:ln>
        </p:spPr>
        <p:txBody>
          <a:bodyPr wrap="none" lIns="0" tIns="0" rIns="0" bIns="0" anchor="ctr">
            <a:noAutofit/>
          </a:bodyPr>
          <a:lstStyle/>
          <a:p>
            <a:pPr algn="l">
              <a:defRPr sz="1050" b="0">
                <a:solidFill>
                  <a:srgbClr val="0B2450"/>
                </a:solidFill>
                <a:latin typeface="Arial" panose="020B0604020202020204"/>
                <a:ea typeface="Arial" panose="020B0604020202020204"/>
                <a:cs typeface="Arial" panose="020B0604020202020204"/>
              </a:defRPr>
            </a:pPr>
            <a:r>
              <a:rPr sz="1050" b="0">
                <a:solidFill>
                  <a:srgbClr val="0B2450"/>
                </a:solidFill>
                <a:latin typeface="Arial" panose="020B0604020202020204"/>
                <a:ea typeface="Arial" panose="020B0604020202020204"/>
                <a:cs typeface="Arial" panose="020B0604020202020204"/>
              </a:rPr>
              <a:t>Task specification, evaluation protocol and release of observations</a:t>
            </a:r>
            <a:endParaRPr sz="1050" b="0">
              <a:solidFill>
                <a:srgbClr val="0B2450"/>
              </a:solidFill>
              <a:latin typeface="Arial" panose="020B0604020202020204"/>
              <a:ea typeface="Arial" panose="020B0604020202020204"/>
              <a:cs typeface="Arial" panose="020B0604020202020204"/>
            </a:endParaRPr>
          </a:p>
        </p:txBody>
      </p:sp>
      <p:sp>
        <p:nvSpPr>
          <p:cNvPr id="50" name="矩形 49"/>
          <p:cNvSpPr>
            <a:spLocks noGrp="1"/>
          </p:cNvSpPr>
          <p:nvPr/>
        </p:nvSpPr>
        <p:spPr>
          <a:xfrm>
            <a:off x="6629400" y="4138017"/>
            <a:ext cx="1493044" cy="466130"/>
          </a:xfrm>
          <a:prstGeom prst="rect">
            <a:avLst/>
          </a:prstGeom>
          <a:solidFill>
            <a:srgbClr val="FFFFFF"/>
          </a:solidFill>
          <a:ln w="0">
            <a:noFill/>
          </a:ln>
        </p:spPr>
      </p:sp>
      <p:sp>
        <p:nvSpPr>
          <p:cNvPr id="51" name="矩形 50"/>
          <p:cNvSpPr>
            <a:spLocks noGrp="1"/>
          </p:cNvSpPr>
          <p:nvPr/>
        </p:nvSpPr>
        <p:spPr>
          <a:xfrm>
            <a:off x="6643688" y="4152305"/>
            <a:ext cx="1464469" cy="437555"/>
          </a:xfrm>
          <a:prstGeom prst="rect">
            <a:avLst/>
          </a:prstGeom>
          <a:noFill/>
          <a:ln w="0">
            <a:noFill/>
          </a:ln>
        </p:spPr>
        <p:txBody>
          <a:bodyPr wrap="none" lIns="0" tIns="0" rIns="0" bIns="0" anchor="ctr">
            <a:noAutofit/>
          </a:bodyPr>
          <a:lstStyle/>
          <a:p>
            <a:pPr algn="l">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Private world</a:t>
            </a:r>
            <a:endParaRPr sz="1350" b="0">
              <a:solidFill>
                <a:srgbClr val="0B2450"/>
              </a:solidFill>
              <a:latin typeface="Arial" panose="020B0604020202020204"/>
              <a:ea typeface="Arial" panose="020B0604020202020204"/>
              <a:cs typeface="Arial" panose="020B0604020202020204"/>
            </a:endParaRPr>
          </a:p>
          <a:p>
            <a:pPr algn="l">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parameters</a:t>
            </a:r>
            <a:endParaRPr sz="1350" b="0">
              <a:solidFill>
                <a:srgbClr val="0B2450"/>
              </a:solidFill>
              <a:latin typeface="Arial" panose="020B0604020202020204"/>
              <a:ea typeface="Arial" panose="020B0604020202020204"/>
              <a:cs typeface="Arial" panose="020B0604020202020204"/>
            </a:endParaRPr>
          </a:p>
        </p:txBody>
      </p:sp>
      <p:sp>
        <p:nvSpPr>
          <p:cNvPr id="52" name="矩形 51"/>
          <p:cNvSpPr>
            <a:spLocks noGrp="1"/>
          </p:cNvSpPr>
          <p:nvPr/>
        </p:nvSpPr>
        <p:spPr>
          <a:xfrm>
            <a:off x="6084689" y="4647009"/>
            <a:ext cx="2046684" cy="260747"/>
          </a:xfrm>
          <a:prstGeom prst="rect">
            <a:avLst/>
          </a:prstGeom>
          <a:solidFill>
            <a:srgbClr val="FFFFFF"/>
          </a:solidFill>
          <a:ln w="0">
            <a:noFill/>
          </a:ln>
        </p:spPr>
      </p:sp>
      <p:sp>
        <p:nvSpPr>
          <p:cNvPr id="53" name="矩形 52"/>
          <p:cNvSpPr>
            <a:spLocks noGrp="1"/>
          </p:cNvSpPr>
          <p:nvPr/>
        </p:nvSpPr>
        <p:spPr>
          <a:xfrm>
            <a:off x="6098977" y="4661297"/>
            <a:ext cx="2018109" cy="232172"/>
          </a:xfrm>
          <a:prstGeom prst="rect">
            <a:avLst/>
          </a:prstGeom>
          <a:noFill/>
          <a:ln w="0">
            <a:noFill/>
          </a:ln>
        </p:spPr>
        <p:txBody>
          <a:bodyPr wrap="none" lIns="0" tIns="0" rIns="0" bIns="0" anchor="ctr">
            <a:noAutofit/>
          </a:bodyPr>
          <a:lstStyle/>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Evaluator access only</a:t>
            </a:r>
            <a:endParaRPr sz="1350" b="0">
              <a:solidFill>
                <a:srgbClr val="0B2450"/>
              </a:solidFill>
              <a:latin typeface="Arial" panose="020B0604020202020204"/>
              <a:ea typeface="Arial" panose="020B0604020202020204"/>
              <a:cs typeface="Arial" panose="020B0604020202020204"/>
            </a:endParaRPr>
          </a:p>
        </p:txBody>
      </p:sp>
      <p:sp>
        <p:nvSpPr>
          <p:cNvPr id="54" name="矩形 53"/>
          <p:cNvSpPr>
            <a:spLocks noGrp="1"/>
          </p:cNvSpPr>
          <p:nvPr/>
        </p:nvSpPr>
        <p:spPr>
          <a:xfrm>
            <a:off x="6031111" y="4897041"/>
            <a:ext cx="2100263" cy="260747"/>
          </a:xfrm>
          <a:prstGeom prst="rect">
            <a:avLst/>
          </a:prstGeom>
          <a:solidFill>
            <a:srgbClr val="FFFFFF"/>
          </a:solidFill>
          <a:ln w="0">
            <a:noFill/>
          </a:ln>
        </p:spPr>
      </p:sp>
      <p:sp>
        <p:nvSpPr>
          <p:cNvPr id="55" name="矩形 54"/>
          <p:cNvSpPr>
            <a:spLocks noGrp="1"/>
          </p:cNvSpPr>
          <p:nvPr/>
        </p:nvSpPr>
        <p:spPr>
          <a:xfrm>
            <a:off x="6045398" y="4911328"/>
            <a:ext cx="2071688" cy="232172"/>
          </a:xfrm>
          <a:prstGeom prst="rect">
            <a:avLst/>
          </a:prstGeom>
          <a:noFill/>
          <a:ln w="0">
            <a:noFill/>
          </a:ln>
        </p:spPr>
        <p:txBody>
          <a:bodyPr wrap="none" lIns="0" tIns="0" rIns="0" bIns="0" anchor="ctr">
            <a:noAutofit/>
          </a:bodyPr>
          <a:lstStyle/>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Not available to the agent</a:t>
            </a:r>
            <a:endParaRPr sz="1350" b="0">
              <a:solidFill>
                <a:srgbClr val="0B2450"/>
              </a:solidFill>
              <a:latin typeface="Arial" panose="020B0604020202020204"/>
              <a:ea typeface="Arial" panose="020B0604020202020204"/>
              <a:cs typeface="Arial" panose="020B0604020202020204"/>
            </a:endParaRPr>
          </a:p>
        </p:txBody>
      </p:sp>
      <p:sp>
        <p:nvSpPr>
          <p:cNvPr id="56" name="矩形 55"/>
          <p:cNvSpPr>
            <a:spLocks noGrp="1"/>
          </p:cNvSpPr>
          <p:nvPr/>
        </p:nvSpPr>
        <p:spPr>
          <a:xfrm>
            <a:off x="223242" y="5706070"/>
            <a:ext cx="267891" cy="303609"/>
          </a:xfrm>
          <a:prstGeom prst="rect">
            <a:avLst/>
          </a:prstGeom>
          <a:solidFill>
            <a:srgbClr val="FFFFFF"/>
          </a:solidFill>
          <a:ln w="0">
            <a:noFill/>
          </a:ln>
        </p:spPr>
      </p:sp>
      <p:sp>
        <p:nvSpPr>
          <p:cNvPr id="57" name="矩形 56"/>
          <p:cNvSpPr>
            <a:spLocks noGrp="1"/>
          </p:cNvSpPr>
          <p:nvPr/>
        </p:nvSpPr>
        <p:spPr>
          <a:xfrm>
            <a:off x="223242" y="5706070"/>
            <a:ext cx="267891" cy="303609"/>
          </a:xfrm>
          <a:prstGeom prst="rect">
            <a:avLst/>
          </a:prstGeom>
          <a:noFill/>
          <a:ln w="0">
            <a:noFill/>
          </a:ln>
        </p:spPr>
        <p:txBody>
          <a:bodyPr wrap="none" lIns="0" tIns="0" rIns="0" bIns="0" anchor="ctr">
            <a:noAutofit/>
          </a:bodyPr>
          <a:lstStyle/>
          <a:p>
            <a:pPr algn="l">
              <a:defRPr sz="2250" b="1">
                <a:solidFill>
                  <a:srgbClr val="0B2450"/>
                </a:solidFill>
                <a:latin typeface="Arial" panose="020B0604020202020204"/>
                <a:ea typeface="Arial" panose="020B0604020202020204"/>
                <a:cs typeface="Arial" panose="020B0604020202020204"/>
              </a:defRPr>
            </a:pPr>
            <a:r>
              <a:rPr sz="2250" b="1">
                <a:solidFill>
                  <a:srgbClr val="0B2450"/>
                </a:solidFill>
                <a:latin typeface="Arial" panose="020B0604020202020204"/>
                <a:ea typeface="Arial" panose="020B0604020202020204"/>
                <a:cs typeface="Arial" panose="020B0604020202020204"/>
              </a:rPr>
              <a:t>b</a:t>
            </a:r>
            <a:endParaRPr sz="2250" b="1">
              <a:solidFill>
                <a:srgbClr val="0B2450"/>
              </a:solidFill>
              <a:latin typeface="Arial" panose="020B0604020202020204"/>
              <a:ea typeface="Arial" panose="020B0604020202020204"/>
              <a:cs typeface="Arial" panose="020B0604020202020204"/>
            </a:endParaRPr>
          </a:p>
        </p:txBody>
      </p:sp>
      <p:sp>
        <p:nvSpPr>
          <p:cNvPr id="58" name="矩形 57"/>
          <p:cNvSpPr>
            <a:spLocks noGrp="1"/>
          </p:cNvSpPr>
          <p:nvPr/>
        </p:nvSpPr>
        <p:spPr>
          <a:xfrm>
            <a:off x="717947" y="5709642"/>
            <a:ext cx="7350919" cy="314325"/>
          </a:xfrm>
          <a:prstGeom prst="rect">
            <a:avLst/>
          </a:prstGeom>
          <a:solidFill>
            <a:srgbClr val="FFFFFF"/>
          </a:solidFill>
          <a:ln w="0">
            <a:noFill/>
          </a:ln>
        </p:spPr>
      </p:sp>
      <p:sp>
        <p:nvSpPr>
          <p:cNvPr id="59" name="矩形 58"/>
          <p:cNvSpPr>
            <a:spLocks noGrp="1"/>
          </p:cNvSpPr>
          <p:nvPr/>
        </p:nvSpPr>
        <p:spPr>
          <a:xfrm>
            <a:off x="732234" y="5723930"/>
            <a:ext cx="7322344" cy="285750"/>
          </a:xfrm>
          <a:prstGeom prst="rect">
            <a:avLst/>
          </a:prstGeom>
          <a:noFill/>
          <a:ln w="0">
            <a:noFill/>
          </a:ln>
        </p:spPr>
        <p:txBody>
          <a:bodyPr wrap="none" lIns="0" tIns="0" rIns="0" bIns="0" anchor="ctr">
            <a:noAutofit/>
          </a:bodyPr>
          <a:lstStyle/>
          <a:p>
            <a:pPr algn="l">
              <a:defRPr sz="2025" b="1">
                <a:solidFill>
                  <a:srgbClr val="0B2450"/>
                </a:solidFill>
                <a:latin typeface="Arial" panose="020B0604020202020204"/>
                <a:ea typeface="Arial" panose="020B0604020202020204"/>
                <a:cs typeface="Arial" panose="020B0604020202020204"/>
              </a:defRPr>
            </a:pPr>
            <a:r>
              <a:rPr sz="2025" b="1">
                <a:solidFill>
                  <a:srgbClr val="0B2450"/>
                </a:solidFill>
                <a:latin typeface="Arial" panose="020B0604020202020204"/>
                <a:ea typeface="Arial" panose="020B0604020202020204"/>
                <a:cs typeface="Arial" panose="020B0604020202020204"/>
              </a:rPr>
              <a:t>Matched research conditions</a:t>
            </a:r>
            <a:endParaRPr sz="2025" b="1">
              <a:solidFill>
                <a:srgbClr val="0B2450"/>
              </a:solidFill>
              <a:latin typeface="Arial" panose="020B0604020202020204"/>
              <a:ea typeface="Arial" panose="020B0604020202020204"/>
              <a:cs typeface="Arial" panose="020B0604020202020204"/>
            </a:endParaRPr>
          </a:p>
        </p:txBody>
      </p:sp>
      <p:sp>
        <p:nvSpPr>
          <p:cNvPr id="60" name="矩形 59"/>
          <p:cNvSpPr>
            <a:spLocks noGrp="1"/>
          </p:cNvSpPr>
          <p:nvPr/>
        </p:nvSpPr>
        <p:spPr>
          <a:xfrm>
            <a:off x="530423" y="6093619"/>
            <a:ext cx="653653" cy="251817"/>
          </a:xfrm>
          <a:prstGeom prst="rect">
            <a:avLst/>
          </a:prstGeom>
          <a:solidFill>
            <a:srgbClr val="FFFFFF"/>
          </a:solidFill>
          <a:ln w="0">
            <a:noFill/>
          </a:ln>
        </p:spPr>
      </p:sp>
      <p:sp>
        <p:nvSpPr>
          <p:cNvPr id="61" name="矩形 60"/>
          <p:cNvSpPr>
            <a:spLocks noGrp="1"/>
          </p:cNvSpPr>
          <p:nvPr/>
        </p:nvSpPr>
        <p:spPr>
          <a:xfrm>
            <a:off x="544711" y="6107906"/>
            <a:ext cx="625078" cy="223242"/>
          </a:xfrm>
          <a:prstGeom prst="rect">
            <a:avLst/>
          </a:prstGeom>
          <a:noFill/>
          <a:ln w="0">
            <a:noFill/>
          </a:ln>
        </p:spPr>
        <p:txBody>
          <a:bodyPr wrap="none" lIns="0" tIns="0" rIns="0" bIns="0" anchor="ctr">
            <a:noAutofit/>
          </a:bodyPr>
          <a:lstStyle/>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Opaque</a:t>
            </a:r>
            <a:endParaRPr sz="1350" b="0">
              <a:solidFill>
                <a:srgbClr val="0B2450"/>
              </a:solidFill>
              <a:latin typeface="Arial" panose="020B0604020202020204"/>
              <a:ea typeface="Arial" panose="020B0604020202020204"/>
              <a:cs typeface="Arial" panose="020B0604020202020204"/>
            </a:endParaRPr>
          </a:p>
        </p:txBody>
      </p:sp>
      <p:sp>
        <p:nvSpPr>
          <p:cNvPr id="62" name="矩形 61"/>
          <p:cNvSpPr>
            <a:spLocks noGrp="1"/>
          </p:cNvSpPr>
          <p:nvPr/>
        </p:nvSpPr>
        <p:spPr>
          <a:xfrm>
            <a:off x="1521619" y="6093619"/>
            <a:ext cx="671513" cy="251817"/>
          </a:xfrm>
          <a:prstGeom prst="rect">
            <a:avLst/>
          </a:prstGeom>
          <a:solidFill>
            <a:srgbClr val="FFFFFF"/>
          </a:solidFill>
          <a:ln w="0">
            <a:noFill/>
          </a:ln>
        </p:spPr>
      </p:sp>
      <p:sp>
        <p:nvSpPr>
          <p:cNvPr id="63" name="矩形 62"/>
          <p:cNvSpPr>
            <a:spLocks noGrp="1"/>
          </p:cNvSpPr>
          <p:nvPr/>
        </p:nvSpPr>
        <p:spPr>
          <a:xfrm>
            <a:off x="1535906" y="6107906"/>
            <a:ext cx="642938" cy="223242"/>
          </a:xfrm>
          <a:prstGeom prst="rect">
            <a:avLst/>
          </a:prstGeom>
          <a:noFill/>
          <a:ln w="0">
            <a:noFill/>
          </a:ln>
        </p:spPr>
        <p:txBody>
          <a:bodyPr wrap="none" lIns="0" tIns="0" rIns="0" bIns="0" anchor="ctr">
            <a:noAutofit/>
          </a:bodyPr>
          <a:lstStyle/>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Aligned</a:t>
            </a:r>
            <a:endParaRPr sz="1350" b="0">
              <a:solidFill>
                <a:srgbClr val="0B2450"/>
              </a:solidFill>
              <a:latin typeface="Arial" panose="020B0604020202020204"/>
              <a:ea typeface="Arial" panose="020B0604020202020204"/>
              <a:cs typeface="Arial" panose="020B0604020202020204"/>
            </a:endParaRPr>
          </a:p>
        </p:txBody>
      </p:sp>
      <p:sp>
        <p:nvSpPr>
          <p:cNvPr id="64" name="矩形 63"/>
          <p:cNvSpPr>
            <a:spLocks noGrp="1"/>
          </p:cNvSpPr>
          <p:nvPr/>
        </p:nvSpPr>
        <p:spPr>
          <a:xfrm>
            <a:off x="2378869" y="6093619"/>
            <a:ext cx="814388" cy="251817"/>
          </a:xfrm>
          <a:prstGeom prst="rect">
            <a:avLst/>
          </a:prstGeom>
          <a:solidFill>
            <a:srgbClr val="FFFFFF"/>
          </a:solidFill>
          <a:ln w="0">
            <a:noFill/>
          </a:ln>
        </p:spPr>
      </p:sp>
      <p:sp>
        <p:nvSpPr>
          <p:cNvPr id="65" name="矩形 64"/>
          <p:cNvSpPr>
            <a:spLocks noGrp="1"/>
          </p:cNvSpPr>
          <p:nvPr/>
        </p:nvSpPr>
        <p:spPr>
          <a:xfrm>
            <a:off x="2393156" y="6107906"/>
            <a:ext cx="785813" cy="223242"/>
          </a:xfrm>
          <a:prstGeom prst="rect">
            <a:avLst/>
          </a:prstGeom>
          <a:noFill/>
          <a:ln w="0">
            <a:noFill/>
          </a:ln>
        </p:spPr>
        <p:txBody>
          <a:bodyPr wrap="none" lIns="0" tIns="0" rIns="0" bIns="0" anchor="ctr">
            <a:noAutofit/>
          </a:bodyPr>
          <a:lstStyle/>
          <a:p>
            <a:pPr algn="ctr">
              <a:defRPr sz="1200" b="0">
                <a:solidFill>
                  <a:srgbClr val="0B2450"/>
                </a:solidFill>
                <a:latin typeface="Arial" panose="020B0604020202020204"/>
                <a:ea typeface="Arial" panose="020B0604020202020204"/>
                <a:cs typeface="Arial" panose="020B0604020202020204"/>
              </a:defRPr>
            </a:pPr>
            <a:r>
              <a:rPr sz="1200" b="0">
                <a:solidFill>
                  <a:srgbClr val="0B2450"/>
                </a:solidFill>
                <a:latin typeface="Arial" panose="020B0604020202020204"/>
                <a:ea typeface="Arial" panose="020B0604020202020204"/>
                <a:cs typeface="Arial" panose="020B0604020202020204"/>
              </a:rPr>
              <a:t>MisIndexed</a:t>
            </a:r>
            <a:endParaRPr sz="1200" b="0">
              <a:solidFill>
                <a:srgbClr val="0B2450"/>
              </a:solidFill>
              <a:latin typeface="Arial" panose="020B0604020202020204"/>
              <a:ea typeface="Arial" panose="020B0604020202020204"/>
              <a:cs typeface="Arial" panose="020B0604020202020204"/>
            </a:endParaRPr>
          </a:p>
        </p:txBody>
      </p:sp>
      <p:sp>
        <p:nvSpPr>
          <p:cNvPr id="66" name="矩形 65"/>
          <p:cNvSpPr>
            <a:spLocks noGrp="1"/>
          </p:cNvSpPr>
          <p:nvPr/>
        </p:nvSpPr>
        <p:spPr>
          <a:xfrm>
            <a:off x="1021556" y="7111603"/>
            <a:ext cx="2162770" cy="260747"/>
          </a:xfrm>
          <a:prstGeom prst="rect">
            <a:avLst/>
          </a:prstGeom>
          <a:solidFill>
            <a:srgbClr val="FFFFFF"/>
          </a:solidFill>
          <a:ln w="0">
            <a:noFill/>
          </a:ln>
        </p:spPr>
      </p:sp>
      <p:sp>
        <p:nvSpPr>
          <p:cNvPr id="67" name="矩形 66"/>
          <p:cNvSpPr>
            <a:spLocks noGrp="1"/>
          </p:cNvSpPr>
          <p:nvPr/>
        </p:nvSpPr>
        <p:spPr>
          <a:xfrm>
            <a:off x="1035844" y="7125891"/>
            <a:ext cx="2134195" cy="232172"/>
          </a:xfrm>
          <a:prstGeom prst="rect">
            <a:avLst/>
          </a:prstGeom>
          <a:noFill/>
          <a:ln w="0">
            <a:noFill/>
          </a:ln>
        </p:spPr>
        <p:txBody>
          <a:bodyPr wrap="none" lIns="0" tIns="0" rIns="0" bIns="0" anchor="ctr">
            <a:noAutofit/>
          </a:bodyPr>
          <a:lstStyle/>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Same physical world</a:t>
            </a:r>
            <a:endParaRPr sz="1350" b="0">
              <a:solidFill>
                <a:srgbClr val="0B2450"/>
              </a:solidFill>
              <a:latin typeface="Arial" panose="020B0604020202020204"/>
              <a:ea typeface="Arial" panose="020B0604020202020204"/>
              <a:cs typeface="Arial" panose="020B0604020202020204"/>
            </a:endParaRPr>
          </a:p>
        </p:txBody>
      </p:sp>
      <p:sp>
        <p:nvSpPr>
          <p:cNvPr id="68" name="矩形 67"/>
          <p:cNvSpPr>
            <a:spLocks noGrp="1"/>
          </p:cNvSpPr>
          <p:nvPr/>
        </p:nvSpPr>
        <p:spPr>
          <a:xfrm>
            <a:off x="325041" y="7325916"/>
            <a:ext cx="3136106" cy="260747"/>
          </a:xfrm>
          <a:prstGeom prst="rect">
            <a:avLst/>
          </a:prstGeom>
          <a:solidFill>
            <a:srgbClr val="FFFFFF"/>
          </a:solidFill>
          <a:ln w="0">
            <a:noFill/>
          </a:ln>
        </p:spPr>
      </p:sp>
      <p:sp>
        <p:nvSpPr>
          <p:cNvPr id="69" name="矩形 68"/>
          <p:cNvSpPr>
            <a:spLocks noGrp="1"/>
          </p:cNvSpPr>
          <p:nvPr/>
        </p:nvSpPr>
        <p:spPr>
          <a:xfrm>
            <a:off x="339328" y="7340203"/>
            <a:ext cx="3107531" cy="232172"/>
          </a:xfrm>
          <a:prstGeom prst="rect">
            <a:avLst/>
          </a:prstGeom>
          <a:noFill/>
          <a:ln w="0">
            <a:noFill/>
          </a:ln>
        </p:spPr>
        <p:txBody>
          <a:bodyPr wrap="none" lIns="0" tIns="0" rIns="0" bIns="0" anchor="ctr">
            <a:noAutofit/>
          </a:bodyPr>
          <a:lstStyle/>
          <a:p>
            <a:pPr algn="ctr">
              <a:defRPr sz="1050" b="0">
                <a:solidFill>
                  <a:srgbClr val="0B2450"/>
                </a:solidFill>
                <a:latin typeface="Arial" panose="020B0604020202020204"/>
                <a:ea typeface="Arial" panose="020B0604020202020204"/>
                <a:cs typeface="Arial" panose="020B0604020202020204"/>
              </a:defRPr>
            </a:pPr>
            <a:r>
              <a:rPr sz="1050" b="0">
                <a:solidFill>
                  <a:srgbClr val="0B2450"/>
                </a:solidFill>
                <a:latin typeface="Arial" panose="020B0604020202020204"/>
                <a:ea typeface="Arial" panose="020B0604020202020204"/>
                <a:cs typeface="Arial" panose="020B0604020202020204"/>
              </a:rPr>
              <a:t>Different information; identical underlying system</a:t>
            </a:r>
            <a:endParaRPr sz="1050" b="0">
              <a:solidFill>
                <a:srgbClr val="0B2450"/>
              </a:solidFill>
              <a:latin typeface="Arial" panose="020B0604020202020204"/>
              <a:ea typeface="Arial" panose="020B0604020202020204"/>
              <a:cs typeface="Arial" panose="020B0604020202020204"/>
            </a:endParaRPr>
          </a:p>
        </p:txBody>
      </p:sp>
      <p:sp>
        <p:nvSpPr>
          <p:cNvPr id="70" name="矩形 69"/>
          <p:cNvSpPr>
            <a:spLocks noGrp="1"/>
          </p:cNvSpPr>
          <p:nvPr/>
        </p:nvSpPr>
        <p:spPr>
          <a:xfrm>
            <a:off x="3655814" y="5968603"/>
            <a:ext cx="2921794" cy="269677"/>
          </a:xfrm>
          <a:prstGeom prst="rect">
            <a:avLst/>
          </a:prstGeom>
          <a:solidFill>
            <a:srgbClr val="FFFFFF"/>
          </a:solidFill>
          <a:ln w="0">
            <a:noFill/>
          </a:ln>
        </p:spPr>
      </p:sp>
      <p:sp>
        <p:nvSpPr>
          <p:cNvPr id="71" name="矩形 70"/>
          <p:cNvSpPr>
            <a:spLocks noGrp="1"/>
          </p:cNvSpPr>
          <p:nvPr/>
        </p:nvSpPr>
        <p:spPr>
          <a:xfrm>
            <a:off x="3670102" y="5982891"/>
            <a:ext cx="2893219" cy="241102"/>
          </a:xfrm>
          <a:prstGeom prst="rect">
            <a:avLst/>
          </a:prstGeom>
          <a:noFill/>
          <a:ln w="0">
            <a:noFill/>
          </a:ln>
        </p:spPr>
        <p:txBody>
          <a:bodyPr wrap="none" lIns="0" tIns="0" rIns="0" bIns="0" anchor="ctr">
            <a:noAutofit/>
          </a:bodyPr>
          <a:lstStyle/>
          <a:p>
            <a:pPr algn="ctr">
              <a:defRPr sz="1200" b="0">
                <a:solidFill>
                  <a:srgbClr val="0B2450"/>
                </a:solidFill>
                <a:latin typeface="Arial" panose="020B0604020202020204"/>
                <a:ea typeface="Arial" panose="020B0604020202020204"/>
                <a:cs typeface="Arial" panose="020B0604020202020204"/>
              </a:defRPr>
            </a:pPr>
            <a:r>
              <a:rPr sz="1200" b="0">
                <a:solidFill>
                  <a:srgbClr val="0B2450"/>
                </a:solidFill>
                <a:latin typeface="Arial" panose="020B0604020202020204"/>
                <a:ea typeface="Arial" panose="020B0604020202020204"/>
                <a:cs typeface="Arial" panose="020B0604020202020204"/>
              </a:rPr>
              <a:t>Experimental + computational resources</a:t>
            </a:r>
            <a:endParaRPr sz="1200" b="0">
              <a:solidFill>
                <a:srgbClr val="0B2450"/>
              </a:solidFill>
              <a:latin typeface="Arial" panose="020B0604020202020204"/>
              <a:ea typeface="Arial" panose="020B0604020202020204"/>
              <a:cs typeface="Arial" panose="020B0604020202020204"/>
            </a:endParaRPr>
          </a:p>
        </p:txBody>
      </p:sp>
      <p:sp>
        <p:nvSpPr>
          <p:cNvPr id="72" name="矩形 71"/>
          <p:cNvSpPr>
            <a:spLocks noGrp="1"/>
          </p:cNvSpPr>
          <p:nvPr/>
        </p:nvSpPr>
        <p:spPr>
          <a:xfrm>
            <a:off x="4298752" y="6191845"/>
            <a:ext cx="1993106" cy="242888"/>
          </a:xfrm>
          <a:prstGeom prst="rect">
            <a:avLst/>
          </a:prstGeom>
          <a:solidFill>
            <a:srgbClr val="FFFFFF"/>
          </a:solidFill>
          <a:ln w="0">
            <a:noFill/>
          </a:ln>
        </p:spPr>
      </p:sp>
      <p:sp>
        <p:nvSpPr>
          <p:cNvPr id="73" name="矩形 72"/>
          <p:cNvSpPr>
            <a:spLocks noGrp="1"/>
          </p:cNvSpPr>
          <p:nvPr/>
        </p:nvSpPr>
        <p:spPr>
          <a:xfrm>
            <a:off x="4313039" y="6206133"/>
            <a:ext cx="1964531" cy="214313"/>
          </a:xfrm>
          <a:prstGeom prst="rect">
            <a:avLst/>
          </a:prstGeom>
          <a:noFill/>
          <a:ln w="0">
            <a:noFill/>
          </a:ln>
        </p:spPr>
        <p:txBody>
          <a:bodyPr wrap="none" lIns="0" tIns="0" rIns="0" bIns="0" anchor="ctr">
            <a:noAutofit/>
          </a:bodyPr>
          <a:lstStyle/>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Independent sessions</a:t>
            </a:r>
            <a:endParaRPr sz="1350" b="0">
              <a:solidFill>
                <a:srgbClr val="0B2450"/>
              </a:solidFill>
              <a:latin typeface="Arial" panose="020B0604020202020204"/>
              <a:ea typeface="Arial" panose="020B0604020202020204"/>
              <a:cs typeface="Arial" panose="020B0604020202020204"/>
            </a:endParaRPr>
          </a:p>
        </p:txBody>
      </p:sp>
      <p:sp>
        <p:nvSpPr>
          <p:cNvPr id="74" name="矩形 73"/>
          <p:cNvSpPr>
            <a:spLocks noGrp="1"/>
          </p:cNvSpPr>
          <p:nvPr/>
        </p:nvSpPr>
        <p:spPr>
          <a:xfrm>
            <a:off x="3789759" y="7031236"/>
            <a:ext cx="885825" cy="278606"/>
          </a:xfrm>
          <a:prstGeom prst="rect">
            <a:avLst/>
          </a:prstGeom>
          <a:solidFill>
            <a:srgbClr val="FFFFFF"/>
          </a:solidFill>
          <a:ln w="0">
            <a:noFill/>
          </a:ln>
        </p:spPr>
      </p:sp>
      <p:sp>
        <p:nvSpPr>
          <p:cNvPr id="75" name="矩形 74"/>
          <p:cNvSpPr>
            <a:spLocks noGrp="1"/>
          </p:cNvSpPr>
          <p:nvPr/>
        </p:nvSpPr>
        <p:spPr>
          <a:xfrm>
            <a:off x="3804047" y="7045523"/>
            <a:ext cx="857250" cy="250031"/>
          </a:xfrm>
          <a:prstGeom prst="rect">
            <a:avLst/>
          </a:prstGeom>
          <a:noFill/>
          <a:ln w="0">
            <a:noFill/>
          </a:ln>
        </p:spPr>
        <p:txBody>
          <a:bodyPr wrap="none" lIns="0" tIns="0" rIns="0" bIns="0" anchor="ctr">
            <a:noAutofit/>
          </a:bodyPr>
          <a:lstStyle/>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12 batches</a:t>
            </a:r>
            <a:endParaRPr sz="1350" b="0">
              <a:solidFill>
                <a:srgbClr val="0B2450"/>
              </a:solidFill>
              <a:latin typeface="Arial" panose="020B0604020202020204"/>
              <a:ea typeface="Arial" panose="020B0604020202020204"/>
              <a:cs typeface="Arial" panose="020B0604020202020204"/>
            </a:endParaRPr>
          </a:p>
        </p:txBody>
      </p:sp>
      <p:sp>
        <p:nvSpPr>
          <p:cNvPr id="76" name="矩形 75"/>
          <p:cNvSpPr>
            <a:spLocks noGrp="1"/>
          </p:cNvSpPr>
          <p:nvPr/>
        </p:nvSpPr>
        <p:spPr>
          <a:xfrm>
            <a:off x="5173861" y="7031236"/>
            <a:ext cx="1037630" cy="278606"/>
          </a:xfrm>
          <a:prstGeom prst="rect">
            <a:avLst/>
          </a:prstGeom>
          <a:solidFill>
            <a:srgbClr val="FFFFFF"/>
          </a:solidFill>
          <a:ln w="0">
            <a:noFill/>
          </a:ln>
        </p:spPr>
      </p:sp>
      <p:sp>
        <p:nvSpPr>
          <p:cNvPr id="77" name="矩形 76"/>
          <p:cNvSpPr>
            <a:spLocks noGrp="1"/>
          </p:cNvSpPr>
          <p:nvPr/>
        </p:nvSpPr>
        <p:spPr>
          <a:xfrm>
            <a:off x="5188148" y="7045523"/>
            <a:ext cx="1009055" cy="250031"/>
          </a:xfrm>
          <a:prstGeom prst="rect">
            <a:avLst/>
          </a:prstGeom>
          <a:noFill/>
          <a:ln w="0">
            <a:noFill/>
          </a:ln>
        </p:spPr>
        <p:txBody>
          <a:bodyPr wrap="none" lIns="0" tIns="0" rIns="0" bIns="0" anchor="ctr">
            <a:noAutofit/>
          </a:bodyPr>
          <a:lstStyle/>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24 batches</a:t>
            </a:r>
            <a:endParaRPr sz="1350" b="0">
              <a:solidFill>
                <a:srgbClr val="0B2450"/>
              </a:solidFill>
              <a:latin typeface="Arial" panose="020B0604020202020204"/>
              <a:ea typeface="Arial" panose="020B0604020202020204"/>
              <a:cs typeface="Arial" panose="020B0604020202020204"/>
            </a:endParaRPr>
          </a:p>
        </p:txBody>
      </p:sp>
      <p:sp>
        <p:nvSpPr>
          <p:cNvPr id="78" name="矩形 77"/>
          <p:cNvSpPr>
            <a:spLocks noGrp="1"/>
          </p:cNvSpPr>
          <p:nvPr/>
        </p:nvSpPr>
        <p:spPr>
          <a:xfrm>
            <a:off x="6861572" y="5977533"/>
            <a:ext cx="1269802" cy="439341"/>
          </a:xfrm>
          <a:prstGeom prst="rect">
            <a:avLst/>
          </a:prstGeom>
          <a:solidFill>
            <a:srgbClr val="FFFFFF"/>
          </a:solidFill>
          <a:ln w="0">
            <a:noFill/>
          </a:ln>
        </p:spPr>
      </p:sp>
      <p:sp>
        <p:nvSpPr>
          <p:cNvPr id="79" name="矩形 78"/>
          <p:cNvSpPr>
            <a:spLocks noGrp="1"/>
          </p:cNvSpPr>
          <p:nvPr/>
        </p:nvSpPr>
        <p:spPr>
          <a:xfrm>
            <a:off x="6875859" y="5991820"/>
            <a:ext cx="1241227" cy="410766"/>
          </a:xfrm>
          <a:prstGeom prst="rect">
            <a:avLst/>
          </a:prstGeom>
          <a:noFill/>
          <a:ln w="0">
            <a:noFill/>
          </a:ln>
        </p:spPr>
        <p:txBody>
          <a:bodyPr wrap="none" lIns="0" tIns="0" rIns="0" bIns="0" anchor="ctr">
            <a:noAutofit/>
          </a:bodyPr>
          <a:lstStyle/>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Five worlds</a:t>
            </a:r>
            <a:endParaRPr sz="1350" b="0">
              <a:solidFill>
                <a:srgbClr val="0B2450"/>
              </a:solidFill>
              <a:latin typeface="Arial" panose="020B0604020202020204"/>
              <a:ea typeface="Arial" panose="020B0604020202020204"/>
              <a:cs typeface="Arial" panose="020B0604020202020204"/>
            </a:endParaRPr>
          </a:p>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per study block</a:t>
            </a:r>
            <a:endParaRPr sz="1350" b="0">
              <a:solidFill>
                <a:srgbClr val="0B2450"/>
              </a:solidFill>
              <a:latin typeface="Arial" panose="020B0604020202020204"/>
              <a:ea typeface="Arial" panose="020B0604020202020204"/>
              <a:cs typeface="Arial" panose="020B0604020202020204"/>
            </a:endParaRPr>
          </a:p>
        </p:txBody>
      </p:sp>
      <p:sp>
        <p:nvSpPr>
          <p:cNvPr id="80" name="矩形 79"/>
          <p:cNvSpPr>
            <a:spLocks noGrp="1"/>
          </p:cNvSpPr>
          <p:nvPr/>
        </p:nvSpPr>
        <p:spPr>
          <a:xfrm>
            <a:off x="8465344" y="142875"/>
            <a:ext cx="267891" cy="303609"/>
          </a:xfrm>
          <a:prstGeom prst="rect">
            <a:avLst/>
          </a:prstGeom>
          <a:solidFill>
            <a:srgbClr val="FFFFFF"/>
          </a:solidFill>
          <a:ln w="0">
            <a:noFill/>
          </a:ln>
        </p:spPr>
      </p:sp>
      <p:sp>
        <p:nvSpPr>
          <p:cNvPr id="81" name="矩形 80"/>
          <p:cNvSpPr>
            <a:spLocks noGrp="1"/>
          </p:cNvSpPr>
          <p:nvPr/>
        </p:nvSpPr>
        <p:spPr>
          <a:xfrm>
            <a:off x="8465344" y="142875"/>
            <a:ext cx="267891" cy="303609"/>
          </a:xfrm>
          <a:prstGeom prst="rect">
            <a:avLst/>
          </a:prstGeom>
          <a:noFill/>
          <a:ln w="0">
            <a:noFill/>
          </a:ln>
        </p:spPr>
        <p:txBody>
          <a:bodyPr wrap="none" lIns="0" tIns="0" rIns="0" bIns="0" anchor="ctr">
            <a:noAutofit/>
          </a:bodyPr>
          <a:lstStyle/>
          <a:p>
            <a:pPr algn="l">
              <a:defRPr sz="2250" b="1">
                <a:solidFill>
                  <a:srgbClr val="0B2450"/>
                </a:solidFill>
                <a:latin typeface="Arial" panose="020B0604020202020204"/>
                <a:ea typeface="Arial" panose="020B0604020202020204"/>
                <a:cs typeface="Arial" panose="020B0604020202020204"/>
              </a:defRPr>
            </a:pPr>
            <a:r>
              <a:rPr sz="2250" b="1">
                <a:solidFill>
                  <a:srgbClr val="0B2450"/>
                </a:solidFill>
                <a:latin typeface="Arial" panose="020B0604020202020204"/>
                <a:ea typeface="Arial" panose="020B0604020202020204"/>
                <a:cs typeface="Arial" panose="020B0604020202020204"/>
              </a:rPr>
              <a:t>c</a:t>
            </a:r>
            <a:endParaRPr sz="2250" b="1">
              <a:solidFill>
                <a:srgbClr val="0B2450"/>
              </a:solidFill>
              <a:latin typeface="Arial" panose="020B0604020202020204"/>
              <a:ea typeface="Arial" panose="020B0604020202020204"/>
              <a:cs typeface="Arial" panose="020B0604020202020204"/>
            </a:endParaRPr>
          </a:p>
        </p:txBody>
      </p:sp>
      <p:sp>
        <p:nvSpPr>
          <p:cNvPr id="82" name="矩形 81"/>
          <p:cNvSpPr>
            <a:spLocks noGrp="1"/>
          </p:cNvSpPr>
          <p:nvPr/>
        </p:nvSpPr>
        <p:spPr>
          <a:xfrm>
            <a:off x="8870752" y="137517"/>
            <a:ext cx="4564856" cy="314325"/>
          </a:xfrm>
          <a:prstGeom prst="rect">
            <a:avLst/>
          </a:prstGeom>
          <a:solidFill>
            <a:srgbClr val="FFFFFF"/>
          </a:solidFill>
          <a:ln w="0">
            <a:noFill/>
          </a:ln>
        </p:spPr>
      </p:sp>
      <p:sp>
        <p:nvSpPr>
          <p:cNvPr id="83" name="矩形 82"/>
          <p:cNvSpPr>
            <a:spLocks noGrp="1"/>
          </p:cNvSpPr>
          <p:nvPr/>
        </p:nvSpPr>
        <p:spPr>
          <a:xfrm>
            <a:off x="8885039" y="151805"/>
            <a:ext cx="4536281" cy="285750"/>
          </a:xfrm>
          <a:prstGeom prst="rect">
            <a:avLst/>
          </a:prstGeom>
          <a:noFill/>
          <a:ln w="0">
            <a:noFill/>
          </a:ln>
        </p:spPr>
        <p:txBody>
          <a:bodyPr wrap="none" lIns="0" tIns="0" rIns="0" bIns="0" anchor="ctr">
            <a:noAutofit/>
          </a:bodyPr>
          <a:lstStyle/>
          <a:p>
            <a:pPr algn="l">
              <a:defRPr sz="2025" b="1">
                <a:solidFill>
                  <a:srgbClr val="0B2450"/>
                </a:solidFill>
                <a:latin typeface="Arial" panose="020B0604020202020204"/>
                <a:ea typeface="Arial" panose="020B0604020202020204"/>
                <a:cs typeface="Arial" panose="020B0604020202020204"/>
              </a:defRPr>
            </a:pPr>
            <a:r>
              <a:rPr sz="2025" b="1">
                <a:solidFill>
                  <a:srgbClr val="0B2450"/>
                </a:solidFill>
                <a:latin typeface="Arial" panose="020B0604020202020204"/>
                <a:ea typeface="Arial" panose="020B0604020202020204"/>
                <a:cs typeface="Arial" panose="020B0604020202020204"/>
              </a:rPr>
              <a:t>Separate scientific outcomes</a:t>
            </a:r>
            <a:endParaRPr sz="2025" b="1">
              <a:solidFill>
                <a:srgbClr val="0B2450"/>
              </a:solidFill>
              <a:latin typeface="Arial" panose="020B0604020202020204"/>
              <a:ea typeface="Arial" panose="020B0604020202020204"/>
              <a:cs typeface="Arial" panose="020B0604020202020204"/>
            </a:endParaRPr>
          </a:p>
        </p:txBody>
      </p:sp>
      <p:sp>
        <p:nvSpPr>
          <p:cNvPr id="84" name="矩形 83"/>
          <p:cNvSpPr>
            <a:spLocks noGrp="1"/>
          </p:cNvSpPr>
          <p:nvPr/>
        </p:nvSpPr>
        <p:spPr>
          <a:xfrm>
            <a:off x="10683478" y="682228"/>
            <a:ext cx="1635919" cy="457200"/>
          </a:xfrm>
          <a:prstGeom prst="rect">
            <a:avLst/>
          </a:prstGeom>
          <a:solidFill>
            <a:srgbClr val="FFFFFF"/>
          </a:solidFill>
          <a:ln w="0">
            <a:noFill/>
          </a:ln>
        </p:spPr>
      </p:sp>
      <p:sp>
        <p:nvSpPr>
          <p:cNvPr id="85" name="矩形 84"/>
          <p:cNvSpPr>
            <a:spLocks noGrp="1"/>
          </p:cNvSpPr>
          <p:nvPr/>
        </p:nvSpPr>
        <p:spPr>
          <a:xfrm>
            <a:off x="10697766" y="696516"/>
            <a:ext cx="1607344" cy="428625"/>
          </a:xfrm>
          <a:prstGeom prst="rect">
            <a:avLst/>
          </a:prstGeom>
          <a:noFill/>
          <a:ln w="0">
            <a:noFill/>
          </a:ln>
        </p:spPr>
        <p:txBody>
          <a:bodyPr wrap="none" lIns="0" tIns="0" rIns="0" bIns="0" anchor="ctr">
            <a:noAutofit/>
          </a:bodyPr>
          <a:lstStyle/>
          <a:p>
            <a:pPr algn="l">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Full research</a:t>
            </a:r>
            <a:endParaRPr sz="1350" b="0">
              <a:solidFill>
                <a:srgbClr val="0B2450"/>
              </a:solidFill>
              <a:latin typeface="Arial" panose="020B0604020202020204"/>
              <a:ea typeface="Arial" panose="020B0604020202020204"/>
              <a:cs typeface="Arial" panose="020B0604020202020204"/>
            </a:endParaRPr>
          </a:p>
          <a:p>
            <a:pPr algn="l">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history</a:t>
            </a:r>
            <a:endParaRPr sz="1350" b="0">
              <a:solidFill>
                <a:srgbClr val="0B2450"/>
              </a:solidFill>
              <a:latin typeface="Arial" panose="020B0604020202020204"/>
              <a:ea typeface="Arial" panose="020B0604020202020204"/>
              <a:cs typeface="Arial" panose="020B0604020202020204"/>
            </a:endParaRPr>
          </a:p>
        </p:txBody>
      </p:sp>
      <p:sp>
        <p:nvSpPr>
          <p:cNvPr id="86" name="矩形 85"/>
          <p:cNvSpPr>
            <a:spLocks noGrp="1"/>
          </p:cNvSpPr>
          <p:nvPr/>
        </p:nvSpPr>
        <p:spPr>
          <a:xfrm>
            <a:off x="11522869" y="1092994"/>
            <a:ext cx="2010966" cy="269677"/>
          </a:xfrm>
          <a:prstGeom prst="rect">
            <a:avLst/>
          </a:prstGeom>
          <a:solidFill>
            <a:srgbClr val="FFFFFF"/>
          </a:solidFill>
          <a:ln w="0">
            <a:noFill/>
          </a:ln>
        </p:spPr>
      </p:sp>
      <p:sp>
        <p:nvSpPr>
          <p:cNvPr id="87" name="矩形 86"/>
          <p:cNvSpPr>
            <a:spLocks noGrp="1"/>
          </p:cNvSpPr>
          <p:nvPr/>
        </p:nvSpPr>
        <p:spPr>
          <a:xfrm>
            <a:off x="11537156" y="1107281"/>
            <a:ext cx="1982391" cy="241102"/>
          </a:xfrm>
          <a:prstGeom prst="rect">
            <a:avLst/>
          </a:prstGeom>
          <a:noFill/>
          <a:ln w="0">
            <a:noFill/>
          </a:ln>
        </p:spPr>
        <p:txBody>
          <a:bodyPr wrap="none" lIns="0" tIns="0" rIns="0" bIns="0" anchor="ctr">
            <a:noAutofit/>
          </a:bodyPr>
          <a:lstStyle/>
          <a:p>
            <a:pPr algn="ctr">
              <a:defRPr sz="1200" b="0">
                <a:solidFill>
                  <a:srgbClr val="0B2450"/>
                </a:solidFill>
                <a:latin typeface="Arial" panose="020B0604020202020204"/>
                <a:ea typeface="Arial" panose="020B0604020202020204"/>
                <a:cs typeface="Arial" panose="020B0604020202020204"/>
              </a:defRPr>
            </a:pPr>
            <a:r>
              <a:rPr sz="1200" b="0">
                <a:solidFill>
                  <a:srgbClr val="0B2450"/>
                </a:solidFill>
                <a:latin typeface="Arial" panose="020B0604020202020204"/>
                <a:ea typeface="Arial" panose="020B0604020202020204"/>
                <a:cs typeface="Arial" panose="020B0604020202020204"/>
              </a:rPr>
              <a:t>Full original context retained</a:t>
            </a:r>
            <a:endParaRPr sz="1200" b="0">
              <a:solidFill>
                <a:srgbClr val="0B2450"/>
              </a:solidFill>
              <a:latin typeface="Arial" panose="020B0604020202020204"/>
              <a:ea typeface="Arial" panose="020B0604020202020204"/>
              <a:cs typeface="Arial" panose="020B0604020202020204"/>
            </a:endParaRPr>
          </a:p>
        </p:txBody>
      </p:sp>
      <p:sp>
        <p:nvSpPr>
          <p:cNvPr id="88" name="矩形 87"/>
          <p:cNvSpPr>
            <a:spLocks noGrp="1"/>
          </p:cNvSpPr>
          <p:nvPr/>
        </p:nvSpPr>
        <p:spPr>
          <a:xfrm>
            <a:off x="8540353" y="1914525"/>
            <a:ext cx="2082403" cy="278606"/>
          </a:xfrm>
          <a:prstGeom prst="rect">
            <a:avLst/>
          </a:prstGeom>
          <a:solidFill>
            <a:srgbClr val="EFFAFA"/>
          </a:solidFill>
          <a:ln w="0">
            <a:noFill/>
          </a:ln>
        </p:spPr>
      </p:sp>
      <p:sp>
        <p:nvSpPr>
          <p:cNvPr id="89" name="矩形 88"/>
          <p:cNvSpPr>
            <a:spLocks noGrp="1"/>
          </p:cNvSpPr>
          <p:nvPr/>
        </p:nvSpPr>
        <p:spPr>
          <a:xfrm>
            <a:off x="8554641" y="1928813"/>
            <a:ext cx="2053828" cy="250031"/>
          </a:xfrm>
          <a:prstGeom prst="rect">
            <a:avLst/>
          </a:prstGeom>
          <a:noFill/>
          <a:ln w="0">
            <a:noFill/>
          </a:ln>
        </p:spPr>
        <p:txBody>
          <a:bodyPr wrap="none" lIns="0" tIns="0" rIns="0" bIns="0" anchor="ctr">
            <a:noAutofit/>
          </a:bodyPr>
          <a:lstStyle/>
          <a:p>
            <a:pPr algn="ctr">
              <a:defRPr sz="1350" b="0">
                <a:solidFill>
                  <a:srgbClr val="087B83"/>
                </a:solidFill>
                <a:latin typeface="Arial" panose="020B0604020202020204"/>
                <a:ea typeface="Arial" panose="020B0604020202020204"/>
                <a:cs typeface="Arial" panose="020B0604020202020204"/>
              </a:defRPr>
            </a:pPr>
            <a:r>
              <a:rPr sz="1350" b="0">
                <a:solidFill>
                  <a:srgbClr val="087B83"/>
                </a:solidFill>
                <a:latin typeface="Arial" panose="020B0604020202020204"/>
                <a:ea typeface="Arial" panose="020B0604020202020204"/>
                <a:cs typeface="Arial" panose="020B0604020202020204"/>
              </a:rPr>
              <a:t>Operational achievement</a:t>
            </a:r>
            <a:endParaRPr sz="1350" b="0">
              <a:solidFill>
                <a:srgbClr val="087B83"/>
              </a:solidFill>
              <a:latin typeface="Arial" panose="020B0604020202020204"/>
              <a:ea typeface="Arial" panose="020B0604020202020204"/>
              <a:cs typeface="Arial" panose="020B0604020202020204"/>
            </a:endParaRPr>
          </a:p>
        </p:txBody>
      </p:sp>
      <p:sp>
        <p:nvSpPr>
          <p:cNvPr id="90" name="矩形 89"/>
          <p:cNvSpPr>
            <a:spLocks noGrp="1"/>
          </p:cNvSpPr>
          <p:nvPr/>
        </p:nvSpPr>
        <p:spPr>
          <a:xfrm>
            <a:off x="8540353" y="2173486"/>
            <a:ext cx="2082403" cy="457200"/>
          </a:xfrm>
          <a:prstGeom prst="rect">
            <a:avLst/>
          </a:prstGeom>
          <a:solidFill>
            <a:srgbClr val="EFFAFA"/>
          </a:solidFill>
          <a:ln w="0">
            <a:noFill/>
          </a:ln>
        </p:spPr>
      </p:sp>
      <p:sp>
        <p:nvSpPr>
          <p:cNvPr id="91" name="矩形 90"/>
          <p:cNvSpPr>
            <a:spLocks noGrp="1"/>
          </p:cNvSpPr>
          <p:nvPr/>
        </p:nvSpPr>
        <p:spPr>
          <a:xfrm>
            <a:off x="8554641" y="2187773"/>
            <a:ext cx="2053828" cy="428625"/>
          </a:xfrm>
          <a:prstGeom prst="rect">
            <a:avLst/>
          </a:prstGeom>
          <a:noFill/>
          <a:ln w="0">
            <a:noFill/>
          </a:ln>
        </p:spPr>
        <p:txBody>
          <a:bodyPr wrap="none" lIns="0" tIns="0" rIns="0" bIns="0" anchor="ctr">
            <a:noAutofit/>
          </a:bodyPr>
          <a:lstStyle/>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Does the recommendation</a:t>
            </a:r>
            <a:endParaRPr sz="1350" b="0">
              <a:solidFill>
                <a:srgbClr val="0B2450"/>
              </a:solidFill>
              <a:latin typeface="Arial" panose="020B0604020202020204"/>
              <a:ea typeface="Arial" panose="020B0604020202020204"/>
              <a:cs typeface="Arial" panose="020B0604020202020204"/>
            </a:endParaRPr>
          </a:p>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meet the goal?</a:t>
            </a:r>
            <a:endParaRPr sz="1350" b="0">
              <a:solidFill>
                <a:srgbClr val="0B2450"/>
              </a:solidFill>
              <a:latin typeface="Arial" panose="020B0604020202020204"/>
              <a:ea typeface="Arial" panose="020B0604020202020204"/>
              <a:cs typeface="Arial" panose="020B0604020202020204"/>
            </a:endParaRPr>
          </a:p>
        </p:txBody>
      </p:sp>
      <p:sp>
        <p:nvSpPr>
          <p:cNvPr id="92" name="矩形 91"/>
          <p:cNvSpPr>
            <a:spLocks noGrp="1"/>
          </p:cNvSpPr>
          <p:nvPr/>
        </p:nvSpPr>
        <p:spPr>
          <a:xfrm>
            <a:off x="10799564" y="1914525"/>
            <a:ext cx="2698552" cy="278606"/>
          </a:xfrm>
          <a:prstGeom prst="rect">
            <a:avLst/>
          </a:prstGeom>
          <a:solidFill>
            <a:srgbClr val="EDF6FF"/>
          </a:solidFill>
          <a:ln w="0">
            <a:noFill/>
          </a:ln>
        </p:spPr>
      </p:sp>
      <p:sp>
        <p:nvSpPr>
          <p:cNvPr id="93" name="矩形 92"/>
          <p:cNvSpPr>
            <a:spLocks noGrp="1"/>
          </p:cNvSpPr>
          <p:nvPr/>
        </p:nvSpPr>
        <p:spPr>
          <a:xfrm>
            <a:off x="10813852" y="1928813"/>
            <a:ext cx="2669977" cy="250031"/>
          </a:xfrm>
          <a:prstGeom prst="rect">
            <a:avLst/>
          </a:prstGeom>
          <a:noFill/>
          <a:ln w="0">
            <a:noFill/>
          </a:ln>
        </p:spPr>
        <p:txBody>
          <a:bodyPr wrap="none" lIns="0" tIns="0" rIns="0" bIns="0" anchor="ctr">
            <a:noAutofit/>
          </a:bodyPr>
          <a:lstStyle/>
          <a:p>
            <a:pPr algn="ctr">
              <a:defRPr sz="1350" b="0">
                <a:solidFill>
                  <a:srgbClr val="005CED"/>
                </a:solidFill>
                <a:latin typeface="Arial" panose="020B0604020202020204"/>
                <a:ea typeface="Arial" panose="020B0604020202020204"/>
                <a:cs typeface="Arial" panose="020B0604020202020204"/>
              </a:defRPr>
            </a:pPr>
            <a:r>
              <a:rPr sz="1350" b="0">
                <a:solidFill>
                  <a:srgbClr val="005CED"/>
                </a:solidFill>
                <a:latin typeface="Arial" panose="020B0604020202020204"/>
                <a:ea typeface="Arial" panose="020B0604020202020204"/>
                <a:cs typeface="Arial" panose="020B0604020202020204"/>
              </a:rPr>
              <a:t>Predictive generalization</a:t>
            </a:r>
            <a:endParaRPr sz="1350" b="0">
              <a:solidFill>
                <a:srgbClr val="005CED"/>
              </a:solidFill>
              <a:latin typeface="Arial" panose="020B0604020202020204"/>
              <a:ea typeface="Arial" panose="020B0604020202020204"/>
              <a:cs typeface="Arial" panose="020B0604020202020204"/>
            </a:endParaRPr>
          </a:p>
        </p:txBody>
      </p:sp>
      <p:sp>
        <p:nvSpPr>
          <p:cNvPr id="94" name="矩形 93"/>
          <p:cNvSpPr>
            <a:spLocks noGrp="1"/>
          </p:cNvSpPr>
          <p:nvPr/>
        </p:nvSpPr>
        <p:spPr>
          <a:xfrm>
            <a:off x="10924580" y="2173486"/>
            <a:ext cx="2528888" cy="430411"/>
          </a:xfrm>
          <a:prstGeom prst="rect">
            <a:avLst/>
          </a:prstGeom>
          <a:solidFill>
            <a:srgbClr val="EDF6FF"/>
          </a:solidFill>
          <a:ln w="0">
            <a:noFill/>
          </a:ln>
        </p:spPr>
      </p:sp>
      <p:sp>
        <p:nvSpPr>
          <p:cNvPr id="95" name="矩形 94"/>
          <p:cNvSpPr>
            <a:spLocks noGrp="1"/>
          </p:cNvSpPr>
          <p:nvPr/>
        </p:nvSpPr>
        <p:spPr>
          <a:xfrm>
            <a:off x="10938867" y="2187773"/>
            <a:ext cx="2500313" cy="401836"/>
          </a:xfrm>
          <a:prstGeom prst="rect">
            <a:avLst/>
          </a:prstGeom>
          <a:noFill/>
          <a:ln w="0">
            <a:noFill/>
          </a:ln>
        </p:spPr>
        <p:txBody>
          <a:bodyPr wrap="none" lIns="0" tIns="0" rIns="0" bIns="0" anchor="ctr">
            <a:noAutofit/>
          </a:bodyPr>
          <a:lstStyle/>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Do learned relationships hold</a:t>
            </a:r>
            <a:endParaRPr sz="1350" b="0">
              <a:solidFill>
                <a:srgbClr val="0B2450"/>
              </a:solidFill>
              <a:latin typeface="Arial" panose="020B0604020202020204"/>
              <a:ea typeface="Arial" panose="020B0604020202020204"/>
              <a:cs typeface="Arial" panose="020B0604020202020204"/>
            </a:endParaRPr>
          </a:p>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under new conditions?</a:t>
            </a:r>
            <a:endParaRPr sz="1350" b="0">
              <a:solidFill>
                <a:srgbClr val="0B2450"/>
              </a:solidFill>
              <a:latin typeface="Arial" panose="020B0604020202020204"/>
              <a:ea typeface="Arial" panose="020B0604020202020204"/>
              <a:cs typeface="Arial" panose="020B0604020202020204"/>
            </a:endParaRPr>
          </a:p>
        </p:txBody>
      </p:sp>
      <p:sp>
        <p:nvSpPr>
          <p:cNvPr id="96" name="矩形 95"/>
          <p:cNvSpPr>
            <a:spLocks noGrp="1"/>
          </p:cNvSpPr>
          <p:nvPr/>
        </p:nvSpPr>
        <p:spPr>
          <a:xfrm>
            <a:off x="8513564" y="3548658"/>
            <a:ext cx="1046559" cy="457200"/>
          </a:xfrm>
          <a:prstGeom prst="rect">
            <a:avLst/>
          </a:prstGeom>
          <a:solidFill>
            <a:srgbClr val="EFFAFA"/>
          </a:solidFill>
          <a:ln w="0">
            <a:noFill/>
          </a:ln>
        </p:spPr>
      </p:sp>
      <p:sp>
        <p:nvSpPr>
          <p:cNvPr id="97" name="矩形 96"/>
          <p:cNvSpPr>
            <a:spLocks noGrp="1"/>
          </p:cNvSpPr>
          <p:nvPr/>
        </p:nvSpPr>
        <p:spPr>
          <a:xfrm>
            <a:off x="8527852" y="3562945"/>
            <a:ext cx="1017984" cy="428625"/>
          </a:xfrm>
          <a:prstGeom prst="rect">
            <a:avLst/>
          </a:prstGeom>
          <a:noFill/>
          <a:ln w="0">
            <a:noFill/>
          </a:ln>
        </p:spPr>
        <p:txBody>
          <a:bodyPr wrap="none" lIns="0" tIns="0" rIns="0" bIns="0" anchor="ctr">
            <a:noAutofit/>
          </a:bodyPr>
          <a:lstStyle/>
          <a:p>
            <a:pPr algn="ctr">
              <a:defRPr sz="1050" b="0">
                <a:solidFill>
                  <a:srgbClr val="0B2450"/>
                </a:solidFill>
                <a:latin typeface="Arial" panose="020B0604020202020204"/>
                <a:ea typeface="Arial" panose="020B0604020202020204"/>
                <a:cs typeface="Arial" panose="020B0604020202020204"/>
              </a:defRPr>
            </a:pPr>
            <a:r>
              <a:rPr sz="1050" b="0">
                <a:solidFill>
                  <a:srgbClr val="0B2450"/>
                </a:solidFill>
                <a:latin typeface="Arial" panose="020B0604020202020204"/>
                <a:ea typeface="Arial" panose="020B0604020202020204"/>
                <a:cs typeface="Arial" panose="020B0604020202020204"/>
              </a:rPr>
              <a:t>Seal</a:t>
            </a:r>
            <a:endParaRPr sz="1050" b="0">
              <a:solidFill>
                <a:srgbClr val="0B2450"/>
              </a:solidFill>
              <a:latin typeface="Arial" panose="020B0604020202020204"/>
              <a:ea typeface="Arial" panose="020B0604020202020204"/>
              <a:cs typeface="Arial" panose="020B0604020202020204"/>
            </a:endParaRPr>
          </a:p>
          <a:p>
            <a:pPr algn="ctr">
              <a:defRPr sz="1050" b="0">
                <a:solidFill>
                  <a:srgbClr val="0B2450"/>
                </a:solidFill>
                <a:latin typeface="Arial" panose="020B0604020202020204"/>
                <a:ea typeface="Arial" panose="020B0604020202020204"/>
                <a:cs typeface="Arial" panose="020B0604020202020204"/>
              </a:defRPr>
            </a:pPr>
            <a:r>
              <a:rPr sz="1050" b="0">
                <a:solidFill>
                  <a:srgbClr val="0B2450"/>
                </a:solidFill>
                <a:latin typeface="Arial" panose="020B0604020202020204"/>
                <a:ea typeface="Arial" panose="020B0604020202020204"/>
                <a:cs typeface="Arial" panose="020B0604020202020204"/>
              </a:rPr>
              <a:t>recommendation</a:t>
            </a:r>
            <a:endParaRPr sz="1050" b="0">
              <a:solidFill>
                <a:srgbClr val="0B2450"/>
              </a:solidFill>
              <a:latin typeface="Arial" panose="020B0604020202020204"/>
              <a:ea typeface="Arial" panose="020B0604020202020204"/>
              <a:cs typeface="Arial" panose="020B0604020202020204"/>
            </a:endParaRPr>
          </a:p>
        </p:txBody>
      </p:sp>
      <p:sp>
        <p:nvSpPr>
          <p:cNvPr id="98" name="矩形 97"/>
          <p:cNvSpPr>
            <a:spLocks noGrp="1"/>
          </p:cNvSpPr>
          <p:nvPr/>
        </p:nvSpPr>
        <p:spPr>
          <a:xfrm>
            <a:off x="9602986" y="3548658"/>
            <a:ext cx="1001911" cy="457200"/>
          </a:xfrm>
          <a:prstGeom prst="rect">
            <a:avLst/>
          </a:prstGeom>
          <a:solidFill>
            <a:srgbClr val="EFFAFA"/>
          </a:solidFill>
          <a:ln w="0">
            <a:noFill/>
          </a:ln>
        </p:spPr>
      </p:sp>
      <p:sp>
        <p:nvSpPr>
          <p:cNvPr id="99" name="矩形 98"/>
          <p:cNvSpPr>
            <a:spLocks noGrp="1"/>
          </p:cNvSpPr>
          <p:nvPr/>
        </p:nvSpPr>
        <p:spPr>
          <a:xfrm>
            <a:off x="9617273" y="3562945"/>
            <a:ext cx="973336" cy="428625"/>
          </a:xfrm>
          <a:prstGeom prst="rect">
            <a:avLst/>
          </a:prstGeom>
          <a:noFill/>
          <a:ln w="0">
            <a:noFill/>
          </a:ln>
        </p:spPr>
        <p:txBody>
          <a:bodyPr wrap="none" lIns="0" tIns="0" rIns="0" bIns="0" anchor="ctr">
            <a:noAutofit/>
          </a:bodyPr>
          <a:lstStyle/>
          <a:p>
            <a:pPr algn="ctr">
              <a:defRPr sz="1200" b="0">
                <a:solidFill>
                  <a:srgbClr val="0B2450"/>
                </a:solidFill>
                <a:latin typeface="Arial" panose="020B0604020202020204"/>
                <a:ea typeface="Arial" panose="020B0604020202020204"/>
                <a:cs typeface="Arial" panose="020B0604020202020204"/>
              </a:defRPr>
            </a:pPr>
            <a:r>
              <a:rPr sz="1200" b="0">
                <a:solidFill>
                  <a:srgbClr val="0B2450"/>
                </a:solidFill>
                <a:latin typeface="Arial" panose="020B0604020202020204"/>
                <a:ea typeface="Arial" panose="020B0604020202020204"/>
                <a:cs typeface="Arial" panose="020B0604020202020204"/>
              </a:rPr>
              <a:t>Independent</a:t>
            </a:r>
            <a:endParaRPr sz="1200" b="0">
              <a:solidFill>
                <a:srgbClr val="0B2450"/>
              </a:solidFill>
              <a:latin typeface="Arial" panose="020B0604020202020204"/>
              <a:ea typeface="Arial" panose="020B0604020202020204"/>
              <a:cs typeface="Arial" panose="020B0604020202020204"/>
            </a:endParaRPr>
          </a:p>
          <a:p>
            <a:pPr algn="ctr">
              <a:defRPr sz="1200" b="0">
                <a:solidFill>
                  <a:srgbClr val="0B2450"/>
                </a:solidFill>
                <a:latin typeface="Arial" panose="020B0604020202020204"/>
                <a:ea typeface="Arial" panose="020B0604020202020204"/>
                <a:cs typeface="Arial" panose="020B0604020202020204"/>
              </a:defRPr>
            </a:pPr>
            <a:r>
              <a:rPr sz="1200" b="0">
                <a:solidFill>
                  <a:srgbClr val="0B2450"/>
                </a:solidFill>
                <a:latin typeface="Arial" panose="020B0604020202020204"/>
                <a:ea typeface="Arial" panose="020B0604020202020204"/>
                <a:cs typeface="Arial" panose="020B0604020202020204"/>
              </a:rPr>
              <a:t>retest</a:t>
            </a:r>
            <a:endParaRPr sz="1200" b="0">
              <a:solidFill>
                <a:srgbClr val="0B2450"/>
              </a:solidFill>
              <a:latin typeface="Arial" panose="020B0604020202020204"/>
              <a:ea typeface="Arial" panose="020B0604020202020204"/>
              <a:cs typeface="Arial" panose="020B0604020202020204"/>
            </a:endParaRPr>
          </a:p>
        </p:txBody>
      </p:sp>
      <p:sp>
        <p:nvSpPr>
          <p:cNvPr id="100" name="矩形 99"/>
          <p:cNvSpPr>
            <a:spLocks noGrp="1"/>
          </p:cNvSpPr>
          <p:nvPr/>
        </p:nvSpPr>
        <p:spPr>
          <a:xfrm>
            <a:off x="9210080" y="4057650"/>
            <a:ext cx="1305520" cy="251817"/>
          </a:xfrm>
          <a:prstGeom prst="rect">
            <a:avLst/>
          </a:prstGeom>
          <a:solidFill>
            <a:srgbClr val="EFFAFA"/>
          </a:solidFill>
          <a:ln w="0">
            <a:noFill/>
          </a:ln>
        </p:spPr>
      </p:sp>
      <p:sp>
        <p:nvSpPr>
          <p:cNvPr id="101" name="矩形 100"/>
          <p:cNvSpPr>
            <a:spLocks noGrp="1"/>
          </p:cNvSpPr>
          <p:nvPr/>
        </p:nvSpPr>
        <p:spPr>
          <a:xfrm>
            <a:off x="9224367" y="4071938"/>
            <a:ext cx="1276945" cy="223242"/>
          </a:xfrm>
          <a:prstGeom prst="rect">
            <a:avLst/>
          </a:prstGeom>
          <a:noFill/>
          <a:ln w="0">
            <a:noFill/>
          </a:ln>
        </p:spPr>
        <p:txBody>
          <a:bodyPr wrap="none" lIns="0" tIns="0" rIns="0" bIns="0" anchor="ctr">
            <a:noAutofit/>
          </a:bodyPr>
          <a:lstStyle/>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When required</a:t>
            </a:r>
            <a:endParaRPr sz="1350" b="0">
              <a:solidFill>
                <a:srgbClr val="0B2450"/>
              </a:solidFill>
              <a:latin typeface="Arial" panose="020B0604020202020204"/>
              <a:ea typeface="Arial" panose="020B0604020202020204"/>
              <a:cs typeface="Arial" panose="020B0604020202020204"/>
            </a:endParaRPr>
          </a:p>
        </p:txBody>
      </p:sp>
      <p:sp>
        <p:nvSpPr>
          <p:cNvPr id="102" name="矩形 101"/>
          <p:cNvSpPr>
            <a:spLocks noGrp="1"/>
          </p:cNvSpPr>
          <p:nvPr/>
        </p:nvSpPr>
        <p:spPr>
          <a:xfrm>
            <a:off x="10781705" y="3459361"/>
            <a:ext cx="725091" cy="626864"/>
          </a:xfrm>
          <a:prstGeom prst="rect">
            <a:avLst/>
          </a:prstGeom>
          <a:solidFill>
            <a:srgbClr val="EDF6FF"/>
          </a:solidFill>
          <a:ln w="0">
            <a:noFill/>
          </a:ln>
        </p:spPr>
      </p:sp>
      <p:sp>
        <p:nvSpPr>
          <p:cNvPr id="103" name="矩形 102"/>
          <p:cNvSpPr>
            <a:spLocks noGrp="1"/>
          </p:cNvSpPr>
          <p:nvPr/>
        </p:nvSpPr>
        <p:spPr>
          <a:xfrm>
            <a:off x="10795992" y="3473648"/>
            <a:ext cx="696516" cy="598289"/>
          </a:xfrm>
          <a:prstGeom prst="rect">
            <a:avLst/>
          </a:prstGeom>
          <a:noFill/>
          <a:ln w="0">
            <a:noFill/>
          </a:ln>
        </p:spPr>
        <p:txBody>
          <a:bodyPr wrap="none" lIns="0" tIns="0" rIns="0" bIns="0" anchor="ctr">
            <a:noAutofit/>
          </a:bodyPr>
          <a:lstStyle/>
          <a:p>
            <a:pPr algn="ctr">
              <a:defRPr sz="1200" b="0">
                <a:solidFill>
                  <a:srgbClr val="0B2450"/>
                </a:solidFill>
                <a:latin typeface="Arial" panose="020B0604020202020204"/>
                <a:ea typeface="Arial" panose="020B0604020202020204"/>
                <a:cs typeface="Arial" panose="020B0604020202020204"/>
              </a:defRPr>
            </a:pPr>
            <a:r>
              <a:rPr sz="1200" b="0">
                <a:solidFill>
                  <a:srgbClr val="0B2450"/>
                </a:solidFill>
                <a:latin typeface="Arial" panose="020B0604020202020204"/>
                <a:ea typeface="Arial" panose="020B0604020202020204"/>
                <a:cs typeface="Arial" panose="020B0604020202020204"/>
              </a:rPr>
              <a:t>Scientific</a:t>
            </a:r>
            <a:endParaRPr sz="1200" b="0">
              <a:solidFill>
                <a:srgbClr val="0B2450"/>
              </a:solidFill>
              <a:latin typeface="Arial" panose="020B0604020202020204"/>
              <a:ea typeface="Arial" panose="020B0604020202020204"/>
              <a:cs typeface="Arial" panose="020B0604020202020204"/>
            </a:endParaRPr>
          </a:p>
          <a:p>
            <a:pPr algn="ctr">
              <a:defRPr sz="1200" b="0">
                <a:solidFill>
                  <a:srgbClr val="0B2450"/>
                </a:solidFill>
                <a:latin typeface="Arial" panose="020B0604020202020204"/>
                <a:ea typeface="Arial" panose="020B0604020202020204"/>
                <a:cs typeface="Arial" panose="020B0604020202020204"/>
              </a:defRPr>
            </a:pPr>
            <a:r>
              <a:rPr sz="1200" b="0">
                <a:solidFill>
                  <a:srgbClr val="0B2450"/>
                </a:solidFill>
                <a:latin typeface="Arial" panose="020B0604020202020204"/>
                <a:ea typeface="Arial" panose="020B0604020202020204"/>
                <a:cs typeface="Arial" panose="020B0604020202020204"/>
              </a:rPr>
              <a:t>account</a:t>
            </a:r>
            <a:endParaRPr sz="1200" b="0">
              <a:solidFill>
                <a:srgbClr val="0B2450"/>
              </a:solidFill>
              <a:latin typeface="Arial" panose="020B0604020202020204"/>
              <a:ea typeface="Arial" panose="020B0604020202020204"/>
              <a:cs typeface="Arial" panose="020B0604020202020204"/>
            </a:endParaRPr>
          </a:p>
          <a:p>
            <a:pPr algn="ctr">
              <a:defRPr sz="1200" b="0">
                <a:solidFill>
                  <a:srgbClr val="0B2450"/>
                </a:solidFill>
                <a:latin typeface="Arial" panose="020B0604020202020204"/>
                <a:ea typeface="Arial" panose="020B0604020202020204"/>
                <a:cs typeface="Arial" panose="020B0604020202020204"/>
              </a:defRPr>
            </a:pPr>
            <a:r>
              <a:rPr sz="1200" b="0">
                <a:solidFill>
                  <a:srgbClr val="0B2450"/>
                </a:solidFill>
                <a:latin typeface="Arial" panose="020B0604020202020204"/>
                <a:ea typeface="Arial" panose="020B0604020202020204"/>
                <a:cs typeface="Arial" panose="020B0604020202020204"/>
              </a:rPr>
              <a:t>(K1)</a:t>
            </a:r>
            <a:endParaRPr sz="1200" b="0">
              <a:solidFill>
                <a:srgbClr val="0B2450"/>
              </a:solidFill>
              <a:latin typeface="Arial" panose="020B0604020202020204"/>
              <a:ea typeface="Arial" panose="020B0604020202020204"/>
              <a:cs typeface="Arial" panose="020B0604020202020204"/>
            </a:endParaRPr>
          </a:p>
        </p:txBody>
      </p:sp>
      <p:sp>
        <p:nvSpPr>
          <p:cNvPr id="104" name="矩形 103"/>
          <p:cNvSpPr>
            <a:spLocks noGrp="1"/>
          </p:cNvSpPr>
          <p:nvPr/>
        </p:nvSpPr>
        <p:spPr>
          <a:xfrm>
            <a:off x="11576447" y="3459361"/>
            <a:ext cx="1055489" cy="626864"/>
          </a:xfrm>
          <a:prstGeom prst="rect">
            <a:avLst/>
          </a:prstGeom>
          <a:solidFill>
            <a:srgbClr val="EDF6FF"/>
          </a:solidFill>
          <a:ln w="0">
            <a:noFill/>
          </a:ln>
        </p:spPr>
      </p:sp>
      <p:sp>
        <p:nvSpPr>
          <p:cNvPr id="105" name="矩形 104"/>
          <p:cNvSpPr>
            <a:spLocks noGrp="1"/>
          </p:cNvSpPr>
          <p:nvPr/>
        </p:nvSpPr>
        <p:spPr>
          <a:xfrm>
            <a:off x="11590734" y="3473648"/>
            <a:ext cx="1026914" cy="598289"/>
          </a:xfrm>
          <a:prstGeom prst="rect">
            <a:avLst/>
          </a:prstGeom>
          <a:noFill/>
          <a:ln w="0">
            <a:noFill/>
          </a:ln>
        </p:spPr>
        <p:txBody>
          <a:bodyPr wrap="none" lIns="0" tIns="0" rIns="0" bIns="0" anchor="ctr">
            <a:noAutofit/>
          </a:bodyPr>
          <a:lstStyle/>
          <a:p>
            <a:pPr algn="ctr">
              <a:defRPr sz="1200" b="0">
                <a:solidFill>
                  <a:srgbClr val="0B2450"/>
                </a:solidFill>
                <a:latin typeface="Arial" panose="020B0604020202020204"/>
                <a:ea typeface="Arial" panose="020B0604020202020204"/>
                <a:cs typeface="Arial" panose="020B0604020202020204"/>
              </a:defRPr>
            </a:pPr>
            <a:r>
              <a:rPr sz="1200" b="0">
                <a:solidFill>
                  <a:srgbClr val="0B2450"/>
                </a:solidFill>
                <a:latin typeface="Arial" panose="020B0604020202020204"/>
                <a:ea typeface="Arial" panose="020B0604020202020204"/>
                <a:cs typeface="Arial" panose="020B0604020202020204"/>
              </a:rPr>
              <a:t>New-condition</a:t>
            </a:r>
            <a:endParaRPr sz="1200" b="0">
              <a:solidFill>
                <a:srgbClr val="0B2450"/>
              </a:solidFill>
              <a:latin typeface="Arial" panose="020B0604020202020204"/>
              <a:ea typeface="Arial" panose="020B0604020202020204"/>
              <a:cs typeface="Arial" panose="020B0604020202020204"/>
            </a:endParaRPr>
          </a:p>
          <a:p>
            <a:pPr algn="ctr">
              <a:defRPr sz="1200" b="0">
                <a:solidFill>
                  <a:srgbClr val="0B2450"/>
                </a:solidFill>
                <a:latin typeface="Arial" panose="020B0604020202020204"/>
                <a:ea typeface="Arial" panose="020B0604020202020204"/>
                <a:cs typeface="Arial" panose="020B0604020202020204"/>
              </a:defRPr>
            </a:pPr>
            <a:r>
              <a:rPr sz="1200" b="0">
                <a:solidFill>
                  <a:srgbClr val="0B2450"/>
                </a:solidFill>
                <a:latin typeface="Arial" panose="020B0604020202020204"/>
                <a:ea typeface="Arial" panose="020B0604020202020204"/>
                <a:cs typeface="Arial" panose="020B0604020202020204"/>
              </a:rPr>
              <a:t>predictions</a:t>
            </a:r>
            <a:endParaRPr sz="1200" b="0">
              <a:solidFill>
                <a:srgbClr val="0B2450"/>
              </a:solidFill>
              <a:latin typeface="Arial" panose="020B0604020202020204"/>
              <a:ea typeface="Arial" panose="020B0604020202020204"/>
              <a:cs typeface="Arial" panose="020B0604020202020204"/>
            </a:endParaRPr>
          </a:p>
          <a:p>
            <a:pPr algn="ctr">
              <a:defRPr sz="1200" b="0">
                <a:solidFill>
                  <a:srgbClr val="0B2450"/>
                </a:solidFill>
                <a:latin typeface="Arial" panose="020B0604020202020204"/>
                <a:ea typeface="Arial" panose="020B0604020202020204"/>
                <a:cs typeface="Arial" panose="020B0604020202020204"/>
              </a:defRPr>
            </a:pPr>
            <a:r>
              <a:rPr sz="1200" b="0">
                <a:solidFill>
                  <a:srgbClr val="0B2450"/>
                </a:solidFill>
                <a:latin typeface="Arial" panose="020B0604020202020204"/>
                <a:ea typeface="Arial" panose="020B0604020202020204"/>
                <a:cs typeface="Arial" panose="020B0604020202020204"/>
              </a:rPr>
              <a:t>(Q)</a:t>
            </a:r>
            <a:endParaRPr sz="1200" b="0">
              <a:solidFill>
                <a:srgbClr val="0B2450"/>
              </a:solidFill>
              <a:latin typeface="Arial" panose="020B0604020202020204"/>
              <a:ea typeface="Arial" panose="020B0604020202020204"/>
              <a:cs typeface="Arial" panose="020B0604020202020204"/>
            </a:endParaRPr>
          </a:p>
        </p:txBody>
      </p:sp>
      <p:sp>
        <p:nvSpPr>
          <p:cNvPr id="106" name="矩形 105"/>
          <p:cNvSpPr>
            <a:spLocks noGrp="1"/>
          </p:cNvSpPr>
          <p:nvPr/>
        </p:nvSpPr>
        <p:spPr>
          <a:xfrm>
            <a:off x="12639080" y="3459361"/>
            <a:ext cx="912614" cy="626864"/>
          </a:xfrm>
          <a:prstGeom prst="rect">
            <a:avLst/>
          </a:prstGeom>
          <a:solidFill>
            <a:srgbClr val="EDF6FF"/>
          </a:solidFill>
          <a:ln w="0">
            <a:noFill/>
          </a:ln>
        </p:spPr>
      </p:sp>
      <p:sp>
        <p:nvSpPr>
          <p:cNvPr id="107" name="矩形 106"/>
          <p:cNvSpPr>
            <a:spLocks noGrp="1"/>
          </p:cNvSpPr>
          <p:nvPr/>
        </p:nvSpPr>
        <p:spPr>
          <a:xfrm>
            <a:off x="12653367" y="3473648"/>
            <a:ext cx="884039" cy="598289"/>
          </a:xfrm>
          <a:prstGeom prst="rect">
            <a:avLst/>
          </a:prstGeom>
          <a:noFill/>
          <a:ln w="0">
            <a:noFill/>
          </a:ln>
        </p:spPr>
        <p:txBody>
          <a:bodyPr wrap="none" lIns="0" tIns="0" rIns="0" bIns="0" anchor="ctr">
            <a:noAutofit/>
          </a:bodyPr>
          <a:lstStyle/>
          <a:p>
            <a:pPr algn="ctr">
              <a:defRPr sz="1050" b="0">
                <a:solidFill>
                  <a:srgbClr val="0B2450"/>
                </a:solidFill>
                <a:latin typeface="Arial" panose="020B0604020202020204"/>
                <a:ea typeface="Arial" panose="020B0604020202020204"/>
                <a:cs typeface="Arial" panose="020B0604020202020204"/>
              </a:defRPr>
            </a:pPr>
            <a:r>
              <a:rPr sz="1050" b="0">
                <a:solidFill>
                  <a:srgbClr val="0B2450"/>
                </a:solidFill>
                <a:latin typeface="Arial" panose="020B0604020202020204"/>
                <a:ea typeface="Arial" panose="020B0604020202020204"/>
                <a:cs typeface="Arial" panose="020B0604020202020204"/>
              </a:rPr>
              <a:t>Retrospective</a:t>
            </a:r>
            <a:endParaRPr sz="1050" b="0">
              <a:solidFill>
                <a:srgbClr val="0B2450"/>
              </a:solidFill>
              <a:latin typeface="Arial" panose="020B0604020202020204"/>
              <a:ea typeface="Arial" panose="020B0604020202020204"/>
              <a:cs typeface="Arial" panose="020B0604020202020204"/>
            </a:endParaRPr>
          </a:p>
          <a:p>
            <a:pPr algn="ctr">
              <a:defRPr sz="1050" b="0">
                <a:solidFill>
                  <a:srgbClr val="0B2450"/>
                </a:solidFill>
                <a:latin typeface="Arial" panose="020B0604020202020204"/>
                <a:ea typeface="Arial" panose="020B0604020202020204"/>
                <a:cs typeface="Arial" panose="020B0604020202020204"/>
              </a:defRPr>
            </a:pPr>
            <a:r>
              <a:rPr sz="1050" b="0">
                <a:solidFill>
                  <a:srgbClr val="0B2450"/>
                </a:solidFill>
                <a:latin typeface="Arial" panose="020B0604020202020204"/>
                <a:ea typeface="Arial" panose="020B0604020202020204"/>
                <a:cs typeface="Arial" panose="020B0604020202020204"/>
              </a:rPr>
              <a:t>questions</a:t>
            </a:r>
            <a:endParaRPr sz="1050" b="0">
              <a:solidFill>
                <a:srgbClr val="0B2450"/>
              </a:solidFill>
              <a:latin typeface="Arial" panose="020B0604020202020204"/>
              <a:ea typeface="Arial" panose="020B0604020202020204"/>
              <a:cs typeface="Arial" panose="020B0604020202020204"/>
            </a:endParaRPr>
          </a:p>
          <a:p>
            <a:pPr algn="ctr">
              <a:defRPr sz="1050" b="0">
                <a:solidFill>
                  <a:srgbClr val="0B2450"/>
                </a:solidFill>
                <a:latin typeface="Arial" panose="020B0604020202020204"/>
                <a:ea typeface="Arial" panose="020B0604020202020204"/>
                <a:cs typeface="Arial" panose="020B0604020202020204"/>
              </a:defRPr>
            </a:pPr>
            <a:r>
              <a:rPr sz="1050" b="0">
                <a:solidFill>
                  <a:srgbClr val="0B2450"/>
                </a:solidFill>
                <a:latin typeface="Arial" panose="020B0604020202020204"/>
                <a:ea typeface="Arial" panose="020B0604020202020204"/>
                <a:cs typeface="Arial" panose="020B0604020202020204"/>
              </a:rPr>
              <a:t>(K2)</a:t>
            </a:r>
            <a:endParaRPr sz="1050" b="0">
              <a:solidFill>
                <a:srgbClr val="0B2450"/>
              </a:solidFill>
              <a:latin typeface="Arial" panose="020B0604020202020204"/>
              <a:ea typeface="Arial" panose="020B0604020202020204"/>
              <a:cs typeface="Arial" panose="020B0604020202020204"/>
            </a:endParaRPr>
          </a:p>
        </p:txBody>
      </p:sp>
      <p:sp>
        <p:nvSpPr>
          <p:cNvPr id="108" name="矩形 107"/>
          <p:cNvSpPr>
            <a:spLocks noGrp="1"/>
          </p:cNvSpPr>
          <p:nvPr/>
        </p:nvSpPr>
        <p:spPr>
          <a:xfrm>
            <a:off x="11031736" y="4236244"/>
            <a:ext cx="2394942" cy="278606"/>
          </a:xfrm>
          <a:prstGeom prst="rect">
            <a:avLst/>
          </a:prstGeom>
          <a:solidFill>
            <a:srgbClr val="EDF6FF"/>
          </a:solidFill>
          <a:ln w="0">
            <a:noFill/>
          </a:ln>
        </p:spPr>
      </p:sp>
      <p:sp>
        <p:nvSpPr>
          <p:cNvPr id="109" name="矩形 108"/>
          <p:cNvSpPr>
            <a:spLocks noGrp="1"/>
          </p:cNvSpPr>
          <p:nvPr/>
        </p:nvSpPr>
        <p:spPr>
          <a:xfrm>
            <a:off x="11046023" y="4250531"/>
            <a:ext cx="2366367" cy="250031"/>
          </a:xfrm>
          <a:prstGeom prst="rect">
            <a:avLst/>
          </a:prstGeom>
          <a:noFill/>
          <a:ln w="0">
            <a:noFill/>
          </a:ln>
        </p:spPr>
        <p:txBody>
          <a:bodyPr wrap="none" lIns="0" tIns="0" rIns="0" bIns="0" anchor="ctr">
            <a:noAutofit/>
          </a:bodyPr>
          <a:lstStyle/>
          <a:p>
            <a:pPr algn="ctr">
              <a:defRPr sz="1200" b="0">
                <a:solidFill>
                  <a:srgbClr val="0B2450"/>
                </a:solidFill>
                <a:latin typeface="Arial" panose="020B0604020202020204"/>
                <a:ea typeface="Arial" panose="020B0604020202020204"/>
                <a:cs typeface="Arial" panose="020B0604020202020204"/>
              </a:defRPr>
            </a:pPr>
            <a:r>
              <a:rPr sz="1200" b="0">
                <a:solidFill>
                  <a:srgbClr val="0B2450"/>
                </a:solidFill>
                <a:latin typeface="Arial" panose="020B0604020202020204"/>
                <a:ea typeface="Arial" panose="020B0604020202020204"/>
                <a:cs typeface="Arial" panose="020B0604020202020204"/>
              </a:rPr>
              <a:t>No truth feedback before reflection</a:t>
            </a:r>
            <a:endParaRPr sz="1200" b="0">
              <a:solidFill>
                <a:srgbClr val="0B2450"/>
              </a:solidFill>
              <a:latin typeface="Arial" panose="020B0604020202020204"/>
              <a:ea typeface="Arial" panose="020B0604020202020204"/>
              <a:cs typeface="Arial" panose="020B0604020202020204"/>
            </a:endParaRPr>
          </a:p>
        </p:txBody>
      </p:sp>
      <p:sp>
        <p:nvSpPr>
          <p:cNvPr id="110" name="矩形 109"/>
          <p:cNvSpPr>
            <a:spLocks noGrp="1"/>
          </p:cNvSpPr>
          <p:nvPr/>
        </p:nvSpPr>
        <p:spPr>
          <a:xfrm>
            <a:off x="10960298" y="4486275"/>
            <a:ext cx="2555677" cy="251817"/>
          </a:xfrm>
          <a:prstGeom prst="rect">
            <a:avLst/>
          </a:prstGeom>
          <a:solidFill>
            <a:srgbClr val="EDF6FF"/>
          </a:solidFill>
          <a:ln w="0">
            <a:noFill/>
          </a:ln>
        </p:spPr>
      </p:sp>
      <p:sp>
        <p:nvSpPr>
          <p:cNvPr id="111" name="矩形 110"/>
          <p:cNvSpPr>
            <a:spLocks noGrp="1"/>
          </p:cNvSpPr>
          <p:nvPr/>
        </p:nvSpPr>
        <p:spPr>
          <a:xfrm>
            <a:off x="10974586" y="4500563"/>
            <a:ext cx="2527102" cy="223242"/>
          </a:xfrm>
          <a:prstGeom prst="rect">
            <a:avLst/>
          </a:prstGeom>
          <a:noFill/>
          <a:ln w="0">
            <a:noFill/>
          </a:ln>
        </p:spPr>
        <p:txBody>
          <a:bodyPr wrap="none" lIns="0" tIns="0" rIns="0" bIns="0" anchor="ctr">
            <a:noAutofit/>
          </a:bodyPr>
          <a:lstStyle/>
          <a:p>
            <a:pPr algn="ctr">
              <a:defRPr sz="1200" b="0">
                <a:solidFill>
                  <a:srgbClr val="0B2450"/>
                </a:solidFill>
                <a:latin typeface="Arial" panose="020B0604020202020204"/>
                <a:ea typeface="Arial" panose="020B0604020202020204"/>
                <a:cs typeface="Arial" panose="020B0604020202020204"/>
              </a:defRPr>
            </a:pPr>
            <a:r>
              <a:rPr sz="1200" b="0">
                <a:solidFill>
                  <a:srgbClr val="0B2450"/>
                </a:solidFill>
                <a:latin typeface="Arial" panose="020B0604020202020204"/>
                <a:ea typeface="Arial" panose="020B0604020202020204"/>
                <a:cs typeface="Arial" panose="020B0604020202020204"/>
              </a:rPr>
              <a:t>(K2 follows Q; K2 cannot change Q)</a:t>
            </a:r>
            <a:endParaRPr sz="1200" b="0">
              <a:solidFill>
                <a:srgbClr val="0B2450"/>
              </a:solidFill>
              <a:latin typeface="Arial" panose="020B0604020202020204"/>
              <a:ea typeface="Arial" panose="020B0604020202020204"/>
              <a:cs typeface="Arial" panose="020B0604020202020204"/>
            </a:endParaRPr>
          </a:p>
        </p:txBody>
      </p:sp>
      <p:sp>
        <p:nvSpPr>
          <p:cNvPr id="112" name="矩形 111"/>
          <p:cNvSpPr>
            <a:spLocks noGrp="1"/>
          </p:cNvSpPr>
          <p:nvPr/>
        </p:nvSpPr>
        <p:spPr>
          <a:xfrm>
            <a:off x="8531423" y="5173861"/>
            <a:ext cx="2046684" cy="332184"/>
          </a:xfrm>
          <a:prstGeom prst="rect">
            <a:avLst/>
          </a:prstGeom>
          <a:solidFill>
            <a:srgbClr val="EFFAFA"/>
          </a:solidFill>
          <a:ln w="0">
            <a:noFill/>
          </a:ln>
        </p:spPr>
      </p:sp>
      <p:sp>
        <p:nvSpPr>
          <p:cNvPr id="113" name="矩形 112"/>
          <p:cNvSpPr>
            <a:spLocks noGrp="1"/>
          </p:cNvSpPr>
          <p:nvPr/>
        </p:nvSpPr>
        <p:spPr>
          <a:xfrm>
            <a:off x="8545711" y="5188148"/>
            <a:ext cx="2018109" cy="303609"/>
          </a:xfrm>
          <a:prstGeom prst="rect">
            <a:avLst/>
          </a:prstGeom>
          <a:noFill/>
          <a:ln w="0">
            <a:noFill/>
          </a:ln>
        </p:spPr>
        <p:txBody>
          <a:bodyPr wrap="none" lIns="0" tIns="0" rIns="0" bIns="0" anchor="ctr">
            <a:noAutofit/>
          </a:bodyPr>
          <a:lstStyle/>
          <a:p>
            <a:pPr algn="ctr">
              <a:defRPr sz="1050" b="0">
                <a:solidFill>
                  <a:srgbClr val="0B2450"/>
                </a:solidFill>
                <a:latin typeface="Arial" panose="020B0604020202020204"/>
                <a:ea typeface="Arial" panose="020B0604020202020204"/>
                <a:cs typeface="Arial" panose="020B0604020202020204"/>
              </a:defRPr>
            </a:pPr>
            <a:r>
              <a:rPr sz="1050" b="0">
                <a:solidFill>
                  <a:srgbClr val="0B2450"/>
                </a:solidFill>
                <a:latin typeface="Arial" panose="020B0604020202020204"/>
                <a:ea typeface="Arial" panose="020B0604020202020204"/>
                <a:cs typeface="Arial" panose="020B0604020202020204"/>
              </a:rPr>
              <a:t>Recommendation performance</a:t>
            </a:r>
            <a:endParaRPr sz="1050" b="0">
              <a:solidFill>
                <a:srgbClr val="0B2450"/>
              </a:solidFill>
              <a:latin typeface="Arial" panose="020B0604020202020204"/>
              <a:ea typeface="Arial" panose="020B0604020202020204"/>
              <a:cs typeface="Arial" panose="020B0604020202020204"/>
            </a:endParaRPr>
          </a:p>
        </p:txBody>
      </p:sp>
      <p:sp>
        <p:nvSpPr>
          <p:cNvPr id="114" name="矩形 113"/>
          <p:cNvSpPr>
            <a:spLocks noGrp="1"/>
          </p:cNvSpPr>
          <p:nvPr/>
        </p:nvSpPr>
        <p:spPr>
          <a:xfrm>
            <a:off x="11085314" y="5156002"/>
            <a:ext cx="2144911" cy="457200"/>
          </a:xfrm>
          <a:prstGeom prst="rect">
            <a:avLst/>
          </a:prstGeom>
          <a:solidFill>
            <a:srgbClr val="EDF6FF"/>
          </a:solidFill>
          <a:ln w="0">
            <a:noFill/>
          </a:ln>
        </p:spPr>
      </p:sp>
      <p:sp>
        <p:nvSpPr>
          <p:cNvPr id="115" name="矩形 114"/>
          <p:cNvSpPr>
            <a:spLocks noGrp="1"/>
          </p:cNvSpPr>
          <p:nvPr/>
        </p:nvSpPr>
        <p:spPr>
          <a:xfrm>
            <a:off x="11099602" y="5170289"/>
            <a:ext cx="2116336" cy="428625"/>
          </a:xfrm>
          <a:prstGeom prst="rect">
            <a:avLst/>
          </a:prstGeom>
          <a:noFill/>
          <a:ln w="0">
            <a:noFill/>
          </a:ln>
        </p:spPr>
        <p:txBody>
          <a:bodyPr wrap="none" lIns="0" tIns="0" rIns="0" bIns="0" anchor="ctr">
            <a:noAutofit/>
          </a:bodyPr>
          <a:lstStyle/>
          <a:p>
            <a:pPr algn="ctr">
              <a:defRPr sz="1350" b="0">
                <a:solidFill>
                  <a:srgbClr val="005CED"/>
                </a:solidFill>
                <a:latin typeface="Arial" panose="020B0604020202020204"/>
                <a:ea typeface="Arial" panose="020B0604020202020204"/>
                <a:cs typeface="Arial" panose="020B0604020202020204"/>
              </a:defRPr>
            </a:pPr>
            <a:r>
              <a:rPr sz="1350" b="0">
                <a:solidFill>
                  <a:srgbClr val="005CED"/>
                </a:solidFill>
                <a:latin typeface="Arial" panose="020B0604020202020204"/>
                <a:ea typeface="Arial" panose="020B0604020202020204"/>
                <a:cs typeface="Arial" panose="020B0604020202020204"/>
              </a:rPr>
              <a:t>Prediction accuracy +</a:t>
            </a:r>
            <a:endParaRPr sz="1350" b="0">
              <a:solidFill>
                <a:srgbClr val="005CED"/>
              </a:solidFill>
              <a:latin typeface="Arial" panose="020B0604020202020204"/>
              <a:ea typeface="Arial" panose="020B0604020202020204"/>
              <a:cs typeface="Arial" panose="020B0604020202020204"/>
            </a:endParaRPr>
          </a:p>
          <a:p>
            <a:pPr algn="ctr">
              <a:defRPr sz="1350" b="0">
                <a:solidFill>
                  <a:srgbClr val="005CED"/>
                </a:solidFill>
                <a:latin typeface="Arial" panose="020B0604020202020204"/>
                <a:ea typeface="Arial" panose="020B0604020202020204"/>
                <a:cs typeface="Arial" panose="020B0604020202020204"/>
              </a:defRPr>
            </a:pPr>
            <a:r>
              <a:rPr sz="1350" b="0">
                <a:solidFill>
                  <a:srgbClr val="005CED"/>
                </a:solidFill>
                <a:latin typeface="Arial" panose="020B0604020202020204"/>
                <a:ea typeface="Arial" panose="020B0604020202020204"/>
                <a:cs typeface="Arial" panose="020B0604020202020204"/>
              </a:rPr>
              <a:t>uncertainty</a:t>
            </a:r>
            <a:endParaRPr sz="1350" b="0">
              <a:solidFill>
                <a:srgbClr val="005CED"/>
              </a:solidFill>
              <a:latin typeface="Arial" panose="020B0604020202020204"/>
              <a:ea typeface="Arial" panose="020B0604020202020204"/>
              <a:cs typeface="Arial" panose="020B0604020202020204"/>
            </a:endParaRPr>
          </a:p>
        </p:txBody>
      </p:sp>
      <p:sp>
        <p:nvSpPr>
          <p:cNvPr id="116" name="矩形 115"/>
          <p:cNvSpPr>
            <a:spLocks noGrp="1"/>
          </p:cNvSpPr>
          <p:nvPr/>
        </p:nvSpPr>
        <p:spPr>
          <a:xfrm>
            <a:off x="191095" y="7977783"/>
            <a:ext cx="1457325" cy="367903"/>
          </a:xfrm>
          <a:prstGeom prst="rect">
            <a:avLst/>
          </a:prstGeom>
          <a:solidFill>
            <a:srgbClr val="FFFFFF"/>
          </a:solidFill>
          <a:ln w="0">
            <a:noFill/>
          </a:ln>
        </p:spPr>
      </p:sp>
      <p:sp>
        <p:nvSpPr>
          <p:cNvPr id="117" name="矩形 116"/>
          <p:cNvSpPr>
            <a:spLocks noGrp="1"/>
          </p:cNvSpPr>
          <p:nvPr/>
        </p:nvSpPr>
        <p:spPr>
          <a:xfrm>
            <a:off x="205383" y="7992070"/>
            <a:ext cx="1428750" cy="339328"/>
          </a:xfrm>
          <a:prstGeom prst="rect">
            <a:avLst/>
          </a:prstGeom>
          <a:noFill/>
          <a:ln w="0">
            <a:noFill/>
          </a:ln>
        </p:spPr>
        <p:txBody>
          <a:bodyPr wrap="none" lIns="0" tIns="0" rIns="0" bIns="0" anchor="ctr">
            <a:noAutofit/>
          </a:bodyPr>
          <a:lstStyle/>
          <a:p>
            <a:pPr algn="l">
              <a:defRPr sz="1500" b="0">
                <a:solidFill>
                  <a:srgbClr val="0B2450"/>
                </a:solidFill>
                <a:latin typeface="Arial" panose="020B0604020202020204"/>
                <a:ea typeface="Arial" panose="020B0604020202020204"/>
                <a:cs typeface="Arial" panose="020B0604020202020204"/>
              </a:defRPr>
            </a:pPr>
            <a:r>
              <a:rPr sz="1500" b="0">
                <a:solidFill>
                  <a:srgbClr val="0B2450"/>
                </a:solidFill>
                <a:latin typeface="Arial" panose="020B0604020202020204"/>
                <a:ea typeface="Arial" panose="020B0604020202020204"/>
                <a:cs typeface="Arial" panose="020B0604020202020204"/>
              </a:rPr>
              <a:t>240 campaigns</a:t>
            </a:r>
            <a:endParaRPr sz="1500" b="0">
              <a:solidFill>
                <a:srgbClr val="0B2450"/>
              </a:solidFill>
              <a:latin typeface="Arial" panose="020B0604020202020204"/>
              <a:ea typeface="Arial" panose="020B0604020202020204"/>
              <a:cs typeface="Arial" panose="020B0604020202020204"/>
            </a:endParaRPr>
          </a:p>
        </p:txBody>
      </p:sp>
      <p:sp>
        <p:nvSpPr>
          <p:cNvPr id="118" name="矩形 117"/>
          <p:cNvSpPr>
            <a:spLocks noGrp="1"/>
          </p:cNvSpPr>
          <p:nvPr/>
        </p:nvSpPr>
        <p:spPr>
          <a:xfrm>
            <a:off x="1753791" y="7995642"/>
            <a:ext cx="2394942" cy="332184"/>
          </a:xfrm>
          <a:prstGeom prst="rect">
            <a:avLst/>
          </a:prstGeom>
          <a:solidFill>
            <a:srgbClr val="FFFFFF"/>
          </a:solidFill>
          <a:ln w="0">
            <a:noFill/>
          </a:ln>
        </p:spPr>
      </p:sp>
      <p:sp>
        <p:nvSpPr>
          <p:cNvPr id="119" name="矩形 118"/>
          <p:cNvSpPr>
            <a:spLocks noGrp="1"/>
          </p:cNvSpPr>
          <p:nvPr/>
        </p:nvSpPr>
        <p:spPr>
          <a:xfrm>
            <a:off x="1768078" y="8009930"/>
            <a:ext cx="2366367" cy="303609"/>
          </a:xfrm>
          <a:prstGeom prst="rect">
            <a:avLst/>
          </a:prstGeom>
          <a:noFill/>
          <a:ln w="0">
            <a:noFill/>
          </a:ln>
        </p:spPr>
        <p:txBody>
          <a:bodyPr wrap="none" lIns="0" tIns="0" rIns="0" bIns="0" anchor="ctr">
            <a:noAutofit/>
          </a:bodyPr>
          <a:lstStyle/>
          <a:p>
            <a:pPr algn="l">
              <a:defRPr sz="1200" b="0">
                <a:solidFill>
                  <a:srgbClr val="0B2450"/>
                </a:solidFill>
                <a:latin typeface="Arial" panose="020B0604020202020204"/>
                <a:ea typeface="Arial" panose="020B0604020202020204"/>
                <a:cs typeface="Arial" panose="020B0604020202020204"/>
              </a:defRPr>
            </a:pPr>
            <a:r>
              <a:rPr sz="1200" b="0">
                <a:solidFill>
                  <a:srgbClr val="0B2450"/>
                </a:solidFill>
                <a:latin typeface="Arial" panose="020B0604020202020204"/>
                <a:ea typeface="Arial" panose="020B0604020202020204"/>
                <a:cs typeface="Arial" panose="020B0604020202020204"/>
              </a:rPr>
              <a:t>Six chemical system families</a:t>
            </a:r>
            <a:endParaRPr sz="1200" b="0">
              <a:solidFill>
                <a:srgbClr val="0B2450"/>
              </a:solidFill>
              <a:latin typeface="Arial" panose="020B0604020202020204"/>
              <a:ea typeface="Arial" panose="020B0604020202020204"/>
              <a:cs typeface="Arial" panose="020B0604020202020204"/>
            </a:endParaRPr>
          </a:p>
        </p:txBody>
      </p:sp>
      <p:sp>
        <p:nvSpPr>
          <p:cNvPr id="120" name="矩形 119"/>
          <p:cNvSpPr>
            <a:spLocks noGrp="1"/>
          </p:cNvSpPr>
          <p:nvPr/>
        </p:nvSpPr>
        <p:spPr>
          <a:xfrm>
            <a:off x="4236244" y="8281392"/>
            <a:ext cx="1064419" cy="251817"/>
          </a:xfrm>
          <a:prstGeom prst="rect">
            <a:avLst/>
          </a:prstGeom>
          <a:solidFill>
            <a:srgbClr val="FFFFFF"/>
          </a:solidFill>
          <a:ln w="0">
            <a:noFill/>
          </a:ln>
        </p:spPr>
      </p:sp>
      <p:sp>
        <p:nvSpPr>
          <p:cNvPr id="121" name="矩形 120"/>
          <p:cNvSpPr>
            <a:spLocks noGrp="1"/>
          </p:cNvSpPr>
          <p:nvPr/>
        </p:nvSpPr>
        <p:spPr>
          <a:xfrm>
            <a:off x="4250531" y="8295680"/>
            <a:ext cx="1035844" cy="223242"/>
          </a:xfrm>
          <a:prstGeom prst="rect">
            <a:avLst/>
          </a:prstGeom>
          <a:noFill/>
          <a:ln w="0">
            <a:noFill/>
          </a:ln>
        </p:spPr>
        <p:txBody>
          <a:bodyPr wrap="none" lIns="0" tIns="0" rIns="0" bIns="0" anchor="ctr">
            <a:noAutofit/>
          </a:bodyPr>
          <a:lstStyle/>
          <a:p>
            <a:pPr algn="ctr">
              <a:defRPr sz="1050" b="0">
                <a:solidFill>
                  <a:srgbClr val="0B2450"/>
                </a:solidFill>
                <a:latin typeface="Arial" panose="020B0604020202020204"/>
                <a:ea typeface="Arial" panose="020B0604020202020204"/>
                <a:cs typeface="Arial" panose="020B0604020202020204"/>
              </a:defRPr>
            </a:pPr>
            <a:r>
              <a:rPr sz="1050" b="0">
                <a:solidFill>
                  <a:srgbClr val="0B2450"/>
                </a:solidFill>
                <a:latin typeface="Arial" panose="020B0604020202020204"/>
                <a:ea typeface="Arial" panose="020B0604020202020204"/>
                <a:cs typeface="Arial" panose="020B0604020202020204"/>
              </a:rPr>
              <a:t>Electrochemistry</a:t>
            </a:r>
            <a:endParaRPr sz="1050" b="0">
              <a:solidFill>
                <a:srgbClr val="0B2450"/>
              </a:solidFill>
              <a:latin typeface="Arial" panose="020B0604020202020204"/>
              <a:ea typeface="Arial" panose="020B0604020202020204"/>
              <a:cs typeface="Arial" panose="020B0604020202020204"/>
            </a:endParaRPr>
          </a:p>
        </p:txBody>
      </p:sp>
      <p:sp>
        <p:nvSpPr>
          <p:cNvPr id="122" name="矩形 121"/>
          <p:cNvSpPr>
            <a:spLocks noGrp="1"/>
          </p:cNvSpPr>
          <p:nvPr/>
        </p:nvSpPr>
        <p:spPr>
          <a:xfrm>
            <a:off x="5307806" y="8281392"/>
            <a:ext cx="823317" cy="251817"/>
          </a:xfrm>
          <a:prstGeom prst="rect">
            <a:avLst/>
          </a:prstGeom>
          <a:solidFill>
            <a:srgbClr val="FFFFFF"/>
          </a:solidFill>
          <a:ln w="0">
            <a:noFill/>
          </a:ln>
        </p:spPr>
      </p:sp>
      <p:sp>
        <p:nvSpPr>
          <p:cNvPr id="123" name="矩形 122"/>
          <p:cNvSpPr>
            <a:spLocks noGrp="1"/>
          </p:cNvSpPr>
          <p:nvPr/>
        </p:nvSpPr>
        <p:spPr>
          <a:xfrm>
            <a:off x="5322094" y="8295680"/>
            <a:ext cx="794742" cy="223242"/>
          </a:xfrm>
          <a:prstGeom prst="rect">
            <a:avLst/>
          </a:prstGeom>
          <a:noFill/>
          <a:ln w="0">
            <a:noFill/>
          </a:ln>
        </p:spPr>
        <p:txBody>
          <a:bodyPr wrap="none" lIns="0" tIns="0" rIns="0" bIns="0" anchor="ctr">
            <a:noAutofit/>
          </a:bodyPr>
          <a:lstStyle/>
          <a:p>
            <a:pPr algn="ctr">
              <a:defRPr sz="1050" b="0">
                <a:solidFill>
                  <a:srgbClr val="0B2450"/>
                </a:solidFill>
                <a:latin typeface="Arial" panose="020B0604020202020204"/>
                <a:ea typeface="Arial" panose="020B0604020202020204"/>
                <a:cs typeface="Arial" panose="020B0604020202020204"/>
              </a:defRPr>
            </a:pPr>
            <a:r>
              <a:rPr sz="1050" b="0">
                <a:solidFill>
                  <a:srgbClr val="0B2450"/>
                </a:solidFill>
                <a:latin typeface="Arial" panose="020B0604020202020204"/>
                <a:ea typeface="Arial" panose="020B0604020202020204"/>
                <a:cs typeface="Arial" panose="020B0604020202020204"/>
              </a:rPr>
              <a:t>Partitioning</a:t>
            </a:r>
            <a:endParaRPr sz="1050" b="0">
              <a:solidFill>
                <a:srgbClr val="0B2450"/>
              </a:solidFill>
              <a:latin typeface="Arial" panose="020B0604020202020204"/>
              <a:ea typeface="Arial" panose="020B0604020202020204"/>
              <a:cs typeface="Arial" panose="020B0604020202020204"/>
            </a:endParaRPr>
          </a:p>
        </p:txBody>
      </p:sp>
      <p:sp>
        <p:nvSpPr>
          <p:cNvPr id="124" name="矩形 123"/>
          <p:cNvSpPr>
            <a:spLocks noGrp="1"/>
          </p:cNvSpPr>
          <p:nvPr/>
        </p:nvSpPr>
        <p:spPr>
          <a:xfrm>
            <a:off x="6200775" y="8281392"/>
            <a:ext cx="1162645" cy="251817"/>
          </a:xfrm>
          <a:prstGeom prst="rect">
            <a:avLst/>
          </a:prstGeom>
          <a:solidFill>
            <a:srgbClr val="FFFFFF"/>
          </a:solidFill>
          <a:ln w="0">
            <a:noFill/>
          </a:ln>
        </p:spPr>
      </p:sp>
      <p:sp>
        <p:nvSpPr>
          <p:cNvPr id="125" name="矩形 124"/>
          <p:cNvSpPr>
            <a:spLocks noGrp="1"/>
          </p:cNvSpPr>
          <p:nvPr/>
        </p:nvSpPr>
        <p:spPr>
          <a:xfrm>
            <a:off x="6215063" y="8295680"/>
            <a:ext cx="1134070" cy="223242"/>
          </a:xfrm>
          <a:prstGeom prst="rect">
            <a:avLst/>
          </a:prstGeom>
          <a:noFill/>
          <a:ln w="0">
            <a:noFill/>
          </a:ln>
        </p:spPr>
        <p:txBody>
          <a:bodyPr wrap="none" lIns="0" tIns="0" rIns="0" bIns="0" anchor="ctr">
            <a:noAutofit/>
          </a:bodyPr>
          <a:lstStyle/>
          <a:p>
            <a:pPr algn="ctr">
              <a:defRPr sz="1050" b="0">
                <a:solidFill>
                  <a:srgbClr val="0B2450"/>
                </a:solidFill>
                <a:latin typeface="Arial" panose="020B0604020202020204"/>
                <a:ea typeface="Arial" panose="020B0604020202020204"/>
                <a:cs typeface="Arial" panose="020B0604020202020204"/>
              </a:defRPr>
            </a:pPr>
            <a:r>
              <a:rPr sz="1050" b="0">
                <a:solidFill>
                  <a:srgbClr val="0B2450"/>
                </a:solidFill>
                <a:latin typeface="Arial" panose="020B0604020202020204"/>
                <a:ea typeface="Arial" panose="020B0604020202020204"/>
                <a:cs typeface="Arial" panose="020B0604020202020204"/>
              </a:rPr>
              <a:t>Reaction / thermal</a:t>
            </a:r>
            <a:endParaRPr sz="1050" b="0">
              <a:solidFill>
                <a:srgbClr val="0B2450"/>
              </a:solidFill>
              <a:latin typeface="Arial" panose="020B0604020202020204"/>
              <a:ea typeface="Arial" panose="020B0604020202020204"/>
              <a:cs typeface="Arial" panose="020B0604020202020204"/>
            </a:endParaRPr>
          </a:p>
        </p:txBody>
      </p:sp>
      <p:sp>
        <p:nvSpPr>
          <p:cNvPr id="126" name="矩形 125"/>
          <p:cNvSpPr>
            <a:spLocks noGrp="1"/>
          </p:cNvSpPr>
          <p:nvPr/>
        </p:nvSpPr>
        <p:spPr>
          <a:xfrm>
            <a:off x="7442002" y="8281392"/>
            <a:ext cx="832247" cy="251817"/>
          </a:xfrm>
          <a:prstGeom prst="rect">
            <a:avLst/>
          </a:prstGeom>
          <a:solidFill>
            <a:srgbClr val="FFFFFF"/>
          </a:solidFill>
          <a:ln w="0">
            <a:noFill/>
          </a:ln>
        </p:spPr>
      </p:sp>
      <p:sp>
        <p:nvSpPr>
          <p:cNvPr id="127" name="矩形 126"/>
          <p:cNvSpPr>
            <a:spLocks noGrp="1"/>
          </p:cNvSpPr>
          <p:nvPr/>
        </p:nvSpPr>
        <p:spPr>
          <a:xfrm>
            <a:off x="7456289" y="8295680"/>
            <a:ext cx="803672" cy="223242"/>
          </a:xfrm>
          <a:prstGeom prst="rect">
            <a:avLst/>
          </a:prstGeom>
          <a:noFill/>
          <a:ln w="0">
            <a:noFill/>
          </a:ln>
        </p:spPr>
        <p:txBody>
          <a:bodyPr wrap="none" lIns="0" tIns="0" rIns="0" bIns="0" anchor="ctr">
            <a:noAutofit/>
          </a:bodyPr>
          <a:lstStyle/>
          <a:p>
            <a:pPr algn="ctr">
              <a:defRPr sz="1050" b="0">
                <a:solidFill>
                  <a:srgbClr val="0B2450"/>
                </a:solidFill>
                <a:latin typeface="Arial" panose="020B0604020202020204"/>
                <a:ea typeface="Arial" panose="020B0604020202020204"/>
                <a:cs typeface="Arial" panose="020B0604020202020204"/>
              </a:defRPr>
            </a:pPr>
            <a:r>
              <a:rPr sz="1050" b="0">
                <a:solidFill>
                  <a:srgbClr val="0B2450"/>
                </a:solidFill>
                <a:latin typeface="Arial" panose="020B0604020202020204"/>
                <a:ea typeface="Arial" panose="020B0604020202020204"/>
                <a:cs typeface="Arial" panose="020B0604020202020204"/>
              </a:rPr>
              <a:t>Equilibrium</a:t>
            </a:r>
            <a:endParaRPr sz="1050" b="0">
              <a:solidFill>
                <a:srgbClr val="0B2450"/>
              </a:solidFill>
              <a:latin typeface="Arial" panose="020B0604020202020204"/>
              <a:ea typeface="Arial" panose="020B0604020202020204"/>
              <a:cs typeface="Arial" panose="020B0604020202020204"/>
            </a:endParaRPr>
          </a:p>
        </p:txBody>
      </p:sp>
      <p:sp>
        <p:nvSpPr>
          <p:cNvPr id="128" name="矩形 127"/>
          <p:cNvSpPr>
            <a:spLocks noGrp="1"/>
          </p:cNvSpPr>
          <p:nvPr/>
        </p:nvSpPr>
        <p:spPr>
          <a:xfrm>
            <a:off x="8424267" y="8281392"/>
            <a:ext cx="966192" cy="251817"/>
          </a:xfrm>
          <a:prstGeom prst="rect">
            <a:avLst/>
          </a:prstGeom>
          <a:solidFill>
            <a:srgbClr val="FFFFFF"/>
          </a:solidFill>
          <a:ln w="0">
            <a:noFill/>
          </a:ln>
        </p:spPr>
      </p:sp>
      <p:sp>
        <p:nvSpPr>
          <p:cNvPr id="129" name="矩形 128"/>
          <p:cNvSpPr>
            <a:spLocks noGrp="1"/>
          </p:cNvSpPr>
          <p:nvPr/>
        </p:nvSpPr>
        <p:spPr>
          <a:xfrm>
            <a:off x="8438555" y="8295680"/>
            <a:ext cx="937617" cy="223242"/>
          </a:xfrm>
          <a:prstGeom prst="rect">
            <a:avLst/>
          </a:prstGeom>
          <a:noFill/>
          <a:ln w="0">
            <a:noFill/>
          </a:ln>
        </p:spPr>
        <p:txBody>
          <a:bodyPr wrap="none" lIns="0" tIns="0" rIns="0" bIns="0" anchor="ctr">
            <a:noAutofit/>
          </a:bodyPr>
          <a:lstStyle/>
          <a:p>
            <a:pPr algn="ctr">
              <a:defRPr sz="1050" b="0">
                <a:solidFill>
                  <a:srgbClr val="0B2450"/>
                </a:solidFill>
                <a:latin typeface="Arial" panose="020B0604020202020204"/>
                <a:ea typeface="Arial" panose="020B0604020202020204"/>
                <a:cs typeface="Arial" panose="020B0604020202020204"/>
              </a:defRPr>
            </a:pPr>
            <a:r>
              <a:rPr sz="1050" b="0">
                <a:solidFill>
                  <a:srgbClr val="0B2450"/>
                </a:solidFill>
                <a:latin typeface="Arial" panose="020B0604020202020204"/>
                <a:ea typeface="Arial" panose="020B0604020202020204"/>
                <a:cs typeface="Arial" panose="020B0604020202020204"/>
              </a:rPr>
              <a:t>Crystallization</a:t>
            </a:r>
            <a:endParaRPr sz="1050" b="0">
              <a:solidFill>
                <a:srgbClr val="0B2450"/>
              </a:solidFill>
              <a:latin typeface="Arial" panose="020B0604020202020204"/>
              <a:ea typeface="Arial" panose="020B0604020202020204"/>
              <a:cs typeface="Arial" panose="020B0604020202020204"/>
            </a:endParaRPr>
          </a:p>
        </p:txBody>
      </p:sp>
      <p:sp>
        <p:nvSpPr>
          <p:cNvPr id="130" name="矩形 129"/>
          <p:cNvSpPr>
            <a:spLocks noGrp="1"/>
          </p:cNvSpPr>
          <p:nvPr/>
        </p:nvSpPr>
        <p:spPr>
          <a:xfrm>
            <a:off x="9594056" y="8263533"/>
            <a:ext cx="903684" cy="269677"/>
          </a:xfrm>
          <a:prstGeom prst="rect">
            <a:avLst/>
          </a:prstGeom>
          <a:solidFill>
            <a:srgbClr val="FFFFFF"/>
          </a:solidFill>
          <a:ln w="0">
            <a:noFill/>
          </a:ln>
        </p:spPr>
      </p:sp>
      <p:sp>
        <p:nvSpPr>
          <p:cNvPr id="131" name="矩形 130"/>
          <p:cNvSpPr>
            <a:spLocks noGrp="1"/>
          </p:cNvSpPr>
          <p:nvPr/>
        </p:nvSpPr>
        <p:spPr>
          <a:xfrm>
            <a:off x="9608344" y="8277820"/>
            <a:ext cx="875109" cy="241102"/>
          </a:xfrm>
          <a:prstGeom prst="rect">
            <a:avLst/>
          </a:prstGeom>
          <a:noFill/>
          <a:ln w="0">
            <a:noFill/>
          </a:ln>
        </p:spPr>
        <p:txBody>
          <a:bodyPr wrap="none" lIns="0" tIns="0" rIns="0" bIns="0" anchor="ctr">
            <a:noAutofit/>
          </a:bodyPr>
          <a:lstStyle/>
          <a:p>
            <a:pPr algn="ctr">
              <a:defRPr sz="1050" b="0">
                <a:solidFill>
                  <a:srgbClr val="0B2450"/>
                </a:solidFill>
                <a:latin typeface="Arial" panose="020B0604020202020204"/>
                <a:ea typeface="Arial" panose="020B0604020202020204"/>
                <a:cs typeface="Arial" panose="020B0604020202020204"/>
              </a:defRPr>
            </a:pPr>
            <a:r>
              <a:rPr sz="1050" b="0">
                <a:solidFill>
                  <a:srgbClr val="0B2450"/>
                </a:solidFill>
                <a:latin typeface="Arial" panose="020B0604020202020204"/>
                <a:ea typeface="Arial" panose="020B0604020202020204"/>
                <a:cs typeface="Arial" panose="020B0604020202020204"/>
              </a:rPr>
              <a:t>Purification</a:t>
            </a:r>
            <a:endParaRPr sz="1050" b="0">
              <a:solidFill>
                <a:srgbClr val="0B2450"/>
              </a:solidFill>
              <a:latin typeface="Arial" panose="020B0604020202020204"/>
              <a:ea typeface="Arial" panose="020B0604020202020204"/>
              <a:cs typeface="Arial" panose="020B0604020202020204"/>
            </a:endParaRPr>
          </a:p>
        </p:txBody>
      </p:sp>
      <p:sp>
        <p:nvSpPr>
          <p:cNvPr id="132" name="矩形 131"/>
          <p:cNvSpPr>
            <a:spLocks noGrp="1"/>
          </p:cNvSpPr>
          <p:nvPr/>
        </p:nvSpPr>
        <p:spPr>
          <a:xfrm>
            <a:off x="10737056" y="7924205"/>
            <a:ext cx="2787848" cy="519708"/>
          </a:xfrm>
          <a:prstGeom prst="rect">
            <a:avLst/>
          </a:prstGeom>
          <a:solidFill>
            <a:srgbClr val="FFFFFF"/>
          </a:solidFill>
          <a:ln w="0">
            <a:noFill/>
          </a:ln>
        </p:spPr>
      </p:sp>
      <p:sp>
        <p:nvSpPr>
          <p:cNvPr id="133" name="矩形 132"/>
          <p:cNvSpPr>
            <a:spLocks noGrp="1"/>
          </p:cNvSpPr>
          <p:nvPr/>
        </p:nvSpPr>
        <p:spPr>
          <a:xfrm>
            <a:off x="10751344" y="7938492"/>
            <a:ext cx="2759273" cy="491133"/>
          </a:xfrm>
          <a:prstGeom prst="rect">
            <a:avLst/>
          </a:prstGeom>
          <a:noFill/>
          <a:ln w="0">
            <a:noFill/>
          </a:ln>
        </p:spPr>
        <p:txBody>
          <a:bodyPr wrap="none" lIns="0" tIns="0" rIns="0" bIns="0" anchor="ctr">
            <a:noAutofit/>
          </a:bodyPr>
          <a:lstStyle/>
          <a:p>
            <a:pPr algn="l">
              <a:defRPr sz="1200" b="0">
                <a:solidFill>
                  <a:srgbClr val="0B2450"/>
                </a:solidFill>
                <a:latin typeface="Arial" panose="020B0604020202020204"/>
                <a:ea typeface="Arial" panose="020B0604020202020204"/>
                <a:cs typeface="Arial" panose="020B0604020202020204"/>
              </a:defRPr>
            </a:pPr>
            <a:r>
              <a:rPr sz="1200" b="0">
                <a:solidFill>
                  <a:srgbClr val="0B2450"/>
                </a:solidFill>
                <a:latin typeface="Arial" panose="020B0604020202020204"/>
                <a:ea typeface="Arial" panose="020B0604020202020204"/>
                <a:cs typeface="Arial" panose="020B0604020202020204"/>
              </a:rPr>
              <a:t>Which learned relationships</a:t>
            </a:r>
            <a:endParaRPr sz="1200" b="0">
              <a:solidFill>
                <a:srgbClr val="0B2450"/>
              </a:solidFill>
              <a:latin typeface="Arial" panose="020B0604020202020204"/>
              <a:ea typeface="Arial" panose="020B0604020202020204"/>
              <a:cs typeface="Arial" panose="020B0604020202020204"/>
            </a:endParaRPr>
          </a:p>
          <a:p>
            <a:pPr algn="l">
              <a:defRPr sz="1200" b="0">
                <a:solidFill>
                  <a:srgbClr val="0B2450"/>
                </a:solidFill>
                <a:latin typeface="Arial" panose="020B0604020202020204"/>
                <a:ea typeface="Arial" panose="020B0604020202020204"/>
                <a:cs typeface="Arial" panose="020B0604020202020204"/>
              </a:defRPr>
            </a:pPr>
            <a:r>
              <a:rPr sz="1200" b="0">
                <a:solidFill>
                  <a:srgbClr val="0B2450"/>
                </a:solidFill>
                <a:latin typeface="Arial" panose="020B0604020202020204"/>
                <a:ea typeface="Arial" panose="020B0604020202020204"/>
                <a:cs typeface="Arial" panose="020B0604020202020204"/>
              </a:rPr>
              <a:t>remain valid under new interventions?</a:t>
            </a:r>
            <a:endParaRPr sz="1200" b="0">
              <a:solidFill>
                <a:srgbClr val="0B2450"/>
              </a:solidFill>
              <a:latin typeface="Arial" panose="020B0604020202020204"/>
              <a:ea typeface="Arial" panose="020B0604020202020204"/>
              <a:cs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9" name="矩形 58"/>
          <p:cNvSpPr>
            <a:spLocks noGrp="1"/>
          </p:cNvSpPr>
          <p:nvPr/>
        </p:nvSpPr>
        <p:spPr>
          <a:xfrm>
            <a:off x="171450" y="114300"/>
            <a:ext cx="333375" cy="381000"/>
          </a:xfrm>
          <a:prstGeom prst="rect">
            <a:avLst/>
          </a:prstGeom>
          <a:noFill/>
          <a:ln w="0">
            <a:noFill/>
          </a:ln>
        </p:spPr>
        <p:txBody>
          <a:bodyPr wrap="none" lIns="0" tIns="0" rIns="0" bIns="0" anchor="ctr">
            <a:noAutofit/>
          </a:bodyPr>
          <a:lstStyle/>
          <a:p>
            <a:pPr algn="l">
              <a:defRPr sz="2250" b="1">
                <a:solidFill>
                  <a:srgbClr val="111111"/>
                </a:solidFill>
                <a:latin typeface="Arial" panose="020B0604020202020204"/>
                <a:ea typeface="Arial" panose="020B0604020202020204"/>
                <a:cs typeface="Arial" panose="020B0604020202020204"/>
              </a:defRPr>
            </a:pPr>
            <a:r>
              <a:rPr sz="2250" b="1">
                <a:solidFill>
                  <a:srgbClr val="111111"/>
                </a:solidFill>
                <a:latin typeface="Arial" panose="020B0604020202020204"/>
                <a:ea typeface="Arial" panose="020B0604020202020204"/>
                <a:cs typeface="Arial" panose="020B0604020202020204"/>
              </a:rPr>
              <a:t>a</a:t>
            </a:r>
            <a:endParaRPr sz="2250" b="1">
              <a:solidFill>
                <a:srgbClr val="111111"/>
              </a:solidFill>
              <a:latin typeface="Arial" panose="020B0604020202020204"/>
              <a:ea typeface="Arial" panose="020B0604020202020204"/>
              <a:cs typeface="Arial" panose="020B0604020202020204"/>
            </a:endParaRPr>
          </a:p>
        </p:txBody>
      </p:sp>
      <p:sp>
        <p:nvSpPr>
          <p:cNvPr id="2" name="矩形 1"/>
          <p:cNvSpPr>
            <a:spLocks noGrp="1"/>
          </p:cNvSpPr>
          <p:nvPr/>
        </p:nvSpPr>
        <p:spPr>
          <a:xfrm>
            <a:off x="590550" y="114300"/>
            <a:ext cx="12668250" cy="381000"/>
          </a:xfrm>
          <a:prstGeom prst="rect">
            <a:avLst/>
          </a:prstGeom>
          <a:noFill/>
          <a:ln w="0">
            <a:noFill/>
          </a:ln>
        </p:spPr>
        <p:txBody>
          <a:bodyPr wrap="none" lIns="0" tIns="0" rIns="0" bIns="0" anchor="ctr">
            <a:noAutofit/>
          </a:bodyPr>
          <a:lstStyle/>
          <a:p>
            <a:pPr algn="l">
              <a:defRPr sz="1725" b="0">
                <a:solidFill>
                  <a:srgbClr val="24292D"/>
                </a:solidFill>
                <a:latin typeface="Arial" panose="020B0604020202020204"/>
                <a:ea typeface="Arial" panose="020B0604020202020204"/>
                <a:cs typeface="Arial" panose="020B0604020202020204"/>
              </a:defRPr>
            </a:pPr>
            <a:r>
              <a:rPr sz="1725" b="0">
                <a:solidFill>
                  <a:srgbClr val="24292D"/>
                </a:solidFill>
                <a:latin typeface="Arial" panose="020B0604020202020204"/>
                <a:ea typeface="Arial" panose="020B0604020202020204"/>
                <a:cs typeface="Arial" panose="020B0604020202020204"/>
              </a:rPr>
              <a:t>A complete 24-batch experimental history</a:t>
            </a:r>
            <a:endParaRPr sz="1725" b="0">
              <a:solidFill>
                <a:srgbClr val="24292D"/>
              </a:solidFill>
              <a:latin typeface="Arial" panose="020B0604020202020204"/>
              <a:ea typeface="Arial" panose="020B0604020202020204"/>
              <a:cs typeface="Arial" panose="020B0604020202020204"/>
            </a:endParaRPr>
          </a:p>
        </p:txBody>
      </p:sp>
      <p:sp>
        <p:nvSpPr>
          <p:cNvPr id="3" name="矩形 2"/>
          <p:cNvSpPr>
            <a:spLocks noGrp="1"/>
          </p:cNvSpPr>
          <p:nvPr/>
        </p:nvSpPr>
        <p:spPr>
          <a:xfrm>
            <a:off x="600075" y="542925"/>
            <a:ext cx="12573000" cy="371475"/>
          </a:xfrm>
          <a:prstGeom prst="rect">
            <a:avLst/>
          </a:prstGeom>
          <a:noFill/>
          <a:ln w="0">
            <a:noFill/>
          </a:ln>
        </p:spPr>
        <p:txBody>
          <a:bodyPr wrap="none" lIns="0" tIns="0" rIns="0" bIns="0" anchor="ctr">
            <a:noAutofit/>
          </a:bodyPr>
          <a:lstStyle/>
          <a:p>
            <a:pPr algn="l">
              <a:defRPr sz="1425" b="0">
                <a:solidFill>
                  <a:srgbClr val="657078"/>
                </a:solidFill>
                <a:latin typeface="Arial" panose="020B0604020202020204"/>
                <a:ea typeface="Arial" panose="020B0604020202020204"/>
                <a:cs typeface="Arial" panose="020B0604020202020204"/>
              </a:defRPr>
            </a:pPr>
            <a:r>
              <a:rPr sz="1425" b="0">
                <a:solidFill>
                  <a:srgbClr val="657078"/>
                </a:solidFill>
                <a:latin typeface="Arial" panose="020B0604020202020204"/>
                <a:ea typeface="Arial" panose="020B0604020202020204"/>
                <a:cs typeface="Arial" panose="020B0604020202020204"/>
              </a:rPr>
              <a:t>Materials (1–6)  →  process variation (7–18)  →  hotter reaction (19)  →  joint process change (20)  →  refinement (21–24)</a:t>
            </a:r>
            <a:endParaRPr sz="1425" b="0">
              <a:solidFill>
                <a:srgbClr val="657078"/>
              </a:solidFill>
              <a:latin typeface="Arial" panose="020B0604020202020204"/>
              <a:ea typeface="Arial" panose="020B0604020202020204"/>
              <a:cs typeface="Arial" panose="020B0604020202020204"/>
            </a:endParaRPr>
          </a:p>
        </p:txBody>
      </p:sp>
      <p:graphicFrame>
        <p:nvGraphicFramePr>
          <p:cNvPr id="62" name="Chart"/>
          <p:cNvGraphicFramePr/>
          <p:nvPr/>
        </p:nvGraphicFramePr>
        <p:xfrm>
          <a:off x="495300" y="1076325"/>
          <a:ext cx="12744450" cy="336232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63" name="Chart"/>
          <p:cNvGraphicFramePr/>
          <p:nvPr/>
        </p:nvGraphicFramePr>
        <p:xfrm>
          <a:off x="495300" y="4419600"/>
          <a:ext cx="12744450" cy="2781300"/>
        </p:xfrm>
        <a:graphic>
          <a:graphicData uri="http://schemas.openxmlformats.org/drawingml/2006/chart">
            <c:chart xmlns:c="http://schemas.openxmlformats.org/drawingml/2006/chart" xmlns:r="http://schemas.openxmlformats.org/officeDocument/2006/relationships" r:id="rId2"/>
          </a:graphicData>
        </a:graphic>
      </p:graphicFrame>
      <p:sp>
        <p:nvSpPr>
          <p:cNvPr id="6" name="矩形 5"/>
          <p:cNvSpPr>
            <a:spLocks noGrp="1"/>
          </p:cNvSpPr>
          <p:nvPr/>
        </p:nvSpPr>
        <p:spPr>
          <a:xfrm>
            <a:off x="552450" y="7324725"/>
            <a:ext cx="4171950" cy="361950"/>
          </a:xfrm>
          <a:prstGeom prst="rect">
            <a:avLst/>
          </a:prstGeom>
          <a:noFill/>
          <a:ln w="0">
            <a:noFill/>
          </a:ln>
        </p:spPr>
        <p:txBody>
          <a:bodyPr wrap="none" lIns="0" tIns="0" rIns="0" bIns="0" anchor="ctr">
            <a:noAutofit/>
          </a:bodyPr>
          <a:lstStyle/>
          <a:p>
            <a:pPr algn="l">
              <a:defRPr sz="1425" b="0">
                <a:solidFill>
                  <a:srgbClr val="24292D"/>
                </a:solidFill>
                <a:latin typeface="Arial" panose="020B0604020202020204"/>
                <a:ea typeface="Arial" panose="020B0604020202020204"/>
                <a:cs typeface="Arial" panose="020B0604020202020204"/>
              </a:defRPr>
            </a:pPr>
            <a:r>
              <a:rPr sz="1425" b="0">
                <a:solidFill>
                  <a:srgbClr val="24292D"/>
                </a:solidFill>
                <a:latin typeface="Arial" panose="020B0604020202020204"/>
                <a:ea typeface="Arial" panose="020B0604020202020204"/>
                <a:cs typeface="Arial" panose="020B0604020202020204"/>
              </a:rPr>
              <a:t>B8  Thermal-cycle probe; fines 52.8%</a:t>
            </a:r>
            <a:endParaRPr sz="1425" b="0">
              <a:solidFill>
                <a:srgbClr val="24292D"/>
              </a:solidFill>
              <a:latin typeface="Arial" panose="020B0604020202020204"/>
              <a:ea typeface="Arial" panose="020B0604020202020204"/>
              <a:cs typeface="Arial" panose="020B0604020202020204"/>
            </a:endParaRPr>
          </a:p>
        </p:txBody>
      </p:sp>
      <p:sp>
        <p:nvSpPr>
          <p:cNvPr id="7" name="矩形 6"/>
          <p:cNvSpPr>
            <a:spLocks noGrp="1"/>
          </p:cNvSpPr>
          <p:nvPr/>
        </p:nvSpPr>
        <p:spPr>
          <a:xfrm>
            <a:off x="4800600" y="7324725"/>
            <a:ext cx="4191000" cy="361950"/>
          </a:xfrm>
          <a:prstGeom prst="rect">
            <a:avLst/>
          </a:prstGeom>
          <a:noFill/>
          <a:ln w="0">
            <a:noFill/>
          </a:ln>
        </p:spPr>
        <p:txBody>
          <a:bodyPr wrap="none" lIns="0" tIns="0" rIns="0" bIns="0" anchor="ctr">
            <a:noAutofit/>
          </a:bodyPr>
          <a:lstStyle/>
          <a:p>
            <a:pPr algn="l">
              <a:defRPr sz="1425" b="1">
                <a:solidFill>
                  <a:srgbClr val="277F8A"/>
                </a:solidFill>
                <a:latin typeface="Arial" panose="020B0604020202020204"/>
                <a:ea typeface="Arial" panose="020B0604020202020204"/>
                <a:cs typeface="Arial" panose="020B0604020202020204"/>
              </a:defRPr>
            </a:pPr>
            <a:r>
              <a:rPr sz="1425" b="1">
                <a:solidFill>
                  <a:srgbClr val="277F8A"/>
                </a:solidFill>
                <a:latin typeface="Arial" panose="020B0604020202020204"/>
                <a:ea typeface="Arial" panose="020B0604020202020204"/>
                <a:cs typeface="Arial" panose="020B0604020202020204"/>
              </a:rPr>
              <a:t>B20  First quality-feasible batch</a:t>
            </a:r>
            <a:endParaRPr sz="1425" b="1">
              <a:solidFill>
                <a:srgbClr val="277F8A"/>
              </a:solidFill>
              <a:latin typeface="Arial" panose="020B0604020202020204"/>
              <a:ea typeface="Arial" panose="020B0604020202020204"/>
              <a:cs typeface="Arial" panose="020B0604020202020204"/>
            </a:endParaRPr>
          </a:p>
        </p:txBody>
      </p:sp>
      <p:sp>
        <p:nvSpPr>
          <p:cNvPr id="8" name="矩形 7"/>
          <p:cNvSpPr>
            <a:spLocks noGrp="1"/>
          </p:cNvSpPr>
          <p:nvPr/>
        </p:nvSpPr>
        <p:spPr>
          <a:xfrm>
            <a:off x="9525000" y="7324725"/>
            <a:ext cx="3667125" cy="361950"/>
          </a:xfrm>
          <a:prstGeom prst="rect">
            <a:avLst/>
          </a:prstGeom>
          <a:noFill/>
          <a:ln w="0">
            <a:noFill/>
          </a:ln>
        </p:spPr>
        <p:txBody>
          <a:bodyPr wrap="none" lIns="0" tIns="0" rIns="0" bIns="0" anchor="ctr">
            <a:noAutofit/>
          </a:bodyPr>
          <a:lstStyle/>
          <a:p>
            <a:pPr algn="l">
              <a:defRPr sz="1425" b="1">
                <a:solidFill>
                  <a:srgbClr val="277F8A"/>
                </a:solidFill>
                <a:latin typeface="Arial" panose="020B0604020202020204"/>
                <a:ea typeface="Arial" panose="020B0604020202020204"/>
                <a:cs typeface="Arial" panose="020B0604020202020204"/>
              </a:defRPr>
            </a:pPr>
            <a:r>
              <a:rPr sz="1425" b="1">
                <a:solidFill>
                  <a:srgbClr val="277F8A"/>
                </a:solidFill>
                <a:latin typeface="Arial" panose="020B0604020202020204"/>
                <a:ea typeface="Arial" panose="020B0604020202020204"/>
                <a:cs typeface="Arial" panose="020B0604020202020204"/>
              </a:rPr>
              <a:t>B23  Best feasible; selected</a:t>
            </a:r>
            <a:endParaRPr sz="1425" b="1">
              <a:solidFill>
                <a:srgbClr val="277F8A"/>
              </a:solidFill>
              <a:latin typeface="Arial" panose="020B0604020202020204"/>
              <a:ea typeface="Arial" panose="020B0604020202020204"/>
              <a:cs typeface="Arial" panose="020B0604020202020204"/>
            </a:endParaRPr>
          </a:p>
        </p:txBody>
      </p:sp>
      <p:sp>
        <p:nvSpPr>
          <p:cNvPr id="9" name="椭圆 8"/>
          <p:cNvSpPr>
            <a:spLocks noGrp="1"/>
          </p:cNvSpPr>
          <p:nvPr/>
        </p:nvSpPr>
        <p:spPr>
          <a:xfrm>
            <a:off x="3162300" y="7886700"/>
            <a:ext cx="123825" cy="123825"/>
          </a:xfrm>
          <a:prstGeom prst="ellipse">
            <a:avLst/>
          </a:prstGeom>
          <a:solidFill>
            <a:srgbClr val="277F8A"/>
          </a:solidFill>
          <a:ln w="9525">
            <a:solidFill>
              <a:srgbClr val="277F8A"/>
            </a:solidFill>
          </a:ln>
        </p:spPr>
      </p:sp>
      <p:sp>
        <p:nvSpPr>
          <p:cNvPr id="10" name="矩形 9"/>
          <p:cNvSpPr>
            <a:spLocks noGrp="1"/>
          </p:cNvSpPr>
          <p:nvPr/>
        </p:nvSpPr>
        <p:spPr>
          <a:xfrm>
            <a:off x="3381375" y="7810500"/>
            <a:ext cx="18097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quality-feasible</a:t>
            </a:r>
            <a:endParaRPr sz="1350" b="0">
              <a:solidFill>
                <a:srgbClr val="24292D"/>
              </a:solidFill>
              <a:latin typeface="Arial" panose="020B0604020202020204"/>
              <a:ea typeface="Arial" panose="020B0604020202020204"/>
              <a:cs typeface="Arial" panose="020B0604020202020204"/>
            </a:endParaRPr>
          </a:p>
        </p:txBody>
      </p:sp>
      <p:sp>
        <p:nvSpPr>
          <p:cNvPr id="11" name="直接连接符 10"/>
          <p:cNvSpPr>
            <a:spLocks noGrp="1"/>
          </p:cNvSpPr>
          <p:nvPr/>
        </p:nvSpPr>
        <p:spPr>
          <a:xfrm>
            <a:off x="5400675" y="7877175"/>
            <a:ext cx="133350" cy="133350"/>
          </a:xfrm>
          <a:prstGeom prst="line">
            <a:avLst/>
          </a:prstGeom>
          <a:noFill/>
          <a:ln w="19050">
            <a:solidFill>
              <a:srgbClr val="A35F42"/>
            </a:solidFill>
          </a:ln>
        </p:spPr>
      </p:sp>
      <p:sp>
        <p:nvSpPr>
          <p:cNvPr id="12" name="直接连接符 11"/>
          <p:cNvSpPr>
            <a:spLocks noGrp="1"/>
          </p:cNvSpPr>
          <p:nvPr/>
        </p:nvSpPr>
        <p:spPr>
          <a:xfrm flipV="1">
            <a:off x="5400675" y="7877175"/>
            <a:ext cx="133350" cy="133350"/>
          </a:xfrm>
          <a:prstGeom prst="line">
            <a:avLst/>
          </a:prstGeom>
          <a:noFill/>
          <a:ln w="19050">
            <a:solidFill>
              <a:srgbClr val="A35F42"/>
            </a:solidFill>
          </a:ln>
        </p:spPr>
      </p:sp>
      <p:sp>
        <p:nvSpPr>
          <p:cNvPr id="13" name="矩形 12"/>
          <p:cNvSpPr>
            <a:spLocks noGrp="1"/>
          </p:cNvSpPr>
          <p:nvPr/>
        </p:nvSpPr>
        <p:spPr>
          <a:xfrm>
            <a:off x="5638800" y="7810500"/>
            <a:ext cx="1381125"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infeasible</a:t>
            </a:r>
            <a:endParaRPr sz="1350" b="0">
              <a:solidFill>
                <a:srgbClr val="24292D"/>
              </a:solidFill>
              <a:latin typeface="Arial" panose="020B0604020202020204"/>
              <a:ea typeface="Arial" panose="020B0604020202020204"/>
              <a:cs typeface="Arial" panose="020B0604020202020204"/>
            </a:endParaRPr>
          </a:p>
        </p:txBody>
      </p:sp>
      <p:sp>
        <p:nvSpPr>
          <p:cNvPr id="14" name="直接连接符 13"/>
          <p:cNvSpPr>
            <a:spLocks noGrp="1"/>
          </p:cNvSpPr>
          <p:nvPr/>
        </p:nvSpPr>
        <p:spPr>
          <a:xfrm>
            <a:off x="7210425" y="7953375"/>
            <a:ext cx="390525" cy="953"/>
          </a:xfrm>
          <a:prstGeom prst="line">
            <a:avLst/>
          </a:prstGeom>
          <a:noFill/>
          <a:ln w="26670">
            <a:solidFill>
              <a:srgbClr val="277F8A"/>
            </a:solidFill>
          </a:ln>
        </p:spPr>
      </p:sp>
      <p:sp>
        <p:nvSpPr>
          <p:cNvPr id="15" name="矩形 14"/>
          <p:cNvSpPr>
            <a:spLocks noGrp="1"/>
          </p:cNvSpPr>
          <p:nvPr/>
        </p:nvSpPr>
        <p:spPr>
          <a:xfrm>
            <a:off x="7715250" y="7810500"/>
            <a:ext cx="224790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best feasible so far</a:t>
            </a:r>
            <a:endParaRPr sz="1350" b="0">
              <a:solidFill>
                <a:srgbClr val="24292D"/>
              </a:solidFill>
              <a:latin typeface="Arial" panose="020B0604020202020204"/>
              <a:ea typeface="Arial" panose="020B0604020202020204"/>
              <a:cs typeface="Arial" panose="020B0604020202020204"/>
            </a:endParaRPr>
          </a:p>
        </p:txBody>
      </p:sp>
      <p:sp>
        <p:nvSpPr>
          <p:cNvPr id="16" name="直接连接符 15"/>
          <p:cNvSpPr>
            <a:spLocks noGrp="1"/>
          </p:cNvSpPr>
          <p:nvPr/>
        </p:nvSpPr>
        <p:spPr>
          <a:xfrm>
            <a:off x="238125" y="8315325"/>
            <a:ext cx="13192125" cy="953"/>
          </a:xfrm>
          <a:prstGeom prst="line">
            <a:avLst/>
          </a:prstGeom>
          <a:noFill/>
          <a:ln w="13335">
            <a:solidFill>
              <a:srgbClr val="D7DDE1"/>
            </a:solidFill>
          </a:ln>
        </p:spPr>
      </p:sp>
      <p:sp>
        <p:nvSpPr>
          <p:cNvPr id="17" name="矩形 16"/>
          <p:cNvSpPr>
            <a:spLocks noGrp="1"/>
          </p:cNvSpPr>
          <p:nvPr/>
        </p:nvSpPr>
        <p:spPr>
          <a:xfrm>
            <a:off x="171450" y="8467725"/>
            <a:ext cx="333375" cy="381000"/>
          </a:xfrm>
          <a:prstGeom prst="rect">
            <a:avLst/>
          </a:prstGeom>
          <a:noFill/>
          <a:ln w="0">
            <a:noFill/>
          </a:ln>
        </p:spPr>
        <p:txBody>
          <a:bodyPr wrap="none" lIns="0" tIns="0" rIns="0" bIns="0" anchor="ctr">
            <a:noAutofit/>
          </a:bodyPr>
          <a:lstStyle/>
          <a:p>
            <a:pPr algn="l">
              <a:defRPr sz="2250" b="1">
                <a:solidFill>
                  <a:srgbClr val="111111"/>
                </a:solidFill>
                <a:latin typeface="Arial" panose="020B0604020202020204"/>
                <a:ea typeface="Arial" panose="020B0604020202020204"/>
                <a:cs typeface="Arial" panose="020B0604020202020204"/>
              </a:defRPr>
            </a:pPr>
            <a:r>
              <a:rPr sz="2250" b="1">
                <a:solidFill>
                  <a:srgbClr val="111111"/>
                </a:solidFill>
                <a:latin typeface="Arial" panose="020B0604020202020204"/>
                <a:ea typeface="Arial" panose="020B0604020202020204"/>
                <a:cs typeface="Arial" panose="020B0604020202020204"/>
              </a:rPr>
              <a:t>b</a:t>
            </a:r>
            <a:endParaRPr sz="2250" b="1">
              <a:solidFill>
                <a:srgbClr val="111111"/>
              </a:solidFill>
              <a:latin typeface="Arial" panose="020B0604020202020204"/>
              <a:ea typeface="Arial" panose="020B0604020202020204"/>
              <a:cs typeface="Arial" panose="020B0604020202020204"/>
            </a:endParaRPr>
          </a:p>
        </p:txBody>
      </p:sp>
      <p:sp>
        <p:nvSpPr>
          <p:cNvPr id="18" name="矩形 17"/>
          <p:cNvSpPr>
            <a:spLocks noGrp="1"/>
          </p:cNvSpPr>
          <p:nvPr/>
        </p:nvSpPr>
        <p:spPr>
          <a:xfrm>
            <a:off x="590550" y="8467725"/>
            <a:ext cx="12668250" cy="381000"/>
          </a:xfrm>
          <a:prstGeom prst="rect">
            <a:avLst/>
          </a:prstGeom>
          <a:noFill/>
          <a:ln w="0">
            <a:noFill/>
          </a:ln>
        </p:spPr>
        <p:txBody>
          <a:bodyPr wrap="none" lIns="0" tIns="0" rIns="0" bIns="0" anchor="ctr">
            <a:noAutofit/>
          </a:bodyPr>
          <a:lstStyle/>
          <a:p>
            <a:pPr algn="l">
              <a:defRPr sz="1725" b="0">
                <a:solidFill>
                  <a:srgbClr val="24292D"/>
                </a:solidFill>
                <a:latin typeface="Arial" panose="020B0604020202020204"/>
                <a:ea typeface="Arial" panose="020B0604020202020204"/>
                <a:cs typeface="Arial" panose="020B0604020202020204"/>
              </a:defRPr>
            </a:pPr>
            <a:r>
              <a:rPr sz="1725" b="0">
                <a:solidFill>
                  <a:srgbClr val="24292D"/>
                </a:solidFill>
                <a:latin typeface="Arial" panose="020B0604020202020204"/>
                <a:ea typeface="Arial" panose="020B0604020202020204"/>
                <a:cs typeface="Arial" panose="020B0604020202020204"/>
              </a:rPr>
              <a:t>From a failed batch to a retested procedure</a:t>
            </a:r>
            <a:endParaRPr sz="1725" b="0">
              <a:solidFill>
                <a:srgbClr val="24292D"/>
              </a:solidFill>
              <a:latin typeface="Arial" panose="020B0604020202020204"/>
              <a:ea typeface="Arial" panose="020B0604020202020204"/>
              <a:cs typeface="Arial" panose="020B0604020202020204"/>
            </a:endParaRPr>
          </a:p>
        </p:txBody>
      </p:sp>
      <p:sp>
        <p:nvSpPr>
          <p:cNvPr id="19" name="矩形 18"/>
          <p:cNvSpPr>
            <a:spLocks noGrp="1"/>
          </p:cNvSpPr>
          <p:nvPr/>
        </p:nvSpPr>
        <p:spPr>
          <a:xfrm>
            <a:off x="514350" y="8972550"/>
            <a:ext cx="6191250" cy="381000"/>
          </a:xfrm>
          <a:prstGeom prst="rect">
            <a:avLst/>
          </a:prstGeom>
          <a:noFill/>
          <a:ln w="0">
            <a:noFill/>
          </a:ln>
        </p:spPr>
        <p:txBody>
          <a:bodyPr wrap="none" lIns="0" tIns="0" rIns="0" bIns="0" anchor="ctr">
            <a:noAutofit/>
          </a:bodyPr>
          <a:lstStyle/>
          <a:p>
            <a:pPr algn="l">
              <a:defRPr sz="1800" b="1">
                <a:solidFill>
                  <a:srgbClr val="277F8A"/>
                </a:solidFill>
                <a:latin typeface="Arial" panose="020B0604020202020204"/>
                <a:ea typeface="Arial" panose="020B0604020202020204"/>
                <a:cs typeface="Arial" panose="020B0604020202020204"/>
              </a:defRPr>
            </a:pPr>
            <a:r>
              <a:rPr sz="1800" b="1">
                <a:solidFill>
                  <a:srgbClr val="277F8A"/>
                </a:solidFill>
                <a:latin typeface="Arial" panose="020B0604020202020204"/>
                <a:ea typeface="Arial" panose="020B0604020202020204"/>
                <a:cs typeface="Arial" panose="020B0604020202020204"/>
              </a:rPr>
              <a:t>B19 → B20  first feasible result</a:t>
            </a:r>
            <a:endParaRPr sz="1800" b="1">
              <a:solidFill>
                <a:srgbClr val="277F8A"/>
              </a:solidFill>
              <a:latin typeface="Arial" panose="020B0604020202020204"/>
              <a:ea typeface="Arial" panose="020B0604020202020204"/>
              <a:cs typeface="Arial" panose="020B0604020202020204"/>
            </a:endParaRPr>
          </a:p>
        </p:txBody>
      </p:sp>
      <p:sp>
        <p:nvSpPr>
          <p:cNvPr id="20" name="矩形 19"/>
          <p:cNvSpPr>
            <a:spLocks noGrp="1"/>
          </p:cNvSpPr>
          <p:nvPr/>
        </p:nvSpPr>
        <p:spPr>
          <a:xfrm>
            <a:off x="533400" y="9420225"/>
            <a:ext cx="1666875" cy="323850"/>
          </a:xfrm>
          <a:prstGeom prst="rect">
            <a:avLst/>
          </a:prstGeom>
          <a:noFill/>
          <a:ln w="0">
            <a:noFill/>
          </a:ln>
        </p:spPr>
        <p:txBody>
          <a:bodyPr wrap="none" lIns="0" tIns="0" rIns="0" bIns="0" anchor="ctr">
            <a:noAutofit/>
          </a:bodyPr>
          <a:lstStyle/>
          <a:p>
            <a:pPr algn="l">
              <a:defRPr sz="1425" b="0">
                <a:solidFill>
                  <a:srgbClr val="657078"/>
                </a:solidFill>
                <a:latin typeface="Arial" panose="020B0604020202020204"/>
                <a:ea typeface="Arial" panose="020B0604020202020204"/>
                <a:cs typeface="Arial" panose="020B0604020202020204"/>
              </a:defRPr>
            </a:pPr>
            <a:r>
              <a:rPr sz="1425" b="0">
                <a:solidFill>
                  <a:srgbClr val="657078"/>
                </a:solidFill>
                <a:latin typeface="Arial" panose="020B0604020202020204"/>
                <a:ea typeface="Arial" panose="020B0604020202020204"/>
                <a:cs typeface="Arial" panose="020B0604020202020204"/>
              </a:rPr>
              <a:t>Heating</a:t>
            </a:r>
            <a:endParaRPr sz="1425" b="0">
              <a:solidFill>
                <a:srgbClr val="657078"/>
              </a:solidFill>
              <a:latin typeface="Arial" panose="020B0604020202020204"/>
              <a:ea typeface="Arial" panose="020B0604020202020204"/>
              <a:cs typeface="Arial" panose="020B0604020202020204"/>
            </a:endParaRPr>
          </a:p>
        </p:txBody>
      </p:sp>
      <p:sp>
        <p:nvSpPr>
          <p:cNvPr id="21" name="矩形 20"/>
          <p:cNvSpPr>
            <a:spLocks noGrp="1"/>
          </p:cNvSpPr>
          <p:nvPr/>
        </p:nvSpPr>
        <p:spPr>
          <a:xfrm>
            <a:off x="2143125" y="9420225"/>
            <a:ext cx="1762125" cy="323850"/>
          </a:xfrm>
          <a:prstGeom prst="rect">
            <a:avLst/>
          </a:prstGeom>
          <a:noFill/>
          <a:ln w="0">
            <a:noFill/>
          </a:ln>
        </p:spPr>
        <p:txBody>
          <a:bodyPr wrap="none" lIns="0" tIns="0" rIns="0" bIns="0" anchor="ctr">
            <a:noAutofit/>
          </a:bodyPr>
          <a:lstStyle/>
          <a:p>
            <a:pPr algn="l">
              <a:defRPr sz="1500" b="0">
                <a:solidFill>
                  <a:srgbClr val="24292D"/>
                </a:solidFill>
                <a:latin typeface="Arial" panose="020B0604020202020204"/>
                <a:ea typeface="Arial" panose="020B0604020202020204"/>
                <a:cs typeface="Arial" panose="020B0604020202020204"/>
              </a:defRPr>
            </a:pPr>
            <a:r>
              <a:rPr sz="1500" b="0">
                <a:solidFill>
                  <a:srgbClr val="24292D"/>
                </a:solidFill>
                <a:latin typeface="Arial" panose="020B0604020202020204"/>
                <a:ea typeface="Arial" panose="020B0604020202020204"/>
                <a:cs typeface="Arial" panose="020B0604020202020204"/>
              </a:rPr>
              <a:t>390 K / 30 min</a:t>
            </a:r>
            <a:endParaRPr sz="1500" b="0">
              <a:solidFill>
                <a:srgbClr val="24292D"/>
              </a:solidFill>
              <a:latin typeface="Arial" panose="020B0604020202020204"/>
              <a:ea typeface="Arial" panose="020B0604020202020204"/>
              <a:cs typeface="Arial" panose="020B0604020202020204"/>
            </a:endParaRPr>
          </a:p>
        </p:txBody>
      </p:sp>
      <p:sp>
        <p:nvSpPr>
          <p:cNvPr id="22" name="矩形 21"/>
          <p:cNvSpPr>
            <a:spLocks noGrp="1"/>
          </p:cNvSpPr>
          <p:nvPr/>
        </p:nvSpPr>
        <p:spPr>
          <a:xfrm>
            <a:off x="3914775" y="9420225"/>
            <a:ext cx="352425" cy="323850"/>
          </a:xfrm>
          <a:prstGeom prst="rect">
            <a:avLst/>
          </a:prstGeom>
          <a:noFill/>
          <a:ln w="0">
            <a:noFill/>
          </a:ln>
        </p:spPr>
        <p:txBody>
          <a:bodyPr wrap="none" lIns="0" tIns="0" rIns="0" bIns="0" anchor="ctr">
            <a:noAutofit/>
          </a:bodyPr>
          <a:lstStyle/>
          <a:p>
            <a:pPr algn="ctr">
              <a:defRPr sz="1650" b="0">
                <a:solidFill>
                  <a:srgbClr val="A35F42"/>
                </a:solidFill>
                <a:latin typeface="Arial" panose="020B0604020202020204"/>
                <a:ea typeface="Arial" panose="020B0604020202020204"/>
                <a:cs typeface="Arial" panose="020B0604020202020204"/>
              </a:defRPr>
            </a:pPr>
            <a:r>
              <a:rPr sz="1650" b="0">
                <a:solidFill>
                  <a:srgbClr val="A35F42"/>
                </a:solidFill>
                <a:latin typeface="Arial" panose="020B0604020202020204"/>
                <a:ea typeface="Arial" panose="020B0604020202020204"/>
                <a:cs typeface="Arial" panose="020B0604020202020204"/>
              </a:rPr>
              <a:t>→</a:t>
            </a:r>
            <a:endParaRPr sz="1650" b="0">
              <a:solidFill>
                <a:srgbClr val="A35F42"/>
              </a:solidFill>
              <a:latin typeface="Arial" panose="020B0604020202020204"/>
              <a:ea typeface="Arial" panose="020B0604020202020204"/>
              <a:cs typeface="Arial" panose="020B0604020202020204"/>
            </a:endParaRPr>
          </a:p>
        </p:txBody>
      </p:sp>
      <p:sp>
        <p:nvSpPr>
          <p:cNvPr id="23" name="矩形 22"/>
          <p:cNvSpPr>
            <a:spLocks noGrp="1"/>
          </p:cNvSpPr>
          <p:nvPr/>
        </p:nvSpPr>
        <p:spPr>
          <a:xfrm>
            <a:off x="4333875" y="9420225"/>
            <a:ext cx="2238375" cy="323850"/>
          </a:xfrm>
          <a:prstGeom prst="rect">
            <a:avLst/>
          </a:prstGeom>
          <a:noFill/>
          <a:ln w="0">
            <a:noFill/>
          </a:ln>
        </p:spPr>
        <p:txBody>
          <a:bodyPr wrap="none" lIns="0" tIns="0" rIns="0" bIns="0" anchor="ctr">
            <a:noAutofit/>
          </a:bodyPr>
          <a:lstStyle/>
          <a:p>
            <a:pPr algn="l">
              <a:defRPr sz="1500" b="1">
                <a:solidFill>
                  <a:srgbClr val="24292D"/>
                </a:solidFill>
                <a:latin typeface="Arial" panose="020B0604020202020204"/>
                <a:ea typeface="Arial" panose="020B0604020202020204"/>
                <a:cs typeface="Arial" panose="020B0604020202020204"/>
              </a:defRPr>
            </a:pPr>
            <a:r>
              <a:rPr sz="1500" b="1">
                <a:solidFill>
                  <a:srgbClr val="24292D"/>
                </a:solidFill>
                <a:latin typeface="Arial" panose="020B0604020202020204"/>
                <a:ea typeface="Arial" panose="020B0604020202020204"/>
                <a:cs typeface="Arial" panose="020B0604020202020204"/>
              </a:rPr>
              <a:t>410 K / 20 min</a:t>
            </a:r>
            <a:endParaRPr sz="1500" b="1">
              <a:solidFill>
                <a:srgbClr val="24292D"/>
              </a:solidFill>
              <a:latin typeface="Arial" panose="020B0604020202020204"/>
              <a:ea typeface="Arial" panose="020B0604020202020204"/>
              <a:cs typeface="Arial" panose="020B0604020202020204"/>
            </a:endParaRPr>
          </a:p>
        </p:txBody>
      </p:sp>
      <p:sp>
        <p:nvSpPr>
          <p:cNvPr id="24" name="矩形 23"/>
          <p:cNvSpPr>
            <a:spLocks noGrp="1"/>
          </p:cNvSpPr>
          <p:nvPr/>
        </p:nvSpPr>
        <p:spPr>
          <a:xfrm>
            <a:off x="533400" y="9848850"/>
            <a:ext cx="1666875" cy="323850"/>
          </a:xfrm>
          <a:prstGeom prst="rect">
            <a:avLst/>
          </a:prstGeom>
          <a:noFill/>
          <a:ln w="0">
            <a:noFill/>
          </a:ln>
        </p:spPr>
        <p:txBody>
          <a:bodyPr wrap="none" lIns="0" tIns="0" rIns="0" bIns="0" anchor="ctr">
            <a:noAutofit/>
          </a:bodyPr>
          <a:lstStyle/>
          <a:p>
            <a:pPr algn="l">
              <a:defRPr sz="1425" b="0">
                <a:solidFill>
                  <a:srgbClr val="657078"/>
                </a:solidFill>
                <a:latin typeface="Arial" panose="020B0604020202020204"/>
                <a:ea typeface="Arial" panose="020B0604020202020204"/>
                <a:cs typeface="Arial" panose="020B0604020202020204"/>
              </a:defRPr>
            </a:pPr>
            <a:r>
              <a:rPr sz="1425" b="0">
                <a:solidFill>
                  <a:srgbClr val="657078"/>
                </a:solidFill>
                <a:latin typeface="Arial" panose="020B0604020202020204"/>
                <a:ea typeface="Arial" panose="020B0604020202020204"/>
                <a:cs typeface="Arial" panose="020B0604020202020204"/>
              </a:rPr>
              <a:t>Cooling</a:t>
            </a:r>
            <a:endParaRPr sz="1425" b="0">
              <a:solidFill>
                <a:srgbClr val="657078"/>
              </a:solidFill>
              <a:latin typeface="Arial" panose="020B0604020202020204"/>
              <a:ea typeface="Arial" panose="020B0604020202020204"/>
              <a:cs typeface="Arial" panose="020B0604020202020204"/>
            </a:endParaRPr>
          </a:p>
        </p:txBody>
      </p:sp>
      <p:sp>
        <p:nvSpPr>
          <p:cNvPr id="25" name="矩形 24"/>
          <p:cNvSpPr>
            <a:spLocks noGrp="1"/>
          </p:cNvSpPr>
          <p:nvPr/>
        </p:nvSpPr>
        <p:spPr>
          <a:xfrm>
            <a:off x="2143125" y="9848850"/>
            <a:ext cx="1762125" cy="323850"/>
          </a:xfrm>
          <a:prstGeom prst="rect">
            <a:avLst/>
          </a:prstGeom>
          <a:noFill/>
          <a:ln w="0">
            <a:noFill/>
          </a:ln>
        </p:spPr>
        <p:txBody>
          <a:bodyPr wrap="none" lIns="0" tIns="0" rIns="0" bIns="0" anchor="ctr">
            <a:noAutofit/>
          </a:bodyPr>
          <a:lstStyle/>
          <a:p>
            <a:pPr algn="l">
              <a:defRPr sz="1500" b="0">
                <a:solidFill>
                  <a:srgbClr val="24292D"/>
                </a:solidFill>
                <a:latin typeface="Arial" panose="020B0604020202020204"/>
                <a:ea typeface="Arial" panose="020B0604020202020204"/>
                <a:cs typeface="Arial" panose="020B0604020202020204"/>
              </a:defRPr>
            </a:pPr>
            <a:r>
              <a:rPr sz="1500" b="0">
                <a:solidFill>
                  <a:srgbClr val="24292D"/>
                </a:solidFill>
                <a:latin typeface="Arial" panose="020B0604020202020204"/>
                <a:ea typeface="Arial" panose="020B0604020202020204"/>
                <a:cs typeface="Arial" panose="020B0604020202020204"/>
              </a:rPr>
              <a:t>Direct to 260 K</a:t>
            </a:r>
            <a:endParaRPr sz="1500" b="0">
              <a:solidFill>
                <a:srgbClr val="24292D"/>
              </a:solidFill>
              <a:latin typeface="Arial" panose="020B0604020202020204"/>
              <a:ea typeface="Arial" panose="020B0604020202020204"/>
              <a:cs typeface="Arial" panose="020B0604020202020204"/>
            </a:endParaRPr>
          </a:p>
        </p:txBody>
      </p:sp>
      <p:sp>
        <p:nvSpPr>
          <p:cNvPr id="26" name="矩形 25"/>
          <p:cNvSpPr>
            <a:spLocks noGrp="1"/>
          </p:cNvSpPr>
          <p:nvPr/>
        </p:nvSpPr>
        <p:spPr>
          <a:xfrm>
            <a:off x="3914775" y="9848850"/>
            <a:ext cx="352425" cy="323850"/>
          </a:xfrm>
          <a:prstGeom prst="rect">
            <a:avLst/>
          </a:prstGeom>
          <a:noFill/>
          <a:ln w="0">
            <a:noFill/>
          </a:ln>
        </p:spPr>
        <p:txBody>
          <a:bodyPr wrap="none" lIns="0" tIns="0" rIns="0" bIns="0" anchor="ctr">
            <a:noAutofit/>
          </a:bodyPr>
          <a:lstStyle/>
          <a:p>
            <a:pPr algn="ctr">
              <a:defRPr sz="1650" b="0">
                <a:solidFill>
                  <a:srgbClr val="A35F42"/>
                </a:solidFill>
                <a:latin typeface="Arial" panose="020B0604020202020204"/>
                <a:ea typeface="Arial" panose="020B0604020202020204"/>
                <a:cs typeface="Arial" panose="020B0604020202020204"/>
              </a:defRPr>
            </a:pPr>
            <a:r>
              <a:rPr sz="1650" b="0">
                <a:solidFill>
                  <a:srgbClr val="A35F42"/>
                </a:solidFill>
                <a:latin typeface="Arial" panose="020B0604020202020204"/>
                <a:ea typeface="Arial" panose="020B0604020202020204"/>
                <a:cs typeface="Arial" panose="020B0604020202020204"/>
              </a:rPr>
              <a:t>→</a:t>
            </a:r>
            <a:endParaRPr sz="1650" b="0">
              <a:solidFill>
                <a:srgbClr val="A35F42"/>
              </a:solidFill>
              <a:latin typeface="Arial" panose="020B0604020202020204"/>
              <a:ea typeface="Arial" panose="020B0604020202020204"/>
              <a:cs typeface="Arial" panose="020B0604020202020204"/>
            </a:endParaRPr>
          </a:p>
        </p:txBody>
      </p:sp>
      <p:sp>
        <p:nvSpPr>
          <p:cNvPr id="27" name="矩形 26"/>
          <p:cNvSpPr>
            <a:spLocks noGrp="1"/>
          </p:cNvSpPr>
          <p:nvPr/>
        </p:nvSpPr>
        <p:spPr>
          <a:xfrm>
            <a:off x="4333875" y="9848850"/>
            <a:ext cx="2238375" cy="323850"/>
          </a:xfrm>
          <a:prstGeom prst="rect">
            <a:avLst/>
          </a:prstGeom>
          <a:noFill/>
          <a:ln w="0">
            <a:noFill/>
          </a:ln>
        </p:spPr>
        <p:txBody>
          <a:bodyPr wrap="none" lIns="0" tIns="0" rIns="0" bIns="0" anchor="ctr">
            <a:noAutofit/>
          </a:bodyPr>
          <a:lstStyle/>
          <a:p>
            <a:pPr algn="l">
              <a:defRPr sz="1425" b="1">
                <a:solidFill>
                  <a:srgbClr val="24292D"/>
                </a:solidFill>
                <a:latin typeface="Arial" panose="020B0604020202020204"/>
                <a:ea typeface="Arial" panose="020B0604020202020204"/>
                <a:cs typeface="Arial" panose="020B0604020202020204"/>
              </a:defRPr>
            </a:pPr>
            <a:r>
              <a:rPr sz="1425" b="1">
                <a:solidFill>
                  <a:srgbClr val="24292D"/>
                </a:solidFill>
                <a:latin typeface="Arial" panose="020B0604020202020204"/>
                <a:ea typeface="Arial" panose="020B0604020202020204"/>
                <a:cs typeface="Arial" panose="020B0604020202020204"/>
              </a:rPr>
              <a:t>320 → 290 → 260 K</a:t>
            </a:r>
            <a:endParaRPr sz="1425" b="1">
              <a:solidFill>
                <a:srgbClr val="24292D"/>
              </a:solidFill>
              <a:latin typeface="Arial" panose="020B0604020202020204"/>
              <a:ea typeface="Arial" panose="020B0604020202020204"/>
              <a:cs typeface="Arial" panose="020B0604020202020204"/>
            </a:endParaRPr>
          </a:p>
        </p:txBody>
      </p:sp>
      <p:sp>
        <p:nvSpPr>
          <p:cNvPr id="28" name="矩形 27"/>
          <p:cNvSpPr>
            <a:spLocks noGrp="1"/>
          </p:cNvSpPr>
          <p:nvPr/>
        </p:nvSpPr>
        <p:spPr>
          <a:xfrm>
            <a:off x="533400" y="10277475"/>
            <a:ext cx="1666875" cy="323850"/>
          </a:xfrm>
          <a:prstGeom prst="rect">
            <a:avLst/>
          </a:prstGeom>
          <a:noFill/>
          <a:ln w="0">
            <a:noFill/>
          </a:ln>
        </p:spPr>
        <p:txBody>
          <a:bodyPr wrap="none" lIns="0" tIns="0" rIns="0" bIns="0" anchor="ctr">
            <a:noAutofit/>
          </a:bodyPr>
          <a:lstStyle/>
          <a:p>
            <a:pPr algn="l">
              <a:defRPr sz="1425" b="0">
                <a:solidFill>
                  <a:srgbClr val="657078"/>
                </a:solidFill>
                <a:latin typeface="Arial" panose="020B0604020202020204"/>
                <a:ea typeface="Arial" panose="020B0604020202020204"/>
                <a:cs typeface="Arial" panose="020B0604020202020204"/>
              </a:defRPr>
            </a:pPr>
            <a:r>
              <a:rPr sz="1425" b="0">
                <a:solidFill>
                  <a:srgbClr val="657078"/>
                </a:solidFill>
                <a:latin typeface="Arial" panose="020B0604020202020204"/>
                <a:ea typeface="Arial" panose="020B0604020202020204"/>
                <a:cs typeface="Arial" panose="020B0604020202020204"/>
              </a:rPr>
              <a:t>Particle check</a:t>
            </a:r>
            <a:endParaRPr sz="1425" b="0">
              <a:solidFill>
                <a:srgbClr val="657078"/>
              </a:solidFill>
              <a:latin typeface="Arial" panose="020B0604020202020204"/>
              <a:ea typeface="Arial" panose="020B0604020202020204"/>
              <a:cs typeface="Arial" panose="020B0604020202020204"/>
            </a:endParaRPr>
          </a:p>
        </p:txBody>
      </p:sp>
      <p:sp>
        <p:nvSpPr>
          <p:cNvPr id="29" name="矩形 28"/>
          <p:cNvSpPr>
            <a:spLocks noGrp="1"/>
          </p:cNvSpPr>
          <p:nvPr/>
        </p:nvSpPr>
        <p:spPr>
          <a:xfrm>
            <a:off x="2143125" y="10277475"/>
            <a:ext cx="1762125" cy="323850"/>
          </a:xfrm>
          <a:prstGeom prst="rect">
            <a:avLst/>
          </a:prstGeom>
          <a:noFill/>
          <a:ln w="0">
            <a:noFill/>
          </a:ln>
        </p:spPr>
        <p:txBody>
          <a:bodyPr wrap="none" lIns="0" tIns="0" rIns="0" bIns="0" anchor="ctr">
            <a:noAutofit/>
          </a:bodyPr>
          <a:lstStyle/>
          <a:p>
            <a:pPr algn="l">
              <a:defRPr sz="1500" b="0">
                <a:solidFill>
                  <a:srgbClr val="24292D"/>
                </a:solidFill>
                <a:latin typeface="Arial" panose="020B0604020202020204"/>
                <a:ea typeface="Arial" panose="020B0604020202020204"/>
                <a:cs typeface="Arial" panose="020B0604020202020204"/>
              </a:defRPr>
            </a:pPr>
            <a:r>
              <a:rPr sz="1500" b="0">
                <a:solidFill>
                  <a:srgbClr val="24292D"/>
                </a:solidFill>
                <a:latin typeface="Arial" panose="020B0604020202020204"/>
                <a:ea typeface="Arial" panose="020B0604020202020204"/>
                <a:cs typeface="Arial" panose="020B0604020202020204"/>
              </a:rPr>
              <a:t>Performed</a:t>
            </a:r>
            <a:endParaRPr sz="1500" b="0">
              <a:solidFill>
                <a:srgbClr val="24292D"/>
              </a:solidFill>
              <a:latin typeface="Arial" panose="020B0604020202020204"/>
              <a:ea typeface="Arial" panose="020B0604020202020204"/>
              <a:cs typeface="Arial" panose="020B0604020202020204"/>
            </a:endParaRPr>
          </a:p>
        </p:txBody>
      </p:sp>
      <p:sp>
        <p:nvSpPr>
          <p:cNvPr id="30" name="矩形 29"/>
          <p:cNvSpPr>
            <a:spLocks noGrp="1"/>
          </p:cNvSpPr>
          <p:nvPr/>
        </p:nvSpPr>
        <p:spPr>
          <a:xfrm>
            <a:off x="3914775" y="10277475"/>
            <a:ext cx="352425" cy="323850"/>
          </a:xfrm>
          <a:prstGeom prst="rect">
            <a:avLst/>
          </a:prstGeom>
          <a:noFill/>
          <a:ln w="0">
            <a:noFill/>
          </a:ln>
        </p:spPr>
        <p:txBody>
          <a:bodyPr wrap="none" lIns="0" tIns="0" rIns="0" bIns="0" anchor="ctr">
            <a:noAutofit/>
          </a:bodyPr>
          <a:lstStyle/>
          <a:p>
            <a:pPr algn="ctr">
              <a:defRPr sz="1650" b="0">
                <a:solidFill>
                  <a:srgbClr val="A35F42"/>
                </a:solidFill>
                <a:latin typeface="Arial" panose="020B0604020202020204"/>
                <a:ea typeface="Arial" panose="020B0604020202020204"/>
                <a:cs typeface="Arial" panose="020B0604020202020204"/>
              </a:defRPr>
            </a:pPr>
            <a:r>
              <a:rPr sz="1650" b="0">
                <a:solidFill>
                  <a:srgbClr val="A35F42"/>
                </a:solidFill>
                <a:latin typeface="Arial" panose="020B0604020202020204"/>
                <a:ea typeface="Arial" panose="020B0604020202020204"/>
                <a:cs typeface="Arial" panose="020B0604020202020204"/>
              </a:rPr>
              <a:t>→</a:t>
            </a:r>
            <a:endParaRPr sz="1650" b="0">
              <a:solidFill>
                <a:srgbClr val="A35F42"/>
              </a:solidFill>
              <a:latin typeface="Arial" panose="020B0604020202020204"/>
              <a:ea typeface="Arial" panose="020B0604020202020204"/>
              <a:cs typeface="Arial" panose="020B0604020202020204"/>
            </a:endParaRPr>
          </a:p>
        </p:txBody>
      </p:sp>
      <p:sp>
        <p:nvSpPr>
          <p:cNvPr id="31" name="矩形 30"/>
          <p:cNvSpPr>
            <a:spLocks noGrp="1"/>
          </p:cNvSpPr>
          <p:nvPr/>
        </p:nvSpPr>
        <p:spPr>
          <a:xfrm>
            <a:off x="4333875" y="10277475"/>
            <a:ext cx="2238375" cy="323850"/>
          </a:xfrm>
          <a:prstGeom prst="rect">
            <a:avLst/>
          </a:prstGeom>
          <a:noFill/>
          <a:ln w="0">
            <a:noFill/>
          </a:ln>
        </p:spPr>
        <p:txBody>
          <a:bodyPr wrap="none" lIns="0" tIns="0" rIns="0" bIns="0" anchor="ctr">
            <a:noAutofit/>
          </a:bodyPr>
          <a:lstStyle/>
          <a:p>
            <a:pPr algn="l">
              <a:defRPr sz="1500" b="1">
                <a:solidFill>
                  <a:srgbClr val="24292D"/>
                </a:solidFill>
                <a:latin typeface="Arial" panose="020B0604020202020204"/>
                <a:ea typeface="Arial" panose="020B0604020202020204"/>
                <a:cs typeface="Arial" panose="020B0604020202020204"/>
              </a:defRPr>
            </a:pPr>
            <a:r>
              <a:rPr sz="1500" b="1">
                <a:solidFill>
                  <a:srgbClr val="24292D"/>
                </a:solidFill>
                <a:latin typeface="Arial" panose="020B0604020202020204"/>
                <a:ea typeface="Arial" panose="020B0604020202020204"/>
                <a:cs typeface="Arial" panose="020B0604020202020204"/>
              </a:rPr>
              <a:t>Omitted</a:t>
            </a:r>
            <a:endParaRPr sz="1500" b="1">
              <a:solidFill>
                <a:srgbClr val="24292D"/>
              </a:solidFill>
              <a:latin typeface="Arial" panose="020B0604020202020204"/>
              <a:ea typeface="Arial" panose="020B0604020202020204"/>
              <a:cs typeface="Arial" panose="020B0604020202020204"/>
            </a:endParaRPr>
          </a:p>
        </p:txBody>
      </p:sp>
      <p:sp>
        <p:nvSpPr>
          <p:cNvPr id="32" name="矩形 31"/>
          <p:cNvSpPr>
            <a:spLocks noGrp="1"/>
          </p:cNvSpPr>
          <p:nvPr/>
        </p:nvSpPr>
        <p:spPr>
          <a:xfrm>
            <a:off x="533400" y="10858500"/>
            <a:ext cx="6143625" cy="371475"/>
          </a:xfrm>
          <a:prstGeom prst="rect">
            <a:avLst/>
          </a:prstGeom>
          <a:noFill/>
          <a:ln w="0">
            <a:noFill/>
          </a:ln>
        </p:spPr>
        <p:txBody>
          <a:bodyPr wrap="none" lIns="0" tIns="0" rIns="0" bIns="0" anchor="ctr">
            <a:noAutofit/>
          </a:bodyPr>
          <a:lstStyle/>
          <a:p>
            <a:pPr algn="l">
              <a:defRPr sz="1650" b="1">
                <a:solidFill>
                  <a:srgbClr val="277F8A"/>
                </a:solidFill>
                <a:latin typeface="Arial" panose="020B0604020202020204"/>
                <a:ea typeface="Arial" panose="020B0604020202020204"/>
                <a:cs typeface="Arial" panose="020B0604020202020204"/>
              </a:defRPr>
            </a:pPr>
            <a:r>
              <a:rPr sz="1650" b="1">
                <a:solidFill>
                  <a:srgbClr val="277F8A"/>
                </a:solidFill>
                <a:latin typeface="Arial" panose="020B0604020202020204"/>
                <a:ea typeface="Arial" panose="020B0604020202020204"/>
                <a:cs typeface="Arial" panose="020B0604020202020204"/>
              </a:rPr>
              <a:t>Recovery 49.0% → 52.9%   ·   fines 52.8% → 21.5%</a:t>
            </a:r>
            <a:endParaRPr sz="1650" b="1">
              <a:solidFill>
                <a:srgbClr val="277F8A"/>
              </a:solidFill>
              <a:latin typeface="Arial" panose="020B0604020202020204"/>
              <a:ea typeface="Arial" panose="020B0604020202020204"/>
              <a:cs typeface="Arial" panose="020B0604020202020204"/>
            </a:endParaRPr>
          </a:p>
        </p:txBody>
      </p:sp>
      <p:sp>
        <p:nvSpPr>
          <p:cNvPr id="33" name="矩形 32"/>
          <p:cNvSpPr>
            <a:spLocks noGrp="1"/>
          </p:cNvSpPr>
          <p:nvPr/>
        </p:nvSpPr>
        <p:spPr>
          <a:xfrm>
            <a:off x="533400" y="11268075"/>
            <a:ext cx="6143625" cy="342900"/>
          </a:xfrm>
          <a:prstGeom prst="rect">
            <a:avLst/>
          </a:prstGeom>
          <a:noFill/>
          <a:ln w="0">
            <a:noFill/>
          </a:ln>
        </p:spPr>
        <p:txBody>
          <a:bodyPr wrap="none" lIns="0" tIns="0" rIns="0" bIns="0" anchor="ctr">
            <a:noAutofit/>
          </a:bodyPr>
          <a:lstStyle/>
          <a:p>
            <a:pPr algn="l">
              <a:defRPr sz="1350" b="0">
                <a:solidFill>
                  <a:srgbClr val="657078"/>
                </a:solidFill>
                <a:latin typeface="Arial" panose="020B0604020202020204"/>
                <a:ea typeface="Arial" panose="020B0604020202020204"/>
                <a:cs typeface="Arial" panose="020B0604020202020204"/>
              </a:defRPr>
            </a:pPr>
            <a:r>
              <a:rPr sz="1350" b="0">
                <a:solidFill>
                  <a:srgbClr val="657078"/>
                </a:solidFill>
                <a:latin typeface="Arial" panose="020B0604020202020204"/>
                <a:ea typeface="Arial" panose="020B0604020202020204"/>
                <a:cs typeface="Arial" panose="020B0604020202020204"/>
              </a:rPr>
              <a:t>Changes occurred together; their separate effects are not identified.</a:t>
            </a:r>
            <a:endParaRPr sz="1350" b="0">
              <a:solidFill>
                <a:srgbClr val="657078"/>
              </a:solidFill>
              <a:latin typeface="Arial" panose="020B0604020202020204"/>
              <a:ea typeface="Arial" panose="020B0604020202020204"/>
              <a:cs typeface="Arial" panose="020B0604020202020204"/>
            </a:endParaRPr>
          </a:p>
        </p:txBody>
      </p:sp>
      <p:sp>
        <p:nvSpPr>
          <p:cNvPr id="34" name="直接连接符 33"/>
          <p:cNvSpPr>
            <a:spLocks noGrp="1"/>
          </p:cNvSpPr>
          <p:nvPr/>
        </p:nvSpPr>
        <p:spPr>
          <a:xfrm>
            <a:off x="6915150" y="9020175"/>
            <a:ext cx="953" cy="2647950"/>
          </a:xfrm>
          <a:prstGeom prst="line">
            <a:avLst/>
          </a:prstGeom>
          <a:noFill/>
          <a:ln w="12383">
            <a:solidFill>
              <a:srgbClr val="D7DDE1"/>
            </a:solidFill>
          </a:ln>
        </p:spPr>
      </p:sp>
      <p:sp>
        <p:nvSpPr>
          <p:cNvPr id="35" name="矩形 34"/>
          <p:cNvSpPr>
            <a:spLocks noGrp="1"/>
          </p:cNvSpPr>
          <p:nvPr/>
        </p:nvSpPr>
        <p:spPr>
          <a:xfrm>
            <a:off x="7239000" y="8972550"/>
            <a:ext cx="6000750" cy="381000"/>
          </a:xfrm>
          <a:prstGeom prst="rect">
            <a:avLst/>
          </a:prstGeom>
          <a:noFill/>
          <a:ln w="0">
            <a:noFill/>
          </a:ln>
        </p:spPr>
        <p:txBody>
          <a:bodyPr wrap="none" lIns="0" tIns="0" rIns="0" bIns="0" anchor="ctr">
            <a:noAutofit/>
          </a:bodyPr>
          <a:lstStyle/>
          <a:p>
            <a:pPr algn="l">
              <a:defRPr sz="1800" b="1">
                <a:solidFill>
                  <a:srgbClr val="277F8A"/>
                </a:solidFill>
                <a:latin typeface="Arial" panose="020B0604020202020204"/>
                <a:ea typeface="Arial" panose="020B0604020202020204"/>
                <a:cs typeface="Arial" panose="020B0604020202020204"/>
              </a:defRPr>
            </a:pPr>
            <a:r>
              <a:rPr sz="1800" b="1">
                <a:solidFill>
                  <a:srgbClr val="277F8A"/>
                </a:solidFill>
                <a:latin typeface="Arial" panose="020B0604020202020204"/>
                <a:ea typeface="Arial" panose="020B0604020202020204"/>
                <a:cs typeface="Arial" panose="020B0604020202020204"/>
              </a:rPr>
              <a:t>B23  sealed recommendation</a:t>
            </a:r>
            <a:endParaRPr sz="1800" b="1">
              <a:solidFill>
                <a:srgbClr val="277F8A"/>
              </a:solidFill>
              <a:latin typeface="Arial" panose="020B0604020202020204"/>
              <a:ea typeface="Arial" panose="020B0604020202020204"/>
              <a:cs typeface="Arial" panose="020B0604020202020204"/>
            </a:endParaRPr>
          </a:p>
        </p:txBody>
      </p:sp>
      <p:sp>
        <p:nvSpPr>
          <p:cNvPr id="36" name="矩形 35"/>
          <p:cNvSpPr>
            <a:spLocks noGrp="1"/>
          </p:cNvSpPr>
          <p:nvPr/>
        </p:nvSpPr>
        <p:spPr>
          <a:xfrm>
            <a:off x="7239000" y="9420225"/>
            <a:ext cx="5991225" cy="352425"/>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Charge S2/C1  →  heat 450 K / 15 min  →  quench  →  seed 50 mg</a:t>
            </a:r>
            <a:endParaRPr sz="1350" b="0">
              <a:solidFill>
                <a:srgbClr val="24292D"/>
              </a:solidFill>
              <a:latin typeface="Arial" panose="020B0604020202020204"/>
              <a:ea typeface="Arial" panose="020B0604020202020204"/>
              <a:cs typeface="Arial" panose="020B0604020202020204"/>
            </a:endParaRPr>
          </a:p>
        </p:txBody>
      </p:sp>
      <p:sp>
        <p:nvSpPr>
          <p:cNvPr id="37" name="矩形 36"/>
          <p:cNvSpPr>
            <a:spLocks noGrp="1"/>
          </p:cNvSpPr>
          <p:nvPr/>
        </p:nvSpPr>
        <p:spPr>
          <a:xfrm>
            <a:off x="7239000" y="9877425"/>
            <a:ext cx="5991225" cy="352425"/>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Cool 310 → 280 → 250 K (4 h each)  →  hold 4 h  →  filter + assay</a:t>
            </a:r>
            <a:endParaRPr sz="1350" b="0">
              <a:solidFill>
                <a:srgbClr val="24292D"/>
              </a:solidFill>
              <a:latin typeface="Arial" panose="020B0604020202020204"/>
              <a:ea typeface="Arial" panose="020B0604020202020204"/>
              <a:cs typeface="Arial" panose="020B0604020202020204"/>
            </a:endParaRPr>
          </a:p>
        </p:txBody>
      </p:sp>
      <p:sp>
        <p:nvSpPr>
          <p:cNvPr id="38" name="直接连接符 37"/>
          <p:cNvSpPr>
            <a:spLocks noGrp="1"/>
          </p:cNvSpPr>
          <p:nvPr/>
        </p:nvSpPr>
        <p:spPr>
          <a:xfrm>
            <a:off x="7239000" y="10401300"/>
            <a:ext cx="5972175" cy="953"/>
          </a:xfrm>
          <a:prstGeom prst="line">
            <a:avLst/>
          </a:prstGeom>
          <a:noFill/>
          <a:ln w="11430">
            <a:solidFill>
              <a:srgbClr val="D7DDE1"/>
            </a:solidFill>
          </a:ln>
        </p:spPr>
      </p:sp>
      <p:sp>
        <p:nvSpPr>
          <p:cNvPr id="39" name="矩形 38"/>
          <p:cNvSpPr>
            <a:spLocks noGrp="1"/>
          </p:cNvSpPr>
          <p:nvPr/>
        </p:nvSpPr>
        <p:spPr>
          <a:xfrm>
            <a:off x="7239000" y="10525125"/>
            <a:ext cx="6000750" cy="352425"/>
          </a:xfrm>
          <a:prstGeom prst="rect">
            <a:avLst/>
          </a:prstGeom>
          <a:noFill/>
          <a:ln w="0">
            <a:noFill/>
          </a:ln>
        </p:spPr>
        <p:txBody>
          <a:bodyPr wrap="none" lIns="0" tIns="0" rIns="0" bIns="0" anchor="ctr">
            <a:noAutofit/>
          </a:bodyPr>
          <a:lstStyle/>
          <a:p>
            <a:pPr algn="l">
              <a:defRPr sz="1500" b="0">
                <a:solidFill>
                  <a:srgbClr val="24292D"/>
                </a:solidFill>
                <a:latin typeface="Arial" panose="020B0604020202020204"/>
                <a:ea typeface="Arial" panose="020B0604020202020204"/>
                <a:cs typeface="Arial" panose="020B0604020202020204"/>
              </a:defRPr>
            </a:pPr>
            <a:r>
              <a:rPr sz="1500" b="0">
                <a:solidFill>
                  <a:srgbClr val="24292D"/>
                </a:solidFill>
                <a:latin typeface="Arial" panose="020B0604020202020204"/>
                <a:ea typeface="Arial" panose="020B0604020202020204"/>
                <a:cs typeface="Arial" panose="020B0604020202020204"/>
              </a:rPr>
              <a:t>Source batch: 57.0% recovery · 14.2% fines</a:t>
            </a:r>
            <a:endParaRPr sz="1500" b="0">
              <a:solidFill>
                <a:srgbClr val="24292D"/>
              </a:solidFill>
              <a:latin typeface="Arial" panose="020B0604020202020204"/>
              <a:ea typeface="Arial" panose="020B0604020202020204"/>
              <a:cs typeface="Arial" panose="020B0604020202020204"/>
            </a:endParaRPr>
          </a:p>
        </p:txBody>
      </p:sp>
      <p:sp>
        <p:nvSpPr>
          <p:cNvPr id="40" name="矩形 39"/>
          <p:cNvSpPr>
            <a:spLocks noGrp="1"/>
          </p:cNvSpPr>
          <p:nvPr/>
        </p:nvSpPr>
        <p:spPr>
          <a:xfrm>
            <a:off x="7239000" y="10982325"/>
            <a:ext cx="6000750" cy="400050"/>
          </a:xfrm>
          <a:prstGeom prst="rect">
            <a:avLst/>
          </a:prstGeom>
          <a:noFill/>
          <a:ln w="0">
            <a:noFill/>
          </a:ln>
        </p:spPr>
        <p:txBody>
          <a:bodyPr wrap="none" lIns="0" tIns="0" rIns="0" bIns="0" anchor="ctr">
            <a:noAutofit/>
          </a:bodyPr>
          <a:lstStyle/>
          <a:p>
            <a:pPr algn="l">
              <a:defRPr sz="1650" b="1">
                <a:solidFill>
                  <a:srgbClr val="277F8A"/>
                </a:solidFill>
                <a:latin typeface="Arial" panose="020B0604020202020204"/>
                <a:ea typeface="Arial" panose="020B0604020202020204"/>
                <a:cs typeface="Arial" panose="020B0604020202020204"/>
              </a:defRPr>
            </a:pPr>
            <a:r>
              <a:rPr sz="1650" b="1">
                <a:solidFill>
                  <a:srgbClr val="277F8A"/>
                </a:solidFill>
                <a:latin typeface="Arial" panose="020B0604020202020204"/>
                <a:ea typeface="Arial" panose="020B0604020202020204"/>
                <a:cs typeface="Arial" panose="020B0604020202020204"/>
              </a:rPr>
              <a:t>Independent retest: 58.1% recovery · 19.3% fines</a:t>
            </a:r>
            <a:endParaRPr sz="1650" b="1">
              <a:solidFill>
                <a:srgbClr val="277F8A"/>
              </a:solidFill>
              <a:latin typeface="Arial" panose="020B0604020202020204"/>
              <a:ea typeface="Arial" panose="020B0604020202020204"/>
              <a:cs typeface="Arial" panose="020B0604020202020204"/>
            </a:endParaRPr>
          </a:p>
        </p:txBody>
      </p:sp>
      <p:sp>
        <p:nvSpPr>
          <p:cNvPr id="41" name="直接连接符 40"/>
          <p:cNvSpPr>
            <a:spLocks noGrp="1"/>
          </p:cNvSpPr>
          <p:nvPr/>
        </p:nvSpPr>
        <p:spPr>
          <a:xfrm>
            <a:off x="238125" y="11972925"/>
            <a:ext cx="13192125" cy="953"/>
          </a:xfrm>
          <a:prstGeom prst="line">
            <a:avLst/>
          </a:prstGeom>
          <a:noFill/>
          <a:ln w="13335">
            <a:solidFill>
              <a:srgbClr val="D7DDE1"/>
            </a:solidFill>
          </a:ln>
        </p:spPr>
      </p:sp>
      <p:sp>
        <p:nvSpPr>
          <p:cNvPr id="42" name="矩形 41"/>
          <p:cNvSpPr>
            <a:spLocks noGrp="1"/>
          </p:cNvSpPr>
          <p:nvPr/>
        </p:nvSpPr>
        <p:spPr>
          <a:xfrm>
            <a:off x="171450" y="12115800"/>
            <a:ext cx="333375" cy="381000"/>
          </a:xfrm>
          <a:prstGeom prst="rect">
            <a:avLst/>
          </a:prstGeom>
          <a:noFill/>
          <a:ln w="0">
            <a:noFill/>
          </a:ln>
        </p:spPr>
        <p:txBody>
          <a:bodyPr wrap="none" lIns="0" tIns="0" rIns="0" bIns="0" anchor="ctr">
            <a:noAutofit/>
          </a:bodyPr>
          <a:lstStyle/>
          <a:p>
            <a:pPr algn="l">
              <a:defRPr sz="2250" b="1">
                <a:solidFill>
                  <a:srgbClr val="111111"/>
                </a:solidFill>
                <a:latin typeface="Arial" panose="020B0604020202020204"/>
                <a:ea typeface="Arial" panose="020B0604020202020204"/>
                <a:cs typeface="Arial" panose="020B0604020202020204"/>
              </a:defRPr>
            </a:pPr>
            <a:r>
              <a:rPr sz="2250" b="1">
                <a:solidFill>
                  <a:srgbClr val="111111"/>
                </a:solidFill>
                <a:latin typeface="Arial" panose="020B0604020202020204"/>
                <a:ea typeface="Arial" panose="020B0604020202020204"/>
                <a:cs typeface="Arial" panose="020B0604020202020204"/>
              </a:rPr>
              <a:t>c</a:t>
            </a:r>
            <a:endParaRPr sz="2250" b="1">
              <a:solidFill>
                <a:srgbClr val="111111"/>
              </a:solidFill>
              <a:latin typeface="Arial" panose="020B0604020202020204"/>
              <a:ea typeface="Arial" panose="020B0604020202020204"/>
              <a:cs typeface="Arial" panose="020B0604020202020204"/>
            </a:endParaRPr>
          </a:p>
        </p:txBody>
      </p:sp>
      <p:sp>
        <p:nvSpPr>
          <p:cNvPr id="43" name="矩形 42"/>
          <p:cNvSpPr>
            <a:spLocks noGrp="1"/>
          </p:cNvSpPr>
          <p:nvPr/>
        </p:nvSpPr>
        <p:spPr>
          <a:xfrm>
            <a:off x="590550" y="12115800"/>
            <a:ext cx="12668250" cy="381000"/>
          </a:xfrm>
          <a:prstGeom prst="rect">
            <a:avLst/>
          </a:prstGeom>
          <a:noFill/>
          <a:ln w="0">
            <a:noFill/>
          </a:ln>
        </p:spPr>
        <p:txBody>
          <a:bodyPr wrap="none" lIns="0" tIns="0" rIns="0" bIns="0" anchor="ctr">
            <a:noAutofit/>
          </a:bodyPr>
          <a:lstStyle/>
          <a:p>
            <a:pPr algn="l">
              <a:defRPr sz="1725" b="0">
                <a:solidFill>
                  <a:srgbClr val="24292D"/>
                </a:solidFill>
                <a:latin typeface="Arial" panose="020B0604020202020204"/>
                <a:ea typeface="Arial" panose="020B0604020202020204"/>
                <a:cs typeface="Arial" panose="020B0604020202020204"/>
              </a:defRPr>
            </a:pPr>
            <a:r>
              <a:rPr sz="1725" b="0">
                <a:solidFill>
                  <a:srgbClr val="24292D"/>
                </a:solidFill>
                <a:latin typeface="Arial" panose="020B0604020202020204"/>
                <a:ea typeface="Arial" panose="020B0604020202020204"/>
                <a:cs typeface="Arial" panose="020B0604020202020204"/>
              </a:rPr>
              <a:t>What the original researcher inferred and predicted</a:t>
            </a:r>
            <a:endParaRPr sz="1725" b="0">
              <a:solidFill>
                <a:srgbClr val="24292D"/>
              </a:solidFill>
              <a:latin typeface="Arial" panose="020B0604020202020204"/>
              <a:ea typeface="Arial" panose="020B0604020202020204"/>
              <a:cs typeface="Arial" panose="020B0604020202020204"/>
            </a:endParaRPr>
          </a:p>
        </p:txBody>
      </p:sp>
      <p:sp>
        <p:nvSpPr>
          <p:cNvPr id="44" name="矩形 43"/>
          <p:cNvSpPr>
            <a:spLocks noGrp="1"/>
          </p:cNvSpPr>
          <p:nvPr/>
        </p:nvSpPr>
        <p:spPr>
          <a:xfrm>
            <a:off x="514350" y="12620625"/>
            <a:ext cx="3857625" cy="323850"/>
          </a:xfrm>
          <a:prstGeom prst="rect">
            <a:avLst/>
          </a:prstGeom>
          <a:noFill/>
          <a:ln w="0">
            <a:noFill/>
          </a:ln>
        </p:spPr>
        <p:txBody>
          <a:bodyPr wrap="none" lIns="0" tIns="0" rIns="0" bIns="0" anchor="ctr">
            <a:noAutofit/>
          </a:bodyPr>
          <a:lstStyle/>
          <a:p>
            <a:pPr algn="l">
              <a:defRPr sz="1575" b="1">
                <a:solidFill>
                  <a:srgbClr val="277F8A"/>
                </a:solidFill>
                <a:latin typeface="Arial" panose="020B0604020202020204"/>
                <a:ea typeface="Arial" panose="020B0604020202020204"/>
                <a:cs typeface="Arial" panose="020B0604020202020204"/>
              </a:defRPr>
            </a:pPr>
            <a:r>
              <a:rPr sz="1575" b="1">
                <a:solidFill>
                  <a:srgbClr val="277F8A"/>
                </a:solidFill>
                <a:latin typeface="Arial" panose="020B0604020202020204"/>
                <a:ea typeface="Arial" panose="020B0604020202020204"/>
                <a:cs typeface="Arial" panose="020B0604020202020204"/>
              </a:rPr>
              <a:t>K1 · after research</a:t>
            </a:r>
            <a:endParaRPr sz="1575" b="1">
              <a:solidFill>
                <a:srgbClr val="277F8A"/>
              </a:solidFill>
              <a:latin typeface="Arial" panose="020B0604020202020204"/>
              <a:ea typeface="Arial" panose="020B0604020202020204"/>
              <a:cs typeface="Arial" panose="020B0604020202020204"/>
            </a:endParaRPr>
          </a:p>
        </p:txBody>
      </p:sp>
      <p:sp>
        <p:nvSpPr>
          <p:cNvPr id="45" name="矩形 44"/>
          <p:cNvSpPr>
            <a:spLocks noGrp="1"/>
          </p:cNvSpPr>
          <p:nvPr/>
        </p:nvSpPr>
        <p:spPr>
          <a:xfrm>
            <a:off x="514350" y="13001625"/>
            <a:ext cx="3943350" cy="1019175"/>
          </a:xfrm>
          <a:prstGeom prst="rect">
            <a:avLst/>
          </a:prstGeom>
          <a:noFill/>
          <a:ln w="0">
            <a:noFill/>
          </a:ln>
        </p:spPr>
        <p:txBody>
          <a:bodyPr wrap="none" lIns="0" tIns="0" rIns="0" bIns="0" anchor="ctr">
            <a:noAutofit/>
          </a:bodyPr>
          <a:lstStyle/>
          <a:p>
            <a:pPr algn="l">
              <a:defRPr sz="1425" b="0">
                <a:solidFill>
                  <a:srgbClr val="24292D"/>
                </a:solidFill>
                <a:latin typeface="Arial" panose="020B0604020202020204"/>
                <a:ea typeface="Arial" panose="020B0604020202020204"/>
                <a:cs typeface="Arial" panose="020B0604020202020204"/>
              </a:defRPr>
            </a:pPr>
            <a:r>
              <a:rPr sz="1425" b="0">
                <a:solidFill>
                  <a:srgbClr val="24292D"/>
                </a:solidFill>
                <a:latin typeface="Arial" panose="020B0604020202020204"/>
                <a:ea typeface="Arial" panose="020B0604020202020204"/>
                <a:cs typeface="Arial" panose="020B0604020202020204"/>
              </a:rPr>
              <a:t>Upstream chemistry and cooling were</a:t>
            </a:r>
            <a:endParaRPr sz="1425" b="0">
              <a:solidFill>
                <a:srgbClr val="24292D"/>
              </a:solidFill>
              <a:latin typeface="Arial" panose="020B0604020202020204"/>
              <a:ea typeface="Arial" panose="020B0604020202020204"/>
              <a:cs typeface="Arial" panose="020B0604020202020204"/>
            </a:endParaRPr>
          </a:p>
          <a:p>
            <a:pPr algn="l">
              <a:defRPr sz="1425" b="0">
                <a:solidFill>
                  <a:srgbClr val="24292D"/>
                </a:solidFill>
                <a:latin typeface="Arial" panose="020B0604020202020204"/>
                <a:ea typeface="Arial" panose="020B0604020202020204"/>
                <a:cs typeface="Arial" panose="020B0604020202020204"/>
              </a:defRPr>
            </a:pPr>
            <a:r>
              <a:rPr sz="1425" b="0">
                <a:solidFill>
                  <a:srgbClr val="24292D"/>
                </a:solidFill>
                <a:latin typeface="Arial" panose="020B0604020202020204"/>
                <a:ea typeface="Arial" panose="020B0604020202020204"/>
                <a:cs typeface="Arial" panose="020B0604020202020204"/>
              </a:rPr>
              <a:t>interpreted jointly; seed conditioning</a:t>
            </a:r>
            <a:endParaRPr sz="1425" b="0">
              <a:solidFill>
                <a:srgbClr val="24292D"/>
              </a:solidFill>
              <a:latin typeface="Arial" panose="020B0604020202020204"/>
              <a:ea typeface="Arial" panose="020B0604020202020204"/>
              <a:cs typeface="Arial" panose="020B0604020202020204"/>
            </a:endParaRPr>
          </a:p>
          <a:p>
            <a:pPr algn="l">
              <a:defRPr sz="1425" b="0">
                <a:solidFill>
                  <a:srgbClr val="24292D"/>
                </a:solidFill>
                <a:latin typeface="Arial" panose="020B0604020202020204"/>
                <a:ea typeface="Arial" panose="020B0604020202020204"/>
                <a:cs typeface="Arial" panose="020B0604020202020204"/>
              </a:defRPr>
            </a:pPr>
            <a:r>
              <a:rPr sz="1425" b="0">
                <a:solidFill>
                  <a:srgbClr val="24292D"/>
                </a:solidFill>
                <a:latin typeface="Arial" panose="020B0604020202020204"/>
                <a:ea typeface="Arial" panose="020B0604020202020204"/>
                <a:cs typeface="Arial" panose="020B0604020202020204"/>
              </a:rPr>
              <a:t>was not directly measured.</a:t>
            </a:r>
            <a:endParaRPr sz="1425" b="0">
              <a:solidFill>
                <a:srgbClr val="24292D"/>
              </a:solidFill>
              <a:latin typeface="Arial" panose="020B0604020202020204"/>
              <a:ea typeface="Arial" panose="020B0604020202020204"/>
              <a:cs typeface="Arial" panose="020B0604020202020204"/>
            </a:endParaRPr>
          </a:p>
        </p:txBody>
      </p:sp>
      <p:sp>
        <p:nvSpPr>
          <p:cNvPr id="46" name="直接连接符 45"/>
          <p:cNvSpPr>
            <a:spLocks noGrp="1"/>
          </p:cNvSpPr>
          <p:nvPr/>
        </p:nvSpPr>
        <p:spPr>
          <a:xfrm>
            <a:off x="4648200" y="12620625"/>
            <a:ext cx="953" cy="1628775"/>
          </a:xfrm>
          <a:prstGeom prst="line">
            <a:avLst/>
          </a:prstGeom>
          <a:noFill/>
          <a:ln w="11430">
            <a:solidFill>
              <a:srgbClr val="D7DDE1"/>
            </a:solidFill>
          </a:ln>
        </p:spPr>
      </p:sp>
      <p:sp>
        <p:nvSpPr>
          <p:cNvPr id="47" name="矩形 46"/>
          <p:cNvSpPr>
            <a:spLocks noGrp="1"/>
          </p:cNvSpPr>
          <p:nvPr/>
        </p:nvSpPr>
        <p:spPr>
          <a:xfrm>
            <a:off x="4933950" y="12620625"/>
            <a:ext cx="4219575" cy="323850"/>
          </a:xfrm>
          <a:prstGeom prst="rect">
            <a:avLst/>
          </a:prstGeom>
          <a:noFill/>
          <a:ln w="0">
            <a:noFill/>
          </a:ln>
        </p:spPr>
        <p:txBody>
          <a:bodyPr wrap="none" lIns="0" tIns="0" rIns="0" bIns="0" anchor="ctr">
            <a:noAutofit/>
          </a:bodyPr>
          <a:lstStyle/>
          <a:p>
            <a:pPr algn="l">
              <a:defRPr sz="1575" b="1">
                <a:solidFill>
                  <a:srgbClr val="277F8A"/>
                </a:solidFill>
                <a:latin typeface="Arial" panose="020B0604020202020204"/>
                <a:ea typeface="Arial" panose="020B0604020202020204"/>
                <a:cs typeface="Arial" panose="020B0604020202020204"/>
              </a:defRPr>
            </a:pPr>
            <a:r>
              <a:rPr sz="1575" b="1">
                <a:solidFill>
                  <a:srgbClr val="277F8A"/>
                </a:solidFill>
                <a:latin typeface="Arial" panose="020B0604020202020204"/>
                <a:ea typeface="Arial" panose="020B0604020202020204"/>
                <a:cs typeface="Arial" panose="020B0604020202020204"/>
              </a:rPr>
              <a:t>Q · sealed forecast</a:t>
            </a:r>
            <a:endParaRPr sz="1575" b="1">
              <a:solidFill>
                <a:srgbClr val="277F8A"/>
              </a:solidFill>
              <a:latin typeface="Arial" panose="020B0604020202020204"/>
              <a:ea typeface="Arial" panose="020B0604020202020204"/>
              <a:cs typeface="Arial" panose="020B0604020202020204"/>
            </a:endParaRPr>
          </a:p>
        </p:txBody>
      </p:sp>
      <p:sp>
        <p:nvSpPr>
          <p:cNvPr id="48" name="矩形 47"/>
          <p:cNvSpPr>
            <a:spLocks noGrp="1"/>
          </p:cNvSpPr>
          <p:nvPr/>
        </p:nvSpPr>
        <p:spPr>
          <a:xfrm>
            <a:off x="4933950" y="13001625"/>
            <a:ext cx="4219575" cy="323850"/>
          </a:xfrm>
          <a:prstGeom prst="rect">
            <a:avLst/>
          </a:prstGeom>
          <a:noFill/>
          <a:ln w="0">
            <a:noFill/>
          </a:ln>
        </p:spPr>
        <p:txBody>
          <a:bodyPr wrap="none" lIns="0" tIns="0" rIns="0" bIns="0" anchor="ctr">
            <a:noAutofit/>
          </a:bodyPr>
          <a:lstStyle/>
          <a:p>
            <a:pPr algn="l">
              <a:defRPr sz="1500" b="0">
                <a:solidFill>
                  <a:srgbClr val="24292D"/>
                </a:solidFill>
                <a:latin typeface="Arial" panose="020B0604020202020204"/>
                <a:ea typeface="Arial" panose="020B0604020202020204"/>
                <a:cs typeface="Arial" panose="020B0604020202020204"/>
              </a:defRPr>
            </a:pPr>
            <a:r>
              <a:rPr sz="1500" b="0">
                <a:solidFill>
                  <a:srgbClr val="24292D"/>
                </a:solidFill>
                <a:latin typeface="Arial" panose="020B0604020202020204"/>
                <a:ea typeface="Arial" panose="020B0604020202020204"/>
                <a:cs typeface="Arial" panose="020B0604020202020204"/>
              </a:rPr>
              <a:t>Hold 2 h  →  reheat + recool</a:t>
            </a:r>
            <a:endParaRPr sz="1500" b="0">
              <a:solidFill>
                <a:srgbClr val="24292D"/>
              </a:solidFill>
              <a:latin typeface="Arial" panose="020B0604020202020204"/>
              <a:ea typeface="Arial" panose="020B0604020202020204"/>
              <a:cs typeface="Arial" panose="020B0604020202020204"/>
            </a:endParaRPr>
          </a:p>
        </p:txBody>
      </p:sp>
      <p:sp>
        <p:nvSpPr>
          <p:cNvPr id="49" name="矩形 48"/>
          <p:cNvSpPr>
            <a:spLocks noGrp="1"/>
          </p:cNvSpPr>
          <p:nvPr/>
        </p:nvSpPr>
        <p:spPr>
          <a:xfrm>
            <a:off x="4933950" y="13363575"/>
            <a:ext cx="4219575" cy="361950"/>
          </a:xfrm>
          <a:prstGeom prst="rect">
            <a:avLst/>
          </a:prstGeom>
          <a:noFill/>
          <a:ln w="0">
            <a:noFill/>
          </a:ln>
        </p:spPr>
        <p:txBody>
          <a:bodyPr wrap="none" lIns="0" tIns="0" rIns="0" bIns="0" anchor="ctr">
            <a:noAutofit/>
          </a:bodyPr>
          <a:lstStyle/>
          <a:p>
            <a:pPr algn="l">
              <a:defRPr sz="1650" b="1">
                <a:solidFill>
                  <a:srgbClr val="277F8A"/>
                </a:solidFill>
                <a:latin typeface="Arial" panose="020B0604020202020204"/>
                <a:ea typeface="Arial" panose="020B0604020202020204"/>
                <a:cs typeface="Arial" panose="020B0604020202020204"/>
              </a:defRPr>
            </a:pPr>
            <a:r>
              <a:rPr sz="1650" b="1">
                <a:solidFill>
                  <a:srgbClr val="277F8A"/>
                </a:solidFill>
                <a:latin typeface="Arial" panose="020B0604020202020204"/>
                <a:ea typeface="Arial" panose="020B0604020202020204"/>
                <a:cs typeface="Arial" panose="020B0604020202020204"/>
              </a:rPr>
              <a:t>Predicted fines: 49% → 35%</a:t>
            </a:r>
            <a:endParaRPr sz="1650" b="1">
              <a:solidFill>
                <a:srgbClr val="277F8A"/>
              </a:solidFill>
              <a:latin typeface="Arial" panose="020B0604020202020204"/>
              <a:ea typeface="Arial" panose="020B0604020202020204"/>
              <a:cs typeface="Arial" panose="020B0604020202020204"/>
            </a:endParaRPr>
          </a:p>
        </p:txBody>
      </p:sp>
      <p:sp>
        <p:nvSpPr>
          <p:cNvPr id="50" name="矩形 49"/>
          <p:cNvSpPr>
            <a:spLocks noGrp="1"/>
          </p:cNvSpPr>
          <p:nvPr/>
        </p:nvSpPr>
        <p:spPr>
          <a:xfrm>
            <a:off x="4933950" y="13782675"/>
            <a:ext cx="4219575" cy="333375"/>
          </a:xfrm>
          <a:prstGeom prst="rect">
            <a:avLst/>
          </a:prstGeom>
          <a:noFill/>
          <a:ln w="0">
            <a:noFill/>
          </a:ln>
        </p:spPr>
        <p:txBody>
          <a:bodyPr wrap="none" lIns="0" tIns="0" rIns="0" bIns="0" anchor="ctr">
            <a:noAutofit/>
          </a:bodyPr>
          <a:lstStyle/>
          <a:p>
            <a:pPr algn="l">
              <a:defRPr sz="1350" b="0">
                <a:solidFill>
                  <a:srgbClr val="657078"/>
                </a:solidFill>
                <a:latin typeface="Arial" panose="020B0604020202020204"/>
                <a:ea typeface="Arial" panose="020B0604020202020204"/>
                <a:cs typeface="Arial" panose="020B0604020202020204"/>
              </a:defRPr>
            </a:pPr>
            <a:r>
              <a:rPr sz="1350" b="0">
                <a:solidFill>
                  <a:srgbClr val="657078"/>
                </a:solidFill>
                <a:latin typeface="Arial" panose="020B0604020202020204"/>
                <a:ea typeface="Arial" panose="020B0604020202020204"/>
                <a:cs typeface="Arial" panose="020B0604020202020204"/>
              </a:rPr>
              <a:t>80% intervals: [28, 71] → [16, 59]%</a:t>
            </a:r>
            <a:endParaRPr sz="1350" b="0">
              <a:solidFill>
                <a:srgbClr val="657078"/>
              </a:solidFill>
              <a:latin typeface="Arial" panose="020B0604020202020204"/>
              <a:ea typeface="Arial" panose="020B0604020202020204"/>
              <a:cs typeface="Arial" panose="020B0604020202020204"/>
            </a:endParaRPr>
          </a:p>
        </p:txBody>
      </p:sp>
      <p:sp>
        <p:nvSpPr>
          <p:cNvPr id="51" name="直接连接符 50"/>
          <p:cNvSpPr>
            <a:spLocks noGrp="1"/>
          </p:cNvSpPr>
          <p:nvPr/>
        </p:nvSpPr>
        <p:spPr>
          <a:xfrm>
            <a:off x="9401175" y="12620625"/>
            <a:ext cx="953" cy="1628775"/>
          </a:xfrm>
          <a:prstGeom prst="line">
            <a:avLst/>
          </a:prstGeom>
          <a:noFill/>
          <a:ln w="11430">
            <a:solidFill>
              <a:srgbClr val="D7DDE1"/>
            </a:solidFill>
          </a:ln>
        </p:spPr>
      </p:sp>
      <p:sp>
        <p:nvSpPr>
          <p:cNvPr id="52" name="矩形 51"/>
          <p:cNvSpPr>
            <a:spLocks noGrp="1"/>
          </p:cNvSpPr>
          <p:nvPr/>
        </p:nvSpPr>
        <p:spPr>
          <a:xfrm>
            <a:off x="9667875" y="12620625"/>
            <a:ext cx="3552825" cy="323850"/>
          </a:xfrm>
          <a:prstGeom prst="rect">
            <a:avLst/>
          </a:prstGeom>
          <a:noFill/>
          <a:ln w="0">
            <a:noFill/>
          </a:ln>
        </p:spPr>
        <p:txBody>
          <a:bodyPr wrap="none" lIns="0" tIns="0" rIns="0" bIns="0" anchor="ctr">
            <a:noAutofit/>
          </a:bodyPr>
          <a:lstStyle/>
          <a:p>
            <a:pPr algn="l">
              <a:defRPr sz="1575" b="1">
                <a:solidFill>
                  <a:srgbClr val="277F8A"/>
                </a:solidFill>
                <a:latin typeface="Arial" panose="020B0604020202020204"/>
                <a:ea typeface="Arial" panose="020B0604020202020204"/>
                <a:cs typeface="Arial" panose="020B0604020202020204"/>
              </a:defRPr>
            </a:pPr>
            <a:r>
              <a:rPr sz="1575" b="1">
                <a:solidFill>
                  <a:srgbClr val="277F8A"/>
                </a:solidFill>
                <a:latin typeface="Arial" panose="020B0604020202020204"/>
                <a:ea typeface="Arial" panose="020B0604020202020204"/>
                <a:cs typeface="Arial" panose="020B0604020202020204"/>
              </a:rPr>
              <a:t>K2 · after sealed Q</a:t>
            </a:r>
            <a:endParaRPr sz="1575" b="1">
              <a:solidFill>
                <a:srgbClr val="277F8A"/>
              </a:solidFill>
              <a:latin typeface="Arial" panose="020B0604020202020204"/>
              <a:ea typeface="Arial" panose="020B0604020202020204"/>
              <a:cs typeface="Arial" panose="020B0604020202020204"/>
            </a:endParaRPr>
          </a:p>
        </p:txBody>
      </p:sp>
      <p:sp>
        <p:nvSpPr>
          <p:cNvPr id="53" name="矩形 52"/>
          <p:cNvSpPr>
            <a:spLocks noGrp="1"/>
          </p:cNvSpPr>
          <p:nvPr/>
        </p:nvSpPr>
        <p:spPr>
          <a:xfrm>
            <a:off x="9667875" y="13001625"/>
            <a:ext cx="3543300" cy="1019175"/>
          </a:xfrm>
          <a:prstGeom prst="rect">
            <a:avLst/>
          </a:prstGeom>
          <a:noFill/>
          <a:ln w="0">
            <a:noFill/>
          </a:ln>
        </p:spPr>
        <p:txBody>
          <a:bodyPr wrap="none" lIns="0" tIns="0" rIns="0" bIns="0" anchor="ctr">
            <a:noAutofit/>
          </a:bodyPr>
          <a:lstStyle/>
          <a:p>
            <a:pPr algn="l">
              <a:defRPr sz="1425" b="0">
                <a:solidFill>
                  <a:srgbClr val="24292D"/>
                </a:solidFill>
                <a:latin typeface="Arial" panose="020B0604020202020204"/>
                <a:ea typeface="Arial" panose="020B0604020202020204"/>
                <a:cs typeface="Arial" panose="020B0604020202020204"/>
              </a:defRPr>
            </a:pPr>
            <a:r>
              <a:rPr sz="1425" b="0">
                <a:solidFill>
                  <a:srgbClr val="24292D"/>
                </a:solidFill>
                <a:latin typeface="Arial" panose="020B0604020202020204"/>
                <a:ea typeface="Arial" panose="020B0604020202020204"/>
                <a:cs typeface="Arial" panose="020B0604020202020204"/>
              </a:rPr>
              <a:t>With no reference feedback, it said</a:t>
            </a:r>
            <a:endParaRPr sz="1425" b="0">
              <a:solidFill>
                <a:srgbClr val="24292D"/>
              </a:solidFill>
              <a:latin typeface="Arial" panose="020B0604020202020204"/>
              <a:ea typeface="Arial" panose="020B0604020202020204"/>
              <a:cs typeface="Arial" panose="020B0604020202020204"/>
            </a:endParaRPr>
          </a:p>
          <a:p>
            <a:pPr algn="l">
              <a:defRPr sz="1425" b="0">
                <a:solidFill>
                  <a:srgbClr val="24292D"/>
                </a:solidFill>
                <a:latin typeface="Arial" panose="020B0604020202020204"/>
                <a:ea typeface="Arial" panose="020B0604020202020204"/>
                <a:cs typeface="Arial" panose="020B0604020202020204"/>
              </a:defRPr>
            </a:pPr>
            <a:r>
              <a:rPr sz="1425" b="0">
                <a:solidFill>
                  <a:srgbClr val="24292D"/>
                </a:solidFill>
                <a:latin typeface="Arial" panose="020B0604020202020204"/>
                <a:ea typeface="Arial" panose="020B0604020202020204"/>
                <a:cs typeface="Arial" panose="020B0604020202020204"/>
              </a:rPr>
              <a:t>the B8 negative result was underused</a:t>
            </a:r>
            <a:endParaRPr sz="1425" b="0">
              <a:solidFill>
                <a:srgbClr val="24292D"/>
              </a:solidFill>
              <a:latin typeface="Arial" panose="020B0604020202020204"/>
              <a:ea typeface="Arial" panose="020B0604020202020204"/>
              <a:cs typeface="Arial" panose="020B0604020202020204"/>
            </a:endParaRPr>
          </a:p>
          <a:p>
            <a:pPr algn="l">
              <a:defRPr sz="1425" b="0">
                <a:solidFill>
                  <a:srgbClr val="24292D"/>
                </a:solidFill>
                <a:latin typeface="Arial" panose="020B0604020202020204"/>
                <a:ea typeface="Arial" panose="020B0604020202020204"/>
                <a:cs typeface="Arial" panose="020B0604020202020204"/>
              </a:defRPr>
            </a:pPr>
            <a:r>
              <a:rPr sz="1425" b="0">
                <a:solidFill>
                  <a:srgbClr val="24292D"/>
                </a:solidFill>
                <a:latin typeface="Arial" panose="020B0604020202020204"/>
                <a:ea typeface="Arial" panose="020B0604020202020204"/>
                <a:cs typeface="Arial" panose="020B0604020202020204"/>
              </a:rPr>
              <a:t>and even the sign was uncertain.</a:t>
            </a:r>
            <a:endParaRPr sz="1425" b="0">
              <a:solidFill>
                <a:srgbClr val="24292D"/>
              </a:solidFill>
              <a:latin typeface="Arial" panose="020B0604020202020204"/>
              <a:ea typeface="Arial" panose="020B0604020202020204"/>
              <a:cs typeface="Arial" panose="020B0604020202020204"/>
            </a:endParaRPr>
          </a:p>
        </p:txBody>
      </p:sp>
      <p:sp>
        <p:nvSpPr>
          <p:cNvPr id="54" name="直接连接符 53"/>
          <p:cNvSpPr>
            <a:spLocks noGrp="1"/>
          </p:cNvSpPr>
          <p:nvPr/>
        </p:nvSpPr>
        <p:spPr>
          <a:xfrm>
            <a:off x="238125" y="14420850"/>
            <a:ext cx="13192125" cy="953"/>
          </a:xfrm>
          <a:prstGeom prst="line">
            <a:avLst/>
          </a:prstGeom>
          <a:noFill/>
          <a:ln w="13335">
            <a:solidFill>
              <a:srgbClr val="D7DDE1"/>
            </a:solidFill>
          </a:ln>
        </p:spPr>
      </p:sp>
      <p:sp>
        <p:nvSpPr>
          <p:cNvPr id="55" name="矩形 54"/>
          <p:cNvSpPr>
            <a:spLocks noGrp="1"/>
          </p:cNvSpPr>
          <p:nvPr/>
        </p:nvSpPr>
        <p:spPr>
          <a:xfrm>
            <a:off x="514350" y="14611350"/>
            <a:ext cx="12573000" cy="323850"/>
          </a:xfrm>
          <a:prstGeom prst="rect">
            <a:avLst/>
          </a:prstGeom>
          <a:noFill/>
          <a:ln w="0">
            <a:noFill/>
          </a:ln>
        </p:spPr>
        <p:txBody>
          <a:bodyPr wrap="none" lIns="0" tIns="0" rIns="0" bIns="0" anchor="ctr">
            <a:noAutofit/>
          </a:bodyPr>
          <a:lstStyle/>
          <a:p>
            <a:pPr algn="l">
              <a:defRPr sz="1425" b="0">
                <a:solidFill>
                  <a:srgbClr val="657078"/>
                </a:solidFill>
                <a:latin typeface="Arial" panose="020B0604020202020204"/>
                <a:ea typeface="Arial" panose="020B0604020202020204"/>
                <a:cs typeface="Arial" panose="020B0604020202020204"/>
              </a:defRPr>
            </a:pPr>
            <a:r>
              <a:rPr sz="1425" b="0">
                <a:solidFill>
                  <a:srgbClr val="657078"/>
                </a:solidFill>
                <a:latin typeface="Arial" panose="020B0604020202020204"/>
                <a:ea typeface="Arial" panose="020B0604020202020204"/>
                <a:cs typeface="Arial" panose="020B0604020202020204"/>
              </a:rPr>
              <a:t>Evaluator-only reference for the same hold → reheat contrast</a:t>
            </a:r>
            <a:endParaRPr sz="1425" b="0">
              <a:solidFill>
                <a:srgbClr val="657078"/>
              </a:solidFill>
              <a:latin typeface="Arial" panose="020B0604020202020204"/>
              <a:ea typeface="Arial" panose="020B0604020202020204"/>
              <a:cs typeface="Arial" panose="020B0604020202020204"/>
            </a:endParaRPr>
          </a:p>
        </p:txBody>
      </p:sp>
      <p:sp>
        <p:nvSpPr>
          <p:cNvPr id="56" name="矩形 55"/>
          <p:cNvSpPr>
            <a:spLocks noGrp="1"/>
          </p:cNvSpPr>
          <p:nvPr/>
        </p:nvSpPr>
        <p:spPr>
          <a:xfrm>
            <a:off x="514350" y="14954250"/>
            <a:ext cx="4857750" cy="447675"/>
          </a:xfrm>
          <a:prstGeom prst="rect">
            <a:avLst/>
          </a:prstGeom>
          <a:noFill/>
          <a:ln w="0">
            <a:noFill/>
          </a:ln>
        </p:spPr>
        <p:txBody>
          <a:bodyPr wrap="none" lIns="0" tIns="0" rIns="0" bIns="0" anchor="ctr">
            <a:noAutofit/>
          </a:bodyPr>
          <a:lstStyle/>
          <a:p>
            <a:pPr algn="l">
              <a:defRPr sz="2175" b="1">
                <a:solidFill>
                  <a:srgbClr val="A35F42"/>
                </a:solidFill>
                <a:latin typeface="Arial" panose="020B0604020202020204"/>
                <a:ea typeface="Arial" panose="020B0604020202020204"/>
                <a:cs typeface="Arial" panose="020B0604020202020204"/>
              </a:defRPr>
            </a:pPr>
            <a:r>
              <a:rPr sz="2175" b="1">
                <a:solidFill>
                  <a:srgbClr val="A35F42"/>
                </a:solidFill>
                <a:latin typeface="Arial" panose="020B0604020202020204"/>
                <a:ea typeface="Arial" panose="020B0604020202020204"/>
                <a:cs typeface="Arial" panose="020B0604020202020204"/>
              </a:rPr>
              <a:t>Fines: 35% → 100%</a:t>
            </a:r>
            <a:endParaRPr sz="2175" b="1">
              <a:solidFill>
                <a:srgbClr val="A35F42"/>
              </a:solidFill>
              <a:latin typeface="Arial" panose="020B0604020202020204"/>
              <a:ea typeface="Arial" panose="020B0604020202020204"/>
              <a:cs typeface="Arial" panose="020B0604020202020204"/>
            </a:endParaRPr>
          </a:p>
        </p:txBody>
      </p:sp>
      <p:sp>
        <p:nvSpPr>
          <p:cNvPr id="57" name="矩形 56"/>
          <p:cNvSpPr>
            <a:spLocks noGrp="1"/>
          </p:cNvSpPr>
          <p:nvPr/>
        </p:nvSpPr>
        <p:spPr>
          <a:xfrm>
            <a:off x="5572125" y="14973300"/>
            <a:ext cx="7543800" cy="419100"/>
          </a:xfrm>
          <a:prstGeom prst="rect">
            <a:avLst/>
          </a:prstGeom>
          <a:noFill/>
          <a:ln w="0">
            <a:noFill/>
          </a:ln>
        </p:spPr>
        <p:txBody>
          <a:bodyPr wrap="none" lIns="0" tIns="0" rIns="0" bIns="0" anchor="ctr">
            <a:noAutofit/>
          </a:bodyPr>
          <a:lstStyle/>
          <a:p>
            <a:pPr algn="l">
              <a:defRPr sz="1650" b="1">
                <a:solidFill>
                  <a:srgbClr val="24292D"/>
                </a:solidFill>
                <a:latin typeface="Arial" panose="020B0604020202020204"/>
                <a:ea typeface="Arial" panose="020B0604020202020204"/>
                <a:cs typeface="Arial" panose="020B0604020202020204"/>
              </a:defRPr>
            </a:pPr>
            <a:r>
              <a:rPr sz="1650" b="1">
                <a:solidFill>
                  <a:srgbClr val="24292D"/>
                </a:solidFill>
                <a:latin typeface="Arial" panose="020B0604020202020204"/>
                <a:ea typeface="Arial" panose="020B0604020202020204"/>
                <a:cs typeface="Arial" panose="020B0604020202020204"/>
              </a:rPr>
              <a:t>The sealed forecast had the opposite direction.</a:t>
            </a:r>
            <a:endParaRPr sz="1650" b="1">
              <a:solidFill>
                <a:srgbClr val="24292D"/>
              </a:solidFill>
              <a:latin typeface="Arial" panose="020B0604020202020204"/>
              <a:ea typeface="Arial" panose="020B0604020202020204"/>
              <a:cs typeface="Arial" panose="020B0604020202020204"/>
            </a:endParaRPr>
          </a:p>
        </p:txBody>
      </p:sp>
      <p:sp>
        <p:nvSpPr>
          <p:cNvPr id="58" name="矩形 57"/>
          <p:cNvSpPr>
            <a:spLocks noGrp="1"/>
          </p:cNvSpPr>
          <p:nvPr/>
        </p:nvSpPr>
        <p:spPr>
          <a:xfrm>
            <a:off x="514350" y="15544800"/>
            <a:ext cx="12573000" cy="295275"/>
          </a:xfrm>
          <a:prstGeom prst="rect">
            <a:avLst/>
          </a:prstGeom>
          <a:noFill/>
          <a:ln w="0">
            <a:noFill/>
          </a:ln>
        </p:spPr>
        <p:txBody>
          <a:bodyPr wrap="none" lIns="0" tIns="0" rIns="0" bIns="0" anchor="ctr">
            <a:noAutofit/>
          </a:bodyPr>
          <a:lstStyle/>
          <a:p>
            <a:pPr algn="l">
              <a:defRPr sz="1350" b="0">
                <a:solidFill>
                  <a:srgbClr val="657078"/>
                </a:solidFill>
                <a:latin typeface="Arial" panose="020B0604020202020204"/>
                <a:ea typeface="Arial" panose="020B0604020202020204"/>
                <a:cs typeface="Arial" panose="020B0604020202020204"/>
              </a:defRPr>
            </a:pPr>
            <a:r>
              <a:rPr sz="1350" b="0">
                <a:solidFill>
                  <a:srgbClr val="657078"/>
                </a:solidFill>
                <a:latin typeface="Arial" panose="020B0604020202020204"/>
                <a:ea typeface="Arial" panose="020B0604020202020204"/>
                <a:cs typeface="Arial" panose="020B0604020202020204"/>
              </a:rPr>
              <a:t>Reference outcomes were unavailable during K1, Q and K2.</a:t>
            </a:r>
            <a:endParaRPr sz="1350" b="0">
              <a:solidFill>
                <a:srgbClr val="657078"/>
              </a:solidFill>
              <a:latin typeface="Arial" panose="020B0604020202020204"/>
              <a:ea typeface="Arial" panose="020B0604020202020204"/>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矩形 20"/>
          <p:cNvSpPr>
            <a:spLocks noGrp="1"/>
          </p:cNvSpPr>
          <p:nvPr/>
        </p:nvSpPr>
        <p:spPr>
          <a:xfrm>
            <a:off x="238125" y="152400"/>
            <a:ext cx="323850" cy="342900"/>
          </a:xfrm>
          <a:prstGeom prst="rect">
            <a:avLst/>
          </a:prstGeom>
          <a:noFill/>
          <a:ln w="0">
            <a:noFill/>
          </a:ln>
        </p:spPr>
        <p:txBody>
          <a:bodyPr wrap="none" lIns="0" tIns="0" rIns="0" bIns="0" anchor="ctr">
            <a:noAutofit/>
          </a:bodyPr>
          <a:lstStyle/>
          <a:p>
            <a:pPr algn="l">
              <a:defRPr sz="2025" b="1">
                <a:solidFill>
                  <a:srgbClr val="24292D"/>
                </a:solidFill>
                <a:latin typeface="Arial" panose="020B0604020202020204"/>
                <a:ea typeface="Arial" panose="020B0604020202020204"/>
                <a:cs typeface="Arial" panose="020B0604020202020204"/>
              </a:defRPr>
            </a:pPr>
            <a:r>
              <a:rPr sz="2025" b="1">
                <a:solidFill>
                  <a:srgbClr val="24292D"/>
                </a:solidFill>
                <a:latin typeface="Arial" panose="020B0604020202020204"/>
                <a:ea typeface="Arial" panose="020B0604020202020204"/>
                <a:cs typeface="Arial" panose="020B0604020202020204"/>
              </a:rPr>
              <a:t>a</a:t>
            </a:r>
            <a:endParaRPr sz="2025" b="1">
              <a:solidFill>
                <a:srgbClr val="24292D"/>
              </a:solidFill>
              <a:latin typeface="Arial" panose="020B0604020202020204"/>
              <a:ea typeface="Arial" panose="020B0604020202020204"/>
              <a:cs typeface="Arial" panose="020B0604020202020204"/>
            </a:endParaRPr>
          </a:p>
        </p:txBody>
      </p:sp>
      <p:sp>
        <p:nvSpPr>
          <p:cNvPr id="2" name="矩形 1"/>
          <p:cNvSpPr>
            <a:spLocks noGrp="1"/>
          </p:cNvSpPr>
          <p:nvPr/>
        </p:nvSpPr>
        <p:spPr>
          <a:xfrm>
            <a:off x="619125" y="152400"/>
            <a:ext cx="1958340" cy="342900"/>
          </a:xfrm>
          <a:prstGeom prst="rect">
            <a:avLst/>
          </a:prstGeom>
          <a:noFill/>
          <a:ln w="0">
            <a:noFill/>
          </a:ln>
        </p:spPr>
        <p:txBody>
          <a:bodyPr wrap="none" lIns="0" tIns="0" rIns="0" bIns="0" anchor="ctr">
            <a:noAutofit/>
          </a:bodyPr>
          <a:lstStyle/>
          <a:p>
            <a:pPr algn="l">
              <a:defRPr sz="1500" b="0">
                <a:solidFill>
                  <a:srgbClr val="24292D"/>
                </a:solidFill>
                <a:latin typeface="Arial" panose="020B0604020202020204"/>
                <a:ea typeface="Arial" panose="020B0604020202020204"/>
                <a:cs typeface="Arial" panose="020B0604020202020204"/>
              </a:defRPr>
            </a:pPr>
            <a:r>
              <a:rPr sz="1500" b="0">
                <a:solidFill>
                  <a:srgbClr val="24292D"/>
                </a:solidFill>
                <a:latin typeface="Arial" panose="020B0604020202020204"/>
                <a:ea typeface="Arial" panose="020B0604020202020204"/>
                <a:cs typeface="Arial" panose="020B0604020202020204"/>
              </a:rPr>
              <a:t>Electrochemistry</a:t>
            </a:r>
            <a:endParaRPr sz="1500" b="0">
              <a:solidFill>
                <a:srgbClr val="24292D"/>
              </a:solidFill>
              <a:latin typeface="Arial" panose="020B0604020202020204"/>
              <a:ea typeface="Arial" panose="020B0604020202020204"/>
              <a:cs typeface="Arial" panose="020B0604020202020204"/>
            </a:endParaRPr>
          </a:p>
        </p:txBody>
      </p:sp>
      <p:sp>
        <p:nvSpPr>
          <p:cNvPr id="3" name="矩形 2"/>
          <p:cNvSpPr>
            <a:spLocks noGrp="1"/>
          </p:cNvSpPr>
          <p:nvPr/>
        </p:nvSpPr>
        <p:spPr>
          <a:xfrm>
            <a:off x="962025" y="542925"/>
            <a:ext cx="5810250" cy="276225"/>
          </a:xfrm>
          <a:prstGeom prst="rect">
            <a:avLst/>
          </a:prstGeom>
          <a:noFill/>
          <a:ln w="0">
            <a:noFill/>
          </a:ln>
        </p:spPr>
        <p:txBody>
          <a:bodyPr wrap="none" lIns="0" tIns="0" rIns="0" bIns="0" anchor="ctr">
            <a:noAutofit/>
          </a:bodyPr>
          <a:lstStyle/>
          <a:p>
            <a:pPr algn="l">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Upper right: better operation, worse prediction</a:t>
            </a:r>
            <a:endParaRPr sz="1350" b="0">
              <a:solidFill>
                <a:srgbClr val="6A737B"/>
              </a:solidFill>
              <a:latin typeface="Arial" panose="020B0604020202020204"/>
              <a:ea typeface="Arial" panose="020B0604020202020204"/>
              <a:cs typeface="Arial" panose="020B0604020202020204"/>
            </a:endParaRPr>
          </a:p>
        </p:txBody>
      </p:sp>
      <p:graphicFrame>
        <p:nvGraphicFramePr>
          <p:cNvPr id="24" name="Chart"/>
          <p:cNvGraphicFramePr/>
          <p:nvPr/>
        </p:nvGraphicFramePr>
        <p:xfrm>
          <a:off x="285750" y="857250"/>
          <a:ext cx="6429375" cy="4191000"/>
        </p:xfrm>
        <a:graphic>
          <a:graphicData uri="http://schemas.openxmlformats.org/drawingml/2006/chart">
            <c:chart xmlns:c="http://schemas.openxmlformats.org/drawingml/2006/chart" xmlns:r="http://schemas.openxmlformats.org/officeDocument/2006/relationships" r:id="rId1"/>
          </a:graphicData>
        </a:graphic>
      </p:graphicFrame>
      <p:sp>
        <p:nvSpPr>
          <p:cNvPr id="5" name="矩形 4"/>
          <p:cNvSpPr>
            <a:spLocks noGrp="1"/>
          </p:cNvSpPr>
          <p:nvPr/>
        </p:nvSpPr>
        <p:spPr>
          <a:xfrm>
            <a:off x="971550" y="5219700"/>
            <a:ext cx="35242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Retest improves: 26/30</a:t>
            </a:r>
            <a:endParaRPr sz="1350" b="0">
              <a:solidFill>
                <a:srgbClr val="24292D"/>
              </a:solidFill>
              <a:latin typeface="Arial" panose="020B0604020202020204"/>
              <a:ea typeface="Arial" panose="020B0604020202020204"/>
              <a:cs typeface="Arial" panose="020B0604020202020204"/>
            </a:endParaRPr>
          </a:p>
        </p:txBody>
      </p:sp>
      <p:sp>
        <p:nvSpPr>
          <p:cNvPr id="6" name="矩形 5"/>
          <p:cNvSpPr>
            <a:spLocks noGrp="1"/>
          </p:cNvSpPr>
          <p:nvPr/>
        </p:nvSpPr>
        <p:spPr>
          <a:xfrm>
            <a:off x="971550" y="5524500"/>
            <a:ext cx="35242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Prediction improves: 14/30</a:t>
            </a:r>
            <a:endParaRPr sz="1350" b="0">
              <a:solidFill>
                <a:srgbClr val="24292D"/>
              </a:solidFill>
              <a:latin typeface="Arial" panose="020B0604020202020204"/>
              <a:ea typeface="Arial" panose="020B0604020202020204"/>
              <a:cs typeface="Arial" panose="020B0604020202020204"/>
            </a:endParaRPr>
          </a:p>
        </p:txBody>
      </p:sp>
      <p:sp>
        <p:nvSpPr>
          <p:cNvPr id="7" name="矩形 6"/>
          <p:cNvSpPr>
            <a:spLocks noGrp="1"/>
          </p:cNvSpPr>
          <p:nvPr/>
        </p:nvSpPr>
        <p:spPr>
          <a:xfrm>
            <a:off x="971550" y="5895975"/>
            <a:ext cx="5810250" cy="314325"/>
          </a:xfrm>
          <a:prstGeom prst="rect">
            <a:avLst/>
          </a:prstGeom>
          <a:noFill/>
          <a:ln w="0">
            <a:noFill/>
          </a:ln>
        </p:spPr>
        <p:txBody>
          <a:bodyPr wrap="none" lIns="0" tIns="0" rIns="0" bIns="0" anchor="ctr">
            <a:noAutofit/>
          </a:bodyPr>
          <a:lstStyle/>
          <a:p>
            <a:pPr algn="l">
              <a:defRPr sz="1500" b="1">
                <a:solidFill>
                  <a:srgbClr val="A35F42"/>
                </a:solidFill>
                <a:latin typeface="Arial" panose="020B0604020202020204"/>
                <a:ea typeface="Arial" panose="020B0604020202020204"/>
                <a:cs typeface="Arial" panose="020B0604020202020204"/>
              </a:defRPr>
            </a:pPr>
            <a:r>
              <a:rPr sz="1500" b="1">
                <a:solidFill>
                  <a:srgbClr val="A35F42"/>
                </a:solidFill>
                <a:latin typeface="Arial" panose="020B0604020202020204"/>
                <a:ea typeface="Arial" panose="020B0604020202020204"/>
                <a:cs typeface="Arial" panose="020B0604020202020204"/>
              </a:rPr>
              <a:t>Better retest + worse prediction: 13/30</a:t>
            </a:r>
            <a:endParaRPr sz="1500" b="1">
              <a:solidFill>
                <a:srgbClr val="A35F42"/>
              </a:solidFill>
              <a:latin typeface="Arial" panose="020B0604020202020204"/>
              <a:ea typeface="Arial" panose="020B0604020202020204"/>
              <a:cs typeface="Arial" panose="020B0604020202020204"/>
            </a:endParaRPr>
          </a:p>
        </p:txBody>
      </p:sp>
      <p:sp>
        <p:nvSpPr>
          <p:cNvPr id="8" name="矩形 7"/>
          <p:cNvSpPr>
            <a:spLocks noGrp="1"/>
          </p:cNvSpPr>
          <p:nvPr/>
        </p:nvSpPr>
        <p:spPr>
          <a:xfrm>
            <a:off x="7096125" y="152400"/>
            <a:ext cx="323850" cy="342900"/>
          </a:xfrm>
          <a:prstGeom prst="rect">
            <a:avLst/>
          </a:prstGeom>
          <a:noFill/>
          <a:ln w="0">
            <a:noFill/>
          </a:ln>
        </p:spPr>
        <p:txBody>
          <a:bodyPr wrap="none" lIns="0" tIns="0" rIns="0" bIns="0" anchor="ctr">
            <a:noAutofit/>
          </a:bodyPr>
          <a:lstStyle/>
          <a:p>
            <a:pPr algn="l">
              <a:defRPr sz="2025" b="1">
                <a:solidFill>
                  <a:srgbClr val="24292D"/>
                </a:solidFill>
                <a:latin typeface="Arial" panose="020B0604020202020204"/>
                <a:ea typeface="Arial" panose="020B0604020202020204"/>
                <a:cs typeface="Arial" panose="020B0604020202020204"/>
              </a:defRPr>
            </a:pPr>
            <a:r>
              <a:rPr sz="2025" b="1">
                <a:solidFill>
                  <a:srgbClr val="24292D"/>
                </a:solidFill>
                <a:latin typeface="Arial" panose="020B0604020202020204"/>
                <a:ea typeface="Arial" panose="020B0604020202020204"/>
                <a:cs typeface="Arial" panose="020B0604020202020204"/>
              </a:rPr>
              <a:t>b</a:t>
            </a:r>
            <a:endParaRPr sz="2025" b="1">
              <a:solidFill>
                <a:srgbClr val="24292D"/>
              </a:solidFill>
              <a:latin typeface="Arial" panose="020B0604020202020204"/>
              <a:ea typeface="Arial" panose="020B0604020202020204"/>
              <a:cs typeface="Arial" panose="020B0604020202020204"/>
            </a:endParaRPr>
          </a:p>
        </p:txBody>
      </p:sp>
      <p:sp>
        <p:nvSpPr>
          <p:cNvPr id="9" name="矩形 8"/>
          <p:cNvSpPr>
            <a:spLocks noGrp="1"/>
          </p:cNvSpPr>
          <p:nvPr/>
        </p:nvSpPr>
        <p:spPr>
          <a:xfrm>
            <a:off x="7477125" y="152400"/>
            <a:ext cx="2289810" cy="342900"/>
          </a:xfrm>
          <a:prstGeom prst="rect">
            <a:avLst/>
          </a:prstGeom>
          <a:noFill/>
          <a:ln w="0">
            <a:noFill/>
          </a:ln>
        </p:spPr>
        <p:txBody>
          <a:bodyPr wrap="none" lIns="0" tIns="0" rIns="0" bIns="0" anchor="ctr">
            <a:noAutofit/>
          </a:bodyPr>
          <a:lstStyle/>
          <a:p>
            <a:pPr algn="l">
              <a:defRPr sz="1500" b="0">
                <a:solidFill>
                  <a:srgbClr val="24292D"/>
                </a:solidFill>
                <a:latin typeface="Arial" panose="020B0604020202020204"/>
                <a:ea typeface="Arial" panose="020B0604020202020204"/>
                <a:cs typeface="Arial" panose="020B0604020202020204"/>
              </a:defRPr>
            </a:pPr>
            <a:r>
              <a:rPr sz="1500" b="0">
                <a:solidFill>
                  <a:srgbClr val="24292D"/>
                </a:solidFill>
                <a:latin typeface="Arial" panose="020B0604020202020204"/>
                <a:ea typeface="Arial" panose="020B0604020202020204"/>
                <a:cs typeface="Arial" panose="020B0604020202020204"/>
              </a:rPr>
              <a:t>Reaction processing</a:t>
            </a:r>
            <a:endParaRPr sz="1500" b="0">
              <a:solidFill>
                <a:srgbClr val="24292D"/>
              </a:solidFill>
              <a:latin typeface="Arial" panose="020B0604020202020204"/>
              <a:ea typeface="Arial" panose="020B0604020202020204"/>
              <a:cs typeface="Arial" panose="020B0604020202020204"/>
            </a:endParaRPr>
          </a:p>
        </p:txBody>
      </p:sp>
      <p:sp>
        <p:nvSpPr>
          <p:cNvPr id="10" name="矩形 9"/>
          <p:cNvSpPr>
            <a:spLocks noGrp="1"/>
          </p:cNvSpPr>
          <p:nvPr/>
        </p:nvSpPr>
        <p:spPr>
          <a:xfrm>
            <a:off x="7820025" y="542925"/>
            <a:ext cx="5705475" cy="276225"/>
          </a:xfrm>
          <a:prstGeom prst="rect">
            <a:avLst/>
          </a:prstGeom>
          <a:noFill/>
          <a:ln w="0">
            <a:noFill/>
          </a:ln>
        </p:spPr>
        <p:txBody>
          <a:bodyPr wrap="none" lIns="0" tIns="0" rIns="0" bIns="0" anchor="ctr">
            <a:noAutofit/>
          </a:bodyPr>
          <a:lstStyle/>
          <a:p>
            <a:pPr algn="l">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Upper right: better operation, worse prediction</a:t>
            </a:r>
            <a:endParaRPr sz="1350" b="0">
              <a:solidFill>
                <a:srgbClr val="6A737B"/>
              </a:solidFill>
              <a:latin typeface="Arial" panose="020B0604020202020204"/>
              <a:ea typeface="Arial" panose="020B0604020202020204"/>
              <a:cs typeface="Arial" panose="020B0604020202020204"/>
            </a:endParaRPr>
          </a:p>
        </p:txBody>
      </p:sp>
      <p:graphicFrame>
        <p:nvGraphicFramePr>
          <p:cNvPr id="31" name="Chart"/>
          <p:cNvGraphicFramePr/>
          <p:nvPr/>
        </p:nvGraphicFramePr>
        <p:xfrm>
          <a:off x="7143750" y="857250"/>
          <a:ext cx="6429375" cy="4191000"/>
        </p:xfrm>
        <a:graphic>
          <a:graphicData uri="http://schemas.openxmlformats.org/drawingml/2006/chart">
            <c:chart xmlns:c="http://schemas.openxmlformats.org/drawingml/2006/chart" xmlns:r="http://schemas.openxmlformats.org/officeDocument/2006/relationships" r:id="rId2"/>
          </a:graphicData>
        </a:graphic>
      </p:graphicFrame>
      <p:sp>
        <p:nvSpPr>
          <p:cNvPr id="12" name="矩形 11"/>
          <p:cNvSpPr>
            <a:spLocks noGrp="1"/>
          </p:cNvSpPr>
          <p:nvPr/>
        </p:nvSpPr>
        <p:spPr>
          <a:xfrm>
            <a:off x="7829550" y="5219700"/>
            <a:ext cx="35242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Retest improves: 9/30</a:t>
            </a:r>
            <a:endParaRPr sz="1350" b="0">
              <a:solidFill>
                <a:srgbClr val="24292D"/>
              </a:solidFill>
              <a:latin typeface="Arial" panose="020B0604020202020204"/>
              <a:ea typeface="Arial" panose="020B0604020202020204"/>
              <a:cs typeface="Arial" panose="020B0604020202020204"/>
            </a:endParaRPr>
          </a:p>
        </p:txBody>
      </p:sp>
      <p:sp>
        <p:nvSpPr>
          <p:cNvPr id="13" name="矩形 12"/>
          <p:cNvSpPr>
            <a:spLocks noGrp="1"/>
          </p:cNvSpPr>
          <p:nvPr/>
        </p:nvSpPr>
        <p:spPr>
          <a:xfrm>
            <a:off x="7829550" y="5524500"/>
            <a:ext cx="35242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Prediction improves: 8/30</a:t>
            </a:r>
            <a:endParaRPr sz="1350" b="0">
              <a:solidFill>
                <a:srgbClr val="24292D"/>
              </a:solidFill>
              <a:latin typeface="Arial" panose="020B0604020202020204"/>
              <a:ea typeface="Arial" panose="020B0604020202020204"/>
              <a:cs typeface="Arial" panose="020B0604020202020204"/>
            </a:endParaRPr>
          </a:p>
        </p:txBody>
      </p:sp>
      <p:sp>
        <p:nvSpPr>
          <p:cNvPr id="14" name="矩形 13"/>
          <p:cNvSpPr>
            <a:spLocks noGrp="1"/>
          </p:cNvSpPr>
          <p:nvPr/>
        </p:nvSpPr>
        <p:spPr>
          <a:xfrm>
            <a:off x="7829550" y="5895975"/>
            <a:ext cx="5695950" cy="314325"/>
          </a:xfrm>
          <a:prstGeom prst="rect">
            <a:avLst/>
          </a:prstGeom>
          <a:noFill/>
          <a:ln w="0">
            <a:noFill/>
          </a:ln>
        </p:spPr>
        <p:txBody>
          <a:bodyPr wrap="none" lIns="0" tIns="0" rIns="0" bIns="0" anchor="ctr">
            <a:noAutofit/>
          </a:bodyPr>
          <a:lstStyle/>
          <a:p>
            <a:pPr algn="l">
              <a:defRPr sz="1500" b="1">
                <a:solidFill>
                  <a:srgbClr val="A35F42"/>
                </a:solidFill>
                <a:latin typeface="Arial" panose="020B0604020202020204"/>
                <a:ea typeface="Arial" panose="020B0604020202020204"/>
                <a:cs typeface="Arial" panose="020B0604020202020204"/>
              </a:defRPr>
            </a:pPr>
            <a:r>
              <a:rPr sz="1500" b="1">
                <a:solidFill>
                  <a:srgbClr val="A35F42"/>
                </a:solidFill>
                <a:latin typeface="Arial" panose="020B0604020202020204"/>
                <a:ea typeface="Arial" panose="020B0604020202020204"/>
                <a:cs typeface="Arial" panose="020B0604020202020204"/>
              </a:rPr>
              <a:t>Better retest + worse prediction: 5/30</a:t>
            </a:r>
            <a:endParaRPr sz="1500" b="1">
              <a:solidFill>
                <a:srgbClr val="A35F42"/>
              </a:solidFill>
              <a:latin typeface="Arial" panose="020B0604020202020204"/>
              <a:ea typeface="Arial" panose="020B0604020202020204"/>
              <a:cs typeface="Arial" panose="020B0604020202020204"/>
            </a:endParaRPr>
          </a:p>
        </p:txBody>
      </p:sp>
      <p:sp>
        <p:nvSpPr>
          <p:cNvPr id="15" name="椭圆 14"/>
          <p:cNvSpPr>
            <a:spLocks noGrp="1"/>
          </p:cNvSpPr>
          <p:nvPr/>
        </p:nvSpPr>
        <p:spPr>
          <a:xfrm>
            <a:off x="4200525" y="6686550"/>
            <a:ext cx="114300" cy="114300"/>
          </a:xfrm>
          <a:prstGeom prst="ellipse">
            <a:avLst/>
          </a:prstGeom>
          <a:solidFill>
            <a:srgbClr val="637482"/>
          </a:solidFill>
          <a:ln w="9525">
            <a:solidFill>
              <a:srgbClr val="637482"/>
            </a:solidFill>
          </a:ln>
        </p:spPr>
      </p:sp>
      <p:sp>
        <p:nvSpPr>
          <p:cNvPr id="16" name="矩形 15"/>
          <p:cNvSpPr>
            <a:spLocks noGrp="1"/>
          </p:cNvSpPr>
          <p:nvPr/>
        </p:nvSpPr>
        <p:spPr>
          <a:xfrm>
            <a:off x="4429125" y="6591300"/>
            <a:ext cx="952500" cy="32385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Opaque</a:t>
            </a:r>
            <a:endParaRPr sz="1350" b="0">
              <a:solidFill>
                <a:srgbClr val="24292D"/>
              </a:solidFill>
              <a:latin typeface="Arial" panose="020B0604020202020204"/>
              <a:ea typeface="Arial" panose="020B0604020202020204"/>
              <a:cs typeface="Arial" panose="020B0604020202020204"/>
            </a:endParaRPr>
          </a:p>
        </p:txBody>
      </p:sp>
      <p:sp>
        <p:nvSpPr>
          <p:cNvPr id="17" name="椭圆 16"/>
          <p:cNvSpPr>
            <a:spLocks noGrp="1"/>
          </p:cNvSpPr>
          <p:nvPr/>
        </p:nvSpPr>
        <p:spPr>
          <a:xfrm>
            <a:off x="5267325" y="6686550"/>
            <a:ext cx="114300" cy="114300"/>
          </a:xfrm>
          <a:prstGeom prst="ellipse">
            <a:avLst/>
          </a:prstGeom>
          <a:solidFill>
            <a:srgbClr val="277F8A"/>
          </a:solidFill>
          <a:ln w="9525">
            <a:solidFill>
              <a:srgbClr val="277F8A"/>
            </a:solidFill>
          </a:ln>
        </p:spPr>
      </p:sp>
      <p:sp>
        <p:nvSpPr>
          <p:cNvPr id="18" name="矩形 17"/>
          <p:cNvSpPr>
            <a:spLocks noGrp="1"/>
          </p:cNvSpPr>
          <p:nvPr/>
        </p:nvSpPr>
        <p:spPr>
          <a:xfrm>
            <a:off x="5495925" y="6591300"/>
            <a:ext cx="952500" cy="32385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Aligned</a:t>
            </a:r>
            <a:endParaRPr sz="1350" b="0">
              <a:solidFill>
                <a:srgbClr val="24292D"/>
              </a:solidFill>
              <a:latin typeface="Arial" panose="020B0604020202020204"/>
              <a:ea typeface="Arial" panose="020B0604020202020204"/>
              <a:cs typeface="Arial" panose="020B0604020202020204"/>
            </a:endParaRPr>
          </a:p>
        </p:txBody>
      </p:sp>
      <p:sp>
        <p:nvSpPr>
          <p:cNvPr id="19" name="椭圆 18"/>
          <p:cNvSpPr>
            <a:spLocks noGrp="1"/>
          </p:cNvSpPr>
          <p:nvPr/>
        </p:nvSpPr>
        <p:spPr>
          <a:xfrm>
            <a:off x="6448425" y="6686550"/>
            <a:ext cx="114300" cy="114300"/>
          </a:xfrm>
          <a:prstGeom prst="ellipse">
            <a:avLst/>
          </a:prstGeom>
          <a:solidFill>
            <a:srgbClr val="BC7850"/>
          </a:solidFill>
          <a:ln w="9525">
            <a:solidFill>
              <a:srgbClr val="BC7850"/>
            </a:solidFill>
          </a:ln>
        </p:spPr>
      </p:sp>
      <p:sp>
        <p:nvSpPr>
          <p:cNvPr id="20" name="矩形 19"/>
          <p:cNvSpPr>
            <a:spLocks noGrp="1"/>
          </p:cNvSpPr>
          <p:nvPr/>
        </p:nvSpPr>
        <p:spPr>
          <a:xfrm>
            <a:off x="6677025" y="6591300"/>
            <a:ext cx="1143000" cy="32385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MisIndexed</a:t>
            </a:r>
            <a:endParaRPr sz="1350" b="0">
              <a:solidFill>
                <a:srgbClr val="24292D"/>
              </a:solidFill>
              <a:latin typeface="Arial" panose="020B0604020202020204"/>
              <a:ea typeface="Arial" panose="020B0604020202020204"/>
              <a:cs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35" name="矩形 234"/>
          <p:cNvSpPr>
            <a:spLocks noGrp="1"/>
          </p:cNvSpPr>
          <p:nvPr/>
        </p:nvSpPr>
        <p:spPr>
          <a:xfrm>
            <a:off x="238125" y="142875"/>
            <a:ext cx="304800" cy="381000"/>
          </a:xfrm>
          <a:prstGeom prst="rect">
            <a:avLst/>
          </a:prstGeom>
          <a:noFill/>
          <a:ln w="0">
            <a:noFill/>
          </a:ln>
        </p:spPr>
        <p:txBody>
          <a:bodyPr wrap="none" lIns="0" tIns="0" rIns="0" bIns="0" anchor="ctr">
            <a:noAutofit/>
          </a:bodyPr>
          <a:lstStyle/>
          <a:p>
            <a:pPr algn="l">
              <a:defRPr sz="2025" b="1">
                <a:solidFill>
                  <a:srgbClr val="24292D"/>
                </a:solidFill>
                <a:latin typeface="Arial" panose="020B0604020202020204"/>
                <a:ea typeface="Arial" panose="020B0604020202020204"/>
                <a:cs typeface="Arial" panose="020B0604020202020204"/>
              </a:defRPr>
            </a:pPr>
            <a:r>
              <a:rPr sz="2025" b="1">
                <a:solidFill>
                  <a:srgbClr val="24292D"/>
                </a:solidFill>
                <a:latin typeface="Arial" panose="020B0604020202020204"/>
                <a:ea typeface="Arial" panose="020B0604020202020204"/>
                <a:cs typeface="Arial" panose="020B0604020202020204"/>
              </a:rPr>
              <a:t>a</a:t>
            </a:r>
            <a:endParaRPr sz="2025" b="1">
              <a:solidFill>
                <a:srgbClr val="24292D"/>
              </a:solidFill>
              <a:latin typeface="Arial" panose="020B0604020202020204"/>
              <a:ea typeface="Arial" panose="020B0604020202020204"/>
              <a:cs typeface="Arial" panose="020B0604020202020204"/>
            </a:endParaRPr>
          </a:p>
        </p:txBody>
      </p:sp>
      <p:sp>
        <p:nvSpPr>
          <p:cNvPr id="2" name="矩形 1"/>
          <p:cNvSpPr>
            <a:spLocks noGrp="1"/>
          </p:cNvSpPr>
          <p:nvPr/>
        </p:nvSpPr>
        <p:spPr>
          <a:xfrm>
            <a:off x="476250" y="171450"/>
            <a:ext cx="3857625" cy="381000"/>
          </a:xfrm>
          <a:prstGeom prst="rect">
            <a:avLst/>
          </a:prstGeom>
          <a:noFill/>
          <a:ln w="0">
            <a:noFill/>
          </a:ln>
        </p:spPr>
        <p:txBody>
          <a:bodyPr wrap="none" lIns="0" tIns="0" rIns="0" bIns="0" anchor="ctr">
            <a:noAutofit/>
          </a:bodyPr>
          <a:lstStyle/>
          <a:p>
            <a:pPr algn="ctr">
              <a:defRPr sz="1350" b="1">
                <a:solidFill>
                  <a:srgbClr val="24292D"/>
                </a:solidFill>
                <a:latin typeface="Arial" panose="020B0604020202020204"/>
                <a:ea typeface="Arial" panose="020B0604020202020204"/>
                <a:cs typeface="Arial" panose="020B0604020202020204"/>
              </a:defRPr>
            </a:pPr>
            <a:r>
              <a:rPr sz="1350" b="1">
                <a:solidFill>
                  <a:srgbClr val="24292D"/>
                </a:solidFill>
                <a:latin typeface="Arial" panose="020B0604020202020204"/>
                <a:ea typeface="Arial" panose="020B0604020202020204"/>
                <a:cs typeface="Arial" panose="020B0604020202020204"/>
              </a:rPr>
              <a:t>Electrochemistry Discovery</a:t>
            </a:r>
            <a:endParaRPr sz="1350" b="1">
              <a:solidFill>
                <a:srgbClr val="24292D"/>
              </a:solidFill>
              <a:latin typeface="Arial" panose="020B0604020202020204"/>
              <a:ea typeface="Arial" panose="020B0604020202020204"/>
              <a:cs typeface="Arial" panose="020B0604020202020204"/>
            </a:endParaRPr>
          </a:p>
        </p:txBody>
      </p:sp>
      <p:sp>
        <p:nvSpPr>
          <p:cNvPr id="3" name="矩形 2"/>
          <p:cNvSpPr>
            <a:spLocks noGrp="1"/>
          </p:cNvSpPr>
          <p:nvPr/>
        </p:nvSpPr>
        <p:spPr>
          <a:xfrm>
            <a:off x="638175" y="552450"/>
            <a:ext cx="3524250" cy="257175"/>
          </a:xfrm>
          <a:prstGeom prst="rect">
            <a:avLst/>
          </a:prstGeom>
          <a:noFill/>
          <a:ln w="0">
            <a:noFill/>
          </a:ln>
        </p:spPr>
        <p:txBody>
          <a:bodyPr wrap="none" lIns="0" tIns="0" rIns="0" bIns="0" anchor="ctr">
            <a:noAutofit/>
          </a:bodyPr>
          <a:lstStyle/>
          <a:p>
            <a:pPr algn="ctr">
              <a:defRPr sz="1275" b="0">
                <a:solidFill>
                  <a:srgbClr val="6A737B"/>
                </a:solidFill>
                <a:latin typeface="Arial" panose="020B0604020202020204"/>
                <a:ea typeface="Arial" panose="020B0604020202020204"/>
                <a:cs typeface="Arial" panose="020B0604020202020204"/>
              </a:defRPr>
            </a:pPr>
            <a:r>
              <a:rPr sz="1275" b="0">
                <a:solidFill>
                  <a:srgbClr val="6A737B"/>
                </a:solidFill>
                <a:latin typeface="Arial" panose="020B0604020202020204"/>
                <a:ea typeface="Arial" panose="020B0604020202020204"/>
                <a:cs typeface="Arial" panose="020B0604020202020204"/>
              </a:rPr>
              <a:t>Score MAE</a:t>
            </a:r>
            <a:endParaRPr sz="1275" b="0">
              <a:solidFill>
                <a:srgbClr val="6A737B"/>
              </a:solidFill>
              <a:latin typeface="Arial" panose="020B0604020202020204"/>
              <a:ea typeface="Arial" panose="020B0604020202020204"/>
              <a:cs typeface="Arial" panose="020B0604020202020204"/>
            </a:endParaRPr>
          </a:p>
        </p:txBody>
      </p:sp>
      <p:sp>
        <p:nvSpPr>
          <p:cNvPr id="4" name="直接连接符 3"/>
          <p:cNvSpPr>
            <a:spLocks noGrp="1"/>
          </p:cNvSpPr>
          <p:nvPr/>
        </p:nvSpPr>
        <p:spPr>
          <a:xfrm>
            <a:off x="1304925" y="1524000"/>
            <a:ext cx="1666875" cy="953"/>
          </a:xfrm>
          <a:prstGeom prst="line">
            <a:avLst/>
          </a:prstGeom>
          <a:noFill/>
          <a:ln w="19050">
            <a:solidFill>
              <a:srgbClr val="D7DDE1"/>
            </a:solidFill>
          </a:ln>
        </p:spPr>
      </p:sp>
      <p:sp>
        <p:nvSpPr>
          <p:cNvPr id="5" name="椭圆 4"/>
          <p:cNvSpPr>
            <a:spLocks noGrp="1"/>
          </p:cNvSpPr>
          <p:nvPr/>
        </p:nvSpPr>
        <p:spPr>
          <a:xfrm>
            <a:off x="1219200" y="1438275"/>
            <a:ext cx="171450" cy="171450"/>
          </a:xfrm>
          <a:prstGeom prst="ellipse">
            <a:avLst/>
          </a:prstGeom>
          <a:solidFill>
            <a:srgbClr val="416B92"/>
          </a:solidFill>
          <a:ln w="9525">
            <a:solidFill>
              <a:srgbClr val="416B92"/>
            </a:solidFill>
          </a:ln>
        </p:spPr>
      </p:sp>
      <p:sp>
        <p:nvSpPr>
          <p:cNvPr id="6" name="椭圆 5"/>
          <p:cNvSpPr>
            <a:spLocks noGrp="1"/>
          </p:cNvSpPr>
          <p:nvPr/>
        </p:nvSpPr>
        <p:spPr>
          <a:xfrm>
            <a:off x="2886075" y="1438275"/>
            <a:ext cx="171450" cy="171450"/>
          </a:xfrm>
          <a:prstGeom prst="ellipse">
            <a:avLst/>
          </a:prstGeom>
          <a:solidFill>
            <a:srgbClr val="277F8A"/>
          </a:solidFill>
          <a:ln w="9525">
            <a:solidFill>
              <a:srgbClr val="277F8A"/>
            </a:solidFill>
          </a:ln>
        </p:spPr>
      </p:sp>
      <p:sp>
        <p:nvSpPr>
          <p:cNvPr id="7" name="矩形 6"/>
          <p:cNvSpPr>
            <a:spLocks noGrp="1"/>
          </p:cNvSpPr>
          <p:nvPr/>
        </p:nvSpPr>
        <p:spPr>
          <a:xfrm>
            <a:off x="771525" y="1171575"/>
            <a:ext cx="1066800" cy="247650"/>
          </a:xfrm>
          <a:prstGeom prst="rect">
            <a:avLst/>
          </a:prstGeom>
          <a:noFill/>
          <a:ln w="0">
            <a:noFill/>
          </a:ln>
        </p:spPr>
        <p:txBody>
          <a:bodyPr wrap="none" lIns="0" tIns="0" rIns="0" bIns="0" anchor="ctr">
            <a:noAutofit/>
          </a:bodyPr>
          <a:lstStyle/>
          <a:p>
            <a:pPr algn="ctr">
              <a:defRPr sz="1200" b="0">
                <a:solidFill>
                  <a:srgbClr val="24292D"/>
                </a:solidFill>
                <a:latin typeface="Arial" panose="020B0604020202020204"/>
                <a:ea typeface="Arial" panose="020B0604020202020204"/>
                <a:cs typeface="Arial" panose="020B0604020202020204"/>
              </a:defRPr>
            </a:pPr>
            <a:r>
              <a:rPr sz="1200" b="0">
                <a:solidFill>
                  <a:srgbClr val="24292D"/>
                </a:solidFill>
                <a:latin typeface="Arial" panose="020B0604020202020204"/>
                <a:ea typeface="Arial" panose="020B0604020202020204"/>
                <a:cs typeface="Arial" panose="020B0604020202020204"/>
              </a:rPr>
              <a:t>12 batches</a:t>
            </a:r>
            <a:endParaRPr sz="1200" b="0">
              <a:solidFill>
                <a:srgbClr val="24292D"/>
              </a:solidFill>
              <a:latin typeface="Arial" panose="020B0604020202020204"/>
              <a:ea typeface="Arial" panose="020B0604020202020204"/>
              <a:cs typeface="Arial" panose="020B0604020202020204"/>
            </a:endParaRPr>
          </a:p>
        </p:txBody>
      </p:sp>
      <p:sp>
        <p:nvSpPr>
          <p:cNvPr id="8" name="矩形 7"/>
          <p:cNvSpPr>
            <a:spLocks noGrp="1"/>
          </p:cNvSpPr>
          <p:nvPr/>
        </p:nvSpPr>
        <p:spPr>
          <a:xfrm>
            <a:off x="2438400" y="1171575"/>
            <a:ext cx="1066800" cy="247650"/>
          </a:xfrm>
          <a:prstGeom prst="rect">
            <a:avLst/>
          </a:prstGeom>
          <a:noFill/>
          <a:ln w="0">
            <a:noFill/>
          </a:ln>
        </p:spPr>
        <p:txBody>
          <a:bodyPr wrap="none" lIns="0" tIns="0" rIns="0" bIns="0" anchor="ctr">
            <a:noAutofit/>
          </a:bodyPr>
          <a:lstStyle/>
          <a:p>
            <a:pPr algn="ctr">
              <a:defRPr sz="1200" b="0">
                <a:solidFill>
                  <a:srgbClr val="24292D"/>
                </a:solidFill>
                <a:latin typeface="Arial" panose="020B0604020202020204"/>
                <a:ea typeface="Arial" panose="020B0604020202020204"/>
                <a:cs typeface="Arial" panose="020B0604020202020204"/>
              </a:defRPr>
            </a:pPr>
            <a:r>
              <a:rPr sz="1200" b="0">
                <a:solidFill>
                  <a:srgbClr val="24292D"/>
                </a:solidFill>
                <a:latin typeface="Arial" panose="020B0604020202020204"/>
                <a:ea typeface="Arial" panose="020B0604020202020204"/>
                <a:cs typeface="Arial" panose="020B0604020202020204"/>
              </a:rPr>
              <a:t>24 batches</a:t>
            </a:r>
            <a:endParaRPr sz="1200" b="0">
              <a:solidFill>
                <a:srgbClr val="24292D"/>
              </a:solidFill>
              <a:latin typeface="Arial" panose="020B0604020202020204"/>
              <a:ea typeface="Arial" panose="020B0604020202020204"/>
              <a:cs typeface="Arial" panose="020B0604020202020204"/>
            </a:endParaRPr>
          </a:p>
        </p:txBody>
      </p:sp>
      <p:sp>
        <p:nvSpPr>
          <p:cNvPr id="9" name="矩形 8"/>
          <p:cNvSpPr>
            <a:spLocks noGrp="1"/>
          </p:cNvSpPr>
          <p:nvPr/>
        </p:nvSpPr>
        <p:spPr>
          <a:xfrm>
            <a:off x="723900" y="1676400"/>
            <a:ext cx="1162050" cy="266700"/>
          </a:xfrm>
          <a:prstGeom prst="rect">
            <a:avLst/>
          </a:prstGeom>
          <a:noFill/>
          <a:ln w="0">
            <a:noFill/>
          </a:ln>
        </p:spPr>
        <p:txBody>
          <a:bodyPr wrap="none" lIns="0" tIns="0" rIns="0" bIns="0" anchor="ctr">
            <a:noAutofit/>
          </a:bodyPr>
          <a:lstStyle/>
          <a:p>
            <a:pPr algn="ctr">
              <a:defRPr sz="1350" b="0">
                <a:solidFill>
                  <a:srgbClr val="416B92"/>
                </a:solidFill>
                <a:latin typeface="Arial" panose="020B0604020202020204"/>
                <a:ea typeface="Arial" panose="020B0604020202020204"/>
                <a:cs typeface="Arial" panose="020B0604020202020204"/>
              </a:defRPr>
            </a:pPr>
            <a:r>
              <a:rPr sz="1350" b="0">
                <a:solidFill>
                  <a:srgbClr val="416B92"/>
                </a:solidFill>
                <a:latin typeface="Arial" panose="020B0604020202020204"/>
                <a:ea typeface="Arial" panose="020B0604020202020204"/>
                <a:cs typeface="Arial" panose="020B0604020202020204"/>
              </a:rPr>
              <a:t>0.1738</a:t>
            </a:r>
            <a:endParaRPr sz="1350" b="0">
              <a:solidFill>
                <a:srgbClr val="416B92"/>
              </a:solidFill>
              <a:latin typeface="Arial" panose="020B0604020202020204"/>
              <a:ea typeface="Arial" panose="020B0604020202020204"/>
              <a:cs typeface="Arial" panose="020B0604020202020204"/>
            </a:endParaRPr>
          </a:p>
        </p:txBody>
      </p:sp>
      <p:sp>
        <p:nvSpPr>
          <p:cNvPr id="10" name="矩形 9"/>
          <p:cNvSpPr>
            <a:spLocks noGrp="1"/>
          </p:cNvSpPr>
          <p:nvPr/>
        </p:nvSpPr>
        <p:spPr>
          <a:xfrm>
            <a:off x="2390775" y="1676400"/>
            <a:ext cx="1162050" cy="266700"/>
          </a:xfrm>
          <a:prstGeom prst="rect">
            <a:avLst/>
          </a:prstGeom>
          <a:noFill/>
          <a:ln w="0">
            <a:noFill/>
          </a:ln>
        </p:spPr>
        <p:txBody>
          <a:bodyPr wrap="none" lIns="0" tIns="0" rIns="0" bIns="0" anchor="ctr">
            <a:noAutofit/>
          </a:bodyPr>
          <a:lstStyle/>
          <a:p>
            <a:pPr algn="ctr">
              <a:defRPr sz="1350" b="0">
                <a:solidFill>
                  <a:srgbClr val="277F8A"/>
                </a:solidFill>
                <a:latin typeface="Arial" panose="020B0604020202020204"/>
                <a:ea typeface="Arial" panose="020B0604020202020204"/>
                <a:cs typeface="Arial" panose="020B0604020202020204"/>
              </a:defRPr>
            </a:pPr>
            <a:r>
              <a:rPr sz="1350" b="0">
                <a:solidFill>
                  <a:srgbClr val="277F8A"/>
                </a:solidFill>
                <a:latin typeface="Arial" panose="020B0604020202020204"/>
                <a:ea typeface="Arial" panose="020B0604020202020204"/>
                <a:cs typeface="Arial" panose="020B0604020202020204"/>
              </a:rPr>
              <a:t>0.1122</a:t>
            </a:r>
            <a:endParaRPr sz="1350" b="0">
              <a:solidFill>
                <a:srgbClr val="277F8A"/>
              </a:solidFill>
              <a:latin typeface="Arial" panose="020B0604020202020204"/>
              <a:ea typeface="Arial" panose="020B0604020202020204"/>
              <a:cs typeface="Arial" panose="020B0604020202020204"/>
            </a:endParaRPr>
          </a:p>
        </p:txBody>
      </p:sp>
      <p:sp>
        <p:nvSpPr>
          <p:cNvPr id="11" name="矩形 10"/>
          <p:cNvSpPr>
            <a:spLocks noGrp="1"/>
          </p:cNvSpPr>
          <p:nvPr/>
        </p:nvSpPr>
        <p:spPr>
          <a:xfrm>
            <a:off x="3714750" y="1362075"/>
            <a:ext cx="666750" cy="285750"/>
          </a:xfrm>
          <a:prstGeom prst="rect">
            <a:avLst/>
          </a:prstGeom>
          <a:noFill/>
          <a:ln w="0">
            <a:noFill/>
          </a:ln>
        </p:spPr>
        <p:txBody>
          <a:bodyPr wrap="none" lIns="0" tIns="0" rIns="0" bIns="0" anchor="ctr">
            <a:noAutofit/>
          </a:bodyPr>
          <a:lstStyle/>
          <a:p>
            <a:pPr algn="ctr">
              <a:defRPr sz="1500" b="1">
                <a:solidFill>
                  <a:srgbClr val="24292D"/>
                </a:solidFill>
                <a:latin typeface="Arial" panose="020B0604020202020204"/>
                <a:ea typeface="Arial" panose="020B0604020202020204"/>
                <a:cs typeface="Arial" panose="020B0604020202020204"/>
              </a:defRPr>
            </a:pPr>
            <a:r>
              <a:rPr sz="1500" b="1">
                <a:solidFill>
                  <a:srgbClr val="24292D"/>
                </a:solidFill>
                <a:latin typeface="Arial" panose="020B0604020202020204"/>
                <a:ea typeface="Arial" panose="020B0604020202020204"/>
                <a:cs typeface="Arial" panose="020B0604020202020204"/>
              </a:rPr>
              <a:t>11/15</a:t>
            </a:r>
            <a:endParaRPr sz="1500" b="1">
              <a:solidFill>
                <a:srgbClr val="24292D"/>
              </a:solidFill>
              <a:latin typeface="Arial" panose="020B0604020202020204"/>
              <a:ea typeface="Arial" panose="020B0604020202020204"/>
              <a:cs typeface="Arial" panose="020B0604020202020204"/>
            </a:endParaRPr>
          </a:p>
        </p:txBody>
      </p:sp>
      <p:sp>
        <p:nvSpPr>
          <p:cNvPr id="12" name="矩形 11"/>
          <p:cNvSpPr>
            <a:spLocks noGrp="1"/>
          </p:cNvSpPr>
          <p:nvPr/>
        </p:nvSpPr>
        <p:spPr>
          <a:xfrm>
            <a:off x="3609975" y="1638300"/>
            <a:ext cx="876300" cy="228600"/>
          </a:xfrm>
          <a:prstGeom prst="rect">
            <a:avLst/>
          </a:prstGeom>
          <a:noFill/>
          <a:ln w="0">
            <a:noFill/>
          </a:ln>
        </p:spPr>
        <p:txBody>
          <a:bodyPr wrap="none" lIns="0" tIns="0" rIns="0" bIns="0" anchor="ctr">
            <a:noAutofit/>
          </a:bodyPr>
          <a:lstStyle/>
          <a:p>
            <a:pPr algn="ctr">
              <a:defRPr sz="1200" b="0">
                <a:solidFill>
                  <a:srgbClr val="6A737B"/>
                </a:solidFill>
                <a:latin typeface="Arial" panose="020B0604020202020204"/>
                <a:ea typeface="Arial" panose="020B0604020202020204"/>
                <a:cs typeface="Arial" panose="020B0604020202020204"/>
              </a:defRPr>
            </a:pPr>
            <a:r>
              <a:rPr sz="1200" b="0">
                <a:solidFill>
                  <a:srgbClr val="6A737B"/>
                </a:solidFill>
                <a:latin typeface="Arial" panose="020B0604020202020204"/>
                <a:ea typeface="Arial" panose="020B0604020202020204"/>
                <a:cs typeface="Arial" panose="020B0604020202020204"/>
              </a:rPr>
              <a:t>improved</a:t>
            </a:r>
            <a:endParaRPr sz="1200" b="0">
              <a:solidFill>
                <a:srgbClr val="6A737B"/>
              </a:solidFill>
              <a:latin typeface="Arial" panose="020B0604020202020204"/>
              <a:ea typeface="Arial" panose="020B0604020202020204"/>
              <a:cs typeface="Arial" panose="020B0604020202020204"/>
            </a:endParaRPr>
          </a:p>
        </p:txBody>
      </p:sp>
      <p:sp>
        <p:nvSpPr>
          <p:cNvPr id="13" name="直接连接符 12"/>
          <p:cNvSpPr>
            <a:spLocks noGrp="1"/>
          </p:cNvSpPr>
          <p:nvPr/>
        </p:nvSpPr>
        <p:spPr>
          <a:xfrm>
            <a:off x="2333625" y="2257425"/>
            <a:ext cx="953" cy="1295400"/>
          </a:xfrm>
          <a:prstGeom prst="line">
            <a:avLst/>
          </a:prstGeom>
          <a:noFill/>
          <a:ln w="11430">
            <a:solidFill>
              <a:srgbClr val="6A737B"/>
            </a:solidFill>
          </a:ln>
        </p:spPr>
      </p:sp>
      <p:sp>
        <p:nvSpPr>
          <p:cNvPr id="14" name="椭圆 13"/>
          <p:cNvSpPr>
            <a:spLocks noGrp="1"/>
          </p:cNvSpPr>
          <p:nvPr/>
        </p:nvSpPr>
        <p:spPr>
          <a:xfrm>
            <a:off x="1258770" y="2576513"/>
            <a:ext cx="104775" cy="104775"/>
          </a:xfrm>
          <a:prstGeom prst="ellipse">
            <a:avLst/>
          </a:prstGeom>
          <a:solidFill>
            <a:srgbClr val="A35F42"/>
          </a:solidFill>
          <a:ln w="9525">
            <a:solidFill>
              <a:srgbClr val="A35F42"/>
            </a:solidFill>
          </a:ln>
        </p:spPr>
      </p:sp>
      <p:sp>
        <p:nvSpPr>
          <p:cNvPr id="15" name="椭圆 14"/>
          <p:cNvSpPr>
            <a:spLocks noGrp="1"/>
          </p:cNvSpPr>
          <p:nvPr/>
        </p:nvSpPr>
        <p:spPr>
          <a:xfrm>
            <a:off x="1632840" y="3005138"/>
            <a:ext cx="104775" cy="104775"/>
          </a:xfrm>
          <a:prstGeom prst="ellipse">
            <a:avLst/>
          </a:prstGeom>
          <a:solidFill>
            <a:srgbClr val="A35F42"/>
          </a:solidFill>
          <a:ln w="9525">
            <a:solidFill>
              <a:srgbClr val="A35F42"/>
            </a:solidFill>
          </a:ln>
        </p:spPr>
      </p:sp>
      <p:sp>
        <p:nvSpPr>
          <p:cNvPr id="16" name="椭圆 15"/>
          <p:cNvSpPr>
            <a:spLocks noGrp="1"/>
          </p:cNvSpPr>
          <p:nvPr/>
        </p:nvSpPr>
        <p:spPr>
          <a:xfrm>
            <a:off x="1966376" y="2433638"/>
            <a:ext cx="104775" cy="104775"/>
          </a:xfrm>
          <a:prstGeom prst="ellipse">
            <a:avLst/>
          </a:prstGeom>
          <a:solidFill>
            <a:srgbClr val="A35F42"/>
          </a:solidFill>
          <a:ln w="9525">
            <a:solidFill>
              <a:srgbClr val="A35F42"/>
            </a:solidFill>
          </a:ln>
        </p:spPr>
      </p:sp>
      <p:sp>
        <p:nvSpPr>
          <p:cNvPr id="17" name="椭圆 16"/>
          <p:cNvSpPr>
            <a:spLocks noGrp="1"/>
          </p:cNvSpPr>
          <p:nvPr/>
        </p:nvSpPr>
        <p:spPr>
          <a:xfrm>
            <a:off x="2187632" y="3148013"/>
            <a:ext cx="104775" cy="104775"/>
          </a:xfrm>
          <a:prstGeom prst="ellipse">
            <a:avLst/>
          </a:prstGeom>
          <a:solidFill>
            <a:srgbClr val="A35F42"/>
          </a:solidFill>
          <a:ln w="9525">
            <a:solidFill>
              <a:srgbClr val="A35F42"/>
            </a:solidFill>
          </a:ln>
        </p:spPr>
      </p:sp>
      <p:sp>
        <p:nvSpPr>
          <p:cNvPr id="18" name="椭圆 17"/>
          <p:cNvSpPr>
            <a:spLocks noGrp="1"/>
          </p:cNvSpPr>
          <p:nvPr/>
        </p:nvSpPr>
        <p:spPr>
          <a:xfrm>
            <a:off x="2387759" y="2862263"/>
            <a:ext cx="104775" cy="104775"/>
          </a:xfrm>
          <a:prstGeom prst="ellipse">
            <a:avLst/>
          </a:prstGeom>
          <a:solidFill>
            <a:srgbClr val="277F8A"/>
          </a:solidFill>
          <a:ln w="9525">
            <a:solidFill>
              <a:srgbClr val="277F8A"/>
            </a:solidFill>
          </a:ln>
        </p:spPr>
      </p:sp>
      <p:sp>
        <p:nvSpPr>
          <p:cNvPr id="19" name="椭圆 18"/>
          <p:cNvSpPr>
            <a:spLocks noGrp="1"/>
          </p:cNvSpPr>
          <p:nvPr/>
        </p:nvSpPr>
        <p:spPr>
          <a:xfrm>
            <a:off x="2420899" y="2719388"/>
            <a:ext cx="104775" cy="104775"/>
          </a:xfrm>
          <a:prstGeom prst="ellipse">
            <a:avLst/>
          </a:prstGeom>
          <a:solidFill>
            <a:srgbClr val="277F8A"/>
          </a:solidFill>
          <a:ln w="9525">
            <a:solidFill>
              <a:srgbClr val="277F8A"/>
            </a:solidFill>
          </a:ln>
        </p:spPr>
      </p:sp>
      <p:sp>
        <p:nvSpPr>
          <p:cNvPr id="20" name="椭圆 19"/>
          <p:cNvSpPr>
            <a:spLocks noGrp="1"/>
          </p:cNvSpPr>
          <p:nvPr/>
        </p:nvSpPr>
        <p:spPr>
          <a:xfrm>
            <a:off x="2459356" y="3290888"/>
            <a:ext cx="104775" cy="104775"/>
          </a:xfrm>
          <a:prstGeom prst="ellipse">
            <a:avLst/>
          </a:prstGeom>
          <a:solidFill>
            <a:srgbClr val="277F8A"/>
          </a:solidFill>
          <a:ln w="9525">
            <a:solidFill>
              <a:srgbClr val="277F8A"/>
            </a:solidFill>
          </a:ln>
        </p:spPr>
      </p:sp>
      <p:sp>
        <p:nvSpPr>
          <p:cNvPr id="21" name="椭圆 20"/>
          <p:cNvSpPr>
            <a:spLocks noGrp="1"/>
          </p:cNvSpPr>
          <p:nvPr/>
        </p:nvSpPr>
        <p:spPr>
          <a:xfrm>
            <a:off x="2659717" y="3005138"/>
            <a:ext cx="104775" cy="104775"/>
          </a:xfrm>
          <a:prstGeom prst="ellipse">
            <a:avLst/>
          </a:prstGeom>
          <a:solidFill>
            <a:srgbClr val="277F8A"/>
          </a:solidFill>
          <a:ln w="9525">
            <a:solidFill>
              <a:srgbClr val="277F8A"/>
            </a:solidFill>
          </a:ln>
        </p:spPr>
      </p:sp>
      <p:sp>
        <p:nvSpPr>
          <p:cNvPr id="22" name="椭圆 21"/>
          <p:cNvSpPr>
            <a:spLocks noGrp="1"/>
          </p:cNvSpPr>
          <p:nvPr/>
        </p:nvSpPr>
        <p:spPr>
          <a:xfrm>
            <a:off x="2876448" y="2576513"/>
            <a:ext cx="104775" cy="104775"/>
          </a:xfrm>
          <a:prstGeom prst="ellipse">
            <a:avLst/>
          </a:prstGeom>
          <a:solidFill>
            <a:srgbClr val="277F8A"/>
          </a:solidFill>
          <a:ln w="9525">
            <a:solidFill>
              <a:srgbClr val="277F8A"/>
            </a:solidFill>
          </a:ln>
        </p:spPr>
      </p:sp>
      <p:sp>
        <p:nvSpPr>
          <p:cNvPr id="23" name="椭圆 22"/>
          <p:cNvSpPr>
            <a:spLocks noGrp="1"/>
          </p:cNvSpPr>
          <p:nvPr/>
        </p:nvSpPr>
        <p:spPr>
          <a:xfrm>
            <a:off x="3108953" y="3148013"/>
            <a:ext cx="104775" cy="104775"/>
          </a:xfrm>
          <a:prstGeom prst="ellipse">
            <a:avLst/>
          </a:prstGeom>
          <a:solidFill>
            <a:srgbClr val="277F8A"/>
          </a:solidFill>
          <a:ln w="9525">
            <a:solidFill>
              <a:srgbClr val="277F8A"/>
            </a:solidFill>
          </a:ln>
        </p:spPr>
      </p:sp>
      <p:sp>
        <p:nvSpPr>
          <p:cNvPr id="24" name="椭圆 23"/>
          <p:cNvSpPr>
            <a:spLocks noGrp="1"/>
          </p:cNvSpPr>
          <p:nvPr/>
        </p:nvSpPr>
        <p:spPr>
          <a:xfrm>
            <a:off x="3193221" y="2433638"/>
            <a:ext cx="104775" cy="104775"/>
          </a:xfrm>
          <a:prstGeom prst="ellipse">
            <a:avLst/>
          </a:prstGeom>
          <a:solidFill>
            <a:srgbClr val="277F8A"/>
          </a:solidFill>
          <a:ln w="9525">
            <a:solidFill>
              <a:srgbClr val="277F8A"/>
            </a:solidFill>
          </a:ln>
        </p:spPr>
      </p:sp>
      <p:sp>
        <p:nvSpPr>
          <p:cNvPr id="25" name="椭圆 24"/>
          <p:cNvSpPr>
            <a:spLocks noGrp="1"/>
          </p:cNvSpPr>
          <p:nvPr/>
        </p:nvSpPr>
        <p:spPr>
          <a:xfrm>
            <a:off x="3322302" y="2862263"/>
            <a:ext cx="104775" cy="104775"/>
          </a:xfrm>
          <a:prstGeom prst="ellipse">
            <a:avLst/>
          </a:prstGeom>
          <a:solidFill>
            <a:srgbClr val="277F8A"/>
          </a:solidFill>
          <a:ln w="9525">
            <a:solidFill>
              <a:srgbClr val="277F8A"/>
            </a:solidFill>
          </a:ln>
        </p:spPr>
      </p:sp>
      <p:sp>
        <p:nvSpPr>
          <p:cNvPr id="26" name="椭圆 25"/>
          <p:cNvSpPr>
            <a:spLocks noGrp="1"/>
          </p:cNvSpPr>
          <p:nvPr/>
        </p:nvSpPr>
        <p:spPr>
          <a:xfrm>
            <a:off x="3352304" y="3290888"/>
            <a:ext cx="104775" cy="104775"/>
          </a:xfrm>
          <a:prstGeom prst="ellipse">
            <a:avLst/>
          </a:prstGeom>
          <a:solidFill>
            <a:srgbClr val="277F8A"/>
          </a:solidFill>
          <a:ln w="9525">
            <a:solidFill>
              <a:srgbClr val="277F8A"/>
            </a:solidFill>
          </a:ln>
        </p:spPr>
      </p:sp>
      <p:sp>
        <p:nvSpPr>
          <p:cNvPr id="27" name="椭圆 26"/>
          <p:cNvSpPr>
            <a:spLocks noGrp="1"/>
          </p:cNvSpPr>
          <p:nvPr/>
        </p:nvSpPr>
        <p:spPr>
          <a:xfrm>
            <a:off x="3414505" y="2719388"/>
            <a:ext cx="104775" cy="104775"/>
          </a:xfrm>
          <a:prstGeom prst="ellipse">
            <a:avLst/>
          </a:prstGeom>
          <a:solidFill>
            <a:srgbClr val="277F8A"/>
          </a:solidFill>
          <a:ln w="9525">
            <a:solidFill>
              <a:srgbClr val="277F8A"/>
            </a:solidFill>
          </a:ln>
        </p:spPr>
      </p:sp>
      <p:sp>
        <p:nvSpPr>
          <p:cNvPr id="28" name="椭圆 27"/>
          <p:cNvSpPr>
            <a:spLocks noGrp="1"/>
          </p:cNvSpPr>
          <p:nvPr/>
        </p:nvSpPr>
        <p:spPr>
          <a:xfrm>
            <a:off x="3547812" y="2862263"/>
            <a:ext cx="104775" cy="104775"/>
          </a:xfrm>
          <a:prstGeom prst="ellipse">
            <a:avLst/>
          </a:prstGeom>
          <a:solidFill>
            <a:srgbClr val="277F8A"/>
          </a:solidFill>
          <a:ln w="9525">
            <a:solidFill>
              <a:srgbClr val="277F8A"/>
            </a:solidFill>
          </a:ln>
        </p:spPr>
      </p:sp>
      <p:sp>
        <p:nvSpPr>
          <p:cNvPr id="29" name="菱形 28"/>
          <p:cNvSpPr>
            <a:spLocks noGrp="1"/>
          </p:cNvSpPr>
          <p:nvPr/>
        </p:nvSpPr>
        <p:spPr>
          <a:xfrm>
            <a:off x="2654954" y="2857500"/>
            <a:ext cx="114300" cy="114300"/>
          </a:xfrm>
          <a:prstGeom prst="diamond">
            <a:avLst/>
          </a:prstGeom>
          <a:solidFill>
            <a:srgbClr val="24292D"/>
          </a:solidFill>
          <a:ln w="9525">
            <a:solidFill>
              <a:srgbClr val="24292D"/>
            </a:solidFill>
          </a:ln>
        </p:spPr>
      </p:sp>
      <p:sp>
        <p:nvSpPr>
          <p:cNvPr id="30" name="直接连接符 29"/>
          <p:cNvSpPr>
            <a:spLocks noGrp="1"/>
          </p:cNvSpPr>
          <p:nvPr/>
        </p:nvSpPr>
        <p:spPr>
          <a:xfrm>
            <a:off x="476250" y="3695700"/>
            <a:ext cx="3714750" cy="953"/>
          </a:xfrm>
          <a:prstGeom prst="line">
            <a:avLst/>
          </a:prstGeom>
          <a:noFill/>
          <a:ln w="12383">
            <a:solidFill>
              <a:srgbClr val="24292D"/>
            </a:solidFill>
          </a:ln>
        </p:spPr>
      </p:sp>
      <p:sp>
        <p:nvSpPr>
          <p:cNvPr id="31" name="直接连接符 30"/>
          <p:cNvSpPr>
            <a:spLocks noGrp="1"/>
          </p:cNvSpPr>
          <p:nvPr/>
        </p:nvSpPr>
        <p:spPr>
          <a:xfrm>
            <a:off x="523875" y="3695700"/>
            <a:ext cx="953" cy="76200"/>
          </a:xfrm>
          <a:prstGeom prst="line">
            <a:avLst/>
          </a:prstGeom>
          <a:noFill/>
          <a:ln w="9525">
            <a:solidFill>
              <a:srgbClr val="24292D"/>
            </a:solidFill>
          </a:ln>
        </p:spPr>
      </p:sp>
      <p:sp>
        <p:nvSpPr>
          <p:cNvPr id="32" name="矩形 31"/>
          <p:cNvSpPr>
            <a:spLocks noGrp="1"/>
          </p:cNvSpPr>
          <p:nvPr/>
        </p:nvSpPr>
        <p:spPr>
          <a:xfrm>
            <a:off x="161925" y="3810000"/>
            <a:ext cx="723900" cy="26670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-0.3</a:t>
            </a:r>
            <a:endParaRPr sz="1275" b="0">
              <a:solidFill>
                <a:srgbClr val="24292D"/>
              </a:solidFill>
              <a:latin typeface="Arial" panose="020B0604020202020204"/>
              <a:ea typeface="Arial" panose="020B0604020202020204"/>
              <a:cs typeface="Arial" panose="020B0604020202020204"/>
            </a:endParaRPr>
          </a:p>
        </p:txBody>
      </p:sp>
      <p:sp>
        <p:nvSpPr>
          <p:cNvPr id="33" name="直接连接符 32"/>
          <p:cNvSpPr>
            <a:spLocks noGrp="1"/>
          </p:cNvSpPr>
          <p:nvPr/>
        </p:nvSpPr>
        <p:spPr>
          <a:xfrm>
            <a:off x="2333625" y="3695700"/>
            <a:ext cx="953" cy="76200"/>
          </a:xfrm>
          <a:prstGeom prst="line">
            <a:avLst/>
          </a:prstGeom>
          <a:noFill/>
          <a:ln w="9525">
            <a:solidFill>
              <a:srgbClr val="24292D"/>
            </a:solidFill>
          </a:ln>
        </p:spPr>
      </p:sp>
      <p:sp>
        <p:nvSpPr>
          <p:cNvPr id="34" name="矩形 33"/>
          <p:cNvSpPr>
            <a:spLocks noGrp="1"/>
          </p:cNvSpPr>
          <p:nvPr/>
        </p:nvSpPr>
        <p:spPr>
          <a:xfrm>
            <a:off x="1971675" y="3810000"/>
            <a:ext cx="723900" cy="26670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0</a:t>
            </a:r>
            <a:endParaRPr sz="1275" b="0">
              <a:solidFill>
                <a:srgbClr val="24292D"/>
              </a:solidFill>
              <a:latin typeface="Arial" panose="020B0604020202020204"/>
              <a:ea typeface="Arial" panose="020B0604020202020204"/>
              <a:cs typeface="Arial" panose="020B0604020202020204"/>
            </a:endParaRPr>
          </a:p>
        </p:txBody>
      </p:sp>
      <p:sp>
        <p:nvSpPr>
          <p:cNvPr id="35" name="直接连接符 34"/>
          <p:cNvSpPr>
            <a:spLocks noGrp="1"/>
          </p:cNvSpPr>
          <p:nvPr/>
        </p:nvSpPr>
        <p:spPr>
          <a:xfrm>
            <a:off x="4143375" y="3695700"/>
            <a:ext cx="953" cy="76200"/>
          </a:xfrm>
          <a:prstGeom prst="line">
            <a:avLst/>
          </a:prstGeom>
          <a:noFill/>
          <a:ln w="9525">
            <a:solidFill>
              <a:srgbClr val="24292D"/>
            </a:solidFill>
          </a:ln>
        </p:spPr>
      </p:sp>
      <p:sp>
        <p:nvSpPr>
          <p:cNvPr id="36" name="矩形 35"/>
          <p:cNvSpPr>
            <a:spLocks noGrp="1"/>
          </p:cNvSpPr>
          <p:nvPr/>
        </p:nvSpPr>
        <p:spPr>
          <a:xfrm>
            <a:off x="3781425" y="3810000"/>
            <a:ext cx="723900" cy="26670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+0.3</a:t>
            </a:r>
            <a:endParaRPr sz="1275" b="0">
              <a:solidFill>
                <a:srgbClr val="24292D"/>
              </a:solidFill>
              <a:latin typeface="Arial" panose="020B0604020202020204"/>
              <a:ea typeface="Arial" panose="020B0604020202020204"/>
              <a:cs typeface="Arial" panose="020B0604020202020204"/>
            </a:endParaRPr>
          </a:p>
        </p:txBody>
      </p:sp>
      <p:sp>
        <p:nvSpPr>
          <p:cNvPr id="37" name="矩形 36"/>
          <p:cNvSpPr>
            <a:spLocks noGrp="1"/>
          </p:cNvSpPr>
          <p:nvPr/>
        </p:nvSpPr>
        <p:spPr>
          <a:xfrm>
            <a:off x="352425" y="4171950"/>
            <a:ext cx="3962400" cy="36195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Prediction error reduction</a:t>
            </a:r>
            <a:endParaRPr sz="1275" b="0">
              <a:solidFill>
                <a:srgbClr val="24292D"/>
              </a:solidFill>
              <a:latin typeface="Arial" panose="020B0604020202020204"/>
              <a:ea typeface="Arial" panose="020B0604020202020204"/>
              <a:cs typeface="Arial" panose="020B0604020202020204"/>
            </a:endParaRPr>
          </a:p>
        </p:txBody>
      </p:sp>
      <p:sp>
        <p:nvSpPr>
          <p:cNvPr id="38" name="矩形 37"/>
          <p:cNvSpPr>
            <a:spLocks noGrp="1"/>
          </p:cNvSpPr>
          <p:nvPr/>
        </p:nvSpPr>
        <p:spPr>
          <a:xfrm>
            <a:off x="4762500" y="142875"/>
            <a:ext cx="304800" cy="381000"/>
          </a:xfrm>
          <a:prstGeom prst="rect">
            <a:avLst/>
          </a:prstGeom>
          <a:noFill/>
          <a:ln w="0">
            <a:noFill/>
          </a:ln>
        </p:spPr>
        <p:txBody>
          <a:bodyPr wrap="none" lIns="0" tIns="0" rIns="0" bIns="0" anchor="ctr">
            <a:noAutofit/>
          </a:bodyPr>
          <a:lstStyle/>
          <a:p>
            <a:pPr algn="l">
              <a:defRPr sz="2025" b="1">
                <a:solidFill>
                  <a:srgbClr val="24292D"/>
                </a:solidFill>
                <a:latin typeface="Arial" panose="020B0604020202020204"/>
                <a:ea typeface="Arial" panose="020B0604020202020204"/>
                <a:cs typeface="Arial" panose="020B0604020202020204"/>
              </a:defRPr>
            </a:pPr>
            <a:r>
              <a:rPr sz="2025" b="1">
                <a:solidFill>
                  <a:srgbClr val="24292D"/>
                </a:solidFill>
                <a:latin typeface="Arial" panose="020B0604020202020204"/>
                <a:ea typeface="Arial" panose="020B0604020202020204"/>
                <a:cs typeface="Arial" panose="020B0604020202020204"/>
              </a:rPr>
              <a:t>b</a:t>
            </a:r>
            <a:endParaRPr sz="2025" b="1">
              <a:solidFill>
                <a:srgbClr val="24292D"/>
              </a:solidFill>
              <a:latin typeface="Arial" panose="020B0604020202020204"/>
              <a:ea typeface="Arial" panose="020B0604020202020204"/>
              <a:cs typeface="Arial" panose="020B0604020202020204"/>
            </a:endParaRPr>
          </a:p>
        </p:txBody>
      </p:sp>
      <p:sp>
        <p:nvSpPr>
          <p:cNvPr id="39" name="矩形 38"/>
          <p:cNvSpPr>
            <a:spLocks noGrp="1"/>
          </p:cNvSpPr>
          <p:nvPr/>
        </p:nvSpPr>
        <p:spPr>
          <a:xfrm>
            <a:off x="5000625" y="171450"/>
            <a:ext cx="3857625" cy="381000"/>
          </a:xfrm>
          <a:prstGeom prst="rect">
            <a:avLst/>
          </a:prstGeom>
          <a:noFill/>
          <a:ln w="0">
            <a:noFill/>
          </a:ln>
        </p:spPr>
        <p:txBody>
          <a:bodyPr wrap="none" lIns="0" tIns="0" rIns="0" bIns="0" anchor="ctr">
            <a:noAutofit/>
          </a:bodyPr>
          <a:lstStyle/>
          <a:p>
            <a:pPr algn="ctr">
              <a:defRPr sz="1350" b="1">
                <a:solidFill>
                  <a:srgbClr val="24292D"/>
                </a:solidFill>
                <a:latin typeface="Arial" panose="020B0604020202020204"/>
                <a:ea typeface="Arial" panose="020B0604020202020204"/>
                <a:cs typeface="Arial" panose="020B0604020202020204"/>
              </a:defRPr>
            </a:pPr>
            <a:r>
              <a:rPr sz="1350" b="1">
                <a:solidFill>
                  <a:srgbClr val="24292D"/>
                </a:solidFill>
                <a:latin typeface="Arial" panose="020B0604020202020204"/>
                <a:ea typeface="Arial" panose="020B0604020202020204"/>
                <a:cs typeface="Arial" panose="020B0604020202020204"/>
              </a:rPr>
              <a:t>Electrochemistry Optimization</a:t>
            </a:r>
            <a:endParaRPr sz="1350" b="1">
              <a:solidFill>
                <a:srgbClr val="24292D"/>
              </a:solidFill>
              <a:latin typeface="Arial" panose="020B0604020202020204"/>
              <a:ea typeface="Arial" panose="020B0604020202020204"/>
              <a:cs typeface="Arial" panose="020B0604020202020204"/>
            </a:endParaRPr>
          </a:p>
        </p:txBody>
      </p:sp>
      <p:sp>
        <p:nvSpPr>
          <p:cNvPr id="40" name="矩形 39"/>
          <p:cNvSpPr>
            <a:spLocks noGrp="1"/>
          </p:cNvSpPr>
          <p:nvPr/>
        </p:nvSpPr>
        <p:spPr>
          <a:xfrm>
            <a:off x="5162550" y="552450"/>
            <a:ext cx="3524250" cy="257175"/>
          </a:xfrm>
          <a:prstGeom prst="rect">
            <a:avLst/>
          </a:prstGeom>
          <a:noFill/>
          <a:ln w="0">
            <a:noFill/>
          </a:ln>
        </p:spPr>
        <p:txBody>
          <a:bodyPr wrap="none" lIns="0" tIns="0" rIns="0" bIns="0" anchor="ctr">
            <a:noAutofit/>
          </a:bodyPr>
          <a:lstStyle/>
          <a:p>
            <a:pPr algn="ctr">
              <a:defRPr sz="1275" b="0">
                <a:solidFill>
                  <a:srgbClr val="6A737B"/>
                </a:solidFill>
                <a:latin typeface="Arial" panose="020B0604020202020204"/>
                <a:ea typeface="Arial" panose="020B0604020202020204"/>
                <a:cs typeface="Arial" panose="020B0604020202020204"/>
              </a:defRPr>
            </a:pPr>
            <a:r>
              <a:rPr sz="1275" b="0">
                <a:solidFill>
                  <a:srgbClr val="6A737B"/>
                </a:solidFill>
                <a:latin typeface="Arial" panose="020B0604020202020204"/>
                <a:ea typeface="Arial" panose="020B0604020202020204"/>
                <a:cs typeface="Arial" panose="020B0604020202020204"/>
              </a:rPr>
              <a:t>Score MAE</a:t>
            </a:r>
            <a:endParaRPr sz="1275" b="0">
              <a:solidFill>
                <a:srgbClr val="6A737B"/>
              </a:solidFill>
              <a:latin typeface="Arial" panose="020B0604020202020204"/>
              <a:ea typeface="Arial" panose="020B0604020202020204"/>
              <a:cs typeface="Arial" panose="020B0604020202020204"/>
            </a:endParaRPr>
          </a:p>
        </p:txBody>
      </p:sp>
      <p:sp>
        <p:nvSpPr>
          <p:cNvPr id="41" name="直接连接符 40"/>
          <p:cNvSpPr>
            <a:spLocks noGrp="1"/>
          </p:cNvSpPr>
          <p:nvPr/>
        </p:nvSpPr>
        <p:spPr>
          <a:xfrm>
            <a:off x="5829300" y="1524000"/>
            <a:ext cx="1666875" cy="953"/>
          </a:xfrm>
          <a:prstGeom prst="line">
            <a:avLst/>
          </a:prstGeom>
          <a:noFill/>
          <a:ln w="19050">
            <a:solidFill>
              <a:srgbClr val="D7DDE1"/>
            </a:solidFill>
          </a:ln>
        </p:spPr>
      </p:sp>
      <p:sp>
        <p:nvSpPr>
          <p:cNvPr id="42" name="椭圆 41"/>
          <p:cNvSpPr>
            <a:spLocks noGrp="1"/>
          </p:cNvSpPr>
          <p:nvPr/>
        </p:nvSpPr>
        <p:spPr>
          <a:xfrm>
            <a:off x="5743575" y="1438275"/>
            <a:ext cx="171450" cy="171450"/>
          </a:xfrm>
          <a:prstGeom prst="ellipse">
            <a:avLst/>
          </a:prstGeom>
          <a:solidFill>
            <a:srgbClr val="416B92"/>
          </a:solidFill>
          <a:ln w="9525">
            <a:solidFill>
              <a:srgbClr val="416B92"/>
            </a:solidFill>
          </a:ln>
        </p:spPr>
      </p:sp>
      <p:sp>
        <p:nvSpPr>
          <p:cNvPr id="43" name="椭圆 42"/>
          <p:cNvSpPr>
            <a:spLocks noGrp="1"/>
          </p:cNvSpPr>
          <p:nvPr/>
        </p:nvSpPr>
        <p:spPr>
          <a:xfrm>
            <a:off x="7410450" y="1438275"/>
            <a:ext cx="171450" cy="171450"/>
          </a:xfrm>
          <a:prstGeom prst="ellipse">
            <a:avLst/>
          </a:prstGeom>
          <a:solidFill>
            <a:srgbClr val="277F8A"/>
          </a:solidFill>
          <a:ln w="9525">
            <a:solidFill>
              <a:srgbClr val="277F8A"/>
            </a:solidFill>
          </a:ln>
        </p:spPr>
      </p:sp>
      <p:sp>
        <p:nvSpPr>
          <p:cNvPr id="44" name="矩形 43"/>
          <p:cNvSpPr>
            <a:spLocks noGrp="1"/>
          </p:cNvSpPr>
          <p:nvPr/>
        </p:nvSpPr>
        <p:spPr>
          <a:xfrm>
            <a:off x="5295900" y="1171575"/>
            <a:ext cx="1066800" cy="247650"/>
          </a:xfrm>
          <a:prstGeom prst="rect">
            <a:avLst/>
          </a:prstGeom>
          <a:noFill/>
          <a:ln w="0">
            <a:noFill/>
          </a:ln>
        </p:spPr>
        <p:txBody>
          <a:bodyPr wrap="none" lIns="0" tIns="0" rIns="0" bIns="0" anchor="ctr">
            <a:noAutofit/>
          </a:bodyPr>
          <a:lstStyle/>
          <a:p>
            <a:pPr algn="ctr">
              <a:defRPr sz="1200" b="0">
                <a:solidFill>
                  <a:srgbClr val="24292D"/>
                </a:solidFill>
                <a:latin typeface="Arial" panose="020B0604020202020204"/>
                <a:ea typeface="Arial" panose="020B0604020202020204"/>
                <a:cs typeface="Arial" panose="020B0604020202020204"/>
              </a:defRPr>
            </a:pPr>
            <a:r>
              <a:rPr sz="1200" b="0">
                <a:solidFill>
                  <a:srgbClr val="24292D"/>
                </a:solidFill>
                <a:latin typeface="Arial" panose="020B0604020202020204"/>
                <a:ea typeface="Arial" panose="020B0604020202020204"/>
                <a:cs typeface="Arial" panose="020B0604020202020204"/>
              </a:rPr>
              <a:t>12 batches</a:t>
            </a:r>
            <a:endParaRPr sz="1200" b="0">
              <a:solidFill>
                <a:srgbClr val="24292D"/>
              </a:solidFill>
              <a:latin typeface="Arial" panose="020B0604020202020204"/>
              <a:ea typeface="Arial" panose="020B0604020202020204"/>
              <a:cs typeface="Arial" panose="020B0604020202020204"/>
            </a:endParaRPr>
          </a:p>
        </p:txBody>
      </p:sp>
      <p:sp>
        <p:nvSpPr>
          <p:cNvPr id="45" name="矩形 44"/>
          <p:cNvSpPr>
            <a:spLocks noGrp="1"/>
          </p:cNvSpPr>
          <p:nvPr/>
        </p:nvSpPr>
        <p:spPr>
          <a:xfrm>
            <a:off x="6962775" y="1171575"/>
            <a:ext cx="1066800" cy="247650"/>
          </a:xfrm>
          <a:prstGeom prst="rect">
            <a:avLst/>
          </a:prstGeom>
          <a:noFill/>
          <a:ln w="0">
            <a:noFill/>
          </a:ln>
        </p:spPr>
        <p:txBody>
          <a:bodyPr wrap="none" lIns="0" tIns="0" rIns="0" bIns="0" anchor="ctr">
            <a:noAutofit/>
          </a:bodyPr>
          <a:lstStyle/>
          <a:p>
            <a:pPr algn="ctr">
              <a:defRPr sz="1200" b="0">
                <a:solidFill>
                  <a:srgbClr val="24292D"/>
                </a:solidFill>
                <a:latin typeface="Arial" panose="020B0604020202020204"/>
                <a:ea typeface="Arial" panose="020B0604020202020204"/>
                <a:cs typeface="Arial" panose="020B0604020202020204"/>
              </a:defRPr>
            </a:pPr>
            <a:r>
              <a:rPr sz="1200" b="0">
                <a:solidFill>
                  <a:srgbClr val="24292D"/>
                </a:solidFill>
                <a:latin typeface="Arial" panose="020B0604020202020204"/>
                <a:ea typeface="Arial" panose="020B0604020202020204"/>
                <a:cs typeface="Arial" panose="020B0604020202020204"/>
              </a:rPr>
              <a:t>24 batches</a:t>
            </a:r>
            <a:endParaRPr sz="1200" b="0">
              <a:solidFill>
                <a:srgbClr val="24292D"/>
              </a:solidFill>
              <a:latin typeface="Arial" panose="020B0604020202020204"/>
              <a:ea typeface="Arial" panose="020B0604020202020204"/>
              <a:cs typeface="Arial" panose="020B0604020202020204"/>
            </a:endParaRPr>
          </a:p>
        </p:txBody>
      </p:sp>
      <p:sp>
        <p:nvSpPr>
          <p:cNvPr id="46" name="矩形 45"/>
          <p:cNvSpPr>
            <a:spLocks noGrp="1"/>
          </p:cNvSpPr>
          <p:nvPr/>
        </p:nvSpPr>
        <p:spPr>
          <a:xfrm>
            <a:off x="5248275" y="1676400"/>
            <a:ext cx="1162050" cy="266700"/>
          </a:xfrm>
          <a:prstGeom prst="rect">
            <a:avLst/>
          </a:prstGeom>
          <a:noFill/>
          <a:ln w="0">
            <a:noFill/>
          </a:ln>
        </p:spPr>
        <p:txBody>
          <a:bodyPr wrap="none" lIns="0" tIns="0" rIns="0" bIns="0" anchor="ctr">
            <a:noAutofit/>
          </a:bodyPr>
          <a:lstStyle/>
          <a:p>
            <a:pPr algn="ctr">
              <a:defRPr sz="1350" b="0">
                <a:solidFill>
                  <a:srgbClr val="416B92"/>
                </a:solidFill>
                <a:latin typeface="Arial" panose="020B0604020202020204"/>
                <a:ea typeface="Arial" panose="020B0604020202020204"/>
                <a:cs typeface="Arial" panose="020B0604020202020204"/>
              </a:defRPr>
            </a:pPr>
            <a:r>
              <a:rPr sz="1350" b="0">
                <a:solidFill>
                  <a:srgbClr val="416B92"/>
                </a:solidFill>
                <a:latin typeface="Arial" panose="020B0604020202020204"/>
                <a:ea typeface="Arial" panose="020B0604020202020204"/>
                <a:cs typeface="Arial" panose="020B0604020202020204"/>
              </a:rPr>
              <a:t>0.1781</a:t>
            </a:r>
            <a:endParaRPr sz="1350" b="0">
              <a:solidFill>
                <a:srgbClr val="416B92"/>
              </a:solidFill>
              <a:latin typeface="Arial" panose="020B0604020202020204"/>
              <a:ea typeface="Arial" panose="020B0604020202020204"/>
              <a:cs typeface="Arial" panose="020B0604020202020204"/>
            </a:endParaRPr>
          </a:p>
        </p:txBody>
      </p:sp>
      <p:sp>
        <p:nvSpPr>
          <p:cNvPr id="47" name="矩形 46"/>
          <p:cNvSpPr>
            <a:spLocks noGrp="1"/>
          </p:cNvSpPr>
          <p:nvPr/>
        </p:nvSpPr>
        <p:spPr>
          <a:xfrm>
            <a:off x="6915150" y="1676400"/>
            <a:ext cx="1162050" cy="266700"/>
          </a:xfrm>
          <a:prstGeom prst="rect">
            <a:avLst/>
          </a:prstGeom>
          <a:noFill/>
          <a:ln w="0">
            <a:noFill/>
          </a:ln>
        </p:spPr>
        <p:txBody>
          <a:bodyPr wrap="none" lIns="0" tIns="0" rIns="0" bIns="0" anchor="ctr">
            <a:noAutofit/>
          </a:bodyPr>
          <a:lstStyle/>
          <a:p>
            <a:pPr algn="ctr">
              <a:defRPr sz="1350" b="0">
                <a:solidFill>
                  <a:srgbClr val="277F8A"/>
                </a:solidFill>
                <a:latin typeface="Arial" panose="020B0604020202020204"/>
                <a:ea typeface="Arial" panose="020B0604020202020204"/>
                <a:cs typeface="Arial" panose="020B0604020202020204"/>
              </a:defRPr>
            </a:pPr>
            <a:r>
              <a:rPr sz="1350" b="0">
                <a:solidFill>
                  <a:srgbClr val="277F8A"/>
                </a:solidFill>
                <a:latin typeface="Arial" panose="020B0604020202020204"/>
                <a:ea typeface="Arial" panose="020B0604020202020204"/>
                <a:cs typeface="Arial" panose="020B0604020202020204"/>
              </a:rPr>
              <a:t>0.1082</a:t>
            </a:r>
            <a:endParaRPr sz="1350" b="0">
              <a:solidFill>
                <a:srgbClr val="277F8A"/>
              </a:solidFill>
              <a:latin typeface="Arial" panose="020B0604020202020204"/>
              <a:ea typeface="Arial" panose="020B0604020202020204"/>
              <a:cs typeface="Arial" panose="020B0604020202020204"/>
            </a:endParaRPr>
          </a:p>
        </p:txBody>
      </p:sp>
      <p:sp>
        <p:nvSpPr>
          <p:cNvPr id="48" name="矩形 47"/>
          <p:cNvSpPr>
            <a:spLocks noGrp="1"/>
          </p:cNvSpPr>
          <p:nvPr/>
        </p:nvSpPr>
        <p:spPr>
          <a:xfrm>
            <a:off x="8239125" y="1362075"/>
            <a:ext cx="666750" cy="285750"/>
          </a:xfrm>
          <a:prstGeom prst="rect">
            <a:avLst/>
          </a:prstGeom>
          <a:noFill/>
          <a:ln w="0">
            <a:noFill/>
          </a:ln>
        </p:spPr>
        <p:txBody>
          <a:bodyPr wrap="none" lIns="0" tIns="0" rIns="0" bIns="0" anchor="ctr">
            <a:noAutofit/>
          </a:bodyPr>
          <a:lstStyle/>
          <a:p>
            <a:pPr algn="ctr">
              <a:defRPr sz="1500" b="1">
                <a:solidFill>
                  <a:srgbClr val="24292D"/>
                </a:solidFill>
                <a:latin typeface="Arial" panose="020B0604020202020204"/>
                <a:ea typeface="Arial" panose="020B0604020202020204"/>
                <a:cs typeface="Arial" panose="020B0604020202020204"/>
              </a:defRPr>
            </a:pPr>
            <a:r>
              <a:rPr sz="1500" b="1">
                <a:solidFill>
                  <a:srgbClr val="24292D"/>
                </a:solidFill>
                <a:latin typeface="Arial" panose="020B0604020202020204"/>
                <a:ea typeface="Arial" panose="020B0604020202020204"/>
                <a:cs typeface="Arial" panose="020B0604020202020204"/>
              </a:rPr>
              <a:t>12/15</a:t>
            </a:r>
            <a:endParaRPr sz="1500" b="1">
              <a:solidFill>
                <a:srgbClr val="24292D"/>
              </a:solidFill>
              <a:latin typeface="Arial" panose="020B0604020202020204"/>
              <a:ea typeface="Arial" panose="020B0604020202020204"/>
              <a:cs typeface="Arial" panose="020B0604020202020204"/>
            </a:endParaRPr>
          </a:p>
        </p:txBody>
      </p:sp>
      <p:sp>
        <p:nvSpPr>
          <p:cNvPr id="49" name="矩形 48"/>
          <p:cNvSpPr>
            <a:spLocks noGrp="1"/>
          </p:cNvSpPr>
          <p:nvPr/>
        </p:nvSpPr>
        <p:spPr>
          <a:xfrm>
            <a:off x="8134350" y="1638300"/>
            <a:ext cx="876300" cy="228600"/>
          </a:xfrm>
          <a:prstGeom prst="rect">
            <a:avLst/>
          </a:prstGeom>
          <a:noFill/>
          <a:ln w="0">
            <a:noFill/>
          </a:ln>
        </p:spPr>
        <p:txBody>
          <a:bodyPr wrap="none" lIns="0" tIns="0" rIns="0" bIns="0" anchor="ctr">
            <a:noAutofit/>
          </a:bodyPr>
          <a:lstStyle/>
          <a:p>
            <a:pPr algn="ctr">
              <a:defRPr sz="1200" b="0">
                <a:solidFill>
                  <a:srgbClr val="6A737B"/>
                </a:solidFill>
                <a:latin typeface="Arial" panose="020B0604020202020204"/>
                <a:ea typeface="Arial" panose="020B0604020202020204"/>
                <a:cs typeface="Arial" panose="020B0604020202020204"/>
              </a:defRPr>
            </a:pPr>
            <a:r>
              <a:rPr sz="1200" b="0">
                <a:solidFill>
                  <a:srgbClr val="6A737B"/>
                </a:solidFill>
                <a:latin typeface="Arial" panose="020B0604020202020204"/>
                <a:ea typeface="Arial" panose="020B0604020202020204"/>
                <a:cs typeface="Arial" panose="020B0604020202020204"/>
              </a:rPr>
              <a:t>improved</a:t>
            </a:r>
            <a:endParaRPr sz="1200" b="0">
              <a:solidFill>
                <a:srgbClr val="6A737B"/>
              </a:solidFill>
              <a:latin typeface="Arial" panose="020B0604020202020204"/>
              <a:ea typeface="Arial" panose="020B0604020202020204"/>
              <a:cs typeface="Arial" panose="020B0604020202020204"/>
            </a:endParaRPr>
          </a:p>
        </p:txBody>
      </p:sp>
      <p:sp>
        <p:nvSpPr>
          <p:cNvPr id="50" name="直接连接符 49"/>
          <p:cNvSpPr>
            <a:spLocks noGrp="1"/>
          </p:cNvSpPr>
          <p:nvPr/>
        </p:nvSpPr>
        <p:spPr>
          <a:xfrm>
            <a:off x="6858000" y="2257425"/>
            <a:ext cx="953" cy="1295400"/>
          </a:xfrm>
          <a:prstGeom prst="line">
            <a:avLst/>
          </a:prstGeom>
          <a:noFill/>
          <a:ln w="11430">
            <a:solidFill>
              <a:srgbClr val="6A737B"/>
            </a:solidFill>
          </a:ln>
        </p:spPr>
      </p:sp>
      <p:sp>
        <p:nvSpPr>
          <p:cNvPr id="51" name="椭圆 50"/>
          <p:cNvSpPr>
            <a:spLocks noGrp="1"/>
          </p:cNvSpPr>
          <p:nvPr/>
        </p:nvSpPr>
        <p:spPr>
          <a:xfrm>
            <a:off x="6070052" y="2576513"/>
            <a:ext cx="104775" cy="104775"/>
          </a:xfrm>
          <a:prstGeom prst="ellipse">
            <a:avLst/>
          </a:prstGeom>
          <a:solidFill>
            <a:srgbClr val="A35F42"/>
          </a:solidFill>
          <a:ln w="9525">
            <a:solidFill>
              <a:srgbClr val="A35F42"/>
            </a:solidFill>
          </a:ln>
        </p:spPr>
      </p:sp>
      <p:sp>
        <p:nvSpPr>
          <p:cNvPr id="52" name="椭圆 51"/>
          <p:cNvSpPr>
            <a:spLocks noGrp="1"/>
          </p:cNvSpPr>
          <p:nvPr/>
        </p:nvSpPr>
        <p:spPr>
          <a:xfrm>
            <a:off x="6649959" y="3005138"/>
            <a:ext cx="104775" cy="104775"/>
          </a:xfrm>
          <a:prstGeom prst="ellipse">
            <a:avLst/>
          </a:prstGeom>
          <a:solidFill>
            <a:srgbClr val="A35F42"/>
          </a:solidFill>
          <a:ln w="9525">
            <a:solidFill>
              <a:srgbClr val="A35F42"/>
            </a:solidFill>
          </a:ln>
        </p:spPr>
      </p:sp>
      <p:sp>
        <p:nvSpPr>
          <p:cNvPr id="53" name="椭圆 52"/>
          <p:cNvSpPr>
            <a:spLocks noGrp="1"/>
          </p:cNvSpPr>
          <p:nvPr/>
        </p:nvSpPr>
        <p:spPr>
          <a:xfrm>
            <a:off x="6771506" y="2433638"/>
            <a:ext cx="104775" cy="104775"/>
          </a:xfrm>
          <a:prstGeom prst="ellipse">
            <a:avLst/>
          </a:prstGeom>
          <a:solidFill>
            <a:srgbClr val="A35F42"/>
          </a:solidFill>
          <a:ln w="9525">
            <a:solidFill>
              <a:srgbClr val="A35F42"/>
            </a:solidFill>
          </a:ln>
        </p:spPr>
      </p:sp>
      <p:sp>
        <p:nvSpPr>
          <p:cNvPr id="54" name="椭圆 53"/>
          <p:cNvSpPr>
            <a:spLocks noGrp="1"/>
          </p:cNvSpPr>
          <p:nvPr/>
        </p:nvSpPr>
        <p:spPr>
          <a:xfrm>
            <a:off x="6989972" y="3148013"/>
            <a:ext cx="104775" cy="104775"/>
          </a:xfrm>
          <a:prstGeom prst="ellipse">
            <a:avLst/>
          </a:prstGeom>
          <a:solidFill>
            <a:srgbClr val="277F8A"/>
          </a:solidFill>
          <a:ln w="9525">
            <a:solidFill>
              <a:srgbClr val="277F8A"/>
            </a:solidFill>
          </a:ln>
        </p:spPr>
      </p:sp>
      <p:sp>
        <p:nvSpPr>
          <p:cNvPr id="55" name="椭圆 54"/>
          <p:cNvSpPr>
            <a:spLocks noGrp="1"/>
          </p:cNvSpPr>
          <p:nvPr/>
        </p:nvSpPr>
        <p:spPr>
          <a:xfrm>
            <a:off x="7026454" y="2862263"/>
            <a:ext cx="104775" cy="104775"/>
          </a:xfrm>
          <a:prstGeom prst="ellipse">
            <a:avLst/>
          </a:prstGeom>
          <a:solidFill>
            <a:srgbClr val="277F8A"/>
          </a:solidFill>
          <a:ln w="9525">
            <a:solidFill>
              <a:srgbClr val="277F8A"/>
            </a:solidFill>
          </a:ln>
        </p:spPr>
      </p:sp>
      <p:sp>
        <p:nvSpPr>
          <p:cNvPr id="56" name="椭圆 55"/>
          <p:cNvSpPr>
            <a:spLocks noGrp="1"/>
          </p:cNvSpPr>
          <p:nvPr/>
        </p:nvSpPr>
        <p:spPr>
          <a:xfrm>
            <a:off x="7068831" y="2719388"/>
            <a:ext cx="104775" cy="104775"/>
          </a:xfrm>
          <a:prstGeom prst="ellipse">
            <a:avLst/>
          </a:prstGeom>
          <a:solidFill>
            <a:srgbClr val="277F8A"/>
          </a:solidFill>
          <a:ln w="9525">
            <a:solidFill>
              <a:srgbClr val="277F8A"/>
            </a:solidFill>
          </a:ln>
        </p:spPr>
      </p:sp>
      <p:sp>
        <p:nvSpPr>
          <p:cNvPr id="57" name="椭圆 56"/>
          <p:cNvSpPr>
            <a:spLocks noGrp="1"/>
          </p:cNvSpPr>
          <p:nvPr/>
        </p:nvSpPr>
        <p:spPr>
          <a:xfrm>
            <a:off x="7184103" y="3290888"/>
            <a:ext cx="104775" cy="104775"/>
          </a:xfrm>
          <a:prstGeom prst="ellipse">
            <a:avLst/>
          </a:prstGeom>
          <a:solidFill>
            <a:srgbClr val="277F8A"/>
          </a:solidFill>
          <a:ln w="9525">
            <a:solidFill>
              <a:srgbClr val="277F8A"/>
            </a:solidFill>
          </a:ln>
        </p:spPr>
      </p:sp>
      <p:sp>
        <p:nvSpPr>
          <p:cNvPr id="58" name="椭圆 57"/>
          <p:cNvSpPr>
            <a:spLocks noGrp="1"/>
          </p:cNvSpPr>
          <p:nvPr/>
        </p:nvSpPr>
        <p:spPr>
          <a:xfrm>
            <a:off x="7294130" y="3005138"/>
            <a:ext cx="104775" cy="104775"/>
          </a:xfrm>
          <a:prstGeom prst="ellipse">
            <a:avLst/>
          </a:prstGeom>
          <a:solidFill>
            <a:srgbClr val="277F8A"/>
          </a:solidFill>
          <a:ln w="9525">
            <a:solidFill>
              <a:srgbClr val="277F8A"/>
            </a:solidFill>
          </a:ln>
        </p:spPr>
      </p:sp>
      <p:sp>
        <p:nvSpPr>
          <p:cNvPr id="59" name="椭圆 58"/>
          <p:cNvSpPr>
            <a:spLocks noGrp="1"/>
          </p:cNvSpPr>
          <p:nvPr/>
        </p:nvSpPr>
        <p:spPr>
          <a:xfrm>
            <a:off x="7314054" y="2576513"/>
            <a:ext cx="104775" cy="104775"/>
          </a:xfrm>
          <a:prstGeom prst="ellipse">
            <a:avLst/>
          </a:prstGeom>
          <a:solidFill>
            <a:srgbClr val="277F8A"/>
          </a:solidFill>
          <a:ln w="9525">
            <a:solidFill>
              <a:srgbClr val="277F8A"/>
            </a:solidFill>
          </a:ln>
        </p:spPr>
      </p:sp>
      <p:sp>
        <p:nvSpPr>
          <p:cNvPr id="60" name="椭圆 59"/>
          <p:cNvSpPr>
            <a:spLocks noGrp="1"/>
          </p:cNvSpPr>
          <p:nvPr/>
        </p:nvSpPr>
        <p:spPr>
          <a:xfrm>
            <a:off x="7445564" y="3148013"/>
            <a:ext cx="104775" cy="104775"/>
          </a:xfrm>
          <a:prstGeom prst="ellipse">
            <a:avLst/>
          </a:prstGeom>
          <a:solidFill>
            <a:srgbClr val="277F8A"/>
          </a:solidFill>
          <a:ln w="9525">
            <a:solidFill>
              <a:srgbClr val="277F8A"/>
            </a:solidFill>
          </a:ln>
        </p:spPr>
      </p:sp>
      <p:sp>
        <p:nvSpPr>
          <p:cNvPr id="61" name="椭圆 60"/>
          <p:cNvSpPr>
            <a:spLocks noGrp="1"/>
          </p:cNvSpPr>
          <p:nvPr/>
        </p:nvSpPr>
        <p:spPr>
          <a:xfrm>
            <a:off x="7479112" y="2433638"/>
            <a:ext cx="104775" cy="104775"/>
          </a:xfrm>
          <a:prstGeom prst="ellipse">
            <a:avLst/>
          </a:prstGeom>
          <a:solidFill>
            <a:srgbClr val="277F8A"/>
          </a:solidFill>
          <a:ln w="9525">
            <a:solidFill>
              <a:srgbClr val="277F8A"/>
            </a:solidFill>
          </a:ln>
        </p:spPr>
      </p:sp>
      <p:sp>
        <p:nvSpPr>
          <p:cNvPr id="62" name="椭圆 61"/>
          <p:cNvSpPr>
            <a:spLocks noGrp="1"/>
          </p:cNvSpPr>
          <p:nvPr/>
        </p:nvSpPr>
        <p:spPr>
          <a:xfrm>
            <a:off x="7513463" y="2862263"/>
            <a:ext cx="104775" cy="104775"/>
          </a:xfrm>
          <a:prstGeom prst="ellipse">
            <a:avLst/>
          </a:prstGeom>
          <a:solidFill>
            <a:srgbClr val="277F8A"/>
          </a:solidFill>
          <a:ln w="9525">
            <a:solidFill>
              <a:srgbClr val="277F8A"/>
            </a:solidFill>
          </a:ln>
        </p:spPr>
      </p:sp>
      <p:sp>
        <p:nvSpPr>
          <p:cNvPr id="63" name="椭圆 62"/>
          <p:cNvSpPr>
            <a:spLocks noGrp="1"/>
          </p:cNvSpPr>
          <p:nvPr/>
        </p:nvSpPr>
        <p:spPr>
          <a:xfrm>
            <a:off x="7780592" y="3290888"/>
            <a:ext cx="104775" cy="104775"/>
          </a:xfrm>
          <a:prstGeom prst="ellipse">
            <a:avLst/>
          </a:prstGeom>
          <a:solidFill>
            <a:srgbClr val="277F8A"/>
          </a:solidFill>
          <a:ln w="9525">
            <a:solidFill>
              <a:srgbClr val="277F8A"/>
            </a:solidFill>
          </a:ln>
        </p:spPr>
      </p:sp>
      <p:sp>
        <p:nvSpPr>
          <p:cNvPr id="64" name="椭圆 63"/>
          <p:cNvSpPr>
            <a:spLocks noGrp="1"/>
          </p:cNvSpPr>
          <p:nvPr/>
        </p:nvSpPr>
        <p:spPr>
          <a:xfrm>
            <a:off x="7886576" y="2719388"/>
            <a:ext cx="104775" cy="104775"/>
          </a:xfrm>
          <a:prstGeom prst="ellipse">
            <a:avLst/>
          </a:prstGeom>
          <a:solidFill>
            <a:srgbClr val="277F8A"/>
          </a:solidFill>
          <a:ln w="9525">
            <a:solidFill>
              <a:srgbClr val="277F8A"/>
            </a:solidFill>
          </a:ln>
        </p:spPr>
      </p:sp>
      <p:sp>
        <p:nvSpPr>
          <p:cNvPr id="65" name="椭圆 64"/>
          <p:cNvSpPr>
            <a:spLocks noGrp="1"/>
          </p:cNvSpPr>
          <p:nvPr/>
        </p:nvSpPr>
        <p:spPr>
          <a:xfrm>
            <a:off x="7938341" y="2862263"/>
            <a:ext cx="104775" cy="104775"/>
          </a:xfrm>
          <a:prstGeom prst="ellipse">
            <a:avLst/>
          </a:prstGeom>
          <a:solidFill>
            <a:srgbClr val="277F8A"/>
          </a:solidFill>
          <a:ln w="9525">
            <a:solidFill>
              <a:srgbClr val="277F8A"/>
            </a:solidFill>
          </a:ln>
        </p:spPr>
      </p:sp>
      <p:sp>
        <p:nvSpPr>
          <p:cNvPr id="66" name="菱形 65"/>
          <p:cNvSpPr>
            <a:spLocks noGrp="1"/>
          </p:cNvSpPr>
          <p:nvPr/>
        </p:nvSpPr>
        <p:spPr>
          <a:xfrm>
            <a:off x="7289367" y="2857500"/>
            <a:ext cx="114300" cy="114300"/>
          </a:xfrm>
          <a:prstGeom prst="diamond">
            <a:avLst/>
          </a:prstGeom>
          <a:solidFill>
            <a:srgbClr val="24292D"/>
          </a:solidFill>
          <a:ln w="9525">
            <a:solidFill>
              <a:srgbClr val="24292D"/>
            </a:solidFill>
          </a:ln>
        </p:spPr>
      </p:sp>
      <p:sp>
        <p:nvSpPr>
          <p:cNvPr id="67" name="直接连接符 66"/>
          <p:cNvSpPr>
            <a:spLocks noGrp="1"/>
          </p:cNvSpPr>
          <p:nvPr/>
        </p:nvSpPr>
        <p:spPr>
          <a:xfrm>
            <a:off x="5000625" y="3695700"/>
            <a:ext cx="3714750" cy="953"/>
          </a:xfrm>
          <a:prstGeom prst="line">
            <a:avLst/>
          </a:prstGeom>
          <a:noFill/>
          <a:ln w="12383">
            <a:solidFill>
              <a:srgbClr val="24292D"/>
            </a:solidFill>
          </a:ln>
        </p:spPr>
      </p:sp>
      <p:sp>
        <p:nvSpPr>
          <p:cNvPr id="68" name="直接连接符 67"/>
          <p:cNvSpPr>
            <a:spLocks noGrp="1"/>
          </p:cNvSpPr>
          <p:nvPr/>
        </p:nvSpPr>
        <p:spPr>
          <a:xfrm>
            <a:off x="5048250" y="3695700"/>
            <a:ext cx="953" cy="76200"/>
          </a:xfrm>
          <a:prstGeom prst="line">
            <a:avLst/>
          </a:prstGeom>
          <a:noFill/>
          <a:ln w="9525">
            <a:solidFill>
              <a:srgbClr val="24292D"/>
            </a:solidFill>
          </a:ln>
        </p:spPr>
      </p:sp>
      <p:sp>
        <p:nvSpPr>
          <p:cNvPr id="69" name="矩形 68"/>
          <p:cNvSpPr>
            <a:spLocks noGrp="1"/>
          </p:cNvSpPr>
          <p:nvPr/>
        </p:nvSpPr>
        <p:spPr>
          <a:xfrm>
            <a:off x="4686300" y="3810000"/>
            <a:ext cx="723900" cy="26670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-0.3</a:t>
            </a:r>
            <a:endParaRPr sz="1275" b="0">
              <a:solidFill>
                <a:srgbClr val="24292D"/>
              </a:solidFill>
              <a:latin typeface="Arial" panose="020B0604020202020204"/>
              <a:ea typeface="Arial" panose="020B0604020202020204"/>
              <a:cs typeface="Arial" panose="020B0604020202020204"/>
            </a:endParaRPr>
          </a:p>
        </p:txBody>
      </p:sp>
      <p:sp>
        <p:nvSpPr>
          <p:cNvPr id="70" name="直接连接符 69"/>
          <p:cNvSpPr>
            <a:spLocks noGrp="1"/>
          </p:cNvSpPr>
          <p:nvPr/>
        </p:nvSpPr>
        <p:spPr>
          <a:xfrm>
            <a:off x="6858000" y="3695700"/>
            <a:ext cx="953" cy="76200"/>
          </a:xfrm>
          <a:prstGeom prst="line">
            <a:avLst/>
          </a:prstGeom>
          <a:noFill/>
          <a:ln w="9525">
            <a:solidFill>
              <a:srgbClr val="24292D"/>
            </a:solidFill>
          </a:ln>
        </p:spPr>
      </p:sp>
      <p:sp>
        <p:nvSpPr>
          <p:cNvPr id="71" name="矩形 70"/>
          <p:cNvSpPr>
            <a:spLocks noGrp="1"/>
          </p:cNvSpPr>
          <p:nvPr/>
        </p:nvSpPr>
        <p:spPr>
          <a:xfrm>
            <a:off x="6496050" y="3810000"/>
            <a:ext cx="723900" cy="26670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0</a:t>
            </a:r>
            <a:endParaRPr sz="1275" b="0">
              <a:solidFill>
                <a:srgbClr val="24292D"/>
              </a:solidFill>
              <a:latin typeface="Arial" panose="020B0604020202020204"/>
              <a:ea typeface="Arial" panose="020B0604020202020204"/>
              <a:cs typeface="Arial" panose="020B0604020202020204"/>
            </a:endParaRPr>
          </a:p>
        </p:txBody>
      </p:sp>
      <p:sp>
        <p:nvSpPr>
          <p:cNvPr id="72" name="直接连接符 71"/>
          <p:cNvSpPr>
            <a:spLocks noGrp="1"/>
          </p:cNvSpPr>
          <p:nvPr/>
        </p:nvSpPr>
        <p:spPr>
          <a:xfrm>
            <a:off x="8667750" y="3695700"/>
            <a:ext cx="953" cy="76200"/>
          </a:xfrm>
          <a:prstGeom prst="line">
            <a:avLst/>
          </a:prstGeom>
          <a:noFill/>
          <a:ln w="9525">
            <a:solidFill>
              <a:srgbClr val="24292D"/>
            </a:solidFill>
          </a:ln>
        </p:spPr>
      </p:sp>
      <p:sp>
        <p:nvSpPr>
          <p:cNvPr id="73" name="矩形 72"/>
          <p:cNvSpPr>
            <a:spLocks noGrp="1"/>
          </p:cNvSpPr>
          <p:nvPr/>
        </p:nvSpPr>
        <p:spPr>
          <a:xfrm>
            <a:off x="8305800" y="3810000"/>
            <a:ext cx="723900" cy="26670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+0.3</a:t>
            </a:r>
            <a:endParaRPr sz="1275" b="0">
              <a:solidFill>
                <a:srgbClr val="24292D"/>
              </a:solidFill>
              <a:latin typeface="Arial" panose="020B0604020202020204"/>
              <a:ea typeface="Arial" panose="020B0604020202020204"/>
              <a:cs typeface="Arial" panose="020B0604020202020204"/>
            </a:endParaRPr>
          </a:p>
        </p:txBody>
      </p:sp>
      <p:sp>
        <p:nvSpPr>
          <p:cNvPr id="74" name="矩形 73"/>
          <p:cNvSpPr>
            <a:spLocks noGrp="1"/>
          </p:cNvSpPr>
          <p:nvPr/>
        </p:nvSpPr>
        <p:spPr>
          <a:xfrm>
            <a:off x="4876800" y="4171950"/>
            <a:ext cx="3962400" cy="36195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Prediction error reduction</a:t>
            </a:r>
            <a:endParaRPr sz="1275" b="0">
              <a:solidFill>
                <a:srgbClr val="24292D"/>
              </a:solidFill>
              <a:latin typeface="Arial" panose="020B0604020202020204"/>
              <a:ea typeface="Arial" panose="020B0604020202020204"/>
              <a:cs typeface="Arial" panose="020B0604020202020204"/>
            </a:endParaRPr>
          </a:p>
        </p:txBody>
      </p:sp>
      <p:sp>
        <p:nvSpPr>
          <p:cNvPr id="75" name="矩形 74"/>
          <p:cNvSpPr>
            <a:spLocks noGrp="1"/>
          </p:cNvSpPr>
          <p:nvPr/>
        </p:nvSpPr>
        <p:spPr>
          <a:xfrm>
            <a:off x="9286875" y="142875"/>
            <a:ext cx="304800" cy="381000"/>
          </a:xfrm>
          <a:prstGeom prst="rect">
            <a:avLst/>
          </a:prstGeom>
          <a:noFill/>
          <a:ln w="0">
            <a:noFill/>
          </a:ln>
        </p:spPr>
        <p:txBody>
          <a:bodyPr wrap="none" lIns="0" tIns="0" rIns="0" bIns="0" anchor="ctr">
            <a:noAutofit/>
          </a:bodyPr>
          <a:lstStyle/>
          <a:p>
            <a:pPr algn="l">
              <a:defRPr sz="2025" b="1">
                <a:solidFill>
                  <a:srgbClr val="24292D"/>
                </a:solidFill>
                <a:latin typeface="Arial" panose="020B0604020202020204"/>
                <a:ea typeface="Arial" panose="020B0604020202020204"/>
                <a:cs typeface="Arial" panose="020B0604020202020204"/>
              </a:defRPr>
            </a:pPr>
            <a:r>
              <a:rPr sz="2025" b="1">
                <a:solidFill>
                  <a:srgbClr val="24292D"/>
                </a:solidFill>
                <a:latin typeface="Arial" panose="020B0604020202020204"/>
                <a:ea typeface="Arial" panose="020B0604020202020204"/>
                <a:cs typeface="Arial" panose="020B0604020202020204"/>
              </a:rPr>
              <a:t>c</a:t>
            </a:r>
            <a:endParaRPr sz="2025" b="1">
              <a:solidFill>
                <a:srgbClr val="24292D"/>
              </a:solidFill>
              <a:latin typeface="Arial" panose="020B0604020202020204"/>
              <a:ea typeface="Arial" panose="020B0604020202020204"/>
              <a:cs typeface="Arial" panose="020B0604020202020204"/>
            </a:endParaRPr>
          </a:p>
        </p:txBody>
      </p:sp>
      <p:sp>
        <p:nvSpPr>
          <p:cNvPr id="76" name="矩形 75"/>
          <p:cNvSpPr>
            <a:spLocks noGrp="1"/>
          </p:cNvSpPr>
          <p:nvPr/>
        </p:nvSpPr>
        <p:spPr>
          <a:xfrm>
            <a:off x="9525000" y="171450"/>
            <a:ext cx="3857625" cy="381000"/>
          </a:xfrm>
          <a:prstGeom prst="rect">
            <a:avLst/>
          </a:prstGeom>
          <a:noFill/>
          <a:ln w="0">
            <a:noFill/>
          </a:ln>
        </p:spPr>
        <p:txBody>
          <a:bodyPr wrap="none" lIns="0" tIns="0" rIns="0" bIns="0" anchor="ctr">
            <a:noAutofit/>
          </a:bodyPr>
          <a:lstStyle/>
          <a:p>
            <a:pPr algn="ctr">
              <a:defRPr sz="1350" b="1">
                <a:solidFill>
                  <a:srgbClr val="24292D"/>
                </a:solidFill>
                <a:latin typeface="Arial" panose="020B0604020202020204"/>
                <a:ea typeface="Arial" panose="020B0604020202020204"/>
                <a:cs typeface="Arial" panose="020B0604020202020204"/>
              </a:defRPr>
            </a:pPr>
            <a:r>
              <a:rPr sz="1350" b="1">
                <a:solidFill>
                  <a:srgbClr val="24292D"/>
                </a:solidFill>
                <a:latin typeface="Arial" panose="020B0604020202020204"/>
                <a:ea typeface="Arial" panose="020B0604020202020204"/>
                <a:cs typeface="Arial" panose="020B0604020202020204"/>
              </a:rPr>
              <a:t>Partitioning</a:t>
            </a:r>
            <a:endParaRPr sz="1350" b="1">
              <a:solidFill>
                <a:srgbClr val="24292D"/>
              </a:solidFill>
              <a:latin typeface="Arial" panose="020B0604020202020204"/>
              <a:ea typeface="Arial" panose="020B0604020202020204"/>
              <a:cs typeface="Arial" panose="020B0604020202020204"/>
            </a:endParaRPr>
          </a:p>
        </p:txBody>
      </p:sp>
      <p:sp>
        <p:nvSpPr>
          <p:cNvPr id="77" name="矩形 76"/>
          <p:cNvSpPr>
            <a:spLocks noGrp="1"/>
          </p:cNvSpPr>
          <p:nvPr/>
        </p:nvSpPr>
        <p:spPr>
          <a:xfrm>
            <a:off x="9686925" y="552450"/>
            <a:ext cx="3524250" cy="257175"/>
          </a:xfrm>
          <a:prstGeom prst="rect">
            <a:avLst/>
          </a:prstGeom>
          <a:noFill/>
          <a:ln w="0">
            <a:noFill/>
          </a:ln>
        </p:spPr>
        <p:txBody>
          <a:bodyPr wrap="none" lIns="0" tIns="0" rIns="0" bIns="0" anchor="ctr">
            <a:noAutofit/>
          </a:bodyPr>
          <a:lstStyle/>
          <a:p>
            <a:pPr algn="ctr">
              <a:defRPr sz="1275" b="0">
                <a:solidFill>
                  <a:srgbClr val="6A737B"/>
                </a:solidFill>
                <a:latin typeface="Arial" panose="020B0604020202020204"/>
                <a:ea typeface="Arial" panose="020B0604020202020204"/>
                <a:cs typeface="Arial" panose="020B0604020202020204"/>
              </a:defRPr>
            </a:pPr>
            <a:r>
              <a:rPr sz="1275" b="0">
                <a:solidFill>
                  <a:srgbClr val="6A737B"/>
                </a:solidFill>
                <a:latin typeface="Arial" panose="020B0604020202020204"/>
                <a:ea typeface="Arial" panose="020B0604020202020204"/>
                <a:cs typeface="Arial" panose="020B0604020202020204"/>
              </a:rPr>
              <a:t>Organic-fraction MAE</a:t>
            </a:r>
            <a:endParaRPr sz="1275" b="0">
              <a:solidFill>
                <a:srgbClr val="6A737B"/>
              </a:solidFill>
              <a:latin typeface="Arial" panose="020B0604020202020204"/>
              <a:ea typeface="Arial" panose="020B0604020202020204"/>
              <a:cs typeface="Arial" panose="020B0604020202020204"/>
            </a:endParaRPr>
          </a:p>
        </p:txBody>
      </p:sp>
      <p:sp>
        <p:nvSpPr>
          <p:cNvPr id="78" name="直接连接符 77"/>
          <p:cNvSpPr>
            <a:spLocks noGrp="1"/>
          </p:cNvSpPr>
          <p:nvPr/>
        </p:nvSpPr>
        <p:spPr>
          <a:xfrm>
            <a:off x="10353675" y="1524000"/>
            <a:ext cx="1666875" cy="953"/>
          </a:xfrm>
          <a:prstGeom prst="line">
            <a:avLst/>
          </a:prstGeom>
          <a:noFill/>
          <a:ln w="19050">
            <a:solidFill>
              <a:srgbClr val="D7DDE1"/>
            </a:solidFill>
          </a:ln>
        </p:spPr>
      </p:sp>
      <p:sp>
        <p:nvSpPr>
          <p:cNvPr id="79" name="椭圆 78"/>
          <p:cNvSpPr>
            <a:spLocks noGrp="1"/>
          </p:cNvSpPr>
          <p:nvPr/>
        </p:nvSpPr>
        <p:spPr>
          <a:xfrm>
            <a:off x="10267950" y="1438275"/>
            <a:ext cx="171450" cy="171450"/>
          </a:xfrm>
          <a:prstGeom prst="ellipse">
            <a:avLst/>
          </a:prstGeom>
          <a:solidFill>
            <a:srgbClr val="416B92"/>
          </a:solidFill>
          <a:ln w="9525">
            <a:solidFill>
              <a:srgbClr val="416B92"/>
            </a:solidFill>
          </a:ln>
        </p:spPr>
      </p:sp>
      <p:sp>
        <p:nvSpPr>
          <p:cNvPr id="80" name="椭圆 79"/>
          <p:cNvSpPr>
            <a:spLocks noGrp="1"/>
          </p:cNvSpPr>
          <p:nvPr/>
        </p:nvSpPr>
        <p:spPr>
          <a:xfrm>
            <a:off x="11934825" y="1438275"/>
            <a:ext cx="171450" cy="171450"/>
          </a:xfrm>
          <a:prstGeom prst="ellipse">
            <a:avLst/>
          </a:prstGeom>
          <a:solidFill>
            <a:srgbClr val="277F8A"/>
          </a:solidFill>
          <a:ln w="9525">
            <a:solidFill>
              <a:srgbClr val="277F8A"/>
            </a:solidFill>
          </a:ln>
        </p:spPr>
      </p:sp>
      <p:sp>
        <p:nvSpPr>
          <p:cNvPr id="81" name="矩形 80"/>
          <p:cNvSpPr>
            <a:spLocks noGrp="1"/>
          </p:cNvSpPr>
          <p:nvPr/>
        </p:nvSpPr>
        <p:spPr>
          <a:xfrm>
            <a:off x="9820275" y="1171575"/>
            <a:ext cx="1066800" cy="247650"/>
          </a:xfrm>
          <a:prstGeom prst="rect">
            <a:avLst/>
          </a:prstGeom>
          <a:noFill/>
          <a:ln w="0">
            <a:noFill/>
          </a:ln>
        </p:spPr>
        <p:txBody>
          <a:bodyPr wrap="none" lIns="0" tIns="0" rIns="0" bIns="0" anchor="ctr">
            <a:noAutofit/>
          </a:bodyPr>
          <a:lstStyle/>
          <a:p>
            <a:pPr algn="ctr">
              <a:defRPr sz="1200" b="0">
                <a:solidFill>
                  <a:srgbClr val="24292D"/>
                </a:solidFill>
                <a:latin typeface="Arial" panose="020B0604020202020204"/>
                <a:ea typeface="Arial" panose="020B0604020202020204"/>
                <a:cs typeface="Arial" panose="020B0604020202020204"/>
              </a:defRPr>
            </a:pPr>
            <a:r>
              <a:rPr sz="1200" b="0">
                <a:solidFill>
                  <a:srgbClr val="24292D"/>
                </a:solidFill>
                <a:latin typeface="Arial" panose="020B0604020202020204"/>
                <a:ea typeface="Arial" panose="020B0604020202020204"/>
                <a:cs typeface="Arial" panose="020B0604020202020204"/>
              </a:rPr>
              <a:t>12 batches</a:t>
            </a:r>
            <a:endParaRPr sz="1200" b="0">
              <a:solidFill>
                <a:srgbClr val="24292D"/>
              </a:solidFill>
              <a:latin typeface="Arial" panose="020B0604020202020204"/>
              <a:ea typeface="Arial" panose="020B0604020202020204"/>
              <a:cs typeface="Arial" panose="020B0604020202020204"/>
            </a:endParaRPr>
          </a:p>
        </p:txBody>
      </p:sp>
      <p:sp>
        <p:nvSpPr>
          <p:cNvPr id="82" name="矩形 81"/>
          <p:cNvSpPr>
            <a:spLocks noGrp="1"/>
          </p:cNvSpPr>
          <p:nvPr/>
        </p:nvSpPr>
        <p:spPr>
          <a:xfrm>
            <a:off x="11487150" y="1171575"/>
            <a:ext cx="1066800" cy="247650"/>
          </a:xfrm>
          <a:prstGeom prst="rect">
            <a:avLst/>
          </a:prstGeom>
          <a:noFill/>
          <a:ln w="0">
            <a:noFill/>
          </a:ln>
        </p:spPr>
        <p:txBody>
          <a:bodyPr wrap="none" lIns="0" tIns="0" rIns="0" bIns="0" anchor="ctr">
            <a:noAutofit/>
          </a:bodyPr>
          <a:lstStyle/>
          <a:p>
            <a:pPr algn="ctr">
              <a:defRPr sz="1200" b="0">
                <a:solidFill>
                  <a:srgbClr val="24292D"/>
                </a:solidFill>
                <a:latin typeface="Arial" panose="020B0604020202020204"/>
                <a:ea typeface="Arial" panose="020B0604020202020204"/>
                <a:cs typeface="Arial" panose="020B0604020202020204"/>
              </a:defRPr>
            </a:pPr>
            <a:r>
              <a:rPr sz="1200" b="0">
                <a:solidFill>
                  <a:srgbClr val="24292D"/>
                </a:solidFill>
                <a:latin typeface="Arial" panose="020B0604020202020204"/>
                <a:ea typeface="Arial" panose="020B0604020202020204"/>
                <a:cs typeface="Arial" panose="020B0604020202020204"/>
              </a:rPr>
              <a:t>24 batches</a:t>
            </a:r>
            <a:endParaRPr sz="1200" b="0">
              <a:solidFill>
                <a:srgbClr val="24292D"/>
              </a:solidFill>
              <a:latin typeface="Arial" panose="020B0604020202020204"/>
              <a:ea typeface="Arial" panose="020B0604020202020204"/>
              <a:cs typeface="Arial" panose="020B0604020202020204"/>
            </a:endParaRPr>
          </a:p>
        </p:txBody>
      </p:sp>
      <p:sp>
        <p:nvSpPr>
          <p:cNvPr id="83" name="矩形 82"/>
          <p:cNvSpPr>
            <a:spLocks noGrp="1"/>
          </p:cNvSpPr>
          <p:nvPr/>
        </p:nvSpPr>
        <p:spPr>
          <a:xfrm>
            <a:off x="9772650" y="1676400"/>
            <a:ext cx="1162050" cy="266700"/>
          </a:xfrm>
          <a:prstGeom prst="rect">
            <a:avLst/>
          </a:prstGeom>
          <a:noFill/>
          <a:ln w="0">
            <a:noFill/>
          </a:ln>
        </p:spPr>
        <p:txBody>
          <a:bodyPr wrap="none" lIns="0" tIns="0" rIns="0" bIns="0" anchor="ctr">
            <a:noAutofit/>
          </a:bodyPr>
          <a:lstStyle/>
          <a:p>
            <a:pPr algn="ctr">
              <a:defRPr sz="1350" b="0">
                <a:solidFill>
                  <a:srgbClr val="416B92"/>
                </a:solidFill>
                <a:latin typeface="Arial" panose="020B0604020202020204"/>
                <a:ea typeface="Arial" panose="020B0604020202020204"/>
                <a:cs typeface="Arial" panose="020B0604020202020204"/>
              </a:defRPr>
            </a:pPr>
            <a:r>
              <a:rPr sz="1350" b="0">
                <a:solidFill>
                  <a:srgbClr val="416B92"/>
                </a:solidFill>
                <a:latin typeface="Arial" panose="020B0604020202020204"/>
                <a:ea typeface="Arial" panose="020B0604020202020204"/>
                <a:cs typeface="Arial" panose="020B0604020202020204"/>
              </a:rPr>
              <a:t>0.0829</a:t>
            </a:r>
            <a:endParaRPr sz="1350" b="0">
              <a:solidFill>
                <a:srgbClr val="416B92"/>
              </a:solidFill>
              <a:latin typeface="Arial" panose="020B0604020202020204"/>
              <a:ea typeface="Arial" panose="020B0604020202020204"/>
              <a:cs typeface="Arial" panose="020B0604020202020204"/>
            </a:endParaRPr>
          </a:p>
        </p:txBody>
      </p:sp>
      <p:sp>
        <p:nvSpPr>
          <p:cNvPr id="84" name="矩形 83"/>
          <p:cNvSpPr>
            <a:spLocks noGrp="1"/>
          </p:cNvSpPr>
          <p:nvPr/>
        </p:nvSpPr>
        <p:spPr>
          <a:xfrm>
            <a:off x="11439525" y="1676400"/>
            <a:ext cx="1162050" cy="266700"/>
          </a:xfrm>
          <a:prstGeom prst="rect">
            <a:avLst/>
          </a:prstGeom>
          <a:noFill/>
          <a:ln w="0">
            <a:noFill/>
          </a:ln>
        </p:spPr>
        <p:txBody>
          <a:bodyPr wrap="none" lIns="0" tIns="0" rIns="0" bIns="0" anchor="ctr">
            <a:noAutofit/>
          </a:bodyPr>
          <a:lstStyle/>
          <a:p>
            <a:pPr algn="ctr">
              <a:defRPr sz="1350" b="0">
                <a:solidFill>
                  <a:srgbClr val="277F8A"/>
                </a:solidFill>
                <a:latin typeface="Arial" panose="020B0604020202020204"/>
                <a:ea typeface="Arial" panose="020B0604020202020204"/>
                <a:cs typeface="Arial" panose="020B0604020202020204"/>
              </a:defRPr>
            </a:pPr>
            <a:r>
              <a:rPr sz="1350" b="0">
                <a:solidFill>
                  <a:srgbClr val="277F8A"/>
                </a:solidFill>
                <a:latin typeface="Arial" panose="020B0604020202020204"/>
                <a:ea typeface="Arial" panose="020B0604020202020204"/>
                <a:cs typeface="Arial" panose="020B0604020202020204"/>
              </a:rPr>
              <a:t>0.0238</a:t>
            </a:r>
            <a:endParaRPr sz="1350" b="0">
              <a:solidFill>
                <a:srgbClr val="277F8A"/>
              </a:solidFill>
              <a:latin typeface="Arial" panose="020B0604020202020204"/>
              <a:ea typeface="Arial" panose="020B0604020202020204"/>
              <a:cs typeface="Arial" panose="020B0604020202020204"/>
            </a:endParaRPr>
          </a:p>
        </p:txBody>
      </p:sp>
      <p:sp>
        <p:nvSpPr>
          <p:cNvPr id="85" name="矩形 84"/>
          <p:cNvSpPr>
            <a:spLocks noGrp="1"/>
          </p:cNvSpPr>
          <p:nvPr/>
        </p:nvSpPr>
        <p:spPr>
          <a:xfrm>
            <a:off x="12763500" y="1362075"/>
            <a:ext cx="666750" cy="285750"/>
          </a:xfrm>
          <a:prstGeom prst="rect">
            <a:avLst/>
          </a:prstGeom>
          <a:noFill/>
          <a:ln w="0">
            <a:noFill/>
          </a:ln>
        </p:spPr>
        <p:txBody>
          <a:bodyPr wrap="none" lIns="0" tIns="0" rIns="0" bIns="0" anchor="ctr">
            <a:noAutofit/>
          </a:bodyPr>
          <a:lstStyle/>
          <a:p>
            <a:pPr algn="ctr">
              <a:defRPr sz="1500" b="1">
                <a:solidFill>
                  <a:srgbClr val="24292D"/>
                </a:solidFill>
                <a:latin typeface="Arial" panose="020B0604020202020204"/>
                <a:ea typeface="Arial" panose="020B0604020202020204"/>
                <a:cs typeface="Arial" panose="020B0604020202020204"/>
              </a:defRPr>
            </a:pPr>
            <a:r>
              <a:rPr sz="1500" b="1">
                <a:solidFill>
                  <a:srgbClr val="24292D"/>
                </a:solidFill>
                <a:latin typeface="Arial" panose="020B0604020202020204"/>
                <a:ea typeface="Arial" panose="020B0604020202020204"/>
                <a:cs typeface="Arial" panose="020B0604020202020204"/>
              </a:rPr>
              <a:t>13/15</a:t>
            </a:r>
            <a:endParaRPr sz="1500" b="1">
              <a:solidFill>
                <a:srgbClr val="24292D"/>
              </a:solidFill>
              <a:latin typeface="Arial" panose="020B0604020202020204"/>
              <a:ea typeface="Arial" panose="020B0604020202020204"/>
              <a:cs typeface="Arial" panose="020B0604020202020204"/>
            </a:endParaRPr>
          </a:p>
        </p:txBody>
      </p:sp>
      <p:sp>
        <p:nvSpPr>
          <p:cNvPr id="86" name="矩形 85"/>
          <p:cNvSpPr>
            <a:spLocks noGrp="1"/>
          </p:cNvSpPr>
          <p:nvPr/>
        </p:nvSpPr>
        <p:spPr>
          <a:xfrm>
            <a:off x="12658725" y="1638300"/>
            <a:ext cx="866775" cy="228600"/>
          </a:xfrm>
          <a:prstGeom prst="rect">
            <a:avLst/>
          </a:prstGeom>
          <a:noFill/>
          <a:ln w="0">
            <a:noFill/>
          </a:ln>
        </p:spPr>
        <p:txBody>
          <a:bodyPr wrap="none" lIns="0" tIns="0" rIns="0" bIns="0" anchor="ctr">
            <a:noAutofit/>
          </a:bodyPr>
          <a:lstStyle/>
          <a:p>
            <a:pPr algn="ctr">
              <a:defRPr sz="1200" b="0">
                <a:solidFill>
                  <a:srgbClr val="6A737B"/>
                </a:solidFill>
                <a:latin typeface="Arial" panose="020B0604020202020204"/>
                <a:ea typeface="Arial" panose="020B0604020202020204"/>
                <a:cs typeface="Arial" panose="020B0604020202020204"/>
              </a:defRPr>
            </a:pPr>
            <a:r>
              <a:rPr sz="1200" b="0">
                <a:solidFill>
                  <a:srgbClr val="6A737B"/>
                </a:solidFill>
                <a:latin typeface="Arial" panose="020B0604020202020204"/>
                <a:ea typeface="Arial" panose="020B0604020202020204"/>
                <a:cs typeface="Arial" panose="020B0604020202020204"/>
              </a:rPr>
              <a:t>improved</a:t>
            </a:r>
            <a:endParaRPr sz="1200" b="0">
              <a:solidFill>
                <a:srgbClr val="6A737B"/>
              </a:solidFill>
              <a:latin typeface="Arial" panose="020B0604020202020204"/>
              <a:ea typeface="Arial" panose="020B0604020202020204"/>
              <a:cs typeface="Arial" panose="020B0604020202020204"/>
            </a:endParaRPr>
          </a:p>
        </p:txBody>
      </p:sp>
      <p:sp>
        <p:nvSpPr>
          <p:cNvPr id="87" name="直接连接符 86"/>
          <p:cNvSpPr>
            <a:spLocks noGrp="1"/>
          </p:cNvSpPr>
          <p:nvPr/>
        </p:nvSpPr>
        <p:spPr>
          <a:xfrm>
            <a:off x="11382375" y="2257425"/>
            <a:ext cx="953" cy="1295400"/>
          </a:xfrm>
          <a:prstGeom prst="line">
            <a:avLst/>
          </a:prstGeom>
          <a:noFill/>
          <a:ln w="11430">
            <a:solidFill>
              <a:srgbClr val="6A737B"/>
            </a:solidFill>
          </a:ln>
        </p:spPr>
      </p:sp>
      <p:sp>
        <p:nvSpPr>
          <p:cNvPr id="88" name="椭圆 87"/>
          <p:cNvSpPr>
            <a:spLocks noGrp="1"/>
          </p:cNvSpPr>
          <p:nvPr/>
        </p:nvSpPr>
        <p:spPr>
          <a:xfrm>
            <a:off x="11019938" y="2576513"/>
            <a:ext cx="104775" cy="104775"/>
          </a:xfrm>
          <a:prstGeom prst="ellipse">
            <a:avLst/>
          </a:prstGeom>
          <a:solidFill>
            <a:srgbClr val="A35F42"/>
          </a:solidFill>
          <a:ln w="9525">
            <a:solidFill>
              <a:srgbClr val="A35F42"/>
            </a:solidFill>
          </a:ln>
        </p:spPr>
      </p:sp>
      <p:sp>
        <p:nvSpPr>
          <p:cNvPr id="89" name="椭圆 88"/>
          <p:cNvSpPr>
            <a:spLocks noGrp="1"/>
          </p:cNvSpPr>
          <p:nvPr/>
        </p:nvSpPr>
        <p:spPr>
          <a:xfrm>
            <a:off x="11315653" y="3005138"/>
            <a:ext cx="104775" cy="104775"/>
          </a:xfrm>
          <a:prstGeom prst="ellipse">
            <a:avLst/>
          </a:prstGeom>
          <a:solidFill>
            <a:srgbClr val="A35F42"/>
          </a:solidFill>
          <a:ln w="9525">
            <a:solidFill>
              <a:srgbClr val="A35F42"/>
            </a:solidFill>
          </a:ln>
        </p:spPr>
      </p:sp>
      <p:sp>
        <p:nvSpPr>
          <p:cNvPr id="90" name="椭圆 89"/>
          <p:cNvSpPr>
            <a:spLocks noGrp="1"/>
          </p:cNvSpPr>
          <p:nvPr/>
        </p:nvSpPr>
        <p:spPr>
          <a:xfrm>
            <a:off x="11348337" y="2433638"/>
            <a:ext cx="104775" cy="104775"/>
          </a:xfrm>
          <a:prstGeom prst="ellipse">
            <a:avLst/>
          </a:prstGeom>
          <a:solidFill>
            <a:srgbClr val="277F8A"/>
          </a:solidFill>
          <a:ln w="9525">
            <a:solidFill>
              <a:srgbClr val="277F8A"/>
            </a:solidFill>
          </a:ln>
        </p:spPr>
      </p:sp>
      <p:sp>
        <p:nvSpPr>
          <p:cNvPr id="91" name="椭圆 90"/>
          <p:cNvSpPr>
            <a:spLocks noGrp="1"/>
          </p:cNvSpPr>
          <p:nvPr/>
        </p:nvSpPr>
        <p:spPr>
          <a:xfrm>
            <a:off x="11390614" y="3148013"/>
            <a:ext cx="104775" cy="104775"/>
          </a:xfrm>
          <a:prstGeom prst="ellipse">
            <a:avLst/>
          </a:prstGeom>
          <a:solidFill>
            <a:srgbClr val="277F8A"/>
          </a:solidFill>
          <a:ln w="9525">
            <a:solidFill>
              <a:srgbClr val="277F8A"/>
            </a:solidFill>
          </a:ln>
        </p:spPr>
      </p:sp>
      <p:sp>
        <p:nvSpPr>
          <p:cNvPr id="92" name="椭圆 91"/>
          <p:cNvSpPr>
            <a:spLocks noGrp="1"/>
          </p:cNvSpPr>
          <p:nvPr/>
        </p:nvSpPr>
        <p:spPr>
          <a:xfrm>
            <a:off x="11608237" y="2862263"/>
            <a:ext cx="104775" cy="104775"/>
          </a:xfrm>
          <a:prstGeom prst="ellipse">
            <a:avLst/>
          </a:prstGeom>
          <a:solidFill>
            <a:srgbClr val="277F8A"/>
          </a:solidFill>
          <a:ln w="9525">
            <a:solidFill>
              <a:srgbClr val="277F8A"/>
            </a:solidFill>
          </a:ln>
        </p:spPr>
      </p:sp>
      <p:sp>
        <p:nvSpPr>
          <p:cNvPr id="93" name="椭圆 92"/>
          <p:cNvSpPr>
            <a:spLocks noGrp="1"/>
          </p:cNvSpPr>
          <p:nvPr/>
        </p:nvSpPr>
        <p:spPr>
          <a:xfrm>
            <a:off x="11612186" y="2719388"/>
            <a:ext cx="104775" cy="104775"/>
          </a:xfrm>
          <a:prstGeom prst="ellipse">
            <a:avLst/>
          </a:prstGeom>
          <a:solidFill>
            <a:srgbClr val="277F8A"/>
          </a:solidFill>
          <a:ln w="9525">
            <a:solidFill>
              <a:srgbClr val="277F8A"/>
            </a:solidFill>
          </a:ln>
        </p:spPr>
      </p:sp>
      <p:sp>
        <p:nvSpPr>
          <p:cNvPr id="94" name="椭圆 93"/>
          <p:cNvSpPr>
            <a:spLocks noGrp="1"/>
          </p:cNvSpPr>
          <p:nvPr/>
        </p:nvSpPr>
        <p:spPr>
          <a:xfrm>
            <a:off x="11650368" y="3290888"/>
            <a:ext cx="104775" cy="104775"/>
          </a:xfrm>
          <a:prstGeom prst="ellipse">
            <a:avLst/>
          </a:prstGeom>
          <a:solidFill>
            <a:srgbClr val="277F8A"/>
          </a:solidFill>
          <a:ln w="9525">
            <a:solidFill>
              <a:srgbClr val="277F8A"/>
            </a:solidFill>
          </a:ln>
        </p:spPr>
      </p:sp>
      <p:sp>
        <p:nvSpPr>
          <p:cNvPr id="95" name="椭圆 94"/>
          <p:cNvSpPr>
            <a:spLocks noGrp="1"/>
          </p:cNvSpPr>
          <p:nvPr/>
        </p:nvSpPr>
        <p:spPr>
          <a:xfrm>
            <a:off x="11678299" y="3005138"/>
            <a:ext cx="104775" cy="104775"/>
          </a:xfrm>
          <a:prstGeom prst="ellipse">
            <a:avLst/>
          </a:prstGeom>
          <a:solidFill>
            <a:srgbClr val="277F8A"/>
          </a:solidFill>
          <a:ln w="9525">
            <a:solidFill>
              <a:srgbClr val="277F8A"/>
            </a:solidFill>
          </a:ln>
        </p:spPr>
      </p:sp>
      <p:sp>
        <p:nvSpPr>
          <p:cNvPr id="96" name="椭圆 95"/>
          <p:cNvSpPr>
            <a:spLocks noGrp="1"/>
          </p:cNvSpPr>
          <p:nvPr/>
        </p:nvSpPr>
        <p:spPr>
          <a:xfrm>
            <a:off x="11874429" y="2576513"/>
            <a:ext cx="104775" cy="104775"/>
          </a:xfrm>
          <a:prstGeom prst="ellipse">
            <a:avLst/>
          </a:prstGeom>
          <a:solidFill>
            <a:srgbClr val="277F8A"/>
          </a:solidFill>
          <a:ln w="9525">
            <a:solidFill>
              <a:srgbClr val="277F8A"/>
            </a:solidFill>
          </a:ln>
        </p:spPr>
      </p:sp>
      <p:sp>
        <p:nvSpPr>
          <p:cNvPr id="97" name="椭圆 96"/>
          <p:cNvSpPr>
            <a:spLocks noGrp="1"/>
          </p:cNvSpPr>
          <p:nvPr/>
        </p:nvSpPr>
        <p:spPr>
          <a:xfrm>
            <a:off x="11978190" y="3148013"/>
            <a:ext cx="104775" cy="104775"/>
          </a:xfrm>
          <a:prstGeom prst="ellipse">
            <a:avLst/>
          </a:prstGeom>
          <a:solidFill>
            <a:srgbClr val="277F8A"/>
          </a:solidFill>
          <a:ln w="9525">
            <a:solidFill>
              <a:srgbClr val="277F8A"/>
            </a:solidFill>
          </a:ln>
        </p:spPr>
      </p:sp>
      <p:sp>
        <p:nvSpPr>
          <p:cNvPr id="98" name="椭圆 97"/>
          <p:cNvSpPr>
            <a:spLocks noGrp="1"/>
          </p:cNvSpPr>
          <p:nvPr/>
        </p:nvSpPr>
        <p:spPr>
          <a:xfrm>
            <a:off x="12037571" y="2433638"/>
            <a:ext cx="104775" cy="104775"/>
          </a:xfrm>
          <a:prstGeom prst="ellipse">
            <a:avLst/>
          </a:prstGeom>
          <a:solidFill>
            <a:srgbClr val="277F8A"/>
          </a:solidFill>
          <a:ln w="9525">
            <a:solidFill>
              <a:srgbClr val="277F8A"/>
            </a:solidFill>
          </a:ln>
        </p:spPr>
      </p:sp>
      <p:sp>
        <p:nvSpPr>
          <p:cNvPr id="99" name="椭圆 98"/>
          <p:cNvSpPr>
            <a:spLocks noGrp="1"/>
          </p:cNvSpPr>
          <p:nvPr/>
        </p:nvSpPr>
        <p:spPr>
          <a:xfrm>
            <a:off x="12244727" y="2862263"/>
            <a:ext cx="104775" cy="104775"/>
          </a:xfrm>
          <a:prstGeom prst="ellipse">
            <a:avLst/>
          </a:prstGeom>
          <a:solidFill>
            <a:srgbClr val="277F8A"/>
          </a:solidFill>
          <a:ln w="9525">
            <a:solidFill>
              <a:srgbClr val="277F8A"/>
            </a:solidFill>
          </a:ln>
        </p:spPr>
      </p:sp>
      <p:sp>
        <p:nvSpPr>
          <p:cNvPr id="100" name="椭圆 99"/>
          <p:cNvSpPr>
            <a:spLocks noGrp="1"/>
          </p:cNvSpPr>
          <p:nvPr/>
        </p:nvSpPr>
        <p:spPr>
          <a:xfrm>
            <a:off x="12334081" y="3290888"/>
            <a:ext cx="104775" cy="104775"/>
          </a:xfrm>
          <a:prstGeom prst="ellipse">
            <a:avLst/>
          </a:prstGeom>
          <a:solidFill>
            <a:srgbClr val="277F8A"/>
          </a:solidFill>
          <a:ln w="9525">
            <a:solidFill>
              <a:srgbClr val="277F8A"/>
            </a:solidFill>
          </a:ln>
        </p:spPr>
      </p:sp>
      <p:sp>
        <p:nvSpPr>
          <p:cNvPr id="101" name="椭圆 100"/>
          <p:cNvSpPr>
            <a:spLocks noGrp="1"/>
          </p:cNvSpPr>
          <p:nvPr/>
        </p:nvSpPr>
        <p:spPr>
          <a:xfrm>
            <a:off x="12906127" y="2719388"/>
            <a:ext cx="104775" cy="104775"/>
          </a:xfrm>
          <a:prstGeom prst="ellipse">
            <a:avLst/>
          </a:prstGeom>
          <a:solidFill>
            <a:srgbClr val="277F8A"/>
          </a:solidFill>
          <a:ln w="9525">
            <a:solidFill>
              <a:srgbClr val="277F8A"/>
            </a:solidFill>
          </a:ln>
        </p:spPr>
      </p:sp>
      <p:sp>
        <p:nvSpPr>
          <p:cNvPr id="102" name="椭圆 101"/>
          <p:cNvSpPr>
            <a:spLocks noGrp="1"/>
          </p:cNvSpPr>
          <p:nvPr/>
        </p:nvSpPr>
        <p:spPr>
          <a:xfrm>
            <a:off x="12974601" y="2862263"/>
            <a:ext cx="104775" cy="104775"/>
          </a:xfrm>
          <a:prstGeom prst="ellipse">
            <a:avLst/>
          </a:prstGeom>
          <a:solidFill>
            <a:srgbClr val="277F8A"/>
          </a:solidFill>
          <a:ln w="9525">
            <a:solidFill>
              <a:srgbClr val="277F8A"/>
            </a:solidFill>
          </a:ln>
        </p:spPr>
      </p:sp>
      <p:sp>
        <p:nvSpPr>
          <p:cNvPr id="103" name="菱形 102"/>
          <p:cNvSpPr>
            <a:spLocks noGrp="1"/>
          </p:cNvSpPr>
          <p:nvPr/>
        </p:nvSpPr>
        <p:spPr>
          <a:xfrm>
            <a:off x="11673536" y="2857500"/>
            <a:ext cx="114300" cy="114300"/>
          </a:xfrm>
          <a:prstGeom prst="diamond">
            <a:avLst/>
          </a:prstGeom>
          <a:solidFill>
            <a:srgbClr val="24292D"/>
          </a:solidFill>
          <a:ln w="9525">
            <a:solidFill>
              <a:srgbClr val="24292D"/>
            </a:solidFill>
          </a:ln>
        </p:spPr>
      </p:sp>
      <p:sp>
        <p:nvSpPr>
          <p:cNvPr id="104" name="直接连接符 103"/>
          <p:cNvSpPr>
            <a:spLocks noGrp="1"/>
          </p:cNvSpPr>
          <p:nvPr/>
        </p:nvSpPr>
        <p:spPr>
          <a:xfrm>
            <a:off x="9525000" y="3695700"/>
            <a:ext cx="3714750" cy="953"/>
          </a:xfrm>
          <a:prstGeom prst="line">
            <a:avLst/>
          </a:prstGeom>
          <a:noFill/>
          <a:ln w="12383">
            <a:solidFill>
              <a:srgbClr val="24292D"/>
            </a:solidFill>
          </a:ln>
        </p:spPr>
      </p:sp>
      <p:sp>
        <p:nvSpPr>
          <p:cNvPr id="105" name="直接连接符 104"/>
          <p:cNvSpPr>
            <a:spLocks noGrp="1"/>
          </p:cNvSpPr>
          <p:nvPr/>
        </p:nvSpPr>
        <p:spPr>
          <a:xfrm>
            <a:off x="9572625" y="3695700"/>
            <a:ext cx="953" cy="76200"/>
          </a:xfrm>
          <a:prstGeom prst="line">
            <a:avLst/>
          </a:prstGeom>
          <a:noFill/>
          <a:ln w="9525">
            <a:solidFill>
              <a:srgbClr val="24292D"/>
            </a:solidFill>
          </a:ln>
        </p:spPr>
      </p:sp>
      <p:sp>
        <p:nvSpPr>
          <p:cNvPr id="106" name="矩形 105"/>
          <p:cNvSpPr>
            <a:spLocks noGrp="1"/>
          </p:cNvSpPr>
          <p:nvPr/>
        </p:nvSpPr>
        <p:spPr>
          <a:xfrm>
            <a:off x="9210675" y="3810000"/>
            <a:ext cx="723900" cy="26670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-0.2</a:t>
            </a:r>
            <a:endParaRPr sz="1275" b="0">
              <a:solidFill>
                <a:srgbClr val="24292D"/>
              </a:solidFill>
              <a:latin typeface="Arial" panose="020B0604020202020204"/>
              <a:ea typeface="Arial" panose="020B0604020202020204"/>
              <a:cs typeface="Arial" panose="020B0604020202020204"/>
            </a:endParaRPr>
          </a:p>
        </p:txBody>
      </p:sp>
      <p:sp>
        <p:nvSpPr>
          <p:cNvPr id="107" name="直接连接符 106"/>
          <p:cNvSpPr>
            <a:spLocks noGrp="1"/>
          </p:cNvSpPr>
          <p:nvPr/>
        </p:nvSpPr>
        <p:spPr>
          <a:xfrm>
            <a:off x="11382375" y="3695700"/>
            <a:ext cx="953" cy="76200"/>
          </a:xfrm>
          <a:prstGeom prst="line">
            <a:avLst/>
          </a:prstGeom>
          <a:noFill/>
          <a:ln w="9525">
            <a:solidFill>
              <a:srgbClr val="24292D"/>
            </a:solidFill>
          </a:ln>
        </p:spPr>
      </p:sp>
      <p:sp>
        <p:nvSpPr>
          <p:cNvPr id="108" name="矩形 107"/>
          <p:cNvSpPr>
            <a:spLocks noGrp="1"/>
          </p:cNvSpPr>
          <p:nvPr/>
        </p:nvSpPr>
        <p:spPr>
          <a:xfrm>
            <a:off x="11020425" y="3810000"/>
            <a:ext cx="723900" cy="26670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0</a:t>
            </a:r>
            <a:endParaRPr sz="1275" b="0">
              <a:solidFill>
                <a:srgbClr val="24292D"/>
              </a:solidFill>
              <a:latin typeface="Arial" panose="020B0604020202020204"/>
              <a:ea typeface="Arial" panose="020B0604020202020204"/>
              <a:cs typeface="Arial" panose="020B0604020202020204"/>
            </a:endParaRPr>
          </a:p>
        </p:txBody>
      </p:sp>
      <p:sp>
        <p:nvSpPr>
          <p:cNvPr id="109" name="直接连接符 108"/>
          <p:cNvSpPr>
            <a:spLocks noGrp="1"/>
          </p:cNvSpPr>
          <p:nvPr/>
        </p:nvSpPr>
        <p:spPr>
          <a:xfrm>
            <a:off x="13192125" y="3695700"/>
            <a:ext cx="953" cy="76200"/>
          </a:xfrm>
          <a:prstGeom prst="line">
            <a:avLst/>
          </a:prstGeom>
          <a:noFill/>
          <a:ln w="9525">
            <a:solidFill>
              <a:srgbClr val="24292D"/>
            </a:solidFill>
          </a:ln>
        </p:spPr>
      </p:sp>
      <p:sp>
        <p:nvSpPr>
          <p:cNvPr id="110" name="矩形 109"/>
          <p:cNvSpPr>
            <a:spLocks noGrp="1"/>
          </p:cNvSpPr>
          <p:nvPr/>
        </p:nvSpPr>
        <p:spPr>
          <a:xfrm>
            <a:off x="12830175" y="3810000"/>
            <a:ext cx="695325" cy="26670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+0.2</a:t>
            </a:r>
            <a:endParaRPr sz="1275" b="0">
              <a:solidFill>
                <a:srgbClr val="24292D"/>
              </a:solidFill>
              <a:latin typeface="Arial" panose="020B0604020202020204"/>
              <a:ea typeface="Arial" panose="020B0604020202020204"/>
              <a:cs typeface="Arial" panose="020B0604020202020204"/>
            </a:endParaRPr>
          </a:p>
        </p:txBody>
      </p:sp>
      <p:sp>
        <p:nvSpPr>
          <p:cNvPr id="111" name="矩形 110"/>
          <p:cNvSpPr>
            <a:spLocks noGrp="1"/>
          </p:cNvSpPr>
          <p:nvPr/>
        </p:nvSpPr>
        <p:spPr>
          <a:xfrm>
            <a:off x="9401175" y="4171950"/>
            <a:ext cx="3962400" cy="36195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Prediction error reduction</a:t>
            </a:r>
            <a:endParaRPr sz="1275" b="0">
              <a:solidFill>
                <a:srgbClr val="24292D"/>
              </a:solidFill>
              <a:latin typeface="Arial" panose="020B0604020202020204"/>
              <a:ea typeface="Arial" panose="020B0604020202020204"/>
              <a:cs typeface="Arial" panose="020B0604020202020204"/>
            </a:endParaRPr>
          </a:p>
        </p:txBody>
      </p:sp>
      <p:sp>
        <p:nvSpPr>
          <p:cNvPr id="112" name="矩形 111"/>
          <p:cNvSpPr>
            <a:spLocks noGrp="1"/>
          </p:cNvSpPr>
          <p:nvPr/>
        </p:nvSpPr>
        <p:spPr>
          <a:xfrm>
            <a:off x="238125" y="4810125"/>
            <a:ext cx="304800" cy="381000"/>
          </a:xfrm>
          <a:prstGeom prst="rect">
            <a:avLst/>
          </a:prstGeom>
          <a:noFill/>
          <a:ln w="0">
            <a:noFill/>
          </a:ln>
        </p:spPr>
        <p:txBody>
          <a:bodyPr wrap="none" lIns="0" tIns="0" rIns="0" bIns="0" anchor="ctr">
            <a:noAutofit/>
          </a:bodyPr>
          <a:lstStyle/>
          <a:p>
            <a:pPr algn="l">
              <a:defRPr sz="2025" b="1">
                <a:solidFill>
                  <a:srgbClr val="24292D"/>
                </a:solidFill>
                <a:latin typeface="Arial" panose="020B0604020202020204"/>
                <a:ea typeface="Arial" panose="020B0604020202020204"/>
                <a:cs typeface="Arial" panose="020B0604020202020204"/>
              </a:defRPr>
            </a:pPr>
            <a:r>
              <a:rPr sz="2025" b="1">
                <a:solidFill>
                  <a:srgbClr val="24292D"/>
                </a:solidFill>
                <a:latin typeface="Arial" panose="020B0604020202020204"/>
                <a:ea typeface="Arial" panose="020B0604020202020204"/>
                <a:cs typeface="Arial" panose="020B0604020202020204"/>
              </a:rPr>
              <a:t>d</a:t>
            </a:r>
            <a:endParaRPr sz="2025" b="1">
              <a:solidFill>
                <a:srgbClr val="24292D"/>
              </a:solidFill>
              <a:latin typeface="Arial" panose="020B0604020202020204"/>
              <a:ea typeface="Arial" panose="020B0604020202020204"/>
              <a:cs typeface="Arial" panose="020B0604020202020204"/>
            </a:endParaRPr>
          </a:p>
        </p:txBody>
      </p:sp>
      <p:sp>
        <p:nvSpPr>
          <p:cNvPr id="113" name="矩形 112"/>
          <p:cNvSpPr>
            <a:spLocks noGrp="1"/>
          </p:cNvSpPr>
          <p:nvPr/>
        </p:nvSpPr>
        <p:spPr>
          <a:xfrm>
            <a:off x="476250" y="4838700"/>
            <a:ext cx="3857625" cy="381000"/>
          </a:xfrm>
          <a:prstGeom prst="rect">
            <a:avLst/>
          </a:prstGeom>
          <a:noFill/>
          <a:ln w="0">
            <a:noFill/>
          </a:ln>
        </p:spPr>
        <p:txBody>
          <a:bodyPr wrap="none" lIns="0" tIns="0" rIns="0" bIns="0" anchor="ctr">
            <a:noAutofit/>
          </a:bodyPr>
          <a:lstStyle/>
          <a:p>
            <a:pPr algn="ctr">
              <a:defRPr sz="1350" b="1">
                <a:solidFill>
                  <a:srgbClr val="24292D"/>
                </a:solidFill>
                <a:latin typeface="Arial" panose="020B0604020202020204"/>
                <a:ea typeface="Arial" panose="020B0604020202020204"/>
                <a:cs typeface="Arial" panose="020B0604020202020204"/>
              </a:defRPr>
            </a:pPr>
            <a:r>
              <a:rPr sz="1350" b="1">
                <a:solidFill>
                  <a:srgbClr val="24292D"/>
                </a:solidFill>
                <a:latin typeface="Arial" panose="020B0604020202020204"/>
                <a:ea typeface="Arial" panose="020B0604020202020204"/>
                <a:cs typeface="Arial" panose="020B0604020202020204"/>
              </a:rPr>
              <a:t>Crystallization Recovery</a:t>
            </a:r>
            <a:endParaRPr sz="1350" b="1">
              <a:solidFill>
                <a:srgbClr val="24292D"/>
              </a:solidFill>
              <a:latin typeface="Arial" panose="020B0604020202020204"/>
              <a:ea typeface="Arial" panose="020B0604020202020204"/>
              <a:cs typeface="Arial" panose="020B0604020202020204"/>
            </a:endParaRPr>
          </a:p>
        </p:txBody>
      </p:sp>
      <p:sp>
        <p:nvSpPr>
          <p:cNvPr id="114" name="矩形 113"/>
          <p:cNvSpPr>
            <a:spLocks noGrp="1"/>
          </p:cNvSpPr>
          <p:nvPr/>
        </p:nvSpPr>
        <p:spPr>
          <a:xfrm>
            <a:off x="638175" y="5219700"/>
            <a:ext cx="3524250" cy="257175"/>
          </a:xfrm>
          <a:prstGeom prst="rect">
            <a:avLst/>
          </a:prstGeom>
          <a:noFill/>
          <a:ln w="0">
            <a:noFill/>
          </a:ln>
        </p:spPr>
        <p:txBody>
          <a:bodyPr wrap="none" lIns="0" tIns="0" rIns="0" bIns="0" anchor="ctr">
            <a:noAutofit/>
          </a:bodyPr>
          <a:lstStyle/>
          <a:p>
            <a:pPr algn="ctr">
              <a:defRPr sz="1275" b="0">
                <a:solidFill>
                  <a:srgbClr val="6A737B"/>
                </a:solidFill>
                <a:latin typeface="Arial" panose="020B0604020202020204"/>
                <a:ea typeface="Arial" panose="020B0604020202020204"/>
                <a:cs typeface="Arial" panose="020B0604020202020204"/>
              </a:defRPr>
            </a:pPr>
            <a:r>
              <a:rPr sz="1275" b="0">
                <a:solidFill>
                  <a:srgbClr val="6A737B"/>
                </a:solidFill>
                <a:latin typeface="Arial" panose="020B0604020202020204"/>
                <a:ea typeface="Arial" panose="020B0604020202020204"/>
                <a:cs typeface="Arial" panose="020B0604020202020204"/>
              </a:rPr>
              <a:t>Recovery MAE</a:t>
            </a:r>
            <a:endParaRPr sz="1275" b="0">
              <a:solidFill>
                <a:srgbClr val="6A737B"/>
              </a:solidFill>
              <a:latin typeface="Arial" panose="020B0604020202020204"/>
              <a:ea typeface="Arial" panose="020B0604020202020204"/>
              <a:cs typeface="Arial" panose="020B0604020202020204"/>
            </a:endParaRPr>
          </a:p>
        </p:txBody>
      </p:sp>
      <p:sp>
        <p:nvSpPr>
          <p:cNvPr id="115" name="直接连接符 114"/>
          <p:cNvSpPr>
            <a:spLocks noGrp="1"/>
          </p:cNvSpPr>
          <p:nvPr/>
        </p:nvSpPr>
        <p:spPr>
          <a:xfrm>
            <a:off x="1304925" y="6191250"/>
            <a:ext cx="1666875" cy="953"/>
          </a:xfrm>
          <a:prstGeom prst="line">
            <a:avLst/>
          </a:prstGeom>
          <a:noFill/>
          <a:ln w="19050">
            <a:solidFill>
              <a:srgbClr val="D7DDE1"/>
            </a:solidFill>
          </a:ln>
        </p:spPr>
      </p:sp>
      <p:sp>
        <p:nvSpPr>
          <p:cNvPr id="116" name="椭圆 115"/>
          <p:cNvSpPr>
            <a:spLocks noGrp="1"/>
          </p:cNvSpPr>
          <p:nvPr/>
        </p:nvSpPr>
        <p:spPr>
          <a:xfrm>
            <a:off x="1219200" y="6105525"/>
            <a:ext cx="171450" cy="171450"/>
          </a:xfrm>
          <a:prstGeom prst="ellipse">
            <a:avLst/>
          </a:prstGeom>
          <a:solidFill>
            <a:srgbClr val="416B92"/>
          </a:solidFill>
          <a:ln w="9525">
            <a:solidFill>
              <a:srgbClr val="416B92"/>
            </a:solidFill>
          </a:ln>
        </p:spPr>
      </p:sp>
      <p:sp>
        <p:nvSpPr>
          <p:cNvPr id="117" name="椭圆 116"/>
          <p:cNvSpPr>
            <a:spLocks noGrp="1"/>
          </p:cNvSpPr>
          <p:nvPr/>
        </p:nvSpPr>
        <p:spPr>
          <a:xfrm>
            <a:off x="2886075" y="6105525"/>
            <a:ext cx="171450" cy="171450"/>
          </a:xfrm>
          <a:prstGeom prst="ellipse">
            <a:avLst/>
          </a:prstGeom>
          <a:solidFill>
            <a:srgbClr val="277F8A"/>
          </a:solidFill>
          <a:ln w="9525">
            <a:solidFill>
              <a:srgbClr val="277F8A"/>
            </a:solidFill>
          </a:ln>
        </p:spPr>
      </p:sp>
      <p:sp>
        <p:nvSpPr>
          <p:cNvPr id="118" name="矩形 117"/>
          <p:cNvSpPr>
            <a:spLocks noGrp="1"/>
          </p:cNvSpPr>
          <p:nvPr/>
        </p:nvSpPr>
        <p:spPr>
          <a:xfrm>
            <a:off x="771525" y="5838825"/>
            <a:ext cx="1066800" cy="247650"/>
          </a:xfrm>
          <a:prstGeom prst="rect">
            <a:avLst/>
          </a:prstGeom>
          <a:noFill/>
          <a:ln w="0">
            <a:noFill/>
          </a:ln>
        </p:spPr>
        <p:txBody>
          <a:bodyPr wrap="none" lIns="0" tIns="0" rIns="0" bIns="0" anchor="ctr">
            <a:noAutofit/>
          </a:bodyPr>
          <a:lstStyle/>
          <a:p>
            <a:pPr algn="ctr">
              <a:defRPr sz="1200" b="0">
                <a:solidFill>
                  <a:srgbClr val="24292D"/>
                </a:solidFill>
                <a:latin typeface="Arial" panose="020B0604020202020204"/>
                <a:ea typeface="Arial" panose="020B0604020202020204"/>
                <a:cs typeface="Arial" panose="020B0604020202020204"/>
              </a:defRPr>
            </a:pPr>
            <a:r>
              <a:rPr sz="1200" b="0">
                <a:solidFill>
                  <a:srgbClr val="24292D"/>
                </a:solidFill>
                <a:latin typeface="Arial" panose="020B0604020202020204"/>
                <a:ea typeface="Arial" panose="020B0604020202020204"/>
                <a:cs typeface="Arial" panose="020B0604020202020204"/>
              </a:rPr>
              <a:t>12 batches</a:t>
            </a:r>
            <a:endParaRPr sz="1200" b="0">
              <a:solidFill>
                <a:srgbClr val="24292D"/>
              </a:solidFill>
              <a:latin typeface="Arial" panose="020B0604020202020204"/>
              <a:ea typeface="Arial" panose="020B0604020202020204"/>
              <a:cs typeface="Arial" panose="020B0604020202020204"/>
            </a:endParaRPr>
          </a:p>
        </p:txBody>
      </p:sp>
      <p:sp>
        <p:nvSpPr>
          <p:cNvPr id="119" name="矩形 118"/>
          <p:cNvSpPr>
            <a:spLocks noGrp="1"/>
          </p:cNvSpPr>
          <p:nvPr/>
        </p:nvSpPr>
        <p:spPr>
          <a:xfrm>
            <a:off x="2438400" y="5838825"/>
            <a:ext cx="1066800" cy="247650"/>
          </a:xfrm>
          <a:prstGeom prst="rect">
            <a:avLst/>
          </a:prstGeom>
          <a:noFill/>
          <a:ln w="0">
            <a:noFill/>
          </a:ln>
        </p:spPr>
        <p:txBody>
          <a:bodyPr wrap="none" lIns="0" tIns="0" rIns="0" bIns="0" anchor="ctr">
            <a:noAutofit/>
          </a:bodyPr>
          <a:lstStyle/>
          <a:p>
            <a:pPr algn="ctr">
              <a:defRPr sz="1200" b="0">
                <a:solidFill>
                  <a:srgbClr val="24292D"/>
                </a:solidFill>
                <a:latin typeface="Arial" panose="020B0604020202020204"/>
                <a:ea typeface="Arial" panose="020B0604020202020204"/>
                <a:cs typeface="Arial" panose="020B0604020202020204"/>
              </a:defRPr>
            </a:pPr>
            <a:r>
              <a:rPr sz="1200" b="0">
                <a:solidFill>
                  <a:srgbClr val="24292D"/>
                </a:solidFill>
                <a:latin typeface="Arial" panose="020B0604020202020204"/>
                <a:ea typeface="Arial" panose="020B0604020202020204"/>
                <a:cs typeface="Arial" panose="020B0604020202020204"/>
              </a:rPr>
              <a:t>24 batches</a:t>
            </a:r>
            <a:endParaRPr sz="1200" b="0">
              <a:solidFill>
                <a:srgbClr val="24292D"/>
              </a:solidFill>
              <a:latin typeface="Arial" panose="020B0604020202020204"/>
              <a:ea typeface="Arial" panose="020B0604020202020204"/>
              <a:cs typeface="Arial" panose="020B0604020202020204"/>
            </a:endParaRPr>
          </a:p>
        </p:txBody>
      </p:sp>
      <p:sp>
        <p:nvSpPr>
          <p:cNvPr id="120" name="矩形 119"/>
          <p:cNvSpPr>
            <a:spLocks noGrp="1"/>
          </p:cNvSpPr>
          <p:nvPr/>
        </p:nvSpPr>
        <p:spPr>
          <a:xfrm>
            <a:off x="723900" y="6343650"/>
            <a:ext cx="1162050" cy="266700"/>
          </a:xfrm>
          <a:prstGeom prst="rect">
            <a:avLst/>
          </a:prstGeom>
          <a:noFill/>
          <a:ln w="0">
            <a:noFill/>
          </a:ln>
        </p:spPr>
        <p:txBody>
          <a:bodyPr wrap="none" lIns="0" tIns="0" rIns="0" bIns="0" anchor="ctr">
            <a:noAutofit/>
          </a:bodyPr>
          <a:lstStyle/>
          <a:p>
            <a:pPr algn="ctr">
              <a:defRPr sz="1350" b="0">
                <a:solidFill>
                  <a:srgbClr val="416B92"/>
                </a:solidFill>
                <a:latin typeface="Arial" panose="020B0604020202020204"/>
                <a:ea typeface="Arial" panose="020B0604020202020204"/>
                <a:cs typeface="Arial" panose="020B0604020202020204"/>
              </a:defRPr>
            </a:pPr>
            <a:r>
              <a:rPr sz="1350" b="0">
                <a:solidFill>
                  <a:srgbClr val="416B92"/>
                </a:solidFill>
                <a:latin typeface="Arial" panose="020B0604020202020204"/>
                <a:ea typeface="Arial" panose="020B0604020202020204"/>
                <a:cs typeface="Arial" panose="020B0604020202020204"/>
              </a:rPr>
              <a:t>0.1043</a:t>
            </a:r>
            <a:endParaRPr sz="1350" b="0">
              <a:solidFill>
                <a:srgbClr val="416B92"/>
              </a:solidFill>
              <a:latin typeface="Arial" panose="020B0604020202020204"/>
              <a:ea typeface="Arial" panose="020B0604020202020204"/>
              <a:cs typeface="Arial" panose="020B0604020202020204"/>
            </a:endParaRPr>
          </a:p>
        </p:txBody>
      </p:sp>
      <p:sp>
        <p:nvSpPr>
          <p:cNvPr id="121" name="矩形 120"/>
          <p:cNvSpPr>
            <a:spLocks noGrp="1"/>
          </p:cNvSpPr>
          <p:nvPr/>
        </p:nvSpPr>
        <p:spPr>
          <a:xfrm>
            <a:off x="2390775" y="6343650"/>
            <a:ext cx="1162050" cy="266700"/>
          </a:xfrm>
          <a:prstGeom prst="rect">
            <a:avLst/>
          </a:prstGeom>
          <a:noFill/>
          <a:ln w="0">
            <a:noFill/>
          </a:ln>
        </p:spPr>
        <p:txBody>
          <a:bodyPr wrap="none" lIns="0" tIns="0" rIns="0" bIns="0" anchor="ctr">
            <a:noAutofit/>
          </a:bodyPr>
          <a:lstStyle/>
          <a:p>
            <a:pPr algn="ctr">
              <a:defRPr sz="1350" b="0">
                <a:solidFill>
                  <a:srgbClr val="277F8A"/>
                </a:solidFill>
                <a:latin typeface="Arial" panose="020B0604020202020204"/>
                <a:ea typeface="Arial" panose="020B0604020202020204"/>
                <a:cs typeface="Arial" panose="020B0604020202020204"/>
              </a:defRPr>
            </a:pPr>
            <a:r>
              <a:rPr sz="1350" b="0">
                <a:solidFill>
                  <a:srgbClr val="277F8A"/>
                </a:solidFill>
                <a:latin typeface="Arial" panose="020B0604020202020204"/>
                <a:ea typeface="Arial" panose="020B0604020202020204"/>
                <a:cs typeface="Arial" panose="020B0604020202020204"/>
              </a:rPr>
              <a:t>0.0794</a:t>
            </a:r>
            <a:endParaRPr sz="1350" b="0">
              <a:solidFill>
                <a:srgbClr val="277F8A"/>
              </a:solidFill>
              <a:latin typeface="Arial" panose="020B0604020202020204"/>
              <a:ea typeface="Arial" panose="020B0604020202020204"/>
              <a:cs typeface="Arial" panose="020B0604020202020204"/>
            </a:endParaRPr>
          </a:p>
        </p:txBody>
      </p:sp>
      <p:sp>
        <p:nvSpPr>
          <p:cNvPr id="122" name="矩形 121"/>
          <p:cNvSpPr>
            <a:spLocks noGrp="1"/>
          </p:cNvSpPr>
          <p:nvPr/>
        </p:nvSpPr>
        <p:spPr>
          <a:xfrm>
            <a:off x="3714750" y="6029325"/>
            <a:ext cx="666750" cy="285750"/>
          </a:xfrm>
          <a:prstGeom prst="rect">
            <a:avLst/>
          </a:prstGeom>
          <a:noFill/>
          <a:ln w="0">
            <a:noFill/>
          </a:ln>
        </p:spPr>
        <p:txBody>
          <a:bodyPr wrap="none" lIns="0" tIns="0" rIns="0" bIns="0" anchor="ctr">
            <a:noAutofit/>
          </a:bodyPr>
          <a:lstStyle/>
          <a:p>
            <a:pPr algn="ctr">
              <a:defRPr sz="1500" b="1">
                <a:solidFill>
                  <a:srgbClr val="24292D"/>
                </a:solidFill>
                <a:latin typeface="Arial" panose="020B0604020202020204"/>
                <a:ea typeface="Arial" panose="020B0604020202020204"/>
                <a:cs typeface="Arial" panose="020B0604020202020204"/>
              </a:defRPr>
            </a:pPr>
            <a:r>
              <a:rPr sz="1500" b="1">
                <a:solidFill>
                  <a:srgbClr val="24292D"/>
                </a:solidFill>
                <a:latin typeface="Arial" panose="020B0604020202020204"/>
                <a:ea typeface="Arial" panose="020B0604020202020204"/>
                <a:cs typeface="Arial" panose="020B0604020202020204"/>
              </a:rPr>
              <a:t>8/15</a:t>
            </a:r>
            <a:endParaRPr sz="1500" b="1">
              <a:solidFill>
                <a:srgbClr val="24292D"/>
              </a:solidFill>
              <a:latin typeface="Arial" panose="020B0604020202020204"/>
              <a:ea typeface="Arial" panose="020B0604020202020204"/>
              <a:cs typeface="Arial" panose="020B0604020202020204"/>
            </a:endParaRPr>
          </a:p>
        </p:txBody>
      </p:sp>
      <p:sp>
        <p:nvSpPr>
          <p:cNvPr id="123" name="矩形 122"/>
          <p:cNvSpPr>
            <a:spLocks noGrp="1"/>
          </p:cNvSpPr>
          <p:nvPr/>
        </p:nvSpPr>
        <p:spPr>
          <a:xfrm>
            <a:off x="3609975" y="6305550"/>
            <a:ext cx="876300" cy="228600"/>
          </a:xfrm>
          <a:prstGeom prst="rect">
            <a:avLst/>
          </a:prstGeom>
          <a:noFill/>
          <a:ln w="0">
            <a:noFill/>
          </a:ln>
        </p:spPr>
        <p:txBody>
          <a:bodyPr wrap="none" lIns="0" tIns="0" rIns="0" bIns="0" anchor="ctr">
            <a:noAutofit/>
          </a:bodyPr>
          <a:lstStyle/>
          <a:p>
            <a:pPr algn="ctr">
              <a:defRPr sz="1200" b="0">
                <a:solidFill>
                  <a:srgbClr val="6A737B"/>
                </a:solidFill>
                <a:latin typeface="Arial" panose="020B0604020202020204"/>
                <a:ea typeface="Arial" panose="020B0604020202020204"/>
                <a:cs typeface="Arial" panose="020B0604020202020204"/>
              </a:defRPr>
            </a:pPr>
            <a:r>
              <a:rPr sz="1200" b="0">
                <a:solidFill>
                  <a:srgbClr val="6A737B"/>
                </a:solidFill>
                <a:latin typeface="Arial" panose="020B0604020202020204"/>
                <a:ea typeface="Arial" panose="020B0604020202020204"/>
                <a:cs typeface="Arial" panose="020B0604020202020204"/>
              </a:rPr>
              <a:t>improved</a:t>
            </a:r>
            <a:endParaRPr sz="1200" b="0">
              <a:solidFill>
                <a:srgbClr val="6A737B"/>
              </a:solidFill>
              <a:latin typeface="Arial" panose="020B0604020202020204"/>
              <a:ea typeface="Arial" panose="020B0604020202020204"/>
              <a:cs typeface="Arial" panose="020B0604020202020204"/>
            </a:endParaRPr>
          </a:p>
        </p:txBody>
      </p:sp>
      <p:sp>
        <p:nvSpPr>
          <p:cNvPr id="124" name="直接连接符 123"/>
          <p:cNvSpPr>
            <a:spLocks noGrp="1"/>
          </p:cNvSpPr>
          <p:nvPr/>
        </p:nvSpPr>
        <p:spPr>
          <a:xfrm>
            <a:off x="2333625" y="6924675"/>
            <a:ext cx="953" cy="1295400"/>
          </a:xfrm>
          <a:prstGeom prst="line">
            <a:avLst/>
          </a:prstGeom>
          <a:noFill/>
          <a:ln w="11430">
            <a:solidFill>
              <a:srgbClr val="6A737B"/>
            </a:solidFill>
          </a:ln>
        </p:spPr>
      </p:sp>
      <p:sp>
        <p:nvSpPr>
          <p:cNvPr id="125" name="椭圆 124"/>
          <p:cNvSpPr>
            <a:spLocks noGrp="1"/>
          </p:cNvSpPr>
          <p:nvPr/>
        </p:nvSpPr>
        <p:spPr>
          <a:xfrm>
            <a:off x="1816313" y="7243763"/>
            <a:ext cx="104775" cy="104775"/>
          </a:xfrm>
          <a:prstGeom prst="ellipse">
            <a:avLst/>
          </a:prstGeom>
          <a:solidFill>
            <a:srgbClr val="A35F42"/>
          </a:solidFill>
          <a:ln w="9525">
            <a:solidFill>
              <a:srgbClr val="A35F42"/>
            </a:solidFill>
          </a:ln>
        </p:spPr>
      </p:sp>
      <p:sp>
        <p:nvSpPr>
          <p:cNvPr id="126" name="椭圆 125"/>
          <p:cNvSpPr>
            <a:spLocks noGrp="1"/>
          </p:cNvSpPr>
          <p:nvPr/>
        </p:nvSpPr>
        <p:spPr>
          <a:xfrm>
            <a:off x="1926828" y="7672388"/>
            <a:ext cx="104775" cy="104775"/>
          </a:xfrm>
          <a:prstGeom prst="ellipse">
            <a:avLst/>
          </a:prstGeom>
          <a:solidFill>
            <a:srgbClr val="A35F42"/>
          </a:solidFill>
          <a:ln w="9525">
            <a:solidFill>
              <a:srgbClr val="A35F42"/>
            </a:solidFill>
          </a:ln>
        </p:spPr>
      </p:sp>
      <p:sp>
        <p:nvSpPr>
          <p:cNvPr id="127" name="椭圆 126"/>
          <p:cNvSpPr>
            <a:spLocks noGrp="1"/>
          </p:cNvSpPr>
          <p:nvPr/>
        </p:nvSpPr>
        <p:spPr>
          <a:xfrm>
            <a:off x="2022389" y="7100888"/>
            <a:ext cx="104775" cy="104775"/>
          </a:xfrm>
          <a:prstGeom prst="ellipse">
            <a:avLst/>
          </a:prstGeom>
          <a:solidFill>
            <a:srgbClr val="A35F42"/>
          </a:solidFill>
          <a:ln w="9525">
            <a:solidFill>
              <a:srgbClr val="A35F42"/>
            </a:solidFill>
          </a:ln>
        </p:spPr>
      </p:sp>
      <p:sp>
        <p:nvSpPr>
          <p:cNvPr id="128" name="椭圆 127"/>
          <p:cNvSpPr>
            <a:spLocks noGrp="1"/>
          </p:cNvSpPr>
          <p:nvPr/>
        </p:nvSpPr>
        <p:spPr>
          <a:xfrm>
            <a:off x="2127125" y="7815263"/>
            <a:ext cx="104775" cy="104775"/>
          </a:xfrm>
          <a:prstGeom prst="ellipse">
            <a:avLst/>
          </a:prstGeom>
          <a:solidFill>
            <a:srgbClr val="A35F42"/>
          </a:solidFill>
          <a:ln w="9525">
            <a:solidFill>
              <a:srgbClr val="A35F42"/>
            </a:solidFill>
          </a:ln>
        </p:spPr>
      </p:sp>
      <p:sp>
        <p:nvSpPr>
          <p:cNvPr id="129" name="椭圆 128"/>
          <p:cNvSpPr>
            <a:spLocks noGrp="1"/>
          </p:cNvSpPr>
          <p:nvPr/>
        </p:nvSpPr>
        <p:spPr>
          <a:xfrm>
            <a:off x="2196150" y="7529513"/>
            <a:ext cx="104775" cy="104775"/>
          </a:xfrm>
          <a:prstGeom prst="ellipse">
            <a:avLst/>
          </a:prstGeom>
          <a:solidFill>
            <a:srgbClr val="A35F42"/>
          </a:solidFill>
          <a:ln w="9525">
            <a:solidFill>
              <a:srgbClr val="A35F42"/>
            </a:solidFill>
          </a:ln>
        </p:spPr>
      </p:sp>
      <p:sp>
        <p:nvSpPr>
          <p:cNvPr id="130" name="椭圆 129"/>
          <p:cNvSpPr>
            <a:spLocks noGrp="1"/>
          </p:cNvSpPr>
          <p:nvPr/>
        </p:nvSpPr>
        <p:spPr>
          <a:xfrm>
            <a:off x="2225940" y="7386638"/>
            <a:ext cx="104775" cy="104775"/>
          </a:xfrm>
          <a:prstGeom prst="ellipse">
            <a:avLst/>
          </a:prstGeom>
          <a:solidFill>
            <a:srgbClr val="A35F42"/>
          </a:solidFill>
          <a:ln w="9525">
            <a:solidFill>
              <a:srgbClr val="A35F42"/>
            </a:solidFill>
          </a:ln>
        </p:spPr>
      </p:sp>
      <p:sp>
        <p:nvSpPr>
          <p:cNvPr id="131" name="椭圆 130"/>
          <p:cNvSpPr>
            <a:spLocks noGrp="1"/>
          </p:cNvSpPr>
          <p:nvPr/>
        </p:nvSpPr>
        <p:spPr>
          <a:xfrm>
            <a:off x="2246731" y="7958138"/>
            <a:ext cx="104775" cy="104775"/>
          </a:xfrm>
          <a:prstGeom prst="ellipse">
            <a:avLst/>
          </a:prstGeom>
          <a:solidFill>
            <a:srgbClr val="A35F42"/>
          </a:solidFill>
          <a:ln w="9525">
            <a:solidFill>
              <a:srgbClr val="A35F42"/>
            </a:solidFill>
          </a:ln>
        </p:spPr>
      </p:sp>
      <p:sp>
        <p:nvSpPr>
          <p:cNvPr id="132" name="椭圆 131"/>
          <p:cNvSpPr>
            <a:spLocks noGrp="1"/>
          </p:cNvSpPr>
          <p:nvPr/>
        </p:nvSpPr>
        <p:spPr>
          <a:xfrm>
            <a:off x="2306880" y="7672388"/>
            <a:ext cx="104775" cy="104775"/>
          </a:xfrm>
          <a:prstGeom prst="ellipse">
            <a:avLst/>
          </a:prstGeom>
          <a:solidFill>
            <a:srgbClr val="277F8A"/>
          </a:solidFill>
          <a:ln w="9525">
            <a:solidFill>
              <a:srgbClr val="277F8A"/>
            </a:solidFill>
          </a:ln>
        </p:spPr>
      </p:sp>
      <p:sp>
        <p:nvSpPr>
          <p:cNvPr id="133" name="椭圆 132"/>
          <p:cNvSpPr>
            <a:spLocks noGrp="1"/>
          </p:cNvSpPr>
          <p:nvPr/>
        </p:nvSpPr>
        <p:spPr>
          <a:xfrm>
            <a:off x="2312550" y="7243763"/>
            <a:ext cx="104775" cy="104775"/>
          </a:xfrm>
          <a:prstGeom prst="ellipse">
            <a:avLst/>
          </a:prstGeom>
          <a:solidFill>
            <a:srgbClr val="277F8A"/>
          </a:solidFill>
          <a:ln w="9525">
            <a:solidFill>
              <a:srgbClr val="277F8A"/>
            </a:solidFill>
          </a:ln>
        </p:spPr>
      </p:sp>
      <p:sp>
        <p:nvSpPr>
          <p:cNvPr id="134" name="椭圆 133"/>
          <p:cNvSpPr>
            <a:spLocks noGrp="1"/>
          </p:cNvSpPr>
          <p:nvPr/>
        </p:nvSpPr>
        <p:spPr>
          <a:xfrm>
            <a:off x="2352348" y="7815263"/>
            <a:ext cx="104775" cy="104775"/>
          </a:xfrm>
          <a:prstGeom prst="ellipse">
            <a:avLst/>
          </a:prstGeom>
          <a:solidFill>
            <a:srgbClr val="277F8A"/>
          </a:solidFill>
          <a:ln w="9525">
            <a:solidFill>
              <a:srgbClr val="277F8A"/>
            </a:solidFill>
          </a:ln>
        </p:spPr>
      </p:sp>
      <p:sp>
        <p:nvSpPr>
          <p:cNvPr id="135" name="椭圆 134"/>
          <p:cNvSpPr>
            <a:spLocks noGrp="1"/>
          </p:cNvSpPr>
          <p:nvPr/>
        </p:nvSpPr>
        <p:spPr>
          <a:xfrm>
            <a:off x="2618725" y="7100888"/>
            <a:ext cx="104775" cy="104775"/>
          </a:xfrm>
          <a:prstGeom prst="ellipse">
            <a:avLst/>
          </a:prstGeom>
          <a:solidFill>
            <a:srgbClr val="277F8A"/>
          </a:solidFill>
          <a:ln w="9525">
            <a:solidFill>
              <a:srgbClr val="277F8A"/>
            </a:solidFill>
          </a:ln>
        </p:spPr>
      </p:sp>
      <p:sp>
        <p:nvSpPr>
          <p:cNvPr id="136" name="椭圆 135"/>
          <p:cNvSpPr>
            <a:spLocks noGrp="1"/>
          </p:cNvSpPr>
          <p:nvPr/>
        </p:nvSpPr>
        <p:spPr>
          <a:xfrm>
            <a:off x="2702246" y="7529513"/>
            <a:ext cx="104775" cy="104775"/>
          </a:xfrm>
          <a:prstGeom prst="ellipse">
            <a:avLst/>
          </a:prstGeom>
          <a:solidFill>
            <a:srgbClr val="277F8A"/>
          </a:solidFill>
          <a:ln w="9525">
            <a:solidFill>
              <a:srgbClr val="277F8A"/>
            </a:solidFill>
          </a:ln>
        </p:spPr>
      </p:sp>
      <p:sp>
        <p:nvSpPr>
          <p:cNvPr id="137" name="椭圆 136"/>
          <p:cNvSpPr>
            <a:spLocks noGrp="1"/>
          </p:cNvSpPr>
          <p:nvPr/>
        </p:nvSpPr>
        <p:spPr>
          <a:xfrm>
            <a:off x="2797416" y="7958138"/>
            <a:ext cx="104775" cy="104775"/>
          </a:xfrm>
          <a:prstGeom prst="ellipse">
            <a:avLst/>
          </a:prstGeom>
          <a:solidFill>
            <a:srgbClr val="277F8A"/>
          </a:solidFill>
          <a:ln w="9525">
            <a:solidFill>
              <a:srgbClr val="277F8A"/>
            </a:solidFill>
          </a:ln>
        </p:spPr>
      </p:sp>
      <p:sp>
        <p:nvSpPr>
          <p:cNvPr id="138" name="椭圆 137"/>
          <p:cNvSpPr>
            <a:spLocks noGrp="1"/>
          </p:cNvSpPr>
          <p:nvPr/>
        </p:nvSpPr>
        <p:spPr>
          <a:xfrm>
            <a:off x="2946318" y="7386638"/>
            <a:ext cx="104775" cy="104775"/>
          </a:xfrm>
          <a:prstGeom prst="ellipse">
            <a:avLst/>
          </a:prstGeom>
          <a:solidFill>
            <a:srgbClr val="277F8A"/>
          </a:solidFill>
          <a:ln w="9525">
            <a:solidFill>
              <a:srgbClr val="277F8A"/>
            </a:solidFill>
          </a:ln>
        </p:spPr>
      </p:sp>
      <p:sp>
        <p:nvSpPr>
          <p:cNvPr id="139" name="直接连接符 138"/>
          <p:cNvSpPr>
            <a:spLocks noGrp="1"/>
          </p:cNvSpPr>
          <p:nvPr/>
        </p:nvSpPr>
        <p:spPr>
          <a:xfrm>
            <a:off x="3870093" y="7519988"/>
            <a:ext cx="123825" cy="123825"/>
          </a:xfrm>
          <a:prstGeom prst="line">
            <a:avLst/>
          </a:prstGeom>
          <a:noFill/>
          <a:ln w="19050">
            <a:solidFill>
              <a:srgbClr val="6A737B"/>
            </a:solidFill>
          </a:ln>
        </p:spPr>
      </p:sp>
      <p:sp>
        <p:nvSpPr>
          <p:cNvPr id="140" name="直接连接符 139"/>
          <p:cNvSpPr>
            <a:spLocks noGrp="1"/>
          </p:cNvSpPr>
          <p:nvPr/>
        </p:nvSpPr>
        <p:spPr>
          <a:xfrm flipV="1">
            <a:off x="3870093" y="7519988"/>
            <a:ext cx="123825" cy="123825"/>
          </a:xfrm>
          <a:prstGeom prst="line">
            <a:avLst/>
          </a:prstGeom>
          <a:noFill/>
          <a:ln w="19050">
            <a:solidFill>
              <a:srgbClr val="6A737B"/>
            </a:solidFill>
          </a:ln>
        </p:spPr>
      </p:sp>
      <p:sp>
        <p:nvSpPr>
          <p:cNvPr id="141" name="菱形 140"/>
          <p:cNvSpPr>
            <a:spLocks noGrp="1"/>
          </p:cNvSpPr>
          <p:nvPr/>
        </p:nvSpPr>
        <p:spPr>
          <a:xfrm>
            <a:off x="2302117" y="7524750"/>
            <a:ext cx="114300" cy="114300"/>
          </a:xfrm>
          <a:prstGeom prst="diamond">
            <a:avLst/>
          </a:prstGeom>
          <a:solidFill>
            <a:srgbClr val="24292D"/>
          </a:solidFill>
          <a:ln w="9525">
            <a:solidFill>
              <a:srgbClr val="24292D"/>
            </a:solidFill>
          </a:ln>
        </p:spPr>
      </p:sp>
      <p:sp>
        <p:nvSpPr>
          <p:cNvPr id="142" name="直接连接符 141"/>
          <p:cNvSpPr>
            <a:spLocks noGrp="1"/>
          </p:cNvSpPr>
          <p:nvPr/>
        </p:nvSpPr>
        <p:spPr>
          <a:xfrm>
            <a:off x="476250" y="8362950"/>
            <a:ext cx="3714750" cy="953"/>
          </a:xfrm>
          <a:prstGeom prst="line">
            <a:avLst/>
          </a:prstGeom>
          <a:noFill/>
          <a:ln w="12383">
            <a:solidFill>
              <a:srgbClr val="24292D"/>
            </a:solidFill>
          </a:ln>
        </p:spPr>
      </p:sp>
      <p:sp>
        <p:nvSpPr>
          <p:cNvPr id="143" name="直接连接符 142"/>
          <p:cNvSpPr>
            <a:spLocks noGrp="1"/>
          </p:cNvSpPr>
          <p:nvPr/>
        </p:nvSpPr>
        <p:spPr>
          <a:xfrm>
            <a:off x="523875" y="8362950"/>
            <a:ext cx="953" cy="76200"/>
          </a:xfrm>
          <a:prstGeom prst="line">
            <a:avLst/>
          </a:prstGeom>
          <a:noFill/>
          <a:ln w="9525">
            <a:solidFill>
              <a:srgbClr val="24292D"/>
            </a:solidFill>
          </a:ln>
        </p:spPr>
      </p:sp>
      <p:sp>
        <p:nvSpPr>
          <p:cNvPr id="144" name="矩形 143"/>
          <p:cNvSpPr>
            <a:spLocks noGrp="1"/>
          </p:cNvSpPr>
          <p:nvPr/>
        </p:nvSpPr>
        <p:spPr>
          <a:xfrm>
            <a:off x="161925" y="8477250"/>
            <a:ext cx="723900" cy="26670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-0.3</a:t>
            </a:r>
            <a:endParaRPr sz="1275" b="0">
              <a:solidFill>
                <a:srgbClr val="24292D"/>
              </a:solidFill>
              <a:latin typeface="Arial" panose="020B0604020202020204"/>
              <a:ea typeface="Arial" panose="020B0604020202020204"/>
              <a:cs typeface="Arial" panose="020B0604020202020204"/>
            </a:endParaRPr>
          </a:p>
        </p:txBody>
      </p:sp>
      <p:sp>
        <p:nvSpPr>
          <p:cNvPr id="145" name="直接连接符 144"/>
          <p:cNvSpPr>
            <a:spLocks noGrp="1"/>
          </p:cNvSpPr>
          <p:nvPr/>
        </p:nvSpPr>
        <p:spPr>
          <a:xfrm>
            <a:off x="2333625" y="8362950"/>
            <a:ext cx="953" cy="76200"/>
          </a:xfrm>
          <a:prstGeom prst="line">
            <a:avLst/>
          </a:prstGeom>
          <a:noFill/>
          <a:ln w="9525">
            <a:solidFill>
              <a:srgbClr val="24292D"/>
            </a:solidFill>
          </a:ln>
        </p:spPr>
      </p:sp>
      <p:sp>
        <p:nvSpPr>
          <p:cNvPr id="146" name="矩形 145"/>
          <p:cNvSpPr>
            <a:spLocks noGrp="1"/>
          </p:cNvSpPr>
          <p:nvPr/>
        </p:nvSpPr>
        <p:spPr>
          <a:xfrm>
            <a:off x="1971675" y="8477250"/>
            <a:ext cx="723900" cy="26670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0</a:t>
            </a:r>
            <a:endParaRPr sz="1275" b="0">
              <a:solidFill>
                <a:srgbClr val="24292D"/>
              </a:solidFill>
              <a:latin typeface="Arial" panose="020B0604020202020204"/>
              <a:ea typeface="Arial" panose="020B0604020202020204"/>
              <a:cs typeface="Arial" panose="020B0604020202020204"/>
            </a:endParaRPr>
          </a:p>
        </p:txBody>
      </p:sp>
      <p:sp>
        <p:nvSpPr>
          <p:cNvPr id="147" name="直接连接符 146"/>
          <p:cNvSpPr>
            <a:spLocks noGrp="1"/>
          </p:cNvSpPr>
          <p:nvPr/>
        </p:nvSpPr>
        <p:spPr>
          <a:xfrm>
            <a:off x="4143375" y="8362950"/>
            <a:ext cx="953" cy="76200"/>
          </a:xfrm>
          <a:prstGeom prst="line">
            <a:avLst/>
          </a:prstGeom>
          <a:noFill/>
          <a:ln w="9525">
            <a:solidFill>
              <a:srgbClr val="24292D"/>
            </a:solidFill>
          </a:ln>
        </p:spPr>
      </p:sp>
      <p:sp>
        <p:nvSpPr>
          <p:cNvPr id="148" name="矩形 147"/>
          <p:cNvSpPr>
            <a:spLocks noGrp="1"/>
          </p:cNvSpPr>
          <p:nvPr/>
        </p:nvSpPr>
        <p:spPr>
          <a:xfrm>
            <a:off x="3781425" y="8477250"/>
            <a:ext cx="723900" cy="26670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+0.3</a:t>
            </a:r>
            <a:endParaRPr sz="1275" b="0">
              <a:solidFill>
                <a:srgbClr val="24292D"/>
              </a:solidFill>
              <a:latin typeface="Arial" panose="020B0604020202020204"/>
              <a:ea typeface="Arial" panose="020B0604020202020204"/>
              <a:cs typeface="Arial" panose="020B0604020202020204"/>
            </a:endParaRPr>
          </a:p>
        </p:txBody>
      </p:sp>
      <p:sp>
        <p:nvSpPr>
          <p:cNvPr id="149" name="矩形 148"/>
          <p:cNvSpPr>
            <a:spLocks noGrp="1"/>
          </p:cNvSpPr>
          <p:nvPr/>
        </p:nvSpPr>
        <p:spPr>
          <a:xfrm>
            <a:off x="352425" y="8839200"/>
            <a:ext cx="3962400" cy="36195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Prediction error reduction</a:t>
            </a:r>
            <a:endParaRPr sz="1275" b="0">
              <a:solidFill>
                <a:srgbClr val="24292D"/>
              </a:solidFill>
              <a:latin typeface="Arial" panose="020B0604020202020204"/>
              <a:ea typeface="Arial" panose="020B0604020202020204"/>
              <a:cs typeface="Arial" panose="020B0604020202020204"/>
            </a:endParaRPr>
          </a:p>
        </p:txBody>
      </p:sp>
      <p:sp>
        <p:nvSpPr>
          <p:cNvPr id="150" name="矩形 149"/>
          <p:cNvSpPr>
            <a:spLocks noGrp="1"/>
          </p:cNvSpPr>
          <p:nvPr/>
        </p:nvSpPr>
        <p:spPr>
          <a:xfrm>
            <a:off x="4762500" y="4810125"/>
            <a:ext cx="304800" cy="381000"/>
          </a:xfrm>
          <a:prstGeom prst="rect">
            <a:avLst/>
          </a:prstGeom>
          <a:noFill/>
          <a:ln w="0">
            <a:noFill/>
          </a:ln>
        </p:spPr>
        <p:txBody>
          <a:bodyPr wrap="none" lIns="0" tIns="0" rIns="0" bIns="0" anchor="ctr">
            <a:noAutofit/>
          </a:bodyPr>
          <a:lstStyle/>
          <a:p>
            <a:pPr algn="l">
              <a:defRPr sz="2025" b="1">
                <a:solidFill>
                  <a:srgbClr val="24292D"/>
                </a:solidFill>
                <a:latin typeface="Arial" panose="020B0604020202020204"/>
                <a:ea typeface="Arial" panose="020B0604020202020204"/>
                <a:cs typeface="Arial" panose="020B0604020202020204"/>
              </a:defRPr>
            </a:pPr>
            <a:r>
              <a:rPr sz="2025" b="1">
                <a:solidFill>
                  <a:srgbClr val="24292D"/>
                </a:solidFill>
                <a:latin typeface="Arial" panose="020B0604020202020204"/>
                <a:ea typeface="Arial" panose="020B0604020202020204"/>
                <a:cs typeface="Arial" panose="020B0604020202020204"/>
              </a:rPr>
              <a:t>e</a:t>
            </a:r>
            <a:endParaRPr sz="2025" b="1">
              <a:solidFill>
                <a:srgbClr val="24292D"/>
              </a:solidFill>
              <a:latin typeface="Arial" panose="020B0604020202020204"/>
              <a:ea typeface="Arial" panose="020B0604020202020204"/>
              <a:cs typeface="Arial" panose="020B0604020202020204"/>
            </a:endParaRPr>
          </a:p>
        </p:txBody>
      </p:sp>
      <p:sp>
        <p:nvSpPr>
          <p:cNvPr id="151" name="矩形 150"/>
          <p:cNvSpPr>
            <a:spLocks noGrp="1"/>
          </p:cNvSpPr>
          <p:nvPr/>
        </p:nvSpPr>
        <p:spPr>
          <a:xfrm>
            <a:off x="5000625" y="4838700"/>
            <a:ext cx="3857625" cy="381000"/>
          </a:xfrm>
          <a:prstGeom prst="rect">
            <a:avLst/>
          </a:prstGeom>
          <a:noFill/>
          <a:ln w="0">
            <a:noFill/>
          </a:ln>
        </p:spPr>
        <p:txBody>
          <a:bodyPr wrap="none" lIns="0" tIns="0" rIns="0" bIns="0" anchor="ctr">
            <a:noAutofit/>
          </a:bodyPr>
          <a:lstStyle/>
          <a:p>
            <a:pPr algn="ctr">
              <a:defRPr sz="1350" b="1">
                <a:solidFill>
                  <a:srgbClr val="24292D"/>
                </a:solidFill>
                <a:latin typeface="Arial" panose="020B0604020202020204"/>
                <a:ea typeface="Arial" panose="020B0604020202020204"/>
                <a:cs typeface="Arial" panose="020B0604020202020204"/>
              </a:defRPr>
            </a:pPr>
            <a:r>
              <a:rPr sz="1350" b="1">
                <a:solidFill>
                  <a:srgbClr val="24292D"/>
                </a:solidFill>
                <a:latin typeface="Arial" panose="020B0604020202020204"/>
                <a:ea typeface="Arial" panose="020B0604020202020204"/>
                <a:cs typeface="Arial" panose="020B0604020202020204"/>
              </a:rPr>
              <a:t>Crystallization Fines interval coverage</a:t>
            </a:r>
            <a:endParaRPr sz="1350" b="1">
              <a:solidFill>
                <a:srgbClr val="24292D"/>
              </a:solidFill>
              <a:latin typeface="Arial" panose="020B0604020202020204"/>
              <a:ea typeface="Arial" panose="020B0604020202020204"/>
              <a:cs typeface="Arial" panose="020B0604020202020204"/>
            </a:endParaRPr>
          </a:p>
        </p:txBody>
      </p:sp>
      <p:sp>
        <p:nvSpPr>
          <p:cNvPr id="152" name="矩形 151"/>
          <p:cNvSpPr>
            <a:spLocks noGrp="1"/>
          </p:cNvSpPr>
          <p:nvPr/>
        </p:nvSpPr>
        <p:spPr>
          <a:xfrm>
            <a:off x="5162550" y="5219700"/>
            <a:ext cx="3524250" cy="257175"/>
          </a:xfrm>
          <a:prstGeom prst="rect">
            <a:avLst/>
          </a:prstGeom>
          <a:noFill/>
          <a:ln w="0">
            <a:noFill/>
          </a:ln>
        </p:spPr>
        <p:txBody>
          <a:bodyPr wrap="none" lIns="0" tIns="0" rIns="0" bIns="0" anchor="ctr">
            <a:noAutofit/>
          </a:bodyPr>
          <a:lstStyle/>
          <a:p>
            <a:pPr algn="ctr">
              <a:defRPr sz="1275" b="0">
                <a:solidFill>
                  <a:srgbClr val="6A737B"/>
                </a:solidFill>
                <a:latin typeface="Arial" panose="020B0604020202020204"/>
                <a:ea typeface="Arial" panose="020B0604020202020204"/>
                <a:cs typeface="Arial" panose="020B0604020202020204"/>
              </a:defRPr>
            </a:pPr>
            <a:r>
              <a:rPr sz="1275" b="0">
                <a:solidFill>
                  <a:srgbClr val="6A737B"/>
                </a:solidFill>
                <a:latin typeface="Arial" panose="020B0604020202020204"/>
                <a:ea typeface="Arial" panose="020B0604020202020204"/>
                <a:cs typeface="Arial" panose="020B0604020202020204"/>
              </a:rPr>
              <a:t>Fines coverage (%)</a:t>
            </a:r>
            <a:endParaRPr sz="1275" b="0">
              <a:solidFill>
                <a:srgbClr val="6A737B"/>
              </a:solidFill>
              <a:latin typeface="Arial" panose="020B0604020202020204"/>
              <a:ea typeface="Arial" panose="020B0604020202020204"/>
              <a:cs typeface="Arial" panose="020B0604020202020204"/>
            </a:endParaRPr>
          </a:p>
        </p:txBody>
      </p:sp>
      <p:sp>
        <p:nvSpPr>
          <p:cNvPr id="153" name="直接连接符 152"/>
          <p:cNvSpPr>
            <a:spLocks noGrp="1"/>
          </p:cNvSpPr>
          <p:nvPr/>
        </p:nvSpPr>
        <p:spPr>
          <a:xfrm>
            <a:off x="5829300" y="6191250"/>
            <a:ext cx="1666875" cy="953"/>
          </a:xfrm>
          <a:prstGeom prst="line">
            <a:avLst/>
          </a:prstGeom>
          <a:noFill/>
          <a:ln w="19050">
            <a:solidFill>
              <a:srgbClr val="D7DDE1"/>
            </a:solidFill>
          </a:ln>
        </p:spPr>
      </p:sp>
      <p:sp>
        <p:nvSpPr>
          <p:cNvPr id="154" name="椭圆 153"/>
          <p:cNvSpPr>
            <a:spLocks noGrp="1"/>
          </p:cNvSpPr>
          <p:nvPr/>
        </p:nvSpPr>
        <p:spPr>
          <a:xfrm>
            <a:off x="5743575" y="6105525"/>
            <a:ext cx="171450" cy="171450"/>
          </a:xfrm>
          <a:prstGeom prst="ellipse">
            <a:avLst/>
          </a:prstGeom>
          <a:solidFill>
            <a:srgbClr val="416B92"/>
          </a:solidFill>
          <a:ln w="9525">
            <a:solidFill>
              <a:srgbClr val="416B92"/>
            </a:solidFill>
          </a:ln>
        </p:spPr>
      </p:sp>
      <p:sp>
        <p:nvSpPr>
          <p:cNvPr id="155" name="椭圆 154"/>
          <p:cNvSpPr>
            <a:spLocks noGrp="1"/>
          </p:cNvSpPr>
          <p:nvPr/>
        </p:nvSpPr>
        <p:spPr>
          <a:xfrm>
            <a:off x="7410450" y="6105525"/>
            <a:ext cx="171450" cy="171450"/>
          </a:xfrm>
          <a:prstGeom prst="ellipse">
            <a:avLst/>
          </a:prstGeom>
          <a:solidFill>
            <a:srgbClr val="277F8A"/>
          </a:solidFill>
          <a:ln w="9525">
            <a:solidFill>
              <a:srgbClr val="277F8A"/>
            </a:solidFill>
          </a:ln>
        </p:spPr>
      </p:sp>
      <p:sp>
        <p:nvSpPr>
          <p:cNvPr id="156" name="矩形 155"/>
          <p:cNvSpPr>
            <a:spLocks noGrp="1"/>
          </p:cNvSpPr>
          <p:nvPr/>
        </p:nvSpPr>
        <p:spPr>
          <a:xfrm>
            <a:off x="5295900" y="5838825"/>
            <a:ext cx="1066800" cy="247650"/>
          </a:xfrm>
          <a:prstGeom prst="rect">
            <a:avLst/>
          </a:prstGeom>
          <a:noFill/>
          <a:ln w="0">
            <a:noFill/>
          </a:ln>
        </p:spPr>
        <p:txBody>
          <a:bodyPr wrap="none" lIns="0" tIns="0" rIns="0" bIns="0" anchor="ctr">
            <a:noAutofit/>
          </a:bodyPr>
          <a:lstStyle/>
          <a:p>
            <a:pPr algn="ctr">
              <a:defRPr sz="1200" b="0">
                <a:solidFill>
                  <a:srgbClr val="24292D"/>
                </a:solidFill>
                <a:latin typeface="Arial" panose="020B0604020202020204"/>
                <a:ea typeface="Arial" panose="020B0604020202020204"/>
                <a:cs typeface="Arial" panose="020B0604020202020204"/>
              </a:defRPr>
            </a:pPr>
            <a:r>
              <a:rPr sz="1200" b="0">
                <a:solidFill>
                  <a:srgbClr val="24292D"/>
                </a:solidFill>
                <a:latin typeface="Arial" panose="020B0604020202020204"/>
                <a:ea typeface="Arial" panose="020B0604020202020204"/>
                <a:cs typeface="Arial" panose="020B0604020202020204"/>
              </a:rPr>
              <a:t>12 batches</a:t>
            </a:r>
            <a:endParaRPr sz="1200" b="0">
              <a:solidFill>
                <a:srgbClr val="24292D"/>
              </a:solidFill>
              <a:latin typeface="Arial" panose="020B0604020202020204"/>
              <a:ea typeface="Arial" panose="020B0604020202020204"/>
              <a:cs typeface="Arial" panose="020B0604020202020204"/>
            </a:endParaRPr>
          </a:p>
        </p:txBody>
      </p:sp>
      <p:sp>
        <p:nvSpPr>
          <p:cNvPr id="157" name="矩形 156"/>
          <p:cNvSpPr>
            <a:spLocks noGrp="1"/>
          </p:cNvSpPr>
          <p:nvPr/>
        </p:nvSpPr>
        <p:spPr>
          <a:xfrm>
            <a:off x="6962775" y="5838825"/>
            <a:ext cx="1066800" cy="247650"/>
          </a:xfrm>
          <a:prstGeom prst="rect">
            <a:avLst/>
          </a:prstGeom>
          <a:noFill/>
          <a:ln w="0">
            <a:noFill/>
          </a:ln>
        </p:spPr>
        <p:txBody>
          <a:bodyPr wrap="none" lIns="0" tIns="0" rIns="0" bIns="0" anchor="ctr">
            <a:noAutofit/>
          </a:bodyPr>
          <a:lstStyle/>
          <a:p>
            <a:pPr algn="ctr">
              <a:defRPr sz="1200" b="0">
                <a:solidFill>
                  <a:srgbClr val="24292D"/>
                </a:solidFill>
                <a:latin typeface="Arial" panose="020B0604020202020204"/>
                <a:ea typeface="Arial" panose="020B0604020202020204"/>
                <a:cs typeface="Arial" panose="020B0604020202020204"/>
              </a:defRPr>
            </a:pPr>
            <a:r>
              <a:rPr sz="1200" b="0">
                <a:solidFill>
                  <a:srgbClr val="24292D"/>
                </a:solidFill>
                <a:latin typeface="Arial" panose="020B0604020202020204"/>
                <a:ea typeface="Arial" panose="020B0604020202020204"/>
                <a:cs typeface="Arial" panose="020B0604020202020204"/>
              </a:rPr>
              <a:t>24 batches</a:t>
            </a:r>
            <a:endParaRPr sz="1200" b="0">
              <a:solidFill>
                <a:srgbClr val="24292D"/>
              </a:solidFill>
              <a:latin typeface="Arial" panose="020B0604020202020204"/>
              <a:ea typeface="Arial" panose="020B0604020202020204"/>
              <a:cs typeface="Arial" panose="020B0604020202020204"/>
            </a:endParaRPr>
          </a:p>
        </p:txBody>
      </p:sp>
      <p:sp>
        <p:nvSpPr>
          <p:cNvPr id="158" name="矩形 157"/>
          <p:cNvSpPr>
            <a:spLocks noGrp="1"/>
          </p:cNvSpPr>
          <p:nvPr/>
        </p:nvSpPr>
        <p:spPr>
          <a:xfrm>
            <a:off x="5248275" y="6343650"/>
            <a:ext cx="1162050" cy="266700"/>
          </a:xfrm>
          <a:prstGeom prst="rect">
            <a:avLst/>
          </a:prstGeom>
          <a:noFill/>
          <a:ln w="0">
            <a:noFill/>
          </a:ln>
        </p:spPr>
        <p:txBody>
          <a:bodyPr wrap="none" lIns="0" tIns="0" rIns="0" bIns="0" anchor="ctr">
            <a:noAutofit/>
          </a:bodyPr>
          <a:lstStyle/>
          <a:p>
            <a:pPr algn="ctr">
              <a:defRPr sz="1350" b="0">
                <a:solidFill>
                  <a:srgbClr val="416B92"/>
                </a:solidFill>
                <a:latin typeface="Arial" panose="020B0604020202020204"/>
                <a:ea typeface="Arial" panose="020B0604020202020204"/>
                <a:cs typeface="Arial" panose="020B0604020202020204"/>
              </a:defRPr>
            </a:pPr>
            <a:r>
              <a:rPr sz="1350" b="0">
                <a:solidFill>
                  <a:srgbClr val="416B92"/>
                </a:solidFill>
                <a:latin typeface="Arial" panose="020B0604020202020204"/>
                <a:ea typeface="Arial" panose="020B0604020202020204"/>
                <a:cs typeface="Arial" panose="020B0604020202020204"/>
              </a:rPr>
              <a:t>35.6%</a:t>
            </a:r>
            <a:endParaRPr sz="1350" b="0">
              <a:solidFill>
                <a:srgbClr val="416B92"/>
              </a:solidFill>
              <a:latin typeface="Arial" panose="020B0604020202020204"/>
              <a:ea typeface="Arial" panose="020B0604020202020204"/>
              <a:cs typeface="Arial" panose="020B0604020202020204"/>
            </a:endParaRPr>
          </a:p>
        </p:txBody>
      </p:sp>
      <p:sp>
        <p:nvSpPr>
          <p:cNvPr id="159" name="矩形 158"/>
          <p:cNvSpPr>
            <a:spLocks noGrp="1"/>
          </p:cNvSpPr>
          <p:nvPr/>
        </p:nvSpPr>
        <p:spPr>
          <a:xfrm>
            <a:off x="6915150" y="6343650"/>
            <a:ext cx="1162050" cy="266700"/>
          </a:xfrm>
          <a:prstGeom prst="rect">
            <a:avLst/>
          </a:prstGeom>
          <a:noFill/>
          <a:ln w="0">
            <a:noFill/>
          </a:ln>
        </p:spPr>
        <p:txBody>
          <a:bodyPr wrap="none" lIns="0" tIns="0" rIns="0" bIns="0" anchor="ctr">
            <a:noAutofit/>
          </a:bodyPr>
          <a:lstStyle/>
          <a:p>
            <a:pPr algn="ctr">
              <a:defRPr sz="1350" b="0">
                <a:solidFill>
                  <a:srgbClr val="277F8A"/>
                </a:solidFill>
                <a:latin typeface="Arial" panose="020B0604020202020204"/>
                <a:ea typeface="Arial" panose="020B0604020202020204"/>
                <a:cs typeface="Arial" panose="020B0604020202020204"/>
              </a:defRPr>
            </a:pPr>
            <a:r>
              <a:rPr sz="1350" b="0">
                <a:solidFill>
                  <a:srgbClr val="277F8A"/>
                </a:solidFill>
                <a:latin typeface="Arial" panose="020B0604020202020204"/>
                <a:ea typeface="Arial" panose="020B0604020202020204"/>
                <a:cs typeface="Arial" panose="020B0604020202020204"/>
              </a:rPr>
              <a:t>43.9%</a:t>
            </a:r>
            <a:endParaRPr sz="1350" b="0">
              <a:solidFill>
                <a:srgbClr val="277F8A"/>
              </a:solidFill>
              <a:latin typeface="Arial" panose="020B0604020202020204"/>
              <a:ea typeface="Arial" panose="020B0604020202020204"/>
              <a:cs typeface="Arial" panose="020B0604020202020204"/>
            </a:endParaRPr>
          </a:p>
        </p:txBody>
      </p:sp>
      <p:sp>
        <p:nvSpPr>
          <p:cNvPr id="160" name="矩形 159"/>
          <p:cNvSpPr>
            <a:spLocks noGrp="1"/>
          </p:cNvSpPr>
          <p:nvPr/>
        </p:nvSpPr>
        <p:spPr>
          <a:xfrm>
            <a:off x="8239125" y="6029325"/>
            <a:ext cx="666750" cy="285750"/>
          </a:xfrm>
          <a:prstGeom prst="rect">
            <a:avLst/>
          </a:prstGeom>
          <a:noFill/>
          <a:ln w="0">
            <a:noFill/>
          </a:ln>
        </p:spPr>
        <p:txBody>
          <a:bodyPr wrap="none" lIns="0" tIns="0" rIns="0" bIns="0" anchor="ctr">
            <a:noAutofit/>
          </a:bodyPr>
          <a:lstStyle/>
          <a:p>
            <a:pPr algn="ctr">
              <a:defRPr sz="1500" b="1">
                <a:solidFill>
                  <a:srgbClr val="24292D"/>
                </a:solidFill>
                <a:latin typeface="Arial" panose="020B0604020202020204"/>
                <a:ea typeface="Arial" panose="020B0604020202020204"/>
                <a:cs typeface="Arial" panose="020B0604020202020204"/>
              </a:defRPr>
            </a:pPr>
            <a:r>
              <a:rPr sz="1500" b="1">
                <a:solidFill>
                  <a:srgbClr val="24292D"/>
                </a:solidFill>
                <a:latin typeface="Arial" panose="020B0604020202020204"/>
                <a:ea typeface="Arial" panose="020B0604020202020204"/>
                <a:cs typeface="Arial" panose="020B0604020202020204"/>
              </a:rPr>
              <a:t>7/15</a:t>
            </a:r>
            <a:endParaRPr sz="1500" b="1">
              <a:solidFill>
                <a:srgbClr val="24292D"/>
              </a:solidFill>
              <a:latin typeface="Arial" panose="020B0604020202020204"/>
              <a:ea typeface="Arial" panose="020B0604020202020204"/>
              <a:cs typeface="Arial" panose="020B0604020202020204"/>
            </a:endParaRPr>
          </a:p>
        </p:txBody>
      </p:sp>
      <p:sp>
        <p:nvSpPr>
          <p:cNvPr id="161" name="矩形 160"/>
          <p:cNvSpPr>
            <a:spLocks noGrp="1"/>
          </p:cNvSpPr>
          <p:nvPr/>
        </p:nvSpPr>
        <p:spPr>
          <a:xfrm>
            <a:off x="8134350" y="6305550"/>
            <a:ext cx="876300" cy="228600"/>
          </a:xfrm>
          <a:prstGeom prst="rect">
            <a:avLst/>
          </a:prstGeom>
          <a:noFill/>
          <a:ln w="0">
            <a:noFill/>
          </a:ln>
        </p:spPr>
        <p:txBody>
          <a:bodyPr wrap="none" lIns="0" tIns="0" rIns="0" bIns="0" anchor="ctr">
            <a:noAutofit/>
          </a:bodyPr>
          <a:lstStyle/>
          <a:p>
            <a:pPr algn="ctr">
              <a:defRPr sz="1200" b="0">
                <a:solidFill>
                  <a:srgbClr val="6A737B"/>
                </a:solidFill>
                <a:latin typeface="Arial" panose="020B0604020202020204"/>
                <a:ea typeface="Arial" panose="020B0604020202020204"/>
                <a:cs typeface="Arial" panose="020B0604020202020204"/>
              </a:defRPr>
            </a:pPr>
            <a:r>
              <a:rPr sz="1200" b="0">
                <a:solidFill>
                  <a:srgbClr val="6A737B"/>
                </a:solidFill>
                <a:latin typeface="Arial" panose="020B0604020202020204"/>
                <a:ea typeface="Arial" panose="020B0604020202020204"/>
                <a:cs typeface="Arial" panose="020B0604020202020204"/>
              </a:rPr>
              <a:t>improved</a:t>
            </a:r>
            <a:endParaRPr sz="1200" b="0">
              <a:solidFill>
                <a:srgbClr val="6A737B"/>
              </a:solidFill>
              <a:latin typeface="Arial" panose="020B0604020202020204"/>
              <a:ea typeface="Arial" panose="020B0604020202020204"/>
              <a:cs typeface="Arial" panose="020B0604020202020204"/>
            </a:endParaRPr>
          </a:p>
        </p:txBody>
      </p:sp>
      <p:sp>
        <p:nvSpPr>
          <p:cNvPr id="162" name="直接连接符 161"/>
          <p:cNvSpPr>
            <a:spLocks noGrp="1"/>
          </p:cNvSpPr>
          <p:nvPr/>
        </p:nvSpPr>
        <p:spPr>
          <a:xfrm>
            <a:off x="6858000" y="6924675"/>
            <a:ext cx="953" cy="1295400"/>
          </a:xfrm>
          <a:prstGeom prst="line">
            <a:avLst/>
          </a:prstGeom>
          <a:noFill/>
          <a:ln w="11430">
            <a:solidFill>
              <a:srgbClr val="6A737B"/>
            </a:solidFill>
          </a:ln>
        </p:spPr>
      </p:sp>
      <p:sp>
        <p:nvSpPr>
          <p:cNvPr id="163" name="椭圆 162"/>
          <p:cNvSpPr>
            <a:spLocks noGrp="1"/>
          </p:cNvSpPr>
          <p:nvPr/>
        </p:nvSpPr>
        <p:spPr>
          <a:xfrm>
            <a:off x="6202363" y="7243763"/>
            <a:ext cx="104775" cy="104775"/>
          </a:xfrm>
          <a:prstGeom prst="ellipse">
            <a:avLst/>
          </a:prstGeom>
          <a:solidFill>
            <a:srgbClr val="A35F42"/>
          </a:solidFill>
          <a:ln w="9525">
            <a:solidFill>
              <a:srgbClr val="A35F42"/>
            </a:solidFill>
          </a:ln>
        </p:spPr>
      </p:sp>
      <p:sp>
        <p:nvSpPr>
          <p:cNvPr id="164" name="椭圆 163"/>
          <p:cNvSpPr>
            <a:spLocks noGrp="1"/>
          </p:cNvSpPr>
          <p:nvPr/>
        </p:nvSpPr>
        <p:spPr>
          <a:xfrm>
            <a:off x="6202363" y="7672388"/>
            <a:ext cx="104775" cy="104775"/>
          </a:xfrm>
          <a:prstGeom prst="ellipse">
            <a:avLst/>
          </a:prstGeom>
          <a:solidFill>
            <a:srgbClr val="A35F42"/>
          </a:solidFill>
          <a:ln w="9525">
            <a:solidFill>
              <a:srgbClr val="A35F42"/>
            </a:solidFill>
          </a:ln>
        </p:spPr>
      </p:sp>
      <p:sp>
        <p:nvSpPr>
          <p:cNvPr id="165" name="椭圆 164"/>
          <p:cNvSpPr>
            <a:spLocks noGrp="1"/>
          </p:cNvSpPr>
          <p:nvPr/>
        </p:nvSpPr>
        <p:spPr>
          <a:xfrm>
            <a:off x="6503988" y="7100888"/>
            <a:ext cx="104775" cy="104775"/>
          </a:xfrm>
          <a:prstGeom prst="ellipse">
            <a:avLst/>
          </a:prstGeom>
          <a:solidFill>
            <a:srgbClr val="A35F42"/>
          </a:solidFill>
          <a:ln w="9525">
            <a:solidFill>
              <a:srgbClr val="A35F42"/>
            </a:solidFill>
          </a:ln>
        </p:spPr>
      </p:sp>
      <p:sp>
        <p:nvSpPr>
          <p:cNvPr id="166" name="椭圆 165"/>
          <p:cNvSpPr>
            <a:spLocks noGrp="1"/>
          </p:cNvSpPr>
          <p:nvPr/>
        </p:nvSpPr>
        <p:spPr>
          <a:xfrm>
            <a:off x="6503988" y="7815263"/>
            <a:ext cx="104775" cy="104775"/>
          </a:xfrm>
          <a:prstGeom prst="ellipse">
            <a:avLst/>
          </a:prstGeom>
          <a:solidFill>
            <a:srgbClr val="A35F42"/>
          </a:solidFill>
          <a:ln w="9525">
            <a:solidFill>
              <a:srgbClr val="A35F42"/>
            </a:solidFill>
          </a:ln>
        </p:spPr>
      </p:sp>
      <p:sp>
        <p:nvSpPr>
          <p:cNvPr id="167" name="椭圆 166"/>
          <p:cNvSpPr>
            <a:spLocks noGrp="1"/>
          </p:cNvSpPr>
          <p:nvPr/>
        </p:nvSpPr>
        <p:spPr>
          <a:xfrm>
            <a:off x="6805613" y="7529513"/>
            <a:ext cx="104775" cy="104775"/>
          </a:xfrm>
          <a:prstGeom prst="ellipse">
            <a:avLst/>
          </a:prstGeom>
          <a:solidFill>
            <a:srgbClr val="6A737B"/>
          </a:solidFill>
          <a:ln w="9525">
            <a:solidFill>
              <a:srgbClr val="6A737B"/>
            </a:solidFill>
          </a:ln>
        </p:spPr>
      </p:sp>
      <p:sp>
        <p:nvSpPr>
          <p:cNvPr id="168" name="椭圆 167"/>
          <p:cNvSpPr>
            <a:spLocks noGrp="1"/>
          </p:cNvSpPr>
          <p:nvPr/>
        </p:nvSpPr>
        <p:spPr>
          <a:xfrm>
            <a:off x="6805613" y="7386638"/>
            <a:ext cx="104775" cy="104775"/>
          </a:xfrm>
          <a:prstGeom prst="ellipse">
            <a:avLst/>
          </a:prstGeom>
          <a:solidFill>
            <a:srgbClr val="6A737B"/>
          </a:solidFill>
          <a:ln w="9525">
            <a:solidFill>
              <a:srgbClr val="6A737B"/>
            </a:solidFill>
          </a:ln>
        </p:spPr>
      </p:sp>
      <p:sp>
        <p:nvSpPr>
          <p:cNvPr id="169" name="椭圆 168"/>
          <p:cNvSpPr>
            <a:spLocks noGrp="1"/>
          </p:cNvSpPr>
          <p:nvPr/>
        </p:nvSpPr>
        <p:spPr>
          <a:xfrm>
            <a:off x="6805613" y="7958138"/>
            <a:ext cx="104775" cy="104775"/>
          </a:xfrm>
          <a:prstGeom prst="ellipse">
            <a:avLst/>
          </a:prstGeom>
          <a:solidFill>
            <a:srgbClr val="6A737B"/>
          </a:solidFill>
          <a:ln w="9525">
            <a:solidFill>
              <a:srgbClr val="6A737B"/>
            </a:solidFill>
          </a:ln>
        </p:spPr>
      </p:sp>
      <p:sp>
        <p:nvSpPr>
          <p:cNvPr id="170" name="椭圆 169"/>
          <p:cNvSpPr>
            <a:spLocks noGrp="1"/>
          </p:cNvSpPr>
          <p:nvPr/>
        </p:nvSpPr>
        <p:spPr>
          <a:xfrm>
            <a:off x="6805613" y="7672388"/>
            <a:ext cx="104775" cy="104775"/>
          </a:xfrm>
          <a:prstGeom prst="ellipse">
            <a:avLst/>
          </a:prstGeom>
          <a:solidFill>
            <a:srgbClr val="6A737B"/>
          </a:solidFill>
          <a:ln w="9525">
            <a:solidFill>
              <a:srgbClr val="6A737B"/>
            </a:solidFill>
          </a:ln>
        </p:spPr>
      </p:sp>
      <p:sp>
        <p:nvSpPr>
          <p:cNvPr id="171" name="椭圆 170"/>
          <p:cNvSpPr>
            <a:spLocks noGrp="1"/>
          </p:cNvSpPr>
          <p:nvPr/>
        </p:nvSpPr>
        <p:spPr>
          <a:xfrm>
            <a:off x="7107238" y="7243763"/>
            <a:ext cx="104775" cy="104775"/>
          </a:xfrm>
          <a:prstGeom prst="ellipse">
            <a:avLst/>
          </a:prstGeom>
          <a:solidFill>
            <a:srgbClr val="277F8A"/>
          </a:solidFill>
          <a:ln w="9525">
            <a:solidFill>
              <a:srgbClr val="277F8A"/>
            </a:solidFill>
          </a:ln>
        </p:spPr>
      </p:sp>
      <p:sp>
        <p:nvSpPr>
          <p:cNvPr id="172" name="椭圆 171"/>
          <p:cNvSpPr>
            <a:spLocks noGrp="1"/>
          </p:cNvSpPr>
          <p:nvPr/>
        </p:nvSpPr>
        <p:spPr>
          <a:xfrm>
            <a:off x="7107238" y="7815263"/>
            <a:ext cx="104775" cy="104775"/>
          </a:xfrm>
          <a:prstGeom prst="ellipse">
            <a:avLst/>
          </a:prstGeom>
          <a:solidFill>
            <a:srgbClr val="277F8A"/>
          </a:solidFill>
          <a:ln w="9525">
            <a:solidFill>
              <a:srgbClr val="277F8A"/>
            </a:solidFill>
          </a:ln>
        </p:spPr>
      </p:sp>
      <p:sp>
        <p:nvSpPr>
          <p:cNvPr id="173" name="椭圆 172"/>
          <p:cNvSpPr>
            <a:spLocks noGrp="1"/>
          </p:cNvSpPr>
          <p:nvPr/>
        </p:nvSpPr>
        <p:spPr>
          <a:xfrm>
            <a:off x="7408863" y="7100888"/>
            <a:ext cx="104775" cy="104775"/>
          </a:xfrm>
          <a:prstGeom prst="ellipse">
            <a:avLst/>
          </a:prstGeom>
          <a:solidFill>
            <a:srgbClr val="277F8A"/>
          </a:solidFill>
          <a:ln w="9525">
            <a:solidFill>
              <a:srgbClr val="277F8A"/>
            </a:solidFill>
          </a:ln>
        </p:spPr>
      </p:sp>
      <p:sp>
        <p:nvSpPr>
          <p:cNvPr id="174" name="椭圆 173"/>
          <p:cNvSpPr>
            <a:spLocks noGrp="1"/>
          </p:cNvSpPr>
          <p:nvPr/>
        </p:nvSpPr>
        <p:spPr>
          <a:xfrm>
            <a:off x="7408863" y="7529513"/>
            <a:ext cx="104775" cy="104775"/>
          </a:xfrm>
          <a:prstGeom prst="ellipse">
            <a:avLst/>
          </a:prstGeom>
          <a:solidFill>
            <a:srgbClr val="277F8A"/>
          </a:solidFill>
          <a:ln w="9525">
            <a:solidFill>
              <a:srgbClr val="277F8A"/>
            </a:solidFill>
          </a:ln>
        </p:spPr>
      </p:sp>
      <p:sp>
        <p:nvSpPr>
          <p:cNvPr id="175" name="椭圆 174"/>
          <p:cNvSpPr>
            <a:spLocks noGrp="1"/>
          </p:cNvSpPr>
          <p:nvPr/>
        </p:nvSpPr>
        <p:spPr>
          <a:xfrm>
            <a:off x="8012113" y="7958138"/>
            <a:ext cx="104775" cy="104775"/>
          </a:xfrm>
          <a:prstGeom prst="ellipse">
            <a:avLst/>
          </a:prstGeom>
          <a:solidFill>
            <a:srgbClr val="277F8A"/>
          </a:solidFill>
          <a:ln w="9525">
            <a:solidFill>
              <a:srgbClr val="277F8A"/>
            </a:solidFill>
          </a:ln>
        </p:spPr>
      </p:sp>
      <p:sp>
        <p:nvSpPr>
          <p:cNvPr id="176" name="椭圆 175"/>
          <p:cNvSpPr>
            <a:spLocks noGrp="1"/>
          </p:cNvSpPr>
          <p:nvPr/>
        </p:nvSpPr>
        <p:spPr>
          <a:xfrm>
            <a:off x="8313738" y="7386638"/>
            <a:ext cx="104775" cy="104775"/>
          </a:xfrm>
          <a:prstGeom prst="ellipse">
            <a:avLst/>
          </a:prstGeom>
          <a:solidFill>
            <a:srgbClr val="277F8A"/>
          </a:solidFill>
          <a:ln w="9525">
            <a:solidFill>
              <a:srgbClr val="277F8A"/>
            </a:solidFill>
          </a:ln>
        </p:spPr>
      </p:sp>
      <p:sp>
        <p:nvSpPr>
          <p:cNvPr id="177" name="直接连接符 176"/>
          <p:cNvSpPr>
            <a:spLocks noGrp="1"/>
          </p:cNvSpPr>
          <p:nvPr/>
        </p:nvSpPr>
        <p:spPr>
          <a:xfrm>
            <a:off x="8605838" y="7519988"/>
            <a:ext cx="123825" cy="123825"/>
          </a:xfrm>
          <a:prstGeom prst="line">
            <a:avLst/>
          </a:prstGeom>
          <a:noFill/>
          <a:ln w="19050">
            <a:solidFill>
              <a:srgbClr val="6A737B"/>
            </a:solidFill>
          </a:ln>
        </p:spPr>
      </p:sp>
      <p:sp>
        <p:nvSpPr>
          <p:cNvPr id="178" name="直接连接符 177"/>
          <p:cNvSpPr>
            <a:spLocks noGrp="1"/>
          </p:cNvSpPr>
          <p:nvPr/>
        </p:nvSpPr>
        <p:spPr>
          <a:xfrm flipV="1">
            <a:off x="8605838" y="7519988"/>
            <a:ext cx="123825" cy="123825"/>
          </a:xfrm>
          <a:prstGeom prst="line">
            <a:avLst/>
          </a:prstGeom>
          <a:noFill/>
          <a:ln w="19050">
            <a:solidFill>
              <a:srgbClr val="6A737B"/>
            </a:solidFill>
          </a:ln>
        </p:spPr>
      </p:sp>
      <p:sp>
        <p:nvSpPr>
          <p:cNvPr id="179" name="菱形 178"/>
          <p:cNvSpPr>
            <a:spLocks noGrp="1"/>
          </p:cNvSpPr>
          <p:nvPr/>
        </p:nvSpPr>
        <p:spPr>
          <a:xfrm>
            <a:off x="6800850" y="7524750"/>
            <a:ext cx="114300" cy="114300"/>
          </a:xfrm>
          <a:prstGeom prst="diamond">
            <a:avLst/>
          </a:prstGeom>
          <a:solidFill>
            <a:srgbClr val="24292D"/>
          </a:solidFill>
          <a:ln w="9525">
            <a:solidFill>
              <a:srgbClr val="24292D"/>
            </a:solidFill>
          </a:ln>
        </p:spPr>
      </p:sp>
      <p:sp>
        <p:nvSpPr>
          <p:cNvPr id="180" name="直接连接符 179"/>
          <p:cNvSpPr>
            <a:spLocks noGrp="1"/>
          </p:cNvSpPr>
          <p:nvPr/>
        </p:nvSpPr>
        <p:spPr>
          <a:xfrm>
            <a:off x="5000625" y="8362950"/>
            <a:ext cx="3714750" cy="953"/>
          </a:xfrm>
          <a:prstGeom prst="line">
            <a:avLst/>
          </a:prstGeom>
          <a:noFill/>
          <a:ln w="12383">
            <a:solidFill>
              <a:srgbClr val="24292D"/>
            </a:solidFill>
          </a:ln>
        </p:spPr>
      </p:sp>
      <p:sp>
        <p:nvSpPr>
          <p:cNvPr id="181" name="直接连接符 180"/>
          <p:cNvSpPr>
            <a:spLocks noGrp="1"/>
          </p:cNvSpPr>
          <p:nvPr/>
        </p:nvSpPr>
        <p:spPr>
          <a:xfrm>
            <a:off x="5048250" y="8362950"/>
            <a:ext cx="953" cy="76200"/>
          </a:xfrm>
          <a:prstGeom prst="line">
            <a:avLst/>
          </a:prstGeom>
          <a:noFill/>
          <a:ln w="9525">
            <a:solidFill>
              <a:srgbClr val="24292D"/>
            </a:solidFill>
          </a:ln>
        </p:spPr>
      </p:sp>
      <p:sp>
        <p:nvSpPr>
          <p:cNvPr id="182" name="矩形 181"/>
          <p:cNvSpPr>
            <a:spLocks noGrp="1"/>
          </p:cNvSpPr>
          <p:nvPr/>
        </p:nvSpPr>
        <p:spPr>
          <a:xfrm>
            <a:off x="4686300" y="8477250"/>
            <a:ext cx="723900" cy="26670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-50</a:t>
            </a:r>
            <a:endParaRPr sz="1275" b="0">
              <a:solidFill>
                <a:srgbClr val="24292D"/>
              </a:solidFill>
              <a:latin typeface="Arial" panose="020B0604020202020204"/>
              <a:ea typeface="Arial" panose="020B0604020202020204"/>
              <a:cs typeface="Arial" panose="020B0604020202020204"/>
            </a:endParaRPr>
          </a:p>
        </p:txBody>
      </p:sp>
      <p:sp>
        <p:nvSpPr>
          <p:cNvPr id="183" name="直接连接符 182"/>
          <p:cNvSpPr>
            <a:spLocks noGrp="1"/>
          </p:cNvSpPr>
          <p:nvPr/>
        </p:nvSpPr>
        <p:spPr>
          <a:xfrm>
            <a:off x="6858000" y="8362950"/>
            <a:ext cx="953" cy="76200"/>
          </a:xfrm>
          <a:prstGeom prst="line">
            <a:avLst/>
          </a:prstGeom>
          <a:noFill/>
          <a:ln w="9525">
            <a:solidFill>
              <a:srgbClr val="24292D"/>
            </a:solidFill>
          </a:ln>
        </p:spPr>
      </p:sp>
      <p:sp>
        <p:nvSpPr>
          <p:cNvPr id="184" name="矩形 183"/>
          <p:cNvSpPr>
            <a:spLocks noGrp="1"/>
          </p:cNvSpPr>
          <p:nvPr/>
        </p:nvSpPr>
        <p:spPr>
          <a:xfrm>
            <a:off x="6496050" y="8477250"/>
            <a:ext cx="723900" cy="26670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0</a:t>
            </a:r>
            <a:endParaRPr sz="1275" b="0">
              <a:solidFill>
                <a:srgbClr val="24292D"/>
              </a:solidFill>
              <a:latin typeface="Arial" panose="020B0604020202020204"/>
              <a:ea typeface="Arial" panose="020B0604020202020204"/>
              <a:cs typeface="Arial" panose="020B0604020202020204"/>
            </a:endParaRPr>
          </a:p>
        </p:txBody>
      </p:sp>
      <p:sp>
        <p:nvSpPr>
          <p:cNvPr id="185" name="直接连接符 184"/>
          <p:cNvSpPr>
            <a:spLocks noGrp="1"/>
          </p:cNvSpPr>
          <p:nvPr/>
        </p:nvSpPr>
        <p:spPr>
          <a:xfrm>
            <a:off x="8667750" y="8362950"/>
            <a:ext cx="953" cy="76200"/>
          </a:xfrm>
          <a:prstGeom prst="line">
            <a:avLst/>
          </a:prstGeom>
          <a:noFill/>
          <a:ln w="9525">
            <a:solidFill>
              <a:srgbClr val="24292D"/>
            </a:solidFill>
          </a:ln>
        </p:spPr>
      </p:sp>
      <p:sp>
        <p:nvSpPr>
          <p:cNvPr id="186" name="矩形 185"/>
          <p:cNvSpPr>
            <a:spLocks noGrp="1"/>
          </p:cNvSpPr>
          <p:nvPr/>
        </p:nvSpPr>
        <p:spPr>
          <a:xfrm>
            <a:off x="8305800" y="8477250"/>
            <a:ext cx="723900" cy="26670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+50</a:t>
            </a:r>
            <a:endParaRPr sz="1275" b="0">
              <a:solidFill>
                <a:srgbClr val="24292D"/>
              </a:solidFill>
              <a:latin typeface="Arial" panose="020B0604020202020204"/>
              <a:ea typeface="Arial" panose="020B0604020202020204"/>
              <a:cs typeface="Arial" panose="020B0604020202020204"/>
            </a:endParaRPr>
          </a:p>
        </p:txBody>
      </p:sp>
      <p:sp>
        <p:nvSpPr>
          <p:cNvPr id="187" name="矩形 186"/>
          <p:cNvSpPr>
            <a:spLocks noGrp="1"/>
          </p:cNvSpPr>
          <p:nvPr/>
        </p:nvSpPr>
        <p:spPr>
          <a:xfrm>
            <a:off x="4876800" y="8839200"/>
            <a:ext cx="3962400" cy="36195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Coverage gain (percentage points)</a:t>
            </a:r>
            <a:endParaRPr sz="1275" b="0">
              <a:solidFill>
                <a:srgbClr val="24292D"/>
              </a:solidFill>
              <a:latin typeface="Arial" panose="020B0604020202020204"/>
              <a:ea typeface="Arial" panose="020B0604020202020204"/>
              <a:cs typeface="Arial" panose="020B0604020202020204"/>
            </a:endParaRPr>
          </a:p>
        </p:txBody>
      </p:sp>
      <p:sp>
        <p:nvSpPr>
          <p:cNvPr id="188" name="矩形 187"/>
          <p:cNvSpPr>
            <a:spLocks noGrp="1"/>
          </p:cNvSpPr>
          <p:nvPr/>
        </p:nvSpPr>
        <p:spPr>
          <a:xfrm>
            <a:off x="9286875" y="4810125"/>
            <a:ext cx="304800" cy="381000"/>
          </a:xfrm>
          <a:prstGeom prst="rect">
            <a:avLst/>
          </a:prstGeom>
          <a:noFill/>
          <a:ln w="0">
            <a:noFill/>
          </a:ln>
        </p:spPr>
        <p:txBody>
          <a:bodyPr wrap="none" lIns="0" tIns="0" rIns="0" bIns="0" anchor="ctr">
            <a:noAutofit/>
          </a:bodyPr>
          <a:lstStyle/>
          <a:p>
            <a:pPr algn="l">
              <a:defRPr sz="2025" b="1">
                <a:solidFill>
                  <a:srgbClr val="24292D"/>
                </a:solidFill>
                <a:latin typeface="Arial" panose="020B0604020202020204"/>
                <a:ea typeface="Arial" panose="020B0604020202020204"/>
                <a:cs typeface="Arial" panose="020B0604020202020204"/>
              </a:defRPr>
            </a:pPr>
            <a:r>
              <a:rPr sz="2025" b="1">
                <a:solidFill>
                  <a:srgbClr val="24292D"/>
                </a:solidFill>
                <a:latin typeface="Arial" panose="020B0604020202020204"/>
                <a:ea typeface="Arial" panose="020B0604020202020204"/>
                <a:cs typeface="Arial" panose="020B0604020202020204"/>
              </a:rPr>
              <a:t>f</a:t>
            </a:r>
            <a:endParaRPr sz="2025" b="1">
              <a:solidFill>
                <a:srgbClr val="24292D"/>
              </a:solidFill>
              <a:latin typeface="Arial" panose="020B0604020202020204"/>
              <a:ea typeface="Arial" panose="020B0604020202020204"/>
              <a:cs typeface="Arial" panose="020B0604020202020204"/>
            </a:endParaRPr>
          </a:p>
        </p:txBody>
      </p:sp>
      <p:sp>
        <p:nvSpPr>
          <p:cNvPr id="189" name="矩形 188"/>
          <p:cNvSpPr>
            <a:spLocks noGrp="1"/>
          </p:cNvSpPr>
          <p:nvPr/>
        </p:nvSpPr>
        <p:spPr>
          <a:xfrm>
            <a:off x="9525000" y="4838700"/>
            <a:ext cx="3857625" cy="381000"/>
          </a:xfrm>
          <a:prstGeom prst="rect">
            <a:avLst/>
          </a:prstGeom>
          <a:noFill/>
          <a:ln w="0">
            <a:noFill/>
          </a:ln>
        </p:spPr>
        <p:txBody>
          <a:bodyPr wrap="none" lIns="0" tIns="0" rIns="0" bIns="0" anchor="ctr">
            <a:noAutofit/>
          </a:bodyPr>
          <a:lstStyle/>
          <a:p>
            <a:pPr algn="ctr">
              <a:defRPr sz="1350" b="1">
                <a:solidFill>
                  <a:srgbClr val="24292D"/>
                </a:solidFill>
                <a:latin typeface="Arial" panose="020B0604020202020204"/>
                <a:ea typeface="Arial" panose="020B0604020202020204"/>
                <a:cs typeface="Arial" panose="020B0604020202020204"/>
              </a:defRPr>
            </a:pPr>
            <a:r>
              <a:rPr sz="1350" b="1">
                <a:solidFill>
                  <a:srgbClr val="24292D"/>
                </a:solidFill>
                <a:latin typeface="Arial" panose="020B0604020202020204"/>
                <a:ea typeface="Arial" panose="020B0604020202020204"/>
                <a:cs typeface="Arial" panose="020B0604020202020204"/>
              </a:rPr>
              <a:t>Crystallization Retested recovery</a:t>
            </a:r>
            <a:endParaRPr sz="1350" b="1">
              <a:solidFill>
                <a:srgbClr val="24292D"/>
              </a:solidFill>
              <a:latin typeface="Arial" panose="020B0604020202020204"/>
              <a:ea typeface="Arial" panose="020B0604020202020204"/>
              <a:cs typeface="Arial" panose="020B0604020202020204"/>
            </a:endParaRPr>
          </a:p>
        </p:txBody>
      </p:sp>
      <p:sp>
        <p:nvSpPr>
          <p:cNvPr id="190" name="矩形 189"/>
          <p:cNvSpPr>
            <a:spLocks noGrp="1"/>
          </p:cNvSpPr>
          <p:nvPr/>
        </p:nvSpPr>
        <p:spPr>
          <a:xfrm>
            <a:off x="9686925" y="5219700"/>
            <a:ext cx="3524250" cy="257175"/>
          </a:xfrm>
          <a:prstGeom prst="rect">
            <a:avLst/>
          </a:prstGeom>
          <a:noFill/>
          <a:ln w="0">
            <a:noFill/>
          </a:ln>
        </p:spPr>
        <p:txBody>
          <a:bodyPr wrap="none" lIns="0" tIns="0" rIns="0" bIns="0" anchor="ctr">
            <a:noAutofit/>
          </a:bodyPr>
          <a:lstStyle/>
          <a:p>
            <a:pPr algn="ctr">
              <a:defRPr sz="1275" b="0">
                <a:solidFill>
                  <a:srgbClr val="6A737B"/>
                </a:solidFill>
                <a:latin typeface="Arial" panose="020B0604020202020204"/>
                <a:ea typeface="Arial" panose="020B0604020202020204"/>
                <a:cs typeface="Arial" panose="020B0604020202020204"/>
              </a:defRPr>
            </a:pPr>
            <a:r>
              <a:rPr sz="1275" b="0">
                <a:solidFill>
                  <a:srgbClr val="6A737B"/>
                </a:solidFill>
                <a:latin typeface="Arial" panose="020B0604020202020204"/>
                <a:ea typeface="Arial" panose="020B0604020202020204"/>
                <a:cs typeface="Arial" panose="020B0604020202020204"/>
              </a:rPr>
              <a:t>Retested recovery</a:t>
            </a:r>
            <a:endParaRPr sz="1275" b="0">
              <a:solidFill>
                <a:srgbClr val="6A737B"/>
              </a:solidFill>
              <a:latin typeface="Arial" panose="020B0604020202020204"/>
              <a:ea typeface="Arial" panose="020B0604020202020204"/>
              <a:cs typeface="Arial" panose="020B0604020202020204"/>
            </a:endParaRPr>
          </a:p>
        </p:txBody>
      </p:sp>
      <p:sp>
        <p:nvSpPr>
          <p:cNvPr id="191" name="直接连接符 190"/>
          <p:cNvSpPr>
            <a:spLocks noGrp="1"/>
          </p:cNvSpPr>
          <p:nvPr/>
        </p:nvSpPr>
        <p:spPr>
          <a:xfrm>
            <a:off x="10353675" y="6191250"/>
            <a:ext cx="1666875" cy="953"/>
          </a:xfrm>
          <a:prstGeom prst="line">
            <a:avLst/>
          </a:prstGeom>
          <a:noFill/>
          <a:ln w="19050">
            <a:solidFill>
              <a:srgbClr val="D7DDE1"/>
            </a:solidFill>
          </a:ln>
        </p:spPr>
      </p:sp>
      <p:sp>
        <p:nvSpPr>
          <p:cNvPr id="192" name="椭圆 191"/>
          <p:cNvSpPr>
            <a:spLocks noGrp="1"/>
          </p:cNvSpPr>
          <p:nvPr/>
        </p:nvSpPr>
        <p:spPr>
          <a:xfrm>
            <a:off x="10267950" y="6105525"/>
            <a:ext cx="171450" cy="171450"/>
          </a:xfrm>
          <a:prstGeom prst="ellipse">
            <a:avLst/>
          </a:prstGeom>
          <a:solidFill>
            <a:srgbClr val="416B92"/>
          </a:solidFill>
          <a:ln w="9525">
            <a:solidFill>
              <a:srgbClr val="416B92"/>
            </a:solidFill>
          </a:ln>
        </p:spPr>
      </p:sp>
      <p:sp>
        <p:nvSpPr>
          <p:cNvPr id="193" name="椭圆 192"/>
          <p:cNvSpPr>
            <a:spLocks noGrp="1"/>
          </p:cNvSpPr>
          <p:nvPr/>
        </p:nvSpPr>
        <p:spPr>
          <a:xfrm>
            <a:off x="11934825" y="6105525"/>
            <a:ext cx="171450" cy="171450"/>
          </a:xfrm>
          <a:prstGeom prst="ellipse">
            <a:avLst/>
          </a:prstGeom>
          <a:solidFill>
            <a:srgbClr val="277F8A"/>
          </a:solidFill>
          <a:ln w="9525">
            <a:solidFill>
              <a:srgbClr val="277F8A"/>
            </a:solidFill>
          </a:ln>
        </p:spPr>
      </p:sp>
      <p:sp>
        <p:nvSpPr>
          <p:cNvPr id="194" name="矩形 193"/>
          <p:cNvSpPr>
            <a:spLocks noGrp="1"/>
          </p:cNvSpPr>
          <p:nvPr/>
        </p:nvSpPr>
        <p:spPr>
          <a:xfrm>
            <a:off x="9820275" y="5838825"/>
            <a:ext cx="1066800" cy="247650"/>
          </a:xfrm>
          <a:prstGeom prst="rect">
            <a:avLst/>
          </a:prstGeom>
          <a:noFill/>
          <a:ln w="0">
            <a:noFill/>
          </a:ln>
        </p:spPr>
        <p:txBody>
          <a:bodyPr wrap="none" lIns="0" tIns="0" rIns="0" bIns="0" anchor="ctr">
            <a:noAutofit/>
          </a:bodyPr>
          <a:lstStyle/>
          <a:p>
            <a:pPr algn="ctr">
              <a:defRPr sz="1200" b="0">
                <a:solidFill>
                  <a:srgbClr val="24292D"/>
                </a:solidFill>
                <a:latin typeface="Arial" panose="020B0604020202020204"/>
                <a:ea typeface="Arial" panose="020B0604020202020204"/>
                <a:cs typeface="Arial" panose="020B0604020202020204"/>
              </a:defRPr>
            </a:pPr>
            <a:r>
              <a:rPr sz="1200" b="0">
                <a:solidFill>
                  <a:srgbClr val="24292D"/>
                </a:solidFill>
                <a:latin typeface="Arial" panose="020B0604020202020204"/>
                <a:ea typeface="Arial" panose="020B0604020202020204"/>
                <a:cs typeface="Arial" panose="020B0604020202020204"/>
              </a:rPr>
              <a:t>12 batches</a:t>
            </a:r>
            <a:endParaRPr sz="1200" b="0">
              <a:solidFill>
                <a:srgbClr val="24292D"/>
              </a:solidFill>
              <a:latin typeface="Arial" panose="020B0604020202020204"/>
              <a:ea typeface="Arial" panose="020B0604020202020204"/>
              <a:cs typeface="Arial" panose="020B0604020202020204"/>
            </a:endParaRPr>
          </a:p>
        </p:txBody>
      </p:sp>
      <p:sp>
        <p:nvSpPr>
          <p:cNvPr id="195" name="矩形 194"/>
          <p:cNvSpPr>
            <a:spLocks noGrp="1"/>
          </p:cNvSpPr>
          <p:nvPr/>
        </p:nvSpPr>
        <p:spPr>
          <a:xfrm>
            <a:off x="11487150" y="5838825"/>
            <a:ext cx="1066800" cy="247650"/>
          </a:xfrm>
          <a:prstGeom prst="rect">
            <a:avLst/>
          </a:prstGeom>
          <a:noFill/>
          <a:ln w="0">
            <a:noFill/>
          </a:ln>
        </p:spPr>
        <p:txBody>
          <a:bodyPr wrap="none" lIns="0" tIns="0" rIns="0" bIns="0" anchor="ctr">
            <a:noAutofit/>
          </a:bodyPr>
          <a:lstStyle/>
          <a:p>
            <a:pPr algn="ctr">
              <a:defRPr sz="1200" b="0">
                <a:solidFill>
                  <a:srgbClr val="24292D"/>
                </a:solidFill>
                <a:latin typeface="Arial" panose="020B0604020202020204"/>
                <a:ea typeface="Arial" panose="020B0604020202020204"/>
                <a:cs typeface="Arial" panose="020B0604020202020204"/>
              </a:defRPr>
            </a:pPr>
            <a:r>
              <a:rPr sz="1200" b="0">
                <a:solidFill>
                  <a:srgbClr val="24292D"/>
                </a:solidFill>
                <a:latin typeface="Arial" panose="020B0604020202020204"/>
                <a:ea typeface="Arial" panose="020B0604020202020204"/>
                <a:cs typeface="Arial" panose="020B0604020202020204"/>
              </a:rPr>
              <a:t>24 batches</a:t>
            </a:r>
            <a:endParaRPr sz="1200" b="0">
              <a:solidFill>
                <a:srgbClr val="24292D"/>
              </a:solidFill>
              <a:latin typeface="Arial" panose="020B0604020202020204"/>
              <a:ea typeface="Arial" panose="020B0604020202020204"/>
              <a:cs typeface="Arial" panose="020B0604020202020204"/>
            </a:endParaRPr>
          </a:p>
        </p:txBody>
      </p:sp>
      <p:sp>
        <p:nvSpPr>
          <p:cNvPr id="196" name="矩形 195"/>
          <p:cNvSpPr>
            <a:spLocks noGrp="1"/>
          </p:cNvSpPr>
          <p:nvPr/>
        </p:nvSpPr>
        <p:spPr>
          <a:xfrm>
            <a:off x="9772650" y="6343650"/>
            <a:ext cx="1162050" cy="266700"/>
          </a:xfrm>
          <a:prstGeom prst="rect">
            <a:avLst/>
          </a:prstGeom>
          <a:noFill/>
          <a:ln w="0">
            <a:noFill/>
          </a:ln>
        </p:spPr>
        <p:txBody>
          <a:bodyPr wrap="none" lIns="0" tIns="0" rIns="0" bIns="0" anchor="ctr">
            <a:noAutofit/>
          </a:bodyPr>
          <a:lstStyle/>
          <a:p>
            <a:pPr algn="ctr">
              <a:defRPr sz="1350" b="0">
                <a:solidFill>
                  <a:srgbClr val="416B92"/>
                </a:solidFill>
                <a:latin typeface="Arial" panose="020B0604020202020204"/>
                <a:ea typeface="Arial" panose="020B0604020202020204"/>
                <a:cs typeface="Arial" panose="020B0604020202020204"/>
              </a:defRPr>
            </a:pPr>
            <a:r>
              <a:rPr sz="1350" b="0">
                <a:solidFill>
                  <a:srgbClr val="416B92"/>
                </a:solidFill>
                <a:latin typeface="Arial" panose="020B0604020202020204"/>
                <a:ea typeface="Arial" panose="020B0604020202020204"/>
                <a:cs typeface="Arial" panose="020B0604020202020204"/>
              </a:rPr>
              <a:t>42.1%</a:t>
            </a:r>
            <a:endParaRPr sz="1350" b="0">
              <a:solidFill>
                <a:srgbClr val="416B92"/>
              </a:solidFill>
              <a:latin typeface="Arial" panose="020B0604020202020204"/>
              <a:ea typeface="Arial" panose="020B0604020202020204"/>
              <a:cs typeface="Arial" panose="020B0604020202020204"/>
            </a:endParaRPr>
          </a:p>
        </p:txBody>
      </p:sp>
      <p:sp>
        <p:nvSpPr>
          <p:cNvPr id="197" name="矩形 196"/>
          <p:cNvSpPr>
            <a:spLocks noGrp="1"/>
          </p:cNvSpPr>
          <p:nvPr/>
        </p:nvSpPr>
        <p:spPr>
          <a:xfrm>
            <a:off x="11439525" y="6343650"/>
            <a:ext cx="1162050" cy="266700"/>
          </a:xfrm>
          <a:prstGeom prst="rect">
            <a:avLst/>
          </a:prstGeom>
          <a:noFill/>
          <a:ln w="0">
            <a:noFill/>
          </a:ln>
        </p:spPr>
        <p:txBody>
          <a:bodyPr wrap="none" lIns="0" tIns="0" rIns="0" bIns="0" anchor="ctr">
            <a:noAutofit/>
          </a:bodyPr>
          <a:lstStyle/>
          <a:p>
            <a:pPr algn="ctr">
              <a:defRPr sz="1350" b="0">
                <a:solidFill>
                  <a:srgbClr val="277F8A"/>
                </a:solidFill>
                <a:latin typeface="Arial" panose="020B0604020202020204"/>
                <a:ea typeface="Arial" panose="020B0604020202020204"/>
                <a:cs typeface="Arial" panose="020B0604020202020204"/>
              </a:defRPr>
            </a:pPr>
            <a:r>
              <a:rPr sz="1350" b="0">
                <a:solidFill>
                  <a:srgbClr val="277F8A"/>
                </a:solidFill>
                <a:latin typeface="Arial" panose="020B0604020202020204"/>
                <a:ea typeface="Arial" panose="020B0604020202020204"/>
                <a:cs typeface="Arial" panose="020B0604020202020204"/>
              </a:rPr>
              <a:t>39.9%</a:t>
            </a:r>
            <a:endParaRPr sz="1350" b="0">
              <a:solidFill>
                <a:srgbClr val="277F8A"/>
              </a:solidFill>
              <a:latin typeface="Arial" panose="020B0604020202020204"/>
              <a:ea typeface="Arial" panose="020B0604020202020204"/>
              <a:cs typeface="Arial" panose="020B0604020202020204"/>
            </a:endParaRPr>
          </a:p>
        </p:txBody>
      </p:sp>
      <p:sp>
        <p:nvSpPr>
          <p:cNvPr id="198" name="矩形 197"/>
          <p:cNvSpPr>
            <a:spLocks noGrp="1"/>
          </p:cNvSpPr>
          <p:nvPr/>
        </p:nvSpPr>
        <p:spPr>
          <a:xfrm>
            <a:off x="12763500" y="6029325"/>
            <a:ext cx="666750" cy="285750"/>
          </a:xfrm>
          <a:prstGeom prst="rect">
            <a:avLst/>
          </a:prstGeom>
          <a:noFill/>
          <a:ln w="0">
            <a:noFill/>
          </a:ln>
        </p:spPr>
        <p:txBody>
          <a:bodyPr wrap="none" lIns="0" tIns="0" rIns="0" bIns="0" anchor="ctr">
            <a:noAutofit/>
          </a:bodyPr>
          <a:lstStyle/>
          <a:p>
            <a:pPr algn="ctr">
              <a:defRPr sz="1500" b="1">
                <a:solidFill>
                  <a:srgbClr val="24292D"/>
                </a:solidFill>
                <a:latin typeface="Arial" panose="020B0604020202020204"/>
                <a:ea typeface="Arial" panose="020B0604020202020204"/>
                <a:cs typeface="Arial" panose="020B0604020202020204"/>
              </a:defRPr>
            </a:pPr>
            <a:r>
              <a:rPr sz="1500" b="1">
                <a:solidFill>
                  <a:srgbClr val="24292D"/>
                </a:solidFill>
                <a:latin typeface="Arial" panose="020B0604020202020204"/>
                <a:ea typeface="Arial" panose="020B0604020202020204"/>
                <a:cs typeface="Arial" panose="020B0604020202020204"/>
              </a:rPr>
              <a:t>7/15</a:t>
            </a:r>
            <a:endParaRPr sz="1500" b="1">
              <a:solidFill>
                <a:srgbClr val="24292D"/>
              </a:solidFill>
              <a:latin typeface="Arial" panose="020B0604020202020204"/>
              <a:ea typeface="Arial" panose="020B0604020202020204"/>
              <a:cs typeface="Arial" panose="020B0604020202020204"/>
            </a:endParaRPr>
          </a:p>
        </p:txBody>
      </p:sp>
      <p:sp>
        <p:nvSpPr>
          <p:cNvPr id="199" name="矩形 198"/>
          <p:cNvSpPr>
            <a:spLocks noGrp="1"/>
          </p:cNvSpPr>
          <p:nvPr/>
        </p:nvSpPr>
        <p:spPr>
          <a:xfrm>
            <a:off x="12658725" y="6305550"/>
            <a:ext cx="866775" cy="228600"/>
          </a:xfrm>
          <a:prstGeom prst="rect">
            <a:avLst/>
          </a:prstGeom>
          <a:noFill/>
          <a:ln w="0">
            <a:noFill/>
          </a:ln>
        </p:spPr>
        <p:txBody>
          <a:bodyPr wrap="none" lIns="0" tIns="0" rIns="0" bIns="0" anchor="ctr">
            <a:noAutofit/>
          </a:bodyPr>
          <a:lstStyle/>
          <a:p>
            <a:pPr algn="ctr">
              <a:defRPr sz="1200" b="0">
                <a:solidFill>
                  <a:srgbClr val="6A737B"/>
                </a:solidFill>
                <a:latin typeface="Arial" panose="020B0604020202020204"/>
                <a:ea typeface="Arial" panose="020B0604020202020204"/>
                <a:cs typeface="Arial" panose="020B0604020202020204"/>
              </a:defRPr>
            </a:pPr>
            <a:r>
              <a:rPr sz="1200" b="0">
                <a:solidFill>
                  <a:srgbClr val="6A737B"/>
                </a:solidFill>
                <a:latin typeface="Arial" panose="020B0604020202020204"/>
                <a:ea typeface="Arial" panose="020B0604020202020204"/>
                <a:cs typeface="Arial" panose="020B0604020202020204"/>
              </a:rPr>
              <a:t>improved</a:t>
            </a:r>
            <a:endParaRPr sz="1200" b="0">
              <a:solidFill>
                <a:srgbClr val="6A737B"/>
              </a:solidFill>
              <a:latin typeface="Arial" panose="020B0604020202020204"/>
              <a:ea typeface="Arial" panose="020B0604020202020204"/>
              <a:cs typeface="Arial" panose="020B0604020202020204"/>
            </a:endParaRPr>
          </a:p>
        </p:txBody>
      </p:sp>
      <p:sp>
        <p:nvSpPr>
          <p:cNvPr id="200" name="直接连接符 199"/>
          <p:cNvSpPr>
            <a:spLocks noGrp="1"/>
          </p:cNvSpPr>
          <p:nvPr/>
        </p:nvSpPr>
        <p:spPr>
          <a:xfrm>
            <a:off x="11382375" y="6924675"/>
            <a:ext cx="953" cy="1295400"/>
          </a:xfrm>
          <a:prstGeom prst="line">
            <a:avLst/>
          </a:prstGeom>
          <a:noFill/>
          <a:ln w="11430">
            <a:solidFill>
              <a:srgbClr val="6A737B"/>
            </a:solidFill>
          </a:ln>
        </p:spPr>
      </p:sp>
      <p:sp>
        <p:nvSpPr>
          <p:cNvPr id="201" name="椭圆 200"/>
          <p:cNvSpPr>
            <a:spLocks noGrp="1"/>
          </p:cNvSpPr>
          <p:nvPr/>
        </p:nvSpPr>
        <p:spPr>
          <a:xfrm>
            <a:off x="9971574" y="7243763"/>
            <a:ext cx="104775" cy="104775"/>
          </a:xfrm>
          <a:prstGeom prst="ellipse">
            <a:avLst/>
          </a:prstGeom>
          <a:solidFill>
            <a:srgbClr val="A35F42"/>
          </a:solidFill>
          <a:ln w="9525">
            <a:solidFill>
              <a:srgbClr val="A35F42"/>
            </a:solidFill>
          </a:ln>
        </p:spPr>
      </p:sp>
      <p:sp>
        <p:nvSpPr>
          <p:cNvPr id="202" name="椭圆 201"/>
          <p:cNvSpPr>
            <a:spLocks noGrp="1"/>
          </p:cNvSpPr>
          <p:nvPr/>
        </p:nvSpPr>
        <p:spPr>
          <a:xfrm>
            <a:off x="10007718" y="7672388"/>
            <a:ext cx="104775" cy="104775"/>
          </a:xfrm>
          <a:prstGeom prst="ellipse">
            <a:avLst/>
          </a:prstGeom>
          <a:solidFill>
            <a:srgbClr val="A35F42"/>
          </a:solidFill>
          <a:ln w="9525">
            <a:solidFill>
              <a:srgbClr val="A35F42"/>
            </a:solidFill>
          </a:ln>
        </p:spPr>
      </p:sp>
      <p:sp>
        <p:nvSpPr>
          <p:cNvPr id="203" name="椭圆 202"/>
          <p:cNvSpPr>
            <a:spLocks noGrp="1"/>
          </p:cNvSpPr>
          <p:nvPr/>
        </p:nvSpPr>
        <p:spPr>
          <a:xfrm>
            <a:off x="10660014" y="7100888"/>
            <a:ext cx="104775" cy="104775"/>
          </a:xfrm>
          <a:prstGeom prst="ellipse">
            <a:avLst/>
          </a:prstGeom>
          <a:solidFill>
            <a:srgbClr val="A35F42"/>
          </a:solidFill>
          <a:ln w="9525">
            <a:solidFill>
              <a:srgbClr val="A35F42"/>
            </a:solidFill>
          </a:ln>
        </p:spPr>
      </p:sp>
      <p:sp>
        <p:nvSpPr>
          <p:cNvPr id="204" name="椭圆 203"/>
          <p:cNvSpPr>
            <a:spLocks noGrp="1"/>
          </p:cNvSpPr>
          <p:nvPr/>
        </p:nvSpPr>
        <p:spPr>
          <a:xfrm>
            <a:off x="10694247" y="7815263"/>
            <a:ext cx="104775" cy="104775"/>
          </a:xfrm>
          <a:prstGeom prst="ellipse">
            <a:avLst/>
          </a:prstGeom>
          <a:solidFill>
            <a:srgbClr val="A35F42"/>
          </a:solidFill>
          <a:ln w="9525">
            <a:solidFill>
              <a:srgbClr val="A35F42"/>
            </a:solidFill>
          </a:ln>
        </p:spPr>
      </p:sp>
      <p:sp>
        <p:nvSpPr>
          <p:cNvPr id="205" name="椭圆 204"/>
          <p:cNvSpPr>
            <a:spLocks noGrp="1"/>
          </p:cNvSpPr>
          <p:nvPr/>
        </p:nvSpPr>
        <p:spPr>
          <a:xfrm>
            <a:off x="10831941" y="7529513"/>
            <a:ext cx="104775" cy="104775"/>
          </a:xfrm>
          <a:prstGeom prst="ellipse">
            <a:avLst/>
          </a:prstGeom>
          <a:solidFill>
            <a:srgbClr val="A35F42"/>
          </a:solidFill>
          <a:ln w="9525">
            <a:solidFill>
              <a:srgbClr val="A35F42"/>
            </a:solidFill>
          </a:ln>
        </p:spPr>
      </p:sp>
      <p:sp>
        <p:nvSpPr>
          <p:cNvPr id="206" name="椭圆 205"/>
          <p:cNvSpPr>
            <a:spLocks noGrp="1"/>
          </p:cNvSpPr>
          <p:nvPr/>
        </p:nvSpPr>
        <p:spPr>
          <a:xfrm>
            <a:off x="11162373" y="7386638"/>
            <a:ext cx="104775" cy="104775"/>
          </a:xfrm>
          <a:prstGeom prst="ellipse">
            <a:avLst/>
          </a:prstGeom>
          <a:solidFill>
            <a:srgbClr val="A35F42"/>
          </a:solidFill>
          <a:ln w="9525">
            <a:solidFill>
              <a:srgbClr val="A35F42"/>
            </a:solidFill>
          </a:ln>
        </p:spPr>
      </p:sp>
      <p:sp>
        <p:nvSpPr>
          <p:cNvPr id="207" name="椭圆 206"/>
          <p:cNvSpPr>
            <a:spLocks noGrp="1"/>
          </p:cNvSpPr>
          <p:nvPr/>
        </p:nvSpPr>
        <p:spPr>
          <a:xfrm>
            <a:off x="11173598" y="7958138"/>
            <a:ext cx="104775" cy="104775"/>
          </a:xfrm>
          <a:prstGeom prst="ellipse">
            <a:avLst/>
          </a:prstGeom>
          <a:solidFill>
            <a:srgbClr val="A35F42"/>
          </a:solidFill>
          <a:ln w="9525">
            <a:solidFill>
              <a:srgbClr val="A35F42"/>
            </a:solidFill>
          </a:ln>
        </p:spPr>
      </p:sp>
      <p:sp>
        <p:nvSpPr>
          <p:cNvPr id="208" name="椭圆 207"/>
          <p:cNvSpPr>
            <a:spLocks noGrp="1"/>
          </p:cNvSpPr>
          <p:nvPr/>
        </p:nvSpPr>
        <p:spPr>
          <a:xfrm>
            <a:off x="11231426" y="7672388"/>
            <a:ext cx="104775" cy="104775"/>
          </a:xfrm>
          <a:prstGeom prst="ellipse">
            <a:avLst/>
          </a:prstGeom>
          <a:solidFill>
            <a:srgbClr val="A35F42"/>
          </a:solidFill>
          <a:ln w="9525">
            <a:solidFill>
              <a:srgbClr val="A35F42"/>
            </a:solidFill>
          </a:ln>
        </p:spPr>
      </p:sp>
      <p:sp>
        <p:nvSpPr>
          <p:cNvPr id="209" name="椭圆 208"/>
          <p:cNvSpPr>
            <a:spLocks noGrp="1"/>
          </p:cNvSpPr>
          <p:nvPr/>
        </p:nvSpPr>
        <p:spPr>
          <a:xfrm>
            <a:off x="11381520" y="7243763"/>
            <a:ext cx="104775" cy="104775"/>
          </a:xfrm>
          <a:prstGeom prst="ellipse">
            <a:avLst/>
          </a:prstGeom>
          <a:solidFill>
            <a:srgbClr val="277F8A"/>
          </a:solidFill>
          <a:ln w="9525">
            <a:solidFill>
              <a:srgbClr val="277F8A"/>
            </a:solidFill>
          </a:ln>
        </p:spPr>
      </p:sp>
      <p:sp>
        <p:nvSpPr>
          <p:cNvPr id="210" name="椭圆 209"/>
          <p:cNvSpPr>
            <a:spLocks noGrp="1"/>
          </p:cNvSpPr>
          <p:nvPr/>
        </p:nvSpPr>
        <p:spPr>
          <a:xfrm>
            <a:off x="11417808" y="7815263"/>
            <a:ext cx="104775" cy="104775"/>
          </a:xfrm>
          <a:prstGeom prst="ellipse">
            <a:avLst/>
          </a:prstGeom>
          <a:solidFill>
            <a:srgbClr val="277F8A"/>
          </a:solidFill>
          <a:ln w="9525">
            <a:solidFill>
              <a:srgbClr val="277F8A"/>
            </a:solidFill>
          </a:ln>
        </p:spPr>
      </p:sp>
      <p:sp>
        <p:nvSpPr>
          <p:cNvPr id="211" name="椭圆 210"/>
          <p:cNvSpPr>
            <a:spLocks noGrp="1"/>
          </p:cNvSpPr>
          <p:nvPr/>
        </p:nvSpPr>
        <p:spPr>
          <a:xfrm>
            <a:off x="11454318" y="7100888"/>
            <a:ext cx="104775" cy="104775"/>
          </a:xfrm>
          <a:prstGeom prst="ellipse">
            <a:avLst/>
          </a:prstGeom>
          <a:solidFill>
            <a:srgbClr val="277F8A"/>
          </a:solidFill>
          <a:ln w="9525">
            <a:solidFill>
              <a:srgbClr val="277F8A"/>
            </a:solidFill>
          </a:ln>
        </p:spPr>
      </p:sp>
      <p:sp>
        <p:nvSpPr>
          <p:cNvPr id="212" name="椭圆 211"/>
          <p:cNvSpPr>
            <a:spLocks noGrp="1"/>
          </p:cNvSpPr>
          <p:nvPr/>
        </p:nvSpPr>
        <p:spPr>
          <a:xfrm>
            <a:off x="11531127" y="7529513"/>
            <a:ext cx="104775" cy="104775"/>
          </a:xfrm>
          <a:prstGeom prst="ellipse">
            <a:avLst/>
          </a:prstGeom>
          <a:solidFill>
            <a:srgbClr val="277F8A"/>
          </a:solidFill>
          <a:ln w="9525">
            <a:solidFill>
              <a:srgbClr val="277F8A"/>
            </a:solidFill>
          </a:ln>
        </p:spPr>
      </p:sp>
      <p:sp>
        <p:nvSpPr>
          <p:cNvPr id="213" name="椭圆 212"/>
          <p:cNvSpPr>
            <a:spLocks noGrp="1"/>
          </p:cNvSpPr>
          <p:nvPr/>
        </p:nvSpPr>
        <p:spPr>
          <a:xfrm>
            <a:off x="11562978" y="7958138"/>
            <a:ext cx="104775" cy="104775"/>
          </a:xfrm>
          <a:prstGeom prst="ellipse">
            <a:avLst/>
          </a:prstGeom>
          <a:solidFill>
            <a:srgbClr val="277F8A"/>
          </a:solidFill>
          <a:ln w="9525">
            <a:solidFill>
              <a:srgbClr val="277F8A"/>
            </a:solidFill>
          </a:ln>
        </p:spPr>
      </p:sp>
      <p:sp>
        <p:nvSpPr>
          <p:cNvPr id="214" name="椭圆 213"/>
          <p:cNvSpPr>
            <a:spLocks noGrp="1"/>
          </p:cNvSpPr>
          <p:nvPr/>
        </p:nvSpPr>
        <p:spPr>
          <a:xfrm>
            <a:off x="12925644" y="7386638"/>
            <a:ext cx="104775" cy="104775"/>
          </a:xfrm>
          <a:prstGeom prst="ellipse">
            <a:avLst/>
          </a:prstGeom>
          <a:solidFill>
            <a:srgbClr val="277F8A"/>
          </a:solidFill>
          <a:ln w="9525">
            <a:solidFill>
              <a:srgbClr val="277F8A"/>
            </a:solidFill>
          </a:ln>
        </p:spPr>
      </p:sp>
      <p:sp>
        <p:nvSpPr>
          <p:cNvPr id="215" name="直接连接符 214"/>
          <p:cNvSpPr>
            <a:spLocks noGrp="1"/>
          </p:cNvSpPr>
          <p:nvPr/>
        </p:nvSpPr>
        <p:spPr>
          <a:xfrm>
            <a:off x="12977412" y="7519988"/>
            <a:ext cx="123825" cy="123825"/>
          </a:xfrm>
          <a:prstGeom prst="line">
            <a:avLst/>
          </a:prstGeom>
          <a:noFill/>
          <a:ln w="19050">
            <a:solidFill>
              <a:srgbClr val="6A737B"/>
            </a:solidFill>
          </a:ln>
        </p:spPr>
      </p:sp>
      <p:sp>
        <p:nvSpPr>
          <p:cNvPr id="216" name="直接连接符 215"/>
          <p:cNvSpPr>
            <a:spLocks noGrp="1"/>
          </p:cNvSpPr>
          <p:nvPr/>
        </p:nvSpPr>
        <p:spPr>
          <a:xfrm flipV="1">
            <a:off x="12977412" y="7519988"/>
            <a:ext cx="123825" cy="123825"/>
          </a:xfrm>
          <a:prstGeom prst="line">
            <a:avLst/>
          </a:prstGeom>
          <a:noFill/>
          <a:ln w="19050">
            <a:solidFill>
              <a:srgbClr val="6A737B"/>
            </a:solidFill>
          </a:ln>
        </p:spPr>
      </p:sp>
      <p:sp>
        <p:nvSpPr>
          <p:cNvPr id="217" name="菱形 216"/>
          <p:cNvSpPr>
            <a:spLocks noGrp="1"/>
          </p:cNvSpPr>
          <p:nvPr/>
        </p:nvSpPr>
        <p:spPr>
          <a:xfrm>
            <a:off x="11226663" y="7524750"/>
            <a:ext cx="114300" cy="114300"/>
          </a:xfrm>
          <a:prstGeom prst="diamond">
            <a:avLst/>
          </a:prstGeom>
          <a:solidFill>
            <a:srgbClr val="24292D"/>
          </a:solidFill>
          <a:ln w="9525">
            <a:solidFill>
              <a:srgbClr val="24292D"/>
            </a:solidFill>
          </a:ln>
        </p:spPr>
      </p:sp>
      <p:sp>
        <p:nvSpPr>
          <p:cNvPr id="218" name="直接连接符 217"/>
          <p:cNvSpPr>
            <a:spLocks noGrp="1"/>
          </p:cNvSpPr>
          <p:nvPr/>
        </p:nvSpPr>
        <p:spPr>
          <a:xfrm>
            <a:off x="9525000" y="8362950"/>
            <a:ext cx="3714750" cy="953"/>
          </a:xfrm>
          <a:prstGeom prst="line">
            <a:avLst/>
          </a:prstGeom>
          <a:noFill/>
          <a:ln w="12383">
            <a:solidFill>
              <a:srgbClr val="24292D"/>
            </a:solidFill>
          </a:ln>
        </p:spPr>
      </p:sp>
      <p:sp>
        <p:nvSpPr>
          <p:cNvPr id="219" name="直接连接符 218"/>
          <p:cNvSpPr>
            <a:spLocks noGrp="1"/>
          </p:cNvSpPr>
          <p:nvPr/>
        </p:nvSpPr>
        <p:spPr>
          <a:xfrm>
            <a:off x="9572625" y="8362950"/>
            <a:ext cx="953" cy="76200"/>
          </a:xfrm>
          <a:prstGeom prst="line">
            <a:avLst/>
          </a:prstGeom>
          <a:noFill/>
          <a:ln w="9525">
            <a:solidFill>
              <a:srgbClr val="24292D"/>
            </a:solidFill>
          </a:ln>
        </p:spPr>
      </p:sp>
      <p:sp>
        <p:nvSpPr>
          <p:cNvPr id="220" name="矩形 219"/>
          <p:cNvSpPr>
            <a:spLocks noGrp="1"/>
          </p:cNvSpPr>
          <p:nvPr/>
        </p:nvSpPr>
        <p:spPr>
          <a:xfrm>
            <a:off x="9210675" y="8477250"/>
            <a:ext cx="723900" cy="26670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-0.6</a:t>
            </a:r>
            <a:endParaRPr sz="1275" b="0">
              <a:solidFill>
                <a:srgbClr val="24292D"/>
              </a:solidFill>
              <a:latin typeface="Arial" panose="020B0604020202020204"/>
              <a:ea typeface="Arial" panose="020B0604020202020204"/>
              <a:cs typeface="Arial" panose="020B0604020202020204"/>
            </a:endParaRPr>
          </a:p>
        </p:txBody>
      </p:sp>
      <p:sp>
        <p:nvSpPr>
          <p:cNvPr id="221" name="直接连接符 220"/>
          <p:cNvSpPr>
            <a:spLocks noGrp="1"/>
          </p:cNvSpPr>
          <p:nvPr/>
        </p:nvSpPr>
        <p:spPr>
          <a:xfrm>
            <a:off x="11382375" y="8362950"/>
            <a:ext cx="953" cy="76200"/>
          </a:xfrm>
          <a:prstGeom prst="line">
            <a:avLst/>
          </a:prstGeom>
          <a:noFill/>
          <a:ln w="9525">
            <a:solidFill>
              <a:srgbClr val="24292D"/>
            </a:solidFill>
          </a:ln>
        </p:spPr>
      </p:sp>
      <p:sp>
        <p:nvSpPr>
          <p:cNvPr id="222" name="矩形 221"/>
          <p:cNvSpPr>
            <a:spLocks noGrp="1"/>
          </p:cNvSpPr>
          <p:nvPr/>
        </p:nvSpPr>
        <p:spPr>
          <a:xfrm>
            <a:off x="11020425" y="8477250"/>
            <a:ext cx="723900" cy="26670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0</a:t>
            </a:r>
            <a:endParaRPr sz="1275" b="0">
              <a:solidFill>
                <a:srgbClr val="24292D"/>
              </a:solidFill>
              <a:latin typeface="Arial" panose="020B0604020202020204"/>
              <a:ea typeface="Arial" panose="020B0604020202020204"/>
              <a:cs typeface="Arial" panose="020B0604020202020204"/>
            </a:endParaRPr>
          </a:p>
        </p:txBody>
      </p:sp>
      <p:sp>
        <p:nvSpPr>
          <p:cNvPr id="223" name="直接连接符 222"/>
          <p:cNvSpPr>
            <a:spLocks noGrp="1"/>
          </p:cNvSpPr>
          <p:nvPr/>
        </p:nvSpPr>
        <p:spPr>
          <a:xfrm>
            <a:off x="13192125" y="8362950"/>
            <a:ext cx="953" cy="76200"/>
          </a:xfrm>
          <a:prstGeom prst="line">
            <a:avLst/>
          </a:prstGeom>
          <a:noFill/>
          <a:ln w="9525">
            <a:solidFill>
              <a:srgbClr val="24292D"/>
            </a:solidFill>
          </a:ln>
        </p:spPr>
      </p:sp>
      <p:sp>
        <p:nvSpPr>
          <p:cNvPr id="224" name="矩形 223"/>
          <p:cNvSpPr>
            <a:spLocks noGrp="1"/>
          </p:cNvSpPr>
          <p:nvPr/>
        </p:nvSpPr>
        <p:spPr>
          <a:xfrm>
            <a:off x="12830175" y="8477250"/>
            <a:ext cx="695325" cy="26670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+0.6</a:t>
            </a:r>
            <a:endParaRPr sz="1275" b="0">
              <a:solidFill>
                <a:srgbClr val="24292D"/>
              </a:solidFill>
              <a:latin typeface="Arial" panose="020B0604020202020204"/>
              <a:ea typeface="Arial" panose="020B0604020202020204"/>
              <a:cs typeface="Arial" panose="020B0604020202020204"/>
            </a:endParaRPr>
          </a:p>
        </p:txBody>
      </p:sp>
      <p:sp>
        <p:nvSpPr>
          <p:cNvPr id="225" name="矩形 224"/>
          <p:cNvSpPr>
            <a:spLocks noGrp="1"/>
          </p:cNvSpPr>
          <p:nvPr/>
        </p:nvSpPr>
        <p:spPr>
          <a:xfrm>
            <a:off x="9401175" y="8839200"/>
            <a:ext cx="3962400" cy="361950"/>
          </a:xfrm>
          <a:prstGeom prst="rect">
            <a:avLst/>
          </a:prstGeom>
          <a:noFill/>
          <a:ln w="0">
            <a:noFill/>
          </a:ln>
        </p:spPr>
        <p:txBody>
          <a:bodyPr wrap="none" lIns="0" tIns="0" rIns="0" bIns="0" anchor="ctr">
            <a:noAutofit/>
          </a:bodyPr>
          <a:lstStyle/>
          <a:p>
            <a:pPr algn="ctr">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Recovery gain</a:t>
            </a:r>
            <a:endParaRPr sz="1275" b="0">
              <a:solidFill>
                <a:srgbClr val="24292D"/>
              </a:solidFill>
              <a:latin typeface="Arial" panose="020B0604020202020204"/>
              <a:ea typeface="Arial" panose="020B0604020202020204"/>
              <a:cs typeface="Arial" panose="020B0604020202020204"/>
            </a:endParaRPr>
          </a:p>
        </p:txBody>
      </p:sp>
      <p:sp>
        <p:nvSpPr>
          <p:cNvPr id="226" name="椭圆 225"/>
          <p:cNvSpPr>
            <a:spLocks noGrp="1"/>
          </p:cNvSpPr>
          <p:nvPr/>
        </p:nvSpPr>
        <p:spPr>
          <a:xfrm>
            <a:off x="1504950" y="9705975"/>
            <a:ext cx="114300" cy="114300"/>
          </a:xfrm>
          <a:prstGeom prst="ellipse">
            <a:avLst/>
          </a:prstGeom>
          <a:solidFill>
            <a:srgbClr val="277F8A"/>
          </a:solidFill>
          <a:ln w="9525">
            <a:solidFill>
              <a:srgbClr val="277F8A"/>
            </a:solidFill>
          </a:ln>
        </p:spPr>
      </p:sp>
      <p:sp>
        <p:nvSpPr>
          <p:cNvPr id="227" name="矩形 226"/>
          <p:cNvSpPr>
            <a:spLocks noGrp="1"/>
          </p:cNvSpPr>
          <p:nvPr/>
        </p:nvSpPr>
        <p:spPr>
          <a:xfrm>
            <a:off x="1743075" y="9620250"/>
            <a:ext cx="1381125" cy="295275"/>
          </a:xfrm>
          <a:prstGeom prst="rect">
            <a:avLst/>
          </a:prstGeom>
          <a:noFill/>
          <a:ln w="0">
            <a:noFill/>
          </a:ln>
        </p:spPr>
        <p:txBody>
          <a:bodyPr wrap="none" lIns="0" tIns="0" rIns="0" bIns="0" anchor="ctr">
            <a:noAutofit/>
          </a:bodyPr>
          <a:lstStyle/>
          <a:p>
            <a:pPr algn="l">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Favorable</a:t>
            </a:r>
            <a:endParaRPr sz="1275" b="0">
              <a:solidFill>
                <a:srgbClr val="24292D"/>
              </a:solidFill>
              <a:latin typeface="Arial" panose="020B0604020202020204"/>
              <a:ea typeface="Arial" panose="020B0604020202020204"/>
              <a:cs typeface="Arial" panose="020B0604020202020204"/>
            </a:endParaRPr>
          </a:p>
        </p:txBody>
      </p:sp>
      <p:sp>
        <p:nvSpPr>
          <p:cNvPr id="228" name="椭圆 227"/>
          <p:cNvSpPr>
            <a:spLocks noGrp="1"/>
          </p:cNvSpPr>
          <p:nvPr/>
        </p:nvSpPr>
        <p:spPr>
          <a:xfrm>
            <a:off x="3952875" y="9705975"/>
            <a:ext cx="114300" cy="114300"/>
          </a:xfrm>
          <a:prstGeom prst="ellipse">
            <a:avLst/>
          </a:prstGeom>
          <a:solidFill>
            <a:srgbClr val="A35F42"/>
          </a:solidFill>
          <a:ln w="9525">
            <a:solidFill>
              <a:srgbClr val="A35F42"/>
            </a:solidFill>
          </a:ln>
        </p:spPr>
      </p:sp>
      <p:sp>
        <p:nvSpPr>
          <p:cNvPr id="229" name="矩形 228"/>
          <p:cNvSpPr>
            <a:spLocks noGrp="1"/>
          </p:cNvSpPr>
          <p:nvPr/>
        </p:nvSpPr>
        <p:spPr>
          <a:xfrm>
            <a:off x="4191000" y="9620250"/>
            <a:ext cx="1524000" cy="295275"/>
          </a:xfrm>
          <a:prstGeom prst="rect">
            <a:avLst/>
          </a:prstGeom>
          <a:noFill/>
          <a:ln w="0">
            <a:noFill/>
          </a:ln>
        </p:spPr>
        <p:txBody>
          <a:bodyPr wrap="none" lIns="0" tIns="0" rIns="0" bIns="0" anchor="ctr">
            <a:noAutofit/>
          </a:bodyPr>
          <a:lstStyle/>
          <a:p>
            <a:pPr algn="l">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Unfavorable</a:t>
            </a:r>
            <a:endParaRPr sz="1275" b="0">
              <a:solidFill>
                <a:srgbClr val="24292D"/>
              </a:solidFill>
              <a:latin typeface="Arial" panose="020B0604020202020204"/>
              <a:ea typeface="Arial" panose="020B0604020202020204"/>
              <a:cs typeface="Arial" panose="020B0604020202020204"/>
            </a:endParaRPr>
          </a:p>
        </p:txBody>
      </p:sp>
      <p:sp>
        <p:nvSpPr>
          <p:cNvPr id="230" name="直接连接符 229"/>
          <p:cNvSpPr>
            <a:spLocks noGrp="1"/>
          </p:cNvSpPr>
          <p:nvPr/>
        </p:nvSpPr>
        <p:spPr>
          <a:xfrm>
            <a:off x="6657975" y="9696450"/>
            <a:ext cx="133350" cy="133350"/>
          </a:xfrm>
          <a:prstGeom prst="line">
            <a:avLst/>
          </a:prstGeom>
          <a:noFill/>
          <a:ln w="19050">
            <a:solidFill>
              <a:srgbClr val="6A737B"/>
            </a:solidFill>
          </a:ln>
        </p:spPr>
      </p:sp>
      <p:sp>
        <p:nvSpPr>
          <p:cNvPr id="231" name="直接连接符 230"/>
          <p:cNvSpPr>
            <a:spLocks noGrp="1"/>
          </p:cNvSpPr>
          <p:nvPr/>
        </p:nvSpPr>
        <p:spPr>
          <a:xfrm flipV="1">
            <a:off x="6657975" y="9696450"/>
            <a:ext cx="133350" cy="133350"/>
          </a:xfrm>
          <a:prstGeom prst="line">
            <a:avLst/>
          </a:prstGeom>
          <a:noFill/>
          <a:ln w="19050">
            <a:solidFill>
              <a:srgbClr val="6A737B"/>
            </a:solidFill>
          </a:ln>
        </p:spPr>
      </p:sp>
      <p:sp>
        <p:nvSpPr>
          <p:cNvPr id="232" name="矩形 231"/>
          <p:cNvSpPr>
            <a:spLocks noGrp="1"/>
          </p:cNvSpPr>
          <p:nvPr/>
        </p:nvSpPr>
        <p:spPr>
          <a:xfrm>
            <a:off x="6934200" y="9620250"/>
            <a:ext cx="2333625" cy="295275"/>
          </a:xfrm>
          <a:prstGeom prst="rect">
            <a:avLst/>
          </a:prstGeom>
          <a:noFill/>
          <a:ln w="0">
            <a:noFill/>
          </a:ln>
        </p:spPr>
        <p:txBody>
          <a:bodyPr wrap="none" lIns="0" tIns="0" rIns="0" bIns="0" anchor="ctr">
            <a:noAutofit/>
          </a:bodyPr>
          <a:lstStyle/>
          <a:p>
            <a:pPr algn="l">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Source-assay shortfall</a:t>
            </a:r>
            <a:endParaRPr sz="1275" b="0">
              <a:solidFill>
                <a:srgbClr val="24292D"/>
              </a:solidFill>
              <a:latin typeface="Arial" panose="020B0604020202020204"/>
              <a:ea typeface="Arial" panose="020B0604020202020204"/>
              <a:cs typeface="Arial" panose="020B0604020202020204"/>
            </a:endParaRPr>
          </a:p>
        </p:txBody>
      </p:sp>
      <p:sp>
        <p:nvSpPr>
          <p:cNvPr id="233" name="菱形 232"/>
          <p:cNvSpPr>
            <a:spLocks noGrp="1"/>
          </p:cNvSpPr>
          <p:nvPr/>
        </p:nvSpPr>
        <p:spPr>
          <a:xfrm>
            <a:off x="10553700" y="9705975"/>
            <a:ext cx="114300" cy="114300"/>
          </a:xfrm>
          <a:prstGeom prst="diamond">
            <a:avLst/>
          </a:prstGeom>
          <a:solidFill>
            <a:srgbClr val="24292D"/>
          </a:solidFill>
          <a:ln w="9525">
            <a:solidFill>
              <a:srgbClr val="24292D"/>
            </a:solidFill>
          </a:ln>
        </p:spPr>
      </p:sp>
      <p:sp>
        <p:nvSpPr>
          <p:cNvPr id="234" name="矩形 233"/>
          <p:cNvSpPr>
            <a:spLocks noGrp="1"/>
          </p:cNvSpPr>
          <p:nvPr/>
        </p:nvSpPr>
        <p:spPr>
          <a:xfrm>
            <a:off x="10772775" y="9620250"/>
            <a:ext cx="2143125" cy="295275"/>
          </a:xfrm>
          <a:prstGeom prst="rect">
            <a:avLst/>
          </a:prstGeom>
          <a:noFill/>
          <a:ln w="0">
            <a:noFill/>
          </a:ln>
        </p:spPr>
        <p:txBody>
          <a:bodyPr wrap="none" lIns="0" tIns="0" rIns="0" bIns="0" anchor="ctr">
            <a:noAutofit/>
          </a:bodyPr>
          <a:lstStyle/>
          <a:p>
            <a:pPr algn="l">
              <a:defRPr sz="1275" b="0">
                <a:solidFill>
                  <a:srgbClr val="24292D"/>
                </a:solidFill>
                <a:latin typeface="Arial" panose="020B0604020202020204"/>
                <a:ea typeface="Arial" panose="020B0604020202020204"/>
                <a:cs typeface="Arial" panose="020B0604020202020204"/>
              </a:defRPr>
            </a:pPr>
            <a:r>
              <a:rPr sz="1275" b="0">
                <a:solidFill>
                  <a:srgbClr val="24292D"/>
                </a:solidFill>
                <a:latin typeface="Arial" panose="020B0604020202020204"/>
                <a:ea typeface="Arial" panose="020B0604020202020204"/>
                <a:cs typeface="Arial" panose="020B0604020202020204"/>
              </a:rPr>
              <a:t>Median (n = 15)</a:t>
            </a:r>
            <a:endParaRPr sz="1275" b="0">
              <a:solidFill>
                <a:srgbClr val="24292D"/>
              </a:solidFill>
              <a:latin typeface="Arial" panose="020B0604020202020204"/>
              <a:ea typeface="Arial" panose="020B0604020202020204"/>
              <a:cs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 name="矩形 17"/>
          <p:cNvSpPr>
            <a:spLocks noGrp="1"/>
          </p:cNvSpPr>
          <p:nvPr/>
        </p:nvSpPr>
        <p:spPr>
          <a:xfrm>
            <a:off x="838200" y="123825"/>
            <a:ext cx="11811000" cy="342900"/>
          </a:xfrm>
          <a:prstGeom prst="rect">
            <a:avLst/>
          </a:prstGeom>
          <a:noFill/>
          <a:ln w="0">
            <a:noFill/>
          </a:ln>
        </p:spPr>
        <p:txBody>
          <a:bodyPr wrap="none" lIns="0" tIns="0" rIns="0" bIns="0" anchor="ctr">
            <a:noAutofit/>
          </a:bodyPr>
          <a:lstStyle/>
          <a:p>
            <a:pPr algn="l">
              <a:defRPr sz="1650" b="1">
                <a:solidFill>
                  <a:srgbClr val="24292D"/>
                </a:solidFill>
                <a:latin typeface="Arial" panose="020B0604020202020204"/>
                <a:ea typeface="Arial" panose="020B0604020202020204"/>
                <a:cs typeface="Arial" panose="020B0604020202020204"/>
              </a:defRPr>
            </a:pPr>
            <a:r>
              <a:rPr sz="1650" b="1">
                <a:solidFill>
                  <a:srgbClr val="24292D"/>
                </a:solidFill>
                <a:latin typeface="Arial" panose="020B0604020202020204"/>
                <a:ea typeface="Arial" panose="020B0604020202020204"/>
                <a:cs typeface="Arial" panose="020B0604020202020204"/>
              </a:rPr>
              <a:t>Same dilute recipe in each world: 13.3 µM</a:t>
            </a:r>
            <a:endParaRPr sz="1650" b="1">
              <a:solidFill>
                <a:srgbClr val="24292D"/>
              </a:solidFill>
              <a:latin typeface="Arial" panose="020B0604020202020204"/>
              <a:ea typeface="Arial" panose="020B0604020202020204"/>
              <a:cs typeface="Arial" panose="020B0604020202020204"/>
            </a:endParaRPr>
          </a:p>
        </p:txBody>
      </p:sp>
      <p:sp>
        <p:nvSpPr>
          <p:cNvPr id="2" name="矩形 1"/>
          <p:cNvSpPr>
            <a:spLocks noGrp="1"/>
          </p:cNvSpPr>
          <p:nvPr/>
        </p:nvSpPr>
        <p:spPr>
          <a:xfrm>
            <a:off x="838200" y="647700"/>
            <a:ext cx="209550" cy="152400"/>
          </a:xfrm>
          <a:prstGeom prst="rect">
            <a:avLst/>
          </a:prstGeom>
          <a:solidFill>
            <a:srgbClr val="CBD5DC"/>
          </a:solidFill>
          <a:ln w="0">
            <a:noFill/>
          </a:ln>
        </p:spPr>
      </p:sp>
      <p:sp>
        <p:nvSpPr>
          <p:cNvPr id="3" name="矩形 2"/>
          <p:cNvSpPr>
            <a:spLocks noGrp="1"/>
          </p:cNvSpPr>
          <p:nvPr/>
        </p:nvSpPr>
        <p:spPr>
          <a:xfrm>
            <a:off x="1152525" y="533400"/>
            <a:ext cx="2667000" cy="361950"/>
          </a:xfrm>
          <a:prstGeom prst="rect">
            <a:avLst/>
          </a:prstGeom>
          <a:noFill/>
          <a:ln w="0">
            <a:noFill/>
          </a:ln>
        </p:spPr>
        <p:txBody>
          <a:bodyPr wrap="none" lIns="0" tIns="0" rIns="0" bIns="0" anchor="ctr">
            <a:noAutofit/>
          </a:bodyPr>
          <a:lstStyle/>
          <a:p>
            <a:pPr algn="l">
              <a:defRPr sz="1500" b="0">
                <a:solidFill>
                  <a:srgbClr val="24292D"/>
                </a:solidFill>
                <a:latin typeface="Arial" panose="020B0604020202020204"/>
                <a:ea typeface="Arial" panose="020B0604020202020204"/>
                <a:cs typeface="Arial" panose="020B0604020202020204"/>
              </a:defRPr>
            </a:pPr>
            <a:r>
              <a:rPr sz="1500" b="0">
                <a:solidFill>
                  <a:srgbClr val="24292D"/>
                </a:solidFill>
                <a:latin typeface="Arial" panose="020B0604020202020204"/>
                <a:ea typeface="Arial" panose="020B0604020202020204"/>
                <a:cs typeface="Arial" panose="020B0604020202020204"/>
              </a:rPr>
              <a:t>Withheld reference</a:t>
            </a:r>
            <a:endParaRPr sz="1500" b="0">
              <a:solidFill>
                <a:srgbClr val="24292D"/>
              </a:solidFill>
              <a:latin typeface="Arial" panose="020B0604020202020204"/>
              <a:ea typeface="Arial" panose="020B0604020202020204"/>
              <a:cs typeface="Arial" panose="020B0604020202020204"/>
            </a:endParaRPr>
          </a:p>
        </p:txBody>
      </p:sp>
      <p:sp>
        <p:nvSpPr>
          <p:cNvPr id="4" name="矩形 3"/>
          <p:cNvSpPr>
            <a:spLocks noGrp="1"/>
          </p:cNvSpPr>
          <p:nvPr/>
        </p:nvSpPr>
        <p:spPr>
          <a:xfrm>
            <a:off x="3933825" y="647700"/>
            <a:ext cx="209550" cy="152400"/>
          </a:xfrm>
          <a:prstGeom prst="rect">
            <a:avLst/>
          </a:prstGeom>
          <a:solidFill>
            <a:srgbClr val="637482"/>
          </a:solidFill>
          <a:ln w="0">
            <a:noFill/>
          </a:ln>
        </p:spPr>
      </p:sp>
      <p:sp>
        <p:nvSpPr>
          <p:cNvPr id="5" name="矩形 4"/>
          <p:cNvSpPr>
            <a:spLocks noGrp="1"/>
          </p:cNvSpPr>
          <p:nvPr/>
        </p:nvSpPr>
        <p:spPr>
          <a:xfrm>
            <a:off x="4248150" y="533400"/>
            <a:ext cx="2667000" cy="361950"/>
          </a:xfrm>
          <a:prstGeom prst="rect">
            <a:avLst/>
          </a:prstGeom>
          <a:noFill/>
          <a:ln w="0">
            <a:noFill/>
          </a:ln>
        </p:spPr>
        <p:txBody>
          <a:bodyPr wrap="none" lIns="0" tIns="0" rIns="0" bIns="0" anchor="ctr">
            <a:noAutofit/>
          </a:bodyPr>
          <a:lstStyle/>
          <a:p>
            <a:pPr algn="l">
              <a:defRPr sz="1500" b="0">
                <a:solidFill>
                  <a:srgbClr val="24292D"/>
                </a:solidFill>
                <a:latin typeface="Arial" panose="020B0604020202020204"/>
                <a:ea typeface="Arial" panose="020B0604020202020204"/>
                <a:cs typeface="Arial" panose="020B0604020202020204"/>
              </a:defRPr>
            </a:pPr>
            <a:r>
              <a:rPr sz="1500" b="0">
                <a:solidFill>
                  <a:srgbClr val="24292D"/>
                </a:solidFill>
                <a:latin typeface="Arial" panose="020B0604020202020204"/>
                <a:ea typeface="Arial" panose="020B0604020202020204"/>
                <a:cs typeface="Arial" panose="020B0604020202020204"/>
              </a:rPr>
              <a:t>Opaque</a:t>
            </a:r>
            <a:endParaRPr sz="1500" b="0">
              <a:solidFill>
                <a:srgbClr val="24292D"/>
              </a:solidFill>
              <a:latin typeface="Arial" panose="020B0604020202020204"/>
              <a:ea typeface="Arial" panose="020B0604020202020204"/>
              <a:cs typeface="Arial" panose="020B0604020202020204"/>
            </a:endParaRPr>
          </a:p>
        </p:txBody>
      </p:sp>
      <p:sp>
        <p:nvSpPr>
          <p:cNvPr id="6" name="矩形 5"/>
          <p:cNvSpPr>
            <a:spLocks noGrp="1"/>
          </p:cNvSpPr>
          <p:nvPr/>
        </p:nvSpPr>
        <p:spPr>
          <a:xfrm>
            <a:off x="6362700" y="647700"/>
            <a:ext cx="209550" cy="152400"/>
          </a:xfrm>
          <a:prstGeom prst="rect">
            <a:avLst/>
          </a:prstGeom>
          <a:solidFill>
            <a:srgbClr val="277F8A"/>
          </a:solidFill>
          <a:ln w="0">
            <a:noFill/>
          </a:ln>
        </p:spPr>
      </p:sp>
      <p:sp>
        <p:nvSpPr>
          <p:cNvPr id="7" name="矩形 6"/>
          <p:cNvSpPr>
            <a:spLocks noGrp="1"/>
          </p:cNvSpPr>
          <p:nvPr/>
        </p:nvSpPr>
        <p:spPr>
          <a:xfrm>
            <a:off x="6677025" y="533400"/>
            <a:ext cx="2667000" cy="361950"/>
          </a:xfrm>
          <a:prstGeom prst="rect">
            <a:avLst/>
          </a:prstGeom>
          <a:noFill/>
          <a:ln w="0">
            <a:noFill/>
          </a:ln>
        </p:spPr>
        <p:txBody>
          <a:bodyPr wrap="none" lIns="0" tIns="0" rIns="0" bIns="0" anchor="ctr">
            <a:noAutofit/>
          </a:bodyPr>
          <a:lstStyle/>
          <a:p>
            <a:pPr algn="l">
              <a:defRPr sz="1500" b="0">
                <a:solidFill>
                  <a:srgbClr val="24292D"/>
                </a:solidFill>
                <a:latin typeface="Arial" panose="020B0604020202020204"/>
                <a:ea typeface="Arial" panose="020B0604020202020204"/>
                <a:cs typeface="Arial" panose="020B0604020202020204"/>
              </a:defRPr>
            </a:pPr>
            <a:r>
              <a:rPr sz="1500" b="0">
                <a:solidFill>
                  <a:srgbClr val="24292D"/>
                </a:solidFill>
                <a:latin typeface="Arial" panose="020B0604020202020204"/>
                <a:ea typeface="Arial" panose="020B0604020202020204"/>
                <a:cs typeface="Arial" panose="020B0604020202020204"/>
              </a:rPr>
              <a:t>Aligned</a:t>
            </a:r>
            <a:endParaRPr sz="1500" b="0">
              <a:solidFill>
                <a:srgbClr val="24292D"/>
              </a:solidFill>
              <a:latin typeface="Arial" panose="020B0604020202020204"/>
              <a:ea typeface="Arial" panose="020B0604020202020204"/>
              <a:cs typeface="Arial" panose="020B0604020202020204"/>
            </a:endParaRPr>
          </a:p>
        </p:txBody>
      </p:sp>
      <p:sp>
        <p:nvSpPr>
          <p:cNvPr id="8" name="矩形 7"/>
          <p:cNvSpPr>
            <a:spLocks noGrp="1"/>
          </p:cNvSpPr>
          <p:nvPr/>
        </p:nvSpPr>
        <p:spPr>
          <a:xfrm>
            <a:off x="8791575" y="647700"/>
            <a:ext cx="209550" cy="152400"/>
          </a:xfrm>
          <a:prstGeom prst="rect">
            <a:avLst/>
          </a:prstGeom>
          <a:solidFill>
            <a:srgbClr val="BC7850"/>
          </a:solidFill>
          <a:ln w="0">
            <a:noFill/>
          </a:ln>
        </p:spPr>
      </p:sp>
      <p:sp>
        <p:nvSpPr>
          <p:cNvPr id="9" name="矩形 8"/>
          <p:cNvSpPr>
            <a:spLocks noGrp="1"/>
          </p:cNvSpPr>
          <p:nvPr/>
        </p:nvSpPr>
        <p:spPr>
          <a:xfrm>
            <a:off x="9105900" y="533400"/>
            <a:ext cx="2667000" cy="361950"/>
          </a:xfrm>
          <a:prstGeom prst="rect">
            <a:avLst/>
          </a:prstGeom>
          <a:noFill/>
          <a:ln w="0">
            <a:noFill/>
          </a:ln>
        </p:spPr>
        <p:txBody>
          <a:bodyPr wrap="none" lIns="0" tIns="0" rIns="0" bIns="0" anchor="ctr">
            <a:noAutofit/>
          </a:bodyPr>
          <a:lstStyle/>
          <a:p>
            <a:pPr algn="l">
              <a:defRPr sz="1500" b="0">
                <a:solidFill>
                  <a:srgbClr val="24292D"/>
                </a:solidFill>
                <a:latin typeface="Arial" panose="020B0604020202020204"/>
                <a:ea typeface="Arial" panose="020B0604020202020204"/>
                <a:cs typeface="Arial" panose="020B0604020202020204"/>
              </a:defRPr>
            </a:pPr>
            <a:r>
              <a:rPr sz="1500" b="0">
                <a:solidFill>
                  <a:srgbClr val="24292D"/>
                </a:solidFill>
                <a:latin typeface="Arial" panose="020B0604020202020204"/>
                <a:ea typeface="Arial" panose="020B0604020202020204"/>
                <a:cs typeface="Arial" panose="020B0604020202020204"/>
              </a:rPr>
              <a:t>MisIndexed</a:t>
            </a:r>
            <a:endParaRPr sz="1500" b="0">
              <a:solidFill>
                <a:srgbClr val="24292D"/>
              </a:solidFill>
              <a:latin typeface="Arial" panose="020B0604020202020204"/>
              <a:ea typeface="Arial" panose="020B0604020202020204"/>
              <a:cs typeface="Arial" panose="020B0604020202020204"/>
            </a:endParaRPr>
          </a:p>
        </p:txBody>
      </p:sp>
      <p:sp>
        <p:nvSpPr>
          <p:cNvPr id="10" name="矩形 9"/>
          <p:cNvSpPr>
            <a:spLocks noGrp="1"/>
          </p:cNvSpPr>
          <p:nvPr/>
        </p:nvSpPr>
        <p:spPr>
          <a:xfrm>
            <a:off x="1538478" y="4402980"/>
            <a:ext cx="10629900" cy="159370"/>
          </a:xfrm>
          <a:prstGeom prst="rect">
            <a:avLst/>
          </a:prstGeom>
          <a:solidFill>
            <a:srgbClr val="E9EDEF"/>
          </a:solidFill>
          <a:ln w="0">
            <a:noFill/>
          </a:ln>
        </p:spPr>
      </p:sp>
      <p:graphicFrame>
        <p:nvGraphicFramePr>
          <p:cNvPr id="28" name="Chart"/>
          <p:cNvGraphicFramePr/>
          <p:nvPr/>
        </p:nvGraphicFramePr>
        <p:xfrm>
          <a:off x="381000" y="1095375"/>
          <a:ext cx="11811000" cy="4143375"/>
        </p:xfrm>
        <a:graphic>
          <a:graphicData uri="http://schemas.openxmlformats.org/drawingml/2006/chart">
            <c:chart xmlns:c="http://schemas.openxmlformats.org/drawingml/2006/chart" xmlns:r="http://schemas.openxmlformats.org/officeDocument/2006/relationships" r:id="rId1"/>
          </a:graphicData>
        </a:graphic>
      </p:graphicFrame>
      <p:sp>
        <p:nvSpPr>
          <p:cNvPr id="12" name="矩形 11"/>
          <p:cNvSpPr>
            <a:spLocks noGrp="1"/>
          </p:cNvSpPr>
          <p:nvPr/>
        </p:nvSpPr>
        <p:spPr>
          <a:xfrm>
            <a:off x="12134850" y="3810000"/>
            <a:ext cx="1381125" cy="285750"/>
          </a:xfrm>
          <a:prstGeom prst="rect">
            <a:avLst/>
          </a:prstGeom>
          <a:noFill/>
          <a:ln w="0">
            <a:noFill/>
          </a:ln>
        </p:spPr>
        <p:txBody>
          <a:bodyPr wrap="none" lIns="0" tIns="0" rIns="0" bIns="0" anchor="ctr">
            <a:noAutofit/>
          </a:bodyPr>
          <a:lstStyle/>
          <a:p>
            <a:pPr algn="l">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Observed in</a:t>
            </a:r>
            <a:endParaRPr sz="1350" b="0">
              <a:solidFill>
                <a:srgbClr val="6A737B"/>
              </a:solidFill>
              <a:latin typeface="Arial" panose="020B0604020202020204"/>
              <a:ea typeface="Arial" panose="020B0604020202020204"/>
              <a:cs typeface="Arial" panose="020B0604020202020204"/>
            </a:endParaRPr>
          </a:p>
        </p:txBody>
      </p:sp>
      <p:sp>
        <p:nvSpPr>
          <p:cNvPr id="13" name="矩形 12"/>
          <p:cNvSpPr>
            <a:spLocks noGrp="1"/>
          </p:cNvSpPr>
          <p:nvPr/>
        </p:nvSpPr>
        <p:spPr>
          <a:xfrm>
            <a:off x="12134850" y="4086225"/>
            <a:ext cx="1381125" cy="285750"/>
          </a:xfrm>
          <a:prstGeom prst="rect">
            <a:avLst/>
          </a:prstGeom>
          <a:noFill/>
          <a:ln w="0">
            <a:noFill/>
          </a:ln>
        </p:spPr>
        <p:txBody>
          <a:bodyPr wrap="none" lIns="0" tIns="0" rIns="0" bIns="0" anchor="ctr">
            <a:noAutofit/>
          </a:bodyPr>
          <a:lstStyle/>
          <a:p>
            <a:pPr algn="l">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research</a:t>
            </a:r>
            <a:endParaRPr sz="1350" b="0">
              <a:solidFill>
                <a:srgbClr val="6A737B"/>
              </a:solidFill>
              <a:latin typeface="Arial" panose="020B0604020202020204"/>
              <a:ea typeface="Arial" panose="020B0604020202020204"/>
              <a:cs typeface="Arial" panose="020B0604020202020204"/>
            </a:endParaRPr>
          </a:p>
        </p:txBody>
      </p:sp>
      <p:sp>
        <p:nvSpPr>
          <p:cNvPr id="14" name="矩形 13"/>
          <p:cNvSpPr>
            <a:spLocks noGrp="1"/>
          </p:cNvSpPr>
          <p:nvPr/>
        </p:nvSpPr>
        <p:spPr>
          <a:xfrm>
            <a:off x="12134850" y="4505325"/>
            <a:ext cx="1381125" cy="304800"/>
          </a:xfrm>
          <a:prstGeom prst="rect">
            <a:avLst/>
          </a:prstGeom>
          <a:noFill/>
          <a:ln w="0">
            <a:noFill/>
          </a:ln>
        </p:spPr>
        <p:txBody>
          <a:bodyPr wrap="none" lIns="0" tIns="0" rIns="0" bIns="0" anchor="ctr">
            <a:noAutofit/>
          </a:bodyPr>
          <a:lstStyle/>
          <a:p>
            <a:pPr algn="l">
              <a:defRPr sz="1500" b="1">
                <a:solidFill>
                  <a:srgbClr val="6A737B"/>
                </a:solidFill>
                <a:latin typeface="Arial" panose="020B0604020202020204"/>
                <a:ea typeface="Arial" panose="020B0604020202020204"/>
                <a:cs typeface="Arial" panose="020B0604020202020204"/>
              </a:defRPr>
            </a:pPr>
            <a:r>
              <a:rPr sz="1500" b="1">
                <a:solidFill>
                  <a:srgbClr val="6A737B"/>
                </a:solidFill>
                <a:latin typeface="Arial" panose="020B0604020202020204"/>
                <a:ea typeface="Arial" panose="020B0604020202020204"/>
                <a:cs typeface="Arial" panose="020B0604020202020204"/>
              </a:rPr>
              <a:t>5.5–9.2%</a:t>
            </a:r>
            <a:endParaRPr sz="1500" b="1">
              <a:solidFill>
                <a:srgbClr val="6A737B"/>
              </a:solidFill>
              <a:latin typeface="Arial" panose="020B0604020202020204"/>
              <a:ea typeface="Arial" panose="020B0604020202020204"/>
              <a:cs typeface="Arial" panose="020B0604020202020204"/>
            </a:endParaRPr>
          </a:p>
        </p:txBody>
      </p:sp>
      <p:sp>
        <p:nvSpPr>
          <p:cNvPr id="15" name="直接连接符 14"/>
          <p:cNvSpPr>
            <a:spLocks noGrp="1"/>
          </p:cNvSpPr>
          <p:nvPr/>
        </p:nvSpPr>
        <p:spPr>
          <a:xfrm>
            <a:off x="12001500" y="4482664"/>
            <a:ext cx="166878" cy="953"/>
          </a:xfrm>
          <a:prstGeom prst="line">
            <a:avLst/>
          </a:prstGeom>
          <a:noFill/>
          <a:ln w="9525">
            <a:solidFill>
              <a:srgbClr val="6A737B"/>
            </a:solidFill>
          </a:ln>
        </p:spPr>
      </p:sp>
      <p:sp>
        <p:nvSpPr>
          <p:cNvPr id="16" name="矩形 15"/>
          <p:cNvSpPr>
            <a:spLocks noGrp="1"/>
          </p:cNvSpPr>
          <p:nvPr/>
        </p:nvSpPr>
        <p:spPr>
          <a:xfrm>
            <a:off x="838200" y="5438775"/>
            <a:ext cx="12192000" cy="323850"/>
          </a:xfrm>
          <a:prstGeom prst="rect">
            <a:avLst/>
          </a:prstGeom>
          <a:noFill/>
          <a:ln w="0">
            <a:noFill/>
          </a:ln>
        </p:spPr>
        <p:txBody>
          <a:bodyPr wrap="none" lIns="0" tIns="0" rIns="0" bIns="0" anchor="ctr">
            <a:noAutofit/>
          </a:bodyPr>
          <a:lstStyle/>
          <a:p>
            <a:pPr algn="l">
              <a:defRPr sz="1500" b="0">
                <a:solidFill>
                  <a:srgbClr val="6A737B"/>
                </a:solidFill>
                <a:latin typeface="Arial" panose="020B0604020202020204"/>
                <a:ea typeface="Arial" panose="020B0604020202020204"/>
                <a:cs typeface="Arial" panose="020B0604020202020204"/>
              </a:defRPr>
            </a:pPr>
            <a:r>
              <a:rPr sz="1500" b="0">
                <a:solidFill>
                  <a:srgbClr val="6A737B"/>
                </a:solidFill>
                <a:latin typeface="Arial" panose="020B0604020202020204"/>
                <a:ea typeface="Arial" panose="020B0604020202020204"/>
                <a:cs typeface="Arial" panose="020B0604020202020204"/>
              </a:rPr>
              <a:t>Band: pooled range of 180 research observations. Reference outcomes were withheld.</a:t>
            </a:r>
            <a:endParaRPr sz="1500" b="0">
              <a:solidFill>
                <a:srgbClr val="6A737B"/>
              </a:solidFill>
              <a:latin typeface="Arial" panose="020B0604020202020204"/>
              <a:ea typeface="Arial" panose="020B0604020202020204"/>
              <a:cs typeface="Arial" panose="020B0604020202020204"/>
            </a:endParaRPr>
          </a:p>
        </p:txBody>
      </p:sp>
      <p:sp>
        <p:nvSpPr>
          <p:cNvPr id="17" name="矩形 16"/>
          <p:cNvSpPr>
            <a:spLocks noGrp="1"/>
          </p:cNvSpPr>
          <p:nvPr/>
        </p:nvSpPr>
        <p:spPr>
          <a:xfrm>
            <a:off x="838200" y="5781675"/>
            <a:ext cx="12192000" cy="285750"/>
          </a:xfrm>
          <a:prstGeom prst="rect">
            <a:avLst/>
          </a:prstGeom>
          <a:noFill/>
          <a:ln w="0">
            <a:noFill/>
          </a:ln>
        </p:spPr>
        <p:txBody>
          <a:bodyPr wrap="none" lIns="0" tIns="0" rIns="0" bIns="0" anchor="ctr">
            <a:noAutofit/>
          </a:bodyPr>
          <a:lstStyle/>
          <a:p>
            <a:pPr algn="l">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Original 80% prediction intervals: Supplementary Table F1. Regime statistics: Table 1.</a:t>
            </a:r>
            <a:endParaRPr sz="1350" b="0">
              <a:solidFill>
                <a:srgbClr val="6A737B"/>
              </a:solidFill>
              <a:latin typeface="Arial" panose="020B0604020202020204"/>
              <a:ea typeface="Arial" panose="020B0604020202020204"/>
              <a:cs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4" name="矩形 33"/>
          <p:cNvSpPr>
            <a:spLocks noGrp="1"/>
          </p:cNvSpPr>
          <p:nvPr/>
        </p:nvSpPr>
        <p:spPr>
          <a:xfrm>
            <a:off x="238125" y="142875"/>
            <a:ext cx="323850" cy="342900"/>
          </a:xfrm>
          <a:prstGeom prst="rect">
            <a:avLst/>
          </a:prstGeom>
          <a:noFill/>
          <a:ln w="0">
            <a:noFill/>
          </a:ln>
        </p:spPr>
        <p:txBody>
          <a:bodyPr wrap="none" lIns="0" tIns="0" rIns="0" bIns="0" anchor="ctr">
            <a:noAutofit/>
          </a:bodyPr>
          <a:lstStyle/>
          <a:p>
            <a:pPr algn="l">
              <a:defRPr sz="2025" b="1">
                <a:solidFill>
                  <a:srgbClr val="24292D"/>
                </a:solidFill>
                <a:latin typeface="Arial" panose="020B0604020202020204"/>
                <a:ea typeface="Arial" panose="020B0604020202020204"/>
                <a:cs typeface="Arial" panose="020B0604020202020204"/>
              </a:defRPr>
            </a:pPr>
            <a:r>
              <a:rPr sz="2025" b="1">
                <a:solidFill>
                  <a:srgbClr val="24292D"/>
                </a:solidFill>
                <a:latin typeface="Arial" panose="020B0604020202020204"/>
                <a:ea typeface="Arial" panose="020B0604020202020204"/>
                <a:cs typeface="Arial" panose="020B0604020202020204"/>
              </a:rPr>
              <a:t>a</a:t>
            </a:r>
            <a:endParaRPr sz="2025" b="1">
              <a:solidFill>
                <a:srgbClr val="24292D"/>
              </a:solidFill>
              <a:latin typeface="Arial" panose="020B0604020202020204"/>
              <a:ea typeface="Arial" panose="020B0604020202020204"/>
              <a:cs typeface="Arial" panose="020B0604020202020204"/>
            </a:endParaRPr>
          </a:p>
        </p:txBody>
      </p:sp>
      <p:sp>
        <p:nvSpPr>
          <p:cNvPr id="2" name="矩形 1"/>
          <p:cNvSpPr>
            <a:spLocks noGrp="1"/>
          </p:cNvSpPr>
          <p:nvPr/>
        </p:nvSpPr>
        <p:spPr>
          <a:xfrm>
            <a:off x="619125" y="142875"/>
            <a:ext cx="4953000" cy="342900"/>
          </a:xfrm>
          <a:prstGeom prst="rect">
            <a:avLst/>
          </a:prstGeom>
          <a:noFill/>
          <a:ln w="0">
            <a:noFill/>
          </a:ln>
        </p:spPr>
        <p:txBody>
          <a:bodyPr wrap="none" lIns="0" tIns="0" rIns="0" bIns="0" anchor="ctr">
            <a:noAutofit/>
          </a:bodyPr>
          <a:lstStyle/>
          <a:p>
            <a:pPr algn="l">
              <a:defRPr sz="1500" b="0">
                <a:solidFill>
                  <a:srgbClr val="24292D"/>
                </a:solidFill>
                <a:latin typeface="Arial" panose="020B0604020202020204"/>
                <a:ea typeface="Arial" panose="020B0604020202020204"/>
                <a:cs typeface="Arial" panose="020B0604020202020204"/>
              </a:defRPr>
            </a:pPr>
            <a:r>
              <a:rPr sz="1500" b="0">
                <a:solidFill>
                  <a:srgbClr val="24292D"/>
                </a:solidFill>
                <a:latin typeface="Arial" panose="020B0604020202020204"/>
                <a:ea typeface="Arial" panose="020B0604020202020204"/>
                <a:cs typeface="Arial" panose="020B0604020202020204"/>
              </a:rPr>
              <a:t>Measured purity stays high; forecasts depart from it</a:t>
            </a:r>
            <a:endParaRPr sz="1500" b="0">
              <a:solidFill>
                <a:srgbClr val="24292D"/>
              </a:solidFill>
              <a:latin typeface="Arial" panose="020B0604020202020204"/>
              <a:ea typeface="Arial" panose="020B0604020202020204"/>
              <a:cs typeface="Arial" panose="020B0604020202020204"/>
            </a:endParaRPr>
          </a:p>
        </p:txBody>
      </p:sp>
      <p:graphicFrame>
        <p:nvGraphicFramePr>
          <p:cNvPr id="36" name="Chart"/>
          <p:cNvGraphicFramePr/>
          <p:nvPr/>
        </p:nvGraphicFramePr>
        <p:xfrm>
          <a:off x="666750" y="752475"/>
          <a:ext cx="12382500" cy="3714750"/>
        </p:xfrm>
        <a:graphic>
          <a:graphicData uri="http://schemas.openxmlformats.org/drawingml/2006/chart">
            <c:chart xmlns:c="http://schemas.openxmlformats.org/drawingml/2006/chart" xmlns:r="http://schemas.openxmlformats.org/officeDocument/2006/relationships" r:id="rId1"/>
          </a:graphicData>
        </a:graphic>
      </p:graphicFrame>
      <p:sp>
        <p:nvSpPr>
          <p:cNvPr id="4" name="矩形 3"/>
          <p:cNvSpPr>
            <a:spLocks noGrp="1"/>
          </p:cNvSpPr>
          <p:nvPr/>
        </p:nvSpPr>
        <p:spPr>
          <a:xfrm>
            <a:off x="1797844" y="466725"/>
            <a:ext cx="2381250" cy="381000"/>
          </a:xfrm>
          <a:prstGeom prst="rect">
            <a:avLst/>
          </a:prstGeom>
          <a:noFill/>
          <a:ln w="0">
            <a:noFill/>
          </a:ln>
        </p:spPr>
        <p:txBody>
          <a:bodyPr wrap="none" lIns="0" tIns="0" rIns="0" bIns="0" anchor="ctr">
            <a:noAutofit/>
          </a:bodyPr>
          <a:lstStyle/>
          <a:p>
            <a:pPr algn="ctr">
              <a:defRPr sz="2100" b="1">
                <a:solidFill>
                  <a:srgbClr val="6A737B"/>
                </a:solidFill>
                <a:latin typeface="Arial" panose="020B0604020202020204"/>
                <a:ea typeface="Arial" panose="020B0604020202020204"/>
                <a:cs typeface="Arial" panose="020B0604020202020204"/>
              </a:defRPr>
            </a:pPr>
            <a:r>
              <a:rPr sz="2100" b="1">
                <a:solidFill>
                  <a:srgbClr val="6A737B"/>
                </a:solidFill>
                <a:latin typeface="Arial" panose="020B0604020202020204"/>
                <a:ea typeface="Arial" panose="020B0604020202020204"/>
                <a:cs typeface="Arial" panose="020B0604020202020204"/>
              </a:rPr>
              <a:t>98.5%</a:t>
            </a:r>
            <a:endParaRPr sz="2100" b="1">
              <a:solidFill>
                <a:srgbClr val="6A737B"/>
              </a:solidFill>
              <a:latin typeface="Arial" panose="020B0604020202020204"/>
              <a:ea typeface="Arial" panose="020B0604020202020204"/>
              <a:cs typeface="Arial" panose="020B0604020202020204"/>
            </a:endParaRPr>
          </a:p>
        </p:txBody>
      </p:sp>
      <p:sp>
        <p:nvSpPr>
          <p:cNvPr id="5" name="矩形 4"/>
          <p:cNvSpPr>
            <a:spLocks noGrp="1"/>
          </p:cNvSpPr>
          <p:nvPr/>
        </p:nvSpPr>
        <p:spPr>
          <a:xfrm>
            <a:off x="1588294" y="4495800"/>
            <a:ext cx="2800350" cy="323850"/>
          </a:xfrm>
          <a:prstGeom prst="rect">
            <a:avLst/>
          </a:prstGeom>
          <a:noFill/>
          <a:ln w="0">
            <a:noFill/>
          </a:ln>
        </p:spPr>
        <p:txBody>
          <a:bodyPr wrap="none" lIns="0" tIns="0" rIns="0" bIns="0" anchor="ctr">
            <a:noAutofit/>
          </a:bodyPr>
          <a:lstStyle/>
          <a:p>
            <a:pPr algn="ctr">
              <a:defRPr sz="1500" b="1">
                <a:solidFill>
                  <a:srgbClr val="24292D"/>
                </a:solidFill>
                <a:latin typeface="Arial" panose="020B0604020202020204"/>
                <a:ea typeface="Arial" panose="020B0604020202020204"/>
                <a:cs typeface="Arial" panose="020B0604020202020204"/>
              </a:defRPr>
            </a:pPr>
            <a:r>
              <a:rPr sz="1500" b="1">
                <a:solidFill>
                  <a:srgbClr val="24292D"/>
                </a:solidFill>
                <a:latin typeface="Arial" panose="020B0604020202020204"/>
                <a:ea typeface="Arial" panose="020B0604020202020204"/>
                <a:cs typeface="Arial" panose="020B0604020202020204"/>
              </a:rPr>
              <a:t>Measured in research</a:t>
            </a:r>
            <a:endParaRPr sz="1500" b="1">
              <a:solidFill>
                <a:srgbClr val="24292D"/>
              </a:solidFill>
              <a:latin typeface="Arial" panose="020B0604020202020204"/>
              <a:ea typeface="Arial" panose="020B0604020202020204"/>
              <a:cs typeface="Arial" panose="020B0604020202020204"/>
            </a:endParaRPr>
          </a:p>
        </p:txBody>
      </p:sp>
      <p:sp>
        <p:nvSpPr>
          <p:cNvPr id="6" name="矩形 5"/>
          <p:cNvSpPr>
            <a:spLocks noGrp="1"/>
          </p:cNvSpPr>
          <p:nvPr/>
        </p:nvSpPr>
        <p:spPr>
          <a:xfrm>
            <a:off x="1588294" y="4829175"/>
            <a:ext cx="2800350" cy="285750"/>
          </a:xfrm>
          <a:prstGeom prst="rect">
            <a:avLst/>
          </a:prstGeom>
          <a:noFill/>
          <a:ln w="0">
            <a:noFill/>
          </a:ln>
        </p:spPr>
        <p:txBody>
          <a:bodyPr wrap="none" lIns="0" tIns="0" rIns="0" bIns="0" anchor="ctr">
            <a:noAutofit/>
          </a:bodyPr>
          <a:lstStyle/>
          <a:p>
            <a:pPr algn="ctr">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30 campaigns</a:t>
            </a:r>
            <a:endParaRPr sz="1350" b="0">
              <a:solidFill>
                <a:srgbClr val="6A737B"/>
              </a:solidFill>
              <a:latin typeface="Arial" panose="020B0604020202020204"/>
              <a:ea typeface="Arial" panose="020B0604020202020204"/>
              <a:cs typeface="Arial" panose="020B0604020202020204"/>
            </a:endParaRPr>
          </a:p>
        </p:txBody>
      </p:sp>
      <p:sp>
        <p:nvSpPr>
          <p:cNvPr id="7" name="矩形 6"/>
          <p:cNvSpPr>
            <a:spLocks noGrp="1"/>
          </p:cNvSpPr>
          <p:nvPr/>
        </p:nvSpPr>
        <p:spPr>
          <a:xfrm>
            <a:off x="4583906" y="466725"/>
            <a:ext cx="2381250" cy="381000"/>
          </a:xfrm>
          <a:prstGeom prst="rect">
            <a:avLst/>
          </a:prstGeom>
          <a:noFill/>
          <a:ln w="0">
            <a:noFill/>
          </a:ln>
        </p:spPr>
        <p:txBody>
          <a:bodyPr wrap="none" lIns="0" tIns="0" rIns="0" bIns="0" anchor="ctr">
            <a:noAutofit/>
          </a:bodyPr>
          <a:lstStyle/>
          <a:p>
            <a:pPr algn="ctr">
              <a:defRPr sz="2100" b="1">
                <a:solidFill>
                  <a:srgbClr val="24292D"/>
                </a:solidFill>
                <a:latin typeface="Arial" panose="020B0604020202020204"/>
                <a:ea typeface="Arial" panose="020B0604020202020204"/>
                <a:cs typeface="Arial" panose="020B0604020202020204"/>
              </a:defRPr>
            </a:pPr>
            <a:r>
              <a:rPr sz="2100" b="1">
                <a:solidFill>
                  <a:srgbClr val="24292D"/>
                </a:solidFill>
                <a:latin typeface="Arial" panose="020B0604020202020204"/>
                <a:ea typeface="Arial" panose="020B0604020202020204"/>
                <a:cs typeface="Arial" panose="020B0604020202020204"/>
              </a:rPr>
              <a:t>98.5%</a:t>
            </a:r>
            <a:endParaRPr sz="2100" b="1">
              <a:solidFill>
                <a:srgbClr val="24292D"/>
              </a:solidFill>
              <a:latin typeface="Arial" panose="020B0604020202020204"/>
              <a:ea typeface="Arial" panose="020B0604020202020204"/>
              <a:cs typeface="Arial" panose="020B0604020202020204"/>
            </a:endParaRPr>
          </a:p>
        </p:txBody>
      </p:sp>
      <p:sp>
        <p:nvSpPr>
          <p:cNvPr id="8" name="矩形 7"/>
          <p:cNvSpPr>
            <a:spLocks noGrp="1"/>
          </p:cNvSpPr>
          <p:nvPr/>
        </p:nvSpPr>
        <p:spPr>
          <a:xfrm>
            <a:off x="4374356" y="4495800"/>
            <a:ext cx="2800350" cy="323850"/>
          </a:xfrm>
          <a:prstGeom prst="rect">
            <a:avLst/>
          </a:prstGeom>
          <a:noFill/>
          <a:ln w="0">
            <a:noFill/>
          </a:ln>
        </p:spPr>
        <p:txBody>
          <a:bodyPr wrap="none" lIns="0" tIns="0" rIns="0" bIns="0" anchor="ctr">
            <a:noAutofit/>
          </a:bodyPr>
          <a:lstStyle/>
          <a:p>
            <a:pPr algn="ctr">
              <a:defRPr sz="1500" b="1">
                <a:solidFill>
                  <a:srgbClr val="24292D"/>
                </a:solidFill>
                <a:latin typeface="Arial" panose="020B0604020202020204"/>
                <a:ea typeface="Arial" panose="020B0604020202020204"/>
                <a:cs typeface="Arial" panose="020B0604020202020204"/>
              </a:defRPr>
            </a:pPr>
            <a:r>
              <a:rPr sz="1500" b="1">
                <a:solidFill>
                  <a:srgbClr val="24292D"/>
                </a:solidFill>
                <a:latin typeface="Arial" panose="020B0604020202020204"/>
                <a:ea typeface="Arial" panose="020B0604020202020204"/>
                <a:cs typeface="Arial" panose="020B0604020202020204"/>
              </a:rPr>
              <a:t>Withheld outcomes</a:t>
            </a:r>
            <a:endParaRPr sz="1500" b="1">
              <a:solidFill>
                <a:srgbClr val="24292D"/>
              </a:solidFill>
              <a:latin typeface="Arial" panose="020B0604020202020204"/>
              <a:ea typeface="Arial" panose="020B0604020202020204"/>
              <a:cs typeface="Arial" panose="020B0604020202020204"/>
            </a:endParaRPr>
          </a:p>
        </p:txBody>
      </p:sp>
      <p:sp>
        <p:nvSpPr>
          <p:cNvPr id="9" name="矩形 8"/>
          <p:cNvSpPr>
            <a:spLocks noGrp="1"/>
          </p:cNvSpPr>
          <p:nvPr/>
        </p:nvSpPr>
        <p:spPr>
          <a:xfrm>
            <a:off x="4374356" y="4829175"/>
            <a:ext cx="2800350" cy="285750"/>
          </a:xfrm>
          <a:prstGeom prst="rect">
            <a:avLst/>
          </a:prstGeom>
          <a:noFill/>
          <a:ln w="0">
            <a:noFill/>
          </a:ln>
        </p:spPr>
        <p:txBody>
          <a:bodyPr wrap="none" lIns="0" tIns="0" rIns="0" bIns="0" anchor="ctr">
            <a:noAutofit/>
          </a:bodyPr>
          <a:lstStyle/>
          <a:p>
            <a:pPr algn="ctr">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30 campaigns</a:t>
            </a:r>
            <a:endParaRPr sz="1350" b="0">
              <a:solidFill>
                <a:srgbClr val="6A737B"/>
              </a:solidFill>
              <a:latin typeface="Arial" panose="020B0604020202020204"/>
              <a:ea typeface="Arial" panose="020B0604020202020204"/>
              <a:cs typeface="Arial" panose="020B0604020202020204"/>
            </a:endParaRPr>
          </a:p>
        </p:txBody>
      </p:sp>
      <p:sp>
        <p:nvSpPr>
          <p:cNvPr id="10" name="矩形 9"/>
          <p:cNvSpPr>
            <a:spLocks noGrp="1"/>
          </p:cNvSpPr>
          <p:nvPr/>
        </p:nvSpPr>
        <p:spPr>
          <a:xfrm>
            <a:off x="7369969" y="466725"/>
            <a:ext cx="2381250" cy="381000"/>
          </a:xfrm>
          <a:prstGeom prst="rect">
            <a:avLst/>
          </a:prstGeom>
          <a:noFill/>
          <a:ln w="0">
            <a:noFill/>
          </a:ln>
        </p:spPr>
        <p:txBody>
          <a:bodyPr wrap="none" lIns="0" tIns="0" rIns="0" bIns="0" anchor="ctr">
            <a:noAutofit/>
          </a:bodyPr>
          <a:lstStyle/>
          <a:p>
            <a:pPr algn="ctr">
              <a:defRPr sz="2100" b="1">
                <a:solidFill>
                  <a:srgbClr val="416B92"/>
                </a:solidFill>
                <a:latin typeface="Arial" panose="020B0604020202020204"/>
                <a:ea typeface="Arial" panose="020B0604020202020204"/>
                <a:cs typeface="Arial" panose="020B0604020202020204"/>
              </a:defRPr>
            </a:pPr>
            <a:r>
              <a:rPr sz="2100" b="1">
                <a:solidFill>
                  <a:srgbClr val="416B92"/>
                </a:solidFill>
                <a:latin typeface="Arial" panose="020B0604020202020204"/>
                <a:ea typeface="Arial" panose="020B0604020202020204"/>
                <a:cs typeface="Arial" panose="020B0604020202020204"/>
              </a:rPr>
              <a:t>93.5%</a:t>
            </a:r>
            <a:endParaRPr sz="2100" b="1">
              <a:solidFill>
                <a:srgbClr val="416B92"/>
              </a:solidFill>
              <a:latin typeface="Arial" panose="020B0604020202020204"/>
              <a:ea typeface="Arial" panose="020B0604020202020204"/>
              <a:cs typeface="Arial" panose="020B0604020202020204"/>
            </a:endParaRPr>
          </a:p>
        </p:txBody>
      </p:sp>
      <p:sp>
        <p:nvSpPr>
          <p:cNvPr id="11" name="矩形 10"/>
          <p:cNvSpPr>
            <a:spLocks noGrp="1"/>
          </p:cNvSpPr>
          <p:nvPr/>
        </p:nvSpPr>
        <p:spPr>
          <a:xfrm>
            <a:off x="7160419" y="4495800"/>
            <a:ext cx="2800350" cy="323850"/>
          </a:xfrm>
          <a:prstGeom prst="rect">
            <a:avLst/>
          </a:prstGeom>
          <a:noFill/>
          <a:ln w="0">
            <a:noFill/>
          </a:ln>
        </p:spPr>
        <p:txBody>
          <a:bodyPr wrap="none" lIns="0" tIns="0" rIns="0" bIns="0" anchor="ctr">
            <a:noAutofit/>
          </a:bodyPr>
          <a:lstStyle/>
          <a:p>
            <a:pPr algn="ctr">
              <a:defRPr sz="1500" b="1">
                <a:solidFill>
                  <a:srgbClr val="24292D"/>
                </a:solidFill>
                <a:latin typeface="Arial" panose="020B0604020202020204"/>
                <a:ea typeface="Arial" panose="020B0604020202020204"/>
                <a:cs typeface="Arial" panose="020B0604020202020204"/>
              </a:defRPr>
            </a:pPr>
            <a:r>
              <a:rPr sz="1500" b="1">
                <a:solidFill>
                  <a:srgbClr val="24292D"/>
                </a:solidFill>
                <a:latin typeface="Arial" panose="020B0604020202020204"/>
                <a:ea typeface="Arial" panose="020B0604020202020204"/>
                <a:cs typeface="Arial" panose="020B0604020202020204"/>
              </a:rPr>
              <a:t>Agent forecast: 12 batches</a:t>
            </a:r>
            <a:endParaRPr sz="1500" b="1">
              <a:solidFill>
                <a:srgbClr val="24292D"/>
              </a:solidFill>
              <a:latin typeface="Arial" panose="020B0604020202020204"/>
              <a:ea typeface="Arial" panose="020B0604020202020204"/>
              <a:cs typeface="Arial" panose="020B0604020202020204"/>
            </a:endParaRPr>
          </a:p>
        </p:txBody>
      </p:sp>
      <p:sp>
        <p:nvSpPr>
          <p:cNvPr id="12" name="矩形 11"/>
          <p:cNvSpPr>
            <a:spLocks noGrp="1"/>
          </p:cNvSpPr>
          <p:nvPr/>
        </p:nvSpPr>
        <p:spPr>
          <a:xfrm>
            <a:off x="7160419" y="4829175"/>
            <a:ext cx="2800350" cy="285750"/>
          </a:xfrm>
          <a:prstGeom prst="rect">
            <a:avLst/>
          </a:prstGeom>
          <a:noFill/>
          <a:ln w="0">
            <a:noFill/>
          </a:ln>
        </p:spPr>
        <p:txBody>
          <a:bodyPr wrap="none" lIns="0" tIns="0" rIns="0" bIns="0" anchor="ctr">
            <a:noAutofit/>
          </a:bodyPr>
          <a:lstStyle/>
          <a:p>
            <a:pPr algn="ctr">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15 campaigns</a:t>
            </a:r>
            <a:endParaRPr sz="1350" b="0">
              <a:solidFill>
                <a:srgbClr val="6A737B"/>
              </a:solidFill>
              <a:latin typeface="Arial" panose="020B0604020202020204"/>
              <a:ea typeface="Arial" panose="020B0604020202020204"/>
              <a:cs typeface="Arial" panose="020B0604020202020204"/>
            </a:endParaRPr>
          </a:p>
        </p:txBody>
      </p:sp>
      <p:sp>
        <p:nvSpPr>
          <p:cNvPr id="13" name="矩形 12"/>
          <p:cNvSpPr>
            <a:spLocks noGrp="1"/>
          </p:cNvSpPr>
          <p:nvPr/>
        </p:nvSpPr>
        <p:spPr>
          <a:xfrm>
            <a:off x="10156031" y="466725"/>
            <a:ext cx="2381250" cy="381000"/>
          </a:xfrm>
          <a:prstGeom prst="rect">
            <a:avLst/>
          </a:prstGeom>
          <a:noFill/>
          <a:ln w="0">
            <a:noFill/>
          </a:ln>
        </p:spPr>
        <p:txBody>
          <a:bodyPr wrap="none" lIns="0" tIns="0" rIns="0" bIns="0" anchor="ctr">
            <a:noAutofit/>
          </a:bodyPr>
          <a:lstStyle/>
          <a:p>
            <a:pPr algn="ctr">
              <a:defRPr sz="2100" b="1">
                <a:solidFill>
                  <a:srgbClr val="277F8A"/>
                </a:solidFill>
                <a:latin typeface="Arial" panose="020B0604020202020204"/>
                <a:ea typeface="Arial" panose="020B0604020202020204"/>
                <a:cs typeface="Arial" panose="020B0604020202020204"/>
              </a:defRPr>
            </a:pPr>
            <a:r>
              <a:rPr sz="2100" b="1">
                <a:solidFill>
                  <a:srgbClr val="277F8A"/>
                </a:solidFill>
                <a:latin typeface="Arial" panose="020B0604020202020204"/>
                <a:ea typeface="Arial" panose="020B0604020202020204"/>
                <a:cs typeface="Arial" panose="020B0604020202020204"/>
              </a:rPr>
              <a:t>94.9%</a:t>
            </a:r>
            <a:endParaRPr sz="2100" b="1">
              <a:solidFill>
                <a:srgbClr val="277F8A"/>
              </a:solidFill>
              <a:latin typeface="Arial" panose="020B0604020202020204"/>
              <a:ea typeface="Arial" panose="020B0604020202020204"/>
              <a:cs typeface="Arial" panose="020B0604020202020204"/>
            </a:endParaRPr>
          </a:p>
        </p:txBody>
      </p:sp>
      <p:sp>
        <p:nvSpPr>
          <p:cNvPr id="14" name="矩形 13"/>
          <p:cNvSpPr>
            <a:spLocks noGrp="1"/>
          </p:cNvSpPr>
          <p:nvPr/>
        </p:nvSpPr>
        <p:spPr>
          <a:xfrm>
            <a:off x="9946481" y="4495800"/>
            <a:ext cx="2800350" cy="323850"/>
          </a:xfrm>
          <a:prstGeom prst="rect">
            <a:avLst/>
          </a:prstGeom>
          <a:noFill/>
          <a:ln w="0">
            <a:noFill/>
          </a:ln>
        </p:spPr>
        <p:txBody>
          <a:bodyPr wrap="none" lIns="0" tIns="0" rIns="0" bIns="0" anchor="ctr">
            <a:noAutofit/>
          </a:bodyPr>
          <a:lstStyle/>
          <a:p>
            <a:pPr algn="ctr">
              <a:defRPr sz="1500" b="1">
                <a:solidFill>
                  <a:srgbClr val="24292D"/>
                </a:solidFill>
                <a:latin typeface="Arial" panose="020B0604020202020204"/>
                <a:ea typeface="Arial" panose="020B0604020202020204"/>
                <a:cs typeface="Arial" panose="020B0604020202020204"/>
              </a:defRPr>
            </a:pPr>
            <a:r>
              <a:rPr sz="1500" b="1">
                <a:solidFill>
                  <a:srgbClr val="24292D"/>
                </a:solidFill>
                <a:latin typeface="Arial" panose="020B0604020202020204"/>
                <a:ea typeface="Arial" panose="020B0604020202020204"/>
                <a:cs typeface="Arial" panose="020B0604020202020204"/>
              </a:rPr>
              <a:t>Agent forecast: 24 batches</a:t>
            </a:r>
            <a:endParaRPr sz="1500" b="1">
              <a:solidFill>
                <a:srgbClr val="24292D"/>
              </a:solidFill>
              <a:latin typeface="Arial" panose="020B0604020202020204"/>
              <a:ea typeface="Arial" panose="020B0604020202020204"/>
              <a:cs typeface="Arial" panose="020B0604020202020204"/>
            </a:endParaRPr>
          </a:p>
        </p:txBody>
      </p:sp>
      <p:sp>
        <p:nvSpPr>
          <p:cNvPr id="15" name="矩形 14"/>
          <p:cNvSpPr>
            <a:spLocks noGrp="1"/>
          </p:cNvSpPr>
          <p:nvPr/>
        </p:nvSpPr>
        <p:spPr>
          <a:xfrm>
            <a:off x="9946481" y="4829175"/>
            <a:ext cx="2800350" cy="285750"/>
          </a:xfrm>
          <a:prstGeom prst="rect">
            <a:avLst/>
          </a:prstGeom>
          <a:noFill/>
          <a:ln w="0">
            <a:noFill/>
          </a:ln>
        </p:spPr>
        <p:txBody>
          <a:bodyPr wrap="none" lIns="0" tIns="0" rIns="0" bIns="0" anchor="ctr">
            <a:noAutofit/>
          </a:bodyPr>
          <a:lstStyle/>
          <a:p>
            <a:pPr algn="ctr">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15 campaigns</a:t>
            </a:r>
            <a:endParaRPr sz="1350" b="0">
              <a:solidFill>
                <a:srgbClr val="6A737B"/>
              </a:solidFill>
              <a:latin typeface="Arial" panose="020B0604020202020204"/>
              <a:ea typeface="Arial" panose="020B0604020202020204"/>
              <a:cs typeface="Arial" panose="020B0604020202020204"/>
            </a:endParaRPr>
          </a:p>
        </p:txBody>
      </p:sp>
      <p:sp>
        <p:nvSpPr>
          <p:cNvPr id="16" name="矩形 15"/>
          <p:cNvSpPr>
            <a:spLocks noGrp="1"/>
          </p:cNvSpPr>
          <p:nvPr/>
        </p:nvSpPr>
        <p:spPr>
          <a:xfrm>
            <a:off x="904875" y="5305425"/>
            <a:ext cx="12001500" cy="361950"/>
          </a:xfrm>
          <a:prstGeom prst="rect">
            <a:avLst/>
          </a:prstGeom>
          <a:noFill/>
          <a:ln w="0">
            <a:noFill/>
          </a:ln>
        </p:spPr>
        <p:txBody>
          <a:bodyPr wrap="none" lIns="0" tIns="0" rIns="0" bIns="0" anchor="ctr">
            <a:noAutofit/>
          </a:bodyPr>
          <a:lstStyle/>
          <a:p>
            <a:pPr algn="ctr">
              <a:defRPr sz="1725" b="1">
                <a:solidFill>
                  <a:srgbClr val="24292D"/>
                </a:solidFill>
                <a:latin typeface="Arial" panose="020B0604020202020204"/>
                <a:ea typeface="Arial" panose="020B0604020202020204"/>
                <a:cs typeface="Arial" panose="020B0604020202020204"/>
              </a:defRPr>
            </a:pPr>
            <a:r>
              <a:rPr sz="1725" b="1">
                <a:solidFill>
                  <a:srgbClr val="24292D"/>
                </a:solidFill>
                <a:latin typeface="Arial" panose="020B0604020202020204"/>
                <a:ea typeface="Arial" panose="020B0604020202020204"/>
                <a:cs typeface="Arial" panose="020B0604020202020204"/>
              </a:rPr>
              <a:t>335 of 360 individual purity forecasts fall below the withheld reference.</a:t>
            </a:r>
            <a:endParaRPr sz="1725" b="1">
              <a:solidFill>
                <a:srgbClr val="24292D"/>
              </a:solidFill>
              <a:latin typeface="Arial" panose="020B0604020202020204"/>
              <a:ea typeface="Arial" panose="020B0604020202020204"/>
              <a:cs typeface="Arial" panose="020B0604020202020204"/>
            </a:endParaRPr>
          </a:p>
        </p:txBody>
      </p:sp>
      <p:sp>
        <p:nvSpPr>
          <p:cNvPr id="17" name="直接连接符 16"/>
          <p:cNvSpPr>
            <a:spLocks noGrp="1"/>
          </p:cNvSpPr>
          <p:nvPr/>
        </p:nvSpPr>
        <p:spPr>
          <a:xfrm>
            <a:off x="238125" y="5915025"/>
            <a:ext cx="13239750" cy="953"/>
          </a:xfrm>
          <a:prstGeom prst="line">
            <a:avLst/>
          </a:prstGeom>
          <a:noFill/>
          <a:ln w="14288">
            <a:solidFill>
              <a:srgbClr val="D7DDE1"/>
            </a:solidFill>
          </a:ln>
        </p:spPr>
      </p:sp>
      <p:sp>
        <p:nvSpPr>
          <p:cNvPr id="18" name="矩形 17"/>
          <p:cNvSpPr>
            <a:spLocks noGrp="1"/>
          </p:cNvSpPr>
          <p:nvPr/>
        </p:nvSpPr>
        <p:spPr>
          <a:xfrm>
            <a:off x="238125" y="6086475"/>
            <a:ext cx="323850" cy="342900"/>
          </a:xfrm>
          <a:prstGeom prst="rect">
            <a:avLst/>
          </a:prstGeom>
          <a:noFill/>
          <a:ln w="0">
            <a:noFill/>
          </a:ln>
        </p:spPr>
        <p:txBody>
          <a:bodyPr wrap="none" lIns="0" tIns="0" rIns="0" bIns="0" anchor="ctr">
            <a:noAutofit/>
          </a:bodyPr>
          <a:lstStyle/>
          <a:p>
            <a:pPr algn="l">
              <a:defRPr sz="2025" b="1">
                <a:solidFill>
                  <a:srgbClr val="24292D"/>
                </a:solidFill>
                <a:latin typeface="Arial" panose="020B0604020202020204"/>
                <a:ea typeface="Arial" panose="020B0604020202020204"/>
                <a:cs typeface="Arial" panose="020B0604020202020204"/>
              </a:defRPr>
            </a:pPr>
            <a:r>
              <a:rPr sz="2025" b="1">
                <a:solidFill>
                  <a:srgbClr val="24292D"/>
                </a:solidFill>
                <a:latin typeface="Arial" panose="020B0604020202020204"/>
                <a:ea typeface="Arial" panose="020B0604020202020204"/>
                <a:cs typeface="Arial" panose="020B0604020202020204"/>
              </a:rPr>
              <a:t>b</a:t>
            </a:r>
            <a:endParaRPr sz="2025" b="1">
              <a:solidFill>
                <a:srgbClr val="24292D"/>
              </a:solidFill>
              <a:latin typeface="Arial" panose="020B0604020202020204"/>
              <a:ea typeface="Arial" panose="020B0604020202020204"/>
              <a:cs typeface="Arial" panose="020B0604020202020204"/>
            </a:endParaRPr>
          </a:p>
        </p:txBody>
      </p:sp>
      <p:sp>
        <p:nvSpPr>
          <p:cNvPr id="19" name="矩形 18"/>
          <p:cNvSpPr>
            <a:spLocks noGrp="1"/>
          </p:cNvSpPr>
          <p:nvPr/>
        </p:nvSpPr>
        <p:spPr>
          <a:xfrm>
            <a:off x="619125" y="6086475"/>
            <a:ext cx="2952750" cy="342900"/>
          </a:xfrm>
          <a:prstGeom prst="rect">
            <a:avLst/>
          </a:prstGeom>
          <a:noFill/>
          <a:ln w="0">
            <a:noFill/>
          </a:ln>
        </p:spPr>
        <p:txBody>
          <a:bodyPr wrap="none" lIns="0" tIns="0" rIns="0" bIns="0" anchor="ctr">
            <a:noAutofit/>
          </a:bodyPr>
          <a:lstStyle/>
          <a:p>
            <a:pPr algn="l">
              <a:defRPr sz="1500" b="0">
                <a:solidFill>
                  <a:srgbClr val="24292D"/>
                </a:solidFill>
                <a:latin typeface="Arial" panose="020B0604020202020204"/>
                <a:ea typeface="Arial" panose="020B0604020202020204"/>
                <a:cs typeface="Arial" panose="020B0604020202020204"/>
              </a:defRPr>
            </a:pPr>
            <a:r>
              <a:rPr sz="1500" b="0">
                <a:solidFill>
                  <a:srgbClr val="24292D"/>
                </a:solidFill>
                <a:latin typeface="Arial" panose="020B0604020202020204"/>
                <a:ea typeface="Arial" panose="020B0604020202020204"/>
                <a:cs typeface="Arial" panose="020B0604020202020204"/>
              </a:rPr>
              <a:t>Recovery prediction error</a:t>
            </a:r>
            <a:endParaRPr sz="1500" b="0">
              <a:solidFill>
                <a:srgbClr val="24292D"/>
              </a:solidFill>
              <a:latin typeface="Arial" panose="020B0604020202020204"/>
              <a:ea typeface="Arial" panose="020B0604020202020204"/>
              <a:cs typeface="Arial" panose="020B0604020202020204"/>
            </a:endParaRPr>
          </a:p>
        </p:txBody>
      </p:sp>
      <p:graphicFrame>
        <p:nvGraphicFramePr>
          <p:cNvPr id="53" name="Chart"/>
          <p:cNvGraphicFramePr/>
          <p:nvPr/>
        </p:nvGraphicFramePr>
        <p:xfrm>
          <a:off x="333375" y="7029450"/>
          <a:ext cx="6381750" cy="2333625"/>
        </p:xfrm>
        <a:graphic>
          <a:graphicData uri="http://schemas.openxmlformats.org/drawingml/2006/chart">
            <c:chart xmlns:c="http://schemas.openxmlformats.org/drawingml/2006/chart" xmlns:r="http://schemas.openxmlformats.org/officeDocument/2006/relationships" r:id="rId2"/>
          </a:graphicData>
        </a:graphic>
      </p:graphicFrame>
      <p:sp>
        <p:nvSpPr>
          <p:cNvPr id="21" name="矩形 20"/>
          <p:cNvSpPr>
            <a:spLocks noGrp="1"/>
          </p:cNvSpPr>
          <p:nvPr/>
        </p:nvSpPr>
        <p:spPr>
          <a:xfrm>
            <a:off x="523875" y="6534150"/>
            <a:ext cx="6191250" cy="361950"/>
          </a:xfrm>
          <a:prstGeom prst="rect">
            <a:avLst/>
          </a:prstGeom>
          <a:noFill/>
          <a:ln w="0">
            <a:noFill/>
          </a:ln>
        </p:spPr>
        <p:txBody>
          <a:bodyPr wrap="none" lIns="0" tIns="0" rIns="0" bIns="0" anchor="ctr">
            <a:noAutofit/>
          </a:bodyPr>
          <a:lstStyle/>
          <a:p>
            <a:pPr algn="ctr">
              <a:defRPr sz="1650" b="1">
                <a:solidFill>
                  <a:srgbClr val="277F8A"/>
                </a:solidFill>
                <a:latin typeface="Arial" panose="020B0604020202020204"/>
                <a:ea typeface="Arial" panose="020B0604020202020204"/>
                <a:cs typeface="Arial" panose="020B0604020202020204"/>
              </a:defRPr>
            </a:pPr>
            <a:r>
              <a:rPr sz="1650" b="1">
                <a:solidFill>
                  <a:srgbClr val="277F8A"/>
                </a:solidFill>
                <a:latin typeface="Arial" panose="020B0604020202020204"/>
                <a:ea typeface="Arial" panose="020B0604020202020204"/>
                <a:cs typeface="Arial" panose="020B0604020202020204"/>
              </a:rPr>
              <a:t>Agent more accurate in 26/30 campaigns</a:t>
            </a:r>
            <a:endParaRPr sz="1650" b="1">
              <a:solidFill>
                <a:srgbClr val="277F8A"/>
              </a:solidFill>
              <a:latin typeface="Arial" panose="020B0604020202020204"/>
              <a:ea typeface="Arial" panose="020B0604020202020204"/>
              <a:cs typeface="Arial" panose="020B0604020202020204"/>
            </a:endParaRPr>
          </a:p>
        </p:txBody>
      </p:sp>
      <p:sp>
        <p:nvSpPr>
          <p:cNvPr id="22" name="矩形 21"/>
          <p:cNvSpPr>
            <a:spLocks noGrp="1"/>
          </p:cNvSpPr>
          <p:nvPr/>
        </p:nvSpPr>
        <p:spPr>
          <a:xfrm>
            <a:off x="619125" y="9439275"/>
            <a:ext cx="5905500" cy="304800"/>
          </a:xfrm>
          <a:prstGeom prst="rect">
            <a:avLst/>
          </a:prstGeom>
          <a:noFill/>
          <a:ln w="0">
            <a:noFill/>
          </a:ln>
        </p:spPr>
        <p:txBody>
          <a:bodyPr wrap="none" lIns="0" tIns="0" rIns="0" bIns="0" anchor="ctr">
            <a:noAutofit/>
          </a:bodyPr>
          <a:lstStyle/>
          <a:p>
            <a:pPr algn="ctr">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Negative: agent better. Positive: observed mean better.</a:t>
            </a:r>
            <a:endParaRPr sz="1350" b="0">
              <a:solidFill>
                <a:srgbClr val="6A737B"/>
              </a:solidFill>
              <a:latin typeface="Arial" panose="020B0604020202020204"/>
              <a:ea typeface="Arial" panose="020B0604020202020204"/>
              <a:cs typeface="Arial" panose="020B0604020202020204"/>
            </a:endParaRPr>
          </a:p>
        </p:txBody>
      </p:sp>
      <p:sp>
        <p:nvSpPr>
          <p:cNvPr id="23" name="矩形 22"/>
          <p:cNvSpPr>
            <a:spLocks noGrp="1"/>
          </p:cNvSpPr>
          <p:nvPr/>
        </p:nvSpPr>
        <p:spPr>
          <a:xfrm>
            <a:off x="7096125" y="6086475"/>
            <a:ext cx="323850" cy="342900"/>
          </a:xfrm>
          <a:prstGeom prst="rect">
            <a:avLst/>
          </a:prstGeom>
          <a:noFill/>
          <a:ln w="0">
            <a:noFill/>
          </a:ln>
        </p:spPr>
        <p:txBody>
          <a:bodyPr wrap="none" lIns="0" tIns="0" rIns="0" bIns="0" anchor="ctr">
            <a:noAutofit/>
          </a:bodyPr>
          <a:lstStyle/>
          <a:p>
            <a:pPr algn="l">
              <a:defRPr sz="2025" b="1">
                <a:solidFill>
                  <a:srgbClr val="24292D"/>
                </a:solidFill>
                <a:latin typeface="Arial" panose="020B0604020202020204"/>
                <a:ea typeface="Arial" panose="020B0604020202020204"/>
                <a:cs typeface="Arial" panose="020B0604020202020204"/>
              </a:defRPr>
            </a:pPr>
            <a:r>
              <a:rPr sz="2025" b="1">
                <a:solidFill>
                  <a:srgbClr val="24292D"/>
                </a:solidFill>
                <a:latin typeface="Arial" panose="020B0604020202020204"/>
                <a:ea typeface="Arial" panose="020B0604020202020204"/>
                <a:cs typeface="Arial" panose="020B0604020202020204"/>
              </a:rPr>
              <a:t>c</a:t>
            </a:r>
            <a:endParaRPr sz="2025" b="1">
              <a:solidFill>
                <a:srgbClr val="24292D"/>
              </a:solidFill>
              <a:latin typeface="Arial" panose="020B0604020202020204"/>
              <a:ea typeface="Arial" panose="020B0604020202020204"/>
              <a:cs typeface="Arial" panose="020B0604020202020204"/>
            </a:endParaRPr>
          </a:p>
        </p:txBody>
      </p:sp>
      <p:sp>
        <p:nvSpPr>
          <p:cNvPr id="24" name="矩形 23"/>
          <p:cNvSpPr>
            <a:spLocks noGrp="1"/>
          </p:cNvSpPr>
          <p:nvPr/>
        </p:nvSpPr>
        <p:spPr>
          <a:xfrm>
            <a:off x="7477125" y="6086475"/>
            <a:ext cx="2731770" cy="342900"/>
          </a:xfrm>
          <a:prstGeom prst="rect">
            <a:avLst/>
          </a:prstGeom>
          <a:noFill/>
          <a:ln w="0">
            <a:noFill/>
          </a:ln>
        </p:spPr>
        <p:txBody>
          <a:bodyPr wrap="none" lIns="0" tIns="0" rIns="0" bIns="0" anchor="ctr">
            <a:noAutofit/>
          </a:bodyPr>
          <a:lstStyle/>
          <a:p>
            <a:pPr algn="l">
              <a:defRPr sz="1500" b="0">
                <a:solidFill>
                  <a:srgbClr val="24292D"/>
                </a:solidFill>
                <a:latin typeface="Arial" panose="020B0604020202020204"/>
                <a:ea typeface="Arial" panose="020B0604020202020204"/>
                <a:cs typeface="Arial" panose="020B0604020202020204"/>
              </a:defRPr>
            </a:pPr>
            <a:r>
              <a:rPr sz="1500" b="0">
                <a:solidFill>
                  <a:srgbClr val="24292D"/>
                </a:solidFill>
                <a:latin typeface="Arial" panose="020B0604020202020204"/>
                <a:ea typeface="Arial" panose="020B0604020202020204"/>
                <a:cs typeface="Arial" panose="020B0604020202020204"/>
              </a:rPr>
              <a:t>Purity prediction error</a:t>
            </a:r>
            <a:endParaRPr sz="1500" b="0">
              <a:solidFill>
                <a:srgbClr val="24292D"/>
              </a:solidFill>
              <a:latin typeface="Arial" panose="020B0604020202020204"/>
              <a:ea typeface="Arial" panose="020B0604020202020204"/>
              <a:cs typeface="Arial" panose="020B0604020202020204"/>
            </a:endParaRPr>
          </a:p>
        </p:txBody>
      </p:sp>
      <p:graphicFrame>
        <p:nvGraphicFramePr>
          <p:cNvPr id="58" name="Chart"/>
          <p:cNvGraphicFramePr/>
          <p:nvPr/>
        </p:nvGraphicFramePr>
        <p:xfrm>
          <a:off x="7191375" y="7029450"/>
          <a:ext cx="6381750" cy="2333625"/>
        </p:xfrm>
        <a:graphic>
          <a:graphicData uri="http://schemas.openxmlformats.org/drawingml/2006/chart">
            <c:chart xmlns:c="http://schemas.openxmlformats.org/drawingml/2006/chart" xmlns:r="http://schemas.openxmlformats.org/officeDocument/2006/relationships" r:id="rId3"/>
          </a:graphicData>
        </a:graphic>
      </p:graphicFrame>
      <p:sp>
        <p:nvSpPr>
          <p:cNvPr id="26" name="矩形 25"/>
          <p:cNvSpPr>
            <a:spLocks noGrp="1"/>
          </p:cNvSpPr>
          <p:nvPr/>
        </p:nvSpPr>
        <p:spPr>
          <a:xfrm>
            <a:off x="7381875" y="6534150"/>
            <a:ext cx="6143625" cy="361950"/>
          </a:xfrm>
          <a:prstGeom prst="rect">
            <a:avLst/>
          </a:prstGeom>
          <a:noFill/>
          <a:ln w="0">
            <a:noFill/>
          </a:ln>
        </p:spPr>
        <p:txBody>
          <a:bodyPr wrap="none" lIns="0" tIns="0" rIns="0" bIns="0" anchor="ctr">
            <a:noAutofit/>
          </a:bodyPr>
          <a:lstStyle/>
          <a:p>
            <a:pPr algn="ctr">
              <a:defRPr sz="1650" b="1">
                <a:solidFill>
                  <a:srgbClr val="A35F42"/>
                </a:solidFill>
                <a:latin typeface="Arial" panose="020B0604020202020204"/>
                <a:ea typeface="Arial" panose="020B0604020202020204"/>
                <a:cs typeface="Arial" panose="020B0604020202020204"/>
              </a:defRPr>
            </a:pPr>
            <a:r>
              <a:rPr sz="1650" b="1">
                <a:solidFill>
                  <a:srgbClr val="A35F42"/>
                </a:solidFill>
                <a:latin typeface="Arial" panose="020B0604020202020204"/>
                <a:ea typeface="Arial" panose="020B0604020202020204"/>
                <a:cs typeface="Arial" panose="020B0604020202020204"/>
              </a:rPr>
              <a:t>Observed mean more accurate in 30/30 campaigns</a:t>
            </a:r>
            <a:endParaRPr sz="1650" b="1">
              <a:solidFill>
                <a:srgbClr val="A35F42"/>
              </a:solidFill>
              <a:latin typeface="Arial" panose="020B0604020202020204"/>
              <a:ea typeface="Arial" panose="020B0604020202020204"/>
              <a:cs typeface="Arial" panose="020B0604020202020204"/>
            </a:endParaRPr>
          </a:p>
        </p:txBody>
      </p:sp>
      <p:sp>
        <p:nvSpPr>
          <p:cNvPr id="27" name="矩形 26"/>
          <p:cNvSpPr>
            <a:spLocks noGrp="1"/>
          </p:cNvSpPr>
          <p:nvPr/>
        </p:nvSpPr>
        <p:spPr>
          <a:xfrm>
            <a:off x="7477125" y="9439275"/>
            <a:ext cx="5905500" cy="304800"/>
          </a:xfrm>
          <a:prstGeom prst="rect">
            <a:avLst/>
          </a:prstGeom>
          <a:noFill/>
          <a:ln w="0">
            <a:noFill/>
          </a:ln>
        </p:spPr>
        <p:txBody>
          <a:bodyPr wrap="none" lIns="0" tIns="0" rIns="0" bIns="0" anchor="ctr">
            <a:noAutofit/>
          </a:bodyPr>
          <a:lstStyle/>
          <a:p>
            <a:pPr algn="ctr">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Negative: agent better. Positive: observed mean better.</a:t>
            </a:r>
            <a:endParaRPr sz="1350" b="0">
              <a:solidFill>
                <a:srgbClr val="6A737B"/>
              </a:solidFill>
              <a:latin typeface="Arial" panose="020B0604020202020204"/>
              <a:ea typeface="Arial" panose="020B0604020202020204"/>
              <a:cs typeface="Arial" panose="020B0604020202020204"/>
            </a:endParaRPr>
          </a:p>
        </p:txBody>
      </p:sp>
      <p:sp>
        <p:nvSpPr>
          <p:cNvPr id="28" name="椭圆 27"/>
          <p:cNvSpPr>
            <a:spLocks noGrp="1"/>
          </p:cNvSpPr>
          <p:nvPr/>
        </p:nvSpPr>
        <p:spPr>
          <a:xfrm>
            <a:off x="4200525" y="10134600"/>
            <a:ext cx="114300" cy="114300"/>
          </a:xfrm>
          <a:prstGeom prst="ellipse">
            <a:avLst/>
          </a:prstGeom>
          <a:solidFill>
            <a:srgbClr val="637482"/>
          </a:solidFill>
          <a:ln w="9525">
            <a:solidFill>
              <a:srgbClr val="637482"/>
            </a:solidFill>
          </a:ln>
        </p:spPr>
      </p:sp>
      <p:sp>
        <p:nvSpPr>
          <p:cNvPr id="29" name="矩形 28"/>
          <p:cNvSpPr>
            <a:spLocks noGrp="1"/>
          </p:cNvSpPr>
          <p:nvPr/>
        </p:nvSpPr>
        <p:spPr>
          <a:xfrm>
            <a:off x="4429125" y="10039350"/>
            <a:ext cx="952500" cy="32385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Opaque</a:t>
            </a:r>
            <a:endParaRPr sz="1350" b="0">
              <a:solidFill>
                <a:srgbClr val="24292D"/>
              </a:solidFill>
              <a:latin typeface="Arial" panose="020B0604020202020204"/>
              <a:ea typeface="Arial" panose="020B0604020202020204"/>
              <a:cs typeface="Arial" panose="020B0604020202020204"/>
            </a:endParaRPr>
          </a:p>
        </p:txBody>
      </p:sp>
      <p:sp>
        <p:nvSpPr>
          <p:cNvPr id="30" name="椭圆 29"/>
          <p:cNvSpPr>
            <a:spLocks noGrp="1"/>
          </p:cNvSpPr>
          <p:nvPr/>
        </p:nvSpPr>
        <p:spPr>
          <a:xfrm>
            <a:off x="5267325" y="10134600"/>
            <a:ext cx="114300" cy="114300"/>
          </a:xfrm>
          <a:prstGeom prst="ellipse">
            <a:avLst/>
          </a:prstGeom>
          <a:solidFill>
            <a:srgbClr val="277F8A"/>
          </a:solidFill>
          <a:ln w="9525">
            <a:solidFill>
              <a:srgbClr val="277F8A"/>
            </a:solidFill>
          </a:ln>
        </p:spPr>
      </p:sp>
      <p:sp>
        <p:nvSpPr>
          <p:cNvPr id="31" name="矩形 30"/>
          <p:cNvSpPr>
            <a:spLocks noGrp="1"/>
          </p:cNvSpPr>
          <p:nvPr/>
        </p:nvSpPr>
        <p:spPr>
          <a:xfrm>
            <a:off x="5495925" y="10039350"/>
            <a:ext cx="952500" cy="32385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Aligned</a:t>
            </a:r>
            <a:endParaRPr sz="1350" b="0">
              <a:solidFill>
                <a:srgbClr val="24292D"/>
              </a:solidFill>
              <a:latin typeface="Arial" panose="020B0604020202020204"/>
              <a:ea typeface="Arial" panose="020B0604020202020204"/>
              <a:cs typeface="Arial" panose="020B0604020202020204"/>
            </a:endParaRPr>
          </a:p>
        </p:txBody>
      </p:sp>
      <p:sp>
        <p:nvSpPr>
          <p:cNvPr id="32" name="椭圆 31"/>
          <p:cNvSpPr>
            <a:spLocks noGrp="1"/>
          </p:cNvSpPr>
          <p:nvPr/>
        </p:nvSpPr>
        <p:spPr>
          <a:xfrm>
            <a:off x="6448425" y="10134600"/>
            <a:ext cx="114300" cy="114300"/>
          </a:xfrm>
          <a:prstGeom prst="ellipse">
            <a:avLst/>
          </a:prstGeom>
          <a:solidFill>
            <a:srgbClr val="BC7850"/>
          </a:solidFill>
          <a:ln w="9525">
            <a:solidFill>
              <a:srgbClr val="BC7850"/>
            </a:solidFill>
          </a:ln>
        </p:spPr>
      </p:sp>
      <p:sp>
        <p:nvSpPr>
          <p:cNvPr id="33" name="矩形 32"/>
          <p:cNvSpPr>
            <a:spLocks noGrp="1"/>
          </p:cNvSpPr>
          <p:nvPr/>
        </p:nvSpPr>
        <p:spPr>
          <a:xfrm>
            <a:off x="6677025" y="10039350"/>
            <a:ext cx="1143000" cy="32385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MisIndexed</a:t>
            </a:r>
            <a:endParaRPr sz="1350" b="0">
              <a:solidFill>
                <a:srgbClr val="24292D"/>
              </a:solidFill>
              <a:latin typeface="Arial" panose="020B0604020202020204"/>
              <a:ea typeface="Arial" panose="020B0604020202020204"/>
              <a:cs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3" name="矩形 102"/>
          <p:cNvSpPr>
            <a:spLocks noGrp="1"/>
          </p:cNvSpPr>
          <p:nvPr/>
        </p:nvSpPr>
        <p:spPr>
          <a:xfrm>
            <a:off x="523875" y="114300"/>
            <a:ext cx="30289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EC/E, disc., 12</a:t>
            </a:r>
            <a:endParaRPr sz="1350" b="0">
              <a:solidFill>
                <a:srgbClr val="24292D"/>
              </a:solidFill>
              <a:latin typeface="Arial" panose="020B0604020202020204"/>
              <a:ea typeface="Arial" panose="020B0604020202020204"/>
              <a:cs typeface="Arial" panose="020B0604020202020204"/>
            </a:endParaRPr>
          </a:p>
        </p:txBody>
      </p:sp>
      <p:sp>
        <p:nvSpPr>
          <p:cNvPr id="2" name="矩形 1"/>
          <p:cNvSpPr>
            <a:spLocks noGrp="1"/>
          </p:cNvSpPr>
          <p:nvPr/>
        </p:nvSpPr>
        <p:spPr>
          <a:xfrm>
            <a:off x="523875" y="438150"/>
            <a:ext cx="3028950" cy="285750"/>
          </a:xfrm>
          <a:prstGeom prst="rect">
            <a:avLst/>
          </a:prstGeom>
          <a:noFill/>
          <a:ln w="0">
            <a:noFill/>
          </a:ln>
        </p:spPr>
        <p:txBody>
          <a:bodyPr wrap="none" lIns="0" tIns="0" rIns="0" bIns="0" anchor="ctr">
            <a:noAutofit/>
          </a:bodyPr>
          <a:lstStyle/>
          <a:p>
            <a:pPr algn="l">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Score MAE</a:t>
            </a:r>
            <a:endParaRPr sz="1350" b="0">
              <a:solidFill>
                <a:srgbClr val="6A737B"/>
              </a:solidFill>
              <a:latin typeface="Arial" panose="020B0604020202020204"/>
              <a:ea typeface="Arial" panose="020B0604020202020204"/>
              <a:cs typeface="Arial" panose="020B0604020202020204"/>
            </a:endParaRPr>
          </a:p>
        </p:txBody>
      </p:sp>
      <p:graphicFrame>
        <p:nvGraphicFramePr>
          <p:cNvPr id="105" name="Chart"/>
          <p:cNvGraphicFramePr/>
          <p:nvPr/>
        </p:nvGraphicFramePr>
        <p:xfrm>
          <a:off x="190500" y="762000"/>
          <a:ext cx="3295650" cy="1952625"/>
        </p:xfrm>
        <a:graphic>
          <a:graphicData uri="http://schemas.openxmlformats.org/drawingml/2006/chart">
            <c:chart xmlns:c="http://schemas.openxmlformats.org/drawingml/2006/chart" xmlns:r="http://schemas.openxmlformats.org/officeDocument/2006/relationships" r:id="rId1"/>
          </a:graphicData>
        </a:graphic>
      </p:graphicFrame>
      <p:sp>
        <p:nvSpPr>
          <p:cNvPr id="4" name="矩形 3"/>
          <p:cNvSpPr>
            <a:spLocks noGrp="1"/>
          </p:cNvSpPr>
          <p:nvPr/>
        </p:nvSpPr>
        <p:spPr>
          <a:xfrm>
            <a:off x="981075" y="2838450"/>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O</a:t>
            </a:r>
            <a:endParaRPr sz="1350" b="0">
              <a:solidFill>
                <a:srgbClr val="24292D"/>
              </a:solidFill>
              <a:latin typeface="Arial" panose="020B0604020202020204"/>
              <a:ea typeface="Arial" panose="020B0604020202020204"/>
              <a:cs typeface="Arial" panose="020B0604020202020204"/>
            </a:endParaRPr>
          </a:p>
        </p:txBody>
      </p:sp>
      <p:sp>
        <p:nvSpPr>
          <p:cNvPr id="5" name="矩形 4"/>
          <p:cNvSpPr>
            <a:spLocks noGrp="1"/>
          </p:cNvSpPr>
          <p:nvPr/>
        </p:nvSpPr>
        <p:spPr>
          <a:xfrm>
            <a:off x="1819275" y="2838450"/>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A</a:t>
            </a:r>
            <a:endParaRPr sz="1350" b="0">
              <a:solidFill>
                <a:srgbClr val="24292D"/>
              </a:solidFill>
              <a:latin typeface="Arial" panose="020B0604020202020204"/>
              <a:ea typeface="Arial" panose="020B0604020202020204"/>
              <a:cs typeface="Arial" panose="020B0604020202020204"/>
            </a:endParaRPr>
          </a:p>
        </p:txBody>
      </p:sp>
      <p:sp>
        <p:nvSpPr>
          <p:cNvPr id="6" name="矩形 5"/>
          <p:cNvSpPr>
            <a:spLocks noGrp="1"/>
          </p:cNvSpPr>
          <p:nvPr/>
        </p:nvSpPr>
        <p:spPr>
          <a:xfrm>
            <a:off x="2657475" y="2838450"/>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a:t>
            </a:r>
            <a:endParaRPr sz="1350" b="0">
              <a:solidFill>
                <a:srgbClr val="24292D"/>
              </a:solidFill>
              <a:latin typeface="Arial" panose="020B0604020202020204"/>
              <a:ea typeface="Arial" panose="020B0604020202020204"/>
              <a:cs typeface="Arial" panose="020B0604020202020204"/>
            </a:endParaRPr>
          </a:p>
        </p:txBody>
      </p:sp>
      <p:sp>
        <p:nvSpPr>
          <p:cNvPr id="7" name="矩形 6"/>
          <p:cNvSpPr>
            <a:spLocks noGrp="1"/>
          </p:cNvSpPr>
          <p:nvPr/>
        </p:nvSpPr>
        <p:spPr>
          <a:xfrm>
            <a:off x="3933825" y="114300"/>
            <a:ext cx="30289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EC/E, disc., 24</a:t>
            </a:r>
            <a:endParaRPr sz="1350" b="0">
              <a:solidFill>
                <a:srgbClr val="24292D"/>
              </a:solidFill>
              <a:latin typeface="Arial" panose="020B0604020202020204"/>
              <a:ea typeface="Arial" panose="020B0604020202020204"/>
              <a:cs typeface="Arial" panose="020B0604020202020204"/>
            </a:endParaRPr>
          </a:p>
        </p:txBody>
      </p:sp>
      <p:sp>
        <p:nvSpPr>
          <p:cNvPr id="8" name="矩形 7"/>
          <p:cNvSpPr>
            <a:spLocks noGrp="1"/>
          </p:cNvSpPr>
          <p:nvPr/>
        </p:nvSpPr>
        <p:spPr>
          <a:xfrm>
            <a:off x="3933825" y="438150"/>
            <a:ext cx="3028950" cy="285750"/>
          </a:xfrm>
          <a:prstGeom prst="rect">
            <a:avLst/>
          </a:prstGeom>
          <a:noFill/>
          <a:ln w="0">
            <a:noFill/>
          </a:ln>
        </p:spPr>
        <p:txBody>
          <a:bodyPr wrap="none" lIns="0" tIns="0" rIns="0" bIns="0" anchor="ctr">
            <a:noAutofit/>
          </a:bodyPr>
          <a:lstStyle/>
          <a:p>
            <a:pPr algn="l">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Score MAE</a:t>
            </a:r>
            <a:endParaRPr sz="1350" b="0">
              <a:solidFill>
                <a:srgbClr val="6A737B"/>
              </a:solidFill>
              <a:latin typeface="Arial" panose="020B0604020202020204"/>
              <a:ea typeface="Arial" panose="020B0604020202020204"/>
              <a:cs typeface="Arial" panose="020B0604020202020204"/>
            </a:endParaRPr>
          </a:p>
        </p:txBody>
      </p:sp>
      <p:graphicFrame>
        <p:nvGraphicFramePr>
          <p:cNvPr id="111" name="Chart"/>
          <p:cNvGraphicFramePr/>
          <p:nvPr/>
        </p:nvGraphicFramePr>
        <p:xfrm>
          <a:off x="3600450" y="762000"/>
          <a:ext cx="3295650" cy="1952625"/>
        </p:xfrm>
        <a:graphic>
          <a:graphicData uri="http://schemas.openxmlformats.org/drawingml/2006/chart">
            <c:chart xmlns:c="http://schemas.openxmlformats.org/drawingml/2006/chart" xmlns:r="http://schemas.openxmlformats.org/officeDocument/2006/relationships" r:id="rId2"/>
          </a:graphicData>
        </a:graphic>
      </p:graphicFrame>
      <p:sp>
        <p:nvSpPr>
          <p:cNvPr id="10" name="矩形 9"/>
          <p:cNvSpPr>
            <a:spLocks noGrp="1"/>
          </p:cNvSpPr>
          <p:nvPr/>
        </p:nvSpPr>
        <p:spPr>
          <a:xfrm>
            <a:off x="4391025" y="2838450"/>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O</a:t>
            </a:r>
            <a:endParaRPr sz="1350" b="0">
              <a:solidFill>
                <a:srgbClr val="24292D"/>
              </a:solidFill>
              <a:latin typeface="Arial" panose="020B0604020202020204"/>
              <a:ea typeface="Arial" panose="020B0604020202020204"/>
              <a:cs typeface="Arial" panose="020B0604020202020204"/>
            </a:endParaRPr>
          </a:p>
        </p:txBody>
      </p:sp>
      <p:sp>
        <p:nvSpPr>
          <p:cNvPr id="11" name="矩形 10"/>
          <p:cNvSpPr>
            <a:spLocks noGrp="1"/>
          </p:cNvSpPr>
          <p:nvPr/>
        </p:nvSpPr>
        <p:spPr>
          <a:xfrm>
            <a:off x="5229225" y="2838450"/>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A</a:t>
            </a:r>
            <a:endParaRPr sz="1350" b="0">
              <a:solidFill>
                <a:srgbClr val="24292D"/>
              </a:solidFill>
              <a:latin typeface="Arial" panose="020B0604020202020204"/>
              <a:ea typeface="Arial" panose="020B0604020202020204"/>
              <a:cs typeface="Arial" panose="020B0604020202020204"/>
            </a:endParaRPr>
          </a:p>
        </p:txBody>
      </p:sp>
      <p:sp>
        <p:nvSpPr>
          <p:cNvPr id="12" name="矩形 11"/>
          <p:cNvSpPr>
            <a:spLocks noGrp="1"/>
          </p:cNvSpPr>
          <p:nvPr/>
        </p:nvSpPr>
        <p:spPr>
          <a:xfrm>
            <a:off x="6067425" y="2838450"/>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a:t>
            </a:r>
            <a:endParaRPr sz="1350" b="0">
              <a:solidFill>
                <a:srgbClr val="24292D"/>
              </a:solidFill>
              <a:latin typeface="Arial" panose="020B0604020202020204"/>
              <a:ea typeface="Arial" panose="020B0604020202020204"/>
              <a:cs typeface="Arial" panose="020B0604020202020204"/>
            </a:endParaRPr>
          </a:p>
        </p:txBody>
      </p:sp>
      <p:sp>
        <p:nvSpPr>
          <p:cNvPr id="13" name="矩形 12"/>
          <p:cNvSpPr>
            <a:spLocks noGrp="1"/>
          </p:cNvSpPr>
          <p:nvPr/>
        </p:nvSpPr>
        <p:spPr>
          <a:xfrm>
            <a:off x="7343775" y="114300"/>
            <a:ext cx="30289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EC/E, opt., 12</a:t>
            </a:r>
            <a:endParaRPr sz="1350" b="0">
              <a:solidFill>
                <a:srgbClr val="24292D"/>
              </a:solidFill>
              <a:latin typeface="Arial" panose="020B0604020202020204"/>
              <a:ea typeface="Arial" panose="020B0604020202020204"/>
              <a:cs typeface="Arial" panose="020B0604020202020204"/>
            </a:endParaRPr>
          </a:p>
        </p:txBody>
      </p:sp>
      <p:sp>
        <p:nvSpPr>
          <p:cNvPr id="14" name="矩形 13"/>
          <p:cNvSpPr>
            <a:spLocks noGrp="1"/>
          </p:cNvSpPr>
          <p:nvPr/>
        </p:nvSpPr>
        <p:spPr>
          <a:xfrm>
            <a:off x="7343775" y="438150"/>
            <a:ext cx="3028950" cy="285750"/>
          </a:xfrm>
          <a:prstGeom prst="rect">
            <a:avLst/>
          </a:prstGeom>
          <a:noFill/>
          <a:ln w="0">
            <a:noFill/>
          </a:ln>
        </p:spPr>
        <p:txBody>
          <a:bodyPr wrap="none" lIns="0" tIns="0" rIns="0" bIns="0" anchor="ctr">
            <a:noAutofit/>
          </a:bodyPr>
          <a:lstStyle/>
          <a:p>
            <a:pPr algn="l">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Score MAE</a:t>
            </a:r>
            <a:endParaRPr sz="1350" b="0">
              <a:solidFill>
                <a:srgbClr val="6A737B"/>
              </a:solidFill>
              <a:latin typeface="Arial" panose="020B0604020202020204"/>
              <a:ea typeface="Arial" panose="020B0604020202020204"/>
              <a:cs typeface="Arial" panose="020B0604020202020204"/>
            </a:endParaRPr>
          </a:p>
        </p:txBody>
      </p:sp>
      <p:graphicFrame>
        <p:nvGraphicFramePr>
          <p:cNvPr id="117" name="Chart"/>
          <p:cNvGraphicFramePr/>
          <p:nvPr/>
        </p:nvGraphicFramePr>
        <p:xfrm>
          <a:off x="7010400" y="762000"/>
          <a:ext cx="3295650" cy="1952625"/>
        </p:xfrm>
        <a:graphic>
          <a:graphicData uri="http://schemas.openxmlformats.org/drawingml/2006/chart">
            <c:chart xmlns:c="http://schemas.openxmlformats.org/drawingml/2006/chart" xmlns:r="http://schemas.openxmlformats.org/officeDocument/2006/relationships" r:id="rId3"/>
          </a:graphicData>
        </a:graphic>
      </p:graphicFrame>
      <p:sp>
        <p:nvSpPr>
          <p:cNvPr id="16" name="矩形 15"/>
          <p:cNvSpPr>
            <a:spLocks noGrp="1"/>
          </p:cNvSpPr>
          <p:nvPr/>
        </p:nvSpPr>
        <p:spPr>
          <a:xfrm>
            <a:off x="7800975" y="2838450"/>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O</a:t>
            </a:r>
            <a:endParaRPr sz="1350" b="0">
              <a:solidFill>
                <a:srgbClr val="24292D"/>
              </a:solidFill>
              <a:latin typeface="Arial" panose="020B0604020202020204"/>
              <a:ea typeface="Arial" panose="020B0604020202020204"/>
              <a:cs typeface="Arial" panose="020B0604020202020204"/>
            </a:endParaRPr>
          </a:p>
        </p:txBody>
      </p:sp>
      <p:sp>
        <p:nvSpPr>
          <p:cNvPr id="17" name="矩形 16"/>
          <p:cNvSpPr>
            <a:spLocks noGrp="1"/>
          </p:cNvSpPr>
          <p:nvPr/>
        </p:nvSpPr>
        <p:spPr>
          <a:xfrm>
            <a:off x="8639175" y="2838450"/>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A</a:t>
            </a:r>
            <a:endParaRPr sz="1350" b="0">
              <a:solidFill>
                <a:srgbClr val="24292D"/>
              </a:solidFill>
              <a:latin typeface="Arial" panose="020B0604020202020204"/>
              <a:ea typeface="Arial" panose="020B0604020202020204"/>
              <a:cs typeface="Arial" panose="020B0604020202020204"/>
            </a:endParaRPr>
          </a:p>
        </p:txBody>
      </p:sp>
      <p:sp>
        <p:nvSpPr>
          <p:cNvPr id="18" name="矩形 17"/>
          <p:cNvSpPr>
            <a:spLocks noGrp="1"/>
          </p:cNvSpPr>
          <p:nvPr/>
        </p:nvSpPr>
        <p:spPr>
          <a:xfrm>
            <a:off x="9477375" y="2838450"/>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a:t>
            </a:r>
            <a:endParaRPr sz="1350" b="0">
              <a:solidFill>
                <a:srgbClr val="24292D"/>
              </a:solidFill>
              <a:latin typeface="Arial" panose="020B0604020202020204"/>
              <a:ea typeface="Arial" panose="020B0604020202020204"/>
              <a:cs typeface="Arial" panose="020B0604020202020204"/>
            </a:endParaRPr>
          </a:p>
        </p:txBody>
      </p:sp>
      <p:sp>
        <p:nvSpPr>
          <p:cNvPr id="19" name="矩形 18"/>
          <p:cNvSpPr>
            <a:spLocks noGrp="1"/>
          </p:cNvSpPr>
          <p:nvPr/>
        </p:nvSpPr>
        <p:spPr>
          <a:xfrm>
            <a:off x="10753725" y="114300"/>
            <a:ext cx="2771775"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EC/E, opt., 24</a:t>
            </a:r>
            <a:endParaRPr sz="1350" b="0">
              <a:solidFill>
                <a:srgbClr val="24292D"/>
              </a:solidFill>
              <a:latin typeface="Arial" panose="020B0604020202020204"/>
              <a:ea typeface="Arial" panose="020B0604020202020204"/>
              <a:cs typeface="Arial" panose="020B0604020202020204"/>
            </a:endParaRPr>
          </a:p>
        </p:txBody>
      </p:sp>
      <p:sp>
        <p:nvSpPr>
          <p:cNvPr id="20" name="矩形 19"/>
          <p:cNvSpPr>
            <a:spLocks noGrp="1"/>
          </p:cNvSpPr>
          <p:nvPr/>
        </p:nvSpPr>
        <p:spPr>
          <a:xfrm>
            <a:off x="10753725" y="438150"/>
            <a:ext cx="2771775" cy="285750"/>
          </a:xfrm>
          <a:prstGeom prst="rect">
            <a:avLst/>
          </a:prstGeom>
          <a:noFill/>
          <a:ln w="0">
            <a:noFill/>
          </a:ln>
        </p:spPr>
        <p:txBody>
          <a:bodyPr wrap="none" lIns="0" tIns="0" rIns="0" bIns="0" anchor="ctr">
            <a:noAutofit/>
          </a:bodyPr>
          <a:lstStyle/>
          <a:p>
            <a:pPr algn="l">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Score MAE</a:t>
            </a:r>
            <a:endParaRPr sz="1350" b="0">
              <a:solidFill>
                <a:srgbClr val="6A737B"/>
              </a:solidFill>
              <a:latin typeface="Arial" panose="020B0604020202020204"/>
              <a:ea typeface="Arial" panose="020B0604020202020204"/>
              <a:cs typeface="Arial" panose="020B0604020202020204"/>
            </a:endParaRPr>
          </a:p>
        </p:txBody>
      </p:sp>
      <p:graphicFrame>
        <p:nvGraphicFramePr>
          <p:cNvPr id="123" name="Chart"/>
          <p:cNvGraphicFramePr/>
          <p:nvPr/>
        </p:nvGraphicFramePr>
        <p:xfrm>
          <a:off x="10420350" y="762000"/>
          <a:ext cx="3295650" cy="1952625"/>
        </p:xfrm>
        <a:graphic>
          <a:graphicData uri="http://schemas.openxmlformats.org/drawingml/2006/chart">
            <c:chart xmlns:c="http://schemas.openxmlformats.org/drawingml/2006/chart" xmlns:r="http://schemas.openxmlformats.org/officeDocument/2006/relationships" r:id="rId4"/>
          </a:graphicData>
        </a:graphic>
      </p:graphicFrame>
      <p:sp>
        <p:nvSpPr>
          <p:cNvPr id="22" name="矩形 21"/>
          <p:cNvSpPr>
            <a:spLocks noGrp="1"/>
          </p:cNvSpPr>
          <p:nvPr/>
        </p:nvSpPr>
        <p:spPr>
          <a:xfrm>
            <a:off x="11210925" y="2838450"/>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O</a:t>
            </a:r>
            <a:endParaRPr sz="1350" b="0">
              <a:solidFill>
                <a:srgbClr val="24292D"/>
              </a:solidFill>
              <a:latin typeface="Arial" panose="020B0604020202020204"/>
              <a:ea typeface="Arial" panose="020B0604020202020204"/>
              <a:cs typeface="Arial" panose="020B0604020202020204"/>
            </a:endParaRPr>
          </a:p>
        </p:txBody>
      </p:sp>
      <p:sp>
        <p:nvSpPr>
          <p:cNvPr id="23" name="矩形 22"/>
          <p:cNvSpPr>
            <a:spLocks noGrp="1"/>
          </p:cNvSpPr>
          <p:nvPr/>
        </p:nvSpPr>
        <p:spPr>
          <a:xfrm>
            <a:off x="12049125" y="2838450"/>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A</a:t>
            </a:r>
            <a:endParaRPr sz="1350" b="0">
              <a:solidFill>
                <a:srgbClr val="24292D"/>
              </a:solidFill>
              <a:latin typeface="Arial" panose="020B0604020202020204"/>
              <a:ea typeface="Arial" panose="020B0604020202020204"/>
              <a:cs typeface="Arial" panose="020B0604020202020204"/>
            </a:endParaRPr>
          </a:p>
        </p:txBody>
      </p:sp>
      <p:sp>
        <p:nvSpPr>
          <p:cNvPr id="24" name="矩形 23"/>
          <p:cNvSpPr>
            <a:spLocks noGrp="1"/>
          </p:cNvSpPr>
          <p:nvPr/>
        </p:nvSpPr>
        <p:spPr>
          <a:xfrm>
            <a:off x="12887325" y="2838450"/>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a:t>
            </a:r>
            <a:endParaRPr sz="1350" b="0">
              <a:solidFill>
                <a:srgbClr val="24292D"/>
              </a:solidFill>
              <a:latin typeface="Arial" panose="020B0604020202020204"/>
              <a:ea typeface="Arial" panose="020B0604020202020204"/>
              <a:cs typeface="Arial" panose="020B0604020202020204"/>
            </a:endParaRPr>
          </a:p>
        </p:txBody>
      </p:sp>
      <p:sp>
        <p:nvSpPr>
          <p:cNvPr id="25" name="矩形 24"/>
          <p:cNvSpPr>
            <a:spLocks noGrp="1"/>
          </p:cNvSpPr>
          <p:nvPr/>
        </p:nvSpPr>
        <p:spPr>
          <a:xfrm>
            <a:off x="523875" y="3209925"/>
            <a:ext cx="30289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PA/E, disc., 12</a:t>
            </a:r>
            <a:endParaRPr sz="1350" b="0">
              <a:solidFill>
                <a:srgbClr val="24292D"/>
              </a:solidFill>
              <a:latin typeface="Arial" panose="020B0604020202020204"/>
              <a:ea typeface="Arial" panose="020B0604020202020204"/>
              <a:cs typeface="Arial" panose="020B0604020202020204"/>
            </a:endParaRPr>
          </a:p>
        </p:txBody>
      </p:sp>
      <p:sp>
        <p:nvSpPr>
          <p:cNvPr id="26" name="矩形 25"/>
          <p:cNvSpPr>
            <a:spLocks noGrp="1"/>
          </p:cNvSpPr>
          <p:nvPr/>
        </p:nvSpPr>
        <p:spPr>
          <a:xfrm>
            <a:off x="523875" y="3533775"/>
            <a:ext cx="3028950" cy="285750"/>
          </a:xfrm>
          <a:prstGeom prst="rect">
            <a:avLst/>
          </a:prstGeom>
          <a:noFill/>
          <a:ln w="0">
            <a:noFill/>
          </a:ln>
        </p:spPr>
        <p:txBody>
          <a:bodyPr wrap="none" lIns="0" tIns="0" rIns="0" bIns="0" anchor="ctr">
            <a:noAutofit/>
          </a:bodyPr>
          <a:lstStyle/>
          <a:p>
            <a:pPr algn="l">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Organic-fraction MAE</a:t>
            </a:r>
            <a:endParaRPr sz="1350" b="0">
              <a:solidFill>
                <a:srgbClr val="6A737B"/>
              </a:solidFill>
              <a:latin typeface="Arial" panose="020B0604020202020204"/>
              <a:ea typeface="Arial" panose="020B0604020202020204"/>
              <a:cs typeface="Arial" panose="020B0604020202020204"/>
            </a:endParaRPr>
          </a:p>
        </p:txBody>
      </p:sp>
      <p:graphicFrame>
        <p:nvGraphicFramePr>
          <p:cNvPr id="129" name="Chart"/>
          <p:cNvGraphicFramePr/>
          <p:nvPr/>
        </p:nvGraphicFramePr>
        <p:xfrm>
          <a:off x="190500" y="3857625"/>
          <a:ext cx="3295650" cy="1952625"/>
        </p:xfrm>
        <a:graphic>
          <a:graphicData uri="http://schemas.openxmlformats.org/drawingml/2006/chart">
            <c:chart xmlns:c="http://schemas.openxmlformats.org/drawingml/2006/chart" xmlns:r="http://schemas.openxmlformats.org/officeDocument/2006/relationships" r:id="rId5"/>
          </a:graphicData>
        </a:graphic>
      </p:graphicFrame>
      <p:sp>
        <p:nvSpPr>
          <p:cNvPr id="28" name="矩形 27"/>
          <p:cNvSpPr>
            <a:spLocks noGrp="1"/>
          </p:cNvSpPr>
          <p:nvPr/>
        </p:nvSpPr>
        <p:spPr>
          <a:xfrm>
            <a:off x="981075" y="5934075"/>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O</a:t>
            </a:r>
            <a:endParaRPr sz="1350" b="0">
              <a:solidFill>
                <a:srgbClr val="24292D"/>
              </a:solidFill>
              <a:latin typeface="Arial" panose="020B0604020202020204"/>
              <a:ea typeface="Arial" panose="020B0604020202020204"/>
              <a:cs typeface="Arial" panose="020B0604020202020204"/>
            </a:endParaRPr>
          </a:p>
        </p:txBody>
      </p:sp>
      <p:sp>
        <p:nvSpPr>
          <p:cNvPr id="29" name="矩形 28"/>
          <p:cNvSpPr>
            <a:spLocks noGrp="1"/>
          </p:cNvSpPr>
          <p:nvPr/>
        </p:nvSpPr>
        <p:spPr>
          <a:xfrm>
            <a:off x="1819275" y="5934075"/>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A</a:t>
            </a:r>
            <a:endParaRPr sz="1350" b="0">
              <a:solidFill>
                <a:srgbClr val="24292D"/>
              </a:solidFill>
              <a:latin typeface="Arial" panose="020B0604020202020204"/>
              <a:ea typeface="Arial" panose="020B0604020202020204"/>
              <a:cs typeface="Arial" panose="020B0604020202020204"/>
            </a:endParaRPr>
          </a:p>
        </p:txBody>
      </p:sp>
      <p:sp>
        <p:nvSpPr>
          <p:cNvPr id="30" name="矩形 29"/>
          <p:cNvSpPr>
            <a:spLocks noGrp="1"/>
          </p:cNvSpPr>
          <p:nvPr/>
        </p:nvSpPr>
        <p:spPr>
          <a:xfrm>
            <a:off x="2657475" y="5934075"/>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a:t>
            </a:r>
            <a:endParaRPr sz="1350" b="0">
              <a:solidFill>
                <a:srgbClr val="24292D"/>
              </a:solidFill>
              <a:latin typeface="Arial" panose="020B0604020202020204"/>
              <a:ea typeface="Arial" panose="020B0604020202020204"/>
              <a:cs typeface="Arial" panose="020B0604020202020204"/>
            </a:endParaRPr>
          </a:p>
        </p:txBody>
      </p:sp>
      <p:sp>
        <p:nvSpPr>
          <p:cNvPr id="31" name="矩形 30"/>
          <p:cNvSpPr>
            <a:spLocks noGrp="1"/>
          </p:cNvSpPr>
          <p:nvPr/>
        </p:nvSpPr>
        <p:spPr>
          <a:xfrm>
            <a:off x="3933825" y="3209925"/>
            <a:ext cx="30289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PA/E, disc., 24</a:t>
            </a:r>
            <a:endParaRPr sz="1350" b="0">
              <a:solidFill>
                <a:srgbClr val="24292D"/>
              </a:solidFill>
              <a:latin typeface="Arial" panose="020B0604020202020204"/>
              <a:ea typeface="Arial" panose="020B0604020202020204"/>
              <a:cs typeface="Arial" panose="020B0604020202020204"/>
            </a:endParaRPr>
          </a:p>
        </p:txBody>
      </p:sp>
      <p:sp>
        <p:nvSpPr>
          <p:cNvPr id="32" name="矩形 31"/>
          <p:cNvSpPr>
            <a:spLocks noGrp="1"/>
          </p:cNvSpPr>
          <p:nvPr/>
        </p:nvSpPr>
        <p:spPr>
          <a:xfrm>
            <a:off x="3933825" y="3533775"/>
            <a:ext cx="3028950" cy="285750"/>
          </a:xfrm>
          <a:prstGeom prst="rect">
            <a:avLst/>
          </a:prstGeom>
          <a:noFill/>
          <a:ln w="0">
            <a:noFill/>
          </a:ln>
        </p:spPr>
        <p:txBody>
          <a:bodyPr wrap="none" lIns="0" tIns="0" rIns="0" bIns="0" anchor="ctr">
            <a:noAutofit/>
          </a:bodyPr>
          <a:lstStyle/>
          <a:p>
            <a:pPr algn="l">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Organic-fraction MAE</a:t>
            </a:r>
            <a:endParaRPr sz="1350" b="0">
              <a:solidFill>
                <a:srgbClr val="6A737B"/>
              </a:solidFill>
              <a:latin typeface="Arial" panose="020B0604020202020204"/>
              <a:ea typeface="Arial" panose="020B0604020202020204"/>
              <a:cs typeface="Arial" panose="020B0604020202020204"/>
            </a:endParaRPr>
          </a:p>
        </p:txBody>
      </p:sp>
      <p:graphicFrame>
        <p:nvGraphicFramePr>
          <p:cNvPr id="135" name="Chart"/>
          <p:cNvGraphicFramePr/>
          <p:nvPr/>
        </p:nvGraphicFramePr>
        <p:xfrm>
          <a:off x="3600450" y="3857625"/>
          <a:ext cx="3295650" cy="1952625"/>
        </p:xfrm>
        <a:graphic>
          <a:graphicData uri="http://schemas.openxmlformats.org/drawingml/2006/chart">
            <c:chart xmlns:c="http://schemas.openxmlformats.org/drawingml/2006/chart" xmlns:r="http://schemas.openxmlformats.org/officeDocument/2006/relationships" r:id="rId6"/>
          </a:graphicData>
        </a:graphic>
      </p:graphicFrame>
      <p:sp>
        <p:nvSpPr>
          <p:cNvPr id="34" name="矩形 33"/>
          <p:cNvSpPr>
            <a:spLocks noGrp="1"/>
          </p:cNvSpPr>
          <p:nvPr/>
        </p:nvSpPr>
        <p:spPr>
          <a:xfrm>
            <a:off x="4391025" y="5934075"/>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O</a:t>
            </a:r>
            <a:endParaRPr sz="1350" b="0">
              <a:solidFill>
                <a:srgbClr val="24292D"/>
              </a:solidFill>
              <a:latin typeface="Arial" panose="020B0604020202020204"/>
              <a:ea typeface="Arial" panose="020B0604020202020204"/>
              <a:cs typeface="Arial" panose="020B0604020202020204"/>
            </a:endParaRPr>
          </a:p>
        </p:txBody>
      </p:sp>
      <p:sp>
        <p:nvSpPr>
          <p:cNvPr id="35" name="矩形 34"/>
          <p:cNvSpPr>
            <a:spLocks noGrp="1"/>
          </p:cNvSpPr>
          <p:nvPr/>
        </p:nvSpPr>
        <p:spPr>
          <a:xfrm>
            <a:off x="5229225" y="5934075"/>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A</a:t>
            </a:r>
            <a:endParaRPr sz="1350" b="0">
              <a:solidFill>
                <a:srgbClr val="24292D"/>
              </a:solidFill>
              <a:latin typeface="Arial" panose="020B0604020202020204"/>
              <a:ea typeface="Arial" panose="020B0604020202020204"/>
              <a:cs typeface="Arial" panose="020B0604020202020204"/>
            </a:endParaRPr>
          </a:p>
        </p:txBody>
      </p:sp>
      <p:sp>
        <p:nvSpPr>
          <p:cNvPr id="36" name="矩形 35"/>
          <p:cNvSpPr>
            <a:spLocks noGrp="1"/>
          </p:cNvSpPr>
          <p:nvPr/>
        </p:nvSpPr>
        <p:spPr>
          <a:xfrm>
            <a:off x="6067425" y="5934075"/>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a:t>
            </a:r>
            <a:endParaRPr sz="1350" b="0">
              <a:solidFill>
                <a:srgbClr val="24292D"/>
              </a:solidFill>
              <a:latin typeface="Arial" panose="020B0604020202020204"/>
              <a:ea typeface="Arial" panose="020B0604020202020204"/>
              <a:cs typeface="Arial" panose="020B0604020202020204"/>
            </a:endParaRPr>
          </a:p>
        </p:txBody>
      </p:sp>
      <p:sp>
        <p:nvSpPr>
          <p:cNvPr id="37" name="矩形 36"/>
          <p:cNvSpPr>
            <a:spLocks noGrp="1"/>
          </p:cNvSpPr>
          <p:nvPr/>
        </p:nvSpPr>
        <p:spPr>
          <a:xfrm>
            <a:off x="7343775" y="3209925"/>
            <a:ext cx="30289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RX/P, disc., 12</a:t>
            </a:r>
            <a:endParaRPr sz="1350" b="0">
              <a:solidFill>
                <a:srgbClr val="24292D"/>
              </a:solidFill>
              <a:latin typeface="Arial" panose="020B0604020202020204"/>
              <a:ea typeface="Arial" panose="020B0604020202020204"/>
              <a:cs typeface="Arial" panose="020B0604020202020204"/>
            </a:endParaRPr>
          </a:p>
        </p:txBody>
      </p:sp>
      <p:sp>
        <p:nvSpPr>
          <p:cNvPr id="38" name="矩形 37"/>
          <p:cNvSpPr>
            <a:spLocks noGrp="1"/>
          </p:cNvSpPr>
          <p:nvPr/>
        </p:nvSpPr>
        <p:spPr>
          <a:xfrm>
            <a:off x="7343775" y="3533775"/>
            <a:ext cx="3028950" cy="285750"/>
          </a:xfrm>
          <a:prstGeom prst="rect">
            <a:avLst/>
          </a:prstGeom>
          <a:noFill/>
          <a:ln w="0">
            <a:noFill/>
          </a:ln>
        </p:spPr>
        <p:txBody>
          <a:bodyPr wrap="none" lIns="0" tIns="0" rIns="0" bIns="0" anchor="ctr">
            <a:noAutofit/>
          </a:bodyPr>
          <a:lstStyle/>
          <a:p>
            <a:pPr algn="l">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Macro MAE</a:t>
            </a:r>
            <a:endParaRPr sz="1350" b="0">
              <a:solidFill>
                <a:srgbClr val="6A737B"/>
              </a:solidFill>
              <a:latin typeface="Arial" panose="020B0604020202020204"/>
              <a:ea typeface="Arial" panose="020B0604020202020204"/>
              <a:cs typeface="Arial" panose="020B0604020202020204"/>
            </a:endParaRPr>
          </a:p>
        </p:txBody>
      </p:sp>
      <p:graphicFrame>
        <p:nvGraphicFramePr>
          <p:cNvPr id="141" name="Chart"/>
          <p:cNvGraphicFramePr/>
          <p:nvPr/>
        </p:nvGraphicFramePr>
        <p:xfrm>
          <a:off x="7010400" y="3857625"/>
          <a:ext cx="3295650" cy="1952625"/>
        </p:xfrm>
        <a:graphic>
          <a:graphicData uri="http://schemas.openxmlformats.org/drawingml/2006/chart">
            <c:chart xmlns:c="http://schemas.openxmlformats.org/drawingml/2006/chart" xmlns:r="http://schemas.openxmlformats.org/officeDocument/2006/relationships" r:id="rId7"/>
          </a:graphicData>
        </a:graphic>
      </p:graphicFrame>
      <p:sp>
        <p:nvSpPr>
          <p:cNvPr id="40" name="矩形 39"/>
          <p:cNvSpPr>
            <a:spLocks noGrp="1"/>
          </p:cNvSpPr>
          <p:nvPr/>
        </p:nvSpPr>
        <p:spPr>
          <a:xfrm>
            <a:off x="7800975" y="5934075"/>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O</a:t>
            </a:r>
            <a:endParaRPr sz="1350" b="0">
              <a:solidFill>
                <a:srgbClr val="24292D"/>
              </a:solidFill>
              <a:latin typeface="Arial" panose="020B0604020202020204"/>
              <a:ea typeface="Arial" panose="020B0604020202020204"/>
              <a:cs typeface="Arial" panose="020B0604020202020204"/>
            </a:endParaRPr>
          </a:p>
        </p:txBody>
      </p:sp>
      <p:sp>
        <p:nvSpPr>
          <p:cNvPr id="41" name="矩形 40"/>
          <p:cNvSpPr>
            <a:spLocks noGrp="1"/>
          </p:cNvSpPr>
          <p:nvPr/>
        </p:nvSpPr>
        <p:spPr>
          <a:xfrm>
            <a:off x="8639175" y="5934075"/>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A</a:t>
            </a:r>
            <a:endParaRPr sz="1350" b="0">
              <a:solidFill>
                <a:srgbClr val="24292D"/>
              </a:solidFill>
              <a:latin typeface="Arial" panose="020B0604020202020204"/>
              <a:ea typeface="Arial" panose="020B0604020202020204"/>
              <a:cs typeface="Arial" panose="020B0604020202020204"/>
            </a:endParaRPr>
          </a:p>
        </p:txBody>
      </p:sp>
      <p:sp>
        <p:nvSpPr>
          <p:cNvPr id="42" name="矩形 41"/>
          <p:cNvSpPr>
            <a:spLocks noGrp="1"/>
          </p:cNvSpPr>
          <p:nvPr/>
        </p:nvSpPr>
        <p:spPr>
          <a:xfrm>
            <a:off x="9477375" y="5934075"/>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a:t>
            </a:r>
            <a:endParaRPr sz="1350" b="0">
              <a:solidFill>
                <a:srgbClr val="24292D"/>
              </a:solidFill>
              <a:latin typeface="Arial" panose="020B0604020202020204"/>
              <a:ea typeface="Arial" panose="020B0604020202020204"/>
              <a:cs typeface="Arial" panose="020B0604020202020204"/>
            </a:endParaRPr>
          </a:p>
        </p:txBody>
      </p:sp>
      <p:sp>
        <p:nvSpPr>
          <p:cNvPr id="43" name="矩形 42"/>
          <p:cNvSpPr>
            <a:spLocks noGrp="1"/>
          </p:cNvSpPr>
          <p:nvPr/>
        </p:nvSpPr>
        <p:spPr>
          <a:xfrm>
            <a:off x="10753725" y="3209925"/>
            <a:ext cx="2771775"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RX/S, disc., 12</a:t>
            </a:r>
            <a:endParaRPr sz="1350" b="0">
              <a:solidFill>
                <a:srgbClr val="24292D"/>
              </a:solidFill>
              <a:latin typeface="Arial" panose="020B0604020202020204"/>
              <a:ea typeface="Arial" panose="020B0604020202020204"/>
              <a:cs typeface="Arial" panose="020B0604020202020204"/>
            </a:endParaRPr>
          </a:p>
        </p:txBody>
      </p:sp>
      <p:sp>
        <p:nvSpPr>
          <p:cNvPr id="44" name="矩形 43"/>
          <p:cNvSpPr>
            <a:spLocks noGrp="1"/>
          </p:cNvSpPr>
          <p:nvPr/>
        </p:nvSpPr>
        <p:spPr>
          <a:xfrm>
            <a:off x="10753725" y="3533775"/>
            <a:ext cx="2771775" cy="285750"/>
          </a:xfrm>
          <a:prstGeom prst="rect">
            <a:avLst/>
          </a:prstGeom>
          <a:noFill/>
          <a:ln w="0">
            <a:noFill/>
          </a:ln>
        </p:spPr>
        <p:txBody>
          <a:bodyPr wrap="none" lIns="0" tIns="0" rIns="0" bIns="0" anchor="ctr">
            <a:noAutofit/>
          </a:bodyPr>
          <a:lstStyle/>
          <a:p>
            <a:pPr algn="l">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Macro MAE</a:t>
            </a:r>
            <a:endParaRPr sz="1350" b="0">
              <a:solidFill>
                <a:srgbClr val="6A737B"/>
              </a:solidFill>
              <a:latin typeface="Arial" panose="020B0604020202020204"/>
              <a:ea typeface="Arial" panose="020B0604020202020204"/>
              <a:cs typeface="Arial" panose="020B0604020202020204"/>
            </a:endParaRPr>
          </a:p>
        </p:txBody>
      </p:sp>
      <p:graphicFrame>
        <p:nvGraphicFramePr>
          <p:cNvPr id="147" name="Chart"/>
          <p:cNvGraphicFramePr/>
          <p:nvPr/>
        </p:nvGraphicFramePr>
        <p:xfrm>
          <a:off x="10420350" y="3857625"/>
          <a:ext cx="3295650" cy="1952625"/>
        </p:xfrm>
        <a:graphic>
          <a:graphicData uri="http://schemas.openxmlformats.org/drawingml/2006/chart">
            <c:chart xmlns:c="http://schemas.openxmlformats.org/drawingml/2006/chart" xmlns:r="http://schemas.openxmlformats.org/officeDocument/2006/relationships" r:id="rId8"/>
          </a:graphicData>
        </a:graphic>
      </p:graphicFrame>
      <p:sp>
        <p:nvSpPr>
          <p:cNvPr id="46" name="矩形 45"/>
          <p:cNvSpPr>
            <a:spLocks noGrp="1"/>
          </p:cNvSpPr>
          <p:nvPr/>
        </p:nvSpPr>
        <p:spPr>
          <a:xfrm>
            <a:off x="11210925" y="5934075"/>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O</a:t>
            </a:r>
            <a:endParaRPr sz="1350" b="0">
              <a:solidFill>
                <a:srgbClr val="24292D"/>
              </a:solidFill>
              <a:latin typeface="Arial" panose="020B0604020202020204"/>
              <a:ea typeface="Arial" panose="020B0604020202020204"/>
              <a:cs typeface="Arial" panose="020B0604020202020204"/>
            </a:endParaRPr>
          </a:p>
        </p:txBody>
      </p:sp>
      <p:sp>
        <p:nvSpPr>
          <p:cNvPr id="47" name="矩形 46"/>
          <p:cNvSpPr>
            <a:spLocks noGrp="1"/>
          </p:cNvSpPr>
          <p:nvPr/>
        </p:nvSpPr>
        <p:spPr>
          <a:xfrm>
            <a:off x="12049125" y="5934075"/>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A</a:t>
            </a:r>
            <a:endParaRPr sz="1350" b="0">
              <a:solidFill>
                <a:srgbClr val="24292D"/>
              </a:solidFill>
              <a:latin typeface="Arial" panose="020B0604020202020204"/>
              <a:ea typeface="Arial" panose="020B0604020202020204"/>
              <a:cs typeface="Arial" panose="020B0604020202020204"/>
            </a:endParaRPr>
          </a:p>
        </p:txBody>
      </p:sp>
      <p:sp>
        <p:nvSpPr>
          <p:cNvPr id="48" name="矩形 47"/>
          <p:cNvSpPr>
            <a:spLocks noGrp="1"/>
          </p:cNvSpPr>
          <p:nvPr/>
        </p:nvSpPr>
        <p:spPr>
          <a:xfrm>
            <a:off x="12887325" y="5934075"/>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a:t>
            </a:r>
            <a:endParaRPr sz="1350" b="0">
              <a:solidFill>
                <a:srgbClr val="24292D"/>
              </a:solidFill>
              <a:latin typeface="Arial" panose="020B0604020202020204"/>
              <a:ea typeface="Arial" panose="020B0604020202020204"/>
              <a:cs typeface="Arial" panose="020B0604020202020204"/>
            </a:endParaRPr>
          </a:p>
        </p:txBody>
      </p:sp>
      <p:sp>
        <p:nvSpPr>
          <p:cNvPr id="49" name="矩形 48"/>
          <p:cNvSpPr>
            <a:spLocks noGrp="1"/>
          </p:cNvSpPr>
          <p:nvPr/>
        </p:nvSpPr>
        <p:spPr>
          <a:xfrm>
            <a:off x="523875" y="6305550"/>
            <a:ext cx="30289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RX/P, opt., 12</a:t>
            </a:r>
            <a:endParaRPr sz="1350" b="0">
              <a:solidFill>
                <a:srgbClr val="24292D"/>
              </a:solidFill>
              <a:latin typeface="Arial" panose="020B0604020202020204"/>
              <a:ea typeface="Arial" panose="020B0604020202020204"/>
              <a:cs typeface="Arial" panose="020B0604020202020204"/>
            </a:endParaRPr>
          </a:p>
        </p:txBody>
      </p:sp>
      <p:sp>
        <p:nvSpPr>
          <p:cNvPr id="50" name="矩形 49"/>
          <p:cNvSpPr>
            <a:spLocks noGrp="1"/>
          </p:cNvSpPr>
          <p:nvPr/>
        </p:nvSpPr>
        <p:spPr>
          <a:xfrm>
            <a:off x="523875" y="6629400"/>
            <a:ext cx="3028950" cy="285750"/>
          </a:xfrm>
          <a:prstGeom prst="rect">
            <a:avLst/>
          </a:prstGeom>
          <a:noFill/>
          <a:ln w="0">
            <a:noFill/>
          </a:ln>
        </p:spPr>
        <p:txBody>
          <a:bodyPr wrap="none" lIns="0" tIns="0" rIns="0" bIns="0" anchor="ctr">
            <a:noAutofit/>
          </a:bodyPr>
          <a:lstStyle/>
          <a:p>
            <a:pPr algn="l">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Macro MAE</a:t>
            </a:r>
            <a:endParaRPr sz="1350" b="0">
              <a:solidFill>
                <a:srgbClr val="6A737B"/>
              </a:solidFill>
              <a:latin typeface="Arial" panose="020B0604020202020204"/>
              <a:ea typeface="Arial" panose="020B0604020202020204"/>
              <a:cs typeface="Arial" panose="020B0604020202020204"/>
            </a:endParaRPr>
          </a:p>
        </p:txBody>
      </p:sp>
      <p:graphicFrame>
        <p:nvGraphicFramePr>
          <p:cNvPr id="153" name="Chart"/>
          <p:cNvGraphicFramePr/>
          <p:nvPr/>
        </p:nvGraphicFramePr>
        <p:xfrm>
          <a:off x="190500" y="6953250"/>
          <a:ext cx="3295650" cy="1952625"/>
        </p:xfrm>
        <a:graphic>
          <a:graphicData uri="http://schemas.openxmlformats.org/drawingml/2006/chart">
            <c:chart xmlns:c="http://schemas.openxmlformats.org/drawingml/2006/chart" xmlns:r="http://schemas.openxmlformats.org/officeDocument/2006/relationships" r:id="rId9"/>
          </a:graphicData>
        </a:graphic>
      </p:graphicFrame>
      <p:sp>
        <p:nvSpPr>
          <p:cNvPr id="52" name="矩形 51"/>
          <p:cNvSpPr>
            <a:spLocks noGrp="1"/>
          </p:cNvSpPr>
          <p:nvPr/>
        </p:nvSpPr>
        <p:spPr>
          <a:xfrm>
            <a:off x="981075" y="9029700"/>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O</a:t>
            </a:r>
            <a:endParaRPr sz="1350" b="0">
              <a:solidFill>
                <a:srgbClr val="24292D"/>
              </a:solidFill>
              <a:latin typeface="Arial" panose="020B0604020202020204"/>
              <a:ea typeface="Arial" panose="020B0604020202020204"/>
              <a:cs typeface="Arial" panose="020B0604020202020204"/>
            </a:endParaRPr>
          </a:p>
        </p:txBody>
      </p:sp>
      <p:sp>
        <p:nvSpPr>
          <p:cNvPr id="53" name="矩形 52"/>
          <p:cNvSpPr>
            <a:spLocks noGrp="1"/>
          </p:cNvSpPr>
          <p:nvPr/>
        </p:nvSpPr>
        <p:spPr>
          <a:xfrm>
            <a:off x="1819275" y="9029700"/>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A</a:t>
            </a:r>
            <a:endParaRPr sz="1350" b="0">
              <a:solidFill>
                <a:srgbClr val="24292D"/>
              </a:solidFill>
              <a:latin typeface="Arial" panose="020B0604020202020204"/>
              <a:ea typeface="Arial" panose="020B0604020202020204"/>
              <a:cs typeface="Arial" panose="020B0604020202020204"/>
            </a:endParaRPr>
          </a:p>
        </p:txBody>
      </p:sp>
      <p:sp>
        <p:nvSpPr>
          <p:cNvPr id="54" name="矩形 53"/>
          <p:cNvSpPr>
            <a:spLocks noGrp="1"/>
          </p:cNvSpPr>
          <p:nvPr/>
        </p:nvSpPr>
        <p:spPr>
          <a:xfrm>
            <a:off x="2657475" y="9029700"/>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a:t>
            </a:r>
            <a:endParaRPr sz="1350" b="0">
              <a:solidFill>
                <a:srgbClr val="24292D"/>
              </a:solidFill>
              <a:latin typeface="Arial" panose="020B0604020202020204"/>
              <a:ea typeface="Arial" panose="020B0604020202020204"/>
              <a:cs typeface="Arial" panose="020B0604020202020204"/>
            </a:endParaRPr>
          </a:p>
        </p:txBody>
      </p:sp>
      <p:sp>
        <p:nvSpPr>
          <p:cNvPr id="55" name="矩形 54"/>
          <p:cNvSpPr>
            <a:spLocks noGrp="1"/>
          </p:cNvSpPr>
          <p:nvPr/>
        </p:nvSpPr>
        <p:spPr>
          <a:xfrm>
            <a:off x="3933825" y="6305550"/>
            <a:ext cx="30289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RX/S, opt., 12</a:t>
            </a:r>
            <a:endParaRPr sz="1350" b="0">
              <a:solidFill>
                <a:srgbClr val="24292D"/>
              </a:solidFill>
              <a:latin typeface="Arial" panose="020B0604020202020204"/>
              <a:ea typeface="Arial" panose="020B0604020202020204"/>
              <a:cs typeface="Arial" panose="020B0604020202020204"/>
            </a:endParaRPr>
          </a:p>
        </p:txBody>
      </p:sp>
      <p:sp>
        <p:nvSpPr>
          <p:cNvPr id="56" name="矩形 55"/>
          <p:cNvSpPr>
            <a:spLocks noGrp="1"/>
          </p:cNvSpPr>
          <p:nvPr/>
        </p:nvSpPr>
        <p:spPr>
          <a:xfrm>
            <a:off x="3933825" y="6629400"/>
            <a:ext cx="3028950" cy="285750"/>
          </a:xfrm>
          <a:prstGeom prst="rect">
            <a:avLst/>
          </a:prstGeom>
          <a:noFill/>
          <a:ln w="0">
            <a:noFill/>
          </a:ln>
        </p:spPr>
        <p:txBody>
          <a:bodyPr wrap="none" lIns="0" tIns="0" rIns="0" bIns="0" anchor="ctr">
            <a:noAutofit/>
          </a:bodyPr>
          <a:lstStyle/>
          <a:p>
            <a:pPr algn="l">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Macro MAE</a:t>
            </a:r>
            <a:endParaRPr sz="1350" b="0">
              <a:solidFill>
                <a:srgbClr val="6A737B"/>
              </a:solidFill>
              <a:latin typeface="Arial" panose="020B0604020202020204"/>
              <a:ea typeface="Arial" panose="020B0604020202020204"/>
              <a:cs typeface="Arial" panose="020B0604020202020204"/>
            </a:endParaRPr>
          </a:p>
        </p:txBody>
      </p:sp>
      <p:graphicFrame>
        <p:nvGraphicFramePr>
          <p:cNvPr id="159" name="Chart"/>
          <p:cNvGraphicFramePr/>
          <p:nvPr/>
        </p:nvGraphicFramePr>
        <p:xfrm>
          <a:off x="3600450" y="6953250"/>
          <a:ext cx="3295650" cy="1952625"/>
        </p:xfrm>
        <a:graphic>
          <a:graphicData uri="http://schemas.openxmlformats.org/drawingml/2006/chart">
            <c:chart xmlns:c="http://schemas.openxmlformats.org/drawingml/2006/chart" xmlns:r="http://schemas.openxmlformats.org/officeDocument/2006/relationships" r:id="rId10"/>
          </a:graphicData>
        </a:graphic>
      </p:graphicFrame>
      <p:sp>
        <p:nvSpPr>
          <p:cNvPr id="58" name="矩形 57"/>
          <p:cNvSpPr>
            <a:spLocks noGrp="1"/>
          </p:cNvSpPr>
          <p:nvPr/>
        </p:nvSpPr>
        <p:spPr>
          <a:xfrm>
            <a:off x="4391025" y="9029700"/>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O</a:t>
            </a:r>
            <a:endParaRPr sz="1350" b="0">
              <a:solidFill>
                <a:srgbClr val="24292D"/>
              </a:solidFill>
              <a:latin typeface="Arial" panose="020B0604020202020204"/>
              <a:ea typeface="Arial" panose="020B0604020202020204"/>
              <a:cs typeface="Arial" panose="020B0604020202020204"/>
            </a:endParaRPr>
          </a:p>
        </p:txBody>
      </p:sp>
      <p:sp>
        <p:nvSpPr>
          <p:cNvPr id="59" name="矩形 58"/>
          <p:cNvSpPr>
            <a:spLocks noGrp="1"/>
          </p:cNvSpPr>
          <p:nvPr/>
        </p:nvSpPr>
        <p:spPr>
          <a:xfrm>
            <a:off x="5229225" y="9029700"/>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A</a:t>
            </a:r>
            <a:endParaRPr sz="1350" b="0">
              <a:solidFill>
                <a:srgbClr val="24292D"/>
              </a:solidFill>
              <a:latin typeface="Arial" panose="020B0604020202020204"/>
              <a:ea typeface="Arial" panose="020B0604020202020204"/>
              <a:cs typeface="Arial" panose="020B0604020202020204"/>
            </a:endParaRPr>
          </a:p>
        </p:txBody>
      </p:sp>
      <p:sp>
        <p:nvSpPr>
          <p:cNvPr id="60" name="矩形 59"/>
          <p:cNvSpPr>
            <a:spLocks noGrp="1"/>
          </p:cNvSpPr>
          <p:nvPr/>
        </p:nvSpPr>
        <p:spPr>
          <a:xfrm>
            <a:off x="6067425" y="9029700"/>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a:t>
            </a:r>
            <a:endParaRPr sz="1350" b="0">
              <a:solidFill>
                <a:srgbClr val="24292D"/>
              </a:solidFill>
              <a:latin typeface="Arial" panose="020B0604020202020204"/>
              <a:ea typeface="Arial" panose="020B0604020202020204"/>
              <a:cs typeface="Arial" panose="020B0604020202020204"/>
            </a:endParaRPr>
          </a:p>
        </p:txBody>
      </p:sp>
      <p:sp>
        <p:nvSpPr>
          <p:cNvPr id="61" name="矩形 60"/>
          <p:cNvSpPr>
            <a:spLocks noGrp="1"/>
          </p:cNvSpPr>
          <p:nvPr/>
        </p:nvSpPr>
        <p:spPr>
          <a:xfrm>
            <a:off x="7343775" y="6305550"/>
            <a:ext cx="30289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EQ/P, char., 12</a:t>
            </a:r>
            <a:endParaRPr sz="1350" b="0">
              <a:solidFill>
                <a:srgbClr val="24292D"/>
              </a:solidFill>
              <a:latin typeface="Arial" panose="020B0604020202020204"/>
              <a:ea typeface="Arial" panose="020B0604020202020204"/>
              <a:cs typeface="Arial" panose="020B0604020202020204"/>
            </a:endParaRPr>
          </a:p>
        </p:txBody>
      </p:sp>
      <p:sp>
        <p:nvSpPr>
          <p:cNvPr id="62" name="矩形 61"/>
          <p:cNvSpPr>
            <a:spLocks noGrp="1"/>
          </p:cNvSpPr>
          <p:nvPr/>
        </p:nvSpPr>
        <p:spPr>
          <a:xfrm>
            <a:off x="7343775" y="6629400"/>
            <a:ext cx="3028950" cy="285750"/>
          </a:xfrm>
          <a:prstGeom prst="rect">
            <a:avLst/>
          </a:prstGeom>
          <a:noFill/>
          <a:ln w="0">
            <a:noFill/>
          </a:ln>
        </p:spPr>
        <p:txBody>
          <a:bodyPr wrap="none" lIns="0" tIns="0" rIns="0" bIns="0" anchor="ctr">
            <a:noAutofit/>
          </a:bodyPr>
          <a:lstStyle/>
          <a:p>
            <a:pPr algn="l">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Macro MAE</a:t>
            </a:r>
            <a:endParaRPr sz="1350" b="0">
              <a:solidFill>
                <a:srgbClr val="6A737B"/>
              </a:solidFill>
              <a:latin typeface="Arial" panose="020B0604020202020204"/>
              <a:ea typeface="Arial" panose="020B0604020202020204"/>
              <a:cs typeface="Arial" panose="020B0604020202020204"/>
            </a:endParaRPr>
          </a:p>
        </p:txBody>
      </p:sp>
      <p:graphicFrame>
        <p:nvGraphicFramePr>
          <p:cNvPr id="165" name="Chart"/>
          <p:cNvGraphicFramePr/>
          <p:nvPr/>
        </p:nvGraphicFramePr>
        <p:xfrm>
          <a:off x="7010400" y="6953250"/>
          <a:ext cx="3295650" cy="1952625"/>
        </p:xfrm>
        <a:graphic>
          <a:graphicData uri="http://schemas.openxmlformats.org/drawingml/2006/chart">
            <c:chart xmlns:c="http://schemas.openxmlformats.org/drawingml/2006/chart" xmlns:r="http://schemas.openxmlformats.org/officeDocument/2006/relationships" r:id="rId11"/>
          </a:graphicData>
        </a:graphic>
      </p:graphicFrame>
      <p:sp>
        <p:nvSpPr>
          <p:cNvPr id="64" name="矩形 63"/>
          <p:cNvSpPr>
            <a:spLocks noGrp="1"/>
          </p:cNvSpPr>
          <p:nvPr/>
        </p:nvSpPr>
        <p:spPr>
          <a:xfrm>
            <a:off x="7800975" y="9029700"/>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O</a:t>
            </a:r>
            <a:endParaRPr sz="1350" b="0">
              <a:solidFill>
                <a:srgbClr val="24292D"/>
              </a:solidFill>
              <a:latin typeface="Arial" panose="020B0604020202020204"/>
              <a:ea typeface="Arial" panose="020B0604020202020204"/>
              <a:cs typeface="Arial" panose="020B0604020202020204"/>
            </a:endParaRPr>
          </a:p>
        </p:txBody>
      </p:sp>
      <p:sp>
        <p:nvSpPr>
          <p:cNvPr id="65" name="矩形 64"/>
          <p:cNvSpPr>
            <a:spLocks noGrp="1"/>
          </p:cNvSpPr>
          <p:nvPr/>
        </p:nvSpPr>
        <p:spPr>
          <a:xfrm>
            <a:off x="8639175" y="9029700"/>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A</a:t>
            </a:r>
            <a:endParaRPr sz="1350" b="0">
              <a:solidFill>
                <a:srgbClr val="24292D"/>
              </a:solidFill>
              <a:latin typeface="Arial" panose="020B0604020202020204"/>
              <a:ea typeface="Arial" panose="020B0604020202020204"/>
              <a:cs typeface="Arial" panose="020B0604020202020204"/>
            </a:endParaRPr>
          </a:p>
        </p:txBody>
      </p:sp>
      <p:sp>
        <p:nvSpPr>
          <p:cNvPr id="66" name="矩形 65"/>
          <p:cNvSpPr>
            <a:spLocks noGrp="1"/>
          </p:cNvSpPr>
          <p:nvPr/>
        </p:nvSpPr>
        <p:spPr>
          <a:xfrm>
            <a:off x="9477375" y="9029700"/>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a:t>
            </a:r>
            <a:endParaRPr sz="1350" b="0">
              <a:solidFill>
                <a:srgbClr val="24292D"/>
              </a:solidFill>
              <a:latin typeface="Arial" panose="020B0604020202020204"/>
              <a:ea typeface="Arial" panose="020B0604020202020204"/>
              <a:cs typeface="Arial" panose="020B0604020202020204"/>
            </a:endParaRPr>
          </a:p>
        </p:txBody>
      </p:sp>
      <p:sp>
        <p:nvSpPr>
          <p:cNvPr id="67" name="矩形 66"/>
          <p:cNvSpPr>
            <a:spLocks noGrp="1"/>
          </p:cNvSpPr>
          <p:nvPr/>
        </p:nvSpPr>
        <p:spPr>
          <a:xfrm>
            <a:off x="10753725" y="6305550"/>
            <a:ext cx="2771775"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EQ/S, char., 12</a:t>
            </a:r>
            <a:endParaRPr sz="1350" b="0">
              <a:solidFill>
                <a:srgbClr val="24292D"/>
              </a:solidFill>
              <a:latin typeface="Arial" panose="020B0604020202020204"/>
              <a:ea typeface="Arial" panose="020B0604020202020204"/>
              <a:cs typeface="Arial" panose="020B0604020202020204"/>
            </a:endParaRPr>
          </a:p>
        </p:txBody>
      </p:sp>
      <p:sp>
        <p:nvSpPr>
          <p:cNvPr id="68" name="矩形 67"/>
          <p:cNvSpPr>
            <a:spLocks noGrp="1"/>
          </p:cNvSpPr>
          <p:nvPr/>
        </p:nvSpPr>
        <p:spPr>
          <a:xfrm>
            <a:off x="10753725" y="6629400"/>
            <a:ext cx="2771775" cy="285750"/>
          </a:xfrm>
          <a:prstGeom prst="rect">
            <a:avLst/>
          </a:prstGeom>
          <a:noFill/>
          <a:ln w="0">
            <a:noFill/>
          </a:ln>
        </p:spPr>
        <p:txBody>
          <a:bodyPr wrap="none" lIns="0" tIns="0" rIns="0" bIns="0" anchor="ctr">
            <a:noAutofit/>
          </a:bodyPr>
          <a:lstStyle/>
          <a:p>
            <a:pPr algn="l">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Macro MAE</a:t>
            </a:r>
            <a:endParaRPr sz="1350" b="0">
              <a:solidFill>
                <a:srgbClr val="6A737B"/>
              </a:solidFill>
              <a:latin typeface="Arial" panose="020B0604020202020204"/>
              <a:ea typeface="Arial" panose="020B0604020202020204"/>
              <a:cs typeface="Arial" panose="020B0604020202020204"/>
            </a:endParaRPr>
          </a:p>
        </p:txBody>
      </p:sp>
      <p:graphicFrame>
        <p:nvGraphicFramePr>
          <p:cNvPr id="171" name="Chart"/>
          <p:cNvGraphicFramePr/>
          <p:nvPr/>
        </p:nvGraphicFramePr>
        <p:xfrm>
          <a:off x="10420350" y="6953250"/>
          <a:ext cx="3295650" cy="1952625"/>
        </p:xfrm>
        <a:graphic>
          <a:graphicData uri="http://schemas.openxmlformats.org/drawingml/2006/chart">
            <c:chart xmlns:c="http://schemas.openxmlformats.org/drawingml/2006/chart" xmlns:r="http://schemas.openxmlformats.org/officeDocument/2006/relationships" r:id="rId12"/>
          </a:graphicData>
        </a:graphic>
      </p:graphicFrame>
      <p:sp>
        <p:nvSpPr>
          <p:cNvPr id="70" name="矩形 69"/>
          <p:cNvSpPr>
            <a:spLocks noGrp="1"/>
          </p:cNvSpPr>
          <p:nvPr/>
        </p:nvSpPr>
        <p:spPr>
          <a:xfrm>
            <a:off x="11210925" y="9029700"/>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O</a:t>
            </a:r>
            <a:endParaRPr sz="1350" b="0">
              <a:solidFill>
                <a:srgbClr val="24292D"/>
              </a:solidFill>
              <a:latin typeface="Arial" panose="020B0604020202020204"/>
              <a:ea typeface="Arial" panose="020B0604020202020204"/>
              <a:cs typeface="Arial" panose="020B0604020202020204"/>
            </a:endParaRPr>
          </a:p>
        </p:txBody>
      </p:sp>
      <p:sp>
        <p:nvSpPr>
          <p:cNvPr id="71" name="矩形 70"/>
          <p:cNvSpPr>
            <a:spLocks noGrp="1"/>
          </p:cNvSpPr>
          <p:nvPr/>
        </p:nvSpPr>
        <p:spPr>
          <a:xfrm>
            <a:off x="12049125" y="9029700"/>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A</a:t>
            </a:r>
            <a:endParaRPr sz="1350" b="0">
              <a:solidFill>
                <a:srgbClr val="24292D"/>
              </a:solidFill>
              <a:latin typeface="Arial" panose="020B0604020202020204"/>
              <a:ea typeface="Arial" panose="020B0604020202020204"/>
              <a:cs typeface="Arial" panose="020B0604020202020204"/>
            </a:endParaRPr>
          </a:p>
        </p:txBody>
      </p:sp>
      <p:sp>
        <p:nvSpPr>
          <p:cNvPr id="72" name="矩形 71"/>
          <p:cNvSpPr>
            <a:spLocks noGrp="1"/>
          </p:cNvSpPr>
          <p:nvPr/>
        </p:nvSpPr>
        <p:spPr>
          <a:xfrm>
            <a:off x="12887325" y="9029700"/>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a:t>
            </a:r>
            <a:endParaRPr sz="1350" b="0">
              <a:solidFill>
                <a:srgbClr val="24292D"/>
              </a:solidFill>
              <a:latin typeface="Arial" panose="020B0604020202020204"/>
              <a:ea typeface="Arial" panose="020B0604020202020204"/>
              <a:cs typeface="Arial" panose="020B0604020202020204"/>
            </a:endParaRPr>
          </a:p>
        </p:txBody>
      </p:sp>
      <p:sp>
        <p:nvSpPr>
          <p:cNvPr id="73" name="矩形 72"/>
          <p:cNvSpPr>
            <a:spLocks noGrp="1"/>
          </p:cNvSpPr>
          <p:nvPr/>
        </p:nvSpPr>
        <p:spPr>
          <a:xfrm>
            <a:off x="523875" y="9401175"/>
            <a:ext cx="30289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C/E, delivery, 12</a:t>
            </a:r>
            <a:endParaRPr sz="1350" b="0">
              <a:solidFill>
                <a:srgbClr val="24292D"/>
              </a:solidFill>
              <a:latin typeface="Arial" panose="020B0604020202020204"/>
              <a:ea typeface="Arial" panose="020B0604020202020204"/>
              <a:cs typeface="Arial" panose="020B0604020202020204"/>
            </a:endParaRPr>
          </a:p>
        </p:txBody>
      </p:sp>
      <p:sp>
        <p:nvSpPr>
          <p:cNvPr id="74" name="矩形 73"/>
          <p:cNvSpPr>
            <a:spLocks noGrp="1"/>
          </p:cNvSpPr>
          <p:nvPr/>
        </p:nvSpPr>
        <p:spPr>
          <a:xfrm>
            <a:off x="523875" y="9725025"/>
            <a:ext cx="3028950" cy="285750"/>
          </a:xfrm>
          <a:prstGeom prst="rect">
            <a:avLst/>
          </a:prstGeom>
          <a:noFill/>
          <a:ln w="0">
            <a:noFill/>
          </a:ln>
        </p:spPr>
        <p:txBody>
          <a:bodyPr wrap="none" lIns="0" tIns="0" rIns="0" bIns="0" anchor="ctr">
            <a:noAutofit/>
          </a:bodyPr>
          <a:lstStyle/>
          <a:p>
            <a:pPr algn="l">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Fines MAE</a:t>
            </a:r>
            <a:endParaRPr sz="1350" b="0">
              <a:solidFill>
                <a:srgbClr val="6A737B"/>
              </a:solidFill>
              <a:latin typeface="Arial" panose="020B0604020202020204"/>
              <a:ea typeface="Arial" panose="020B0604020202020204"/>
              <a:cs typeface="Arial" panose="020B0604020202020204"/>
            </a:endParaRPr>
          </a:p>
        </p:txBody>
      </p:sp>
      <p:graphicFrame>
        <p:nvGraphicFramePr>
          <p:cNvPr id="177" name="Chart"/>
          <p:cNvGraphicFramePr/>
          <p:nvPr/>
        </p:nvGraphicFramePr>
        <p:xfrm>
          <a:off x="190500" y="10048875"/>
          <a:ext cx="3295650" cy="1952625"/>
        </p:xfrm>
        <a:graphic>
          <a:graphicData uri="http://schemas.openxmlformats.org/drawingml/2006/chart">
            <c:chart xmlns:c="http://schemas.openxmlformats.org/drawingml/2006/chart" xmlns:r="http://schemas.openxmlformats.org/officeDocument/2006/relationships" r:id="rId13"/>
          </a:graphicData>
        </a:graphic>
      </p:graphicFrame>
      <p:sp>
        <p:nvSpPr>
          <p:cNvPr id="76" name="矩形 75"/>
          <p:cNvSpPr>
            <a:spLocks noGrp="1"/>
          </p:cNvSpPr>
          <p:nvPr/>
        </p:nvSpPr>
        <p:spPr>
          <a:xfrm>
            <a:off x="981075" y="12125325"/>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O</a:t>
            </a:r>
            <a:endParaRPr sz="1350" b="0">
              <a:solidFill>
                <a:srgbClr val="24292D"/>
              </a:solidFill>
              <a:latin typeface="Arial" panose="020B0604020202020204"/>
              <a:ea typeface="Arial" panose="020B0604020202020204"/>
              <a:cs typeface="Arial" panose="020B0604020202020204"/>
            </a:endParaRPr>
          </a:p>
        </p:txBody>
      </p:sp>
      <p:sp>
        <p:nvSpPr>
          <p:cNvPr id="77" name="矩形 76"/>
          <p:cNvSpPr>
            <a:spLocks noGrp="1"/>
          </p:cNvSpPr>
          <p:nvPr/>
        </p:nvSpPr>
        <p:spPr>
          <a:xfrm>
            <a:off x="1819275" y="12125325"/>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A</a:t>
            </a:r>
            <a:endParaRPr sz="1350" b="0">
              <a:solidFill>
                <a:srgbClr val="24292D"/>
              </a:solidFill>
              <a:latin typeface="Arial" panose="020B0604020202020204"/>
              <a:ea typeface="Arial" panose="020B0604020202020204"/>
              <a:cs typeface="Arial" panose="020B0604020202020204"/>
            </a:endParaRPr>
          </a:p>
        </p:txBody>
      </p:sp>
      <p:sp>
        <p:nvSpPr>
          <p:cNvPr id="78" name="矩形 77"/>
          <p:cNvSpPr>
            <a:spLocks noGrp="1"/>
          </p:cNvSpPr>
          <p:nvPr/>
        </p:nvSpPr>
        <p:spPr>
          <a:xfrm>
            <a:off x="2657475" y="12125325"/>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a:t>
            </a:r>
            <a:endParaRPr sz="1350" b="0">
              <a:solidFill>
                <a:srgbClr val="24292D"/>
              </a:solidFill>
              <a:latin typeface="Arial" panose="020B0604020202020204"/>
              <a:ea typeface="Arial" panose="020B0604020202020204"/>
              <a:cs typeface="Arial" panose="020B0604020202020204"/>
            </a:endParaRPr>
          </a:p>
        </p:txBody>
      </p:sp>
      <p:sp>
        <p:nvSpPr>
          <p:cNvPr id="79" name="矩形 78"/>
          <p:cNvSpPr>
            <a:spLocks noGrp="1"/>
          </p:cNvSpPr>
          <p:nvPr/>
        </p:nvSpPr>
        <p:spPr>
          <a:xfrm>
            <a:off x="3933825" y="9401175"/>
            <a:ext cx="30289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C/E, delivery, 24</a:t>
            </a:r>
            <a:endParaRPr sz="1350" b="0">
              <a:solidFill>
                <a:srgbClr val="24292D"/>
              </a:solidFill>
              <a:latin typeface="Arial" panose="020B0604020202020204"/>
              <a:ea typeface="Arial" panose="020B0604020202020204"/>
              <a:cs typeface="Arial" panose="020B0604020202020204"/>
            </a:endParaRPr>
          </a:p>
        </p:txBody>
      </p:sp>
      <p:sp>
        <p:nvSpPr>
          <p:cNvPr id="80" name="矩形 79"/>
          <p:cNvSpPr>
            <a:spLocks noGrp="1"/>
          </p:cNvSpPr>
          <p:nvPr/>
        </p:nvSpPr>
        <p:spPr>
          <a:xfrm>
            <a:off x="3933825" y="9725025"/>
            <a:ext cx="3028950" cy="285750"/>
          </a:xfrm>
          <a:prstGeom prst="rect">
            <a:avLst/>
          </a:prstGeom>
          <a:noFill/>
          <a:ln w="0">
            <a:noFill/>
          </a:ln>
        </p:spPr>
        <p:txBody>
          <a:bodyPr wrap="none" lIns="0" tIns="0" rIns="0" bIns="0" anchor="ctr">
            <a:noAutofit/>
          </a:bodyPr>
          <a:lstStyle/>
          <a:p>
            <a:pPr algn="l">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Fines MAE</a:t>
            </a:r>
            <a:endParaRPr sz="1350" b="0">
              <a:solidFill>
                <a:srgbClr val="6A737B"/>
              </a:solidFill>
              <a:latin typeface="Arial" panose="020B0604020202020204"/>
              <a:ea typeface="Arial" panose="020B0604020202020204"/>
              <a:cs typeface="Arial" panose="020B0604020202020204"/>
            </a:endParaRPr>
          </a:p>
        </p:txBody>
      </p:sp>
      <p:graphicFrame>
        <p:nvGraphicFramePr>
          <p:cNvPr id="183" name="Chart"/>
          <p:cNvGraphicFramePr/>
          <p:nvPr/>
        </p:nvGraphicFramePr>
        <p:xfrm>
          <a:off x="3600450" y="10048875"/>
          <a:ext cx="3295650" cy="1952625"/>
        </p:xfrm>
        <a:graphic>
          <a:graphicData uri="http://schemas.openxmlformats.org/drawingml/2006/chart">
            <c:chart xmlns:c="http://schemas.openxmlformats.org/drawingml/2006/chart" xmlns:r="http://schemas.openxmlformats.org/officeDocument/2006/relationships" r:id="rId14"/>
          </a:graphicData>
        </a:graphic>
      </p:graphicFrame>
      <p:sp>
        <p:nvSpPr>
          <p:cNvPr id="82" name="矩形 81"/>
          <p:cNvSpPr>
            <a:spLocks noGrp="1"/>
          </p:cNvSpPr>
          <p:nvPr/>
        </p:nvSpPr>
        <p:spPr>
          <a:xfrm>
            <a:off x="4391025" y="12125325"/>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O</a:t>
            </a:r>
            <a:endParaRPr sz="1350" b="0">
              <a:solidFill>
                <a:srgbClr val="24292D"/>
              </a:solidFill>
              <a:latin typeface="Arial" panose="020B0604020202020204"/>
              <a:ea typeface="Arial" panose="020B0604020202020204"/>
              <a:cs typeface="Arial" panose="020B0604020202020204"/>
            </a:endParaRPr>
          </a:p>
        </p:txBody>
      </p:sp>
      <p:sp>
        <p:nvSpPr>
          <p:cNvPr id="83" name="矩形 82"/>
          <p:cNvSpPr>
            <a:spLocks noGrp="1"/>
          </p:cNvSpPr>
          <p:nvPr/>
        </p:nvSpPr>
        <p:spPr>
          <a:xfrm>
            <a:off x="5229225" y="12125325"/>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A</a:t>
            </a:r>
            <a:endParaRPr sz="1350" b="0">
              <a:solidFill>
                <a:srgbClr val="24292D"/>
              </a:solidFill>
              <a:latin typeface="Arial" panose="020B0604020202020204"/>
              <a:ea typeface="Arial" panose="020B0604020202020204"/>
              <a:cs typeface="Arial" panose="020B0604020202020204"/>
            </a:endParaRPr>
          </a:p>
        </p:txBody>
      </p:sp>
      <p:sp>
        <p:nvSpPr>
          <p:cNvPr id="84" name="矩形 83"/>
          <p:cNvSpPr>
            <a:spLocks noGrp="1"/>
          </p:cNvSpPr>
          <p:nvPr/>
        </p:nvSpPr>
        <p:spPr>
          <a:xfrm>
            <a:off x="6067425" y="12125325"/>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a:t>
            </a:r>
            <a:endParaRPr sz="1350" b="0">
              <a:solidFill>
                <a:srgbClr val="24292D"/>
              </a:solidFill>
              <a:latin typeface="Arial" panose="020B0604020202020204"/>
              <a:ea typeface="Arial" panose="020B0604020202020204"/>
              <a:cs typeface="Arial" panose="020B0604020202020204"/>
            </a:endParaRPr>
          </a:p>
        </p:txBody>
      </p:sp>
      <p:sp>
        <p:nvSpPr>
          <p:cNvPr id="85" name="矩形 84"/>
          <p:cNvSpPr>
            <a:spLocks noGrp="1"/>
          </p:cNvSpPr>
          <p:nvPr/>
        </p:nvSpPr>
        <p:spPr>
          <a:xfrm>
            <a:off x="7343775" y="9401175"/>
            <a:ext cx="30289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P/E, delivery, 12</a:t>
            </a:r>
            <a:endParaRPr sz="1350" b="0">
              <a:solidFill>
                <a:srgbClr val="24292D"/>
              </a:solidFill>
              <a:latin typeface="Arial" panose="020B0604020202020204"/>
              <a:ea typeface="Arial" panose="020B0604020202020204"/>
              <a:cs typeface="Arial" panose="020B0604020202020204"/>
            </a:endParaRPr>
          </a:p>
        </p:txBody>
      </p:sp>
      <p:sp>
        <p:nvSpPr>
          <p:cNvPr id="86" name="矩形 85"/>
          <p:cNvSpPr>
            <a:spLocks noGrp="1"/>
          </p:cNvSpPr>
          <p:nvPr/>
        </p:nvSpPr>
        <p:spPr>
          <a:xfrm>
            <a:off x="7343775" y="9725025"/>
            <a:ext cx="3028950" cy="285750"/>
          </a:xfrm>
          <a:prstGeom prst="rect">
            <a:avLst/>
          </a:prstGeom>
          <a:noFill/>
          <a:ln w="0">
            <a:noFill/>
          </a:ln>
        </p:spPr>
        <p:txBody>
          <a:bodyPr wrap="none" lIns="0" tIns="0" rIns="0" bIns="0" anchor="ctr">
            <a:noAutofit/>
          </a:bodyPr>
          <a:lstStyle/>
          <a:p>
            <a:pPr algn="l">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Purity MAE</a:t>
            </a:r>
            <a:endParaRPr sz="1350" b="0">
              <a:solidFill>
                <a:srgbClr val="6A737B"/>
              </a:solidFill>
              <a:latin typeface="Arial" panose="020B0604020202020204"/>
              <a:ea typeface="Arial" panose="020B0604020202020204"/>
              <a:cs typeface="Arial" panose="020B0604020202020204"/>
            </a:endParaRPr>
          </a:p>
        </p:txBody>
      </p:sp>
      <p:graphicFrame>
        <p:nvGraphicFramePr>
          <p:cNvPr id="189" name="Chart"/>
          <p:cNvGraphicFramePr/>
          <p:nvPr/>
        </p:nvGraphicFramePr>
        <p:xfrm>
          <a:off x="7010400" y="10048875"/>
          <a:ext cx="3295650" cy="1952625"/>
        </p:xfrm>
        <a:graphic>
          <a:graphicData uri="http://schemas.openxmlformats.org/drawingml/2006/chart">
            <c:chart xmlns:c="http://schemas.openxmlformats.org/drawingml/2006/chart" xmlns:r="http://schemas.openxmlformats.org/officeDocument/2006/relationships" r:id="rId15"/>
          </a:graphicData>
        </a:graphic>
      </p:graphicFrame>
      <p:sp>
        <p:nvSpPr>
          <p:cNvPr id="88" name="矩形 87"/>
          <p:cNvSpPr>
            <a:spLocks noGrp="1"/>
          </p:cNvSpPr>
          <p:nvPr/>
        </p:nvSpPr>
        <p:spPr>
          <a:xfrm>
            <a:off x="7800975" y="12125325"/>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O</a:t>
            </a:r>
            <a:endParaRPr sz="1350" b="0">
              <a:solidFill>
                <a:srgbClr val="24292D"/>
              </a:solidFill>
              <a:latin typeface="Arial" panose="020B0604020202020204"/>
              <a:ea typeface="Arial" panose="020B0604020202020204"/>
              <a:cs typeface="Arial" panose="020B0604020202020204"/>
            </a:endParaRPr>
          </a:p>
        </p:txBody>
      </p:sp>
      <p:sp>
        <p:nvSpPr>
          <p:cNvPr id="89" name="矩形 88"/>
          <p:cNvSpPr>
            <a:spLocks noGrp="1"/>
          </p:cNvSpPr>
          <p:nvPr/>
        </p:nvSpPr>
        <p:spPr>
          <a:xfrm>
            <a:off x="8639175" y="12125325"/>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A</a:t>
            </a:r>
            <a:endParaRPr sz="1350" b="0">
              <a:solidFill>
                <a:srgbClr val="24292D"/>
              </a:solidFill>
              <a:latin typeface="Arial" panose="020B0604020202020204"/>
              <a:ea typeface="Arial" panose="020B0604020202020204"/>
              <a:cs typeface="Arial" panose="020B0604020202020204"/>
            </a:endParaRPr>
          </a:p>
        </p:txBody>
      </p:sp>
      <p:sp>
        <p:nvSpPr>
          <p:cNvPr id="90" name="矩形 89"/>
          <p:cNvSpPr>
            <a:spLocks noGrp="1"/>
          </p:cNvSpPr>
          <p:nvPr/>
        </p:nvSpPr>
        <p:spPr>
          <a:xfrm>
            <a:off x="9477375" y="12125325"/>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a:t>
            </a:r>
            <a:endParaRPr sz="1350" b="0">
              <a:solidFill>
                <a:srgbClr val="24292D"/>
              </a:solidFill>
              <a:latin typeface="Arial" panose="020B0604020202020204"/>
              <a:ea typeface="Arial" panose="020B0604020202020204"/>
              <a:cs typeface="Arial" panose="020B0604020202020204"/>
            </a:endParaRPr>
          </a:p>
        </p:txBody>
      </p:sp>
      <p:sp>
        <p:nvSpPr>
          <p:cNvPr id="91" name="矩形 90"/>
          <p:cNvSpPr>
            <a:spLocks noGrp="1"/>
          </p:cNvSpPr>
          <p:nvPr/>
        </p:nvSpPr>
        <p:spPr>
          <a:xfrm>
            <a:off x="10753725" y="9401175"/>
            <a:ext cx="2771775"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P/E, delivery, 12</a:t>
            </a:r>
            <a:endParaRPr sz="1350" b="0">
              <a:solidFill>
                <a:srgbClr val="24292D"/>
              </a:solidFill>
              <a:latin typeface="Arial" panose="020B0604020202020204"/>
              <a:ea typeface="Arial" panose="020B0604020202020204"/>
              <a:cs typeface="Arial" panose="020B0604020202020204"/>
            </a:endParaRPr>
          </a:p>
        </p:txBody>
      </p:sp>
      <p:sp>
        <p:nvSpPr>
          <p:cNvPr id="92" name="矩形 91"/>
          <p:cNvSpPr>
            <a:spLocks noGrp="1"/>
          </p:cNvSpPr>
          <p:nvPr/>
        </p:nvSpPr>
        <p:spPr>
          <a:xfrm>
            <a:off x="10753725" y="9725025"/>
            <a:ext cx="2771775" cy="285750"/>
          </a:xfrm>
          <a:prstGeom prst="rect">
            <a:avLst/>
          </a:prstGeom>
          <a:noFill/>
          <a:ln w="0">
            <a:noFill/>
          </a:ln>
        </p:spPr>
        <p:txBody>
          <a:bodyPr wrap="none" lIns="0" tIns="0" rIns="0" bIns="0" anchor="ctr">
            <a:noAutofit/>
          </a:bodyPr>
          <a:lstStyle/>
          <a:p>
            <a:pPr algn="l">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Recovery MAE</a:t>
            </a:r>
            <a:endParaRPr sz="1350" b="0">
              <a:solidFill>
                <a:srgbClr val="6A737B"/>
              </a:solidFill>
              <a:latin typeface="Arial" panose="020B0604020202020204"/>
              <a:ea typeface="Arial" panose="020B0604020202020204"/>
              <a:cs typeface="Arial" panose="020B0604020202020204"/>
            </a:endParaRPr>
          </a:p>
        </p:txBody>
      </p:sp>
      <p:graphicFrame>
        <p:nvGraphicFramePr>
          <p:cNvPr id="195" name="Chart"/>
          <p:cNvGraphicFramePr/>
          <p:nvPr/>
        </p:nvGraphicFramePr>
        <p:xfrm>
          <a:off x="10420350" y="10048875"/>
          <a:ext cx="3295650" cy="1952625"/>
        </p:xfrm>
        <a:graphic>
          <a:graphicData uri="http://schemas.openxmlformats.org/drawingml/2006/chart">
            <c:chart xmlns:c="http://schemas.openxmlformats.org/drawingml/2006/chart" xmlns:r="http://schemas.openxmlformats.org/officeDocument/2006/relationships" r:id="rId16"/>
          </a:graphicData>
        </a:graphic>
      </p:graphicFrame>
      <p:sp>
        <p:nvSpPr>
          <p:cNvPr id="94" name="矩形 93"/>
          <p:cNvSpPr>
            <a:spLocks noGrp="1"/>
          </p:cNvSpPr>
          <p:nvPr/>
        </p:nvSpPr>
        <p:spPr>
          <a:xfrm>
            <a:off x="11210925" y="12125325"/>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O</a:t>
            </a:r>
            <a:endParaRPr sz="1350" b="0">
              <a:solidFill>
                <a:srgbClr val="24292D"/>
              </a:solidFill>
              <a:latin typeface="Arial" panose="020B0604020202020204"/>
              <a:ea typeface="Arial" panose="020B0604020202020204"/>
              <a:cs typeface="Arial" panose="020B0604020202020204"/>
            </a:endParaRPr>
          </a:p>
        </p:txBody>
      </p:sp>
      <p:sp>
        <p:nvSpPr>
          <p:cNvPr id="95" name="矩形 94"/>
          <p:cNvSpPr>
            <a:spLocks noGrp="1"/>
          </p:cNvSpPr>
          <p:nvPr/>
        </p:nvSpPr>
        <p:spPr>
          <a:xfrm>
            <a:off x="12049125" y="12125325"/>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A</a:t>
            </a:r>
            <a:endParaRPr sz="1350" b="0">
              <a:solidFill>
                <a:srgbClr val="24292D"/>
              </a:solidFill>
              <a:latin typeface="Arial" panose="020B0604020202020204"/>
              <a:ea typeface="Arial" panose="020B0604020202020204"/>
              <a:cs typeface="Arial" panose="020B0604020202020204"/>
            </a:endParaRPr>
          </a:p>
        </p:txBody>
      </p:sp>
      <p:sp>
        <p:nvSpPr>
          <p:cNvPr id="96" name="矩形 95"/>
          <p:cNvSpPr>
            <a:spLocks noGrp="1"/>
          </p:cNvSpPr>
          <p:nvPr/>
        </p:nvSpPr>
        <p:spPr>
          <a:xfrm>
            <a:off x="12887325" y="12125325"/>
            <a:ext cx="49530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a:t>
            </a:r>
            <a:endParaRPr sz="1350" b="0">
              <a:solidFill>
                <a:srgbClr val="24292D"/>
              </a:solidFill>
              <a:latin typeface="Arial" panose="020B0604020202020204"/>
              <a:ea typeface="Arial" panose="020B0604020202020204"/>
              <a:cs typeface="Arial" panose="020B0604020202020204"/>
            </a:endParaRPr>
          </a:p>
        </p:txBody>
      </p:sp>
      <p:sp>
        <p:nvSpPr>
          <p:cNvPr id="97" name="椭圆 96"/>
          <p:cNvSpPr>
            <a:spLocks noGrp="1"/>
          </p:cNvSpPr>
          <p:nvPr/>
        </p:nvSpPr>
        <p:spPr>
          <a:xfrm>
            <a:off x="4200525" y="12573000"/>
            <a:ext cx="114300" cy="114300"/>
          </a:xfrm>
          <a:prstGeom prst="ellipse">
            <a:avLst/>
          </a:prstGeom>
          <a:solidFill>
            <a:srgbClr val="637482"/>
          </a:solidFill>
          <a:ln w="9525">
            <a:solidFill>
              <a:srgbClr val="637482"/>
            </a:solidFill>
          </a:ln>
        </p:spPr>
      </p:sp>
      <p:sp>
        <p:nvSpPr>
          <p:cNvPr id="98" name="矩形 97"/>
          <p:cNvSpPr>
            <a:spLocks noGrp="1"/>
          </p:cNvSpPr>
          <p:nvPr/>
        </p:nvSpPr>
        <p:spPr>
          <a:xfrm>
            <a:off x="4429125" y="12477750"/>
            <a:ext cx="952500" cy="32385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Opaque</a:t>
            </a:r>
            <a:endParaRPr sz="1350" b="0">
              <a:solidFill>
                <a:srgbClr val="24292D"/>
              </a:solidFill>
              <a:latin typeface="Arial" panose="020B0604020202020204"/>
              <a:ea typeface="Arial" panose="020B0604020202020204"/>
              <a:cs typeface="Arial" panose="020B0604020202020204"/>
            </a:endParaRPr>
          </a:p>
        </p:txBody>
      </p:sp>
      <p:sp>
        <p:nvSpPr>
          <p:cNvPr id="99" name="椭圆 98"/>
          <p:cNvSpPr>
            <a:spLocks noGrp="1"/>
          </p:cNvSpPr>
          <p:nvPr/>
        </p:nvSpPr>
        <p:spPr>
          <a:xfrm>
            <a:off x="5267325" y="12573000"/>
            <a:ext cx="114300" cy="114300"/>
          </a:xfrm>
          <a:prstGeom prst="ellipse">
            <a:avLst/>
          </a:prstGeom>
          <a:solidFill>
            <a:srgbClr val="277F8A"/>
          </a:solidFill>
          <a:ln w="9525">
            <a:solidFill>
              <a:srgbClr val="277F8A"/>
            </a:solidFill>
          </a:ln>
        </p:spPr>
      </p:sp>
      <p:sp>
        <p:nvSpPr>
          <p:cNvPr id="100" name="矩形 99"/>
          <p:cNvSpPr>
            <a:spLocks noGrp="1"/>
          </p:cNvSpPr>
          <p:nvPr/>
        </p:nvSpPr>
        <p:spPr>
          <a:xfrm>
            <a:off x="5495925" y="12477750"/>
            <a:ext cx="952500" cy="32385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Aligned</a:t>
            </a:r>
            <a:endParaRPr sz="1350" b="0">
              <a:solidFill>
                <a:srgbClr val="24292D"/>
              </a:solidFill>
              <a:latin typeface="Arial" panose="020B0604020202020204"/>
              <a:ea typeface="Arial" panose="020B0604020202020204"/>
              <a:cs typeface="Arial" panose="020B0604020202020204"/>
            </a:endParaRPr>
          </a:p>
        </p:txBody>
      </p:sp>
      <p:sp>
        <p:nvSpPr>
          <p:cNvPr id="101" name="椭圆 100"/>
          <p:cNvSpPr>
            <a:spLocks noGrp="1"/>
          </p:cNvSpPr>
          <p:nvPr/>
        </p:nvSpPr>
        <p:spPr>
          <a:xfrm>
            <a:off x="6448425" y="12573000"/>
            <a:ext cx="114300" cy="114300"/>
          </a:xfrm>
          <a:prstGeom prst="ellipse">
            <a:avLst/>
          </a:prstGeom>
          <a:solidFill>
            <a:srgbClr val="BC7850"/>
          </a:solidFill>
          <a:ln w="9525">
            <a:solidFill>
              <a:srgbClr val="BC7850"/>
            </a:solidFill>
          </a:ln>
        </p:spPr>
      </p:sp>
      <p:sp>
        <p:nvSpPr>
          <p:cNvPr id="102" name="矩形 101"/>
          <p:cNvSpPr>
            <a:spLocks noGrp="1"/>
          </p:cNvSpPr>
          <p:nvPr/>
        </p:nvSpPr>
        <p:spPr>
          <a:xfrm>
            <a:off x="6677025" y="12477750"/>
            <a:ext cx="1143000" cy="32385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MisIndexed</a:t>
            </a:r>
            <a:endParaRPr sz="1350" b="0">
              <a:solidFill>
                <a:srgbClr val="24292D"/>
              </a:solidFill>
              <a:latin typeface="Arial" panose="020B0604020202020204"/>
              <a:ea typeface="Arial" panose="020B0604020202020204"/>
              <a:cs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2" name="矩形 31"/>
          <p:cNvSpPr>
            <a:spLocks noGrp="1"/>
          </p:cNvSpPr>
          <p:nvPr/>
        </p:nvSpPr>
        <p:spPr>
          <a:xfrm>
            <a:off x="238125" y="114300"/>
            <a:ext cx="323850" cy="342900"/>
          </a:xfrm>
          <a:prstGeom prst="rect">
            <a:avLst/>
          </a:prstGeom>
          <a:noFill/>
          <a:ln w="0">
            <a:noFill/>
          </a:ln>
        </p:spPr>
        <p:txBody>
          <a:bodyPr wrap="none" lIns="0" tIns="0" rIns="0" bIns="0" anchor="ctr">
            <a:noAutofit/>
          </a:bodyPr>
          <a:lstStyle/>
          <a:p>
            <a:pPr algn="l">
              <a:defRPr sz="2025" b="1">
                <a:solidFill>
                  <a:srgbClr val="24292D"/>
                </a:solidFill>
                <a:latin typeface="Arial" panose="020B0604020202020204"/>
                <a:ea typeface="Arial" panose="020B0604020202020204"/>
                <a:cs typeface="Arial" panose="020B0604020202020204"/>
              </a:defRPr>
            </a:pPr>
            <a:r>
              <a:rPr sz="2025" b="1">
                <a:solidFill>
                  <a:srgbClr val="24292D"/>
                </a:solidFill>
                <a:latin typeface="Arial" panose="020B0604020202020204"/>
                <a:ea typeface="Arial" panose="020B0604020202020204"/>
                <a:cs typeface="Arial" panose="020B0604020202020204"/>
              </a:rPr>
              <a:t>a</a:t>
            </a:r>
            <a:endParaRPr sz="2025" b="1">
              <a:solidFill>
                <a:srgbClr val="24292D"/>
              </a:solidFill>
              <a:latin typeface="Arial" panose="020B0604020202020204"/>
              <a:ea typeface="Arial" panose="020B0604020202020204"/>
              <a:cs typeface="Arial" panose="020B0604020202020204"/>
            </a:endParaRPr>
          </a:p>
        </p:txBody>
      </p:sp>
      <p:sp>
        <p:nvSpPr>
          <p:cNvPr id="2" name="矩形 1"/>
          <p:cNvSpPr>
            <a:spLocks noGrp="1"/>
          </p:cNvSpPr>
          <p:nvPr/>
        </p:nvSpPr>
        <p:spPr>
          <a:xfrm>
            <a:off x="619125" y="114300"/>
            <a:ext cx="3505200" cy="342900"/>
          </a:xfrm>
          <a:prstGeom prst="rect">
            <a:avLst/>
          </a:prstGeom>
          <a:noFill/>
          <a:ln w="0">
            <a:noFill/>
          </a:ln>
        </p:spPr>
        <p:txBody>
          <a:bodyPr wrap="none" lIns="0" tIns="0" rIns="0" bIns="0" anchor="ctr">
            <a:noAutofit/>
          </a:bodyPr>
          <a:lstStyle/>
          <a:p>
            <a:pPr algn="l">
              <a:defRPr sz="1500" b="0">
                <a:solidFill>
                  <a:srgbClr val="24292D"/>
                </a:solidFill>
                <a:latin typeface="Arial" panose="020B0604020202020204"/>
                <a:ea typeface="Arial" panose="020B0604020202020204"/>
                <a:cs typeface="Arial" panose="020B0604020202020204"/>
              </a:defRPr>
            </a:pPr>
            <a:r>
              <a:rPr sz="1500" b="0">
                <a:solidFill>
                  <a:srgbClr val="24292D"/>
                </a:solidFill>
                <a:latin typeface="Arial" panose="020B0604020202020204"/>
                <a:ea typeface="Arial" panose="020B0604020202020204"/>
                <a:cs typeface="Arial" panose="020B0604020202020204"/>
              </a:rPr>
              <a:t>Reaction processing: discovery</a:t>
            </a:r>
            <a:endParaRPr sz="1500" b="0">
              <a:solidFill>
                <a:srgbClr val="24292D"/>
              </a:solidFill>
              <a:latin typeface="Arial" panose="020B0604020202020204"/>
              <a:ea typeface="Arial" panose="020B0604020202020204"/>
              <a:cs typeface="Arial" panose="020B0604020202020204"/>
            </a:endParaRPr>
          </a:p>
        </p:txBody>
      </p:sp>
      <p:graphicFrame>
        <p:nvGraphicFramePr>
          <p:cNvPr id="34" name="Chart"/>
          <p:cNvGraphicFramePr/>
          <p:nvPr/>
        </p:nvGraphicFramePr>
        <p:xfrm>
          <a:off x="428625" y="666750"/>
          <a:ext cx="6334125" cy="3476625"/>
        </p:xfrm>
        <a:graphic>
          <a:graphicData uri="http://schemas.openxmlformats.org/drawingml/2006/chart">
            <c:chart xmlns:c="http://schemas.openxmlformats.org/drawingml/2006/chart" xmlns:r="http://schemas.openxmlformats.org/officeDocument/2006/relationships" r:id="rId1"/>
          </a:graphicData>
        </a:graphic>
      </p:graphicFrame>
      <p:sp>
        <p:nvSpPr>
          <p:cNvPr id="4" name="矩形 3"/>
          <p:cNvSpPr>
            <a:spLocks noGrp="1"/>
          </p:cNvSpPr>
          <p:nvPr/>
        </p:nvSpPr>
        <p:spPr>
          <a:xfrm>
            <a:off x="1219200" y="4219575"/>
            <a:ext cx="1571625"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Opaque</a:t>
            </a:r>
            <a:endParaRPr sz="1350" b="0">
              <a:solidFill>
                <a:srgbClr val="24292D"/>
              </a:solidFill>
              <a:latin typeface="Arial" panose="020B0604020202020204"/>
              <a:ea typeface="Arial" panose="020B0604020202020204"/>
              <a:cs typeface="Arial" panose="020B0604020202020204"/>
            </a:endParaRPr>
          </a:p>
        </p:txBody>
      </p:sp>
      <p:sp>
        <p:nvSpPr>
          <p:cNvPr id="5" name="矩形 4"/>
          <p:cNvSpPr>
            <a:spLocks noGrp="1"/>
          </p:cNvSpPr>
          <p:nvPr/>
        </p:nvSpPr>
        <p:spPr>
          <a:xfrm>
            <a:off x="2867025" y="4219575"/>
            <a:ext cx="1571625"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Aligned</a:t>
            </a:r>
            <a:endParaRPr sz="1350" b="0">
              <a:solidFill>
                <a:srgbClr val="24292D"/>
              </a:solidFill>
              <a:latin typeface="Arial" panose="020B0604020202020204"/>
              <a:ea typeface="Arial" panose="020B0604020202020204"/>
              <a:cs typeface="Arial" panose="020B0604020202020204"/>
            </a:endParaRPr>
          </a:p>
        </p:txBody>
      </p:sp>
      <p:sp>
        <p:nvSpPr>
          <p:cNvPr id="6" name="矩形 5"/>
          <p:cNvSpPr>
            <a:spLocks noGrp="1"/>
          </p:cNvSpPr>
          <p:nvPr/>
        </p:nvSpPr>
        <p:spPr>
          <a:xfrm>
            <a:off x="4514850" y="4219575"/>
            <a:ext cx="1571625"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MisIndexed</a:t>
            </a:r>
            <a:endParaRPr sz="1350" b="0">
              <a:solidFill>
                <a:srgbClr val="24292D"/>
              </a:solidFill>
              <a:latin typeface="Arial" panose="020B0604020202020204"/>
              <a:ea typeface="Arial" panose="020B0604020202020204"/>
              <a:cs typeface="Arial" panose="020B0604020202020204"/>
            </a:endParaRPr>
          </a:p>
        </p:txBody>
      </p:sp>
      <p:sp>
        <p:nvSpPr>
          <p:cNvPr id="7" name="矩形 6"/>
          <p:cNvSpPr>
            <a:spLocks noGrp="1"/>
          </p:cNvSpPr>
          <p:nvPr/>
        </p:nvSpPr>
        <p:spPr>
          <a:xfrm>
            <a:off x="857250" y="4610100"/>
            <a:ext cx="590550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Aligned improves over Opaque in 4/5 worlds</a:t>
            </a:r>
            <a:endParaRPr sz="1350" b="0">
              <a:solidFill>
                <a:srgbClr val="24292D"/>
              </a:solidFill>
              <a:latin typeface="Arial" panose="020B0604020202020204"/>
              <a:ea typeface="Arial" panose="020B0604020202020204"/>
              <a:cs typeface="Arial" panose="020B0604020202020204"/>
            </a:endParaRPr>
          </a:p>
        </p:txBody>
      </p:sp>
      <p:sp>
        <p:nvSpPr>
          <p:cNvPr id="8" name="矩形 7"/>
          <p:cNvSpPr>
            <a:spLocks noGrp="1"/>
          </p:cNvSpPr>
          <p:nvPr/>
        </p:nvSpPr>
        <p:spPr>
          <a:xfrm>
            <a:off x="7096125" y="114300"/>
            <a:ext cx="323850" cy="342900"/>
          </a:xfrm>
          <a:prstGeom prst="rect">
            <a:avLst/>
          </a:prstGeom>
          <a:noFill/>
          <a:ln w="0">
            <a:noFill/>
          </a:ln>
        </p:spPr>
        <p:txBody>
          <a:bodyPr wrap="none" lIns="0" tIns="0" rIns="0" bIns="0" anchor="ctr">
            <a:noAutofit/>
          </a:bodyPr>
          <a:lstStyle/>
          <a:p>
            <a:pPr algn="l">
              <a:defRPr sz="2025" b="1">
                <a:solidFill>
                  <a:srgbClr val="24292D"/>
                </a:solidFill>
                <a:latin typeface="Arial" panose="020B0604020202020204"/>
                <a:ea typeface="Arial" panose="020B0604020202020204"/>
                <a:cs typeface="Arial" panose="020B0604020202020204"/>
              </a:defRPr>
            </a:pPr>
            <a:r>
              <a:rPr sz="2025" b="1">
                <a:solidFill>
                  <a:srgbClr val="24292D"/>
                </a:solidFill>
                <a:latin typeface="Arial" panose="020B0604020202020204"/>
                <a:ea typeface="Arial" panose="020B0604020202020204"/>
                <a:cs typeface="Arial" panose="020B0604020202020204"/>
              </a:rPr>
              <a:t>b</a:t>
            </a:r>
            <a:endParaRPr sz="2025" b="1">
              <a:solidFill>
                <a:srgbClr val="24292D"/>
              </a:solidFill>
              <a:latin typeface="Arial" panose="020B0604020202020204"/>
              <a:ea typeface="Arial" panose="020B0604020202020204"/>
              <a:cs typeface="Arial" panose="020B0604020202020204"/>
            </a:endParaRPr>
          </a:p>
        </p:txBody>
      </p:sp>
      <p:sp>
        <p:nvSpPr>
          <p:cNvPr id="9" name="矩形 8"/>
          <p:cNvSpPr>
            <a:spLocks noGrp="1"/>
          </p:cNvSpPr>
          <p:nvPr/>
        </p:nvSpPr>
        <p:spPr>
          <a:xfrm>
            <a:off x="7477125" y="114300"/>
            <a:ext cx="3836670" cy="342900"/>
          </a:xfrm>
          <a:prstGeom prst="rect">
            <a:avLst/>
          </a:prstGeom>
          <a:noFill/>
          <a:ln w="0">
            <a:noFill/>
          </a:ln>
        </p:spPr>
        <p:txBody>
          <a:bodyPr wrap="none" lIns="0" tIns="0" rIns="0" bIns="0" anchor="ctr">
            <a:noAutofit/>
          </a:bodyPr>
          <a:lstStyle/>
          <a:p>
            <a:pPr algn="l">
              <a:defRPr sz="1500" b="0">
                <a:solidFill>
                  <a:srgbClr val="24292D"/>
                </a:solidFill>
                <a:latin typeface="Arial" panose="020B0604020202020204"/>
                <a:ea typeface="Arial" panose="020B0604020202020204"/>
                <a:cs typeface="Arial" panose="020B0604020202020204"/>
              </a:defRPr>
            </a:pPr>
            <a:r>
              <a:rPr sz="1500" b="0">
                <a:solidFill>
                  <a:srgbClr val="24292D"/>
                </a:solidFill>
                <a:latin typeface="Arial" panose="020B0604020202020204"/>
                <a:ea typeface="Arial" panose="020B0604020202020204"/>
                <a:cs typeface="Arial" panose="020B0604020202020204"/>
              </a:rPr>
              <a:t>Reaction processing: optimization</a:t>
            </a:r>
            <a:endParaRPr sz="1500" b="0">
              <a:solidFill>
                <a:srgbClr val="24292D"/>
              </a:solidFill>
              <a:latin typeface="Arial" panose="020B0604020202020204"/>
              <a:ea typeface="Arial" panose="020B0604020202020204"/>
              <a:cs typeface="Arial" panose="020B0604020202020204"/>
            </a:endParaRPr>
          </a:p>
        </p:txBody>
      </p:sp>
      <p:graphicFrame>
        <p:nvGraphicFramePr>
          <p:cNvPr id="41" name="Chart"/>
          <p:cNvGraphicFramePr/>
          <p:nvPr/>
        </p:nvGraphicFramePr>
        <p:xfrm>
          <a:off x="7286625" y="666750"/>
          <a:ext cx="6334125" cy="3476625"/>
        </p:xfrm>
        <a:graphic>
          <a:graphicData uri="http://schemas.openxmlformats.org/drawingml/2006/chart">
            <c:chart xmlns:c="http://schemas.openxmlformats.org/drawingml/2006/chart" xmlns:r="http://schemas.openxmlformats.org/officeDocument/2006/relationships" r:id="rId2"/>
          </a:graphicData>
        </a:graphic>
      </p:graphicFrame>
      <p:sp>
        <p:nvSpPr>
          <p:cNvPr id="11" name="矩形 10"/>
          <p:cNvSpPr>
            <a:spLocks noGrp="1"/>
          </p:cNvSpPr>
          <p:nvPr/>
        </p:nvSpPr>
        <p:spPr>
          <a:xfrm>
            <a:off x="8077200" y="4219575"/>
            <a:ext cx="1571625"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Opaque</a:t>
            </a:r>
            <a:endParaRPr sz="1350" b="0">
              <a:solidFill>
                <a:srgbClr val="24292D"/>
              </a:solidFill>
              <a:latin typeface="Arial" panose="020B0604020202020204"/>
              <a:ea typeface="Arial" panose="020B0604020202020204"/>
              <a:cs typeface="Arial" panose="020B0604020202020204"/>
            </a:endParaRPr>
          </a:p>
        </p:txBody>
      </p:sp>
      <p:sp>
        <p:nvSpPr>
          <p:cNvPr id="12" name="矩形 11"/>
          <p:cNvSpPr>
            <a:spLocks noGrp="1"/>
          </p:cNvSpPr>
          <p:nvPr/>
        </p:nvSpPr>
        <p:spPr>
          <a:xfrm>
            <a:off x="9725025" y="4219575"/>
            <a:ext cx="1571625"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Aligned</a:t>
            </a:r>
            <a:endParaRPr sz="1350" b="0">
              <a:solidFill>
                <a:srgbClr val="24292D"/>
              </a:solidFill>
              <a:latin typeface="Arial" panose="020B0604020202020204"/>
              <a:ea typeface="Arial" panose="020B0604020202020204"/>
              <a:cs typeface="Arial" panose="020B0604020202020204"/>
            </a:endParaRPr>
          </a:p>
        </p:txBody>
      </p:sp>
      <p:sp>
        <p:nvSpPr>
          <p:cNvPr id="13" name="矩形 12"/>
          <p:cNvSpPr>
            <a:spLocks noGrp="1"/>
          </p:cNvSpPr>
          <p:nvPr/>
        </p:nvSpPr>
        <p:spPr>
          <a:xfrm>
            <a:off x="11372850" y="4219575"/>
            <a:ext cx="1571625"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MisIndexed</a:t>
            </a:r>
            <a:endParaRPr sz="1350" b="0">
              <a:solidFill>
                <a:srgbClr val="24292D"/>
              </a:solidFill>
              <a:latin typeface="Arial" panose="020B0604020202020204"/>
              <a:ea typeface="Arial" panose="020B0604020202020204"/>
              <a:cs typeface="Arial" panose="020B0604020202020204"/>
            </a:endParaRPr>
          </a:p>
        </p:txBody>
      </p:sp>
      <p:sp>
        <p:nvSpPr>
          <p:cNvPr id="14" name="矩形 13"/>
          <p:cNvSpPr>
            <a:spLocks noGrp="1"/>
          </p:cNvSpPr>
          <p:nvPr/>
        </p:nvSpPr>
        <p:spPr>
          <a:xfrm>
            <a:off x="7715250" y="4610100"/>
            <a:ext cx="58102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Aligned improves over Opaque in 4/5 worlds</a:t>
            </a:r>
            <a:endParaRPr sz="1350" b="0">
              <a:solidFill>
                <a:srgbClr val="24292D"/>
              </a:solidFill>
              <a:latin typeface="Arial" panose="020B0604020202020204"/>
              <a:ea typeface="Arial" panose="020B0604020202020204"/>
              <a:cs typeface="Arial" panose="020B0604020202020204"/>
            </a:endParaRPr>
          </a:p>
        </p:txBody>
      </p:sp>
      <p:sp>
        <p:nvSpPr>
          <p:cNvPr id="15" name="矩形 14"/>
          <p:cNvSpPr>
            <a:spLocks noGrp="1"/>
          </p:cNvSpPr>
          <p:nvPr/>
        </p:nvSpPr>
        <p:spPr>
          <a:xfrm>
            <a:off x="238125" y="5381625"/>
            <a:ext cx="323850" cy="342900"/>
          </a:xfrm>
          <a:prstGeom prst="rect">
            <a:avLst/>
          </a:prstGeom>
          <a:noFill/>
          <a:ln w="0">
            <a:noFill/>
          </a:ln>
        </p:spPr>
        <p:txBody>
          <a:bodyPr wrap="none" lIns="0" tIns="0" rIns="0" bIns="0" anchor="ctr">
            <a:noAutofit/>
          </a:bodyPr>
          <a:lstStyle/>
          <a:p>
            <a:pPr algn="l">
              <a:defRPr sz="2025" b="1">
                <a:solidFill>
                  <a:srgbClr val="24292D"/>
                </a:solidFill>
                <a:latin typeface="Arial" panose="020B0604020202020204"/>
                <a:ea typeface="Arial" panose="020B0604020202020204"/>
                <a:cs typeface="Arial" panose="020B0604020202020204"/>
              </a:defRPr>
            </a:pPr>
            <a:r>
              <a:rPr sz="2025" b="1">
                <a:solidFill>
                  <a:srgbClr val="24292D"/>
                </a:solidFill>
                <a:latin typeface="Arial" panose="020B0604020202020204"/>
                <a:ea typeface="Arial" panose="020B0604020202020204"/>
                <a:cs typeface="Arial" panose="020B0604020202020204"/>
              </a:rPr>
              <a:t>c</a:t>
            </a:r>
            <a:endParaRPr sz="2025" b="1">
              <a:solidFill>
                <a:srgbClr val="24292D"/>
              </a:solidFill>
              <a:latin typeface="Arial" panose="020B0604020202020204"/>
              <a:ea typeface="Arial" panose="020B0604020202020204"/>
              <a:cs typeface="Arial" panose="020B0604020202020204"/>
            </a:endParaRPr>
          </a:p>
        </p:txBody>
      </p:sp>
      <p:sp>
        <p:nvSpPr>
          <p:cNvPr id="16" name="矩形 15"/>
          <p:cNvSpPr>
            <a:spLocks noGrp="1"/>
          </p:cNvSpPr>
          <p:nvPr/>
        </p:nvSpPr>
        <p:spPr>
          <a:xfrm>
            <a:off x="619125" y="5381625"/>
            <a:ext cx="3284220" cy="342900"/>
          </a:xfrm>
          <a:prstGeom prst="rect">
            <a:avLst/>
          </a:prstGeom>
          <a:noFill/>
          <a:ln w="0">
            <a:noFill/>
          </a:ln>
        </p:spPr>
        <p:txBody>
          <a:bodyPr wrap="none" lIns="0" tIns="0" rIns="0" bIns="0" anchor="ctr">
            <a:noAutofit/>
          </a:bodyPr>
          <a:lstStyle/>
          <a:p>
            <a:pPr algn="l">
              <a:defRPr sz="1500" b="0">
                <a:solidFill>
                  <a:srgbClr val="24292D"/>
                </a:solidFill>
                <a:latin typeface="Arial" panose="020B0604020202020204"/>
                <a:ea typeface="Arial" panose="020B0604020202020204"/>
                <a:cs typeface="Arial" panose="020B0604020202020204"/>
              </a:defRPr>
            </a:pPr>
            <a:r>
              <a:rPr sz="1500" b="0">
                <a:solidFill>
                  <a:srgbClr val="24292D"/>
                </a:solidFill>
                <a:latin typeface="Arial" panose="020B0604020202020204"/>
                <a:ea typeface="Arial" panose="020B0604020202020204"/>
                <a:cs typeface="Arial" panose="020B0604020202020204"/>
              </a:rPr>
              <a:t>Equilibrium: parameter prior</a:t>
            </a:r>
            <a:endParaRPr sz="1500" b="0">
              <a:solidFill>
                <a:srgbClr val="24292D"/>
              </a:solidFill>
              <a:latin typeface="Arial" panose="020B0604020202020204"/>
              <a:ea typeface="Arial" panose="020B0604020202020204"/>
              <a:cs typeface="Arial" panose="020B0604020202020204"/>
            </a:endParaRPr>
          </a:p>
        </p:txBody>
      </p:sp>
      <p:graphicFrame>
        <p:nvGraphicFramePr>
          <p:cNvPr id="48" name="Chart"/>
          <p:cNvGraphicFramePr/>
          <p:nvPr/>
        </p:nvGraphicFramePr>
        <p:xfrm>
          <a:off x="428625" y="5857875"/>
          <a:ext cx="6381750" cy="3476625"/>
        </p:xfrm>
        <a:graphic>
          <a:graphicData uri="http://schemas.openxmlformats.org/drawingml/2006/chart">
            <c:chart xmlns:c="http://schemas.openxmlformats.org/drawingml/2006/chart" xmlns:r="http://schemas.openxmlformats.org/officeDocument/2006/relationships" r:id="rId3"/>
          </a:graphicData>
        </a:graphic>
      </p:graphicFrame>
      <p:sp>
        <p:nvSpPr>
          <p:cNvPr id="18" name="矩形 17"/>
          <p:cNvSpPr>
            <a:spLocks noGrp="1"/>
          </p:cNvSpPr>
          <p:nvPr/>
        </p:nvSpPr>
        <p:spPr>
          <a:xfrm>
            <a:off x="1724025" y="9382125"/>
            <a:ext cx="1905000" cy="30480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Other nine</a:t>
            </a:r>
            <a:endParaRPr sz="1350" b="0">
              <a:solidFill>
                <a:srgbClr val="24292D"/>
              </a:solidFill>
              <a:latin typeface="Arial" panose="020B0604020202020204"/>
              <a:ea typeface="Arial" panose="020B0604020202020204"/>
              <a:cs typeface="Arial" panose="020B0604020202020204"/>
            </a:endParaRPr>
          </a:p>
        </p:txBody>
      </p:sp>
      <p:sp>
        <p:nvSpPr>
          <p:cNvPr id="19" name="矩形 18"/>
          <p:cNvSpPr>
            <a:spLocks noGrp="1"/>
          </p:cNvSpPr>
          <p:nvPr/>
        </p:nvSpPr>
        <p:spPr>
          <a:xfrm>
            <a:off x="4410075" y="9382125"/>
            <a:ext cx="1905000" cy="30480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Dilute three</a:t>
            </a:r>
            <a:endParaRPr sz="1350" b="0">
              <a:solidFill>
                <a:srgbClr val="24292D"/>
              </a:solidFill>
              <a:latin typeface="Arial" panose="020B0604020202020204"/>
              <a:ea typeface="Arial" panose="020B0604020202020204"/>
              <a:cs typeface="Arial" panose="020B0604020202020204"/>
            </a:endParaRPr>
          </a:p>
        </p:txBody>
      </p:sp>
      <p:sp>
        <p:nvSpPr>
          <p:cNvPr id="20" name="矩形 19"/>
          <p:cNvSpPr>
            <a:spLocks noGrp="1"/>
          </p:cNvSpPr>
          <p:nvPr/>
        </p:nvSpPr>
        <p:spPr>
          <a:xfrm>
            <a:off x="7096125" y="5381625"/>
            <a:ext cx="323850" cy="342900"/>
          </a:xfrm>
          <a:prstGeom prst="rect">
            <a:avLst/>
          </a:prstGeom>
          <a:noFill/>
          <a:ln w="0">
            <a:noFill/>
          </a:ln>
        </p:spPr>
        <p:txBody>
          <a:bodyPr wrap="none" lIns="0" tIns="0" rIns="0" bIns="0" anchor="ctr">
            <a:noAutofit/>
          </a:bodyPr>
          <a:lstStyle/>
          <a:p>
            <a:pPr algn="l">
              <a:defRPr sz="2025" b="1">
                <a:solidFill>
                  <a:srgbClr val="24292D"/>
                </a:solidFill>
                <a:latin typeface="Arial" panose="020B0604020202020204"/>
                <a:ea typeface="Arial" panose="020B0604020202020204"/>
                <a:cs typeface="Arial" panose="020B0604020202020204"/>
              </a:defRPr>
            </a:pPr>
            <a:r>
              <a:rPr sz="2025" b="1">
                <a:solidFill>
                  <a:srgbClr val="24292D"/>
                </a:solidFill>
                <a:latin typeface="Arial" panose="020B0604020202020204"/>
                <a:ea typeface="Arial" panose="020B0604020202020204"/>
                <a:cs typeface="Arial" panose="020B0604020202020204"/>
              </a:rPr>
              <a:t>d</a:t>
            </a:r>
            <a:endParaRPr sz="2025" b="1">
              <a:solidFill>
                <a:srgbClr val="24292D"/>
              </a:solidFill>
              <a:latin typeface="Arial" panose="020B0604020202020204"/>
              <a:ea typeface="Arial" panose="020B0604020202020204"/>
              <a:cs typeface="Arial" panose="020B0604020202020204"/>
            </a:endParaRPr>
          </a:p>
        </p:txBody>
      </p:sp>
      <p:sp>
        <p:nvSpPr>
          <p:cNvPr id="21" name="矩形 20"/>
          <p:cNvSpPr>
            <a:spLocks noGrp="1"/>
          </p:cNvSpPr>
          <p:nvPr/>
        </p:nvSpPr>
        <p:spPr>
          <a:xfrm>
            <a:off x="7477125" y="5381625"/>
            <a:ext cx="3284220" cy="342900"/>
          </a:xfrm>
          <a:prstGeom prst="rect">
            <a:avLst/>
          </a:prstGeom>
          <a:noFill/>
          <a:ln w="0">
            <a:noFill/>
          </a:ln>
        </p:spPr>
        <p:txBody>
          <a:bodyPr wrap="none" lIns="0" tIns="0" rIns="0" bIns="0" anchor="ctr">
            <a:noAutofit/>
          </a:bodyPr>
          <a:lstStyle/>
          <a:p>
            <a:pPr algn="l">
              <a:defRPr sz="1500" b="0">
                <a:solidFill>
                  <a:srgbClr val="24292D"/>
                </a:solidFill>
                <a:latin typeface="Arial" panose="020B0604020202020204"/>
                <a:ea typeface="Arial" panose="020B0604020202020204"/>
                <a:cs typeface="Arial" panose="020B0604020202020204"/>
              </a:defRPr>
            </a:pPr>
            <a:r>
              <a:rPr sz="1500" b="0">
                <a:solidFill>
                  <a:srgbClr val="24292D"/>
                </a:solidFill>
                <a:latin typeface="Arial" panose="020B0604020202020204"/>
                <a:ea typeface="Arial" panose="020B0604020202020204"/>
                <a:cs typeface="Arial" panose="020B0604020202020204"/>
              </a:rPr>
              <a:t>Equilibrium: parameter prior</a:t>
            </a:r>
            <a:endParaRPr sz="1500" b="0">
              <a:solidFill>
                <a:srgbClr val="24292D"/>
              </a:solidFill>
              <a:latin typeface="Arial" panose="020B0604020202020204"/>
              <a:ea typeface="Arial" panose="020B0604020202020204"/>
              <a:cs typeface="Arial" panose="020B0604020202020204"/>
            </a:endParaRPr>
          </a:p>
        </p:txBody>
      </p:sp>
      <p:graphicFrame>
        <p:nvGraphicFramePr>
          <p:cNvPr id="53" name="Chart"/>
          <p:cNvGraphicFramePr/>
          <p:nvPr/>
        </p:nvGraphicFramePr>
        <p:xfrm>
          <a:off x="7286625" y="5857875"/>
          <a:ext cx="6381750" cy="3476625"/>
        </p:xfrm>
        <a:graphic>
          <a:graphicData uri="http://schemas.openxmlformats.org/drawingml/2006/chart">
            <c:chart xmlns:c="http://schemas.openxmlformats.org/drawingml/2006/chart" xmlns:r="http://schemas.openxmlformats.org/officeDocument/2006/relationships" r:id="rId4"/>
          </a:graphicData>
        </a:graphic>
      </p:graphicFrame>
      <p:sp>
        <p:nvSpPr>
          <p:cNvPr id="23" name="矩形 22"/>
          <p:cNvSpPr>
            <a:spLocks noGrp="1"/>
          </p:cNvSpPr>
          <p:nvPr/>
        </p:nvSpPr>
        <p:spPr>
          <a:xfrm>
            <a:off x="8582025" y="9382125"/>
            <a:ext cx="1905000" cy="30480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Other nine</a:t>
            </a:r>
            <a:endParaRPr sz="1350" b="0">
              <a:solidFill>
                <a:srgbClr val="24292D"/>
              </a:solidFill>
              <a:latin typeface="Arial" panose="020B0604020202020204"/>
              <a:ea typeface="Arial" panose="020B0604020202020204"/>
              <a:cs typeface="Arial" panose="020B0604020202020204"/>
            </a:endParaRPr>
          </a:p>
        </p:txBody>
      </p:sp>
      <p:sp>
        <p:nvSpPr>
          <p:cNvPr id="24" name="矩形 23"/>
          <p:cNvSpPr>
            <a:spLocks noGrp="1"/>
          </p:cNvSpPr>
          <p:nvPr/>
        </p:nvSpPr>
        <p:spPr>
          <a:xfrm>
            <a:off x="11268075" y="9382125"/>
            <a:ext cx="1905000" cy="30480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Dilute three</a:t>
            </a:r>
            <a:endParaRPr sz="1350" b="0">
              <a:solidFill>
                <a:srgbClr val="24292D"/>
              </a:solidFill>
              <a:latin typeface="Arial" panose="020B0604020202020204"/>
              <a:ea typeface="Arial" panose="020B0604020202020204"/>
              <a:cs typeface="Arial" panose="020B0604020202020204"/>
            </a:endParaRPr>
          </a:p>
        </p:txBody>
      </p:sp>
      <p:sp>
        <p:nvSpPr>
          <p:cNvPr id="25" name="椭圆 24"/>
          <p:cNvSpPr>
            <a:spLocks noGrp="1"/>
          </p:cNvSpPr>
          <p:nvPr/>
        </p:nvSpPr>
        <p:spPr>
          <a:xfrm>
            <a:off x="4200525" y="10001250"/>
            <a:ext cx="114300" cy="114300"/>
          </a:xfrm>
          <a:prstGeom prst="ellipse">
            <a:avLst/>
          </a:prstGeom>
          <a:solidFill>
            <a:srgbClr val="637482"/>
          </a:solidFill>
          <a:ln w="9525">
            <a:solidFill>
              <a:srgbClr val="637482"/>
            </a:solidFill>
          </a:ln>
        </p:spPr>
      </p:sp>
      <p:sp>
        <p:nvSpPr>
          <p:cNvPr id="26" name="矩形 25"/>
          <p:cNvSpPr>
            <a:spLocks noGrp="1"/>
          </p:cNvSpPr>
          <p:nvPr/>
        </p:nvSpPr>
        <p:spPr>
          <a:xfrm>
            <a:off x="4429125" y="9906000"/>
            <a:ext cx="952500" cy="32385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Opaque</a:t>
            </a:r>
            <a:endParaRPr sz="1350" b="0">
              <a:solidFill>
                <a:srgbClr val="24292D"/>
              </a:solidFill>
              <a:latin typeface="Arial" panose="020B0604020202020204"/>
              <a:ea typeface="Arial" panose="020B0604020202020204"/>
              <a:cs typeface="Arial" panose="020B0604020202020204"/>
            </a:endParaRPr>
          </a:p>
        </p:txBody>
      </p:sp>
      <p:sp>
        <p:nvSpPr>
          <p:cNvPr id="27" name="椭圆 26"/>
          <p:cNvSpPr>
            <a:spLocks noGrp="1"/>
          </p:cNvSpPr>
          <p:nvPr/>
        </p:nvSpPr>
        <p:spPr>
          <a:xfrm>
            <a:off x="5267325" y="10001250"/>
            <a:ext cx="114300" cy="114300"/>
          </a:xfrm>
          <a:prstGeom prst="ellipse">
            <a:avLst/>
          </a:prstGeom>
          <a:solidFill>
            <a:srgbClr val="277F8A"/>
          </a:solidFill>
          <a:ln w="9525">
            <a:solidFill>
              <a:srgbClr val="277F8A"/>
            </a:solidFill>
          </a:ln>
        </p:spPr>
      </p:sp>
      <p:sp>
        <p:nvSpPr>
          <p:cNvPr id="28" name="矩形 27"/>
          <p:cNvSpPr>
            <a:spLocks noGrp="1"/>
          </p:cNvSpPr>
          <p:nvPr/>
        </p:nvSpPr>
        <p:spPr>
          <a:xfrm>
            <a:off x="5495925" y="9906000"/>
            <a:ext cx="952500" cy="32385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Aligned</a:t>
            </a:r>
            <a:endParaRPr sz="1350" b="0">
              <a:solidFill>
                <a:srgbClr val="24292D"/>
              </a:solidFill>
              <a:latin typeface="Arial" panose="020B0604020202020204"/>
              <a:ea typeface="Arial" panose="020B0604020202020204"/>
              <a:cs typeface="Arial" panose="020B0604020202020204"/>
            </a:endParaRPr>
          </a:p>
        </p:txBody>
      </p:sp>
      <p:sp>
        <p:nvSpPr>
          <p:cNvPr id="29" name="椭圆 28"/>
          <p:cNvSpPr>
            <a:spLocks noGrp="1"/>
          </p:cNvSpPr>
          <p:nvPr/>
        </p:nvSpPr>
        <p:spPr>
          <a:xfrm>
            <a:off x="6448425" y="10001250"/>
            <a:ext cx="114300" cy="114300"/>
          </a:xfrm>
          <a:prstGeom prst="ellipse">
            <a:avLst/>
          </a:prstGeom>
          <a:solidFill>
            <a:srgbClr val="BC7850"/>
          </a:solidFill>
          <a:ln w="9525">
            <a:solidFill>
              <a:srgbClr val="BC7850"/>
            </a:solidFill>
          </a:ln>
        </p:spPr>
      </p:sp>
      <p:sp>
        <p:nvSpPr>
          <p:cNvPr id="30" name="矩形 29"/>
          <p:cNvSpPr>
            <a:spLocks noGrp="1"/>
          </p:cNvSpPr>
          <p:nvPr/>
        </p:nvSpPr>
        <p:spPr>
          <a:xfrm>
            <a:off x="6677025" y="9906000"/>
            <a:ext cx="1143000" cy="32385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MisIndexed</a:t>
            </a:r>
            <a:endParaRPr sz="1350" b="0">
              <a:solidFill>
                <a:srgbClr val="24292D"/>
              </a:solidFill>
              <a:latin typeface="Arial" panose="020B0604020202020204"/>
              <a:ea typeface="Arial" panose="020B0604020202020204"/>
              <a:cs typeface="Arial" panose="020B0604020202020204"/>
            </a:endParaRPr>
          </a:p>
        </p:txBody>
      </p:sp>
      <p:sp>
        <p:nvSpPr>
          <p:cNvPr id="31" name="矩形 30"/>
          <p:cNvSpPr>
            <a:spLocks noGrp="1"/>
          </p:cNvSpPr>
          <p:nvPr/>
        </p:nvSpPr>
        <p:spPr>
          <a:xfrm>
            <a:off x="809625" y="10382250"/>
            <a:ext cx="12192000" cy="304800"/>
          </a:xfrm>
          <a:prstGeom prst="rect">
            <a:avLst/>
          </a:prstGeom>
          <a:noFill/>
          <a:ln w="0">
            <a:noFill/>
          </a:ln>
        </p:spPr>
        <p:txBody>
          <a:bodyPr wrap="none" lIns="0" tIns="0" rIns="0" bIns="0" anchor="ctr">
            <a:noAutofit/>
          </a:bodyPr>
          <a:lstStyle/>
          <a:p>
            <a:pPr algn="ctr">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Points: five worlds per arm; short lines: means. EQ grouping is exploratory.</a:t>
            </a:r>
            <a:endParaRPr sz="1350" b="0">
              <a:solidFill>
                <a:srgbClr val="6A737B"/>
              </a:solidFill>
              <a:latin typeface="Arial" panose="020B0604020202020204"/>
              <a:ea typeface="Arial" panose="020B0604020202020204"/>
              <a:cs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28" name="矩形 327"/>
          <p:cNvSpPr>
            <a:spLocks noGrp="1"/>
          </p:cNvSpPr>
          <p:nvPr/>
        </p:nvSpPr>
        <p:spPr>
          <a:xfrm>
            <a:off x="190500" y="1647825"/>
            <a:ext cx="1190625" cy="28575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Mean, 12</a:t>
            </a:r>
            <a:endParaRPr sz="1350" b="0">
              <a:solidFill>
                <a:srgbClr val="24292D"/>
              </a:solidFill>
              <a:latin typeface="Arial" panose="020B0604020202020204"/>
              <a:ea typeface="Arial" panose="020B0604020202020204"/>
              <a:cs typeface="Arial" panose="020B0604020202020204"/>
            </a:endParaRPr>
          </a:p>
        </p:txBody>
      </p:sp>
      <p:sp>
        <p:nvSpPr>
          <p:cNvPr id="2" name="矩形 1"/>
          <p:cNvSpPr>
            <a:spLocks noGrp="1"/>
          </p:cNvSpPr>
          <p:nvPr/>
        </p:nvSpPr>
        <p:spPr>
          <a:xfrm>
            <a:off x="190500" y="2019300"/>
            <a:ext cx="1190625" cy="28575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Mean, 24</a:t>
            </a:r>
            <a:endParaRPr sz="1350" b="0">
              <a:solidFill>
                <a:srgbClr val="24292D"/>
              </a:solidFill>
              <a:latin typeface="Arial" panose="020B0604020202020204"/>
              <a:ea typeface="Arial" panose="020B0604020202020204"/>
              <a:cs typeface="Arial" panose="020B0604020202020204"/>
            </a:endParaRPr>
          </a:p>
        </p:txBody>
      </p:sp>
      <p:sp>
        <p:nvSpPr>
          <p:cNvPr id="3" name="矩形 2"/>
          <p:cNvSpPr>
            <a:spLocks noGrp="1"/>
          </p:cNvSpPr>
          <p:nvPr/>
        </p:nvSpPr>
        <p:spPr>
          <a:xfrm>
            <a:off x="190500" y="2400300"/>
            <a:ext cx="1190625" cy="285750"/>
          </a:xfrm>
          <a:prstGeom prst="rect">
            <a:avLst/>
          </a:prstGeom>
          <a:noFill/>
          <a:ln w="0">
            <a:noFill/>
          </a:ln>
        </p:spPr>
        <p:txBody>
          <a:bodyPr wrap="none" lIns="0" tIns="0" rIns="0" bIns="0" anchor="ctr">
            <a:noAutofit/>
          </a:bodyPr>
          <a:lstStyle/>
          <a:p>
            <a:pPr algn="l">
              <a:defRPr sz="1350" b="1">
                <a:solidFill>
                  <a:srgbClr val="24292D"/>
                </a:solidFill>
                <a:latin typeface="Arial" panose="020B0604020202020204"/>
                <a:ea typeface="Arial" panose="020B0604020202020204"/>
                <a:cs typeface="Arial" panose="020B0604020202020204"/>
              </a:defRPr>
            </a:pPr>
            <a:r>
              <a:rPr sz="1350" b="1">
                <a:solidFill>
                  <a:srgbClr val="24292D"/>
                </a:solidFill>
                <a:latin typeface="Arial" panose="020B0604020202020204"/>
                <a:ea typeface="Arial" panose="020B0604020202020204"/>
                <a:cs typeface="Arial" panose="020B0604020202020204"/>
              </a:rPr>
              <a:t>Improved</a:t>
            </a:r>
            <a:endParaRPr sz="1350" b="1">
              <a:solidFill>
                <a:srgbClr val="24292D"/>
              </a:solidFill>
              <a:latin typeface="Arial" panose="020B0604020202020204"/>
              <a:ea typeface="Arial" panose="020B0604020202020204"/>
              <a:cs typeface="Arial" panose="020B0604020202020204"/>
            </a:endParaRPr>
          </a:p>
        </p:txBody>
      </p:sp>
      <p:sp>
        <p:nvSpPr>
          <p:cNvPr id="4" name="矩形 3"/>
          <p:cNvSpPr>
            <a:spLocks noGrp="1"/>
          </p:cNvSpPr>
          <p:nvPr/>
        </p:nvSpPr>
        <p:spPr>
          <a:xfrm>
            <a:off x="142875" y="3467100"/>
            <a:ext cx="981075" cy="333375"/>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World 1</a:t>
            </a:r>
            <a:endParaRPr sz="1350" b="0">
              <a:solidFill>
                <a:srgbClr val="24292D"/>
              </a:solidFill>
              <a:latin typeface="Arial" panose="020B0604020202020204"/>
              <a:ea typeface="Arial" panose="020B0604020202020204"/>
              <a:cs typeface="Arial" panose="020B0604020202020204"/>
            </a:endParaRPr>
          </a:p>
        </p:txBody>
      </p:sp>
      <p:sp>
        <p:nvSpPr>
          <p:cNvPr id="5" name="矩形 4"/>
          <p:cNvSpPr>
            <a:spLocks noGrp="1"/>
          </p:cNvSpPr>
          <p:nvPr/>
        </p:nvSpPr>
        <p:spPr>
          <a:xfrm>
            <a:off x="1133475" y="3181350"/>
            <a:ext cx="2857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O</a:t>
            </a:r>
            <a:endParaRPr sz="1350" b="0">
              <a:solidFill>
                <a:srgbClr val="24292D"/>
              </a:solidFill>
              <a:latin typeface="Arial" panose="020B0604020202020204"/>
              <a:ea typeface="Arial" panose="020B0604020202020204"/>
              <a:cs typeface="Arial" panose="020B0604020202020204"/>
            </a:endParaRPr>
          </a:p>
        </p:txBody>
      </p:sp>
      <p:sp>
        <p:nvSpPr>
          <p:cNvPr id="6" name="矩形 5"/>
          <p:cNvSpPr>
            <a:spLocks noGrp="1"/>
          </p:cNvSpPr>
          <p:nvPr/>
        </p:nvSpPr>
        <p:spPr>
          <a:xfrm>
            <a:off x="1133475" y="3429000"/>
            <a:ext cx="2857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A</a:t>
            </a:r>
            <a:endParaRPr sz="1350" b="0">
              <a:solidFill>
                <a:srgbClr val="24292D"/>
              </a:solidFill>
              <a:latin typeface="Arial" panose="020B0604020202020204"/>
              <a:ea typeface="Arial" panose="020B0604020202020204"/>
              <a:cs typeface="Arial" panose="020B0604020202020204"/>
            </a:endParaRPr>
          </a:p>
        </p:txBody>
      </p:sp>
      <p:sp>
        <p:nvSpPr>
          <p:cNvPr id="7" name="矩形 6"/>
          <p:cNvSpPr>
            <a:spLocks noGrp="1"/>
          </p:cNvSpPr>
          <p:nvPr/>
        </p:nvSpPr>
        <p:spPr>
          <a:xfrm>
            <a:off x="1133475" y="3676650"/>
            <a:ext cx="2857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a:t>
            </a:r>
            <a:endParaRPr sz="1350" b="0">
              <a:solidFill>
                <a:srgbClr val="24292D"/>
              </a:solidFill>
              <a:latin typeface="Arial" panose="020B0604020202020204"/>
              <a:ea typeface="Arial" panose="020B0604020202020204"/>
              <a:cs typeface="Arial" panose="020B0604020202020204"/>
            </a:endParaRPr>
          </a:p>
        </p:txBody>
      </p:sp>
      <p:sp>
        <p:nvSpPr>
          <p:cNvPr id="8" name="直接连接符 7"/>
          <p:cNvSpPr>
            <a:spLocks noGrp="1"/>
          </p:cNvSpPr>
          <p:nvPr/>
        </p:nvSpPr>
        <p:spPr>
          <a:xfrm>
            <a:off x="142875" y="4038600"/>
            <a:ext cx="13287375" cy="953"/>
          </a:xfrm>
          <a:prstGeom prst="line">
            <a:avLst/>
          </a:prstGeom>
          <a:noFill/>
          <a:ln w="9525">
            <a:solidFill>
              <a:srgbClr val="D7DDE1"/>
            </a:solidFill>
          </a:ln>
        </p:spPr>
      </p:sp>
      <p:sp>
        <p:nvSpPr>
          <p:cNvPr id="9" name="矩形 8"/>
          <p:cNvSpPr>
            <a:spLocks noGrp="1"/>
          </p:cNvSpPr>
          <p:nvPr/>
        </p:nvSpPr>
        <p:spPr>
          <a:xfrm>
            <a:off x="142875" y="4400550"/>
            <a:ext cx="981075" cy="333375"/>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World 2</a:t>
            </a:r>
            <a:endParaRPr sz="1350" b="0">
              <a:solidFill>
                <a:srgbClr val="24292D"/>
              </a:solidFill>
              <a:latin typeface="Arial" panose="020B0604020202020204"/>
              <a:ea typeface="Arial" panose="020B0604020202020204"/>
              <a:cs typeface="Arial" panose="020B0604020202020204"/>
            </a:endParaRPr>
          </a:p>
        </p:txBody>
      </p:sp>
      <p:sp>
        <p:nvSpPr>
          <p:cNvPr id="10" name="矩形 9"/>
          <p:cNvSpPr>
            <a:spLocks noGrp="1"/>
          </p:cNvSpPr>
          <p:nvPr/>
        </p:nvSpPr>
        <p:spPr>
          <a:xfrm>
            <a:off x="1133475" y="4114800"/>
            <a:ext cx="2857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O</a:t>
            </a:r>
            <a:endParaRPr sz="1350" b="0">
              <a:solidFill>
                <a:srgbClr val="24292D"/>
              </a:solidFill>
              <a:latin typeface="Arial" panose="020B0604020202020204"/>
              <a:ea typeface="Arial" panose="020B0604020202020204"/>
              <a:cs typeface="Arial" panose="020B0604020202020204"/>
            </a:endParaRPr>
          </a:p>
        </p:txBody>
      </p:sp>
      <p:sp>
        <p:nvSpPr>
          <p:cNvPr id="11" name="矩形 10"/>
          <p:cNvSpPr>
            <a:spLocks noGrp="1"/>
          </p:cNvSpPr>
          <p:nvPr/>
        </p:nvSpPr>
        <p:spPr>
          <a:xfrm>
            <a:off x="1133475" y="4362450"/>
            <a:ext cx="2857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A</a:t>
            </a:r>
            <a:endParaRPr sz="1350" b="0">
              <a:solidFill>
                <a:srgbClr val="24292D"/>
              </a:solidFill>
              <a:latin typeface="Arial" panose="020B0604020202020204"/>
              <a:ea typeface="Arial" panose="020B0604020202020204"/>
              <a:cs typeface="Arial" panose="020B0604020202020204"/>
            </a:endParaRPr>
          </a:p>
        </p:txBody>
      </p:sp>
      <p:sp>
        <p:nvSpPr>
          <p:cNvPr id="12" name="矩形 11"/>
          <p:cNvSpPr>
            <a:spLocks noGrp="1"/>
          </p:cNvSpPr>
          <p:nvPr/>
        </p:nvSpPr>
        <p:spPr>
          <a:xfrm>
            <a:off x="1133475" y="4610100"/>
            <a:ext cx="2857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a:t>
            </a:r>
            <a:endParaRPr sz="1350" b="0">
              <a:solidFill>
                <a:srgbClr val="24292D"/>
              </a:solidFill>
              <a:latin typeface="Arial" panose="020B0604020202020204"/>
              <a:ea typeface="Arial" panose="020B0604020202020204"/>
              <a:cs typeface="Arial" panose="020B0604020202020204"/>
            </a:endParaRPr>
          </a:p>
        </p:txBody>
      </p:sp>
      <p:sp>
        <p:nvSpPr>
          <p:cNvPr id="13" name="直接连接符 12"/>
          <p:cNvSpPr>
            <a:spLocks noGrp="1"/>
          </p:cNvSpPr>
          <p:nvPr/>
        </p:nvSpPr>
        <p:spPr>
          <a:xfrm>
            <a:off x="142875" y="4972050"/>
            <a:ext cx="13287375" cy="953"/>
          </a:xfrm>
          <a:prstGeom prst="line">
            <a:avLst/>
          </a:prstGeom>
          <a:noFill/>
          <a:ln w="9525">
            <a:solidFill>
              <a:srgbClr val="D7DDE1"/>
            </a:solidFill>
          </a:ln>
        </p:spPr>
      </p:sp>
      <p:sp>
        <p:nvSpPr>
          <p:cNvPr id="14" name="矩形 13"/>
          <p:cNvSpPr>
            <a:spLocks noGrp="1"/>
          </p:cNvSpPr>
          <p:nvPr/>
        </p:nvSpPr>
        <p:spPr>
          <a:xfrm>
            <a:off x="142875" y="5334000"/>
            <a:ext cx="981075" cy="333375"/>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World 3</a:t>
            </a:r>
            <a:endParaRPr sz="1350" b="0">
              <a:solidFill>
                <a:srgbClr val="24292D"/>
              </a:solidFill>
              <a:latin typeface="Arial" panose="020B0604020202020204"/>
              <a:ea typeface="Arial" panose="020B0604020202020204"/>
              <a:cs typeface="Arial" panose="020B0604020202020204"/>
            </a:endParaRPr>
          </a:p>
        </p:txBody>
      </p:sp>
      <p:sp>
        <p:nvSpPr>
          <p:cNvPr id="15" name="矩形 14"/>
          <p:cNvSpPr>
            <a:spLocks noGrp="1"/>
          </p:cNvSpPr>
          <p:nvPr/>
        </p:nvSpPr>
        <p:spPr>
          <a:xfrm>
            <a:off x="1133475" y="5048250"/>
            <a:ext cx="2857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O</a:t>
            </a:r>
            <a:endParaRPr sz="1350" b="0">
              <a:solidFill>
                <a:srgbClr val="24292D"/>
              </a:solidFill>
              <a:latin typeface="Arial" panose="020B0604020202020204"/>
              <a:ea typeface="Arial" panose="020B0604020202020204"/>
              <a:cs typeface="Arial" panose="020B0604020202020204"/>
            </a:endParaRPr>
          </a:p>
        </p:txBody>
      </p:sp>
      <p:sp>
        <p:nvSpPr>
          <p:cNvPr id="16" name="矩形 15"/>
          <p:cNvSpPr>
            <a:spLocks noGrp="1"/>
          </p:cNvSpPr>
          <p:nvPr/>
        </p:nvSpPr>
        <p:spPr>
          <a:xfrm>
            <a:off x="1133475" y="5295900"/>
            <a:ext cx="2857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A</a:t>
            </a:r>
            <a:endParaRPr sz="1350" b="0">
              <a:solidFill>
                <a:srgbClr val="24292D"/>
              </a:solidFill>
              <a:latin typeface="Arial" panose="020B0604020202020204"/>
              <a:ea typeface="Arial" panose="020B0604020202020204"/>
              <a:cs typeface="Arial" panose="020B0604020202020204"/>
            </a:endParaRPr>
          </a:p>
        </p:txBody>
      </p:sp>
      <p:sp>
        <p:nvSpPr>
          <p:cNvPr id="17" name="矩形 16"/>
          <p:cNvSpPr>
            <a:spLocks noGrp="1"/>
          </p:cNvSpPr>
          <p:nvPr/>
        </p:nvSpPr>
        <p:spPr>
          <a:xfrm>
            <a:off x="1133475" y="5543550"/>
            <a:ext cx="2857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a:t>
            </a:r>
            <a:endParaRPr sz="1350" b="0">
              <a:solidFill>
                <a:srgbClr val="24292D"/>
              </a:solidFill>
              <a:latin typeface="Arial" panose="020B0604020202020204"/>
              <a:ea typeface="Arial" panose="020B0604020202020204"/>
              <a:cs typeface="Arial" panose="020B0604020202020204"/>
            </a:endParaRPr>
          </a:p>
        </p:txBody>
      </p:sp>
      <p:sp>
        <p:nvSpPr>
          <p:cNvPr id="18" name="直接连接符 17"/>
          <p:cNvSpPr>
            <a:spLocks noGrp="1"/>
          </p:cNvSpPr>
          <p:nvPr/>
        </p:nvSpPr>
        <p:spPr>
          <a:xfrm>
            <a:off x="142875" y="5905500"/>
            <a:ext cx="13287375" cy="953"/>
          </a:xfrm>
          <a:prstGeom prst="line">
            <a:avLst/>
          </a:prstGeom>
          <a:noFill/>
          <a:ln w="9525">
            <a:solidFill>
              <a:srgbClr val="D7DDE1"/>
            </a:solidFill>
          </a:ln>
        </p:spPr>
      </p:sp>
      <p:sp>
        <p:nvSpPr>
          <p:cNvPr id="19" name="矩形 18"/>
          <p:cNvSpPr>
            <a:spLocks noGrp="1"/>
          </p:cNvSpPr>
          <p:nvPr/>
        </p:nvSpPr>
        <p:spPr>
          <a:xfrm>
            <a:off x="142875" y="6267450"/>
            <a:ext cx="981075" cy="333375"/>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World 4</a:t>
            </a:r>
            <a:endParaRPr sz="1350" b="0">
              <a:solidFill>
                <a:srgbClr val="24292D"/>
              </a:solidFill>
              <a:latin typeface="Arial" panose="020B0604020202020204"/>
              <a:ea typeface="Arial" panose="020B0604020202020204"/>
              <a:cs typeface="Arial" panose="020B0604020202020204"/>
            </a:endParaRPr>
          </a:p>
        </p:txBody>
      </p:sp>
      <p:sp>
        <p:nvSpPr>
          <p:cNvPr id="20" name="矩形 19"/>
          <p:cNvSpPr>
            <a:spLocks noGrp="1"/>
          </p:cNvSpPr>
          <p:nvPr/>
        </p:nvSpPr>
        <p:spPr>
          <a:xfrm>
            <a:off x="1133475" y="5981700"/>
            <a:ext cx="2857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O</a:t>
            </a:r>
            <a:endParaRPr sz="1350" b="0">
              <a:solidFill>
                <a:srgbClr val="24292D"/>
              </a:solidFill>
              <a:latin typeface="Arial" panose="020B0604020202020204"/>
              <a:ea typeface="Arial" panose="020B0604020202020204"/>
              <a:cs typeface="Arial" panose="020B0604020202020204"/>
            </a:endParaRPr>
          </a:p>
        </p:txBody>
      </p:sp>
      <p:sp>
        <p:nvSpPr>
          <p:cNvPr id="21" name="矩形 20"/>
          <p:cNvSpPr>
            <a:spLocks noGrp="1"/>
          </p:cNvSpPr>
          <p:nvPr/>
        </p:nvSpPr>
        <p:spPr>
          <a:xfrm>
            <a:off x="1133475" y="6229350"/>
            <a:ext cx="2857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A</a:t>
            </a:r>
            <a:endParaRPr sz="1350" b="0">
              <a:solidFill>
                <a:srgbClr val="24292D"/>
              </a:solidFill>
              <a:latin typeface="Arial" panose="020B0604020202020204"/>
              <a:ea typeface="Arial" panose="020B0604020202020204"/>
              <a:cs typeface="Arial" panose="020B0604020202020204"/>
            </a:endParaRPr>
          </a:p>
        </p:txBody>
      </p:sp>
      <p:sp>
        <p:nvSpPr>
          <p:cNvPr id="22" name="矩形 21"/>
          <p:cNvSpPr>
            <a:spLocks noGrp="1"/>
          </p:cNvSpPr>
          <p:nvPr/>
        </p:nvSpPr>
        <p:spPr>
          <a:xfrm>
            <a:off x="1133475" y="6477000"/>
            <a:ext cx="2857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a:t>
            </a:r>
            <a:endParaRPr sz="1350" b="0">
              <a:solidFill>
                <a:srgbClr val="24292D"/>
              </a:solidFill>
              <a:latin typeface="Arial" panose="020B0604020202020204"/>
              <a:ea typeface="Arial" panose="020B0604020202020204"/>
              <a:cs typeface="Arial" panose="020B0604020202020204"/>
            </a:endParaRPr>
          </a:p>
        </p:txBody>
      </p:sp>
      <p:sp>
        <p:nvSpPr>
          <p:cNvPr id="23" name="直接连接符 22"/>
          <p:cNvSpPr>
            <a:spLocks noGrp="1"/>
          </p:cNvSpPr>
          <p:nvPr/>
        </p:nvSpPr>
        <p:spPr>
          <a:xfrm>
            <a:off x="142875" y="6838950"/>
            <a:ext cx="13287375" cy="953"/>
          </a:xfrm>
          <a:prstGeom prst="line">
            <a:avLst/>
          </a:prstGeom>
          <a:noFill/>
          <a:ln w="9525">
            <a:solidFill>
              <a:srgbClr val="D7DDE1"/>
            </a:solidFill>
          </a:ln>
        </p:spPr>
      </p:sp>
      <p:sp>
        <p:nvSpPr>
          <p:cNvPr id="24" name="矩形 23"/>
          <p:cNvSpPr>
            <a:spLocks noGrp="1"/>
          </p:cNvSpPr>
          <p:nvPr/>
        </p:nvSpPr>
        <p:spPr>
          <a:xfrm>
            <a:off x="142875" y="7200900"/>
            <a:ext cx="981075" cy="333375"/>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World 5</a:t>
            </a:r>
            <a:endParaRPr sz="1350" b="0">
              <a:solidFill>
                <a:srgbClr val="24292D"/>
              </a:solidFill>
              <a:latin typeface="Arial" panose="020B0604020202020204"/>
              <a:ea typeface="Arial" panose="020B0604020202020204"/>
              <a:cs typeface="Arial" panose="020B0604020202020204"/>
            </a:endParaRPr>
          </a:p>
        </p:txBody>
      </p:sp>
      <p:sp>
        <p:nvSpPr>
          <p:cNvPr id="25" name="矩形 24"/>
          <p:cNvSpPr>
            <a:spLocks noGrp="1"/>
          </p:cNvSpPr>
          <p:nvPr/>
        </p:nvSpPr>
        <p:spPr>
          <a:xfrm>
            <a:off x="1133475" y="6915150"/>
            <a:ext cx="2857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O</a:t>
            </a:r>
            <a:endParaRPr sz="1350" b="0">
              <a:solidFill>
                <a:srgbClr val="24292D"/>
              </a:solidFill>
              <a:latin typeface="Arial" panose="020B0604020202020204"/>
              <a:ea typeface="Arial" panose="020B0604020202020204"/>
              <a:cs typeface="Arial" panose="020B0604020202020204"/>
            </a:endParaRPr>
          </a:p>
        </p:txBody>
      </p:sp>
      <p:sp>
        <p:nvSpPr>
          <p:cNvPr id="26" name="矩形 25"/>
          <p:cNvSpPr>
            <a:spLocks noGrp="1"/>
          </p:cNvSpPr>
          <p:nvPr/>
        </p:nvSpPr>
        <p:spPr>
          <a:xfrm>
            <a:off x="1133475" y="7162800"/>
            <a:ext cx="2857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A</a:t>
            </a:r>
            <a:endParaRPr sz="1350" b="0">
              <a:solidFill>
                <a:srgbClr val="24292D"/>
              </a:solidFill>
              <a:latin typeface="Arial" panose="020B0604020202020204"/>
              <a:ea typeface="Arial" panose="020B0604020202020204"/>
              <a:cs typeface="Arial" panose="020B0604020202020204"/>
            </a:endParaRPr>
          </a:p>
        </p:txBody>
      </p:sp>
      <p:sp>
        <p:nvSpPr>
          <p:cNvPr id="27" name="矩形 26"/>
          <p:cNvSpPr>
            <a:spLocks noGrp="1"/>
          </p:cNvSpPr>
          <p:nvPr/>
        </p:nvSpPr>
        <p:spPr>
          <a:xfrm>
            <a:off x="1133475" y="7410450"/>
            <a:ext cx="285750" cy="30480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a:t>
            </a:r>
            <a:endParaRPr sz="1350" b="0">
              <a:solidFill>
                <a:srgbClr val="24292D"/>
              </a:solidFill>
              <a:latin typeface="Arial" panose="020B0604020202020204"/>
              <a:ea typeface="Arial" panose="020B0604020202020204"/>
              <a:cs typeface="Arial" panose="020B0604020202020204"/>
            </a:endParaRPr>
          </a:p>
        </p:txBody>
      </p:sp>
      <p:sp>
        <p:nvSpPr>
          <p:cNvPr id="28" name="直接连接符 27"/>
          <p:cNvSpPr>
            <a:spLocks noGrp="1"/>
          </p:cNvSpPr>
          <p:nvPr/>
        </p:nvSpPr>
        <p:spPr>
          <a:xfrm>
            <a:off x="142875" y="7772400"/>
            <a:ext cx="13287375" cy="953"/>
          </a:xfrm>
          <a:prstGeom prst="line">
            <a:avLst/>
          </a:prstGeom>
          <a:noFill/>
          <a:ln w="9525">
            <a:solidFill>
              <a:srgbClr val="D7DDE1"/>
            </a:solidFill>
          </a:ln>
        </p:spPr>
      </p:sp>
      <p:sp>
        <p:nvSpPr>
          <p:cNvPr id="29" name="矩形 28"/>
          <p:cNvSpPr>
            <a:spLocks noGrp="1"/>
          </p:cNvSpPr>
          <p:nvPr/>
        </p:nvSpPr>
        <p:spPr>
          <a:xfrm>
            <a:off x="142875" y="8143875"/>
            <a:ext cx="1314450" cy="304800"/>
          </a:xfrm>
          <a:prstGeom prst="rect">
            <a:avLst/>
          </a:prstGeom>
          <a:noFill/>
          <a:ln w="0">
            <a:noFill/>
          </a:ln>
        </p:spPr>
        <p:txBody>
          <a:bodyPr wrap="none" lIns="0" tIns="0" rIns="0" bIns="0" anchor="ctr">
            <a:noAutofit/>
          </a:bodyPr>
          <a:lstStyle/>
          <a:p>
            <a:pPr algn="l">
              <a:defRPr sz="1350" b="1">
                <a:solidFill>
                  <a:srgbClr val="24292D"/>
                </a:solidFill>
                <a:latin typeface="Arial" panose="020B0604020202020204"/>
                <a:ea typeface="Arial" panose="020B0604020202020204"/>
                <a:cs typeface="Arial" panose="020B0604020202020204"/>
              </a:defRPr>
            </a:pPr>
            <a:r>
              <a:rPr sz="1350" b="1">
                <a:solidFill>
                  <a:srgbClr val="24292D"/>
                </a:solidFill>
                <a:latin typeface="Arial" panose="020B0604020202020204"/>
                <a:ea typeface="Arial" panose="020B0604020202020204"/>
                <a:cs typeface="Arial" panose="020B0604020202020204"/>
              </a:rPr>
              <a:t>Mean change</a:t>
            </a:r>
            <a:endParaRPr sz="1350" b="1">
              <a:solidFill>
                <a:srgbClr val="24292D"/>
              </a:solidFill>
              <a:latin typeface="Arial" panose="020B0604020202020204"/>
              <a:ea typeface="Arial" panose="020B0604020202020204"/>
              <a:cs typeface="Arial" panose="020B0604020202020204"/>
            </a:endParaRPr>
          </a:p>
        </p:txBody>
      </p:sp>
      <p:sp>
        <p:nvSpPr>
          <p:cNvPr id="30" name="矩形 29"/>
          <p:cNvSpPr>
            <a:spLocks noGrp="1"/>
          </p:cNvSpPr>
          <p:nvPr/>
        </p:nvSpPr>
        <p:spPr>
          <a:xfrm>
            <a:off x="1552575" y="114300"/>
            <a:ext cx="381000" cy="342900"/>
          </a:xfrm>
          <a:prstGeom prst="rect">
            <a:avLst/>
          </a:prstGeom>
          <a:noFill/>
          <a:ln w="0">
            <a:noFill/>
          </a:ln>
        </p:spPr>
        <p:txBody>
          <a:bodyPr wrap="none" lIns="0" tIns="0" rIns="0" bIns="0" anchor="ctr">
            <a:noAutofit/>
          </a:bodyPr>
          <a:lstStyle/>
          <a:p>
            <a:pPr algn="l">
              <a:defRPr sz="2025" b="1">
                <a:solidFill>
                  <a:srgbClr val="24292D"/>
                </a:solidFill>
                <a:latin typeface="Arial" panose="020B0604020202020204"/>
                <a:ea typeface="Arial" panose="020B0604020202020204"/>
                <a:cs typeface="Arial" panose="020B0604020202020204"/>
              </a:defRPr>
            </a:pPr>
            <a:r>
              <a:rPr sz="2025" b="1">
                <a:solidFill>
                  <a:srgbClr val="24292D"/>
                </a:solidFill>
                <a:latin typeface="Arial" panose="020B0604020202020204"/>
                <a:ea typeface="Arial" panose="020B0604020202020204"/>
                <a:cs typeface="Arial" panose="020B0604020202020204"/>
              </a:rPr>
              <a:t>a</a:t>
            </a:r>
            <a:endParaRPr sz="2025" b="1">
              <a:solidFill>
                <a:srgbClr val="24292D"/>
              </a:solidFill>
              <a:latin typeface="Arial" panose="020B0604020202020204"/>
              <a:ea typeface="Arial" panose="020B0604020202020204"/>
              <a:cs typeface="Arial" panose="020B0604020202020204"/>
            </a:endParaRPr>
          </a:p>
        </p:txBody>
      </p:sp>
      <p:sp>
        <p:nvSpPr>
          <p:cNvPr id="31" name="矩形 30"/>
          <p:cNvSpPr>
            <a:spLocks noGrp="1"/>
          </p:cNvSpPr>
          <p:nvPr/>
        </p:nvSpPr>
        <p:spPr>
          <a:xfrm>
            <a:off x="1476375" y="495300"/>
            <a:ext cx="1866900" cy="657225"/>
          </a:xfrm>
          <a:prstGeom prst="rect">
            <a:avLst/>
          </a:prstGeom>
          <a:noFill/>
          <a:ln w="0">
            <a:noFill/>
          </a:ln>
        </p:spPr>
        <p:txBody>
          <a:bodyPr wrap="none" lIns="0" tIns="0" rIns="0" bIns="0" anchor="ctr">
            <a:noAutofit/>
          </a:bodyPr>
          <a:lstStyle/>
          <a:p>
            <a:pPr algn="ctr">
              <a:defRPr sz="1350" b="1">
                <a:solidFill>
                  <a:srgbClr val="24292D"/>
                </a:solidFill>
                <a:latin typeface="Arial" panose="020B0604020202020204"/>
                <a:ea typeface="Arial" panose="020B0604020202020204"/>
                <a:cs typeface="Arial" panose="020B0604020202020204"/>
              </a:defRPr>
            </a:pPr>
            <a:r>
              <a:rPr sz="1350" b="1">
                <a:solidFill>
                  <a:srgbClr val="24292D"/>
                </a:solidFill>
                <a:latin typeface="Arial" panose="020B0604020202020204"/>
                <a:ea typeface="Arial" panose="020B0604020202020204"/>
                <a:cs typeface="Arial" panose="020B0604020202020204"/>
              </a:rPr>
              <a:t>Electrochemistry</a:t>
            </a:r>
            <a:endParaRPr sz="1350" b="1">
              <a:solidFill>
                <a:srgbClr val="24292D"/>
              </a:solidFill>
              <a:latin typeface="Arial" panose="020B0604020202020204"/>
              <a:ea typeface="Arial" panose="020B0604020202020204"/>
              <a:cs typeface="Arial" panose="020B0604020202020204"/>
            </a:endParaRPr>
          </a:p>
          <a:p>
            <a:pPr algn="ctr">
              <a:defRPr sz="1350" b="1">
                <a:solidFill>
                  <a:srgbClr val="24292D"/>
                </a:solidFill>
                <a:latin typeface="Arial" panose="020B0604020202020204"/>
                <a:ea typeface="Arial" panose="020B0604020202020204"/>
                <a:cs typeface="Arial" panose="020B0604020202020204"/>
              </a:defRPr>
            </a:pPr>
            <a:r>
              <a:rPr sz="1350" b="1">
                <a:solidFill>
                  <a:srgbClr val="24292D"/>
                </a:solidFill>
                <a:latin typeface="Arial" panose="020B0604020202020204"/>
                <a:ea typeface="Arial" panose="020B0604020202020204"/>
                <a:cs typeface="Arial" panose="020B0604020202020204"/>
              </a:rPr>
              <a:t>Discovery</a:t>
            </a:r>
            <a:endParaRPr sz="1350" b="1">
              <a:solidFill>
                <a:srgbClr val="24292D"/>
              </a:solidFill>
              <a:latin typeface="Arial" panose="020B0604020202020204"/>
              <a:ea typeface="Arial" panose="020B0604020202020204"/>
              <a:cs typeface="Arial" panose="020B0604020202020204"/>
            </a:endParaRPr>
          </a:p>
        </p:txBody>
      </p:sp>
      <p:sp>
        <p:nvSpPr>
          <p:cNvPr id="32" name="矩形 31"/>
          <p:cNvSpPr>
            <a:spLocks noGrp="1"/>
          </p:cNvSpPr>
          <p:nvPr/>
        </p:nvSpPr>
        <p:spPr>
          <a:xfrm>
            <a:off x="1476375" y="1133475"/>
            <a:ext cx="1866900" cy="457200"/>
          </a:xfrm>
          <a:prstGeom prst="rect">
            <a:avLst/>
          </a:prstGeom>
          <a:noFill/>
          <a:ln w="0">
            <a:noFill/>
          </a:ln>
        </p:spPr>
        <p:txBody>
          <a:bodyPr wrap="none" lIns="0" tIns="0" rIns="0" bIns="0" anchor="ctr">
            <a:noAutofit/>
          </a:bodyPr>
          <a:lstStyle/>
          <a:p>
            <a:pPr algn="ctr">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Score MAE</a:t>
            </a:r>
            <a:endParaRPr sz="1350" b="0">
              <a:solidFill>
                <a:srgbClr val="6A737B"/>
              </a:solidFill>
              <a:latin typeface="Arial" panose="020B0604020202020204"/>
              <a:ea typeface="Arial" panose="020B0604020202020204"/>
              <a:cs typeface="Arial" panose="020B0604020202020204"/>
            </a:endParaRPr>
          </a:p>
        </p:txBody>
      </p:sp>
      <p:sp>
        <p:nvSpPr>
          <p:cNvPr id="33" name="矩形 32"/>
          <p:cNvSpPr>
            <a:spLocks noGrp="1"/>
          </p:cNvSpPr>
          <p:nvPr/>
        </p:nvSpPr>
        <p:spPr>
          <a:xfrm>
            <a:off x="1552575" y="1638300"/>
            <a:ext cx="1714500" cy="304800"/>
          </a:xfrm>
          <a:prstGeom prst="rect">
            <a:avLst/>
          </a:prstGeom>
          <a:noFill/>
          <a:ln w="0">
            <a:noFill/>
          </a:ln>
        </p:spPr>
        <p:txBody>
          <a:bodyPr wrap="none" lIns="0" tIns="0" rIns="0" bIns="0" anchor="ctr">
            <a:noAutofit/>
          </a:bodyPr>
          <a:lstStyle/>
          <a:p>
            <a:pPr algn="ctr">
              <a:defRPr sz="1500" b="0">
                <a:solidFill>
                  <a:srgbClr val="416B92"/>
                </a:solidFill>
                <a:latin typeface="Arial" panose="020B0604020202020204"/>
                <a:ea typeface="Arial" panose="020B0604020202020204"/>
                <a:cs typeface="Arial" panose="020B0604020202020204"/>
              </a:defRPr>
            </a:pPr>
            <a:r>
              <a:rPr sz="1500" b="0">
                <a:solidFill>
                  <a:srgbClr val="416B92"/>
                </a:solidFill>
                <a:latin typeface="Arial" panose="020B0604020202020204"/>
                <a:ea typeface="Arial" panose="020B0604020202020204"/>
                <a:cs typeface="Arial" panose="020B0604020202020204"/>
              </a:rPr>
              <a:t>0.1738</a:t>
            </a:r>
            <a:endParaRPr sz="1500" b="0">
              <a:solidFill>
                <a:srgbClr val="416B92"/>
              </a:solidFill>
              <a:latin typeface="Arial" panose="020B0604020202020204"/>
              <a:ea typeface="Arial" panose="020B0604020202020204"/>
              <a:cs typeface="Arial" panose="020B0604020202020204"/>
            </a:endParaRPr>
          </a:p>
        </p:txBody>
      </p:sp>
      <p:sp>
        <p:nvSpPr>
          <p:cNvPr id="34" name="矩形 33"/>
          <p:cNvSpPr>
            <a:spLocks noGrp="1"/>
          </p:cNvSpPr>
          <p:nvPr/>
        </p:nvSpPr>
        <p:spPr>
          <a:xfrm>
            <a:off x="1552575" y="2009775"/>
            <a:ext cx="1714500" cy="304800"/>
          </a:xfrm>
          <a:prstGeom prst="rect">
            <a:avLst/>
          </a:prstGeom>
          <a:noFill/>
          <a:ln w="0">
            <a:noFill/>
          </a:ln>
        </p:spPr>
        <p:txBody>
          <a:bodyPr wrap="none" lIns="0" tIns="0" rIns="0" bIns="0" anchor="ctr">
            <a:noAutofit/>
          </a:bodyPr>
          <a:lstStyle/>
          <a:p>
            <a:pPr algn="ctr">
              <a:defRPr sz="1500" b="0">
                <a:solidFill>
                  <a:srgbClr val="277F8A"/>
                </a:solidFill>
                <a:latin typeface="Arial" panose="020B0604020202020204"/>
                <a:ea typeface="Arial" panose="020B0604020202020204"/>
                <a:cs typeface="Arial" panose="020B0604020202020204"/>
              </a:defRPr>
            </a:pPr>
            <a:r>
              <a:rPr sz="1500" b="0">
                <a:solidFill>
                  <a:srgbClr val="277F8A"/>
                </a:solidFill>
                <a:latin typeface="Arial" panose="020B0604020202020204"/>
                <a:ea typeface="Arial" panose="020B0604020202020204"/>
                <a:cs typeface="Arial" panose="020B0604020202020204"/>
              </a:rPr>
              <a:t>0.1122</a:t>
            </a:r>
            <a:endParaRPr sz="1500" b="0">
              <a:solidFill>
                <a:srgbClr val="277F8A"/>
              </a:solidFill>
              <a:latin typeface="Arial" panose="020B0604020202020204"/>
              <a:ea typeface="Arial" panose="020B0604020202020204"/>
              <a:cs typeface="Arial" panose="020B0604020202020204"/>
            </a:endParaRPr>
          </a:p>
        </p:txBody>
      </p:sp>
      <p:sp>
        <p:nvSpPr>
          <p:cNvPr id="35" name="矩形 34"/>
          <p:cNvSpPr>
            <a:spLocks noGrp="1"/>
          </p:cNvSpPr>
          <p:nvPr/>
        </p:nvSpPr>
        <p:spPr>
          <a:xfrm>
            <a:off x="1552575" y="2390775"/>
            <a:ext cx="1714500" cy="304800"/>
          </a:xfrm>
          <a:prstGeom prst="rect">
            <a:avLst/>
          </a:prstGeom>
          <a:noFill/>
          <a:ln w="0">
            <a:noFill/>
          </a:ln>
        </p:spPr>
        <p:txBody>
          <a:bodyPr wrap="none" lIns="0" tIns="0" rIns="0" bIns="0" anchor="ctr">
            <a:noAutofit/>
          </a:bodyPr>
          <a:lstStyle/>
          <a:p>
            <a:pPr algn="ctr">
              <a:defRPr sz="1500" b="1">
                <a:solidFill>
                  <a:srgbClr val="24292D"/>
                </a:solidFill>
                <a:latin typeface="Arial" panose="020B0604020202020204"/>
                <a:ea typeface="Arial" panose="020B0604020202020204"/>
                <a:cs typeface="Arial" panose="020B0604020202020204"/>
              </a:defRPr>
            </a:pPr>
            <a:r>
              <a:rPr sz="1500" b="1">
                <a:solidFill>
                  <a:srgbClr val="24292D"/>
                </a:solidFill>
                <a:latin typeface="Arial" panose="020B0604020202020204"/>
                <a:ea typeface="Arial" panose="020B0604020202020204"/>
                <a:cs typeface="Arial" panose="020B0604020202020204"/>
              </a:rPr>
              <a:t>11/15</a:t>
            </a:r>
            <a:endParaRPr sz="1500" b="1">
              <a:solidFill>
                <a:srgbClr val="24292D"/>
              </a:solidFill>
              <a:latin typeface="Arial" panose="020B0604020202020204"/>
              <a:ea typeface="Arial" panose="020B0604020202020204"/>
              <a:cs typeface="Arial" panose="020B0604020202020204"/>
            </a:endParaRPr>
          </a:p>
        </p:txBody>
      </p:sp>
      <p:sp>
        <p:nvSpPr>
          <p:cNvPr id="36" name="直接连接符 35"/>
          <p:cNvSpPr>
            <a:spLocks noGrp="1"/>
          </p:cNvSpPr>
          <p:nvPr/>
        </p:nvSpPr>
        <p:spPr>
          <a:xfrm>
            <a:off x="1552575" y="2857500"/>
            <a:ext cx="1714500" cy="953"/>
          </a:xfrm>
          <a:prstGeom prst="line">
            <a:avLst/>
          </a:prstGeom>
          <a:noFill/>
          <a:ln w="14288">
            <a:solidFill>
              <a:srgbClr val="D7DDE1"/>
            </a:solidFill>
          </a:ln>
        </p:spPr>
      </p:sp>
      <p:sp>
        <p:nvSpPr>
          <p:cNvPr id="37" name="直接连接符 36"/>
          <p:cNvSpPr>
            <a:spLocks noGrp="1"/>
          </p:cNvSpPr>
          <p:nvPr/>
        </p:nvSpPr>
        <p:spPr>
          <a:xfrm>
            <a:off x="2409825" y="3143250"/>
            <a:ext cx="953" cy="5381625"/>
          </a:xfrm>
          <a:prstGeom prst="line">
            <a:avLst/>
          </a:prstGeom>
          <a:noFill/>
          <a:ln w="11430">
            <a:solidFill>
              <a:srgbClr val="6A737B"/>
            </a:solidFill>
          </a:ln>
        </p:spPr>
      </p:sp>
      <p:sp>
        <p:nvSpPr>
          <p:cNvPr id="38" name="直接连接符 37"/>
          <p:cNvSpPr>
            <a:spLocks noGrp="1"/>
          </p:cNvSpPr>
          <p:nvPr/>
        </p:nvSpPr>
        <p:spPr>
          <a:xfrm>
            <a:off x="2409825" y="3333750"/>
            <a:ext cx="44851" cy="953"/>
          </a:xfrm>
          <a:prstGeom prst="line">
            <a:avLst/>
          </a:prstGeom>
          <a:noFill/>
          <a:ln w="19050">
            <a:solidFill>
              <a:srgbClr val="277F8A"/>
            </a:solidFill>
          </a:ln>
        </p:spPr>
      </p:sp>
      <p:sp>
        <p:nvSpPr>
          <p:cNvPr id="39" name="椭圆 38"/>
          <p:cNvSpPr>
            <a:spLocks noGrp="1"/>
          </p:cNvSpPr>
          <p:nvPr/>
        </p:nvSpPr>
        <p:spPr>
          <a:xfrm>
            <a:off x="2411814" y="3290888"/>
            <a:ext cx="85725" cy="85725"/>
          </a:xfrm>
          <a:prstGeom prst="ellipse">
            <a:avLst/>
          </a:prstGeom>
          <a:solidFill>
            <a:srgbClr val="277F8A"/>
          </a:solidFill>
          <a:ln w="9525">
            <a:solidFill>
              <a:srgbClr val="277F8A"/>
            </a:solidFill>
          </a:ln>
        </p:spPr>
      </p:sp>
      <p:sp>
        <p:nvSpPr>
          <p:cNvPr id="40" name="直接连接符 39"/>
          <p:cNvSpPr>
            <a:spLocks noGrp="1"/>
          </p:cNvSpPr>
          <p:nvPr/>
        </p:nvSpPr>
        <p:spPr>
          <a:xfrm>
            <a:off x="2409825" y="3581400"/>
            <a:ext cx="74997" cy="953"/>
          </a:xfrm>
          <a:prstGeom prst="line">
            <a:avLst/>
          </a:prstGeom>
          <a:noFill/>
          <a:ln w="19050">
            <a:solidFill>
              <a:srgbClr val="277F8A"/>
            </a:solidFill>
          </a:ln>
        </p:spPr>
      </p:sp>
      <p:sp>
        <p:nvSpPr>
          <p:cNvPr id="41" name="椭圆 40"/>
          <p:cNvSpPr>
            <a:spLocks noGrp="1"/>
          </p:cNvSpPr>
          <p:nvPr/>
        </p:nvSpPr>
        <p:spPr>
          <a:xfrm>
            <a:off x="2441960" y="3538538"/>
            <a:ext cx="85725" cy="85725"/>
          </a:xfrm>
          <a:prstGeom prst="ellipse">
            <a:avLst/>
          </a:prstGeom>
          <a:solidFill>
            <a:srgbClr val="277F8A"/>
          </a:solidFill>
          <a:ln w="9525">
            <a:solidFill>
              <a:srgbClr val="277F8A"/>
            </a:solidFill>
          </a:ln>
        </p:spPr>
      </p:sp>
      <p:sp>
        <p:nvSpPr>
          <p:cNvPr id="42" name="直接连接符 41"/>
          <p:cNvSpPr>
            <a:spLocks noGrp="1"/>
          </p:cNvSpPr>
          <p:nvPr/>
        </p:nvSpPr>
        <p:spPr>
          <a:xfrm>
            <a:off x="2409825" y="3829050"/>
            <a:ext cx="533295" cy="953"/>
          </a:xfrm>
          <a:prstGeom prst="line">
            <a:avLst/>
          </a:prstGeom>
          <a:noFill/>
          <a:ln w="19050">
            <a:solidFill>
              <a:srgbClr val="277F8A"/>
            </a:solidFill>
          </a:ln>
        </p:spPr>
      </p:sp>
      <p:sp>
        <p:nvSpPr>
          <p:cNvPr id="43" name="椭圆 42"/>
          <p:cNvSpPr>
            <a:spLocks noGrp="1"/>
          </p:cNvSpPr>
          <p:nvPr/>
        </p:nvSpPr>
        <p:spPr>
          <a:xfrm>
            <a:off x="2900257" y="3786188"/>
            <a:ext cx="85725" cy="85725"/>
          </a:xfrm>
          <a:prstGeom prst="ellipse">
            <a:avLst/>
          </a:prstGeom>
          <a:solidFill>
            <a:srgbClr val="277F8A"/>
          </a:solidFill>
          <a:ln w="9525">
            <a:solidFill>
              <a:srgbClr val="277F8A"/>
            </a:solidFill>
          </a:ln>
        </p:spPr>
      </p:sp>
      <p:sp>
        <p:nvSpPr>
          <p:cNvPr id="44" name="直接连接符 43"/>
          <p:cNvSpPr>
            <a:spLocks noGrp="1"/>
          </p:cNvSpPr>
          <p:nvPr/>
        </p:nvSpPr>
        <p:spPr>
          <a:xfrm>
            <a:off x="2409825" y="4267200"/>
            <a:ext cx="348512" cy="953"/>
          </a:xfrm>
          <a:prstGeom prst="line">
            <a:avLst/>
          </a:prstGeom>
          <a:noFill/>
          <a:ln w="19050">
            <a:solidFill>
              <a:srgbClr val="277F8A"/>
            </a:solidFill>
          </a:ln>
        </p:spPr>
      </p:sp>
      <p:sp>
        <p:nvSpPr>
          <p:cNvPr id="45" name="椭圆 44"/>
          <p:cNvSpPr>
            <a:spLocks noGrp="1"/>
          </p:cNvSpPr>
          <p:nvPr/>
        </p:nvSpPr>
        <p:spPr>
          <a:xfrm>
            <a:off x="2715474" y="4224338"/>
            <a:ext cx="85725" cy="85725"/>
          </a:xfrm>
          <a:prstGeom prst="ellipse">
            <a:avLst/>
          </a:prstGeom>
          <a:solidFill>
            <a:srgbClr val="277F8A"/>
          </a:solidFill>
          <a:ln w="9525">
            <a:solidFill>
              <a:srgbClr val="277F8A"/>
            </a:solidFill>
          </a:ln>
        </p:spPr>
      </p:sp>
      <p:sp>
        <p:nvSpPr>
          <p:cNvPr id="46" name="直接连接符 45"/>
          <p:cNvSpPr>
            <a:spLocks noGrp="1"/>
          </p:cNvSpPr>
          <p:nvPr/>
        </p:nvSpPr>
        <p:spPr>
          <a:xfrm>
            <a:off x="2409825" y="4514850"/>
            <a:ext cx="58805" cy="953"/>
          </a:xfrm>
          <a:prstGeom prst="line">
            <a:avLst/>
          </a:prstGeom>
          <a:noFill/>
          <a:ln w="19050">
            <a:solidFill>
              <a:srgbClr val="277F8A"/>
            </a:solidFill>
          </a:ln>
        </p:spPr>
      </p:sp>
      <p:sp>
        <p:nvSpPr>
          <p:cNvPr id="47" name="椭圆 46"/>
          <p:cNvSpPr>
            <a:spLocks noGrp="1"/>
          </p:cNvSpPr>
          <p:nvPr/>
        </p:nvSpPr>
        <p:spPr>
          <a:xfrm>
            <a:off x="2425767" y="4471988"/>
            <a:ext cx="85725" cy="85725"/>
          </a:xfrm>
          <a:prstGeom prst="ellipse">
            <a:avLst/>
          </a:prstGeom>
          <a:solidFill>
            <a:srgbClr val="277F8A"/>
          </a:solidFill>
          <a:ln w="9525">
            <a:solidFill>
              <a:srgbClr val="277F8A"/>
            </a:solidFill>
          </a:ln>
        </p:spPr>
      </p:sp>
      <p:sp>
        <p:nvSpPr>
          <p:cNvPr id="48" name="直接连接符 47"/>
          <p:cNvSpPr>
            <a:spLocks noGrp="1"/>
          </p:cNvSpPr>
          <p:nvPr/>
        </p:nvSpPr>
        <p:spPr>
          <a:xfrm>
            <a:off x="2409825" y="4762500"/>
            <a:ext cx="159360" cy="953"/>
          </a:xfrm>
          <a:prstGeom prst="line">
            <a:avLst/>
          </a:prstGeom>
          <a:noFill/>
          <a:ln w="19050">
            <a:solidFill>
              <a:srgbClr val="277F8A"/>
            </a:solidFill>
          </a:ln>
        </p:spPr>
      </p:sp>
      <p:sp>
        <p:nvSpPr>
          <p:cNvPr id="49" name="椭圆 48"/>
          <p:cNvSpPr>
            <a:spLocks noGrp="1"/>
          </p:cNvSpPr>
          <p:nvPr/>
        </p:nvSpPr>
        <p:spPr>
          <a:xfrm>
            <a:off x="2526322" y="4719638"/>
            <a:ext cx="85725" cy="85725"/>
          </a:xfrm>
          <a:prstGeom prst="ellipse">
            <a:avLst/>
          </a:prstGeom>
          <a:solidFill>
            <a:srgbClr val="277F8A"/>
          </a:solidFill>
          <a:ln w="9525">
            <a:solidFill>
              <a:srgbClr val="277F8A"/>
            </a:solidFill>
          </a:ln>
        </p:spPr>
      </p:sp>
      <p:sp>
        <p:nvSpPr>
          <p:cNvPr id="50" name="直接连接符 49"/>
          <p:cNvSpPr>
            <a:spLocks noGrp="1"/>
          </p:cNvSpPr>
          <p:nvPr/>
        </p:nvSpPr>
        <p:spPr>
          <a:xfrm>
            <a:off x="2136816" y="5200650"/>
            <a:ext cx="273009" cy="953"/>
          </a:xfrm>
          <a:prstGeom prst="line">
            <a:avLst/>
          </a:prstGeom>
          <a:noFill/>
          <a:ln w="19050">
            <a:solidFill>
              <a:srgbClr val="A35F42"/>
            </a:solidFill>
          </a:ln>
        </p:spPr>
      </p:sp>
      <p:sp>
        <p:nvSpPr>
          <p:cNvPr id="51" name="椭圆 50"/>
          <p:cNvSpPr>
            <a:spLocks noGrp="1"/>
          </p:cNvSpPr>
          <p:nvPr/>
        </p:nvSpPr>
        <p:spPr>
          <a:xfrm>
            <a:off x="2093953" y="5157788"/>
            <a:ext cx="85725" cy="85725"/>
          </a:xfrm>
          <a:prstGeom prst="ellipse">
            <a:avLst/>
          </a:prstGeom>
          <a:solidFill>
            <a:srgbClr val="A35F42"/>
          </a:solidFill>
          <a:ln w="9525">
            <a:solidFill>
              <a:srgbClr val="A35F42"/>
            </a:solidFill>
          </a:ln>
        </p:spPr>
      </p:sp>
      <p:sp>
        <p:nvSpPr>
          <p:cNvPr id="52" name="直接连接符 51"/>
          <p:cNvSpPr>
            <a:spLocks noGrp="1"/>
          </p:cNvSpPr>
          <p:nvPr/>
        </p:nvSpPr>
        <p:spPr>
          <a:xfrm>
            <a:off x="2409825" y="5448300"/>
            <a:ext cx="438343" cy="953"/>
          </a:xfrm>
          <a:prstGeom prst="line">
            <a:avLst/>
          </a:prstGeom>
          <a:noFill/>
          <a:ln w="19050">
            <a:solidFill>
              <a:srgbClr val="277F8A"/>
            </a:solidFill>
          </a:ln>
        </p:spPr>
      </p:sp>
      <p:sp>
        <p:nvSpPr>
          <p:cNvPr id="53" name="椭圆 52"/>
          <p:cNvSpPr>
            <a:spLocks noGrp="1"/>
          </p:cNvSpPr>
          <p:nvPr/>
        </p:nvSpPr>
        <p:spPr>
          <a:xfrm>
            <a:off x="2805305" y="5405438"/>
            <a:ext cx="85725" cy="85725"/>
          </a:xfrm>
          <a:prstGeom prst="ellipse">
            <a:avLst/>
          </a:prstGeom>
          <a:solidFill>
            <a:srgbClr val="277F8A"/>
          </a:solidFill>
          <a:ln w="9525">
            <a:solidFill>
              <a:srgbClr val="277F8A"/>
            </a:solidFill>
          </a:ln>
        </p:spPr>
      </p:sp>
      <p:sp>
        <p:nvSpPr>
          <p:cNvPr id="54" name="直接连接符 53"/>
          <p:cNvSpPr>
            <a:spLocks noGrp="1"/>
          </p:cNvSpPr>
          <p:nvPr/>
        </p:nvSpPr>
        <p:spPr>
          <a:xfrm>
            <a:off x="2370412" y="5695950"/>
            <a:ext cx="39413" cy="953"/>
          </a:xfrm>
          <a:prstGeom prst="line">
            <a:avLst/>
          </a:prstGeom>
          <a:noFill/>
          <a:ln w="19050">
            <a:solidFill>
              <a:srgbClr val="A35F42"/>
            </a:solidFill>
          </a:ln>
        </p:spPr>
      </p:sp>
      <p:sp>
        <p:nvSpPr>
          <p:cNvPr id="55" name="椭圆 54"/>
          <p:cNvSpPr>
            <a:spLocks noGrp="1"/>
          </p:cNvSpPr>
          <p:nvPr/>
        </p:nvSpPr>
        <p:spPr>
          <a:xfrm>
            <a:off x="2327550" y="5653088"/>
            <a:ext cx="85725" cy="85725"/>
          </a:xfrm>
          <a:prstGeom prst="ellipse">
            <a:avLst/>
          </a:prstGeom>
          <a:solidFill>
            <a:srgbClr val="A35F42"/>
          </a:solidFill>
          <a:ln w="9525">
            <a:solidFill>
              <a:srgbClr val="A35F42"/>
            </a:solidFill>
          </a:ln>
        </p:spPr>
      </p:sp>
      <p:sp>
        <p:nvSpPr>
          <p:cNvPr id="56" name="直接连接符 55"/>
          <p:cNvSpPr>
            <a:spLocks noGrp="1"/>
          </p:cNvSpPr>
          <p:nvPr/>
        </p:nvSpPr>
        <p:spPr>
          <a:xfrm>
            <a:off x="2409825" y="6134100"/>
            <a:ext cx="383993" cy="953"/>
          </a:xfrm>
          <a:prstGeom prst="line">
            <a:avLst/>
          </a:prstGeom>
          <a:noFill/>
          <a:ln w="19050">
            <a:solidFill>
              <a:srgbClr val="277F8A"/>
            </a:solidFill>
          </a:ln>
        </p:spPr>
      </p:sp>
      <p:sp>
        <p:nvSpPr>
          <p:cNvPr id="57" name="椭圆 56"/>
          <p:cNvSpPr>
            <a:spLocks noGrp="1"/>
          </p:cNvSpPr>
          <p:nvPr/>
        </p:nvSpPr>
        <p:spPr>
          <a:xfrm>
            <a:off x="2750956" y="6091238"/>
            <a:ext cx="85725" cy="85725"/>
          </a:xfrm>
          <a:prstGeom prst="ellipse">
            <a:avLst/>
          </a:prstGeom>
          <a:solidFill>
            <a:srgbClr val="277F8A"/>
          </a:solidFill>
          <a:ln w="9525">
            <a:solidFill>
              <a:srgbClr val="277F8A"/>
            </a:solidFill>
          </a:ln>
        </p:spPr>
      </p:sp>
      <p:sp>
        <p:nvSpPr>
          <p:cNvPr id="58" name="直接连接符 57"/>
          <p:cNvSpPr>
            <a:spLocks noGrp="1"/>
          </p:cNvSpPr>
          <p:nvPr/>
        </p:nvSpPr>
        <p:spPr>
          <a:xfrm>
            <a:off x="2409825" y="6381750"/>
            <a:ext cx="477165" cy="953"/>
          </a:xfrm>
          <a:prstGeom prst="line">
            <a:avLst/>
          </a:prstGeom>
          <a:noFill/>
          <a:ln w="19050">
            <a:solidFill>
              <a:srgbClr val="277F8A"/>
            </a:solidFill>
          </a:ln>
        </p:spPr>
      </p:sp>
      <p:sp>
        <p:nvSpPr>
          <p:cNvPr id="59" name="椭圆 58"/>
          <p:cNvSpPr>
            <a:spLocks noGrp="1"/>
          </p:cNvSpPr>
          <p:nvPr/>
        </p:nvSpPr>
        <p:spPr>
          <a:xfrm>
            <a:off x="2844128" y="6338888"/>
            <a:ext cx="85725" cy="85725"/>
          </a:xfrm>
          <a:prstGeom prst="ellipse">
            <a:avLst/>
          </a:prstGeom>
          <a:solidFill>
            <a:srgbClr val="277F8A"/>
          </a:solidFill>
          <a:ln w="9525">
            <a:solidFill>
              <a:srgbClr val="277F8A"/>
            </a:solidFill>
          </a:ln>
        </p:spPr>
      </p:sp>
      <p:sp>
        <p:nvSpPr>
          <p:cNvPr id="60" name="直接连接符 59"/>
          <p:cNvSpPr>
            <a:spLocks noGrp="1"/>
          </p:cNvSpPr>
          <p:nvPr/>
        </p:nvSpPr>
        <p:spPr>
          <a:xfrm>
            <a:off x="2409825" y="6629400"/>
            <a:ext cx="250615" cy="953"/>
          </a:xfrm>
          <a:prstGeom prst="line">
            <a:avLst/>
          </a:prstGeom>
          <a:noFill/>
          <a:ln w="19050">
            <a:solidFill>
              <a:srgbClr val="277F8A"/>
            </a:solidFill>
          </a:ln>
        </p:spPr>
      </p:sp>
      <p:sp>
        <p:nvSpPr>
          <p:cNvPr id="61" name="椭圆 60"/>
          <p:cNvSpPr>
            <a:spLocks noGrp="1"/>
          </p:cNvSpPr>
          <p:nvPr/>
        </p:nvSpPr>
        <p:spPr>
          <a:xfrm>
            <a:off x="2617578" y="6586538"/>
            <a:ext cx="85725" cy="85725"/>
          </a:xfrm>
          <a:prstGeom prst="ellipse">
            <a:avLst/>
          </a:prstGeom>
          <a:solidFill>
            <a:srgbClr val="277F8A"/>
          </a:solidFill>
          <a:ln w="9525">
            <a:solidFill>
              <a:srgbClr val="277F8A"/>
            </a:solidFill>
          </a:ln>
        </p:spPr>
      </p:sp>
      <p:sp>
        <p:nvSpPr>
          <p:cNvPr id="62" name="直接连接符 61"/>
          <p:cNvSpPr>
            <a:spLocks noGrp="1"/>
          </p:cNvSpPr>
          <p:nvPr/>
        </p:nvSpPr>
        <p:spPr>
          <a:xfrm>
            <a:off x="2409825" y="7067550"/>
            <a:ext cx="450975" cy="953"/>
          </a:xfrm>
          <a:prstGeom prst="line">
            <a:avLst/>
          </a:prstGeom>
          <a:noFill/>
          <a:ln w="19050">
            <a:solidFill>
              <a:srgbClr val="277F8A"/>
            </a:solidFill>
          </a:ln>
        </p:spPr>
      </p:sp>
      <p:sp>
        <p:nvSpPr>
          <p:cNvPr id="63" name="椭圆 62"/>
          <p:cNvSpPr>
            <a:spLocks noGrp="1"/>
          </p:cNvSpPr>
          <p:nvPr/>
        </p:nvSpPr>
        <p:spPr>
          <a:xfrm>
            <a:off x="2817938" y="7024688"/>
            <a:ext cx="85725" cy="85725"/>
          </a:xfrm>
          <a:prstGeom prst="ellipse">
            <a:avLst/>
          </a:prstGeom>
          <a:solidFill>
            <a:srgbClr val="277F8A"/>
          </a:solidFill>
          <a:ln w="9525">
            <a:solidFill>
              <a:srgbClr val="277F8A"/>
            </a:solidFill>
          </a:ln>
        </p:spPr>
      </p:sp>
      <p:sp>
        <p:nvSpPr>
          <p:cNvPr id="64" name="直接连接符 63"/>
          <p:cNvSpPr>
            <a:spLocks noGrp="1"/>
          </p:cNvSpPr>
          <p:nvPr/>
        </p:nvSpPr>
        <p:spPr>
          <a:xfrm>
            <a:off x="1979312" y="7315200"/>
            <a:ext cx="430513" cy="953"/>
          </a:xfrm>
          <a:prstGeom prst="line">
            <a:avLst/>
          </a:prstGeom>
          <a:noFill/>
          <a:ln w="19050">
            <a:solidFill>
              <a:srgbClr val="A35F42"/>
            </a:solidFill>
          </a:ln>
        </p:spPr>
      </p:sp>
      <p:sp>
        <p:nvSpPr>
          <p:cNvPr id="65" name="椭圆 64"/>
          <p:cNvSpPr>
            <a:spLocks noGrp="1"/>
          </p:cNvSpPr>
          <p:nvPr/>
        </p:nvSpPr>
        <p:spPr>
          <a:xfrm>
            <a:off x="1936450" y="7272338"/>
            <a:ext cx="85725" cy="85725"/>
          </a:xfrm>
          <a:prstGeom prst="ellipse">
            <a:avLst/>
          </a:prstGeom>
          <a:solidFill>
            <a:srgbClr val="A35F42"/>
          </a:solidFill>
          <a:ln w="9525">
            <a:solidFill>
              <a:srgbClr val="A35F42"/>
            </a:solidFill>
          </a:ln>
        </p:spPr>
      </p:sp>
      <p:sp>
        <p:nvSpPr>
          <p:cNvPr id="66" name="直接连接符 65"/>
          <p:cNvSpPr>
            <a:spLocks noGrp="1"/>
          </p:cNvSpPr>
          <p:nvPr/>
        </p:nvSpPr>
        <p:spPr>
          <a:xfrm>
            <a:off x="2277252" y="7562850"/>
            <a:ext cx="132573" cy="953"/>
          </a:xfrm>
          <a:prstGeom prst="line">
            <a:avLst/>
          </a:prstGeom>
          <a:noFill/>
          <a:ln w="19050">
            <a:solidFill>
              <a:srgbClr val="A35F42"/>
            </a:solidFill>
          </a:ln>
        </p:spPr>
      </p:sp>
      <p:sp>
        <p:nvSpPr>
          <p:cNvPr id="67" name="椭圆 66"/>
          <p:cNvSpPr>
            <a:spLocks noGrp="1"/>
          </p:cNvSpPr>
          <p:nvPr/>
        </p:nvSpPr>
        <p:spPr>
          <a:xfrm>
            <a:off x="2234389" y="7519988"/>
            <a:ext cx="85725" cy="85725"/>
          </a:xfrm>
          <a:prstGeom prst="ellipse">
            <a:avLst/>
          </a:prstGeom>
          <a:solidFill>
            <a:srgbClr val="A35F42"/>
          </a:solidFill>
          <a:ln w="9525">
            <a:solidFill>
              <a:srgbClr val="A35F42"/>
            </a:solidFill>
          </a:ln>
        </p:spPr>
      </p:sp>
      <p:sp>
        <p:nvSpPr>
          <p:cNvPr id="68" name="直接连接符 67"/>
          <p:cNvSpPr>
            <a:spLocks noGrp="1"/>
          </p:cNvSpPr>
          <p:nvPr/>
        </p:nvSpPr>
        <p:spPr>
          <a:xfrm>
            <a:off x="2409825" y="8296275"/>
            <a:ext cx="156360" cy="953"/>
          </a:xfrm>
          <a:prstGeom prst="line">
            <a:avLst/>
          </a:prstGeom>
          <a:noFill/>
          <a:ln w="23813">
            <a:solidFill>
              <a:srgbClr val="24292D"/>
            </a:solidFill>
          </a:ln>
        </p:spPr>
      </p:sp>
      <p:sp>
        <p:nvSpPr>
          <p:cNvPr id="69" name="菱形 68"/>
          <p:cNvSpPr>
            <a:spLocks noGrp="1"/>
          </p:cNvSpPr>
          <p:nvPr/>
        </p:nvSpPr>
        <p:spPr>
          <a:xfrm>
            <a:off x="2509035" y="8239125"/>
            <a:ext cx="114300" cy="114300"/>
          </a:xfrm>
          <a:prstGeom prst="diamond">
            <a:avLst/>
          </a:prstGeom>
          <a:solidFill>
            <a:srgbClr val="24292D"/>
          </a:solidFill>
          <a:ln w="9525">
            <a:solidFill>
              <a:srgbClr val="24292D"/>
            </a:solidFill>
          </a:ln>
        </p:spPr>
      </p:sp>
      <p:sp>
        <p:nvSpPr>
          <p:cNvPr id="70" name="直接连接符 69"/>
          <p:cNvSpPr>
            <a:spLocks noGrp="1"/>
          </p:cNvSpPr>
          <p:nvPr/>
        </p:nvSpPr>
        <p:spPr>
          <a:xfrm>
            <a:off x="1552575" y="8620125"/>
            <a:ext cx="1714500" cy="953"/>
          </a:xfrm>
          <a:prstGeom prst="line">
            <a:avLst/>
          </a:prstGeom>
          <a:noFill/>
          <a:ln w="12383">
            <a:solidFill>
              <a:srgbClr val="24292D"/>
            </a:solidFill>
          </a:ln>
        </p:spPr>
      </p:sp>
      <p:sp>
        <p:nvSpPr>
          <p:cNvPr id="71" name="直接连接符 70"/>
          <p:cNvSpPr>
            <a:spLocks noGrp="1"/>
          </p:cNvSpPr>
          <p:nvPr/>
        </p:nvSpPr>
        <p:spPr>
          <a:xfrm>
            <a:off x="1647825" y="8620125"/>
            <a:ext cx="953" cy="76200"/>
          </a:xfrm>
          <a:prstGeom prst="line">
            <a:avLst/>
          </a:prstGeom>
          <a:noFill/>
          <a:ln w="9525">
            <a:solidFill>
              <a:srgbClr val="24292D"/>
            </a:solidFill>
          </a:ln>
        </p:spPr>
      </p:sp>
      <p:sp>
        <p:nvSpPr>
          <p:cNvPr id="72" name="矩形 71"/>
          <p:cNvSpPr>
            <a:spLocks noGrp="1"/>
          </p:cNvSpPr>
          <p:nvPr/>
        </p:nvSpPr>
        <p:spPr>
          <a:xfrm>
            <a:off x="1314450" y="8734425"/>
            <a:ext cx="66675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-0.3</a:t>
            </a:r>
            <a:endParaRPr sz="1350" b="0">
              <a:solidFill>
                <a:srgbClr val="24292D"/>
              </a:solidFill>
              <a:latin typeface="Arial" panose="020B0604020202020204"/>
              <a:ea typeface="Arial" panose="020B0604020202020204"/>
              <a:cs typeface="Arial" panose="020B0604020202020204"/>
            </a:endParaRPr>
          </a:p>
        </p:txBody>
      </p:sp>
      <p:sp>
        <p:nvSpPr>
          <p:cNvPr id="73" name="直接连接符 72"/>
          <p:cNvSpPr>
            <a:spLocks noGrp="1"/>
          </p:cNvSpPr>
          <p:nvPr/>
        </p:nvSpPr>
        <p:spPr>
          <a:xfrm>
            <a:off x="2409825" y="8620125"/>
            <a:ext cx="953" cy="76200"/>
          </a:xfrm>
          <a:prstGeom prst="line">
            <a:avLst/>
          </a:prstGeom>
          <a:noFill/>
          <a:ln w="9525">
            <a:solidFill>
              <a:srgbClr val="24292D"/>
            </a:solidFill>
          </a:ln>
        </p:spPr>
      </p:sp>
      <p:sp>
        <p:nvSpPr>
          <p:cNvPr id="74" name="矩形 73"/>
          <p:cNvSpPr>
            <a:spLocks noGrp="1"/>
          </p:cNvSpPr>
          <p:nvPr/>
        </p:nvSpPr>
        <p:spPr>
          <a:xfrm>
            <a:off x="2076450" y="8734425"/>
            <a:ext cx="66675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0</a:t>
            </a:r>
            <a:endParaRPr sz="1350" b="0">
              <a:solidFill>
                <a:srgbClr val="24292D"/>
              </a:solidFill>
              <a:latin typeface="Arial" panose="020B0604020202020204"/>
              <a:ea typeface="Arial" panose="020B0604020202020204"/>
              <a:cs typeface="Arial" panose="020B0604020202020204"/>
            </a:endParaRPr>
          </a:p>
        </p:txBody>
      </p:sp>
      <p:sp>
        <p:nvSpPr>
          <p:cNvPr id="75" name="直接连接符 74"/>
          <p:cNvSpPr>
            <a:spLocks noGrp="1"/>
          </p:cNvSpPr>
          <p:nvPr/>
        </p:nvSpPr>
        <p:spPr>
          <a:xfrm>
            <a:off x="3171825" y="8620125"/>
            <a:ext cx="953" cy="76200"/>
          </a:xfrm>
          <a:prstGeom prst="line">
            <a:avLst/>
          </a:prstGeom>
          <a:noFill/>
          <a:ln w="9525">
            <a:solidFill>
              <a:srgbClr val="24292D"/>
            </a:solidFill>
          </a:ln>
        </p:spPr>
      </p:sp>
      <p:sp>
        <p:nvSpPr>
          <p:cNvPr id="76" name="矩形 75"/>
          <p:cNvSpPr>
            <a:spLocks noGrp="1"/>
          </p:cNvSpPr>
          <p:nvPr/>
        </p:nvSpPr>
        <p:spPr>
          <a:xfrm>
            <a:off x="2838450" y="8734425"/>
            <a:ext cx="66675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+0.3</a:t>
            </a:r>
            <a:endParaRPr sz="1350" b="0">
              <a:solidFill>
                <a:srgbClr val="24292D"/>
              </a:solidFill>
              <a:latin typeface="Arial" panose="020B0604020202020204"/>
              <a:ea typeface="Arial" panose="020B0604020202020204"/>
              <a:cs typeface="Arial" panose="020B0604020202020204"/>
            </a:endParaRPr>
          </a:p>
        </p:txBody>
      </p:sp>
      <p:sp>
        <p:nvSpPr>
          <p:cNvPr id="77" name="矩形 76"/>
          <p:cNvSpPr>
            <a:spLocks noGrp="1"/>
          </p:cNvSpPr>
          <p:nvPr/>
        </p:nvSpPr>
        <p:spPr>
          <a:xfrm>
            <a:off x="1476375" y="9048750"/>
            <a:ext cx="1866900" cy="5524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MAE reduction</a:t>
            </a:r>
            <a:endParaRPr sz="1350" b="0">
              <a:solidFill>
                <a:srgbClr val="24292D"/>
              </a:solidFill>
              <a:latin typeface="Arial" panose="020B0604020202020204"/>
              <a:ea typeface="Arial" panose="020B0604020202020204"/>
              <a:cs typeface="Arial" panose="020B0604020202020204"/>
            </a:endParaRPr>
          </a:p>
        </p:txBody>
      </p:sp>
      <p:sp>
        <p:nvSpPr>
          <p:cNvPr id="78" name="矩形 77"/>
          <p:cNvSpPr>
            <a:spLocks noGrp="1"/>
          </p:cNvSpPr>
          <p:nvPr/>
        </p:nvSpPr>
        <p:spPr>
          <a:xfrm>
            <a:off x="3524250" y="114300"/>
            <a:ext cx="381000" cy="342900"/>
          </a:xfrm>
          <a:prstGeom prst="rect">
            <a:avLst/>
          </a:prstGeom>
          <a:noFill/>
          <a:ln w="0">
            <a:noFill/>
          </a:ln>
        </p:spPr>
        <p:txBody>
          <a:bodyPr wrap="none" lIns="0" tIns="0" rIns="0" bIns="0" anchor="ctr">
            <a:noAutofit/>
          </a:bodyPr>
          <a:lstStyle/>
          <a:p>
            <a:pPr algn="l">
              <a:defRPr sz="2025" b="1">
                <a:solidFill>
                  <a:srgbClr val="24292D"/>
                </a:solidFill>
                <a:latin typeface="Arial" panose="020B0604020202020204"/>
                <a:ea typeface="Arial" panose="020B0604020202020204"/>
                <a:cs typeface="Arial" panose="020B0604020202020204"/>
              </a:defRPr>
            </a:pPr>
            <a:r>
              <a:rPr sz="2025" b="1">
                <a:solidFill>
                  <a:srgbClr val="24292D"/>
                </a:solidFill>
                <a:latin typeface="Arial" panose="020B0604020202020204"/>
                <a:ea typeface="Arial" panose="020B0604020202020204"/>
                <a:cs typeface="Arial" panose="020B0604020202020204"/>
              </a:rPr>
              <a:t>b</a:t>
            </a:r>
            <a:endParaRPr sz="2025" b="1">
              <a:solidFill>
                <a:srgbClr val="24292D"/>
              </a:solidFill>
              <a:latin typeface="Arial" panose="020B0604020202020204"/>
              <a:ea typeface="Arial" panose="020B0604020202020204"/>
              <a:cs typeface="Arial" panose="020B0604020202020204"/>
            </a:endParaRPr>
          </a:p>
        </p:txBody>
      </p:sp>
      <p:sp>
        <p:nvSpPr>
          <p:cNvPr id="79" name="矩形 78"/>
          <p:cNvSpPr>
            <a:spLocks noGrp="1"/>
          </p:cNvSpPr>
          <p:nvPr/>
        </p:nvSpPr>
        <p:spPr>
          <a:xfrm>
            <a:off x="3448050" y="495300"/>
            <a:ext cx="1866900" cy="657225"/>
          </a:xfrm>
          <a:prstGeom prst="rect">
            <a:avLst/>
          </a:prstGeom>
          <a:noFill/>
          <a:ln w="0">
            <a:noFill/>
          </a:ln>
        </p:spPr>
        <p:txBody>
          <a:bodyPr wrap="none" lIns="0" tIns="0" rIns="0" bIns="0" anchor="ctr">
            <a:noAutofit/>
          </a:bodyPr>
          <a:lstStyle/>
          <a:p>
            <a:pPr algn="ctr">
              <a:defRPr sz="1350" b="1">
                <a:solidFill>
                  <a:srgbClr val="24292D"/>
                </a:solidFill>
                <a:latin typeface="Arial" panose="020B0604020202020204"/>
                <a:ea typeface="Arial" panose="020B0604020202020204"/>
                <a:cs typeface="Arial" panose="020B0604020202020204"/>
              </a:defRPr>
            </a:pPr>
            <a:r>
              <a:rPr sz="1350" b="1">
                <a:solidFill>
                  <a:srgbClr val="24292D"/>
                </a:solidFill>
                <a:latin typeface="Arial" panose="020B0604020202020204"/>
                <a:ea typeface="Arial" panose="020B0604020202020204"/>
                <a:cs typeface="Arial" panose="020B0604020202020204"/>
              </a:rPr>
              <a:t>Electrochemistry</a:t>
            </a:r>
            <a:endParaRPr sz="1350" b="1">
              <a:solidFill>
                <a:srgbClr val="24292D"/>
              </a:solidFill>
              <a:latin typeface="Arial" panose="020B0604020202020204"/>
              <a:ea typeface="Arial" panose="020B0604020202020204"/>
              <a:cs typeface="Arial" panose="020B0604020202020204"/>
            </a:endParaRPr>
          </a:p>
          <a:p>
            <a:pPr algn="ctr">
              <a:defRPr sz="1350" b="1">
                <a:solidFill>
                  <a:srgbClr val="24292D"/>
                </a:solidFill>
                <a:latin typeface="Arial" panose="020B0604020202020204"/>
                <a:ea typeface="Arial" panose="020B0604020202020204"/>
                <a:cs typeface="Arial" panose="020B0604020202020204"/>
              </a:defRPr>
            </a:pPr>
            <a:r>
              <a:rPr sz="1350" b="1">
                <a:solidFill>
                  <a:srgbClr val="24292D"/>
                </a:solidFill>
                <a:latin typeface="Arial" panose="020B0604020202020204"/>
                <a:ea typeface="Arial" panose="020B0604020202020204"/>
                <a:cs typeface="Arial" panose="020B0604020202020204"/>
              </a:rPr>
              <a:t>Optimization</a:t>
            </a:r>
            <a:endParaRPr sz="1350" b="1">
              <a:solidFill>
                <a:srgbClr val="24292D"/>
              </a:solidFill>
              <a:latin typeface="Arial" panose="020B0604020202020204"/>
              <a:ea typeface="Arial" panose="020B0604020202020204"/>
              <a:cs typeface="Arial" panose="020B0604020202020204"/>
            </a:endParaRPr>
          </a:p>
        </p:txBody>
      </p:sp>
      <p:sp>
        <p:nvSpPr>
          <p:cNvPr id="80" name="矩形 79"/>
          <p:cNvSpPr>
            <a:spLocks noGrp="1"/>
          </p:cNvSpPr>
          <p:nvPr/>
        </p:nvSpPr>
        <p:spPr>
          <a:xfrm>
            <a:off x="3448050" y="1133475"/>
            <a:ext cx="1866900" cy="457200"/>
          </a:xfrm>
          <a:prstGeom prst="rect">
            <a:avLst/>
          </a:prstGeom>
          <a:noFill/>
          <a:ln w="0">
            <a:noFill/>
          </a:ln>
        </p:spPr>
        <p:txBody>
          <a:bodyPr wrap="none" lIns="0" tIns="0" rIns="0" bIns="0" anchor="ctr">
            <a:noAutofit/>
          </a:bodyPr>
          <a:lstStyle/>
          <a:p>
            <a:pPr algn="ctr">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Score MAE</a:t>
            </a:r>
            <a:endParaRPr sz="1350" b="0">
              <a:solidFill>
                <a:srgbClr val="6A737B"/>
              </a:solidFill>
              <a:latin typeface="Arial" panose="020B0604020202020204"/>
              <a:ea typeface="Arial" panose="020B0604020202020204"/>
              <a:cs typeface="Arial" panose="020B0604020202020204"/>
            </a:endParaRPr>
          </a:p>
        </p:txBody>
      </p:sp>
      <p:sp>
        <p:nvSpPr>
          <p:cNvPr id="81" name="矩形 80"/>
          <p:cNvSpPr>
            <a:spLocks noGrp="1"/>
          </p:cNvSpPr>
          <p:nvPr/>
        </p:nvSpPr>
        <p:spPr>
          <a:xfrm>
            <a:off x="3524250" y="1638300"/>
            <a:ext cx="1714500" cy="304800"/>
          </a:xfrm>
          <a:prstGeom prst="rect">
            <a:avLst/>
          </a:prstGeom>
          <a:noFill/>
          <a:ln w="0">
            <a:noFill/>
          </a:ln>
        </p:spPr>
        <p:txBody>
          <a:bodyPr wrap="none" lIns="0" tIns="0" rIns="0" bIns="0" anchor="ctr">
            <a:noAutofit/>
          </a:bodyPr>
          <a:lstStyle/>
          <a:p>
            <a:pPr algn="ctr">
              <a:defRPr sz="1500" b="0">
                <a:solidFill>
                  <a:srgbClr val="416B92"/>
                </a:solidFill>
                <a:latin typeface="Arial" panose="020B0604020202020204"/>
                <a:ea typeface="Arial" panose="020B0604020202020204"/>
                <a:cs typeface="Arial" panose="020B0604020202020204"/>
              </a:defRPr>
            </a:pPr>
            <a:r>
              <a:rPr sz="1500" b="0">
                <a:solidFill>
                  <a:srgbClr val="416B92"/>
                </a:solidFill>
                <a:latin typeface="Arial" panose="020B0604020202020204"/>
                <a:ea typeface="Arial" panose="020B0604020202020204"/>
                <a:cs typeface="Arial" panose="020B0604020202020204"/>
              </a:rPr>
              <a:t>0.1781</a:t>
            </a:r>
            <a:endParaRPr sz="1500" b="0">
              <a:solidFill>
                <a:srgbClr val="416B92"/>
              </a:solidFill>
              <a:latin typeface="Arial" panose="020B0604020202020204"/>
              <a:ea typeface="Arial" panose="020B0604020202020204"/>
              <a:cs typeface="Arial" panose="020B0604020202020204"/>
            </a:endParaRPr>
          </a:p>
        </p:txBody>
      </p:sp>
      <p:sp>
        <p:nvSpPr>
          <p:cNvPr id="82" name="矩形 81"/>
          <p:cNvSpPr>
            <a:spLocks noGrp="1"/>
          </p:cNvSpPr>
          <p:nvPr/>
        </p:nvSpPr>
        <p:spPr>
          <a:xfrm>
            <a:off x="3524250" y="2009775"/>
            <a:ext cx="1714500" cy="304800"/>
          </a:xfrm>
          <a:prstGeom prst="rect">
            <a:avLst/>
          </a:prstGeom>
          <a:noFill/>
          <a:ln w="0">
            <a:noFill/>
          </a:ln>
        </p:spPr>
        <p:txBody>
          <a:bodyPr wrap="none" lIns="0" tIns="0" rIns="0" bIns="0" anchor="ctr">
            <a:noAutofit/>
          </a:bodyPr>
          <a:lstStyle/>
          <a:p>
            <a:pPr algn="ctr">
              <a:defRPr sz="1500" b="0">
                <a:solidFill>
                  <a:srgbClr val="277F8A"/>
                </a:solidFill>
                <a:latin typeface="Arial" panose="020B0604020202020204"/>
                <a:ea typeface="Arial" panose="020B0604020202020204"/>
                <a:cs typeface="Arial" panose="020B0604020202020204"/>
              </a:defRPr>
            </a:pPr>
            <a:r>
              <a:rPr sz="1500" b="0">
                <a:solidFill>
                  <a:srgbClr val="277F8A"/>
                </a:solidFill>
                <a:latin typeface="Arial" panose="020B0604020202020204"/>
                <a:ea typeface="Arial" panose="020B0604020202020204"/>
                <a:cs typeface="Arial" panose="020B0604020202020204"/>
              </a:rPr>
              <a:t>0.1082</a:t>
            </a:r>
            <a:endParaRPr sz="1500" b="0">
              <a:solidFill>
                <a:srgbClr val="277F8A"/>
              </a:solidFill>
              <a:latin typeface="Arial" panose="020B0604020202020204"/>
              <a:ea typeface="Arial" panose="020B0604020202020204"/>
              <a:cs typeface="Arial" panose="020B0604020202020204"/>
            </a:endParaRPr>
          </a:p>
        </p:txBody>
      </p:sp>
      <p:sp>
        <p:nvSpPr>
          <p:cNvPr id="83" name="矩形 82"/>
          <p:cNvSpPr>
            <a:spLocks noGrp="1"/>
          </p:cNvSpPr>
          <p:nvPr/>
        </p:nvSpPr>
        <p:spPr>
          <a:xfrm>
            <a:off x="3524250" y="2390775"/>
            <a:ext cx="1714500" cy="304800"/>
          </a:xfrm>
          <a:prstGeom prst="rect">
            <a:avLst/>
          </a:prstGeom>
          <a:noFill/>
          <a:ln w="0">
            <a:noFill/>
          </a:ln>
        </p:spPr>
        <p:txBody>
          <a:bodyPr wrap="none" lIns="0" tIns="0" rIns="0" bIns="0" anchor="ctr">
            <a:noAutofit/>
          </a:bodyPr>
          <a:lstStyle/>
          <a:p>
            <a:pPr algn="ctr">
              <a:defRPr sz="1500" b="1">
                <a:solidFill>
                  <a:srgbClr val="24292D"/>
                </a:solidFill>
                <a:latin typeface="Arial" panose="020B0604020202020204"/>
                <a:ea typeface="Arial" panose="020B0604020202020204"/>
                <a:cs typeface="Arial" panose="020B0604020202020204"/>
              </a:defRPr>
            </a:pPr>
            <a:r>
              <a:rPr sz="1500" b="1">
                <a:solidFill>
                  <a:srgbClr val="24292D"/>
                </a:solidFill>
                <a:latin typeface="Arial" panose="020B0604020202020204"/>
                <a:ea typeface="Arial" panose="020B0604020202020204"/>
                <a:cs typeface="Arial" panose="020B0604020202020204"/>
              </a:rPr>
              <a:t>12/15</a:t>
            </a:r>
            <a:endParaRPr sz="1500" b="1">
              <a:solidFill>
                <a:srgbClr val="24292D"/>
              </a:solidFill>
              <a:latin typeface="Arial" panose="020B0604020202020204"/>
              <a:ea typeface="Arial" panose="020B0604020202020204"/>
              <a:cs typeface="Arial" panose="020B0604020202020204"/>
            </a:endParaRPr>
          </a:p>
        </p:txBody>
      </p:sp>
      <p:sp>
        <p:nvSpPr>
          <p:cNvPr id="84" name="直接连接符 83"/>
          <p:cNvSpPr>
            <a:spLocks noGrp="1"/>
          </p:cNvSpPr>
          <p:nvPr/>
        </p:nvSpPr>
        <p:spPr>
          <a:xfrm>
            <a:off x="3524250" y="2857500"/>
            <a:ext cx="1714500" cy="953"/>
          </a:xfrm>
          <a:prstGeom prst="line">
            <a:avLst/>
          </a:prstGeom>
          <a:noFill/>
          <a:ln w="14288">
            <a:solidFill>
              <a:srgbClr val="D7DDE1"/>
            </a:solidFill>
          </a:ln>
        </p:spPr>
      </p:sp>
      <p:sp>
        <p:nvSpPr>
          <p:cNvPr id="85" name="直接连接符 84"/>
          <p:cNvSpPr>
            <a:spLocks noGrp="1"/>
          </p:cNvSpPr>
          <p:nvPr/>
        </p:nvSpPr>
        <p:spPr>
          <a:xfrm>
            <a:off x="4381500" y="3143250"/>
            <a:ext cx="953" cy="5381625"/>
          </a:xfrm>
          <a:prstGeom prst="line">
            <a:avLst/>
          </a:prstGeom>
          <a:noFill/>
          <a:ln w="11430">
            <a:solidFill>
              <a:srgbClr val="6A737B"/>
            </a:solidFill>
          </a:ln>
        </p:spPr>
      </p:sp>
      <p:sp>
        <p:nvSpPr>
          <p:cNvPr id="86" name="直接连接符 85"/>
          <p:cNvSpPr>
            <a:spLocks noGrp="1"/>
          </p:cNvSpPr>
          <p:nvPr/>
        </p:nvSpPr>
        <p:spPr>
          <a:xfrm>
            <a:off x="4381500" y="3333750"/>
            <a:ext cx="269453" cy="953"/>
          </a:xfrm>
          <a:prstGeom prst="line">
            <a:avLst/>
          </a:prstGeom>
          <a:noFill/>
          <a:ln w="19050">
            <a:solidFill>
              <a:srgbClr val="277F8A"/>
            </a:solidFill>
          </a:ln>
        </p:spPr>
      </p:sp>
      <p:sp>
        <p:nvSpPr>
          <p:cNvPr id="87" name="椭圆 86"/>
          <p:cNvSpPr>
            <a:spLocks noGrp="1"/>
          </p:cNvSpPr>
          <p:nvPr/>
        </p:nvSpPr>
        <p:spPr>
          <a:xfrm>
            <a:off x="4608091" y="3290888"/>
            <a:ext cx="85725" cy="85725"/>
          </a:xfrm>
          <a:prstGeom prst="ellipse">
            <a:avLst/>
          </a:prstGeom>
          <a:solidFill>
            <a:srgbClr val="277F8A"/>
          </a:solidFill>
          <a:ln w="9525">
            <a:solidFill>
              <a:srgbClr val="277F8A"/>
            </a:solidFill>
          </a:ln>
        </p:spPr>
      </p:sp>
      <p:sp>
        <p:nvSpPr>
          <p:cNvPr id="88" name="直接连接符 87"/>
          <p:cNvSpPr>
            <a:spLocks noGrp="1"/>
          </p:cNvSpPr>
          <p:nvPr/>
        </p:nvSpPr>
        <p:spPr>
          <a:xfrm>
            <a:off x="4071790" y="3581400"/>
            <a:ext cx="309710" cy="953"/>
          </a:xfrm>
          <a:prstGeom prst="line">
            <a:avLst/>
          </a:prstGeom>
          <a:noFill/>
          <a:ln w="19050">
            <a:solidFill>
              <a:srgbClr val="A35F42"/>
            </a:solidFill>
          </a:ln>
        </p:spPr>
      </p:sp>
      <p:sp>
        <p:nvSpPr>
          <p:cNvPr id="89" name="椭圆 88"/>
          <p:cNvSpPr>
            <a:spLocks noGrp="1"/>
          </p:cNvSpPr>
          <p:nvPr/>
        </p:nvSpPr>
        <p:spPr>
          <a:xfrm>
            <a:off x="4028928" y="3538538"/>
            <a:ext cx="85725" cy="85725"/>
          </a:xfrm>
          <a:prstGeom prst="ellipse">
            <a:avLst/>
          </a:prstGeom>
          <a:solidFill>
            <a:srgbClr val="A35F42"/>
          </a:solidFill>
          <a:ln w="9525">
            <a:solidFill>
              <a:srgbClr val="A35F42"/>
            </a:solidFill>
          </a:ln>
        </p:spPr>
      </p:sp>
      <p:sp>
        <p:nvSpPr>
          <p:cNvPr id="90" name="直接连接符 89"/>
          <p:cNvSpPr>
            <a:spLocks noGrp="1"/>
          </p:cNvSpPr>
          <p:nvPr/>
        </p:nvSpPr>
        <p:spPr>
          <a:xfrm>
            <a:off x="4315962" y="3829050"/>
            <a:ext cx="65538" cy="953"/>
          </a:xfrm>
          <a:prstGeom prst="line">
            <a:avLst/>
          </a:prstGeom>
          <a:noFill/>
          <a:ln w="19050">
            <a:solidFill>
              <a:srgbClr val="A35F42"/>
            </a:solidFill>
          </a:ln>
        </p:spPr>
      </p:sp>
      <p:sp>
        <p:nvSpPr>
          <p:cNvPr id="91" name="椭圆 90"/>
          <p:cNvSpPr>
            <a:spLocks noGrp="1"/>
          </p:cNvSpPr>
          <p:nvPr/>
        </p:nvSpPr>
        <p:spPr>
          <a:xfrm>
            <a:off x="4273099" y="3786188"/>
            <a:ext cx="85725" cy="85725"/>
          </a:xfrm>
          <a:prstGeom prst="ellipse">
            <a:avLst/>
          </a:prstGeom>
          <a:solidFill>
            <a:srgbClr val="A35F42"/>
          </a:solidFill>
          <a:ln w="9525">
            <a:solidFill>
              <a:srgbClr val="A35F42"/>
            </a:solidFill>
          </a:ln>
        </p:spPr>
      </p:sp>
      <p:sp>
        <p:nvSpPr>
          <p:cNvPr id="92" name="直接连接符 91"/>
          <p:cNvSpPr>
            <a:spLocks noGrp="1"/>
          </p:cNvSpPr>
          <p:nvPr/>
        </p:nvSpPr>
        <p:spPr>
          <a:xfrm>
            <a:off x="4367139" y="4267200"/>
            <a:ext cx="14361" cy="953"/>
          </a:xfrm>
          <a:prstGeom prst="line">
            <a:avLst/>
          </a:prstGeom>
          <a:noFill/>
          <a:ln w="19050">
            <a:solidFill>
              <a:srgbClr val="A35F42"/>
            </a:solidFill>
          </a:ln>
        </p:spPr>
      </p:sp>
      <p:sp>
        <p:nvSpPr>
          <p:cNvPr id="93" name="椭圆 92"/>
          <p:cNvSpPr>
            <a:spLocks noGrp="1"/>
          </p:cNvSpPr>
          <p:nvPr/>
        </p:nvSpPr>
        <p:spPr>
          <a:xfrm>
            <a:off x="4324277" y="4224338"/>
            <a:ext cx="85725" cy="85725"/>
          </a:xfrm>
          <a:prstGeom prst="ellipse">
            <a:avLst/>
          </a:prstGeom>
          <a:solidFill>
            <a:srgbClr val="A35F42"/>
          </a:solidFill>
          <a:ln w="9525">
            <a:solidFill>
              <a:srgbClr val="A35F42"/>
            </a:solidFill>
          </a:ln>
        </p:spPr>
      </p:sp>
      <p:sp>
        <p:nvSpPr>
          <p:cNvPr id="94" name="直接连接符 93"/>
          <p:cNvSpPr>
            <a:spLocks noGrp="1"/>
          </p:cNvSpPr>
          <p:nvPr/>
        </p:nvSpPr>
        <p:spPr>
          <a:xfrm>
            <a:off x="4381500" y="4514850"/>
            <a:ext cx="92986" cy="953"/>
          </a:xfrm>
          <a:prstGeom prst="line">
            <a:avLst/>
          </a:prstGeom>
          <a:noFill/>
          <a:ln w="19050">
            <a:solidFill>
              <a:srgbClr val="277F8A"/>
            </a:solidFill>
          </a:ln>
        </p:spPr>
      </p:sp>
      <p:sp>
        <p:nvSpPr>
          <p:cNvPr id="95" name="椭圆 94"/>
          <p:cNvSpPr>
            <a:spLocks noGrp="1"/>
          </p:cNvSpPr>
          <p:nvPr/>
        </p:nvSpPr>
        <p:spPr>
          <a:xfrm>
            <a:off x="4431623" y="4471988"/>
            <a:ext cx="85725" cy="85725"/>
          </a:xfrm>
          <a:prstGeom prst="ellipse">
            <a:avLst/>
          </a:prstGeom>
          <a:solidFill>
            <a:srgbClr val="277F8A"/>
          </a:solidFill>
          <a:ln w="9525">
            <a:solidFill>
              <a:srgbClr val="277F8A"/>
            </a:solidFill>
          </a:ln>
        </p:spPr>
      </p:sp>
      <p:sp>
        <p:nvSpPr>
          <p:cNvPr id="96" name="直接连接符 95"/>
          <p:cNvSpPr>
            <a:spLocks noGrp="1"/>
          </p:cNvSpPr>
          <p:nvPr/>
        </p:nvSpPr>
        <p:spPr>
          <a:xfrm>
            <a:off x="4381500" y="4762500"/>
            <a:ext cx="214081" cy="953"/>
          </a:xfrm>
          <a:prstGeom prst="line">
            <a:avLst/>
          </a:prstGeom>
          <a:noFill/>
          <a:ln w="19050">
            <a:solidFill>
              <a:srgbClr val="277F8A"/>
            </a:solidFill>
          </a:ln>
        </p:spPr>
      </p:sp>
      <p:sp>
        <p:nvSpPr>
          <p:cNvPr id="97" name="椭圆 96"/>
          <p:cNvSpPr>
            <a:spLocks noGrp="1"/>
          </p:cNvSpPr>
          <p:nvPr/>
        </p:nvSpPr>
        <p:spPr>
          <a:xfrm>
            <a:off x="4552718" y="4719638"/>
            <a:ext cx="85725" cy="85725"/>
          </a:xfrm>
          <a:prstGeom prst="ellipse">
            <a:avLst/>
          </a:prstGeom>
          <a:solidFill>
            <a:srgbClr val="277F8A"/>
          </a:solidFill>
          <a:ln w="9525">
            <a:solidFill>
              <a:srgbClr val="277F8A"/>
            </a:solidFill>
          </a:ln>
        </p:spPr>
      </p:sp>
      <p:sp>
        <p:nvSpPr>
          <p:cNvPr id="98" name="直接连接符 97"/>
          <p:cNvSpPr>
            <a:spLocks noGrp="1"/>
          </p:cNvSpPr>
          <p:nvPr/>
        </p:nvSpPr>
        <p:spPr>
          <a:xfrm>
            <a:off x="4381500" y="5200650"/>
            <a:ext cx="410518" cy="953"/>
          </a:xfrm>
          <a:prstGeom prst="line">
            <a:avLst/>
          </a:prstGeom>
          <a:noFill/>
          <a:ln w="19050">
            <a:solidFill>
              <a:srgbClr val="277F8A"/>
            </a:solidFill>
          </a:ln>
        </p:spPr>
      </p:sp>
      <p:sp>
        <p:nvSpPr>
          <p:cNvPr id="99" name="椭圆 98"/>
          <p:cNvSpPr>
            <a:spLocks noGrp="1"/>
          </p:cNvSpPr>
          <p:nvPr/>
        </p:nvSpPr>
        <p:spPr>
          <a:xfrm>
            <a:off x="4749155" y="5157788"/>
            <a:ext cx="85725" cy="85725"/>
          </a:xfrm>
          <a:prstGeom prst="ellipse">
            <a:avLst/>
          </a:prstGeom>
          <a:solidFill>
            <a:srgbClr val="277F8A"/>
          </a:solidFill>
          <a:ln w="9525">
            <a:solidFill>
              <a:srgbClr val="277F8A"/>
            </a:solidFill>
          </a:ln>
        </p:spPr>
      </p:sp>
      <p:sp>
        <p:nvSpPr>
          <p:cNvPr id="100" name="直接连接符 99"/>
          <p:cNvSpPr>
            <a:spLocks noGrp="1"/>
          </p:cNvSpPr>
          <p:nvPr/>
        </p:nvSpPr>
        <p:spPr>
          <a:xfrm>
            <a:off x="4381500" y="5448300"/>
            <a:ext cx="476938" cy="953"/>
          </a:xfrm>
          <a:prstGeom prst="line">
            <a:avLst/>
          </a:prstGeom>
          <a:noFill/>
          <a:ln w="19050">
            <a:solidFill>
              <a:srgbClr val="277F8A"/>
            </a:solidFill>
          </a:ln>
        </p:spPr>
      </p:sp>
      <p:sp>
        <p:nvSpPr>
          <p:cNvPr id="101" name="椭圆 100"/>
          <p:cNvSpPr>
            <a:spLocks noGrp="1"/>
          </p:cNvSpPr>
          <p:nvPr/>
        </p:nvSpPr>
        <p:spPr>
          <a:xfrm>
            <a:off x="4815576" y="5405438"/>
            <a:ext cx="85725" cy="85725"/>
          </a:xfrm>
          <a:prstGeom prst="ellipse">
            <a:avLst/>
          </a:prstGeom>
          <a:solidFill>
            <a:srgbClr val="277F8A"/>
          </a:solidFill>
          <a:ln w="9525">
            <a:solidFill>
              <a:srgbClr val="277F8A"/>
            </a:solidFill>
          </a:ln>
        </p:spPr>
      </p:sp>
      <p:sp>
        <p:nvSpPr>
          <p:cNvPr id="102" name="直接连接符 101"/>
          <p:cNvSpPr>
            <a:spLocks noGrp="1"/>
          </p:cNvSpPr>
          <p:nvPr/>
        </p:nvSpPr>
        <p:spPr>
          <a:xfrm>
            <a:off x="4381500" y="5695950"/>
            <a:ext cx="77625" cy="953"/>
          </a:xfrm>
          <a:prstGeom prst="line">
            <a:avLst/>
          </a:prstGeom>
          <a:noFill/>
          <a:ln w="19050">
            <a:solidFill>
              <a:srgbClr val="277F8A"/>
            </a:solidFill>
          </a:ln>
        </p:spPr>
      </p:sp>
      <p:sp>
        <p:nvSpPr>
          <p:cNvPr id="103" name="椭圆 102"/>
          <p:cNvSpPr>
            <a:spLocks noGrp="1"/>
          </p:cNvSpPr>
          <p:nvPr/>
        </p:nvSpPr>
        <p:spPr>
          <a:xfrm>
            <a:off x="4416262" y="5653088"/>
            <a:ext cx="85725" cy="85725"/>
          </a:xfrm>
          <a:prstGeom prst="ellipse">
            <a:avLst/>
          </a:prstGeom>
          <a:solidFill>
            <a:srgbClr val="277F8A"/>
          </a:solidFill>
          <a:ln w="9525">
            <a:solidFill>
              <a:srgbClr val="277F8A"/>
            </a:solidFill>
          </a:ln>
        </p:spPr>
      </p:sp>
      <p:sp>
        <p:nvSpPr>
          <p:cNvPr id="104" name="直接连接符 103"/>
          <p:cNvSpPr>
            <a:spLocks noGrp="1"/>
          </p:cNvSpPr>
          <p:nvPr/>
        </p:nvSpPr>
        <p:spPr>
          <a:xfrm>
            <a:off x="4381500" y="6134100"/>
            <a:ext cx="283579" cy="953"/>
          </a:xfrm>
          <a:prstGeom prst="line">
            <a:avLst/>
          </a:prstGeom>
          <a:noFill/>
          <a:ln w="19050">
            <a:solidFill>
              <a:srgbClr val="277F8A"/>
            </a:solidFill>
          </a:ln>
        </p:spPr>
      </p:sp>
      <p:sp>
        <p:nvSpPr>
          <p:cNvPr id="105" name="椭圆 104"/>
          <p:cNvSpPr>
            <a:spLocks noGrp="1"/>
          </p:cNvSpPr>
          <p:nvPr/>
        </p:nvSpPr>
        <p:spPr>
          <a:xfrm>
            <a:off x="4622216" y="6091238"/>
            <a:ext cx="85725" cy="85725"/>
          </a:xfrm>
          <a:prstGeom prst="ellipse">
            <a:avLst/>
          </a:prstGeom>
          <a:solidFill>
            <a:srgbClr val="277F8A"/>
          </a:solidFill>
          <a:ln w="9525">
            <a:solidFill>
              <a:srgbClr val="277F8A"/>
            </a:solidFill>
          </a:ln>
        </p:spPr>
      </p:sp>
      <p:sp>
        <p:nvSpPr>
          <p:cNvPr id="106" name="直接连接符 105"/>
          <p:cNvSpPr>
            <a:spLocks noGrp="1"/>
          </p:cNvSpPr>
          <p:nvPr/>
        </p:nvSpPr>
        <p:spPr>
          <a:xfrm>
            <a:off x="4381500" y="6381750"/>
            <a:ext cx="159364" cy="953"/>
          </a:xfrm>
          <a:prstGeom prst="line">
            <a:avLst/>
          </a:prstGeom>
          <a:noFill/>
          <a:ln w="19050">
            <a:solidFill>
              <a:srgbClr val="277F8A"/>
            </a:solidFill>
          </a:ln>
        </p:spPr>
      </p:sp>
      <p:sp>
        <p:nvSpPr>
          <p:cNvPr id="107" name="椭圆 106"/>
          <p:cNvSpPr>
            <a:spLocks noGrp="1"/>
          </p:cNvSpPr>
          <p:nvPr/>
        </p:nvSpPr>
        <p:spPr>
          <a:xfrm>
            <a:off x="4498002" y="6338888"/>
            <a:ext cx="85725" cy="85725"/>
          </a:xfrm>
          <a:prstGeom prst="ellipse">
            <a:avLst/>
          </a:prstGeom>
          <a:solidFill>
            <a:srgbClr val="277F8A"/>
          </a:solidFill>
          <a:ln w="9525">
            <a:solidFill>
              <a:srgbClr val="277F8A"/>
            </a:solidFill>
          </a:ln>
        </p:spPr>
      </p:sp>
      <p:sp>
        <p:nvSpPr>
          <p:cNvPr id="108" name="直接连接符 107"/>
          <p:cNvSpPr>
            <a:spLocks noGrp="1"/>
          </p:cNvSpPr>
          <p:nvPr/>
        </p:nvSpPr>
        <p:spPr>
          <a:xfrm>
            <a:off x="4381500" y="6629400"/>
            <a:ext cx="205691" cy="953"/>
          </a:xfrm>
          <a:prstGeom prst="line">
            <a:avLst/>
          </a:prstGeom>
          <a:noFill/>
          <a:ln w="19050">
            <a:solidFill>
              <a:srgbClr val="277F8A"/>
            </a:solidFill>
          </a:ln>
        </p:spPr>
      </p:sp>
      <p:sp>
        <p:nvSpPr>
          <p:cNvPr id="109" name="椭圆 108"/>
          <p:cNvSpPr>
            <a:spLocks noGrp="1"/>
          </p:cNvSpPr>
          <p:nvPr/>
        </p:nvSpPr>
        <p:spPr>
          <a:xfrm>
            <a:off x="4544329" y="6586538"/>
            <a:ext cx="85725" cy="85725"/>
          </a:xfrm>
          <a:prstGeom prst="ellipse">
            <a:avLst/>
          </a:prstGeom>
          <a:solidFill>
            <a:srgbClr val="277F8A"/>
          </a:solidFill>
          <a:ln w="9525">
            <a:solidFill>
              <a:srgbClr val="277F8A"/>
            </a:solidFill>
          </a:ln>
        </p:spPr>
      </p:sp>
      <p:sp>
        <p:nvSpPr>
          <p:cNvPr id="110" name="直接连接符 109"/>
          <p:cNvSpPr>
            <a:spLocks noGrp="1"/>
          </p:cNvSpPr>
          <p:nvPr/>
        </p:nvSpPr>
        <p:spPr>
          <a:xfrm>
            <a:off x="4381500" y="7067550"/>
            <a:ext cx="110829" cy="953"/>
          </a:xfrm>
          <a:prstGeom prst="line">
            <a:avLst/>
          </a:prstGeom>
          <a:noFill/>
          <a:ln w="19050">
            <a:solidFill>
              <a:srgbClr val="277F8A"/>
            </a:solidFill>
          </a:ln>
        </p:spPr>
      </p:sp>
      <p:sp>
        <p:nvSpPr>
          <p:cNvPr id="111" name="椭圆 110"/>
          <p:cNvSpPr>
            <a:spLocks noGrp="1"/>
          </p:cNvSpPr>
          <p:nvPr/>
        </p:nvSpPr>
        <p:spPr>
          <a:xfrm>
            <a:off x="4449466" y="7024688"/>
            <a:ext cx="85725" cy="85725"/>
          </a:xfrm>
          <a:prstGeom prst="ellipse">
            <a:avLst/>
          </a:prstGeom>
          <a:solidFill>
            <a:srgbClr val="277F8A"/>
          </a:solidFill>
          <a:ln w="9525">
            <a:solidFill>
              <a:srgbClr val="277F8A"/>
            </a:solidFill>
          </a:ln>
        </p:spPr>
      </p:sp>
      <p:sp>
        <p:nvSpPr>
          <p:cNvPr id="112" name="直接连接符 111"/>
          <p:cNvSpPr>
            <a:spLocks noGrp="1"/>
          </p:cNvSpPr>
          <p:nvPr/>
        </p:nvSpPr>
        <p:spPr>
          <a:xfrm>
            <a:off x="4381500" y="7315200"/>
            <a:ext cx="298042" cy="953"/>
          </a:xfrm>
          <a:prstGeom prst="line">
            <a:avLst/>
          </a:prstGeom>
          <a:noFill/>
          <a:ln w="19050">
            <a:solidFill>
              <a:srgbClr val="277F8A"/>
            </a:solidFill>
          </a:ln>
        </p:spPr>
      </p:sp>
      <p:sp>
        <p:nvSpPr>
          <p:cNvPr id="113" name="椭圆 112"/>
          <p:cNvSpPr>
            <a:spLocks noGrp="1"/>
          </p:cNvSpPr>
          <p:nvPr/>
        </p:nvSpPr>
        <p:spPr>
          <a:xfrm>
            <a:off x="4636680" y="7272338"/>
            <a:ext cx="85725" cy="85725"/>
          </a:xfrm>
          <a:prstGeom prst="ellipse">
            <a:avLst/>
          </a:prstGeom>
          <a:solidFill>
            <a:srgbClr val="277F8A"/>
          </a:solidFill>
          <a:ln w="9525">
            <a:solidFill>
              <a:srgbClr val="277F8A"/>
            </a:solidFill>
          </a:ln>
        </p:spPr>
      </p:sp>
      <p:sp>
        <p:nvSpPr>
          <p:cNvPr id="114" name="直接连接符 113"/>
          <p:cNvSpPr>
            <a:spLocks noGrp="1"/>
          </p:cNvSpPr>
          <p:nvPr/>
        </p:nvSpPr>
        <p:spPr>
          <a:xfrm>
            <a:off x="4381500" y="7562850"/>
            <a:ext cx="455142" cy="953"/>
          </a:xfrm>
          <a:prstGeom prst="line">
            <a:avLst/>
          </a:prstGeom>
          <a:noFill/>
          <a:ln w="19050">
            <a:solidFill>
              <a:srgbClr val="277F8A"/>
            </a:solidFill>
          </a:ln>
        </p:spPr>
      </p:sp>
      <p:sp>
        <p:nvSpPr>
          <p:cNvPr id="115" name="椭圆 114"/>
          <p:cNvSpPr>
            <a:spLocks noGrp="1"/>
          </p:cNvSpPr>
          <p:nvPr/>
        </p:nvSpPr>
        <p:spPr>
          <a:xfrm>
            <a:off x="4793780" y="7519988"/>
            <a:ext cx="85725" cy="85725"/>
          </a:xfrm>
          <a:prstGeom prst="ellipse">
            <a:avLst/>
          </a:prstGeom>
          <a:solidFill>
            <a:srgbClr val="277F8A"/>
          </a:solidFill>
          <a:ln w="9525">
            <a:solidFill>
              <a:srgbClr val="277F8A"/>
            </a:solidFill>
          </a:ln>
        </p:spPr>
      </p:sp>
      <p:sp>
        <p:nvSpPr>
          <p:cNvPr id="116" name="直接连接符 115"/>
          <p:cNvSpPr>
            <a:spLocks noGrp="1"/>
          </p:cNvSpPr>
          <p:nvPr/>
        </p:nvSpPr>
        <p:spPr>
          <a:xfrm>
            <a:off x="4381500" y="8296275"/>
            <a:ext cx="177643" cy="953"/>
          </a:xfrm>
          <a:prstGeom prst="line">
            <a:avLst/>
          </a:prstGeom>
          <a:noFill/>
          <a:ln w="23813">
            <a:solidFill>
              <a:srgbClr val="24292D"/>
            </a:solidFill>
          </a:ln>
        </p:spPr>
      </p:sp>
      <p:sp>
        <p:nvSpPr>
          <p:cNvPr id="117" name="菱形 116"/>
          <p:cNvSpPr>
            <a:spLocks noGrp="1"/>
          </p:cNvSpPr>
          <p:nvPr/>
        </p:nvSpPr>
        <p:spPr>
          <a:xfrm>
            <a:off x="4501993" y="8239125"/>
            <a:ext cx="114300" cy="114300"/>
          </a:xfrm>
          <a:prstGeom prst="diamond">
            <a:avLst/>
          </a:prstGeom>
          <a:solidFill>
            <a:srgbClr val="24292D"/>
          </a:solidFill>
          <a:ln w="9525">
            <a:solidFill>
              <a:srgbClr val="24292D"/>
            </a:solidFill>
          </a:ln>
        </p:spPr>
      </p:sp>
      <p:sp>
        <p:nvSpPr>
          <p:cNvPr id="118" name="直接连接符 117"/>
          <p:cNvSpPr>
            <a:spLocks noGrp="1"/>
          </p:cNvSpPr>
          <p:nvPr/>
        </p:nvSpPr>
        <p:spPr>
          <a:xfrm>
            <a:off x="3524250" y="8620125"/>
            <a:ext cx="1714500" cy="953"/>
          </a:xfrm>
          <a:prstGeom prst="line">
            <a:avLst/>
          </a:prstGeom>
          <a:noFill/>
          <a:ln w="12383">
            <a:solidFill>
              <a:srgbClr val="24292D"/>
            </a:solidFill>
          </a:ln>
        </p:spPr>
      </p:sp>
      <p:sp>
        <p:nvSpPr>
          <p:cNvPr id="119" name="直接连接符 118"/>
          <p:cNvSpPr>
            <a:spLocks noGrp="1"/>
          </p:cNvSpPr>
          <p:nvPr/>
        </p:nvSpPr>
        <p:spPr>
          <a:xfrm>
            <a:off x="3619500" y="8620125"/>
            <a:ext cx="953" cy="76200"/>
          </a:xfrm>
          <a:prstGeom prst="line">
            <a:avLst/>
          </a:prstGeom>
          <a:noFill/>
          <a:ln w="9525">
            <a:solidFill>
              <a:srgbClr val="24292D"/>
            </a:solidFill>
          </a:ln>
        </p:spPr>
      </p:sp>
      <p:sp>
        <p:nvSpPr>
          <p:cNvPr id="120" name="矩形 119"/>
          <p:cNvSpPr>
            <a:spLocks noGrp="1"/>
          </p:cNvSpPr>
          <p:nvPr/>
        </p:nvSpPr>
        <p:spPr>
          <a:xfrm>
            <a:off x="3286125" y="8734425"/>
            <a:ext cx="66675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-0.3</a:t>
            </a:r>
            <a:endParaRPr sz="1350" b="0">
              <a:solidFill>
                <a:srgbClr val="24292D"/>
              </a:solidFill>
              <a:latin typeface="Arial" panose="020B0604020202020204"/>
              <a:ea typeface="Arial" panose="020B0604020202020204"/>
              <a:cs typeface="Arial" panose="020B0604020202020204"/>
            </a:endParaRPr>
          </a:p>
        </p:txBody>
      </p:sp>
      <p:sp>
        <p:nvSpPr>
          <p:cNvPr id="121" name="直接连接符 120"/>
          <p:cNvSpPr>
            <a:spLocks noGrp="1"/>
          </p:cNvSpPr>
          <p:nvPr/>
        </p:nvSpPr>
        <p:spPr>
          <a:xfrm>
            <a:off x="4381500" y="8620125"/>
            <a:ext cx="953" cy="76200"/>
          </a:xfrm>
          <a:prstGeom prst="line">
            <a:avLst/>
          </a:prstGeom>
          <a:noFill/>
          <a:ln w="9525">
            <a:solidFill>
              <a:srgbClr val="24292D"/>
            </a:solidFill>
          </a:ln>
        </p:spPr>
      </p:sp>
      <p:sp>
        <p:nvSpPr>
          <p:cNvPr id="122" name="矩形 121"/>
          <p:cNvSpPr>
            <a:spLocks noGrp="1"/>
          </p:cNvSpPr>
          <p:nvPr/>
        </p:nvSpPr>
        <p:spPr>
          <a:xfrm>
            <a:off x="4048125" y="8734425"/>
            <a:ext cx="66675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0</a:t>
            </a:r>
            <a:endParaRPr sz="1350" b="0">
              <a:solidFill>
                <a:srgbClr val="24292D"/>
              </a:solidFill>
              <a:latin typeface="Arial" panose="020B0604020202020204"/>
              <a:ea typeface="Arial" panose="020B0604020202020204"/>
              <a:cs typeface="Arial" panose="020B0604020202020204"/>
            </a:endParaRPr>
          </a:p>
        </p:txBody>
      </p:sp>
      <p:sp>
        <p:nvSpPr>
          <p:cNvPr id="123" name="直接连接符 122"/>
          <p:cNvSpPr>
            <a:spLocks noGrp="1"/>
          </p:cNvSpPr>
          <p:nvPr/>
        </p:nvSpPr>
        <p:spPr>
          <a:xfrm>
            <a:off x="5143500" y="8620125"/>
            <a:ext cx="953" cy="76200"/>
          </a:xfrm>
          <a:prstGeom prst="line">
            <a:avLst/>
          </a:prstGeom>
          <a:noFill/>
          <a:ln w="9525">
            <a:solidFill>
              <a:srgbClr val="24292D"/>
            </a:solidFill>
          </a:ln>
        </p:spPr>
      </p:sp>
      <p:sp>
        <p:nvSpPr>
          <p:cNvPr id="124" name="矩形 123"/>
          <p:cNvSpPr>
            <a:spLocks noGrp="1"/>
          </p:cNvSpPr>
          <p:nvPr/>
        </p:nvSpPr>
        <p:spPr>
          <a:xfrm>
            <a:off x="4810125" y="8734425"/>
            <a:ext cx="66675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+0.3</a:t>
            </a:r>
            <a:endParaRPr sz="1350" b="0">
              <a:solidFill>
                <a:srgbClr val="24292D"/>
              </a:solidFill>
              <a:latin typeface="Arial" panose="020B0604020202020204"/>
              <a:ea typeface="Arial" panose="020B0604020202020204"/>
              <a:cs typeface="Arial" panose="020B0604020202020204"/>
            </a:endParaRPr>
          </a:p>
        </p:txBody>
      </p:sp>
      <p:sp>
        <p:nvSpPr>
          <p:cNvPr id="125" name="矩形 124"/>
          <p:cNvSpPr>
            <a:spLocks noGrp="1"/>
          </p:cNvSpPr>
          <p:nvPr/>
        </p:nvSpPr>
        <p:spPr>
          <a:xfrm>
            <a:off x="3448050" y="9048750"/>
            <a:ext cx="1866900" cy="5524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MAE reduction</a:t>
            </a:r>
            <a:endParaRPr sz="1350" b="0">
              <a:solidFill>
                <a:srgbClr val="24292D"/>
              </a:solidFill>
              <a:latin typeface="Arial" panose="020B0604020202020204"/>
              <a:ea typeface="Arial" panose="020B0604020202020204"/>
              <a:cs typeface="Arial" panose="020B0604020202020204"/>
            </a:endParaRPr>
          </a:p>
        </p:txBody>
      </p:sp>
      <p:sp>
        <p:nvSpPr>
          <p:cNvPr id="126" name="矩形 125"/>
          <p:cNvSpPr>
            <a:spLocks noGrp="1"/>
          </p:cNvSpPr>
          <p:nvPr/>
        </p:nvSpPr>
        <p:spPr>
          <a:xfrm>
            <a:off x="5495925" y="114300"/>
            <a:ext cx="381000" cy="342900"/>
          </a:xfrm>
          <a:prstGeom prst="rect">
            <a:avLst/>
          </a:prstGeom>
          <a:noFill/>
          <a:ln w="0">
            <a:noFill/>
          </a:ln>
        </p:spPr>
        <p:txBody>
          <a:bodyPr wrap="none" lIns="0" tIns="0" rIns="0" bIns="0" anchor="ctr">
            <a:noAutofit/>
          </a:bodyPr>
          <a:lstStyle/>
          <a:p>
            <a:pPr algn="l">
              <a:defRPr sz="2025" b="1">
                <a:solidFill>
                  <a:srgbClr val="24292D"/>
                </a:solidFill>
                <a:latin typeface="Arial" panose="020B0604020202020204"/>
                <a:ea typeface="Arial" panose="020B0604020202020204"/>
                <a:cs typeface="Arial" panose="020B0604020202020204"/>
              </a:defRPr>
            </a:pPr>
            <a:r>
              <a:rPr sz="2025" b="1">
                <a:solidFill>
                  <a:srgbClr val="24292D"/>
                </a:solidFill>
                <a:latin typeface="Arial" panose="020B0604020202020204"/>
                <a:ea typeface="Arial" panose="020B0604020202020204"/>
                <a:cs typeface="Arial" panose="020B0604020202020204"/>
              </a:rPr>
              <a:t>c</a:t>
            </a:r>
            <a:endParaRPr sz="2025" b="1">
              <a:solidFill>
                <a:srgbClr val="24292D"/>
              </a:solidFill>
              <a:latin typeface="Arial" panose="020B0604020202020204"/>
              <a:ea typeface="Arial" panose="020B0604020202020204"/>
              <a:cs typeface="Arial" panose="020B0604020202020204"/>
            </a:endParaRPr>
          </a:p>
        </p:txBody>
      </p:sp>
      <p:sp>
        <p:nvSpPr>
          <p:cNvPr id="127" name="矩形 126"/>
          <p:cNvSpPr>
            <a:spLocks noGrp="1"/>
          </p:cNvSpPr>
          <p:nvPr/>
        </p:nvSpPr>
        <p:spPr>
          <a:xfrm>
            <a:off x="5419725" y="495300"/>
            <a:ext cx="1866900" cy="657225"/>
          </a:xfrm>
          <a:prstGeom prst="rect">
            <a:avLst/>
          </a:prstGeom>
          <a:noFill/>
          <a:ln w="0">
            <a:noFill/>
          </a:ln>
        </p:spPr>
        <p:txBody>
          <a:bodyPr wrap="none" lIns="0" tIns="0" rIns="0" bIns="0" anchor="ctr">
            <a:noAutofit/>
          </a:bodyPr>
          <a:lstStyle/>
          <a:p>
            <a:pPr algn="ctr">
              <a:defRPr sz="1350" b="1">
                <a:solidFill>
                  <a:srgbClr val="24292D"/>
                </a:solidFill>
                <a:latin typeface="Arial" panose="020B0604020202020204"/>
                <a:ea typeface="Arial" panose="020B0604020202020204"/>
                <a:cs typeface="Arial" panose="020B0604020202020204"/>
              </a:defRPr>
            </a:pPr>
            <a:r>
              <a:rPr sz="1350" b="1">
                <a:solidFill>
                  <a:srgbClr val="24292D"/>
                </a:solidFill>
                <a:latin typeface="Arial" panose="020B0604020202020204"/>
                <a:ea typeface="Arial" panose="020B0604020202020204"/>
                <a:cs typeface="Arial" panose="020B0604020202020204"/>
              </a:rPr>
              <a:t>Partitioning</a:t>
            </a:r>
            <a:endParaRPr sz="1350" b="1">
              <a:solidFill>
                <a:srgbClr val="24292D"/>
              </a:solidFill>
              <a:latin typeface="Arial" panose="020B0604020202020204"/>
              <a:ea typeface="Arial" panose="020B0604020202020204"/>
              <a:cs typeface="Arial" panose="020B0604020202020204"/>
            </a:endParaRPr>
          </a:p>
        </p:txBody>
      </p:sp>
      <p:sp>
        <p:nvSpPr>
          <p:cNvPr id="128" name="矩形 127"/>
          <p:cNvSpPr>
            <a:spLocks noGrp="1"/>
          </p:cNvSpPr>
          <p:nvPr/>
        </p:nvSpPr>
        <p:spPr>
          <a:xfrm>
            <a:off x="5419725" y="1133475"/>
            <a:ext cx="1866900" cy="457200"/>
          </a:xfrm>
          <a:prstGeom prst="rect">
            <a:avLst/>
          </a:prstGeom>
          <a:noFill/>
          <a:ln w="0">
            <a:noFill/>
          </a:ln>
        </p:spPr>
        <p:txBody>
          <a:bodyPr wrap="none" lIns="0" tIns="0" rIns="0" bIns="0" anchor="ctr">
            <a:noAutofit/>
          </a:bodyPr>
          <a:lstStyle/>
          <a:p>
            <a:pPr algn="ctr">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Organic-fraction</a:t>
            </a:r>
            <a:endParaRPr sz="1350" b="0">
              <a:solidFill>
                <a:srgbClr val="6A737B"/>
              </a:solidFill>
              <a:latin typeface="Arial" panose="020B0604020202020204"/>
              <a:ea typeface="Arial" panose="020B0604020202020204"/>
              <a:cs typeface="Arial" panose="020B0604020202020204"/>
            </a:endParaRPr>
          </a:p>
          <a:p>
            <a:pPr algn="ctr">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MAE</a:t>
            </a:r>
            <a:endParaRPr sz="1350" b="0">
              <a:solidFill>
                <a:srgbClr val="6A737B"/>
              </a:solidFill>
              <a:latin typeface="Arial" panose="020B0604020202020204"/>
              <a:ea typeface="Arial" panose="020B0604020202020204"/>
              <a:cs typeface="Arial" panose="020B0604020202020204"/>
            </a:endParaRPr>
          </a:p>
        </p:txBody>
      </p:sp>
      <p:sp>
        <p:nvSpPr>
          <p:cNvPr id="129" name="矩形 128"/>
          <p:cNvSpPr>
            <a:spLocks noGrp="1"/>
          </p:cNvSpPr>
          <p:nvPr/>
        </p:nvSpPr>
        <p:spPr>
          <a:xfrm>
            <a:off x="5495925" y="1638300"/>
            <a:ext cx="1714500" cy="304800"/>
          </a:xfrm>
          <a:prstGeom prst="rect">
            <a:avLst/>
          </a:prstGeom>
          <a:noFill/>
          <a:ln w="0">
            <a:noFill/>
          </a:ln>
        </p:spPr>
        <p:txBody>
          <a:bodyPr wrap="none" lIns="0" tIns="0" rIns="0" bIns="0" anchor="ctr">
            <a:noAutofit/>
          </a:bodyPr>
          <a:lstStyle/>
          <a:p>
            <a:pPr algn="ctr">
              <a:defRPr sz="1500" b="0">
                <a:solidFill>
                  <a:srgbClr val="416B92"/>
                </a:solidFill>
                <a:latin typeface="Arial" panose="020B0604020202020204"/>
                <a:ea typeface="Arial" panose="020B0604020202020204"/>
                <a:cs typeface="Arial" panose="020B0604020202020204"/>
              </a:defRPr>
            </a:pPr>
            <a:r>
              <a:rPr sz="1500" b="0">
                <a:solidFill>
                  <a:srgbClr val="416B92"/>
                </a:solidFill>
                <a:latin typeface="Arial" panose="020B0604020202020204"/>
                <a:ea typeface="Arial" panose="020B0604020202020204"/>
                <a:cs typeface="Arial" panose="020B0604020202020204"/>
              </a:rPr>
              <a:t>0.0829</a:t>
            </a:r>
            <a:endParaRPr sz="1500" b="0">
              <a:solidFill>
                <a:srgbClr val="416B92"/>
              </a:solidFill>
              <a:latin typeface="Arial" panose="020B0604020202020204"/>
              <a:ea typeface="Arial" panose="020B0604020202020204"/>
              <a:cs typeface="Arial" panose="020B0604020202020204"/>
            </a:endParaRPr>
          </a:p>
        </p:txBody>
      </p:sp>
      <p:sp>
        <p:nvSpPr>
          <p:cNvPr id="130" name="矩形 129"/>
          <p:cNvSpPr>
            <a:spLocks noGrp="1"/>
          </p:cNvSpPr>
          <p:nvPr/>
        </p:nvSpPr>
        <p:spPr>
          <a:xfrm>
            <a:off x="5495925" y="2009775"/>
            <a:ext cx="1714500" cy="304800"/>
          </a:xfrm>
          <a:prstGeom prst="rect">
            <a:avLst/>
          </a:prstGeom>
          <a:noFill/>
          <a:ln w="0">
            <a:noFill/>
          </a:ln>
        </p:spPr>
        <p:txBody>
          <a:bodyPr wrap="none" lIns="0" tIns="0" rIns="0" bIns="0" anchor="ctr">
            <a:noAutofit/>
          </a:bodyPr>
          <a:lstStyle/>
          <a:p>
            <a:pPr algn="ctr">
              <a:defRPr sz="1500" b="0">
                <a:solidFill>
                  <a:srgbClr val="277F8A"/>
                </a:solidFill>
                <a:latin typeface="Arial" panose="020B0604020202020204"/>
                <a:ea typeface="Arial" panose="020B0604020202020204"/>
                <a:cs typeface="Arial" panose="020B0604020202020204"/>
              </a:defRPr>
            </a:pPr>
            <a:r>
              <a:rPr sz="1500" b="0">
                <a:solidFill>
                  <a:srgbClr val="277F8A"/>
                </a:solidFill>
                <a:latin typeface="Arial" panose="020B0604020202020204"/>
                <a:ea typeface="Arial" panose="020B0604020202020204"/>
                <a:cs typeface="Arial" panose="020B0604020202020204"/>
              </a:rPr>
              <a:t>0.0238</a:t>
            </a:r>
            <a:endParaRPr sz="1500" b="0">
              <a:solidFill>
                <a:srgbClr val="277F8A"/>
              </a:solidFill>
              <a:latin typeface="Arial" panose="020B0604020202020204"/>
              <a:ea typeface="Arial" panose="020B0604020202020204"/>
              <a:cs typeface="Arial" panose="020B0604020202020204"/>
            </a:endParaRPr>
          </a:p>
        </p:txBody>
      </p:sp>
      <p:sp>
        <p:nvSpPr>
          <p:cNvPr id="131" name="矩形 130"/>
          <p:cNvSpPr>
            <a:spLocks noGrp="1"/>
          </p:cNvSpPr>
          <p:nvPr/>
        </p:nvSpPr>
        <p:spPr>
          <a:xfrm>
            <a:off x="5495925" y="2390775"/>
            <a:ext cx="1714500" cy="304800"/>
          </a:xfrm>
          <a:prstGeom prst="rect">
            <a:avLst/>
          </a:prstGeom>
          <a:noFill/>
          <a:ln w="0">
            <a:noFill/>
          </a:ln>
        </p:spPr>
        <p:txBody>
          <a:bodyPr wrap="none" lIns="0" tIns="0" rIns="0" bIns="0" anchor="ctr">
            <a:noAutofit/>
          </a:bodyPr>
          <a:lstStyle/>
          <a:p>
            <a:pPr algn="ctr">
              <a:defRPr sz="1500" b="1">
                <a:solidFill>
                  <a:srgbClr val="24292D"/>
                </a:solidFill>
                <a:latin typeface="Arial" panose="020B0604020202020204"/>
                <a:ea typeface="Arial" panose="020B0604020202020204"/>
                <a:cs typeface="Arial" panose="020B0604020202020204"/>
              </a:defRPr>
            </a:pPr>
            <a:r>
              <a:rPr sz="1500" b="1">
                <a:solidFill>
                  <a:srgbClr val="24292D"/>
                </a:solidFill>
                <a:latin typeface="Arial" panose="020B0604020202020204"/>
                <a:ea typeface="Arial" panose="020B0604020202020204"/>
                <a:cs typeface="Arial" panose="020B0604020202020204"/>
              </a:rPr>
              <a:t>13/15</a:t>
            </a:r>
            <a:endParaRPr sz="1500" b="1">
              <a:solidFill>
                <a:srgbClr val="24292D"/>
              </a:solidFill>
              <a:latin typeface="Arial" panose="020B0604020202020204"/>
              <a:ea typeface="Arial" panose="020B0604020202020204"/>
              <a:cs typeface="Arial" panose="020B0604020202020204"/>
            </a:endParaRPr>
          </a:p>
        </p:txBody>
      </p:sp>
      <p:sp>
        <p:nvSpPr>
          <p:cNvPr id="132" name="直接连接符 131"/>
          <p:cNvSpPr>
            <a:spLocks noGrp="1"/>
          </p:cNvSpPr>
          <p:nvPr/>
        </p:nvSpPr>
        <p:spPr>
          <a:xfrm>
            <a:off x="5495925" y="2857500"/>
            <a:ext cx="1714500" cy="953"/>
          </a:xfrm>
          <a:prstGeom prst="line">
            <a:avLst/>
          </a:prstGeom>
          <a:noFill/>
          <a:ln w="14288">
            <a:solidFill>
              <a:srgbClr val="D7DDE1"/>
            </a:solidFill>
          </a:ln>
        </p:spPr>
      </p:sp>
      <p:sp>
        <p:nvSpPr>
          <p:cNvPr id="133" name="直接连接符 132"/>
          <p:cNvSpPr>
            <a:spLocks noGrp="1"/>
          </p:cNvSpPr>
          <p:nvPr/>
        </p:nvSpPr>
        <p:spPr>
          <a:xfrm>
            <a:off x="6353175" y="3143250"/>
            <a:ext cx="953" cy="5381625"/>
          </a:xfrm>
          <a:prstGeom prst="line">
            <a:avLst/>
          </a:prstGeom>
          <a:noFill/>
          <a:ln w="11430">
            <a:solidFill>
              <a:srgbClr val="6A737B"/>
            </a:solidFill>
          </a:ln>
        </p:spPr>
      </p:sp>
      <p:sp>
        <p:nvSpPr>
          <p:cNvPr id="134" name="直接连接符 133"/>
          <p:cNvSpPr>
            <a:spLocks noGrp="1"/>
          </p:cNvSpPr>
          <p:nvPr/>
        </p:nvSpPr>
        <p:spPr>
          <a:xfrm>
            <a:off x="6353175" y="3333750"/>
            <a:ext cx="134897" cy="953"/>
          </a:xfrm>
          <a:prstGeom prst="line">
            <a:avLst/>
          </a:prstGeom>
          <a:noFill/>
          <a:ln w="19050">
            <a:solidFill>
              <a:srgbClr val="277F8A"/>
            </a:solidFill>
          </a:ln>
        </p:spPr>
      </p:sp>
      <p:sp>
        <p:nvSpPr>
          <p:cNvPr id="135" name="椭圆 134"/>
          <p:cNvSpPr>
            <a:spLocks noGrp="1"/>
          </p:cNvSpPr>
          <p:nvPr/>
        </p:nvSpPr>
        <p:spPr>
          <a:xfrm>
            <a:off x="6445210" y="3290888"/>
            <a:ext cx="85725" cy="85725"/>
          </a:xfrm>
          <a:prstGeom prst="ellipse">
            <a:avLst/>
          </a:prstGeom>
          <a:solidFill>
            <a:srgbClr val="277F8A"/>
          </a:solidFill>
          <a:ln w="9525">
            <a:solidFill>
              <a:srgbClr val="277F8A"/>
            </a:solidFill>
          </a:ln>
        </p:spPr>
      </p:sp>
      <p:sp>
        <p:nvSpPr>
          <p:cNvPr id="136" name="直接连接符 135"/>
          <p:cNvSpPr>
            <a:spLocks noGrp="1"/>
          </p:cNvSpPr>
          <p:nvPr/>
        </p:nvSpPr>
        <p:spPr>
          <a:xfrm>
            <a:off x="6353175" y="3581400"/>
            <a:ext cx="229238" cy="953"/>
          </a:xfrm>
          <a:prstGeom prst="line">
            <a:avLst/>
          </a:prstGeom>
          <a:noFill/>
          <a:ln w="19050">
            <a:solidFill>
              <a:srgbClr val="277F8A"/>
            </a:solidFill>
          </a:ln>
        </p:spPr>
      </p:sp>
      <p:sp>
        <p:nvSpPr>
          <p:cNvPr id="137" name="椭圆 136"/>
          <p:cNvSpPr>
            <a:spLocks noGrp="1"/>
          </p:cNvSpPr>
          <p:nvPr/>
        </p:nvSpPr>
        <p:spPr>
          <a:xfrm>
            <a:off x="6539551" y="3538538"/>
            <a:ext cx="85725" cy="85725"/>
          </a:xfrm>
          <a:prstGeom prst="ellipse">
            <a:avLst/>
          </a:prstGeom>
          <a:solidFill>
            <a:srgbClr val="277F8A"/>
          </a:solidFill>
          <a:ln w="9525">
            <a:solidFill>
              <a:srgbClr val="277F8A"/>
            </a:solidFill>
          </a:ln>
        </p:spPr>
      </p:sp>
      <p:sp>
        <p:nvSpPr>
          <p:cNvPr id="138" name="直接连接符 137"/>
          <p:cNvSpPr>
            <a:spLocks noGrp="1"/>
          </p:cNvSpPr>
          <p:nvPr/>
        </p:nvSpPr>
        <p:spPr>
          <a:xfrm>
            <a:off x="6353175" y="3829050"/>
            <a:ext cx="117157" cy="953"/>
          </a:xfrm>
          <a:prstGeom prst="line">
            <a:avLst/>
          </a:prstGeom>
          <a:noFill/>
          <a:ln w="19050">
            <a:solidFill>
              <a:srgbClr val="277F8A"/>
            </a:solidFill>
          </a:ln>
        </p:spPr>
      </p:sp>
      <p:sp>
        <p:nvSpPr>
          <p:cNvPr id="139" name="椭圆 138"/>
          <p:cNvSpPr>
            <a:spLocks noGrp="1"/>
          </p:cNvSpPr>
          <p:nvPr/>
        </p:nvSpPr>
        <p:spPr>
          <a:xfrm>
            <a:off x="6427470" y="3786188"/>
            <a:ext cx="85725" cy="85725"/>
          </a:xfrm>
          <a:prstGeom prst="ellipse">
            <a:avLst/>
          </a:prstGeom>
          <a:solidFill>
            <a:srgbClr val="277F8A"/>
          </a:solidFill>
          <a:ln w="9525">
            <a:solidFill>
              <a:srgbClr val="277F8A"/>
            </a:solidFill>
          </a:ln>
        </p:spPr>
      </p:sp>
      <p:sp>
        <p:nvSpPr>
          <p:cNvPr id="140" name="直接连接符 139"/>
          <p:cNvSpPr>
            <a:spLocks noGrp="1"/>
          </p:cNvSpPr>
          <p:nvPr/>
        </p:nvSpPr>
        <p:spPr>
          <a:xfrm>
            <a:off x="6353175" y="4267200"/>
            <a:ext cx="385153" cy="953"/>
          </a:xfrm>
          <a:prstGeom prst="line">
            <a:avLst/>
          </a:prstGeom>
          <a:noFill/>
          <a:ln w="19050">
            <a:solidFill>
              <a:srgbClr val="277F8A"/>
            </a:solidFill>
          </a:ln>
        </p:spPr>
      </p:sp>
      <p:sp>
        <p:nvSpPr>
          <p:cNvPr id="141" name="椭圆 140"/>
          <p:cNvSpPr>
            <a:spLocks noGrp="1"/>
          </p:cNvSpPr>
          <p:nvPr/>
        </p:nvSpPr>
        <p:spPr>
          <a:xfrm>
            <a:off x="6695466" y="4224338"/>
            <a:ext cx="85725" cy="85725"/>
          </a:xfrm>
          <a:prstGeom prst="ellipse">
            <a:avLst/>
          </a:prstGeom>
          <a:solidFill>
            <a:srgbClr val="277F8A"/>
          </a:solidFill>
          <a:ln w="9525">
            <a:solidFill>
              <a:srgbClr val="277F8A"/>
            </a:solidFill>
          </a:ln>
        </p:spPr>
      </p:sp>
      <p:sp>
        <p:nvSpPr>
          <p:cNvPr id="142" name="直接连接符 141"/>
          <p:cNvSpPr>
            <a:spLocks noGrp="1"/>
          </p:cNvSpPr>
          <p:nvPr/>
        </p:nvSpPr>
        <p:spPr>
          <a:xfrm>
            <a:off x="6347140" y="4514850"/>
            <a:ext cx="6035" cy="953"/>
          </a:xfrm>
          <a:prstGeom prst="line">
            <a:avLst/>
          </a:prstGeom>
          <a:noFill/>
          <a:ln w="19050">
            <a:solidFill>
              <a:srgbClr val="A35F42"/>
            </a:solidFill>
          </a:ln>
        </p:spPr>
      </p:sp>
      <p:sp>
        <p:nvSpPr>
          <p:cNvPr id="143" name="椭圆 142"/>
          <p:cNvSpPr>
            <a:spLocks noGrp="1"/>
          </p:cNvSpPr>
          <p:nvPr/>
        </p:nvSpPr>
        <p:spPr>
          <a:xfrm>
            <a:off x="6304277" y="4471988"/>
            <a:ext cx="85725" cy="85725"/>
          </a:xfrm>
          <a:prstGeom prst="ellipse">
            <a:avLst/>
          </a:prstGeom>
          <a:solidFill>
            <a:srgbClr val="A35F42"/>
          </a:solidFill>
          <a:ln w="9525">
            <a:solidFill>
              <a:srgbClr val="A35F42"/>
            </a:solidFill>
          </a:ln>
        </p:spPr>
      </p:sp>
      <p:sp>
        <p:nvSpPr>
          <p:cNvPr id="144" name="直接连接符 143"/>
          <p:cNvSpPr>
            <a:spLocks noGrp="1"/>
          </p:cNvSpPr>
          <p:nvPr/>
        </p:nvSpPr>
        <p:spPr>
          <a:xfrm>
            <a:off x="6353175" y="4762500"/>
            <a:ext cx="422776" cy="953"/>
          </a:xfrm>
          <a:prstGeom prst="line">
            <a:avLst/>
          </a:prstGeom>
          <a:noFill/>
          <a:ln w="19050">
            <a:solidFill>
              <a:srgbClr val="277F8A"/>
            </a:solidFill>
          </a:ln>
        </p:spPr>
      </p:sp>
      <p:sp>
        <p:nvSpPr>
          <p:cNvPr id="145" name="椭圆 144"/>
          <p:cNvSpPr>
            <a:spLocks noGrp="1"/>
          </p:cNvSpPr>
          <p:nvPr/>
        </p:nvSpPr>
        <p:spPr>
          <a:xfrm>
            <a:off x="6733089" y="4719638"/>
            <a:ext cx="85725" cy="85725"/>
          </a:xfrm>
          <a:prstGeom prst="ellipse">
            <a:avLst/>
          </a:prstGeom>
          <a:solidFill>
            <a:srgbClr val="277F8A"/>
          </a:solidFill>
          <a:ln w="9525">
            <a:solidFill>
              <a:srgbClr val="277F8A"/>
            </a:solidFill>
          </a:ln>
        </p:spPr>
      </p:sp>
      <p:sp>
        <p:nvSpPr>
          <p:cNvPr id="146" name="直接连接符 145"/>
          <p:cNvSpPr>
            <a:spLocks noGrp="1"/>
          </p:cNvSpPr>
          <p:nvPr/>
        </p:nvSpPr>
        <p:spPr>
          <a:xfrm>
            <a:off x="6353175" y="5200650"/>
            <a:ext cx="272928" cy="953"/>
          </a:xfrm>
          <a:prstGeom prst="line">
            <a:avLst/>
          </a:prstGeom>
          <a:noFill/>
          <a:ln w="19050">
            <a:solidFill>
              <a:srgbClr val="277F8A"/>
            </a:solidFill>
          </a:ln>
        </p:spPr>
      </p:sp>
      <p:sp>
        <p:nvSpPr>
          <p:cNvPr id="147" name="椭圆 146"/>
          <p:cNvSpPr>
            <a:spLocks noGrp="1"/>
          </p:cNvSpPr>
          <p:nvPr/>
        </p:nvSpPr>
        <p:spPr>
          <a:xfrm>
            <a:off x="6583240" y="5157788"/>
            <a:ext cx="85725" cy="85725"/>
          </a:xfrm>
          <a:prstGeom prst="ellipse">
            <a:avLst/>
          </a:prstGeom>
          <a:solidFill>
            <a:srgbClr val="277F8A"/>
          </a:solidFill>
          <a:ln w="9525">
            <a:solidFill>
              <a:srgbClr val="277F8A"/>
            </a:solidFill>
          </a:ln>
        </p:spPr>
      </p:sp>
      <p:sp>
        <p:nvSpPr>
          <p:cNvPr id="148" name="直接连接符 147"/>
          <p:cNvSpPr>
            <a:spLocks noGrp="1"/>
          </p:cNvSpPr>
          <p:nvPr/>
        </p:nvSpPr>
        <p:spPr>
          <a:xfrm>
            <a:off x="6353175" y="5448300"/>
            <a:ext cx="7726" cy="953"/>
          </a:xfrm>
          <a:prstGeom prst="line">
            <a:avLst/>
          </a:prstGeom>
          <a:noFill/>
          <a:ln w="19050">
            <a:solidFill>
              <a:srgbClr val="277F8A"/>
            </a:solidFill>
          </a:ln>
        </p:spPr>
      </p:sp>
      <p:sp>
        <p:nvSpPr>
          <p:cNvPr id="149" name="椭圆 148"/>
          <p:cNvSpPr>
            <a:spLocks noGrp="1"/>
          </p:cNvSpPr>
          <p:nvPr/>
        </p:nvSpPr>
        <p:spPr>
          <a:xfrm>
            <a:off x="6318039" y="5405438"/>
            <a:ext cx="85725" cy="85725"/>
          </a:xfrm>
          <a:prstGeom prst="ellipse">
            <a:avLst/>
          </a:prstGeom>
          <a:solidFill>
            <a:srgbClr val="277F8A"/>
          </a:solidFill>
          <a:ln w="9525">
            <a:solidFill>
              <a:srgbClr val="277F8A"/>
            </a:solidFill>
          </a:ln>
        </p:spPr>
      </p:sp>
      <p:sp>
        <p:nvSpPr>
          <p:cNvPr id="150" name="直接连接符 149"/>
          <p:cNvSpPr>
            <a:spLocks noGrp="1"/>
          </p:cNvSpPr>
          <p:nvPr/>
        </p:nvSpPr>
        <p:spPr>
          <a:xfrm>
            <a:off x="6353175" y="5695950"/>
            <a:ext cx="297930" cy="953"/>
          </a:xfrm>
          <a:prstGeom prst="line">
            <a:avLst/>
          </a:prstGeom>
          <a:noFill/>
          <a:ln w="19050">
            <a:solidFill>
              <a:srgbClr val="277F8A"/>
            </a:solidFill>
          </a:ln>
        </p:spPr>
      </p:sp>
      <p:sp>
        <p:nvSpPr>
          <p:cNvPr id="151" name="椭圆 150"/>
          <p:cNvSpPr>
            <a:spLocks noGrp="1"/>
          </p:cNvSpPr>
          <p:nvPr/>
        </p:nvSpPr>
        <p:spPr>
          <a:xfrm>
            <a:off x="6608242" y="5653088"/>
            <a:ext cx="85725" cy="85725"/>
          </a:xfrm>
          <a:prstGeom prst="ellipse">
            <a:avLst/>
          </a:prstGeom>
          <a:solidFill>
            <a:srgbClr val="277F8A"/>
          </a:solidFill>
          <a:ln w="9525">
            <a:solidFill>
              <a:srgbClr val="277F8A"/>
            </a:solidFill>
          </a:ln>
        </p:spPr>
      </p:sp>
      <p:sp>
        <p:nvSpPr>
          <p:cNvPr id="152" name="直接连接符 151"/>
          <p:cNvSpPr>
            <a:spLocks noGrp="1"/>
          </p:cNvSpPr>
          <p:nvPr/>
        </p:nvSpPr>
        <p:spPr>
          <a:xfrm>
            <a:off x="6353175" y="6134100"/>
            <a:ext cx="663638" cy="953"/>
          </a:xfrm>
          <a:prstGeom prst="line">
            <a:avLst/>
          </a:prstGeom>
          <a:noFill/>
          <a:ln w="19050">
            <a:solidFill>
              <a:srgbClr val="277F8A"/>
            </a:solidFill>
          </a:ln>
        </p:spPr>
      </p:sp>
      <p:sp>
        <p:nvSpPr>
          <p:cNvPr id="153" name="椭圆 152"/>
          <p:cNvSpPr>
            <a:spLocks noGrp="1"/>
          </p:cNvSpPr>
          <p:nvPr/>
        </p:nvSpPr>
        <p:spPr>
          <a:xfrm>
            <a:off x="6973950" y="6091238"/>
            <a:ext cx="85725" cy="85725"/>
          </a:xfrm>
          <a:prstGeom prst="ellipse">
            <a:avLst/>
          </a:prstGeom>
          <a:solidFill>
            <a:srgbClr val="277F8A"/>
          </a:solidFill>
          <a:ln w="9525">
            <a:solidFill>
              <a:srgbClr val="277F8A"/>
            </a:solidFill>
          </a:ln>
        </p:spPr>
      </p:sp>
      <p:sp>
        <p:nvSpPr>
          <p:cNvPr id="154" name="直接连接符 153"/>
          <p:cNvSpPr>
            <a:spLocks noGrp="1"/>
          </p:cNvSpPr>
          <p:nvPr/>
        </p:nvSpPr>
        <p:spPr>
          <a:xfrm>
            <a:off x="6353175" y="6381750"/>
            <a:ext cx="692469" cy="953"/>
          </a:xfrm>
          <a:prstGeom prst="line">
            <a:avLst/>
          </a:prstGeom>
          <a:noFill/>
          <a:ln w="19050">
            <a:solidFill>
              <a:srgbClr val="277F8A"/>
            </a:solidFill>
          </a:ln>
        </p:spPr>
      </p:sp>
      <p:sp>
        <p:nvSpPr>
          <p:cNvPr id="155" name="椭圆 154"/>
          <p:cNvSpPr>
            <a:spLocks noGrp="1"/>
          </p:cNvSpPr>
          <p:nvPr/>
        </p:nvSpPr>
        <p:spPr>
          <a:xfrm>
            <a:off x="7002781" y="6338888"/>
            <a:ext cx="85725" cy="85725"/>
          </a:xfrm>
          <a:prstGeom prst="ellipse">
            <a:avLst/>
          </a:prstGeom>
          <a:solidFill>
            <a:srgbClr val="277F8A"/>
          </a:solidFill>
          <a:ln w="9525">
            <a:solidFill>
              <a:srgbClr val="277F8A"/>
            </a:solidFill>
          </a:ln>
        </p:spPr>
      </p:sp>
      <p:sp>
        <p:nvSpPr>
          <p:cNvPr id="156" name="直接连接符 155"/>
          <p:cNvSpPr>
            <a:spLocks noGrp="1"/>
          </p:cNvSpPr>
          <p:nvPr/>
        </p:nvSpPr>
        <p:spPr>
          <a:xfrm>
            <a:off x="6353175" y="6629400"/>
            <a:ext cx="118821" cy="953"/>
          </a:xfrm>
          <a:prstGeom prst="line">
            <a:avLst/>
          </a:prstGeom>
          <a:noFill/>
          <a:ln w="19050">
            <a:solidFill>
              <a:srgbClr val="277F8A"/>
            </a:solidFill>
          </a:ln>
        </p:spPr>
      </p:sp>
      <p:sp>
        <p:nvSpPr>
          <p:cNvPr id="157" name="椭圆 156"/>
          <p:cNvSpPr>
            <a:spLocks noGrp="1"/>
          </p:cNvSpPr>
          <p:nvPr/>
        </p:nvSpPr>
        <p:spPr>
          <a:xfrm>
            <a:off x="6429133" y="6586538"/>
            <a:ext cx="85725" cy="85725"/>
          </a:xfrm>
          <a:prstGeom prst="ellipse">
            <a:avLst/>
          </a:prstGeom>
          <a:solidFill>
            <a:srgbClr val="277F8A"/>
          </a:solidFill>
          <a:ln w="9525">
            <a:solidFill>
              <a:srgbClr val="277F8A"/>
            </a:solidFill>
          </a:ln>
        </p:spPr>
      </p:sp>
      <p:sp>
        <p:nvSpPr>
          <p:cNvPr id="158" name="直接连接符 157"/>
          <p:cNvSpPr>
            <a:spLocks noGrp="1"/>
          </p:cNvSpPr>
          <p:nvPr/>
        </p:nvSpPr>
        <p:spPr>
          <a:xfrm>
            <a:off x="6353175" y="7067550"/>
            <a:ext cx="25527" cy="953"/>
          </a:xfrm>
          <a:prstGeom prst="line">
            <a:avLst/>
          </a:prstGeom>
          <a:noFill/>
          <a:ln w="19050">
            <a:solidFill>
              <a:srgbClr val="277F8A"/>
            </a:solidFill>
          </a:ln>
        </p:spPr>
      </p:sp>
      <p:sp>
        <p:nvSpPr>
          <p:cNvPr id="159" name="椭圆 158"/>
          <p:cNvSpPr>
            <a:spLocks noGrp="1"/>
          </p:cNvSpPr>
          <p:nvPr/>
        </p:nvSpPr>
        <p:spPr>
          <a:xfrm>
            <a:off x="6335840" y="7024688"/>
            <a:ext cx="85725" cy="85725"/>
          </a:xfrm>
          <a:prstGeom prst="ellipse">
            <a:avLst/>
          </a:prstGeom>
          <a:solidFill>
            <a:srgbClr val="277F8A"/>
          </a:solidFill>
          <a:ln w="9525">
            <a:solidFill>
              <a:srgbClr val="277F8A"/>
            </a:solidFill>
          </a:ln>
        </p:spPr>
      </p:sp>
      <p:sp>
        <p:nvSpPr>
          <p:cNvPr id="160" name="直接连接符 159"/>
          <p:cNvSpPr>
            <a:spLocks noGrp="1"/>
          </p:cNvSpPr>
          <p:nvPr/>
        </p:nvSpPr>
        <p:spPr>
          <a:xfrm>
            <a:off x="6222628" y="7315200"/>
            <a:ext cx="130547" cy="953"/>
          </a:xfrm>
          <a:prstGeom prst="line">
            <a:avLst/>
          </a:prstGeom>
          <a:noFill/>
          <a:ln w="19050">
            <a:solidFill>
              <a:srgbClr val="A35F42"/>
            </a:solidFill>
          </a:ln>
        </p:spPr>
      </p:sp>
      <p:sp>
        <p:nvSpPr>
          <p:cNvPr id="161" name="椭圆 160"/>
          <p:cNvSpPr>
            <a:spLocks noGrp="1"/>
          </p:cNvSpPr>
          <p:nvPr/>
        </p:nvSpPr>
        <p:spPr>
          <a:xfrm>
            <a:off x="6179765" y="7272338"/>
            <a:ext cx="85725" cy="85725"/>
          </a:xfrm>
          <a:prstGeom prst="ellipse">
            <a:avLst/>
          </a:prstGeom>
          <a:solidFill>
            <a:srgbClr val="A35F42"/>
          </a:solidFill>
          <a:ln w="9525">
            <a:solidFill>
              <a:srgbClr val="A35F42"/>
            </a:solidFill>
          </a:ln>
        </p:spPr>
      </p:sp>
      <p:sp>
        <p:nvSpPr>
          <p:cNvPr id="162" name="直接连接符 161"/>
          <p:cNvSpPr>
            <a:spLocks noGrp="1"/>
          </p:cNvSpPr>
          <p:nvPr/>
        </p:nvSpPr>
        <p:spPr>
          <a:xfrm>
            <a:off x="6353175" y="7562850"/>
            <a:ext cx="146657" cy="953"/>
          </a:xfrm>
          <a:prstGeom prst="line">
            <a:avLst/>
          </a:prstGeom>
          <a:noFill/>
          <a:ln w="19050">
            <a:solidFill>
              <a:srgbClr val="277F8A"/>
            </a:solidFill>
          </a:ln>
        </p:spPr>
      </p:sp>
      <p:sp>
        <p:nvSpPr>
          <p:cNvPr id="163" name="椭圆 162"/>
          <p:cNvSpPr>
            <a:spLocks noGrp="1"/>
          </p:cNvSpPr>
          <p:nvPr/>
        </p:nvSpPr>
        <p:spPr>
          <a:xfrm>
            <a:off x="6456970" y="7519988"/>
            <a:ext cx="85725" cy="85725"/>
          </a:xfrm>
          <a:prstGeom prst="ellipse">
            <a:avLst/>
          </a:prstGeom>
          <a:solidFill>
            <a:srgbClr val="277F8A"/>
          </a:solidFill>
          <a:ln w="9525">
            <a:solidFill>
              <a:srgbClr val="277F8A"/>
            </a:solidFill>
          </a:ln>
        </p:spPr>
      </p:sp>
      <p:sp>
        <p:nvSpPr>
          <p:cNvPr id="164" name="直接连接符 163"/>
          <p:cNvSpPr>
            <a:spLocks noGrp="1"/>
          </p:cNvSpPr>
          <p:nvPr/>
        </p:nvSpPr>
        <p:spPr>
          <a:xfrm>
            <a:off x="6353175" y="8296275"/>
            <a:ext cx="225222" cy="953"/>
          </a:xfrm>
          <a:prstGeom prst="line">
            <a:avLst/>
          </a:prstGeom>
          <a:noFill/>
          <a:ln w="23813">
            <a:solidFill>
              <a:srgbClr val="24292D"/>
            </a:solidFill>
          </a:ln>
        </p:spPr>
      </p:sp>
      <p:sp>
        <p:nvSpPr>
          <p:cNvPr id="165" name="菱形 164"/>
          <p:cNvSpPr>
            <a:spLocks noGrp="1"/>
          </p:cNvSpPr>
          <p:nvPr/>
        </p:nvSpPr>
        <p:spPr>
          <a:xfrm>
            <a:off x="6521247" y="8239125"/>
            <a:ext cx="114300" cy="114300"/>
          </a:xfrm>
          <a:prstGeom prst="diamond">
            <a:avLst/>
          </a:prstGeom>
          <a:solidFill>
            <a:srgbClr val="24292D"/>
          </a:solidFill>
          <a:ln w="9525">
            <a:solidFill>
              <a:srgbClr val="24292D"/>
            </a:solidFill>
          </a:ln>
        </p:spPr>
      </p:sp>
      <p:sp>
        <p:nvSpPr>
          <p:cNvPr id="166" name="直接连接符 165"/>
          <p:cNvSpPr>
            <a:spLocks noGrp="1"/>
          </p:cNvSpPr>
          <p:nvPr/>
        </p:nvSpPr>
        <p:spPr>
          <a:xfrm>
            <a:off x="5495925" y="8620125"/>
            <a:ext cx="1714500" cy="953"/>
          </a:xfrm>
          <a:prstGeom prst="line">
            <a:avLst/>
          </a:prstGeom>
          <a:noFill/>
          <a:ln w="12383">
            <a:solidFill>
              <a:srgbClr val="24292D"/>
            </a:solidFill>
          </a:ln>
        </p:spPr>
      </p:sp>
      <p:sp>
        <p:nvSpPr>
          <p:cNvPr id="167" name="直接连接符 166"/>
          <p:cNvSpPr>
            <a:spLocks noGrp="1"/>
          </p:cNvSpPr>
          <p:nvPr/>
        </p:nvSpPr>
        <p:spPr>
          <a:xfrm>
            <a:off x="5591175" y="8620125"/>
            <a:ext cx="953" cy="76200"/>
          </a:xfrm>
          <a:prstGeom prst="line">
            <a:avLst/>
          </a:prstGeom>
          <a:noFill/>
          <a:ln w="9525">
            <a:solidFill>
              <a:srgbClr val="24292D"/>
            </a:solidFill>
          </a:ln>
        </p:spPr>
      </p:sp>
      <p:sp>
        <p:nvSpPr>
          <p:cNvPr id="168" name="矩形 167"/>
          <p:cNvSpPr>
            <a:spLocks noGrp="1"/>
          </p:cNvSpPr>
          <p:nvPr/>
        </p:nvSpPr>
        <p:spPr>
          <a:xfrm>
            <a:off x="5257800" y="8734425"/>
            <a:ext cx="66675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-0.2</a:t>
            </a:r>
            <a:endParaRPr sz="1350" b="0">
              <a:solidFill>
                <a:srgbClr val="24292D"/>
              </a:solidFill>
              <a:latin typeface="Arial" panose="020B0604020202020204"/>
              <a:ea typeface="Arial" panose="020B0604020202020204"/>
              <a:cs typeface="Arial" panose="020B0604020202020204"/>
            </a:endParaRPr>
          </a:p>
        </p:txBody>
      </p:sp>
      <p:sp>
        <p:nvSpPr>
          <p:cNvPr id="169" name="直接连接符 168"/>
          <p:cNvSpPr>
            <a:spLocks noGrp="1"/>
          </p:cNvSpPr>
          <p:nvPr/>
        </p:nvSpPr>
        <p:spPr>
          <a:xfrm>
            <a:off x="6353175" y="8620125"/>
            <a:ext cx="953" cy="76200"/>
          </a:xfrm>
          <a:prstGeom prst="line">
            <a:avLst/>
          </a:prstGeom>
          <a:noFill/>
          <a:ln w="9525">
            <a:solidFill>
              <a:srgbClr val="24292D"/>
            </a:solidFill>
          </a:ln>
        </p:spPr>
      </p:sp>
      <p:sp>
        <p:nvSpPr>
          <p:cNvPr id="170" name="矩形 169"/>
          <p:cNvSpPr>
            <a:spLocks noGrp="1"/>
          </p:cNvSpPr>
          <p:nvPr/>
        </p:nvSpPr>
        <p:spPr>
          <a:xfrm>
            <a:off x="6019800" y="8734425"/>
            <a:ext cx="66675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0</a:t>
            </a:r>
            <a:endParaRPr sz="1350" b="0">
              <a:solidFill>
                <a:srgbClr val="24292D"/>
              </a:solidFill>
              <a:latin typeface="Arial" panose="020B0604020202020204"/>
              <a:ea typeface="Arial" panose="020B0604020202020204"/>
              <a:cs typeface="Arial" panose="020B0604020202020204"/>
            </a:endParaRPr>
          </a:p>
        </p:txBody>
      </p:sp>
      <p:sp>
        <p:nvSpPr>
          <p:cNvPr id="171" name="直接连接符 170"/>
          <p:cNvSpPr>
            <a:spLocks noGrp="1"/>
          </p:cNvSpPr>
          <p:nvPr/>
        </p:nvSpPr>
        <p:spPr>
          <a:xfrm>
            <a:off x="7115175" y="8620125"/>
            <a:ext cx="953" cy="76200"/>
          </a:xfrm>
          <a:prstGeom prst="line">
            <a:avLst/>
          </a:prstGeom>
          <a:noFill/>
          <a:ln w="9525">
            <a:solidFill>
              <a:srgbClr val="24292D"/>
            </a:solidFill>
          </a:ln>
        </p:spPr>
      </p:sp>
      <p:sp>
        <p:nvSpPr>
          <p:cNvPr id="172" name="矩形 171"/>
          <p:cNvSpPr>
            <a:spLocks noGrp="1"/>
          </p:cNvSpPr>
          <p:nvPr/>
        </p:nvSpPr>
        <p:spPr>
          <a:xfrm>
            <a:off x="6781800" y="8734425"/>
            <a:ext cx="66675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+0.2</a:t>
            </a:r>
            <a:endParaRPr sz="1350" b="0">
              <a:solidFill>
                <a:srgbClr val="24292D"/>
              </a:solidFill>
              <a:latin typeface="Arial" panose="020B0604020202020204"/>
              <a:ea typeface="Arial" panose="020B0604020202020204"/>
              <a:cs typeface="Arial" panose="020B0604020202020204"/>
            </a:endParaRPr>
          </a:p>
        </p:txBody>
      </p:sp>
      <p:sp>
        <p:nvSpPr>
          <p:cNvPr id="173" name="矩形 172"/>
          <p:cNvSpPr>
            <a:spLocks noGrp="1"/>
          </p:cNvSpPr>
          <p:nvPr/>
        </p:nvSpPr>
        <p:spPr>
          <a:xfrm>
            <a:off x="5419725" y="9048750"/>
            <a:ext cx="1866900" cy="5524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MAE reduction</a:t>
            </a:r>
            <a:endParaRPr sz="1350" b="0">
              <a:solidFill>
                <a:srgbClr val="24292D"/>
              </a:solidFill>
              <a:latin typeface="Arial" panose="020B0604020202020204"/>
              <a:ea typeface="Arial" panose="020B0604020202020204"/>
              <a:cs typeface="Arial" panose="020B0604020202020204"/>
            </a:endParaRPr>
          </a:p>
        </p:txBody>
      </p:sp>
      <p:sp>
        <p:nvSpPr>
          <p:cNvPr id="174" name="矩形 173"/>
          <p:cNvSpPr>
            <a:spLocks noGrp="1"/>
          </p:cNvSpPr>
          <p:nvPr/>
        </p:nvSpPr>
        <p:spPr>
          <a:xfrm>
            <a:off x="7467600" y="114300"/>
            <a:ext cx="381000" cy="342900"/>
          </a:xfrm>
          <a:prstGeom prst="rect">
            <a:avLst/>
          </a:prstGeom>
          <a:noFill/>
          <a:ln w="0">
            <a:noFill/>
          </a:ln>
        </p:spPr>
        <p:txBody>
          <a:bodyPr wrap="none" lIns="0" tIns="0" rIns="0" bIns="0" anchor="ctr">
            <a:noAutofit/>
          </a:bodyPr>
          <a:lstStyle/>
          <a:p>
            <a:pPr algn="l">
              <a:defRPr sz="2025" b="1">
                <a:solidFill>
                  <a:srgbClr val="24292D"/>
                </a:solidFill>
                <a:latin typeface="Arial" panose="020B0604020202020204"/>
                <a:ea typeface="Arial" panose="020B0604020202020204"/>
                <a:cs typeface="Arial" panose="020B0604020202020204"/>
              </a:defRPr>
            </a:pPr>
            <a:r>
              <a:rPr sz="2025" b="1">
                <a:solidFill>
                  <a:srgbClr val="24292D"/>
                </a:solidFill>
                <a:latin typeface="Arial" panose="020B0604020202020204"/>
                <a:ea typeface="Arial" panose="020B0604020202020204"/>
                <a:cs typeface="Arial" panose="020B0604020202020204"/>
              </a:rPr>
              <a:t>d</a:t>
            </a:r>
            <a:endParaRPr sz="2025" b="1">
              <a:solidFill>
                <a:srgbClr val="24292D"/>
              </a:solidFill>
              <a:latin typeface="Arial" panose="020B0604020202020204"/>
              <a:ea typeface="Arial" panose="020B0604020202020204"/>
              <a:cs typeface="Arial" panose="020B0604020202020204"/>
            </a:endParaRPr>
          </a:p>
        </p:txBody>
      </p:sp>
      <p:sp>
        <p:nvSpPr>
          <p:cNvPr id="175" name="矩形 174"/>
          <p:cNvSpPr>
            <a:spLocks noGrp="1"/>
          </p:cNvSpPr>
          <p:nvPr/>
        </p:nvSpPr>
        <p:spPr>
          <a:xfrm>
            <a:off x="7391400" y="495300"/>
            <a:ext cx="1866900" cy="657225"/>
          </a:xfrm>
          <a:prstGeom prst="rect">
            <a:avLst/>
          </a:prstGeom>
          <a:noFill/>
          <a:ln w="0">
            <a:noFill/>
          </a:ln>
        </p:spPr>
        <p:txBody>
          <a:bodyPr wrap="none" lIns="0" tIns="0" rIns="0" bIns="0" anchor="ctr">
            <a:noAutofit/>
          </a:bodyPr>
          <a:lstStyle/>
          <a:p>
            <a:pPr algn="ctr">
              <a:defRPr sz="1350" b="1">
                <a:solidFill>
                  <a:srgbClr val="24292D"/>
                </a:solidFill>
                <a:latin typeface="Arial" panose="020B0604020202020204"/>
                <a:ea typeface="Arial" panose="020B0604020202020204"/>
                <a:cs typeface="Arial" panose="020B0604020202020204"/>
              </a:defRPr>
            </a:pPr>
            <a:r>
              <a:rPr sz="1350" b="1">
                <a:solidFill>
                  <a:srgbClr val="24292D"/>
                </a:solidFill>
                <a:latin typeface="Arial" panose="020B0604020202020204"/>
                <a:ea typeface="Arial" panose="020B0604020202020204"/>
                <a:cs typeface="Arial" panose="020B0604020202020204"/>
              </a:rPr>
              <a:t>Crystallization</a:t>
            </a:r>
            <a:endParaRPr sz="1350" b="1">
              <a:solidFill>
                <a:srgbClr val="24292D"/>
              </a:solidFill>
              <a:latin typeface="Arial" panose="020B0604020202020204"/>
              <a:ea typeface="Arial" panose="020B0604020202020204"/>
              <a:cs typeface="Arial" panose="020B0604020202020204"/>
            </a:endParaRPr>
          </a:p>
          <a:p>
            <a:pPr algn="ctr">
              <a:defRPr sz="1350" b="1">
                <a:solidFill>
                  <a:srgbClr val="24292D"/>
                </a:solidFill>
                <a:latin typeface="Arial" panose="020B0604020202020204"/>
                <a:ea typeface="Arial" panose="020B0604020202020204"/>
                <a:cs typeface="Arial" panose="020B0604020202020204"/>
              </a:defRPr>
            </a:pPr>
            <a:r>
              <a:rPr sz="1350" b="1">
                <a:solidFill>
                  <a:srgbClr val="24292D"/>
                </a:solidFill>
                <a:latin typeface="Arial" panose="020B0604020202020204"/>
                <a:ea typeface="Arial" panose="020B0604020202020204"/>
                <a:cs typeface="Arial" panose="020B0604020202020204"/>
              </a:rPr>
              <a:t>Recovery prediction</a:t>
            </a:r>
            <a:endParaRPr sz="1350" b="1">
              <a:solidFill>
                <a:srgbClr val="24292D"/>
              </a:solidFill>
              <a:latin typeface="Arial" panose="020B0604020202020204"/>
              <a:ea typeface="Arial" panose="020B0604020202020204"/>
              <a:cs typeface="Arial" panose="020B0604020202020204"/>
            </a:endParaRPr>
          </a:p>
        </p:txBody>
      </p:sp>
      <p:sp>
        <p:nvSpPr>
          <p:cNvPr id="176" name="矩形 175"/>
          <p:cNvSpPr>
            <a:spLocks noGrp="1"/>
          </p:cNvSpPr>
          <p:nvPr/>
        </p:nvSpPr>
        <p:spPr>
          <a:xfrm>
            <a:off x="7391400" y="1133475"/>
            <a:ext cx="1866900" cy="457200"/>
          </a:xfrm>
          <a:prstGeom prst="rect">
            <a:avLst/>
          </a:prstGeom>
          <a:noFill/>
          <a:ln w="0">
            <a:noFill/>
          </a:ln>
        </p:spPr>
        <p:txBody>
          <a:bodyPr wrap="none" lIns="0" tIns="0" rIns="0" bIns="0" anchor="ctr">
            <a:noAutofit/>
          </a:bodyPr>
          <a:lstStyle/>
          <a:p>
            <a:pPr algn="ctr">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Recovery MAE</a:t>
            </a:r>
            <a:endParaRPr sz="1350" b="0">
              <a:solidFill>
                <a:srgbClr val="6A737B"/>
              </a:solidFill>
              <a:latin typeface="Arial" panose="020B0604020202020204"/>
              <a:ea typeface="Arial" panose="020B0604020202020204"/>
              <a:cs typeface="Arial" panose="020B0604020202020204"/>
            </a:endParaRPr>
          </a:p>
        </p:txBody>
      </p:sp>
      <p:sp>
        <p:nvSpPr>
          <p:cNvPr id="177" name="矩形 176"/>
          <p:cNvSpPr>
            <a:spLocks noGrp="1"/>
          </p:cNvSpPr>
          <p:nvPr/>
        </p:nvSpPr>
        <p:spPr>
          <a:xfrm>
            <a:off x="7467600" y="1638300"/>
            <a:ext cx="1714500" cy="304800"/>
          </a:xfrm>
          <a:prstGeom prst="rect">
            <a:avLst/>
          </a:prstGeom>
          <a:noFill/>
          <a:ln w="0">
            <a:noFill/>
          </a:ln>
        </p:spPr>
        <p:txBody>
          <a:bodyPr wrap="none" lIns="0" tIns="0" rIns="0" bIns="0" anchor="ctr">
            <a:noAutofit/>
          </a:bodyPr>
          <a:lstStyle/>
          <a:p>
            <a:pPr algn="ctr">
              <a:defRPr sz="1500" b="0">
                <a:solidFill>
                  <a:srgbClr val="416B92"/>
                </a:solidFill>
                <a:latin typeface="Arial" panose="020B0604020202020204"/>
                <a:ea typeface="Arial" panose="020B0604020202020204"/>
                <a:cs typeface="Arial" panose="020B0604020202020204"/>
              </a:defRPr>
            </a:pPr>
            <a:r>
              <a:rPr sz="1500" b="0">
                <a:solidFill>
                  <a:srgbClr val="416B92"/>
                </a:solidFill>
                <a:latin typeface="Arial" panose="020B0604020202020204"/>
                <a:ea typeface="Arial" panose="020B0604020202020204"/>
                <a:cs typeface="Arial" panose="020B0604020202020204"/>
              </a:rPr>
              <a:t>0.1043</a:t>
            </a:r>
            <a:endParaRPr sz="1500" b="0">
              <a:solidFill>
                <a:srgbClr val="416B92"/>
              </a:solidFill>
              <a:latin typeface="Arial" panose="020B0604020202020204"/>
              <a:ea typeface="Arial" panose="020B0604020202020204"/>
              <a:cs typeface="Arial" panose="020B0604020202020204"/>
            </a:endParaRPr>
          </a:p>
        </p:txBody>
      </p:sp>
      <p:sp>
        <p:nvSpPr>
          <p:cNvPr id="178" name="矩形 177"/>
          <p:cNvSpPr>
            <a:spLocks noGrp="1"/>
          </p:cNvSpPr>
          <p:nvPr/>
        </p:nvSpPr>
        <p:spPr>
          <a:xfrm>
            <a:off x="7467600" y="2009775"/>
            <a:ext cx="1714500" cy="304800"/>
          </a:xfrm>
          <a:prstGeom prst="rect">
            <a:avLst/>
          </a:prstGeom>
          <a:noFill/>
          <a:ln w="0">
            <a:noFill/>
          </a:ln>
        </p:spPr>
        <p:txBody>
          <a:bodyPr wrap="none" lIns="0" tIns="0" rIns="0" bIns="0" anchor="ctr">
            <a:noAutofit/>
          </a:bodyPr>
          <a:lstStyle/>
          <a:p>
            <a:pPr algn="ctr">
              <a:defRPr sz="1500" b="0">
                <a:solidFill>
                  <a:srgbClr val="277F8A"/>
                </a:solidFill>
                <a:latin typeface="Arial" panose="020B0604020202020204"/>
                <a:ea typeface="Arial" panose="020B0604020202020204"/>
                <a:cs typeface="Arial" panose="020B0604020202020204"/>
              </a:defRPr>
            </a:pPr>
            <a:r>
              <a:rPr sz="1500" b="0">
                <a:solidFill>
                  <a:srgbClr val="277F8A"/>
                </a:solidFill>
                <a:latin typeface="Arial" panose="020B0604020202020204"/>
                <a:ea typeface="Arial" panose="020B0604020202020204"/>
                <a:cs typeface="Arial" panose="020B0604020202020204"/>
              </a:rPr>
              <a:t>0.0794</a:t>
            </a:r>
            <a:endParaRPr sz="1500" b="0">
              <a:solidFill>
                <a:srgbClr val="277F8A"/>
              </a:solidFill>
              <a:latin typeface="Arial" panose="020B0604020202020204"/>
              <a:ea typeface="Arial" panose="020B0604020202020204"/>
              <a:cs typeface="Arial" panose="020B0604020202020204"/>
            </a:endParaRPr>
          </a:p>
        </p:txBody>
      </p:sp>
      <p:sp>
        <p:nvSpPr>
          <p:cNvPr id="179" name="矩形 178"/>
          <p:cNvSpPr>
            <a:spLocks noGrp="1"/>
          </p:cNvSpPr>
          <p:nvPr/>
        </p:nvSpPr>
        <p:spPr>
          <a:xfrm>
            <a:off x="7467600" y="2390775"/>
            <a:ext cx="1714500" cy="304800"/>
          </a:xfrm>
          <a:prstGeom prst="rect">
            <a:avLst/>
          </a:prstGeom>
          <a:noFill/>
          <a:ln w="0">
            <a:noFill/>
          </a:ln>
        </p:spPr>
        <p:txBody>
          <a:bodyPr wrap="none" lIns="0" tIns="0" rIns="0" bIns="0" anchor="ctr">
            <a:noAutofit/>
          </a:bodyPr>
          <a:lstStyle/>
          <a:p>
            <a:pPr algn="ctr">
              <a:defRPr sz="1500" b="1">
                <a:solidFill>
                  <a:srgbClr val="24292D"/>
                </a:solidFill>
                <a:latin typeface="Arial" panose="020B0604020202020204"/>
                <a:ea typeface="Arial" panose="020B0604020202020204"/>
                <a:cs typeface="Arial" panose="020B0604020202020204"/>
              </a:defRPr>
            </a:pPr>
            <a:r>
              <a:rPr sz="1500" b="1">
                <a:solidFill>
                  <a:srgbClr val="24292D"/>
                </a:solidFill>
                <a:latin typeface="Arial" panose="020B0604020202020204"/>
                <a:ea typeface="Arial" panose="020B0604020202020204"/>
                <a:cs typeface="Arial" panose="020B0604020202020204"/>
              </a:rPr>
              <a:t>8/15</a:t>
            </a:r>
            <a:endParaRPr sz="1500" b="1">
              <a:solidFill>
                <a:srgbClr val="24292D"/>
              </a:solidFill>
              <a:latin typeface="Arial" panose="020B0604020202020204"/>
              <a:ea typeface="Arial" panose="020B0604020202020204"/>
              <a:cs typeface="Arial" panose="020B0604020202020204"/>
            </a:endParaRPr>
          </a:p>
        </p:txBody>
      </p:sp>
      <p:sp>
        <p:nvSpPr>
          <p:cNvPr id="180" name="直接连接符 179"/>
          <p:cNvSpPr>
            <a:spLocks noGrp="1"/>
          </p:cNvSpPr>
          <p:nvPr/>
        </p:nvSpPr>
        <p:spPr>
          <a:xfrm>
            <a:off x="7467600" y="2857500"/>
            <a:ext cx="1714500" cy="953"/>
          </a:xfrm>
          <a:prstGeom prst="line">
            <a:avLst/>
          </a:prstGeom>
          <a:noFill/>
          <a:ln w="14288">
            <a:solidFill>
              <a:srgbClr val="D7DDE1"/>
            </a:solidFill>
          </a:ln>
        </p:spPr>
      </p:sp>
      <p:sp>
        <p:nvSpPr>
          <p:cNvPr id="181" name="直接连接符 180"/>
          <p:cNvSpPr>
            <a:spLocks noGrp="1"/>
          </p:cNvSpPr>
          <p:nvPr/>
        </p:nvSpPr>
        <p:spPr>
          <a:xfrm>
            <a:off x="8324850" y="3143250"/>
            <a:ext cx="953" cy="5381625"/>
          </a:xfrm>
          <a:prstGeom prst="line">
            <a:avLst/>
          </a:prstGeom>
          <a:noFill/>
          <a:ln w="11430">
            <a:solidFill>
              <a:srgbClr val="6A737B"/>
            </a:solidFill>
          </a:ln>
        </p:spPr>
      </p:sp>
      <p:sp>
        <p:nvSpPr>
          <p:cNvPr id="182" name="直接连接符 181"/>
          <p:cNvSpPr>
            <a:spLocks noGrp="1"/>
          </p:cNvSpPr>
          <p:nvPr/>
        </p:nvSpPr>
        <p:spPr>
          <a:xfrm>
            <a:off x="8175625" y="3333750"/>
            <a:ext cx="149225" cy="953"/>
          </a:xfrm>
          <a:prstGeom prst="line">
            <a:avLst/>
          </a:prstGeom>
          <a:noFill/>
          <a:ln w="19050">
            <a:solidFill>
              <a:srgbClr val="A35F42"/>
            </a:solidFill>
          </a:ln>
        </p:spPr>
      </p:sp>
      <p:sp>
        <p:nvSpPr>
          <p:cNvPr id="183" name="椭圆 182"/>
          <p:cNvSpPr>
            <a:spLocks noGrp="1"/>
          </p:cNvSpPr>
          <p:nvPr/>
        </p:nvSpPr>
        <p:spPr>
          <a:xfrm>
            <a:off x="8132763" y="3290888"/>
            <a:ext cx="85725" cy="85725"/>
          </a:xfrm>
          <a:prstGeom prst="ellipse">
            <a:avLst/>
          </a:prstGeom>
          <a:solidFill>
            <a:srgbClr val="A35F42"/>
          </a:solidFill>
          <a:ln w="9525">
            <a:solidFill>
              <a:srgbClr val="A35F42"/>
            </a:solidFill>
          </a:ln>
        </p:spPr>
      </p:sp>
      <p:sp>
        <p:nvSpPr>
          <p:cNvPr id="184" name="直接连接符 183"/>
          <p:cNvSpPr>
            <a:spLocks noGrp="1"/>
          </p:cNvSpPr>
          <p:nvPr/>
        </p:nvSpPr>
        <p:spPr>
          <a:xfrm>
            <a:off x="8301567" y="3581400"/>
            <a:ext cx="23283" cy="953"/>
          </a:xfrm>
          <a:prstGeom prst="line">
            <a:avLst/>
          </a:prstGeom>
          <a:noFill/>
          <a:ln w="19050">
            <a:solidFill>
              <a:srgbClr val="A35F42"/>
            </a:solidFill>
          </a:ln>
        </p:spPr>
      </p:sp>
      <p:sp>
        <p:nvSpPr>
          <p:cNvPr id="185" name="椭圆 184"/>
          <p:cNvSpPr>
            <a:spLocks noGrp="1"/>
          </p:cNvSpPr>
          <p:nvPr/>
        </p:nvSpPr>
        <p:spPr>
          <a:xfrm>
            <a:off x="8258704" y="3538538"/>
            <a:ext cx="85725" cy="85725"/>
          </a:xfrm>
          <a:prstGeom prst="ellipse">
            <a:avLst/>
          </a:prstGeom>
          <a:solidFill>
            <a:srgbClr val="A35F42"/>
          </a:solidFill>
          <a:ln w="9525">
            <a:solidFill>
              <a:srgbClr val="A35F42"/>
            </a:solidFill>
          </a:ln>
        </p:spPr>
      </p:sp>
      <p:sp>
        <p:nvSpPr>
          <p:cNvPr id="186" name="直接连接符 185"/>
          <p:cNvSpPr>
            <a:spLocks noGrp="1"/>
          </p:cNvSpPr>
          <p:nvPr/>
        </p:nvSpPr>
        <p:spPr>
          <a:xfrm>
            <a:off x="8215861" y="3829050"/>
            <a:ext cx="108989" cy="953"/>
          </a:xfrm>
          <a:prstGeom prst="line">
            <a:avLst/>
          </a:prstGeom>
          <a:noFill/>
          <a:ln w="19050">
            <a:solidFill>
              <a:srgbClr val="A35F42"/>
            </a:solidFill>
          </a:ln>
        </p:spPr>
      </p:sp>
      <p:sp>
        <p:nvSpPr>
          <p:cNvPr id="187" name="椭圆 186"/>
          <p:cNvSpPr>
            <a:spLocks noGrp="1"/>
          </p:cNvSpPr>
          <p:nvPr/>
        </p:nvSpPr>
        <p:spPr>
          <a:xfrm>
            <a:off x="8172999" y="3786188"/>
            <a:ext cx="85725" cy="85725"/>
          </a:xfrm>
          <a:prstGeom prst="ellipse">
            <a:avLst/>
          </a:prstGeom>
          <a:solidFill>
            <a:srgbClr val="A35F42"/>
          </a:solidFill>
          <a:ln w="9525">
            <a:solidFill>
              <a:srgbClr val="A35F42"/>
            </a:solidFill>
          </a:ln>
        </p:spPr>
      </p:sp>
      <p:sp>
        <p:nvSpPr>
          <p:cNvPr id="188" name="直接连接符 187"/>
          <p:cNvSpPr>
            <a:spLocks noGrp="1"/>
          </p:cNvSpPr>
          <p:nvPr/>
        </p:nvSpPr>
        <p:spPr>
          <a:xfrm>
            <a:off x="8324850" y="4267200"/>
            <a:ext cx="673002" cy="953"/>
          </a:xfrm>
          <a:prstGeom prst="line">
            <a:avLst/>
          </a:prstGeom>
          <a:noFill/>
          <a:ln w="19050">
            <a:solidFill>
              <a:srgbClr val="277F8A"/>
            </a:solidFill>
          </a:ln>
        </p:spPr>
      </p:sp>
      <p:sp>
        <p:nvSpPr>
          <p:cNvPr id="189" name="直接连接符 188"/>
          <p:cNvSpPr>
            <a:spLocks noGrp="1"/>
          </p:cNvSpPr>
          <p:nvPr/>
        </p:nvSpPr>
        <p:spPr>
          <a:xfrm>
            <a:off x="8954990" y="4224338"/>
            <a:ext cx="85725" cy="85725"/>
          </a:xfrm>
          <a:prstGeom prst="line">
            <a:avLst/>
          </a:prstGeom>
          <a:noFill/>
          <a:ln w="19050">
            <a:solidFill>
              <a:srgbClr val="277F8A"/>
            </a:solidFill>
          </a:ln>
        </p:spPr>
      </p:sp>
      <p:sp>
        <p:nvSpPr>
          <p:cNvPr id="190" name="直接连接符 189"/>
          <p:cNvSpPr>
            <a:spLocks noGrp="1"/>
          </p:cNvSpPr>
          <p:nvPr/>
        </p:nvSpPr>
        <p:spPr>
          <a:xfrm flipV="1">
            <a:off x="8954990" y="4224338"/>
            <a:ext cx="85725" cy="85725"/>
          </a:xfrm>
          <a:prstGeom prst="line">
            <a:avLst/>
          </a:prstGeom>
          <a:noFill/>
          <a:ln w="19050">
            <a:solidFill>
              <a:srgbClr val="277F8A"/>
            </a:solidFill>
          </a:ln>
        </p:spPr>
      </p:sp>
      <p:sp>
        <p:nvSpPr>
          <p:cNvPr id="191" name="直接连接符 190"/>
          <p:cNvSpPr>
            <a:spLocks noGrp="1"/>
          </p:cNvSpPr>
          <p:nvPr/>
        </p:nvSpPr>
        <p:spPr>
          <a:xfrm>
            <a:off x="8289024" y="4514850"/>
            <a:ext cx="35826" cy="953"/>
          </a:xfrm>
          <a:prstGeom prst="line">
            <a:avLst/>
          </a:prstGeom>
          <a:noFill/>
          <a:ln w="19050">
            <a:solidFill>
              <a:srgbClr val="A35F42"/>
            </a:solidFill>
          </a:ln>
        </p:spPr>
      </p:sp>
      <p:sp>
        <p:nvSpPr>
          <p:cNvPr id="192" name="椭圆 191"/>
          <p:cNvSpPr>
            <a:spLocks noGrp="1"/>
          </p:cNvSpPr>
          <p:nvPr/>
        </p:nvSpPr>
        <p:spPr>
          <a:xfrm>
            <a:off x="8246161" y="4471988"/>
            <a:ext cx="85725" cy="85725"/>
          </a:xfrm>
          <a:prstGeom prst="ellipse">
            <a:avLst/>
          </a:prstGeom>
          <a:solidFill>
            <a:srgbClr val="A35F42"/>
          </a:solidFill>
          <a:ln w="9525">
            <a:solidFill>
              <a:srgbClr val="A35F42"/>
            </a:solidFill>
          </a:ln>
        </p:spPr>
      </p:sp>
      <p:sp>
        <p:nvSpPr>
          <p:cNvPr id="193" name="直接连接符 192"/>
          <p:cNvSpPr>
            <a:spLocks noGrp="1"/>
          </p:cNvSpPr>
          <p:nvPr/>
        </p:nvSpPr>
        <p:spPr>
          <a:xfrm>
            <a:off x="8324850" y="4762500"/>
            <a:ext cx="217338" cy="953"/>
          </a:xfrm>
          <a:prstGeom prst="line">
            <a:avLst/>
          </a:prstGeom>
          <a:noFill/>
          <a:ln w="19050">
            <a:solidFill>
              <a:srgbClr val="277F8A"/>
            </a:solidFill>
          </a:ln>
        </p:spPr>
      </p:sp>
      <p:sp>
        <p:nvSpPr>
          <p:cNvPr id="194" name="椭圆 193"/>
          <p:cNvSpPr>
            <a:spLocks noGrp="1"/>
          </p:cNvSpPr>
          <p:nvPr/>
        </p:nvSpPr>
        <p:spPr>
          <a:xfrm>
            <a:off x="8499326" y="4719638"/>
            <a:ext cx="85725" cy="85725"/>
          </a:xfrm>
          <a:prstGeom prst="ellipse">
            <a:avLst/>
          </a:prstGeom>
          <a:solidFill>
            <a:srgbClr val="277F8A"/>
          </a:solidFill>
          <a:ln w="9525">
            <a:solidFill>
              <a:srgbClr val="277F8A"/>
            </a:solidFill>
          </a:ln>
        </p:spPr>
      </p:sp>
      <p:sp>
        <p:nvSpPr>
          <p:cNvPr id="195" name="直接连接符 194"/>
          <p:cNvSpPr>
            <a:spLocks noGrp="1"/>
          </p:cNvSpPr>
          <p:nvPr/>
        </p:nvSpPr>
        <p:spPr>
          <a:xfrm>
            <a:off x="8259960" y="5200650"/>
            <a:ext cx="64890" cy="953"/>
          </a:xfrm>
          <a:prstGeom prst="line">
            <a:avLst/>
          </a:prstGeom>
          <a:noFill/>
          <a:ln w="19050">
            <a:solidFill>
              <a:srgbClr val="A35F42"/>
            </a:solidFill>
          </a:ln>
        </p:spPr>
      </p:sp>
      <p:sp>
        <p:nvSpPr>
          <p:cNvPr id="196" name="椭圆 195"/>
          <p:cNvSpPr>
            <a:spLocks noGrp="1"/>
          </p:cNvSpPr>
          <p:nvPr/>
        </p:nvSpPr>
        <p:spPr>
          <a:xfrm>
            <a:off x="8217098" y="5157788"/>
            <a:ext cx="85725" cy="85725"/>
          </a:xfrm>
          <a:prstGeom prst="ellipse">
            <a:avLst/>
          </a:prstGeom>
          <a:solidFill>
            <a:srgbClr val="A35F42"/>
          </a:solidFill>
          <a:ln w="9525">
            <a:solidFill>
              <a:srgbClr val="A35F42"/>
            </a:solidFill>
          </a:ln>
        </p:spPr>
      </p:sp>
      <p:sp>
        <p:nvSpPr>
          <p:cNvPr id="197" name="直接连接符 196"/>
          <p:cNvSpPr>
            <a:spLocks noGrp="1"/>
          </p:cNvSpPr>
          <p:nvPr/>
        </p:nvSpPr>
        <p:spPr>
          <a:xfrm>
            <a:off x="8129092" y="5448300"/>
            <a:ext cx="195758" cy="953"/>
          </a:xfrm>
          <a:prstGeom prst="line">
            <a:avLst/>
          </a:prstGeom>
          <a:noFill/>
          <a:ln w="19050">
            <a:solidFill>
              <a:srgbClr val="A35F42"/>
            </a:solidFill>
          </a:ln>
        </p:spPr>
      </p:sp>
      <p:sp>
        <p:nvSpPr>
          <p:cNvPr id="198" name="椭圆 197"/>
          <p:cNvSpPr>
            <a:spLocks noGrp="1"/>
          </p:cNvSpPr>
          <p:nvPr/>
        </p:nvSpPr>
        <p:spPr>
          <a:xfrm>
            <a:off x="8086230" y="5405438"/>
            <a:ext cx="85725" cy="85725"/>
          </a:xfrm>
          <a:prstGeom prst="ellipse">
            <a:avLst/>
          </a:prstGeom>
          <a:solidFill>
            <a:srgbClr val="A35F42"/>
          </a:solidFill>
          <a:ln w="9525">
            <a:solidFill>
              <a:srgbClr val="A35F42"/>
            </a:solidFill>
          </a:ln>
        </p:spPr>
      </p:sp>
      <p:sp>
        <p:nvSpPr>
          <p:cNvPr id="199" name="直接连接符 198"/>
          <p:cNvSpPr>
            <a:spLocks noGrp="1"/>
          </p:cNvSpPr>
          <p:nvPr/>
        </p:nvSpPr>
        <p:spPr>
          <a:xfrm>
            <a:off x="8310321" y="5695950"/>
            <a:ext cx="14529" cy="953"/>
          </a:xfrm>
          <a:prstGeom prst="line">
            <a:avLst/>
          </a:prstGeom>
          <a:noFill/>
          <a:ln w="19050">
            <a:solidFill>
              <a:srgbClr val="A35F42"/>
            </a:solidFill>
          </a:ln>
        </p:spPr>
      </p:sp>
      <p:sp>
        <p:nvSpPr>
          <p:cNvPr id="200" name="椭圆 199"/>
          <p:cNvSpPr>
            <a:spLocks noGrp="1"/>
          </p:cNvSpPr>
          <p:nvPr/>
        </p:nvSpPr>
        <p:spPr>
          <a:xfrm>
            <a:off x="8267458" y="5653088"/>
            <a:ext cx="85725" cy="85725"/>
          </a:xfrm>
          <a:prstGeom prst="ellipse">
            <a:avLst/>
          </a:prstGeom>
          <a:solidFill>
            <a:srgbClr val="A35F42"/>
          </a:solidFill>
          <a:ln w="9525">
            <a:solidFill>
              <a:srgbClr val="A35F42"/>
            </a:solidFill>
          </a:ln>
        </p:spPr>
      </p:sp>
      <p:sp>
        <p:nvSpPr>
          <p:cNvPr id="201" name="直接连接符 200"/>
          <p:cNvSpPr>
            <a:spLocks noGrp="1"/>
          </p:cNvSpPr>
          <p:nvPr/>
        </p:nvSpPr>
        <p:spPr>
          <a:xfrm>
            <a:off x="8324850" y="6134100"/>
            <a:ext cx="177267" cy="953"/>
          </a:xfrm>
          <a:prstGeom prst="line">
            <a:avLst/>
          </a:prstGeom>
          <a:noFill/>
          <a:ln w="19050">
            <a:solidFill>
              <a:srgbClr val="277F8A"/>
            </a:solidFill>
          </a:ln>
        </p:spPr>
      </p:sp>
      <p:sp>
        <p:nvSpPr>
          <p:cNvPr id="202" name="椭圆 201"/>
          <p:cNvSpPr>
            <a:spLocks noGrp="1"/>
          </p:cNvSpPr>
          <p:nvPr/>
        </p:nvSpPr>
        <p:spPr>
          <a:xfrm>
            <a:off x="8459254" y="6091238"/>
            <a:ext cx="85725" cy="85725"/>
          </a:xfrm>
          <a:prstGeom prst="ellipse">
            <a:avLst/>
          </a:prstGeom>
          <a:solidFill>
            <a:srgbClr val="277F8A"/>
          </a:solidFill>
          <a:ln w="9525">
            <a:solidFill>
              <a:srgbClr val="277F8A"/>
            </a:solidFill>
          </a:ln>
        </p:spPr>
      </p:sp>
      <p:sp>
        <p:nvSpPr>
          <p:cNvPr id="203" name="直接连接符 202"/>
          <p:cNvSpPr>
            <a:spLocks noGrp="1"/>
          </p:cNvSpPr>
          <p:nvPr/>
        </p:nvSpPr>
        <p:spPr>
          <a:xfrm>
            <a:off x="8324850" y="6381750"/>
            <a:ext cx="13184" cy="953"/>
          </a:xfrm>
          <a:prstGeom prst="line">
            <a:avLst/>
          </a:prstGeom>
          <a:noFill/>
          <a:ln w="19050">
            <a:solidFill>
              <a:srgbClr val="277F8A"/>
            </a:solidFill>
          </a:ln>
        </p:spPr>
      </p:sp>
      <p:sp>
        <p:nvSpPr>
          <p:cNvPr id="204" name="椭圆 203"/>
          <p:cNvSpPr>
            <a:spLocks noGrp="1"/>
          </p:cNvSpPr>
          <p:nvPr/>
        </p:nvSpPr>
        <p:spPr>
          <a:xfrm>
            <a:off x="8295172" y="6338888"/>
            <a:ext cx="85725" cy="85725"/>
          </a:xfrm>
          <a:prstGeom prst="ellipse">
            <a:avLst/>
          </a:prstGeom>
          <a:solidFill>
            <a:srgbClr val="277F8A"/>
          </a:solidFill>
          <a:ln w="9525">
            <a:solidFill>
              <a:srgbClr val="277F8A"/>
            </a:solidFill>
          </a:ln>
        </p:spPr>
      </p:sp>
      <p:sp>
        <p:nvSpPr>
          <p:cNvPr id="205" name="直接连接符 204"/>
          <p:cNvSpPr>
            <a:spLocks noGrp="1"/>
          </p:cNvSpPr>
          <p:nvPr/>
        </p:nvSpPr>
        <p:spPr>
          <a:xfrm>
            <a:off x="8324850" y="6629400"/>
            <a:ext cx="10797" cy="953"/>
          </a:xfrm>
          <a:prstGeom prst="line">
            <a:avLst/>
          </a:prstGeom>
          <a:noFill/>
          <a:ln w="19050">
            <a:solidFill>
              <a:srgbClr val="277F8A"/>
            </a:solidFill>
          </a:ln>
        </p:spPr>
      </p:sp>
      <p:sp>
        <p:nvSpPr>
          <p:cNvPr id="206" name="椭圆 205"/>
          <p:cNvSpPr>
            <a:spLocks noGrp="1"/>
          </p:cNvSpPr>
          <p:nvPr/>
        </p:nvSpPr>
        <p:spPr>
          <a:xfrm>
            <a:off x="8292784" y="6586538"/>
            <a:ext cx="85725" cy="85725"/>
          </a:xfrm>
          <a:prstGeom prst="ellipse">
            <a:avLst/>
          </a:prstGeom>
          <a:solidFill>
            <a:srgbClr val="277F8A"/>
          </a:solidFill>
          <a:ln w="9525">
            <a:solidFill>
              <a:srgbClr val="277F8A"/>
            </a:solidFill>
          </a:ln>
        </p:spPr>
      </p:sp>
      <p:sp>
        <p:nvSpPr>
          <p:cNvPr id="207" name="直接连接符 206"/>
          <p:cNvSpPr>
            <a:spLocks noGrp="1"/>
          </p:cNvSpPr>
          <p:nvPr/>
        </p:nvSpPr>
        <p:spPr>
          <a:xfrm>
            <a:off x="8324850" y="7067550"/>
            <a:ext cx="280034" cy="953"/>
          </a:xfrm>
          <a:prstGeom prst="line">
            <a:avLst/>
          </a:prstGeom>
          <a:noFill/>
          <a:ln w="19050">
            <a:solidFill>
              <a:srgbClr val="277F8A"/>
            </a:solidFill>
          </a:ln>
        </p:spPr>
      </p:sp>
      <p:sp>
        <p:nvSpPr>
          <p:cNvPr id="208" name="椭圆 207"/>
          <p:cNvSpPr>
            <a:spLocks noGrp="1"/>
          </p:cNvSpPr>
          <p:nvPr/>
        </p:nvSpPr>
        <p:spPr>
          <a:xfrm>
            <a:off x="8562022" y="7024688"/>
            <a:ext cx="85725" cy="85725"/>
          </a:xfrm>
          <a:prstGeom prst="ellipse">
            <a:avLst/>
          </a:prstGeom>
          <a:solidFill>
            <a:srgbClr val="277F8A"/>
          </a:solidFill>
          <a:ln w="9525">
            <a:solidFill>
              <a:srgbClr val="277F8A"/>
            </a:solidFill>
          </a:ln>
        </p:spPr>
      </p:sp>
      <p:sp>
        <p:nvSpPr>
          <p:cNvPr id="209" name="直接连接符 208"/>
          <p:cNvSpPr>
            <a:spLocks noGrp="1"/>
          </p:cNvSpPr>
          <p:nvPr/>
        </p:nvSpPr>
        <p:spPr>
          <a:xfrm>
            <a:off x="8324850" y="7315200"/>
            <a:ext cx="142100" cy="953"/>
          </a:xfrm>
          <a:prstGeom prst="line">
            <a:avLst/>
          </a:prstGeom>
          <a:noFill/>
          <a:ln w="19050">
            <a:solidFill>
              <a:srgbClr val="277F8A"/>
            </a:solidFill>
          </a:ln>
        </p:spPr>
      </p:sp>
      <p:sp>
        <p:nvSpPr>
          <p:cNvPr id="210" name="椭圆 209"/>
          <p:cNvSpPr>
            <a:spLocks noGrp="1"/>
          </p:cNvSpPr>
          <p:nvPr/>
        </p:nvSpPr>
        <p:spPr>
          <a:xfrm>
            <a:off x="8424087" y="7272338"/>
            <a:ext cx="85725" cy="85725"/>
          </a:xfrm>
          <a:prstGeom prst="ellipse">
            <a:avLst/>
          </a:prstGeom>
          <a:solidFill>
            <a:srgbClr val="277F8A"/>
          </a:solidFill>
          <a:ln w="9525">
            <a:solidFill>
              <a:srgbClr val="277F8A"/>
            </a:solidFill>
          </a:ln>
        </p:spPr>
      </p:sp>
      <p:sp>
        <p:nvSpPr>
          <p:cNvPr id="211" name="直接连接符 210"/>
          <p:cNvSpPr>
            <a:spLocks noGrp="1"/>
          </p:cNvSpPr>
          <p:nvPr/>
        </p:nvSpPr>
        <p:spPr>
          <a:xfrm>
            <a:off x="8324850" y="7562850"/>
            <a:ext cx="29941" cy="953"/>
          </a:xfrm>
          <a:prstGeom prst="line">
            <a:avLst/>
          </a:prstGeom>
          <a:noFill/>
          <a:ln w="19050">
            <a:solidFill>
              <a:srgbClr val="277F8A"/>
            </a:solidFill>
          </a:ln>
        </p:spPr>
      </p:sp>
      <p:sp>
        <p:nvSpPr>
          <p:cNvPr id="212" name="椭圆 211"/>
          <p:cNvSpPr>
            <a:spLocks noGrp="1"/>
          </p:cNvSpPr>
          <p:nvPr/>
        </p:nvSpPr>
        <p:spPr>
          <a:xfrm>
            <a:off x="8311929" y="7519988"/>
            <a:ext cx="85725" cy="85725"/>
          </a:xfrm>
          <a:prstGeom prst="ellipse">
            <a:avLst/>
          </a:prstGeom>
          <a:solidFill>
            <a:srgbClr val="277F8A"/>
          </a:solidFill>
          <a:ln w="9525">
            <a:solidFill>
              <a:srgbClr val="277F8A"/>
            </a:solidFill>
          </a:ln>
        </p:spPr>
      </p:sp>
      <p:sp>
        <p:nvSpPr>
          <p:cNvPr id="213" name="直接连接符 212"/>
          <p:cNvSpPr>
            <a:spLocks noGrp="1"/>
          </p:cNvSpPr>
          <p:nvPr/>
        </p:nvSpPr>
        <p:spPr>
          <a:xfrm>
            <a:off x="8324850" y="8296275"/>
            <a:ext cx="63411" cy="953"/>
          </a:xfrm>
          <a:prstGeom prst="line">
            <a:avLst/>
          </a:prstGeom>
          <a:noFill/>
          <a:ln w="23813">
            <a:solidFill>
              <a:srgbClr val="24292D"/>
            </a:solidFill>
          </a:ln>
        </p:spPr>
      </p:sp>
      <p:sp>
        <p:nvSpPr>
          <p:cNvPr id="214" name="菱形 213"/>
          <p:cNvSpPr>
            <a:spLocks noGrp="1"/>
          </p:cNvSpPr>
          <p:nvPr/>
        </p:nvSpPr>
        <p:spPr>
          <a:xfrm>
            <a:off x="8331111" y="8239125"/>
            <a:ext cx="114300" cy="114300"/>
          </a:xfrm>
          <a:prstGeom prst="diamond">
            <a:avLst/>
          </a:prstGeom>
          <a:solidFill>
            <a:srgbClr val="24292D"/>
          </a:solidFill>
          <a:ln w="9525">
            <a:solidFill>
              <a:srgbClr val="24292D"/>
            </a:solidFill>
          </a:ln>
        </p:spPr>
      </p:sp>
      <p:sp>
        <p:nvSpPr>
          <p:cNvPr id="215" name="直接连接符 214"/>
          <p:cNvSpPr>
            <a:spLocks noGrp="1"/>
          </p:cNvSpPr>
          <p:nvPr/>
        </p:nvSpPr>
        <p:spPr>
          <a:xfrm>
            <a:off x="7467600" y="8620125"/>
            <a:ext cx="1714500" cy="953"/>
          </a:xfrm>
          <a:prstGeom prst="line">
            <a:avLst/>
          </a:prstGeom>
          <a:noFill/>
          <a:ln w="12383">
            <a:solidFill>
              <a:srgbClr val="24292D"/>
            </a:solidFill>
          </a:ln>
        </p:spPr>
      </p:sp>
      <p:sp>
        <p:nvSpPr>
          <p:cNvPr id="216" name="直接连接符 215"/>
          <p:cNvSpPr>
            <a:spLocks noGrp="1"/>
          </p:cNvSpPr>
          <p:nvPr/>
        </p:nvSpPr>
        <p:spPr>
          <a:xfrm>
            <a:off x="7562850" y="8620125"/>
            <a:ext cx="953" cy="76200"/>
          </a:xfrm>
          <a:prstGeom prst="line">
            <a:avLst/>
          </a:prstGeom>
          <a:noFill/>
          <a:ln w="9525">
            <a:solidFill>
              <a:srgbClr val="24292D"/>
            </a:solidFill>
          </a:ln>
        </p:spPr>
      </p:sp>
      <p:sp>
        <p:nvSpPr>
          <p:cNvPr id="217" name="矩形 216"/>
          <p:cNvSpPr>
            <a:spLocks noGrp="1"/>
          </p:cNvSpPr>
          <p:nvPr/>
        </p:nvSpPr>
        <p:spPr>
          <a:xfrm>
            <a:off x="7229475" y="8734425"/>
            <a:ext cx="66675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-0.3</a:t>
            </a:r>
            <a:endParaRPr sz="1350" b="0">
              <a:solidFill>
                <a:srgbClr val="24292D"/>
              </a:solidFill>
              <a:latin typeface="Arial" panose="020B0604020202020204"/>
              <a:ea typeface="Arial" panose="020B0604020202020204"/>
              <a:cs typeface="Arial" panose="020B0604020202020204"/>
            </a:endParaRPr>
          </a:p>
        </p:txBody>
      </p:sp>
      <p:sp>
        <p:nvSpPr>
          <p:cNvPr id="218" name="直接连接符 217"/>
          <p:cNvSpPr>
            <a:spLocks noGrp="1"/>
          </p:cNvSpPr>
          <p:nvPr/>
        </p:nvSpPr>
        <p:spPr>
          <a:xfrm>
            <a:off x="8324850" y="8620125"/>
            <a:ext cx="953" cy="76200"/>
          </a:xfrm>
          <a:prstGeom prst="line">
            <a:avLst/>
          </a:prstGeom>
          <a:noFill/>
          <a:ln w="9525">
            <a:solidFill>
              <a:srgbClr val="24292D"/>
            </a:solidFill>
          </a:ln>
        </p:spPr>
      </p:sp>
      <p:sp>
        <p:nvSpPr>
          <p:cNvPr id="219" name="矩形 218"/>
          <p:cNvSpPr>
            <a:spLocks noGrp="1"/>
          </p:cNvSpPr>
          <p:nvPr/>
        </p:nvSpPr>
        <p:spPr>
          <a:xfrm>
            <a:off x="7991475" y="8734425"/>
            <a:ext cx="66675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0</a:t>
            </a:r>
            <a:endParaRPr sz="1350" b="0">
              <a:solidFill>
                <a:srgbClr val="24292D"/>
              </a:solidFill>
              <a:latin typeface="Arial" panose="020B0604020202020204"/>
              <a:ea typeface="Arial" panose="020B0604020202020204"/>
              <a:cs typeface="Arial" panose="020B0604020202020204"/>
            </a:endParaRPr>
          </a:p>
        </p:txBody>
      </p:sp>
      <p:sp>
        <p:nvSpPr>
          <p:cNvPr id="220" name="直接连接符 219"/>
          <p:cNvSpPr>
            <a:spLocks noGrp="1"/>
          </p:cNvSpPr>
          <p:nvPr/>
        </p:nvSpPr>
        <p:spPr>
          <a:xfrm>
            <a:off x="9086850" y="8620125"/>
            <a:ext cx="953" cy="76200"/>
          </a:xfrm>
          <a:prstGeom prst="line">
            <a:avLst/>
          </a:prstGeom>
          <a:noFill/>
          <a:ln w="9525">
            <a:solidFill>
              <a:srgbClr val="24292D"/>
            </a:solidFill>
          </a:ln>
        </p:spPr>
      </p:sp>
      <p:sp>
        <p:nvSpPr>
          <p:cNvPr id="221" name="矩形 220"/>
          <p:cNvSpPr>
            <a:spLocks noGrp="1"/>
          </p:cNvSpPr>
          <p:nvPr/>
        </p:nvSpPr>
        <p:spPr>
          <a:xfrm>
            <a:off x="8753475" y="8734425"/>
            <a:ext cx="66675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+0.3</a:t>
            </a:r>
            <a:endParaRPr sz="1350" b="0">
              <a:solidFill>
                <a:srgbClr val="24292D"/>
              </a:solidFill>
              <a:latin typeface="Arial" panose="020B0604020202020204"/>
              <a:ea typeface="Arial" panose="020B0604020202020204"/>
              <a:cs typeface="Arial" panose="020B0604020202020204"/>
            </a:endParaRPr>
          </a:p>
        </p:txBody>
      </p:sp>
      <p:sp>
        <p:nvSpPr>
          <p:cNvPr id="222" name="矩形 221"/>
          <p:cNvSpPr>
            <a:spLocks noGrp="1"/>
          </p:cNvSpPr>
          <p:nvPr/>
        </p:nvSpPr>
        <p:spPr>
          <a:xfrm>
            <a:off x="7391400" y="9048750"/>
            <a:ext cx="1866900" cy="5524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MAE reduction</a:t>
            </a:r>
            <a:endParaRPr sz="1350" b="0">
              <a:solidFill>
                <a:srgbClr val="24292D"/>
              </a:solidFill>
              <a:latin typeface="Arial" panose="020B0604020202020204"/>
              <a:ea typeface="Arial" panose="020B0604020202020204"/>
              <a:cs typeface="Arial" panose="020B0604020202020204"/>
            </a:endParaRPr>
          </a:p>
        </p:txBody>
      </p:sp>
      <p:sp>
        <p:nvSpPr>
          <p:cNvPr id="223" name="矩形 222"/>
          <p:cNvSpPr>
            <a:spLocks noGrp="1"/>
          </p:cNvSpPr>
          <p:nvPr/>
        </p:nvSpPr>
        <p:spPr>
          <a:xfrm>
            <a:off x="9439275" y="114300"/>
            <a:ext cx="381000" cy="342900"/>
          </a:xfrm>
          <a:prstGeom prst="rect">
            <a:avLst/>
          </a:prstGeom>
          <a:noFill/>
          <a:ln w="0">
            <a:noFill/>
          </a:ln>
        </p:spPr>
        <p:txBody>
          <a:bodyPr wrap="none" lIns="0" tIns="0" rIns="0" bIns="0" anchor="ctr">
            <a:noAutofit/>
          </a:bodyPr>
          <a:lstStyle/>
          <a:p>
            <a:pPr algn="l">
              <a:defRPr sz="2025" b="1">
                <a:solidFill>
                  <a:srgbClr val="24292D"/>
                </a:solidFill>
                <a:latin typeface="Arial" panose="020B0604020202020204"/>
                <a:ea typeface="Arial" panose="020B0604020202020204"/>
                <a:cs typeface="Arial" panose="020B0604020202020204"/>
              </a:defRPr>
            </a:pPr>
            <a:r>
              <a:rPr sz="2025" b="1">
                <a:solidFill>
                  <a:srgbClr val="24292D"/>
                </a:solidFill>
                <a:latin typeface="Arial" panose="020B0604020202020204"/>
                <a:ea typeface="Arial" panose="020B0604020202020204"/>
                <a:cs typeface="Arial" panose="020B0604020202020204"/>
              </a:rPr>
              <a:t>e</a:t>
            </a:r>
            <a:endParaRPr sz="2025" b="1">
              <a:solidFill>
                <a:srgbClr val="24292D"/>
              </a:solidFill>
              <a:latin typeface="Arial" panose="020B0604020202020204"/>
              <a:ea typeface="Arial" panose="020B0604020202020204"/>
              <a:cs typeface="Arial" panose="020B0604020202020204"/>
            </a:endParaRPr>
          </a:p>
        </p:txBody>
      </p:sp>
      <p:sp>
        <p:nvSpPr>
          <p:cNvPr id="224" name="矩形 223"/>
          <p:cNvSpPr>
            <a:spLocks noGrp="1"/>
          </p:cNvSpPr>
          <p:nvPr/>
        </p:nvSpPr>
        <p:spPr>
          <a:xfrm>
            <a:off x="9363075" y="495300"/>
            <a:ext cx="1866900" cy="657225"/>
          </a:xfrm>
          <a:prstGeom prst="rect">
            <a:avLst/>
          </a:prstGeom>
          <a:noFill/>
          <a:ln w="0">
            <a:noFill/>
          </a:ln>
        </p:spPr>
        <p:txBody>
          <a:bodyPr wrap="none" lIns="0" tIns="0" rIns="0" bIns="0" anchor="ctr">
            <a:noAutofit/>
          </a:bodyPr>
          <a:lstStyle/>
          <a:p>
            <a:pPr algn="ctr">
              <a:defRPr sz="1350" b="1">
                <a:solidFill>
                  <a:srgbClr val="24292D"/>
                </a:solidFill>
                <a:latin typeface="Arial" panose="020B0604020202020204"/>
                <a:ea typeface="Arial" panose="020B0604020202020204"/>
                <a:cs typeface="Arial" panose="020B0604020202020204"/>
              </a:defRPr>
            </a:pPr>
            <a:r>
              <a:rPr sz="1350" b="1">
                <a:solidFill>
                  <a:srgbClr val="24292D"/>
                </a:solidFill>
                <a:latin typeface="Arial" panose="020B0604020202020204"/>
                <a:ea typeface="Arial" panose="020B0604020202020204"/>
                <a:cs typeface="Arial" panose="020B0604020202020204"/>
              </a:rPr>
              <a:t>Crystallization</a:t>
            </a:r>
            <a:endParaRPr sz="1350" b="1">
              <a:solidFill>
                <a:srgbClr val="24292D"/>
              </a:solidFill>
              <a:latin typeface="Arial" panose="020B0604020202020204"/>
              <a:ea typeface="Arial" panose="020B0604020202020204"/>
              <a:cs typeface="Arial" panose="020B0604020202020204"/>
            </a:endParaRPr>
          </a:p>
          <a:p>
            <a:pPr algn="ctr">
              <a:defRPr sz="1350" b="1">
                <a:solidFill>
                  <a:srgbClr val="24292D"/>
                </a:solidFill>
                <a:latin typeface="Arial" panose="020B0604020202020204"/>
                <a:ea typeface="Arial" panose="020B0604020202020204"/>
                <a:cs typeface="Arial" panose="020B0604020202020204"/>
              </a:defRPr>
            </a:pPr>
            <a:r>
              <a:rPr sz="1350" b="1">
                <a:solidFill>
                  <a:srgbClr val="24292D"/>
                </a:solidFill>
                <a:latin typeface="Arial" panose="020B0604020202020204"/>
                <a:ea typeface="Arial" panose="020B0604020202020204"/>
                <a:cs typeface="Arial" panose="020B0604020202020204"/>
              </a:rPr>
              <a:t>Interval coverage</a:t>
            </a:r>
            <a:endParaRPr sz="1350" b="1">
              <a:solidFill>
                <a:srgbClr val="24292D"/>
              </a:solidFill>
              <a:latin typeface="Arial" panose="020B0604020202020204"/>
              <a:ea typeface="Arial" panose="020B0604020202020204"/>
              <a:cs typeface="Arial" panose="020B0604020202020204"/>
            </a:endParaRPr>
          </a:p>
        </p:txBody>
      </p:sp>
      <p:sp>
        <p:nvSpPr>
          <p:cNvPr id="225" name="矩形 224"/>
          <p:cNvSpPr>
            <a:spLocks noGrp="1"/>
          </p:cNvSpPr>
          <p:nvPr/>
        </p:nvSpPr>
        <p:spPr>
          <a:xfrm>
            <a:off x="9363075" y="1133475"/>
            <a:ext cx="1866900" cy="457200"/>
          </a:xfrm>
          <a:prstGeom prst="rect">
            <a:avLst/>
          </a:prstGeom>
          <a:noFill/>
          <a:ln w="0">
            <a:noFill/>
          </a:ln>
        </p:spPr>
        <p:txBody>
          <a:bodyPr wrap="none" lIns="0" tIns="0" rIns="0" bIns="0" anchor="ctr">
            <a:noAutofit/>
          </a:bodyPr>
          <a:lstStyle/>
          <a:p>
            <a:pPr algn="ctr">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Fines coverage (%)</a:t>
            </a:r>
            <a:endParaRPr sz="1350" b="0">
              <a:solidFill>
                <a:srgbClr val="6A737B"/>
              </a:solidFill>
              <a:latin typeface="Arial" panose="020B0604020202020204"/>
              <a:ea typeface="Arial" panose="020B0604020202020204"/>
              <a:cs typeface="Arial" panose="020B0604020202020204"/>
            </a:endParaRPr>
          </a:p>
        </p:txBody>
      </p:sp>
      <p:sp>
        <p:nvSpPr>
          <p:cNvPr id="226" name="矩形 225"/>
          <p:cNvSpPr>
            <a:spLocks noGrp="1"/>
          </p:cNvSpPr>
          <p:nvPr/>
        </p:nvSpPr>
        <p:spPr>
          <a:xfrm>
            <a:off x="9439275" y="1638300"/>
            <a:ext cx="1714500" cy="304800"/>
          </a:xfrm>
          <a:prstGeom prst="rect">
            <a:avLst/>
          </a:prstGeom>
          <a:noFill/>
          <a:ln w="0">
            <a:noFill/>
          </a:ln>
        </p:spPr>
        <p:txBody>
          <a:bodyPr wrap="none" lIns="0" tIns="0" rIns="0" bIns="0" anchor="ctr">
            <a:noAutofit/>
          </a:bodyPr>
          <a:lstStyle/>
          <a:p>
            <a:pPr algn="ctr">
              <a:defRPr sz="1500" b="0">
                <a:solidFill>
                  <a:srgbClr val="416B92"/>
                </a:solidFill>
                <a:latin typeface="Arial" panose="020B0604020202020204"/>
                <a:ea typeface="Arial" panose="020B0604020202020204"/>
                <a:cs typeface="Arial" panose="020B0604020202020204"/>
              </a:defRPr>
            </a:pPr>
            <a:r>
              <a:rPr sz="1500" b="0">
                <a:solidFill>
                  <a:srgbClr val="416B92"/>
                </a:solidFill>
                <a:latin typeface="Arial" panose="020B0604020202020204"/>
                <a:ea typeface="Arial" panose="020B0604020202020204"/>
                <a:cs typeface="Arial" panose="020B0604020202020204"/>
              </a:rPr>
              <a:t>35.6%</a:t>
            </a:r>
            <a:endParaRPr sz="1500" b="0">
              <a:solidFill>
                <a:srgbClr val="416B92"/>
              </a:solidFill>
              <a:latin typeface="Arial" panose="020B0604020202020204"/>
              <a:ea typeface="Arial" panose="020B0604020202020204"/>
              <a:cs typeface="Arial" panose="020B0604020202020204"/>
            </a:endParaRPr>
          </a:p>
        </p:txBody>
      </p:sp>
      <p:sp>
        <p:nvSpPr>
          <p:cNvPr id="227" name="矩形 226"/>
          <p:cNvSpPr>
            <a:spLocks noGrp="1"/>
          </p:cNvSpPr>
          <p:nvPr/>
        </p:nvSpPr>
        <p:spPr>
          <a:xfrm>
            <a:off x="9439275" y="2009775"/>
            <a:ext cx="1714500" cy="304800"/>
          </a:xfrm>
          <a:prstGeom prst="rect">
            <a:avLst/>
          </a:prstGeom>
          <a:noFill/>
          <a:ln w="0">
            <a:noFill/>
          </a:ln>
        </p:spPr>
        <p:txBody>
          <a:bodyPr wrap="none" lIns="0" tIns="0" rIns="0" bIns="0" anchor="ctr">
            <a:noAutofit/>
          </a:bodyPr>
          <a:lstStyle/>
          <a:p>
            <a:pPr algn="ctr">
              <a:defRPr sz="1500" b="0">
                <a:solidFill>
                  <a:srgbClr val="277F8A"/>
                </a:solidFill>
                <a:latin typeface="Arial" panose="020B0604020202020204"/>
                <a:ea typeface="Arial" panose="020B0604020202020204"/>
                <a:cs typeface="Arial" panose="020B0604020202020204"/>
              </a:defRPr>
            </a:pPr>
            <a:r>
              <a:rPr sz="1500" b="0">
                <a:solidFill>
                  <a:srgbClr val="277F8A"/>
                </a:solidFill>
                <a:latin typeface="Arial" panose="020B0604020202020204"/>
                <a:ea typeface="Arial" panose="020B0604020202020204"/>
                <a:cs typeface="Arial" panose="020B0604020202020204"/>
              </a:rPr>
              <a:t>43.9%</a:t>
            </a:r>
            <a:endParaRPr sz="1500" b="0">
              <a:solidFill>
                <a:srgbClr val="277F8A"/>
              </a:solidFill>
              <a:latin typeface="Arial" panose="020B0604020202020204"/>
              <a:ea typeface="Arial" panose="020B0604020202020204"/>
              <a:cs typeface="Arial" panose="020B0604020202020204"/>
            </a:endParaRPr>
          </a:p>
        </p:txBody>
      </p:sp>
      <p:sp>
        <p:nvSpPr>
          <p:cNvPr id="228" name="矩形 227"/>
          <p:cNvSpPr>
            <a:spLocks noGrp="1"/>
          </p:cNvSpPr>
          <p:nvPr/>
        </p:nvSpPr>
        <p:spPr>
          <a:xfrm>
            <a:off x="9439275" y="2390775"/>
            <a:ext cx="1714500" cy="304800"/>
          </a:xfrm>
          <a:prstGeom prst="rect">
            <a:avLst/>
          </a:prstGeom>
          <a:noFill/>
          <a:ln w="0">
            <a:noFill/>
          </a:ln>
        </p:spPr>
        <p:txBody>
          <a:bodyPr wrap="none" lIns="0" tIns="0" rIns="0" bIns="0" anchor="ctr">
            <a:noAutofit/>
          </a:bodyPr>
          <a:lstStyle/>
          <a:p>
            <a:pPr algn="ctr">
              <a:defRPr sz="1500" b="1">
                <a:solidFill>
                  <a:srgbClr val="24292D"/>
                </a:solidFill>
                <a:latin typeface="Arial" panose="020B0604020202020204"/>
                <a:ea typeface="Arial" panose="020B0604020202020204"/>
                <a:cs typeface="Arial" panose="020B0604020202020204"/>
              </a:defRPr>
            </a:pPr>
            <a:r>
              <a:rPr sz="1500" b="1">
                <a:solidFill>
                  <a:srgbClr val="24292D"/>
                </a:solidFill>
                <a:latin typeface="Arial" panose="020B0604020202020204"/>
                <a:ea typeface="Arial" panose="020B0604020202020204"/>
                <a:cs typeface="Arial" panose="020B0604020202020204"/>
              </a:rPr>
              <a:t>7/15</a:t>
            </a:r>
            <a:endParaRPr sz="1500" b="1">
              <a:solidFill>
                <a:srgbClr val="24292D"/>
              </a:solidFill>
              <a:latin typeface="Arial" panose="020B0604020202020204"/>
              <a:ea typeface="Arial" panose="020B0604020202020204"/>
              <a:cs typeface="Arial" panose="020B0604020202020204"/>
            </a:endParaRPr>
          </a:p>
        </p:txBody>
      </p:sp>
      <p:sp>
        <p:nvSpPr>
          <p:cNvPr id="229" name="直接连接符 228"/>
          <p:cNvSpPr>
            <a:spLocks noGrp="1"/>
          </p:cNvSpPr>
          <p:nvPr/>
        </p:nvSpPr>
        <p:spPr>
          <a:xfrm>
            <a:off x="9439275" y="2857500"/>
            <a:ext cx="1714500" cy="953"/>
          </a:xfrm>
          <a:prstGeom prst="line">
            <a:avLst/>
          </a:prstGeom>
          <a:noFill/>
          <a:ln w="14288">
            <a:solidFill>
              <a:srgbClr val="D7DDE1"/>
            </a:solidFill>
          </a:ln>
        </p:spPr>
      </p:sp>
      <p:sp>
        <p:nvSpPr>
          <p:cNvPr id="230" name="直接连接符 229"/>
          <p:cNvSpPr>
            <a:spLocks noGrp="1"/>
          </p:cNvSpPr>
          <p:nvPr/>
        </p:nvSpPr>
        <p:spPr>
          <a:xfrm>
            <a:off x="10296525" y="3143250"/>
            <a:ext cx="953" cy="5381625"/>
          </a:xfrm>
          <a:prstGeom prst="line">
            <a:avLst/>
          </a:prstGeom>
          <a:noFill/>
          <a:ln w="11430">
            <a:solidFill>
              <a:srgbClr val="6A737B"/>
            </a:solidFill>
          </a:ln>
        </p:spPr>
      </p:sp>
      <p:sp>
        <p:nvSpPr>
          <p:cNvPr id="231" name="直接连接符 230"/>
          <p:cNvSpPr>
            <a:spLocks noGrp="1"/>
          </p:cNvSpPr>
          <p:nvPr/>
        </p:nvSpPr>
        <p:spPr>
          <a:xfrm>
            <a:off x="10296525" y="3333750"/>
            <a:ext cx="254000" cy="953"/>
          </a:xfrm>
          <a:prstGeom prst="line">
            <a:avLst/>
          </a:prstGeom>
          <a:noFill/>
          <a:ln w="19050">
            <a:solidFill>
              <a:srgbClr val="277F8A"/>
            </a:solidFill>
          </a:ln>
        </p:spPr>
      </p:sp>
      <p:sp>
        <p:nvSpPr>
          <p:cNvPr id="232" name="椭圆 231"/>
          <p:cNvSpPr>
            <a:spLocks noGrp="1"/>
          </p:cNvSpPr>
          <p:nvPr/>
        </p:nvSpPr>
        <p:spPr>
          <a:xfrm>
            <a:off x="10507663" y="3290888"/>
            <a:ext cx="85725" cy="85725"/>
          </a:xfrm>
          <a:prstGeom prst="ellipse">
            <a:avLst/>
          </a:prstGeom>
          <a:solidFill>
            <a:srgbClr val="277F8A"/>
          </a:solidFill>
          <a:ln w="9525">
            <a:solidFill>
              <a:srgbClr val="277F8A"/>
            </a:solidFill>
          </a:ln>
        </p:spPr>
      </p:sp>
      <p:sp>
        <p:nvSpPr>
          <p:cNvPr id="233" name="直接连接符 232"/>
          <p:cNvSpPr>
            <a:spLocks noGrp="1"/>
          </p:cNvSpPr>
          <p:nvPr/>
        </p:nvSpPr>
        <p:spPr>
          <a:xfrm>
            <a:off x="10296525" y="3581400"/>
            <a:ext cx="953" cy="953"/>
          </a:xfrm>
          <a:prstGeom prst="line">
            <a:avLst/>
          </a:prstGeom>
          <a:noFill/>
          <a:ln w="19050">
            <a:solidFill>
              <a:srgbClr val="6A737B"/>
            </a:solidFill>
          </a:ln>
        </p:spPr>
      </p:sp>
      <p:sp>
        <p:nvSpPr>
          <p:cNvPr id="234" name="椭圆 233"/>
          <p:cNvSpPr>
            <a:spLocks noGrp="1"/>
          </p:cNvSpPr>
          <p:nvPr/>
        </p:nvSpPr>
        <p:spPr>
          <a:xfrm>
            <a:off x="10253663" y="3538538"/>
            <a:ext cx="85725" cy="85725"/>
          </a:xfrm>
          <a:prstGeom prst="ellipse">
            <a:avLst/>
          </a:prstGeom>
          <a:solidFill>
            <a:srgbClr val="6A737B"/>
          </a:solidFill>
          <a:ln w="9525">
            <a:solidFill>
              <a:srgbClr val="6A737B"/>
            </a:solidFill>
          </a:ln>
        </p:spPr>
      </p:sp>
      <p:sp>
        <p:nvSpPr>
          <p:cNvPr id="235" name="直接连接符 234"/>
          <p:cNvSpPr>
            <a:spLocks noGrp="1"/>
          </p:cNvSpPr>
          <p:nvPr/>
        </p:nvSpPr>
        <p:spPr>
          <a:xfrm>
            <a:off x="10296525" y="3829050"/>
            <a:ext cx="127000" cy="953"/>
          </a:xfrm>
          <a:prstGeom prst="line">
            <a:avLst/>
          </a:prstGeom>
          <a:noFill/>
          <a:ln w="19050">
            <a:solidFill>
              <a:srgbClr val="277F8A"/>
            </a:solidFill>
          </a:ln>
        </p:spPr>
      </p:sp>
      <p:sp>
        <p:nvSpPr>
          <p:cNvPr id="236" name="椭圆 235"/>
          <p:cNvSpPr>
            <a:spLocks noGrp="1"/>
          </p:cNvSpPr>
          <p:nvPr/>
        </p:nvSpPr>
        <p:spPr>
          <a:xfrm>
            <a:off x="10380663" y="3786188"/>
            <a:ext cx="85725" cy="85725"/>
          </a:xfrm>
          <a:prstGeom prst="ellipse">
            <a:avLst/>
          </a:prstGeom>
          <a:solidFill>
            <a:srgbClr val="277F8A"/>
          </a:solidFill>
          <a:ln w="9525">
            <a:solidFill>
              <a:srgbClr val="277F8A"/>
            </a:solidFill>
          </a:ln>
        </p:spPr>
      </p:sp>
      <p:sp>
        <p:nvSpPr>
          <p:cNvPr id="237" name="直接连接符 236"/>
          <p:cNvSpPr>
            <a:spLocks noGrp="1"/>
          </p:cNvSpPr>
          <p:nvPr/>
        </p:nvSpPr>
        <p:spPr>
          <a:xfrm>
            <a:off x="10296525" y="4267200"/>
            <a:ext cx="762000" cy="953"/>
          </a:xfrm>
          <a:prstGeom prst="line">
            <a:avLst/>
          </a:prstGeom>
          <a:noFill/>
          <a:ln w="19050">
            <a:solidFill>
              <a:srgbClr val="277F8A"/>
            </a:solidFill>
          </a:ln>
        </p:spPr>
      </p:sp>
      <p:sp>
        <p:nvSpPr>
          <p:cNvPr id="238" name="直接连接符 237"/>
          <p:cNvSpPr>
            <a:spLocks noGrp="1"/>
          </p:cNvSpPr>
          <p:nvPr/>
        </p:nvSpPr>
        <p:spPr>
          <a:xfrm>
            <a:off x="11015663" y="4224338"/>
            <a:ext cx="85725" cy="85725"/>
          </a:xfrm>
          <a:prstGeom prst="line">
            <a:avLst/>
          </a:prstGeom>
          <a:noFill/>
          <a:ln w="19050">
            <a:solidFill>
              <a:srgbClr val="277F8A"/>
            </a:solidFill>
          </a:ln>
        </p:spPr>
      </p:sp>
      <p:sp>
        <p:nvSpPr>
          <p:cNvPr id="239" name="直接连接符 238"/>
          <p:cNvSpPr>
            <a:spLocks noGrp="1"/>
          </p:cNvSpPr>
          <p:nvPr/>
        </p:nvSpPr>
        <p:spPr>
          <a:xfrm flipV="1">
            <a:off x="11015663" y="4224338"/>
            <a:ext cx="85725" cy="85725"/>
          </a:xfrm>
          <a:prstGeom prst="line">
            <a:avLst/>
          </a:prstGeom>
          <a:noFill/>
          <a:ln w="19050">
            <a:solidFill>
              <a:srgbClr val="277F8A"/>
            </a:solidFill>
          </a:ln>
        </p:spPr>
      </p:sp>
      <p:sp>
        <p:nvSpPr>
          <p:cNvPr id="240" name="直接连接符 239"/>
          <p:cNvSpPr>
            <a:spLocks noGrp="1"/>
          </p:cNvSpPr>
          <p:nvPr/>
        </p:nvSpPr>
        <p:spPr>
          <a:xfrm>
            <a:off x="10169525" y="4514850"/>
            <a:ext cx="127000" cy="953"/>
          </a:xfrm>
          <a:prstGeom prst="line">
            <a:avLst/>
          </a:prstGeom>
          <a:noFill/>
          <a:ln w="19050">
            <a:solidFill>
              <a:srgbClr val="A35F42"/>
            </a:solidFill>
          </a:ln>
        </p:spPr>
      </p:sp>
      <p:sp>
        <p:nvSpPr>
          <p:cNvPr id="241" name="椭圆 240"/>
          <p:cNvSpPr>
            <a:spLocks noGrp="1"/>
          </p:cNvSpPr>
          <p:nvPr/>
        </p:nvSpPr>
        <p:spPr>
          <a:xfrm>
            <a:off x="10126663" y="4471988"/>
            <a:ext cx="85725" cy="85725"/>
          </a:xfrm>
          <a:prstGeom prst="ellipse">
            <a:avLst/>
          </a:prstGeom>
          <a:solidFill>
            <a:srgbClr val="A35F42"/>
          </a:solidFill>
          <a:ln w="9525">
            <a:solidFill>
              <a:srgbClr val="A35F42"/>
            </a:solidFill>
          </a:ln>
        </p:spPr>
      </p:sp>
      <p:sp>
        <p:nvSpPr>
          <p:cNvPr id="242" name="直接连接符 241"/>
          <p:cNvSpPr>
            <a:spLocks noGrp="1"/>
          </p:cNvSpPr>
          <p:nvPr/>
        </p:nvSpPr>
        <p:spPr>
          <a:xfrm>
            <a:off x="10296525" y="4762500"/>
            <a:ext cx="953" cy="953"/>
          </a:xfrm>
          <a:prstGeom prst="line">
            <a:avLst/>
          </a:prstGeom>
          <a:noFill/>
          <a:ln w="19050">
            <a:solidFill>
              <a:srgbClr val="6A737B"/>
            </a:solidFill>
          </a:ln>
        </p:spPr>
      </p:sp>
      <p:sp>
        <p:nvSpPr>
          <p:cNvPr id="243" name="椭圆 242"/>
          <p:cNvSpPr>
            <a:spLocks noGrp="1"/>
          </p:cNvSpPr>
          <p:nvPr/>
        </p:nvSpPr>
        <p:spPr>
          <a:xfrm>
            <a:off x="10253663" y="4719638"/>
            <a:ext cx="85725" cy="85725"/>
          </a:xfrm>
          <a:prstGeom prst="ellipse">
            <a:avLst/>
          </a:prstGeom>
          <a:solidFill>
            <a:srgbClr val="6A737B"/>
          </a:solidFill>
          <a:ln w="9525">
            <a:solidFill>
              <a:srgbClr val="6A737B"/>
            </a:solidFill>
          </a:ln>
        </p:spPr>
      </p:sp>
      <p:sp>
        <p:nvSpPr>
          <p:cNvPr id="244" name="直接连接符 243"/>
          <p:cNvSpPr>
            <a:spLocks noGrp="1"/>
          </p:cNvSpPr>
          <p:nvPr/>
        </p:nvSpPr>
        <p:spPr>
          <a:xfrm>
            <a:off x="10296525" y="5200650"/>
            <a:ext cx="635000" cy="953"/>
          </a:xfrm>
          <a:prstGeom prst="line">
            <a:avLst/>
          </a:prstGeom>
          <a:noFill/>
          <a:ln w="19050">
            <a:solidFill>
              <a:srgbClr val="277F8A"/>
            </a:solidFill>
          </a:ln>
        </p:spPr>
      </p:sp>
      <p:sp>
        <p:nvSpPr>
          <p:cNvPr id="245" name="椭圆 244"/>
          <p:cNvSpPr>
            <a:spLocks noGrp="1"/>
          </p:cNvSpPr>
          <p:nvPr/>
        </p:nvSpPr>
        <p:spPr>
          <a:xfrm>
            <a:off x="10888663" y="5157788"/>
            <a:ext cx="85725" cy="85725"/>
          </a:xfrm>
          <a:prstGeom prst="ellipse">
            <a:avLst/>
          </a:prstGeom>
          <a:solidFill>
            <a:srgbClr val="277F8A"/>
          </a:solidFill>
          <a:ln w="9525">
            <a:solidFill>
              <a:srgbClr val="277F8A"/>
            </a:solidFill>
          </a:ln>
        </p:spPr>
      </p:sp>
      <p:sp>
        <p:nvSpPr>
          <p:cNvPr id="246" name="直接连接符 245"/>
          <p:cNvSpPr>
            <a:spLocks noGrp="1"/>
          </p:cNvSpPr>
          <p:nvPr/>
        </p:nvSpPr>
        <p:spPr>
          <a:xfrm>
            <a:off x="10169525" y="5448300"/>
            <a:ext cx="127000" cy="953"/>
          </a:xfrm>
          <a:prstGeom prst="line">
            <a:avLst/>
          </a:prstGeom>
          <a:noFill/>
          <a:ln w="19050">
            <a:solidFill>
              <a:srgbClr val="A35F42"/>
            </a:solidFill>
          </a:ln>
        </p:spPr>
      </p:sp>
      <p:sp>
        <p:nvSpPr>
          <p:cNvPr id="247" name="椭圆 246"/>
          <p:cNvSpPr>
            <a:spLocks noGrp="1"/>
          </p:cNvSpPr>
          <p:nvPr/>
        </p:nvSpPr>
        <p:spPr>
          <a:xfrm>
            <a:off x="10126663" y="5405438"/>
            <a:ext cx="85725" cy="85725"/>
          </a:xfrm>
          <a:prstGeom prst="ellipse">
            <a:avLst/>
          </a:prstGeom>
          <a:solidFill>
            <a:srgbClr val="A35F42"/>
          </a:solidFill>
          <a:ln w="9525">
            <a:solidFill>
              <a:srgbClr val="A35F42"/>
            </a:solidFill>
          </a:ln>
        </p:spPr>
      </p:sp>
      <p:sp>
        <p:nvSpPr>
          <p:cNvPr id="248" name="直接连接符 247"/>
          <p:cNvSpPr>
            <a:spLocks noGrp="1"/>
          </p:cNvSpPr>
          <p:nvPr/>
        </p:nvSpPr>
        <p:spPr>
          <a:xfrm>
            <a:off x="10296525" y="5695950"/>
            <a:ext cx="953" cy="953"/>
          </a:xfrm>
          <a:prstGeom prst="line">
            <a:avLst/>
          </a:prstGeom>
          <a:noFill/>
          <a:ln w="19050">
            <a:solidFill>
              <a:srgbClr val="6A737B"/>
            </a:solidFill>
          </a:ln>
        </p:spPr>
      </p:sp>
      <p:sp>
        <p:nvSpPr>
          <p:cNvPr id="249" name="椭圆 248"/>
          <p:cNvSpPr>
            <a:spLocks noGrp="1"/>
          </p:cNvSpPr>
          <p:nvPr/>
        </p:nvSpPr>
        <p:spPr>
          <a:xfrm>
            <a:off x="10253663" y="5653088"/>
            <a:ext cx="85725" cy="85725"/>
          </a:xfrm>
          <a:prstGeom prst="ellipse">
            <a:avLst/>
          </a:prstGeom>
          <a:solidFill>
            <a:srgbClr val="6A737B"/>
          </a:solidFill>
          <a:ln w="9525">
            <a:solidFill>
              <a:srgbClr val="6A737B"/>
            </a:solidFill>
          </a:ln>
        </p:spPr>
      </p:sp>
      <p:sp>
        <p:nvSpPr>
          <p:cNvPr id="250" name="直接连接符 249"/>
          <p:cNvSpPr>
            <a:spLocks noGrp="1"/>
          </p:cNvSpPr>
          <p:nvPr/>
        </p:nvSpPr>
        <p:spPr>
          <a:xfrm>
            <a:off x="10296525" y="6134100"/>
            <a:ext cx="127000" cy="953"/>
          </a:xfrm>
          <a:prstGeom prst="line">
            <a:avLst/>
          </a:prstGeom>
          <a:noFill/>
          <a:ln w="19050">
            <a:solidFill>
              <a:srgbClr val="277F8A"/>
            </a:solidFill>
          </a:ln>
        </p:spPr>
      </p:sp>
      <p:sp>
        <p:nvSpPr>
          <p:cNvPr id="251" name="椭圆 250"/>
          <p:cNvSpPr>
            <a:spLocks noGrp="1"/>
          </p:cNvSpPr>
          <p:nvPr/>
        </p:nvSpPr>
        <p:spPr>
          <a:xfrm>
            <a:off x="10380663" y="6091238"/>
            <a:ext cx="85725" cy="85725"/>
          </a:xfrm>
          <a:prstGeom prst="ellipse">
            <a:avLst/>
          </a:prstGeom>
          <a:solidFill>
            <a:srgbClr val="277F8A"/>
          </a:solidFill>
          <a:ln w="9525">
            <a:solidFill>
              <a:srgbClr val="277F8A"/>
            </a:solidFill>
          </a:ln>
        </p:spPr>
      </p:sp>
      <p:sp>
        <p:nvSpPr>
          <p:cNvPr id="252" name="直接连接符 251"/>
          <p:cNvSpPr>
            <a:spLocks noGrp="1"/>
          </p:cNvSpPr>
          <p:nvPr/>
        </p:nvSpPr>
        <p:spPr>
          <a:xfrm>
            <a:off x="10042525" y="6381750"/>
            <a:ext cx="254000" cy="953"/>
          </a:xfrm>
          <a:prstGeom prst="line">
            <a:avLst/>
          </a:prstGeom>
          <a:noFill/>
          <a:ln w="19050">
            <a:solidFill>
              <a:srgbClr val="A35F42"/>
            </a:solidFill>
          </a:ln>
        </p:spPr>
      </p:sp>
      <p:sp>
        <p:nvSpPr>
          <p:cNvPr id="253" name="椭圆 252"/>
          <p:cNvSpPr>
            <a:spLocks noGrp="1"/>
          </p:cNvSpPr>
          <p:nvPr/>
        </p:nvSpPr>
        <p:spPr>
          <a:xfrm>
            <a:off x="9999663" y="6338888"/>
            <a:ext cx="85725" cy="85725"/>
          </a:xfrm>
          <a:prstGeom prst="ellipse">
            <a:avLst/>
          </a:prstGeom>
          <a:solidFill>
            <a:srgbClr val="A35F42"/>
          </a:solidFill>
          <a:ln w="9525">
            <a:solidFill>
              <a:srgbClr val="A35F42"/>
            </a:solidFill>
          </a:ln>
        </p:spPr>
      </p:sp>
      <p:sp>
        <p:nvSpPr>
          <p:cNvPr id="254" name="直接连接符 253"/>
          <p:cNvSpPr>
            <a:spLocks noGrp="1"/>
          </p:cNvSpPr>
          <p:nvPr/>
        </p:nvSpPr>
        <p:spPr>
          <a:xfrm>
            <a:off x="10296525" y="6629400"/>
            <a:ext cx="953" cy="953"/>
          </a:xfrm>
          <a:prstGeom prst="line">
            <a:avLst/>
          </a:prstGeom>
          <a:noFill/>
          <a:ln w="19050">
            <a:solidFill>
              <a:srgbClr val="6A737B"/>
            </a:solidFill>
          </a:ln>
        </p:spPr>
      </p:sp>
      <p:sp>
        <p:nvSpPr>
          <p:cNvPr id="255" name="椭圆 254"/>
          <p:cNvSpPr>
            <a:spLocks noGrp="1"/>
          </p:cNvSpPr>
          <p:nvPr/>
        </p:nvSpPr>
        <p:spPr>
          <a:xfrm>
            <a:off x="10253663" y="6586538"/>
            <a:ext cx="85725" cy="85725"/>
          </a:xfrm>
          <a:prstGeom prst="ellipse">
            <a:avLst/>
          </a:prstGeom>
          <a:solidFill>
            <a:srgbClr val="6A737B"/>
          </a:solidFill>
          <a:ln w="9525">
            <a:solidFill>
              <a:srgbClr val="6A737B"/>
            </a:solidFill>
          </a:ln>
        </p:spPr>
      </p:sp>
      <p:sp>
        <p:nvSpPr>
          <p:cNvPr id="256" name="直接连接符 255"/>
          <p:cNvSpPr>
            <a:spLocks noGrp="1"/>
          </p:cNvSpPr>
          <p:nvPr/>
        </p:nvSpPr>
        <p:spPr>
          <a:xfrm>
            <a:off x="10296525" y="7067550"/>
            <a:ext cx="254000" cy="953"/>
          </a:xfrm>
          <a:prstGeom prst="line">
            <a:avLst/>
          </a:prstGeom>
          <a:noFill/>
          <a:ln w="19050">
            <a:solidFill>
              <a:srgbClr val="277F8A"/>
            </a:solidFill>
          </a:ln>
        </p:spPr>
      </p:sp>
      <p:sp>
        <p:nvSpPr>
          <p:cNvPr id="257" name="椭圆 256"/>
          <p:cNvSpPr>
            <a:spLocks noGrp="1"/>
          </p:cNvSpPr>
          <p:nvPr/>
        </p:nvSpPr>
        <p:spPr>
          <a:xfrm>
            <a:off x="10507663" y="7024688"/>
            <a:ext cx="85725" cy="85725"/>
          </a:xfrm>
          <a:prstGeom prst="ellipse">
            <a:avLst/>
          </a:prstGeom>
          <a:solidFill>
            <a:srgbClr val="277F8A"/>
          </a:solidFill>
          <a:ln w="9525">
            <a:solidFill>
              <a:srgbClr val="277F8A"/>
            </a:solidFill>
          </a:ln>
        </p:spPr>
      </p:sp>
      <p:sp>
        <p:nvSpPr>
          <p:cNvPr id="258" name="直接连接符 257"/>
          <p:cNvSpPr>
            <a:spLocks noGrp="1"/>
          </p:cNvSpPr>
          <p:nvPr/>
        </p:nvSpPr>
        <p:spPr>
          <a:xfrm>
            <a:off x="10296525" y="7315200"/>
            <a:ext cx="508000" cy="953"/>
          </a:xfrm>
          <a:prstGeom prst="line">
            <a:avLst/>
          </a:prstGeom>
          <a:noFill/>
          <a:ln w="19050">
            <a:solidFill>
              <a:srgbClr val="277F8A"/>
            </a:solidFill>
          </a:ln>
        </p:spPr>
      </p:sp>
      <p:sp>
        <p:nvSpPr>
          <p:cNvPr id="259" name="椭圆 258"/>
          <p:cNvSpPr>
            <a:spLocks noGrp="1"/>
          </p:cNvSpPr>
          <p:nvPr/>
        </p:nvSpPr>
        <p:spPr>
          <a:xfrm>
            <a:off x="10761663" y="7272338"/>
            <a:ext cx="85725" cy="85725"/>
          </a:xfrm>
          <a:prstGeom prst="ellipse">
            <a:avLst/>
          </a:prstGeom>
          <a:solidFill>
            <a:srgbClr val="277F8A"/>
          </a:solidFill>
          <a:ln w="9525">
            <a:solidFill>
              <a:srgbClr val="277F8A"/>
            </a:solidFill>
          </a:ln>
        </p:spPr>
      </p:sp>
      <p:sp>
        <p:nvSpPr>
          <p:cNvPr id="260" name="直接连接符 259"/>
          <p:cNvSpPr>
            <a:spLocks noGrp="1"/>
          </p:cNvSpPr>
          <p:nvPr/>
        </p:nvSpPr>
        <p:spPr>
          <a:xfrm>
            <a:off x="10042525" y="7562850"/>
            <a:ext cx="254000" cy="953"/>
          </a:xfrm>
          <a:prstGeom prst="line">
            <a:avLst/>
          </a:prstGeom>
          <a:noFill/>
          <a:ln w="19050">
            <a:solidFill>
              <a:srgbClr val="A35F42"/>
            </a:solidFill>
          </a:ln>
        </p:spPr>
      </p:sp>
      <p:sp>
        <p:nvSpPr>
          <p:cNvPr id="261" name="椭圆 260"/>
          <p:cNvSpPr>
            <a:spLocks noGrp="1"/>
          </p:cNvSpPr>
          <p:nvPr/>
        </p:nvSpPr>
        <p:spPr>
          <a:xfrm>
            <a:off x="9999663" y="7519988"/>
            <a:ext cx="85725" cy="85725"/>
          </a:xfrm>
          <a:prstGeom prst="ellipse">
            <a:avLst/>
          </a:prstGeom>
          <a:solidFill>
            <a:srgbClr val="A35F42"/>
          </a:solidFill>
          <a:ln w="9525">
            <a:solidFill>
              <a:srgbClr val="A35F42"/>
            </a:solidFill>
          </a:ln>
        </p:spPr>
      </p:sp>
      <p:sp>
        <p:nvSpPr>
          <p:cNvPr id="262" name="直接连接符 261"/>
          <p:cNvSpPr>
            <a:spLocks noGrp="1"/>
          </p:cNvSpPr>
          <p:nvPr/>
        </p:nvSpPr>
        <p:spPr>
          <a:xfrm>
            <a:off x="10296525" y="8296275"/>
            <a:ext cx="127000" cy="953"/>
          </a:xfrm>
          <a:prstGeom prst="line">
            <a:avLst/>
          </a:prstGeom>
          <a:noFill/>
          <a:ln w="23813">
            <a:solidFill>
              <a:srgbClr val="24292D"/>
            </a:solidFill>
          </a:ln>
        </p:spPr>
      </p:sp>
      <p:sp>
        <p:nvSpPr>
          <p:cNvPr id="263" name="菱形 262"/>
          <p:cNvSpPr>
            <a:spLocks noGrp="1"/>
          </p:cNvSpPr>
          <p:nvPr/>
        </p:nvSpPr>
        <p:spPr>
          <a:xfrm>
            <a:off x="10366375" y="8239125"/>
            <a:ext cx="114300" cy="114300"/>
          </a:xfrm>
          <a:prstGeom prst="diamond">
            <a:avLst/>
          </a:prstGeom>
          <a:solidFill>
            <a:srgbClr val="24292D"/>
          </a:solidFill>
          <a:ln w="9525">
            <a:solidFill>
              <a:srgbClr val="24292D"/>
            </a:solidFill>
          </a:ln>
        </p:spPr>
      </p:sp>
      <p:sp>
        <p:nvSpPr>
          <p:cNvPr id="264" name="直接连接符 263"/>
          <p:cNvSpPr>
            <a:spLocks noGrp="1"/>
          </p:cNvSpPr>
          <p:nvPr/>
        </p:nvSpPr>
        <p:spPr>
          <a:xfrm>
            <a:off x="9439275" y="8620125"/>
            <a:ext cx="1714500" cy="953"/>
          </a:xfrm>
          <a:prstGeom prst="line">
            <a:avLst/>
          </a:prstGeom>
          <a:noFill/>
          <a:ln w="12383">
            <a:solidFill>
              <a:srgbClr val="24292D"/>
            </a:solidFill>
          </a:ln>
        </p:spPr>
      </p:sp>
      <p:sp>
        <p:nvSpPr>
          <p:cNvPr id="265" name="直接连接符 264"/>
          <p:cNvSpPr>
            <a:spLocks noGrp="1"/>
          </p:cNvSpPr>
          <p:nvPr/>
        </p:nvSpPr>
        <p:spPr>
          <a:xfrm>
            <a:off x="9534525" y="8620125"/>
            <a:ext cx="953" cy="76200"/>
          </a:xfrm>
          <a:prstGeom prst="line">
            <a:avLst/>
          </a:prstGeom>
          <a:noFill/>
          <a:ln w="9525">
            <a:solidFill>
              <a:srgbClr val="24292D"/>
            </a:solidFill>
          </a:ln>
        </p:spPr>
      </p:sp>
      <p:sp>
        <p:nvSpPr>
          <p:cNvPr id="266" name="矩形 265"/>
          <p:cNvSpPr>
            <a:spLocks noGrp="1"/>
          </p:cNvSpPr>
          <p:nvPr/>
        </p:nvSpPr>
        <p:spPr>
          <a:xfrm>
            <a:off x="9201150" y="8734425"/>
            <a:ext cx="66675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-50</a:t>
            </a:r>
            <a:endParaRPr sz="1350" b="0">
              <a:solidFill>
                <a:srgbClr val="24292D"/>
              </a:solidFill>
              <a:latin typeface="Arial" panose="020B0604020202020204"/>
              <a:ea typeface="Arial" panose="020B0604020202020204"/>
              <a:cs typeface="Arial" panose="020B0604020202020204"/>
            </a:endParaRPr>
          </a:p>
        </p:txBody>
      </p:sp>
      <p:sp>
        <p:nvSpPr>
          <p:cNvPr id="267" name="直接连接符 266"/>
          <p:cNvSpPr>
            <a:spLocks noGrp="1"/>
          </p:cNvSpPr>
          <p:nvPr/>
        </p:nvSpPr>
        <p:spPr>
          <a:xfrm>
            <a:off x="10296525" y="8620125"/>
            <a:ext cx="953" cy="76200"/>
          </a:xfrm>
          <a:prstGeom prst="line">
            <a:avLst/>
          </a:prstGeom>
          <a:noFill/>
          <a:ln w="9525">
            <a:solidFill>
              <a:srgbClr val="24292D"/>
            </a:solidFill>
          </a:ln>
        </p:spPr>
      </p:sp>
      <p:sp>
        <p:nvSpPr>
          <p:cNvPr id="268" name="矩形 267"/>
          <p:cNvSpPr>
            <a:spLocks noGrp="1"/>
          </p:cNvSpPr>
          <p:nvPr/>
        </p:nvSpPr>
        <p:spPr>
          <a:xfrm>
            <a:off x="9963150" y="8734425"/>
            <a:ext cx="66675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0</a:t>
            </a:r>
            <a:endParaRPr sz="1350" b="0">
              <a:solidFill>
                <a:srgbClr val="24292D"/>
              </a:solidFill>
              <a:latin typeface="Arial" panose="020B0604020202020204"/>
              <a:ea typeface="Arial" panose="020B0604020202020204"/>
              <a:cs typeface="Arial" panose="020B0604020202020204"/>
            </a:endParaRPr>
          </a:p>
        </p:txBody>
      </p:sp>
      <p:sp>
        <p:nvSpPr>
          <p:cNvPr id="269" name="直接连接符 268"/>
          <p:cNvSpPr>
            <a:spLocks noGrp="1"/>
          </p:cNvSpPr>
          <p:nvPr/>
        </p:nvSpPr>
        <p:spPr>
          <a:xfrm>
            <a:off x="11058525" y="8620125"/>
            <a:ext cx="953" cy="76200"/>
          </a:xfrm>
          <a:prstGeom prst="line">
            <a:avLst/>
          </a:prstGeom>
          <a:noFill/>
          <a:ln w="9525">
            <a:solidFill>
              <a:srgbClr val="24292D"/>
            </a:solidFill>
          </a:ln>
        </p:spPr>
      </p:sp>
      <p:sp>
        <p:nvSpPr>
          <p:cNvPr id="270" name="矩形 269"/>
          <p:cNvSpPr>
            <a:spLocks noGrp="1"/>
          </p:cNvSpPr>
          <p:nvPr/>
        </p:nvSpPr>
        <p:spPr>
          <a:xfrm>
            <a:off x="10725150" y="8734425"/>
            <a:ext cx="66675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+50</a:t>
            </a:r>
            <a:endParaRPr sz="1350" b="0">
              <a:solidFill>
                <a:srgbClr val="24292D"/>
              </a:solidFill>
              <a:latin typeface="Arial" panose="020B0604020202020204"/>
              <a:ea typeface="Arial" panose="020B0604020202020204"/>
              <a:cs typeface="Arial" panose="020B0604020202020204"/>
            </a:endParaRPr>
          </a:p>
        </p:txBody>
      </p:sp>
      <p:sp>
        <p:nvSpPr>
          <p:cNvPr id="271" name="矩形 270"/>
          <p:cNvSpPr>
            <a:spLocks noGrp="1"/>
          </p:cNvSpPr>
          <p:nvPr/>
        </p:nvSpPr>
        <p:spPr>
          <a:xfrm>
            <a:off x="9363075" y="9048750"/>
            <a:ext cx="1866900" cy="5524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Coverage gain</a:t>
            </a:r>
            <a:endParaRPr sz="1350" b="0">
              <a:solidFill>
                <a:srgbClr val="24292D"/>
              </a:solidFill>
              <a:latin typeface="Arial" panose="020B0604020202020204"/>
              <a:ea typeface="Arial" panose="020B0604020202020204"/>
              <a:cs typeface="Arial" panose="020B0604020202020204"/>
            </a:endParaRPr>
          </a:p>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(percentage points)</a:t>
            </a:r>
            <a:endParaRPr sz="1350" b="0">
              <a:solidFill>
                <a:srgbClr val="24292D"/>
              </a:solidFill>
              <a:latin typeface="Arial" panose="020B0604020202020204"/>
              <a:ea typeface="Arial" panose="020B0604020202020204"/>
              <a:cs typeface="Arial" panose="020B0604020202020204"/>
            </a:endParaRPr>
          </a:p>
        </p:txBody>
      </p:sp>
      <p:sp>
        <p:nvSpPr>
          <p:cNvPr id="272" name="矩形 271"/>
          <p:cNvSpPr>
            <a:spLocks noGrp="1"/>
          </p:cNvSpPr>
          <p:nvPr/>
        </p:nvSpPr>
        <p:spPr>
          <a:xfrm>
            <a:off x="11410950" y="114300"/>
            <a:ext cx="381000" cy="342900"/>
          </a:xfrm>
          <a:prstGeom prst="rect">
            <a:avLst/>
          </a:prstGeom>
          <a:noFill/>
          <a:ln w="0">
            <a:noFill/>
          </a:ln>
        </p:spPr>
        <p:txBody>
          <a:bodyPr wrap="none" lIns="0" tIns="0" rIns="0" bIns="0" anchor="ctr">
            <a:noAutofit/>
          </a:bodyPr>
          <a:lstStyle/>
          <a:p>
            <a:pPr algn="l">
              <a:defRPr sz="2025" b="1">
                <a:solidFill>
                  <a:srgbClr val="24292D"/>
                </a:solidFill>
                <a:latin typeface="Arial" panose="020B0604020202020204"/>
                <a:ea typeface="Arial" panose="020B0604020202020204"/>
                <a:cs typeface="Arial" panose="020B0604020202020204"/>
              </a:defRPr>
            </a:pPr>
            <a:r>
              <a:rPr sz="2025" b="1">
                <a:solidFill>
                  <a:srgbClr val="24292D"/>
                </a:solidFill>
                <a:latin typeface="Arial" panose="020B0604020202020204"/>
                <a:ea typeface="Arial" panose="020B0604020202020204"/>
                <a:cs typeface="Arial" panose="020B0604020202020204"/>
              </a:rPr>
              <a:t>f</a:t>
            </a:r>
            <a:endParaRPr sz="2025" b="1">
              <a:solidFill>
                <a:srgbClr val="24292D"/>
              </a:solidFill>
              <a:latin typeface="Arial" panose="020B0604020202020204"/>
              <a:ea typeface="Arial" panose="020B0604020202020204"/>
              <a:cs typeface="Arial" panose="020B0604020202020204"/>
            </a:endParaRPr>
          </a:p>
        </p:txBody>
      </p:sp>
      <p:sp>
        <p:nvSpPr>
          <p:cNvPr id="273" name="矩形 272"/>
          <p:cNvSpPr>
            <a:spLocks noGrp="1"/>
          </p:cNvSpPr>
          <p:nvPr/>
        </p:nvSpPr>
        <p:spPr>
          <a:xfrm>
            <a:off x="11334750" y="495300"/>
            <a:ext cx="1866900" cy="657225"/>
          </a:xfrm>
          <a:prstGeom prst="rect">
            <a:avLst/>
          </a:prstGeom>
          <a:noFill/>
          <a:ln w="0">
            <a:noFill/>
          </a:ln>
        </p:spPr>
        <p:txBody>
          <a:bodyPr wrap="none" lIns="0" tIns="0" rIns="0" bIns="0" anchor="ctr">
            <a:noAutofit/>
          </a:bodyPr>
          <a:lstStyle/>
          <a:p>
            <a:pPr algn="ctr">
              <a:defRPr sz="1350" b="1">
                <a:solidFill>
                  <a:srgbClr val="24292D"/>
                </a:solidFill>
                <a:latin typeface="Arial" panose="020B0604020202020204"/>
                <a:ea typeface="Arial" panose="020B0604020202020204"/>
                <a:cs typeface="Arial" panose="020B0604020202020204"/>
              </a:defRPr>
            </a:pPr>
            <a:r>
              <a:rPr sz="1350" b="1">
                <a:solidFill>
                  <a:srgbClr val="24292D"/>
                </a:solidFill>
                <a:latin typeface="Arial" panose="020B0604020202020204"/>
                <a:ea typeface="Arial" panose="020B0604020202020204"/>
                <a:cs typeface="Arial" panose="020B0604020202020204"/>
              </a:rPr>
              <a:t>Crystallization</a:t>
            </a:r>
            <a:endParaRPr sz="1350" b="1">
              <a:solidFill>
                <a:srgbClr val="24292D"/>
              </a:solidFill>
              <a:latin typeface="Arial" panose="020B0604020202020204"/>
              <a:ea typeface="Arial" panose="020B0604020202020204"/>
              <a:cs typeface="Arial" panose="020B0604020202020204"/>
            </a:endParaRPr>
          </a:p>
          <a:p>
            <a:pPr algn="ctr">
              <a:defRPr sz="1350" b="1">
                <a:solidFill>
                  <a:srgbClr val="24292D"/>
                </a:solidFill>
                <a:latin typeface="Arial" panose="020B0604020202020204"/>
                <a:ea typeface="Arial" panose="020B0604020202020204"/>
                <a:cs typeface="Arial" panose="020B0604020202020204"/>
              </a:defRPr>
            </a:pPr>
            <a:r>
              <a:rPr sz="1350" b="1">
                <a:solidFill>
                  <a:srgbClr val="24292D"/>
                </a:solidFill>
                <a:latin typeface="Arial" panose="020B0604020202020204"/>
                <a:ea typeface="Arial" panose="020B0604020202020204"/>
                <a:cs typeface="Arial" panose="020B0604020202020204"/>
              </a:rPr>
              <a:t>Operating delivery</a:t>
            </a:r>
            <a:endParaRPr sz="1350" b="1">
              <a:solidFill>
                <a:srgbClr val="24292D"/>
              </a:solidFill>
              <a:latin typeface="Arial" panose="020B0604020202020204"/>
              <a:ea typeface="Arial" panose="020B0604020202020204"/>
              <a:cs typeface="Arial" panose="020B0604020202020204"/>
            </a:endParaRPr>
          </a:p>
        </p:txBody>
      </p:sp>
      <p:sp>
        <p:nvSpPr>
          <p:cNvPr id="274" name="矩形 273"/>
          <p:cNvSpPr>
            <a:spLocks noGrp="1"/>
          </p:cNvSpPr>
          <p:nvPr/>
        </p:nvSpPr>
        <p:spPr>
          <a:xfrm>
            <a:off x="11334750" y="1133475"/>
            <a:ext cx="1866900" cy="457200"/>
          </a:xfrm>
          <a:prstGeom prst="rect">
            <a:avLst/>
          </a:prstGeom>
          <a:noFill/>
          <a:ln w="0">
            <a:noFill/>
          </a:ln>
        </p:spPr>
        <p:txBody>
          <a:bodyPr wrap="none" lIns="0" tIns="0" rIns="0" bIns="0" anchor="ctr">
            <a:noAutofit/>
          </a:bodyPr>
          <a:lstStyle/>
          <a:p>
            <a:pPr algn="ctr">
              <a:defRPr sz="1350" b="0">
                <a:solidFill>
                  <a:srgbClr val="6A737B"/>
                </a:solidFill>
                <a:latin typeface="Arial" panose="020B0604020202020204"/>
                <a:ea typeface="Arial" panose="020B0604020202020204"/>
                <a:cs typeface="Arial" panose="020B0604020202020204"/>
              </a:defRPr>
            </a:pPr>
            <a:r>
              <a:rPr sz="1350" b="0">
                <a:solidFill>
                  <a:srgbClr val="6A737B"/>
                </a:solidFill>
                <a:latin typeface="Arial" panose="020B0604020202020204"/>
                <a:ea typeface="Arial" panose="020B0604020202020204"/>
                <a:cs typeface="Arial" panose="020B0604020202020204"/>
              </a:rPr>
              <a:t>Retested recovery</a:t>
            </a:r>
            <a:endParaRPr sz="1350" b="0">
              <a:solidFill>
                <a:srgbClr val="6A737B"/>
              </a:solidFill>
              <a:latin typeface="Arial" panose="020B0604020202020204"/>
              <a:ea typeface="Arial" panose="020B0604020202020204"/>
              <a:cs typeface="Arial" panose="020B0604020202020204"/>
            </a:endParaRPr>
          </a:p>
        </p:txBody>
      </p:sp>
      <p:sp>
        <p:nvSpPr>
          <p:cNvPr id="275" name="矩形 274"/>
          <p:cNvSpPr>
            <a:spLocks noGrp="1"/>
          </p:cNvSpPr>
          <p:nvPr/>
        </p:nvSpPr>
        <p:spPr>
          <a:xfrm>
            <a:off x="11410950" y="1638300"/>
            <a:ext cx="1714500" cy="304800"/>
          </a:xfrm>
          <a:prstGeom prst="rect">
            <a:avLst/>
          </a:prstGeom>
          <a:noFill/>
          <a:ln w="0">
            <a:noFill/>
          </a:ln>
        </p:spPr>
        <p:txBody>
          <a:bodyPr wrap="none" lIns="0" tIns="0" rIns="0" bIns="0" anchor="ctr">
            <a:noAutofit/>
          </a:bodyPr>
          <a:lstStyle/>
          <a:p>
            <a:pPr algn="ctr">
              <a:defRPr sz="1500" b="0">
                <a:solidFill>
                  <a:srgbClr val="416B92"/>
                </a:solidFill>
                <a:latin typeface="Arial" panose="020B0604020202020204"/>
                <a:ea typeface="Arial" panose="020B0604020202020204"/>
                <a:cs typeface="Arial" panose="020B0604020202020204"/>
              </a:defRPr>
            </a:pPr>
            <a:r>
              <a:rPr sz="1500" b="0">
                <a:solidFill>
                  <a:srgbClr val="416B92"/>
                </a:solidFill>
                <a:latin typeface="Arial" panose="020B0604020202020204"/>
                <a:ea typeface="Arial" panose="020B0604020202020204"/>
                <a:cs typeface="Arial" panose="020B0604020202020204"/>
              </a:rPr>
              <a:t>0.4205</a:t>
            </a:r>
            <a:endParaRPr sz="1500" b="0">
              <a:solidFill>
                <a:srgbClr val="416B92"/>
              </a:solidFill>
              <a:latin typeface="Arial" panose="020B0604020202020204"/>
              <a:ea typeface="Arial" panose="020B0604020202020204"/>
              <a:cs typeface="Arial" panose="020B0604020202020204"/>
            </a:endParaRPr>
          </a:p>
        </p:txBody>
      </p:sp>
      <p:sp>
        <p:nvSpPr>
          <p:cNvPr id="276" name="矩形 275"/>
          <p:cNvSpPr>
            <a:spLocks noGrp="1"/>
          </p:cNvSpPr>
          <p:nvPr/>
        </p:nvSpPr>
        <p:spPr>
          <a:xfrm>
            <a:off x="11410950" y="2009775"/>
            <a:ext cx="1714500" cy="304800"/>
          </a:xfrm>
          <a:prstGeom prst="rect">
            <a:avLst/>
          </a:prstGeom>
          <a:noFill/>
          <a:ln w="0">
            <a:noFill/>
          </a:ln>
        </p:spPr>
        <p:txBody>
          <a:bodyPr wrap="none" lIns="0" tIns="0" rIns="0" bIns="0" anchor="ctr">
            <a:noAutofit/>
          </a:bodyPr>
          <a:lstStyle/>
          <a:p>
            <a:pPr algn="ctr">
              <a:defRPr sz="1500" b="0">
                <a:solidFill>
                  <a:srgbClr val="277F8A"/>
                </a:solidFill>
                <a:latin typeface="Arial" panose="020B0604020202020204"/>
                <a:ea typeface="Arial" panose="020B0604020202020204"/>
                <a:cs typeface="Arial" panose="020B0604020202020204"/>
              </a:defRPr>
            </a:pPr>
            <a:r>
              <a:rPr sz="1500" b="0">
                <a:solidFill>
                  <a:srgbClr val="277F8A"/>
                </a:solidFill>
                <a:latin typeface="Arial" panose="020B0604020202020204"/>
                <a:ea typeface="Arial" panose="020B0604020202020204"/>
                <a:cs typeface="Arial" panose="020B0604020202020204"/>
              </a:rPr>
              <a:t>0.3994</a:t>
            </a:r>
            <a:endParaRPr sz="1500" b="0">
              <a:solidFill>
                <a:srgbClr val="277F8A"/>
              </a:solidFill>
              <a:latin typeface="Arial" panose="020B0604020202020204"/>
              <a:ea typeface="Arial" panose="020B0604020202020204"/>
              <a:cs typeface="Arial" panose="020B0604020202020204"/>
            </a:endParaRPr>
          </a:p>
        </p:txBody>
      </p:sp>
      <p:sp>
        <p:nvSpPr>
          <p:cNvPr id="277" name="矩形 276"/>
          <p:cNvSpPr>
            <a:spLocks noGrp="1"/>
          </p:cNvSpPr>
          <p:nvPr/>
        </p:nvSpPr>
        <p:spPr>
          <a:xfrm>
            <a:off x="11410950" y="2390775"/>
            <a:ext cx="1714500" cy="304800"/>
          </a:xfrm>
          <a:prstGeom prst="rect">
            <a:avLst/>
          </a:prstGeom>
          <a:noFill/>
          <a:ln w="0">
            <a:noFill/>
          </a:ln>
        </p:spPr>
        <p:txBody>
          <a:bodyPr wrap="none" lIns="0" tIns="0" rIns="0" bIns="0" anchor="ctr">
            <a:noAutofit/>
          </a:bodyPr>
          <a:lstStyle/>
          <a:p>
            <a:pPr algn="ctr">
              <a:defRPr sz="1500" b="1">
                <a:solidFill>
                  <a:srgbClr val="24292D"/>
                </a:solidFill>
                <a:latin typeface="Arial" panose="020B0604020202020204"/>
                <a:ea typeface="Arial" panose="020B0604020202020204"/>
                <a:cs typeface="Arial" panose="020B0604020202020204"/>
              </a:defRPr>
            </a:pPr>
            <a:r>
              <a:rPr sz="1500" b="1">
                <a:solidFill>
                  <a:srgbClr val="24292D"/>
                </a:solidFill>
                <a:latin typeface="Arial" panose="020B0604020202020204"/>
                <a:ea typeface="Arial" panose="020B0604020202020204"/>
                <a:cs typeface="Arial" panose="020B0604020202020204"/>
              </a:rPr>
              <a:t>7/15</a:t>
            </a:r>
            <a:endParaRPr sz="1500" b="1">
              <a:solidFill>
                <a:srgbClr val="24292D"/>
              </a:solidFill>
              <a:latin typeface="Arial" panose="020B0604020202020204"/>
              <a:ea typeface="Arial" panose="020B0604020202020204"/>
              <a:cs typeface="Arial" panose="020B0604020202020204"/>
            </a:endParaRPr>
          </a:p>
        </p:txBody>
      </p:sp>
      <p:sp>
        <p:nvSpPr>
          <p:cNvPr id="278" name="直接连接符 277"/>
          <p:cNvSpPr>
            <a:spLocks noGrp="1"/>
          </p:cNvSpPr>
          <p:nvPr/>
        </p:nvSpPr>
        <p:spPr>
          <a:xfrm>
            <a:off x="11410950" y="2857500"/>
            <a:ext cx="1714500" cy="953"/>
          </a:xfrm>
          <a:prstGeom prst="line">
            <a:avLst/>
          </a:prstGeom>
          <a:noFill/>
          <a:ln w="14288">
            <a:solidFill>
              <a:srgbClr val="D7DDE1"/>
            </a:solidFill>
          </a:ln>
        </p:spPr>
      </p:sp>
      <p:sp>
        <p:nvSpPr>
          <p:cNvPr id="279" name="直接连接符 278"/>
          <p:cNvSpPr>
            <a:spLocks noGrp="1"/>
          </p:cNvSpPr>
          <p:nvPr/>
        </p:nvSpPr>
        <p:spPr>
          <a:xfrm>
            <a:off x="12268200" y="3143250"/>
            <a:ext cx="953" cy="5381625"/>
          </a:xfrm>
          <a:prstGeom prst="line">
            <a:avLst/>
          </a:prstGeom>
          <a:noFill/>
          <a:ln w="11430">
            <a:solidFill>
              <a:srgbClr val="6A737B"/>
            </a:solidFill>
          </a:ln>
        </p:spPr>
      </p:sp>
      <p:sp>
        <p:nvSpPr>
          <p:cNvPr id="280" name="直接连接符 279"/>
          <p:cNvSpPr>
            <a:spLocks noGrp="1"/>
          </p:cNvSpPr>
          <p:nvPr/>
        </p:nvSpPr>
        <p:spPr>
          <a:xfrm>
            <a:off x="12268200" y="3333750"/>
            <a:ext cx="21698" cy="953"/>
          </a:xfrm>
          <a:prstGeom prst="line">
            <a:avLst/>
          </a:prstGeom>
          <a:noFill/>
          <a:ln w="19050">
            <a:solidFill>
              <a:srgbClr val="277F8A"/>
            </a:solidFill>
          </a:ln>
        </p:spPr>
      </p:sp>
      <p:sp>
        <p:nvSpPr>
          <p:cNvPr id="281" name="椭圆 280"/>
          <p:cNvSpPr>
            <a:spLocks noGrp="1"/>
          </p:cNvSpPr>
          <p:nvPr/>
        </p:nvSpPr>
        <p:spPr>
          <a:xfrm>
            <a:off x="12247035" y="3290888"/>
            <a:ext cx="85725" cy="85725"/>
          </a:xfrm>
          <a:prstGeom prst="ellipse">
            <a:avLst/>
          </a:prstGeom>
          <a:solidFill>
            <a:srgbClr val="277F8A"/>
          </a:solidFill>
          <a:ln w="9525">
            <a:solidFill>
              <a:srgbClr val="277F8A"/>
            </a:solidFill>
          </a:ln>
        </p:spPr>
      </p:sp>
      <p:sp>
        <p:nvSpPr>
          <p:cNvPr id="282" name="直接连接符 281"/>
          <p:cNvSpPr>
            <a:spLocks noGrp="1"/>
          </p:cNvSpPr>
          <p:nvPr/>
        </p:nvSpPr>
        <p:spPr>
          <a:xfrm>
            <a:off x="12268200" y="3581400"/>
            <a:ext cx="52350" cy="953"/>
          </a:xfrm>
          <a:prstGeom prst="line">
            <a:avLst/>
          </a:prstGeom>
          <a:noFill/>
          <a:ln w="19050">
            <a:solidFill>
              <a:srgbClr val="277F8A"/>
            </a:solidFill>
          </a:ln>
        </p:spPr>
      </p:sp>
      <p:sp>
        <p:nvSpPr>
          <p:cNvPr id="283" name="椭圆 282"/>
          <p:cNvSpPr>
            <a:spLocks noGrp="1"/>
          </p:cNvSpPr>
          <p:nvPr/>
        </p:nvSpPr>
        <p:spPr>
          <a:xfrm>
            <a:off x="12277687" y="3538538"/>
            <a:ext cx="85725" cy="85725"/>
          </a:xfrm>
          <a:prstGeom prst="ellipse">
            <a:avLst/>
          </a:prstGeom>
          <a:solidFill>
            <a:srgbClr val="277F8A"/>
          </a:solidFill>
          <a:ln w="9525">
            <a:solidFill>
              <a:srgbClr val="277F8A"/>
            </a:solidFill>
          </a:ln>
        </p:spPr>
      </p:sp>
      <p:sp>
        <p:nvSpPr>
          <p:cNvPr id="284" name="直接连接符 283"/>
          <p:cNvSpPr>
            <a:spLocks noGrp="1"/>
          </p:cNvSpPr>
          <p:nvPr/>
        </p:nvSpPr>
        <p:spPr>
          <a:xfrm>
            <a:off x="12268200" y="3829050"/>
            <a:ext cx="84690" cy="953"/>
          </a:xfrm>
          <a:prstGeom prst="line">
            <a:avLst/>
          </a:prstGeom>
          <a:noFill/>
          <a:ln w="19050">
            <a:solidFill>
              <a:srgbClr val="277F8A"/>
            </a:solidFill>
          </a:ln>
        </p:spPr>
      </p:sp>
      <p:sp>
        <p:nvSpPr>
          <p:cNvPr id="285" name="椭圆 284"/>
          <p:cNvSpPr>
            <a:spLocks noGrp="1"/>
          </p:cNvSpPr>
          <p:nvPr/>
        </p:nvSpPr>
        <p:spPr>
          <a:xfrm>
            <a:off x="12310028" y="3786188"/>
            <a:ext cx="85725" cy="85725"/>
          </a:xfrm>
          <a:prstGeom prst="ellipse">
            <a:avLst/>
          </a:prstGeom>
          <a:solidFill>
            <a:srgbClr val="277F8A"/>
          </a:solidFill>
          <a:ln w="9525">
            <a:solidFill>
              <a:srgbClr val="277F8A"/>
            </a:solidFill>
          </a:ln>
        </p:spPr>
      </p:sp>
      <p:sp>
        <p:nvSpPr>
          <p:cNvPr id="286" name="直接连接符 285"/>
          <p:cNvSpPr>
            <a:spLocks noGrp="1"/>
          </p:cNvSpPr>
          <p:nvPr/>
        </p:nvSpPr>
        <p:spPr>
          <a:xfrm>
            <a:off x="12268200" y="4267200"/>
            <a:ext cx="697663" cy="953"/>
          </a:xfrm>
          <a:prstGeom prst="line">
            <a:avLst/>
          </a:prstGeom>
          <a:noFill/>
          <a:ln w="19050">
            <a:solidFill>
              <a:srgbClr val="277F8A"/>
            </a:solidFill>
          </a:ln>
        </p:spPr>
      </p:sp>
      <p:sp>
        <p:nvSpPr>
          <p:cNvPr id="287" name="直接连接符 286"/>
          <p:cNvSpPr>
            <a:spLocks noGrp="1"/>
          </p:cNvSpPr>
          <p:nvPr/>
        </p:nvSpPr>
        <p:spPr>
          <a:xfrm>
            <a:off x="12923001" y="4224338"/>
            <a:ext cx="85725" cy="85725"/>
          </a:xfrm>
          <a:prstGeom prst="line">
            <a:avLst/>
          </a:prstGeom>
          <a:noFill/>
          <a:ln w="19050">
            <a:solidFill>
              <a:srgbClr val="277F8A"/>
            </a:solidFill>
          </a:ln>
        </p:spPr>
      </p:sp>
      <p:sp>
        <p:nvSpPr>
          <p:cNvPr id="288" name="直接连接符 287"/>
          <p:cNvSpPr>
            <a:spLocks noGrp="1"/>
          </p:cNvSpPr>
          <p:nvPr/>
        </p:nvSpPr>
        <p:spPr>
          <a:xfrm flipV="1">
            <a:off x="12923001" y="4224338"/>
            <a:ext cx="85725" cy="85725"/>
          </a:xfrm>
          <a:prstGeom prst="line">
            <a:avLst/>
          </a:prstGeom>
          <a:noFill/>
          <a:ln w="19050">
            <a:solidFill>
              <a:srgbClr val="277F8A"/>
            </a:solidFill>
          </a:ln>
        </p:spPr>
      </p:sp>
      <p:sp>
        <p:nvSpPr>
          <p:cNvPr id="289" name="直接连接符 288"/>
          <p:cNvSpPr>
            <a:spLocks noGrp="1"/>
          </p:cNvSpPr>
          <p:nvPr/>
        </p:nvSpPr>
        <p:spPr>
          <a:xfrm>
            <a:off x="12058496" y="4514850"/>
            <a:ext cx="209704" cy="953"/>
          </a:xfrm>
          <a:prstGeom prst="line">
            <a:avLst/>
          </a:prstGeom>
          <a:noFill/>
          <a:ln w="19050">
            <a:solidFill>
              <a:srgbClr val="A35F42"/>
            </a:solidFill>
          </a:ln>
        </p:spPr>
      </p:sp>
      <p:sp>
        <p:nvSpPr>
          <p:cNvPr id="290" name="椭圆 289"/>
          <p:cNvSpPr>
            <a:spLocks noGrp="1"/>
          </p:cNvSpPr>
          <p:nvPr/>
        </p:nvSpPr>
        <p:spPr>
          <a:xfrm>
            <a:off x="12015634" y="4471988"/>
            <a:ext cx="85725" cy="85725"/>
          </a:xfrm>
          <a:prstGeom prst="ellipse">
            <a:avLst/>
          </a:prstGeom>
          <a:solidFill>
            <a:srgbClr val="A35F42"/>
          </a:solidFill>
          <a:ln w="9525">
            <a:solidFill>
              <a:srgbClr val="A35F42"/>
            </a:solidFill>
          </a:ln>
        </p:spPr>
      </p:sp>
      <p:sp>
        <p:nvSpPr>
          <p:cNvPr id="291" name="直接连接符 290"/>
          <p:cNvSpPr>
            <a:spLocks noGrp="1"/>
          </p:cNvSpPr>
          <p:nvPr/>
        </p:nvSpPr>
        <p:spPr>
          <a:xfrm>
            <a:off x="12268200" y="4762500"/>
            <a:ext cx="671855" cy="953"/>
          </a:xfrm>
          <a:prstGeom prst="line">
            <a:avLst/>
          </a:prstGeom>
          <a:noFill/>
          <a:ln w="19050">
            <a:solidFill>
              <a:srgbClr val="277F8A"/>
            </a:solidFill>
          </a:ln>
        </p:spPr>
      </p:sp>
      <p:sp>
        <p:nvSpPr>
          <p:cNvPr id="292" name="椭圆 291"/>
          <p:cNvSpPr>
            <a:spLocks noGrp="1"/>
          </p:cNvSpPr>
          <p:nvPr/>
        </p:nvSpPr>
        <p:spPr>
          <a:xfrm>
            <a:off x="12897193" y="4719638"/>
            <a:ext cx="85725" cy="85725"/>
          </a:xfrm>
          <a:prstGeom prst="ellipse">
            <a:avLst/>
          </a:prstGeom>
          <a:solidFill>
            <a:srgbClr val="277F8A"/>
          </a:solidFill>
          <a:ln w="9525">
            <a:solidFill>
              <a:srgbClr val="277F8A"/>
            </a:solidFill>
          </a:ln>
        </p:spPr>
      </p:sp>
      <p:sp>
        <p:nvSpPr>
          <p:cNvPr id="293" name="直接连接符 292"/>
          <p:cNvSpPr>
            <a:spLocks noGrp="1"/>
          </p:cNvSpPr>
          <p:nvPr/>
        </p:nvSpPr>
        <p:spPr>
          <a:xfrm>
            <a:off x="12197625" y="5200650"/>
            <a:ext cx="70575" cy="953"/>
          </a:xfrm>
          <a:prstGeom prst="line">
            <a:avLst/>
          </a:prstGeom>
          <a:noFill/>
          <a:ln w="19050">
            <a:solidFill>
              <a:srgbClr val="A35F42"/>
            </a:solidFill>
          </a:ln>
        </p:spPr>
      </p:sp>
      <p:sp>
        <p:nvSpPr>
          <p:cNvPr id="294" name="椭圆 293"/>
          <p:cNvSpPr>
            <a:spLocks noGrp="1"/>
          </p:cNvSpPr>
          <p:nvPr/>
        </p:nvSpPr>
        <p:spPr>
          <a:xfrm>
            <a:off x="12154763" y="5157788"/>
            <a:ext cx="85725" cy="85725"/>
          </a:xfrm>
          <a:prstGeom prst="ellipse">
            <a:avLst/>
          </a:prstGeom>
          <a:solidFill>
            <a:srgbClr val="A35F42"/>
          </a:solidFill>
          <a:ln w="9525">
            <a:solidFill>
              <a:srgbClr val="A35F42"/>
            </a:solidFill>
          </a:ln>
        </p:spPr>
      </p:sp>
      <p:sp>
        <p:nvSpPr>
          <p:cNvPr id="295" name="直接连接符 294"/>
          <p:cNvSpPr>
            <a:spLocks noGrp="1"/>
          </p:cNvSpPr>
          <p:nvPr/>
        </p:nvSpPr>
        <p:spPr>
          <a:xfrm>
            <a:off x="12226700" y="5448300"/>
            <a:ext cx="41500" cy="953"/>
          </a:xfrm>
          <a:prstGeom prst="line">
            <a:avLst/>
          </a:prstGeom>
          <a:noFill/>
          <a:ln w="19050">
            <a:solidFill>
              <a:srgbClr val="A35F42"/>
            </a:solidFill>
          </a:ln>
        </p:spPr>
      </p:sp>
      <p:sp>
        <p:nvSpPr>
          <p:cNvPr id="296" name="椭圆 295"/>
          <p:cNvSpPr>
            <a:spLocks noGrp="1"/>
          </p:cNvSpPr>
          <p:nvPr/>
        </p:nvSpPr>
        <p:spPr>
          <a:xfrm>
            <a:off x="12183838" y="5405438"/>
            <a:ext cx="85725" cy="85725"/>
          </a:xfrm>
          <a:prstGeom prst="ellipse">
            <a:avLst/>
          </a:prstGeom>
          <a:solidFill>
            <a:srgbClr val="A35F42"/>
          </a:solidFill>
          <a:ln w="9525">
            <a:solidFill>
              <a:srgbClr val="A35F42"/>
            </a:solidFill>
          </a:ln>
        </p:spPr>
      </p:sp>
      <p:sp>
        <p:nvSpPr>
          <p:cNvPr id="297" name="直接连接符 296"/>
          <p:cNvSpPr>
            <a:spLocks noGrp="1"/>
          </p:cNvSpPr>
          <p:nvPr/>
        </p:nvSpPr>
        <p:spPr>
          <a:xfrm>
            <a:off x="11986106" y="5695950"/>
            <a:ext cx="282094" cy="953"/>
          </a:xfrm>
          <a:prstGeom prst="line">
            <a:avLst/>
          </a:prstGeom>
          <a:noFill/>
          <a:ln w="19050">
            <a:solidFill>
              <a:srgbClr val="A35F42"/>
            </a:solidFill>
          </a:ln>
        </p:spPr>
      </p:sp>
      <p:sp>
        <p:nvSpPr>
          <p:cNvPr id="298" name="椭圆 297"/>
          <p:cNvSpPr>
            <a:spLocks noGrp="1"/>
          </p:cNvSpPr>
          <p:nvPr/>
        </p:nvSpPr>
        <p:spPr>
          <a:xfrm>
            <a:off x="11943243" y="5653088"/>
            <a:ext cx="85725" cy="85725"/>
          </a:xfrm>
          <a:prstGeom prst="ellipse">
            <a:avLst/>
          </a:prstGeom>
          <a:solidFill>
            <a:srgbClr val="A35F42"/>
          </a:solidFill>
          <a:ln w="9525">
            <a:solidFill>
              <a:srgbClr val="A35F42"/>
            </a:solidFill>
          </a:ln>
        </p:spPr>
      </p:sp>
      <p:sp>
        <p:nvSpPr>
          <p:cNvPr id="299" name="直接连接符 298"/>
          <p:cNvSpPr>
            <a:spLocks noGrp="1"/>
          </p:cNvSpPr>
          <p:nvPr/>
        </p:nvSpPr>
        <p:spPr>
          <a:xfrm>
            <a:off x="11696236" y="6134100"/>
            <a:ext cx="571964" cy="953"/>
          </a:xfrm>
          <a:prstGeom prst="line">
            <a:avLst/>
          </a:prstGeom>
          <a:noFill/>
          <a:ln w="19050">
            <a:solidFill>
              <a:srgbClr val="A35F42"/>
            </a:solidFill>
          </a:ln>
        </p:spPr>
      </p:sp>
      <p:sp>
        <p:nvSpPr>
          <p:cNvPr id="300" name="椭圆 299"/>
          <p:cNvSpPr>
            <a:spLocks noGrp="1"/>
          </p:cNvSpPr>
          <p:nvPr/>
        </p:nvSpPr>
        <p:spPr>
          <a:xfrm>
            <a:off x="11653374" y="6091238"/>
            <a:ext cx="85725" cy="85725"/>
          </a:xfrm>
          <a:prstGeom prst="ellipse">
            <a:avLst/>
          </a:prstGeom>
          <a:solidFill>
            <a:srgbClr val="A35F42"/>
          </a:solidFill>
          <a:ln w="9525">
            <a:solidFill>
              <a:srgbClr val="A35F42"/>
            </a:solidFill>
          </a:ln>
        </p:spPr>
      </p:sp>
      <p:sp>
        <p:nvSpPr>
          <p:cNvPr id="301" name="直接连接符 300"/>
          <p:cNvSpPr>
            <a:spLocks noGrp="1"/>
          </p:cNvSpPr>
          <p:nvPr/>
        </p:nvSpPr>
        <p:spPr>
          <a:xfrm>
            <a:off x="12202352" y="6381750"/>
            <a:ext cx="65848" cy="953"/>
          </a:xfrm>
          <a:prstGeom prst="line">
            <a:avLst/>
          </a:prstGeom>
          <a:noFill/>
          <a:ln w="19050">
            <a:solidFill>
              <a:srgbClr val="A35F42"/>
            </a:solidFill>
          </a:ln>
        </p:spPr>
      </p:sp>
      <p:sp>
        <p:nvSpPr>
          <p:cNvPr id="302" name="椭圆 301"/>
          <p:cNvSpPr>
            <a:spLocks noGrp="1"/>
          </p:cNvSpPr>
          <p:nvPr/>
        </p:nvSpPr>
        <p:spPr>
          <a:xfrm>
            <a:off x="12159489" y="6338888"/>
            <a:ext cx="85725" cy="85725"/>
          </a:xfrm>
          <a:prstGeom prst="ellipse">
            <a:avLst/>
          </a:prstGeom>
          <a:solidFill>
            <a:srgbClr val="A35F42"/>
          </a:solidFill>
          <a:ln w="9525">
            <a:solidFill>
              <a:srgbClr val="A35F42"/>
            </a:solidFill>
          </a:ln>
        </p:spPr>
      </p:sp>
      <p:sp>
        <p:nvSpPr>
          <p:cNvPr id="303" name="直接连接符 302"/>
          <p:cNvSpPr>
            <a:spLocks noGrp="1"/>
          </p:cNvSpPr>
          <p:nvPr/>
        </p:nvSpPr>
        <p:spPr>
          <a:xfrm>
            <a:off x="11711455" y="6629400"/>
            <a:ext cx="556745" cy="953"/>
          </a:xfrm>
          <a:prstGeom prst="line">
            <a:avLst/>
          </a:prstGeom>
          <a:noFill/>
          <a:ln w="19050">
            <a:solidFill>
              <a:srgbClr val="A35F42"/>
            </a:solidFill>
          </a:ln>
        </p:spPr>
      </p:sp>
      <p:sp>
        <p:nvSpPr>
          <p:cNvPr id="304" name="椭圆 303"/>
          <p:cNvSpPr>
            <a:spLocks noGrp="1"/>
          </p:cNvSpPr>
          <p:nvPr/>
        </p:nvSpPr>
        <p:spPr>
          <a:xfrm>
            <a:off x="11668593" y="6586538"/>
            <a:ext cx="85725" cy="85725"/>
          </a:xfrm>
          <a:prstGeom prst="ellipse">
            <a:avLst/>
          </a:prstGeom>
          <a:solidFill>
            <a:srgbClr val="A35F42"/>
          </a:solidFill>
          <a:ln w="9525">
            <a:solidFill>
              <a:srgbClr val="A35F42"/>
            </a:solidFill>
          </a:ln>
        </p:spPr>
      </p:sp>
      <p:sp>
        <p:nvSpPr>
          <p:cNvPr id="305" name="直接连接符 304"/>
          <p:cNvSpPr>
            <a:spLocks noGrp="1"/>
          </p:cNvSpPr>
          <p:nvPr/>
        </p:nvSpPr>
        <p:spPr>
          <a:xfrm>
            <a:off x="12000520" y="7067550"/>
            <a:ext cx="267680" cy="953"/>
          </a:xfrm>
          <a:prstGeom prst="line">
            <a:avLst/>
          </a:prstGeom>
          <a:noFill/>
          <a:ln w="19050">
            <a:solidFill>
              <a:srgbClr val="A35F42"/>
            </a:solidFill>
          </a:ln>
        </p:spPr>
      </p:sp>
      <p:sp>
        <p:nvSpPr>
          <p:cNvPr id="306" name="椭圆 305"/>
          <p:cNvSpPr>
            <a:spLocks noGrp="1"/>
          </p:cNvSpPr>
          <p:nvPr/>
        </p:nvSpPr>
        <p:spPr>
          <a:xfrm>
            <a:off x="11957657" y="7024688"/>
            <a:ext cx="85725" cy="85725"/>
          </a:xfrm>
          <a:prstGeom prst="ellipse">
            <a:avLst/>
          </a:prstGeom>
          <a:solidFill>
            <a:srgbClr val="A35F42"/>
          </a:solidFill>
          <a:ln w="9525">
            <a:solidFill>
              <a:srgbClr val="A35F42"/>
            </a:solidFill>
          </a:ln>
        </p:spPr>
      </p:sp>
      <p:sp>
        <p:nvSpPr>
          <p:cNvPr id="307" name="直接连接符 306"/>
          <p:cNvSpPr>
            <a:spLocks noGrp="1"/>
          </p:cNvSpPr>
          <p:nvPr/>
        </p:nvSpPr>
        <p:spPr>
          <a:xfrm>
            <a:off x="12268200" y="7315200"/>
            <a:ext cx="98101" cy="953"/>
          </a:xfrm>
          <a:prstGeom prst="line">
            <a:avLst/>
          </a:prstGeom>
          <a:noFill/>
          <a:ln w="19050">
            <a:solidFill>
              <a:srgbClr val="277F8A"/>
            </a:solidFill>
          </a:ln>
        </p:spPr>
      </p:sp>
      <p:sp>
        <p:nvSpPr>
          <p:cNvPr id="308" name="椭圆 307"/>
          <p:cNvSpPr>
            <a:spLocks noGrp="1"/>
          </p:cNvSpPr>
          <p:nvPr/>
        </p:nvSpPr>
        <p:spPr>
          <a:xfrm>
            <a:off x="12323439" y="7272338"/>
            <a:ext cx="85725" cy="85725"/>
          </a:xfrm>
          <a:prstGeom prst="ellipse">
            <a:avLst/>
          </a:prstGeom>
          <a:solidFill>
            <a:srgbClr val="277F8A"/>
          </a:solidFill>
          <a:ln w="9525">
            <a:solidFill>
              <a:srgbClr val="277F8A"/>
            </a:solidFill>
          </a:ln>
        </p:spPr>
      </p:sp>
      <p:sp>
        <p:nvSpPr>
          <p:cNvPr id="309" name="直接连接符 308"/>
          <p:cNvSpPr>
            <a:spLocks noGrp="1"/>
          </p:cNvSpPr>
          <p:nvPr/>
        </p:nvSpPr>
        <p:spPr>
          <a:xfrm>
            <a:off x="12268200" y="7562850"/>
            <a:ext cx="36977" cy="953"/>
          </a:xfrm>
          <a:prstGeom prst="line">
            <a:avLst/>
          </a:prstGeom>
          <a:noFill/>
          <a:ln w="19050">
            <a:solidFill>
              <a:srgbClr val="277F8A"/>
            </a:solidFill>
          </a:ln>
        </p:spPr>
      </p:sp>
      <p:sp>
        <p:nvSpPr>
          <p:cNvPr id="310" name="椭圆 309"/>
          <p:cNvSpPr>
            <a:spLocks noGrp="1"/>
          </p:cNvSpPr>
          <p:nvPr/>
        </p:nvSpPr>
        <p:spPr>
          <a:xfrm>
            <a:off x="12262315" y="7519988"/>
            <a:ext cx="85725" cy="85725"/>
          </a:xfrm>
          <a:prstGeom prst="ellipse">
            <a:avLst/>
          </a:prstGeom>
          <a:solidFill>
            <a:srgbClr val="277F8A"/>
          </a:solidFill>
          <a:ln w="9525">
            <a:solidFill>
              <a:srgbClr val="277F8A"/>
            </a:solidFill>
          </a:ln>
        </p:spPr>
      </p:sp>
      <p:sp>
        <p:nvSpPr>
          <p:cNvPr id="311" name="直接连接符 310"/>
          <p:cNvSpPr>
            <a:spLocks noGrp="1"/>
          </p:cNvSpPr>
          <p:nvPr/>
        </p:nvSpPr>
        <p:spPr>
          <a:xfrm>
            <a:off x="12241348" y="8296275"/>
            <a:ext cx="26852" cy="953"/>
          </a:xfrm>
          <a:prstGeom prst="line">
            <a:avLst/>
          </a:prstGeom>
          <a:noFill/>
          <a:ln w="23813">
            <a:solidFill>
              <a:srgbClr val="24292D"/>
            </a:solidFill>
          </a:ln>
        </p:spPr>
      </p:sp>
      <p:sp>
        <p:nvSpPr>
          <p:cNvPr id="312" name="菱形 311"/>
          <p:cNvSpPr>
            <a:spLocks noGrp="1"/>
          </p:cNvSpPr>
          <p:nvPr/>
        </p:nvSpPr>
        <p:spPr>
          <a:xfrm>
            <a:off x="12184198" y="8239125"/>
            <a:ext cx="114300" cy="114300"/>
          </a:xfrm>
          <a:prstGeom prst="diamond">
            <a:avLst/>
          </a:prstGeom>
          <a:solidFill>
            <a:srgbClr val="24292D"/>
          </a:solidFill>
          <a:ln w="9525">
            <a:solidFill>
              <a:srgbClr val="24292D"/>
            </a:solidFill>
          </a:ln>
        </p:spPr>
      </p:sp>
      <p:sp>
        <p:nvSpPr>
          <p:cNvPr id="313" name="直接连接符 312"/>
          <p:cNvSpPr>
            <a:spLocks noGrp="1"/>
          </p:cNvSpPr>
          <p:nvPr/>
        </p:nvSpPr>
        <p:spPr>
          <a:xfrm>
            <a:off x="11410950" y="8620125"/>
            <a:ext cx="1714500" cy="953"/>
          </a:xfrm>
          <a:prstGeom prst="line">
            <a:avLst/>
          </a:prstGeom>
          <a:noFill/>
          <a:ln w="12383">
            <a:solidFill>
              <a:srgbClr val="24292D"/>
            </a:solidFill>
          </a:ln>
        </p:spPr>
      </p:sp>
      <p:sp>
        <p:nvSpPr>
          <p:cNvPr id="314" name="直接连接符 313"/>
          <p:cNvSpPr>
            <a:spLocks noGrp="1"/>
          </p:cNvSpPr>
          <p:nvPr/>
        </p:nvSpPr>
        <p:spPr>
          <a:xfrm>
            <a:off x="11506200" y="8620125"/>
            <a:ext cx="953" cy="76200"/>
          </a:xfrm>
          <a:prstGeom prst="line">
            <a:avLst/>
          </a:prstGeom>
          <a:noFill/>
          <a:ln w="9525">
            <a:solidFill>
              <a:srgbClr val="24292D"/>
            </a:solidFill>
          </a:ln>
        </p:spPr>
      </p:sp>
      <p:sp>
        <p:nvSpPr>
          <p:cNvPr id="315" name="矩形 314"/>
          <p:cNvSpPr>
            <a:spLocks noGrp="1"/>
          </p:cNvSpPr>
          <p:nvPr/>
        </p:nvSpPr>
        <p:spPr>
          <a:xfrm>
            <a:off x="11172825" y="8734425"/>
            <a:ext cx="66675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-0.6</a:t>
            </a:r>
            <a:endParaRPr sz="1350" b="0">
              <a:solidFill>
                <a:srgbClr val="24292D"/>
              </a:solidFill>
              <a:latin typeface="Arial" panose="020B0604020202020204"/>
              <a:ea typeface="Arial" panose="020B0604020202020204"/>
              <a:cs typeface="Arial" panose="020B0604020202020204"/>
            </a:endParaRPr>
          </a:p>
        </p:txBody>
      </p:sp>
      <p:sp>
        <p:nvSpPr>
          <p:cNvPr id="316" name="直接连接符 315"/>
          <p:cNvSpPr>
            <a:spLocks noGrp="1"/>
          </p:cNvSpPr>
          <p:nvPr/>
        </p:nvSpPr>
        <p:spPr>
          <a:xfrm>
            <a:off x="12268200" y="8620125"/>
            <a:ext cx="953" cy="76200"/>
          </a:xfrm>
          <a:prstGeom prst="line">
            <a:avLst/>
          </a:prstGeom>
          <a:noFill/>
          <a:ln w="9525">
            <a:solidFill>
              <a:srgbClr val="24292D"/>
            </a:solidFill>
          </a:ln>
        </p:spPr>
      </p:sp>
      <p:sp>
        <p:nvSpPr>
          <p:cNvPr id="317" name="矩形 316"/>
          <p:cNvSpPr>
            <a:spLocks noGrp="1"/>
          </p:cNvSpPr>
          <p:nvPr/>
        </p:nvSpPr>
        <p:spPr>
          <a:xfrm>
            <a:off x="11934825" y="8734425"/>
            <a:ext cx="66675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0</a:t>
            </a:r>
            <a:endParaRPr sz="1350" b="0">
              <a:solidFill>
                <a:srgbClr val="24292D"/>
              </a:solidFill>
              <a:latin typeface="Arial" panose="020B0604020202020204"/>
              <a:ea typeface="Arial" panose="020B0604020202020204"/>
              <a:cs typeface="Arial" panose="020B0604020202020204"/>
            </a:endParaRPr>
          </a:p>
        </p:txBody>
      </p:sp>
      <p:sp>
        <p:nvSpPr>
          <p:cNvPr id="318" name="直接连接符 317"/>
          <p:cNvSpPr>
            <a:spLocks noGrp="1"/>
          </p:cNvSpPr>
          <p:nvPr/>
        </p:nvSpPr>
        <p:spPr>
          <a:xfrm>
            <a:off x="13030200" y="8620125"/>
            <a:ext cx="953" cy="76200"/>
          </a:xfrm>
          <a:prstGeom prst="line">
            <a:avLst/>
          </a:prstGeom>
          <a:noFill/>
          <a:ln w="9525">
            <a:solidFill>
              <a:srgbClr val="24292D"/>
            </a:solidFill>
          </a:ln>
        </p:spPr>
      </p:sp>
      <p:sp>
        <p:nvSpPr>
          <p:cNvPr id="319" name="矩形 318"/>
          <p:cNvSpPr>
            <a:spLocks noGrp="1"/>
          </p:cNvSpPr>
          <p:nvPr/>
        </p:nvSpPr>
        <p:spPr>
          <a:xfrm>
            <a:off x="12696825" y="8734425"/>
            <a:ext cx="666750" cy="2857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+0.6</a:t>
            </a:r>
            <a:endParaRPr sz="1350" b="0">
              <a:solidFill>
                <a:srgbClr val="24292D"/>
              </a:solidFill>
              <a:latin typeface="Arial" panose="020B0604020202020204"/>
              <a:ea typeface="Arial" panose="020B0604020202020204"/>
              <a:cs typeface="Arial" panose="020B0604020202020204"/>
            </a:endParaRPr>
          </a:p>
        </p:txBody>
      </p:sp>
      <p:sp>
        <p:nvSpPr>
          <p:cNvPr id="320" name="矩形 319"/>
          <p:cNvSpPr>
            <a:spLocks noGrp="1"/>
          </p:cNvSpPr>
          <p:nvPr/>
        </p:nvSpPr>
        <p:spPr>
          <a:xfrm>
            <a:off x="11334750" y="9048750"/>
            <a:ext cx="1866900" cy="552450"/>
          </a:xfrm>
          <a:prstGeom prst="rect">
            <a:avLst/>
          </a:prstGeom>
          <a:noFill/>
          <a:ln w="0">
            <a:noFill/>
          </a:ln>
        </p:spPr>
        <p:txBody>
          <a:bodyPr wrap="none" lIns="0" tIns="0" rIns="0" bIns="0" anchor="ctr">
            <a:noAutofit/>
          </a:bodyPr>
          <a:lstStyle/>
          <a:p>
            <a:pPr algn="ctr">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Recovery gain</a:t>
            </a:r>
            <a:endParaRPr sz="1350" b="0">
              <a:solidFill>
                <a:srgbClr val="24292D"/>
              </a:solidFill>
              <a:latin typeface="Arial" panose="020B0604020202020204"/>
              <a:ea typeface="Arial" panose="020B0604020202020204"/>
              <a:cs typeface="Arial" panose="020B0604020202020204"/>
            </a:endParaRPr>
          </a:p>
        </p:txBody>
      </p:sp>
      <p:sp>
        <p:nvSpPr>
          <p:cNvPr id="321" name="椭圆 320"/>
          <p:cNvSpPr>
            <a:spLocks noGrp="1"/>
          </p:cNvSpPr>
          <p:nvPr/>
        </p:nvSpPr>
        <p:spPr>
          <a:xfrm>
            <a:off x="3343275" y="9810750"/>
            <a:ext cx="114300" cy="114300"/>
          </a:xfrm>
          <a:prstGeom prst="ellipse">
            <a:avLst/>
          </a:prstGeom>
          <a:solidFill>
            <a:srgbClr val="277F8A"/>
          </a:solidFill>
          <a:ln w="9525">
            <a:solidFill>
              <a:srgbClr val="277F8A"/>
            </a:solidFill>
          </a:ln>
        </p:spPr>
      </p:sp>
      <p:sp>
        <p:nvSpPr>
          <p:cNvPr id="322" name="矩形 321"/>
          <p:cNvSpPr>
            <a:spLocks noGrp="1"/>
          </p:cNvSpPr>
          <p:nvPr/>
        </p:nvSpPr>
        <p:spPr>
          <a:xfrm>
            <a:off x="3571875" y="9715500"/>
            <a:ext cx="1028700" cy="32385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Favorable</a:t>
            </a:r>
            <a:endParaRPr sz="1350" b="0">
              <a:solidFill>
                <a:srgbClr val="24292D"/>
              </a:solidFill>
              <a:latin typeface="Arial" panose="020B0604020202020204"/>
              <a:ea typeface="Arial" panose="020B0604020202020204"/>
              <a:cs typeface="Arial" panose="020B0604020202020204"/>
            </a:endParaRPr>
          </a:p>
        </p:txBody>
      </p:sp>
      <p:sp>
        <p:nvSpPr>
          <p:cNvPr id="323" name="椭圆 322"/>
          <p:cNvSpPr>
            <a:spLocks noGrp="1"/>
          </p:cNvSpPr>
          <p:nvPr/>
        </p:nvSpPr>
        <p:spPr>
          <a:xfrm>
            <a:off x="4752975" y="9810750"/>
            <a:ext cx="114300" cy="114300"/>
          </a:xfrm>
          <a:prstGeom prst="ellipse">
            <a:avLst/>
          </a:prstGeom>
          <a:solidFill>
            <a:srgbClr val="A35F42"/>
          </a:solidFill>
          <a:ln w="9525">
            <a:solidFill>
              <a:srgbClr val="A35F42"/>
            </a:solidFill>
          </a:ln>
        </p:spPr>
      </p:sp>
      <p:sp>
        <p:nvSpPr>
          <p:cNvPr id="324" name="矩形 323"/>
          <p:cNvSpPr>
            <a:spLocks noGrp="1"/>
          </p:cNvSpPr>
          <p:nvPr/>
        </p:nvSpPr>
        <p:spPr>
          <a:xfrm>
            <a:off x="4981575" y="9715500"/>
            <a:ext cx="1257300" cy="32385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Unfavorable</a:t>
            </a:r>
            <a:endParaRPr sz="1350" b="0">
              <a:solidFill>
                <a:srgbClr val="24292D"/>
              </a:solidFill>
              <a:latin typeface="Arial" panose="020B0604020202020204"/>
              <a:ea typeface="Arial" panose="020B0604020202020204"/>
              <a:cs typeface="Arial" panose="020B0604020202020204"/>
            </a:endParaRPr>
          </a:p>
        </p:txBody>
      </p:sp>
      <p:sp>
        <p:nvSpPr>
          <p:cNvPr id="325" name="直接连接符 324"/>
          <p:cNvSpPr>
            <a:spLocks noGrp="1"/>
          </p:cNvSpPr>
          <p:nvPr/>
        </p:nvSpPr>
        <p:spPr>
          <a:xfrm>
            <a:off x="6391275" y="9810750"/>
            <a:ext cx="114300" cy="114300"/>
          </a:xfrm>
          <a:prstGeom prst="line">
            <a:avLst/>
          </a:prstGeom>
          <a:noFill/>
          <a:ln w="19050">
            <a:solidFill>
              <a:srgbClr val="6A737B"/>
            </a:solidFill>
          </a:ln>
        </p:spPr>
      </p:sp>
      <p:sp>
        <p:nvSpPr>
          <p:cNvPr id="326" name="直接连接符 325"/>
          <p:cNvSpPr>
            <a:spLocks noGrp="1"/>
          </p:cNvSpPr>
          <p:nvPr/>
        </p:nvSpPr>
        <p:spPr>
          <a:xfrm flipV="1">
            <a:off x="6391275" y="9810750"/>
            <a:ext cx="114300" cy="114300"/>
          </a:xfrm>
          <a:prstGeom prst="line">
            <a:avLst/>
          </a:prstGeom>
          <a:noFill/>
          <a:ln w="19050">
            <a:solidFill>
              <a:srgbClr val="6A737B"/>
            </a:solidFill>
          </a:ln>
        </p:spPr>
      </p:sp>
      <p:sp>
        <p:nvSpPr>
          <p:cNvPr id="327" name="矩形 326"/>
          <p:cNvSpPr>
            <a:spLocks noGrp="1"/>
          </p:cNvSpPr>
          <p:nvPr/>
        </p:nvSpPr>
        <p:spPr>
          <a:xfrm>
            <a:off x="6619875" y="9715500"/>
            <a:ext cx="1828800" cy="32385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Source shortfall</a:t>
            </a:r>
            <a:endParaRPr sz="1350" b="0">
              <a:solidFill>
                <a:srgbClr val="24292D"/>
              </a:solidFill>
              <a:latin typeface="Arial" panose="020B0604020202020204"/>
              <a:ea typeface="Arial" panose="020B0604020202020204"/>
              <a:cs typeface="Arial"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117" name="图片 116"/>
          <p:cNvPicPr>
            <a:picLocks noChangeAspect="1"/>
          </p:cNvPicPr>
          <p:nvPr/>
        </p:nvPicPr>
        <p:blipFill>
          <a:blip r:embed="rId1"/>
          <a:stretch>
            <a:fillRect/>
          </a:stretch>
        </p:blipFill>
        <p:spPr>
          <a:xfrm>
            <a:off x="0" y="0"/>
            <a:ext cx="13716000" cy="15843080"/>
          </a:xfrm>
          <a:prstGeom prst="rect">
            <a:avLst/>
          </a:prstGeom>
        </p:spPr>
      </p:pic>
      <p:sp>
        <p:nvSpPr>
          <p:cNvPr id="2" name="矩形 1"/>
          <p:cNvSpPr>
            <a:spLocks noGrp="1"/>
          </p:cNvSpPr>
          <p:nvPr/>
        </p:nvSpPr>
        <p:spPr>
          <a:xfrm>
            <a:off x="293390" y="73348"/>
            <a:ext cx="415636" cy="415636"/>
          </a:xfrm>
          <a:prstGeom prst="rect">
            <a:avLst/>
          </a:prstGeom>
          <a:solidFill>
            <a:srgbClr val="FFFFFF"/>
          </a:solidFill>
          <a:ln w="0">
            <a:noFill/>
          </a:ln>
        </p:spPr>
      </p:sp>
      <p:sp>
        <p:nvSpPr>
          <p:cNvPr id="3" name="矩形 2"/>
          <p:cNvSpPr>
            <a:spLocks noGrp="1"/>
          </p:cNvSpPr>
          <p:nvPr/>
        </p:nvSpPr>
        <p:spPr>
          <a:xfrm>
            <a:off x="293390" y="73348"/>
            <a:ext cx="415636" cy="415636"/>
          </a:xfrm>
          <a:prstGeom prst="rect">
            <a:avLst/>
          </a:prstGeom>
          <a:noFill/>
          <a:ln w="0">
            <a:noFill/>
          </a:ln>
        </p:spPr>
        <p:txBody>
          <a:bodyPr wrap="none" lIns="0" tIns="0" rIns="0" bIns="0" anchor="ctr">
            <a:noAutofit/>
          </a:bodyPr>
          <a:lstStyle/>
          <a:p>
            <a:pPr algn="l">
              <a:defRPr sz="2250" b="1">
                <a:solidFill>
                  <a:srgbClr val="0B2450"/>
                </a:solidFill>
                <a:latin typeface="Arial" panose="020B0604020202020204"/>
                <a:ea typeface="Arial" panose="020B0604020202020204"/>
                <a:cs typeface="Arial" panose="020B0604020202020204"/>
              </a:defRPr>
            </a:pPr>
            <a:r>
              <a:rPr sz="2250" b="1">
                <a:solidFill>
                  <a:srgbClr val="0B2450"/>
                </a:solidFill>
                <a:latin typeface="Arial" panose="020B0604020202020204"/>
                <a:ea typeface="Arial" panose="020B0604020202020204"/>
                <a:cs typeface="Arial" panose="020B0604020202020204"/>
              </a:rPr>
              <a:t>a</a:t>
            </a:r>
            <a:endParaRPr sz="2250" b="1">
              <a:solidFill>
                <a:srgbClr val="0B2450"/>
              </a:solidFill>
              <a:latin typeface="Arial" panose="020B0604020202020204"/>
              <a:ea typeface="Arial" panose="020B0604020202020204"/>
              <a:cs typeface="Arial" panose="020B0604020202020204"/>
            </a:endParaRPr>
          </a:p>
        </p:txBody>
      </p:sp>
      <p:sp>
        <p:nvSpPr>
          <p:cNvPr id="4" name="矩形 3"/>
          <p:cNvSpPr>
            <a:spLocks noGrp="1"/>
          </p:cNvSpPr>
          <p:nvPr/>
        </p:nvSpPr>
        <p:spPr>
          <a:xfrm>
            <a:off x="816985" y="59060"/>
            <a:ext cx="12571014" cy="444211"/>
          </a:xfrm>
          <a:prstGeom prst="rect">
            <a:avLst/>
          </a:prstGeom>
          <a:solidFill>
            <a:srgbClr val="FFFFFF"/>
          </a:solidFill>
          <a:ln w="0">
            <a:noFill/>
          </a:ln>
        </p:spPr>
      </p:sp>
      <p:sp>
        <p:nvSpPr>
          <p:cNvPr id="5" name="矩形 4"/>
          <p:cNvSpPr>
            <a:spLocks noGrp="1"/>
          </p:cNvSpPr>
          <p:nvPr/>
        </p:nvSpPr>
        <p:spPr>
          <a:xfrm>
            <a:off x="831273" y="73348"/>
            <a:ext cx="12542439" cy="415636"/>
          </a:xfrm>
          <a:prstGeom prst="rect">
            <a:avLst/>
          </a:prstGeom>
          <a:noFill/>
          <a:ln w="0">
            <a:noFill/>
          </a:ln>
        </p:spPr>
        <p:txBody>
          <a:bodyPr wrap="none" lIns="0" tIns="0" rIns="0" bIns="0" anchor="ctr">
            <a:noAutofit/>
          </a:bodyPr>
          <a:lstStyle/>
          <a:p>
            <a:pPr algn="l">
              <a:defRPr sz="2025" b="1">
                <a:solidFill>
                  <a:srgbClr val="0B2450"/>
                </a:solidFill>
                <a:latin typeface="Arial" panose="020B0604020202020204"/>
                <a:ea typeface="Arial" panose="020B0604020202020204"/>
                <a:cs typeface="Arial" panose="020B0604020202020204"/>
              </a:defRPr>
            </a:pPr>
            <a:r>
              <a:rPr sz="2025" b="1">
                <a:solidFill>
                  <a:srgbClr val="0B2450"/>
                </a:solidFill>
                <a:latin typeface="Arial" panose="020B0604020202020204"/>
                <a:ea typeface="Arial" panose="020B0604020202020204"/>
                <a:cs typeface="Arial" panose="020B0604020202020204"/>
              </a:rPr>
              <a:t>A new intervention: does reheating reduce fines?</a:t>
            </a:r>
            <a:endParaRPr sz="2025" b="1">
              <a:solidFill>
                <a:srgbClr val="0B2450"/>
              </a:solidFill>
              <a:latin typeface="Arial" panose="020B0604020202020204"/>
              <a:ea typeface="Arial" panose="020B0604020202020204"/>
              <a:cs typeface="Arial" panose="020B0604020202020204"/>
            </a:endParaRPr>
          </a:p>
        </p:txBody>
      </p:sp>
      <p:sp>
        <p:nvSpPr>
          <p:cNvPr id="6" name="矩形 5"/>
          <p:cNvSpPr>
            <a:spLocks noGrp="1"/>
          </p:cNvSpPr>
          <p:nvPr/>
        </p:nvSpPr>
        <p:spPr>
          <a:xfrm>
            <a:off x="572493" y="1195948"/>
            <a:ext cx="2705762" cy="859848"/>
          </a:xfrm>
          <a:prstGeom prst="rect">
            <a:avLst/>
          </a:prstGeom>
          <a:solidFill>
            <a:srgbClr val="F3F8FD"/>
          </a:solidFill>
          <a:ln w="0">
            <a:noFill/>
          </a:ln>
        </p:spPr>
      </p:sp>
      <p:sp>
        <p:nvSpPr>
          <p:cNvPr id="7" name="矩形 6"/>
          <p:cNvSpPr>
            <a:spLocks noGrp="1"/>
          </p:cNvSpPr>
          <p:nvPr/>
        </p:nvSpPr>
        <p:spPr>
          <a:xfrm>
            <a:off x="586781" y="1210235"/>
            <a:ext cx="2677187" cy="831273"/>
          </a:xfrm>
          <a:prstGeom prst="rect">
            <a:avLst/>
          </a:prstGeom>
          <a:noFill/>
          <a:ln w="0">
            <a:noFill/>
          </a:ln>
        </p:spPr>
        <p:txBody>
          <a:bodyPr wrap="none" lIns="0" tIns="0" rIns="0" bIns="0" anchor="ctr">
            <a:noAutofit/>
          </a:bodyPr>
          <a:lstStyle/>
          <a:p>
            <a:pPr algn="l">
              <a:defRPr sz="1500" b="0">
                <a:solidFill>
                  <a:srgbClr val="0B2450"/>
                </a:solidFill>
                <a:latin typeface="Arial" panose="020B0604020202020204"/>
                <a:ea typeface="Arial" panose="020B0604020202020204"/>
                <a:cs typeface="Arial" panose="020B0604020202020204"/>
              </a:defRPr>
            </a:pPr>
            <a:r>
              <a:rPr sz="1500" b="0">
                <a:solidFill>
                  <a:srgbClr val="0B2450"/>
                </a:solidFill>
                <a:latin typeface="Arial" panose="020B0604020202020204"/>
                <a:ea typeface="Arial" panose="020B0604020202020204"/>
                <a:cs typeface="Arial" panose="020B0604020202020204"/>
              </a:rPr>
              <a:t>Same preceding</a:t>
            </a:r>
            <a:endParaRPr sz="1500" b="0">
              <a:solidFill>
                <a:srgbClr val="0B2450"/>
              </a:solidFill>
              <a:latin typeface="Arial" panose="020B0604020202020204"/>
              <a:ea typeface="Arial" panose="020B0604020202020204"/>
              <a:cs typeface="Arial" panose="020B0604020202020204"/>
            </a:endParaRPr>
          </a:p>
          <a:p>
            <a:pPr algn="l">
              <a:defRPr sz="1500" b="0">
                <a:solidFill>
                  <a:srgbClr val="0B2450"/>
                </a:solidFill>
                <a:latin typeface="Arial" panose="020B0604020202020204"/>
                <a:ea typeface="Arial" panose="020B0604020202020204"/>
                <a:cs typeface="Arial" panose="020B0604020202020204"/>
              </a:defRPr>
            </a:pPr>
            <a:r>
              <a:rPr sz="1500" b="0">
                <a:solidFill>
                  <a:srgbClr val="0B2450"/>
                </a:solidFill>
                <a:latin typeface="Arial" panose="020B0604020202020204"/>
                <a:ea typeface="Arial" panose="020B0604020202020204"/>
                <a:cs typeface="Arial" panose="020B0604020202020204"/>
              </a:rPr>
              <a:t>crystallization recipe</a:t>
            </a:r>
            <a:endParaRPr sz="1500" b="0">
              <a:solidFill>
                <a:srgbClr val="0B2450"/>
              </a:solidFill>
              <a:latin typeface="Arial" panose="020B0604020202020204"/>
              <a:ea typeface="Arial" panose="020B0604020202020204"/>
              <a:cs typeface="Arial" panose="020B0604020202020204"/>
            </a:endParaRPr>
          </a:p>
        </p:txBody>
      </p:sp>
      <p:sp>
        <p:nvSpPr>
          <p:cNvPr id="8" name="矩形 7"/>
          <p:cNvSpPr>
            <a:spLocks noGrp="1"/>
          </p:cNvSpPr>
          <p:nvPr/>
        </p:nvSpPr>
        <p:spPr>
          <a:xfrm>
            <a:off x="3714215" y="609167"/>
            <a:ext cx="3011377" cy="431987"/>
          </a:xfrm>
          <a:prstGeom prst="rect">
            <a:avLst/>
          </a:prstGeom>
          <a:solidFill>
            <a:srgbClr val="EAF3FF"/>
          </a:solidFill>
          <a:ln w="0">
            <a:noFill/>
          </a:ln>
        </p:spPr>
      </p:sp>
      <p:sp>
        <p:nvSpPr>
          <p:cNvPr id="9" name="矩形 8"/>
          <p:cNvSpPr>
            <a:spLocks noGrp="1"/>
          </p:cNvSpPr>
          <p:nvPr/>
        </p:nvSpPr>
        <p:spPr>
          <a:xfrm>
            <a:off x="3728503" y="623455"/>
            <a:ext cx="2982802" cy="403412"/>
          </a:xfrm>
          <a:prstGeom prst="rect">
            <a:avLst/>
          </a:prstGeom>
          <a:noFill/>
          <a:ln w="0">
            <a:noFill/>
          </a:ln>
        </p:spPr>
        <p:txBody>
          <a:bodyPr wrap="none" lIns="0" tIns="0" rIns="0" bIns="0" anchor="ctr">
            <a:noAutofit/>
          </a:bodyPr>
          <a:lstStyle/>
          <a:p>
            <a:pPr algn="ctr">
              <a:defRPr sz="1500" b="0">
                <a:solidFill>
                  <a:srgbClr val="0B2450"/>
                </a:solidFill>
                <a:latin typeface="Arial" panose="020B0604020202020204"/>
                <a:ea typeface="Arial" panose="020B0604020202020204"/>
                <a:cs typeface="Arial" panose="020B0604020202020204"/>
              </a:defRPr>
            </a:pPr>
            <a:r>
              <a:rPr sz="1500" b="0">
                <a:solidFill>
                  <a:srgbClr val="0B2450"/>
                </a:solidFill>
                <a:latin typeface="Arial" panose="020B0604020202020204"/>
                <a:ea typeface="Arial" panose="020B0604020202020204"/>
                <a:cs typeface="Arial" panose="020B0604020202020204"/>
              </a:rPr>
              <a:t>Low-temperature hold</a:t>
            </a:r>
            <a:endParaRPr sz="1500" b="0">
              <a:solidFill>
                <a:srgbClr val="0B2450"/>
              </a:solidFill>
              <a:latin typeface="Arial" panose="020B0604020202020204"/>
              <a:ea typeface="Arial" panose="020B0604020202020204"/>
              <a:cs typeface="Arial" panose="020B0604020202020204"/>
            </a:endParaRPr>
          </a:p>
        </p:txBody>
      </p:sp>
      <p:sp>
        <p:nvSpPr>
          <p:cNvPr id="10" name="矩形 9"/>
          <p:cNvSpPr>
            <a:spLocks noGrp="1"/>
          </p:cNvSpPr>
          <p:nvPr/>
        </p:nvSpPr>
        <p:spPr>
          <a:xfrm>
            <a:off x="4569937" y="1293745"/>
            <a:ext cx="2057858" cy="444211"/>
          </a:xfrm>
          <a:prstGeom prst="rect">
            <a:avLst/>
          </a:prstGeom>
          <a:solidFill>
            <a:srgbClr val="EAF3FF"/>
          </a:solidFill>
          <a:ln w="0">
            <a:noFill/>
          </a:ln>
        </p:spPr>
      </p:sp>
      <p:sp>
        <p:nvSpPr>
          <p:cNvPr id="11" name="矩形 10"/>
          <p:cNvSpPr>
            <a:spLocks noGrp="1"/>
          </p:cNvSpPr>
          <p:nvPr/>
        </p:nvSpPr>
        <p:spPr>
          <a:xfrm>
            <a:off x="4584225" y="1308032"/>
            <a:ext cx="2029283" cy="415636"/>
          </a:xfrm>
          <a:prstGeom prst="rect">
            <a:avLst/>
          </a:prstGeom>
          <a:noFill/>
          <a:ln w="0">
            <a:noFill/>
          </a:ln>
        </p:spPr>
        <p:txBody>
          <a:bodyPr wrap="none" lIns="0" tIns="0" rIns="0" bIns="0" anchor="ctr">
            <a:noAutofit/>
          </a:bodyPr>
          <a:lstStyle/>
          <a:p>
            <a:pPr algn="ctr">
              <a:defRPr sz="1500" b="0">
                <a:solidFill>
                  <a:srgbClr val="0B2450"/>
                </a:solidFill>
                <a:latin typeface="Arial" panose="020B0604020202020204"/>
                <a:ea typeface="Arial" panose="020B0604020202020204"/>
                <a:cs typeface="Arial" panose="020B0604020202020204"/>
              </a:defRPr>
            </a:pPr>
            <a:r>
              <a:rPr sz="1500" b="0">
                <a:solidFill>
                  <a:srgbClr val="0B2450"/>
                </a:solidFill>
                <a:latin typeface="Arial" panose="020B0604020202020204"/>
                <a:ea typeface="Arial" panose="020B0604020202020204"/>
                <a:cs typeface="Arial" panose="020B0604020202020204"/>
              </a:rPr>
              <a:t>278.15 K</a:t>
            </a:r>
            <a:endParaRPr sz="1500" b="0">
              <a:solidFill>
                <a:srgbClr val="0B2450"/>
              </a:solidFill>
              <a:latin typeface="Arial" panose="020B0604020202020204"/>
              <a:ea typeface="Arial" panose="020B0604020202020204"/>
              <a:cs typeface="Arial" panose="020B0604020202020204"/>
            </a:endParaRPr>
          </a:p>
        </p:txBody>
      </p:sp>
      <p:sp>
        <p:nvSpPr>
          <p:cNvPr id="12" name="矩形 11"/>
          <p:cNvSpPr>
            <a:spLocks noGrp="1"/>
          </p:cNvSpPr>
          <p:nvPr/>
        </p:nvSpPr>
        <p:spPr>
          <a:xfrm>
            <a:off x="4618835" y="1917199"/>
            <a:ext cx="1898939" cy="395313"/>
          </a:xfrm>
          <a:prstGeom prst="rect">
            <a:avLst/>
          </a:prstGeom>
          <a:solidFill>
            <a:srgbClr val="EAF3FF"/>
          </a:solidFill>
          <a:ln w="0">
            <a:noFill/>
          </a:ln>
        </p:spPr>
      </p:sp>
      <p:sp>
        <p:nvSpPr>
          <p:cNvPr id="13" name="矩形 12"/>
          <p:cNvSpPr>
            <a:spLocks noGrp="1"/>
          </p:cNvSpPr>
          <p:nvPr/>
        </p:nvSpPr>
        <p:spPr>
          <a:xfrm>
            <a:off x="4633123" y="1931487"/>
            <a:ext cx="1870364" cy="366738"/>
          </a:xfrm>
          <a:prstGeom prst="rect">
            <a:avLst/>
          </a:prstGeom>
          <a:noFill/>
          <a:ln w="0">
            <a:noFill/>
          </a:ln>
        </p:spPr>
        <p:txBody>
          <a:bodyPr wrap="none" lIns="0" tIns="0" rIns="0" bIns="0" anchor="ctr">
            <a:noAutofit/>
          </a:bodyPr>
          <a:lstStyle/>
          <a:p>
            <a:pPr algn="ctr">
              <a:defRPr sz="1500" b="0">
                <a:solidFill>
                  <a:srgbClr val="0B2450"/>
                </a:solidFill>
                <a:latin typeface="Arial" panose="020B0604020202020204"/>
                <a:ea typeface="Arial" panose="020B0604020202020204"/>
                <a:cs typeface="Arial" panose="020B0604020202020204"/>
              </a:defRPr>
            </a:pPr>
            <a:r>
              <a:rPr sz="1500" b="0">
                <a:solidFill>
                  <a:srgbClr val="0B2450"/>
                </a:solidFill>
                <a:latin typeface="Arial" panose="020B0604020202020204"/>
                <a:ea typeface="Arial" panose="020B0604020202020204"/>
                <a:cs typeface="Arial" panose="020B0604020202020204"/>
              </a:rPr>
              <a:t>Hold 2 h</a:t>
            </a:r>
            <a:endParaRPr sz="1500" b="0">
              <a:solidFill>
                <a:srgbClr val="0B2450"/>
              </a:solidFill>
              <a:latin typeface="Arial" panose="020B0604020202020204"/>
              <a:ea typeface="Arial" panose="020B0604020202020204"/>
              <a:cs typeface="Arial" panose="020B0604020202020204"/>
            </a:endParaRPr>
          </a:p>
        </p:txBody>
      </p:sp>
      <p:sp>
        <p:nvSpPr>
          <p:cNvPr id="14" name="矩形 13"/>
          <p:cNvSpPr>
            <a:spLocks noGrp="1"/>
          </p:cNvSpPr>
          <p:nvPr/>
        </p:nvSpPr>
        <p:spPr>
          <a:xfrm>
            <a:off x="7112654" y="609167"/>
            <a:ext cx="3451463" cy="444211"/>
          </a:xfrm>
          <a:prstGeom prst="rect">
            <a:avLst/>
          </a:prstGeom>
          <a:solidFill>
            <a:srgbClr val="EAFAFA"/>
          </a:solidFill>
          <a:ln w="0">
            <a:noFill/>
          </a:ln>
        </p:spPr>
      </p:sp>
      <p:sp>
        <p:nvSpPr>
          <p:cNvPr id="15" name="矩形 14"/>
          <p:cNvSpPr>
            <a:spLocks noGrp="1"/>
          </p:cNvSpPr>
          <p:nvPr/>
        </p:nvSpPr>
        <p:spPr>
          <a:xfrm>
            <a:off x="7126941" y="623455"/>
            <a:ext cx="3422888" cy="415636"/>
          </a:xfrm>
          <a:prstGeom prst="rect">
            <a:avLst/>
          </a:prstGeom>
          <a:noFill/>
          <a:ln w="0">
            <a:noFill/>
          </a:ln>
        </p:spPr>
        <p:txBody>
          <a:bodyPr wrap="none" lIns="0" tIns="0" rIns="0" bIns="0" anchor="ctr">
            <a:noAutofit/>
          </a:bodyPr>
          <a:lstStyle/>
          <a:p>
            <a:pPr algn="ctr">
              <a:defRPr sz="1500" b="0">
                <a:solidFill>
                  <a:srgbClr val="0B2450"/>
                </a:solidFill>
                <a:latin typeface="Arial" panose="020B0604020202020204"/>
                <a:ea typeface="Arial" panose="020B0604020202020204"/>
                <a:cs typeface="Arial" panose="020B0604020202020204"/>
              </a:defRPr>
            </a:pPr>
            <a:r>
              <a:rPr sz="1500" b="0">
                <a:solidFill>
                  <a:srgbClr val="0B2450"/>
                </a:solidFill>
                <a:latin typeface="Arial" panose="020B0604020202020204"/>
                <a:ea typeface="Arial" panose="020B0604020202020204"/>
                <a:cs typeface="Arial" panose="020B0604020202020204"/>
              </a:rPr>
              <a:t>Reheat + recool</a:t>
            </a:r>
            <a:endParaRPr sz="1500" b="0">
              <a:solidFill>
                <a:srgbClr val="0B2450"/>
              </a:solidFill>
              <a:latin typeface="Arial" panose="020B0604020202020204"/>
              <a:ea typeface="Arial" panose="020B0604020202020204"/>
              <a:cs typeface="Arial" panose="020B0604020202020204"/>
            </a:endParaRPr>
          </a:p>
        </p:txBody>
      </p:sp>
      <p:sp>
        <p:nvSpPr>
          <p:cNvPr id="16" name="矩形 15"/>
          <p:cNvSpPr>
            <a:spLocks noGrp="1"/>
          </p:cNvSpPr>
          <p:nvPr/>
        </p:nvSpPr>
        <p:spPr>
          <a:xfrm>
            <a:off x="8225092" y="1073702"/>
            <a:ext cx="1678896" cy="321965"/>
          </a:xfrm>
          <a:prstGeom prst="rect">
            <a:avLst/>
          </a:prstGeom>
          <a:solidFill>
            <a:srgbClr val="EAFAFA"/>
          </a:solidFill>
          <a:ln w="0">
            <a:noFill/>
          </a:ln>
        </p:spPr>
      </p:sp>
      <p:sp>
        <p:nvSpPr>
          <p:cNvPr id="17" name="矩形 16"/>
          <p:cNvSpPr>
            <a:spLocks noGrp="1"/>
          </p:cNvSpPr>
          <p:nvPr/>
        </p:nvSpPr>
        <p:spPr>
          <a:xfrm>
            <a:off x="8239380" y="1087989"/>
            <a:ext cx="1650321" cy="293390"/>
          </a:xfrm>
          <a:prstGeom prst="rect">
            <a:avLst/>
          </a:prstGeom>
          <a:noFill/>
          <a:ln w="0">
            <a:noFill/>
          </a:ln>
        </p:spPr>
        <p:txBody>
          <a:bodyPr wrap="none" lIns="0" tIns="0" rIns="0" bIns="0" anchor="ctr">
            <a:noAutofit/>
          </a:bodyPr>
          <a:lstStyle/>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315 K target</a:t>
            </a:r>
            <a:endParaRPr sz="1350" b="0">
              <a:solidFill>
                <a:srgbClr val="0B2450"/>
              </a:solidFill>
              <a:latin typeface="Arial" panose="020B0604020202020204"/>
              <a:ea typeface="Arial" panose="020B0604020202020204"/>
              <a:cs typeface="Arial" panose="020B0604020202020204"/>
            </a:endParaRPr>
          </a:p>
        </p:txBody>
      </p:sp>
      <p:sp>
        <p:nvSpPr>
          <p:cNvPr id="18" name="矩形 17"/>
          <p:cNvSpPr>
            <a:spLocks noGrp="1"/>
          </p:cNvSpPr>
          <p:nvPr/>
        </p:nvSpPr>
        <p:spPr>
          <a:xfrm>
            <a:off x="7014857" y="1513787"/>
            <a:ext cx="1177687" cy="358639"/>
          </a:xfrm>
          <a:prstGeom prst="rect">
            <a:avLst/>
          </a:prstGeom>
          <a:solidFill>
            <a:srgbClr val="EAFAFA"/>
          </a:solidFill>
          <a:ln w="0">
            <a:noFill/>
          </a:ln>
        </p:spPr>
      </p:sp>
      <p:sp>
        <p:nvSpPr>
          <p:cNvPr id="19" name="矩形 18"/>
          <p:cNvSpPr>
            <a:spLocks noGrp="1"/>
          </p:cNvSpPr>
          <p:nvPr/>
        </p:nvSpPr>
        <p:spPr>
          <a:xfrm>
            <a:off x="7029144" y="1528075"/>
            <a:ext cx="1149112" cy="330064"/>
          </a:xfrm>
          <a:prstGeom prst="rect">
            <a:avLst/>
          </a:prstGeom>
          <a:noFill/>
          <a:ln w="0">
            <a:noFill/>
          </a:ln>
        </p:spPr>
        <p:txBody>
          <a:bodyPr wrap="none" lIns="0" tIns="0" rIns="0" bIns="0" anchor="ctr">
            <a:noAutofit/>
          </a:bodyPr>
          <a:lstStyle/>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278.15 K</a:t>
            </a:r>
            <a:endParaRPr sz="1350" b="0">
              <a:solidFill>
                <a:srgbClr val="0B2450"/>
              </a:solidFill>
              <a:latin typeface="Arial" panose="020B0604020202020204"/>
              <a:ea typeface="Arial" panose="020B0604020202020204"/>
              <a:cs typeface="Arial" panose="020B0604020202020204"/>
            </a:endParaRPr>
          </a:p>
        </p:txBody>
      </p:sp>
      <p:sp>
        <p:nvSpPr>
          <p:cNvPr id="20" name="矩形 19"/>
          <p:cNvSpPr>
            <a:spLocks noGrp="1"/>
          </p:cNvSpPr>
          <p:nvPr/>
        </p:nvSpPr>
        <p:spPr>
          <a:xfrm>
            <a:off x="9545349" y="1513787"/>
            <a:ext cx="1202136" cy="358639"/>
          </a:xfrm>
          <a:prstGeom prst="rect">
            <a:avLst/>
          </a:prstGeom>
          <a:solidFill>
            <a:srgbClr val="EAFAFA"/>
          </a:solidFill>
          <a:ln w="0">
            <a:noFill/>
          </a:ln>
        </p:spPr>
      </p:sp>
      <p:sp>
        <p:nvSpPr>
          <p:cNvPr id="21" name="矩形 20"/>
          <p:cNvSpPr>
            <a:spLocks noGrp="1"/>
          </p:cNvSpPr>
          <p:nvPr/>
        </p:nvSpPr>
        <p:spPr>
          <a:xfrm>
            <a:off x="9559636" y="1528075"/>
            <a:ext cx="1173561" cy="330064"/>
          </a:xfrm>
          <a:prstGeom prst="rect">
            <a:avLst/>
          </a:prstGeom>
          <a:noFill/>
          <a:ln w="0">
            <a:noFill/>
          </a:ln>
        </p:spPr>
        <p:txBody>
          <a:bodyPr wrap="none" lIns="0" tIns="0" rIns="0" bIns="0" anchor="ctr">
            <a:noAutofit/>
          </a:bodyPr>
          <a:lstStyle/>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278.15 K</a:t>
            </a:r>
            <a:endParaRPr sz="1350" b="0">
              <a:solidFill>
                <a:srgbClr val="0B2450"/>
              </a:solidFill>
              <a:latin typeface="Arial" panose="020B0604020202020204"/>
              <a:ea typeface="Arial" panose="020B0604020202020204"/>
              <a:cs typeface="Arial" panose="020B0604020202020204"/>
            </a:endParaRPr>
          </a:p>
        </p:txBody>
      </p:sp>
      <p:sp>
        <p:nvSpPr>
          <p:cNvPr id="22" name="矩形 21"/>
          <p:cNvSpPr>
            <a:spLocks noGrp="1"/>
          </p:cNvSpPr>
          <p:nvPr/>
        </p:nvSpPr>
        <p:spPr>
          <a:xfrm>
            <a:off x="7406044" y="1990547"/>
            <a:ext cx="1189912" cy="383088"/>
          </a:xfrm>
          <a:prstGeom prst="rect">
            <a:avLst/>
          </a:prstGeom>
          <a:solidFill>
            <a:srgbClr val="EAFAFA"/>
          </a:solidFill>
          <a:ln w="0">
            <a:noFill/>
          </a:ln>
        </p:spPr>
      </p:sp>
      <p:sp>
        <p:nvSpPr>
          <p:cNvPr id="23" name="矩形 22"/>
          <p:cNvSpPr>
            <a:spLocks noGrp="1"/>
          </p:cNvSpPr>
          <p:nvPr/>
        </p:nvSpPr>
        <p:spPr>
          <a:xfrm>
            <a:off x="7420332" y="2004834"/>
            <a:ext cx="1161337" cy="354513"/>
          </a:xfrm>
          <a:prstGeom prst="rect">
            <a:avLst/>
          </a:prstGeom>
          <a:noFill/>
          <a:ln w="0">
            <a:noFill/>
          </a:ln>
        </p:spPr>
        <p:txBody>
          <a:bodyPr wrap="none" lIns="0" tIns="0" rIns="0" bIns="0" anchor="ctr">
            <a:noAutofit/>
          </a:bodyPr>
          <a:lstStyle/>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Heat 1 h</a:t>
            </a:r>
            <a:endParaRPr sz="1350" b="0">
              <a:solidFill>
                <a:srgbClr val="0B2450"/>
              </a:solidFill>
              <a:latin typeface="Arial" panose="020B0604020202020204"/>
              <a:ea typeface="Arial" panose="020B0604020202020204"/>
              <a:cs typeface="Arial" panose="020B0604020202020204"/>
            </a:endParaRPr>
          </a:p>
        </p:txBody>
      </p:sp>
      <p:sp>
        <p:nvSpPr>
          <p:cNvPr id="24" name="矩形 23"/>
          <p:cNvSpPr>
            <a:spLocks noGrp="1"/>
          </p:cNvSpPr>
          <p:nvPr/>
        </p:nvSpPr>
        <p:spPr>
          <a:xfrm>
            <a:off x="9056365" y="1990547"/>
            <a:ext cx="1422179" cy="383088"/>
          </a:xfrm>
          <a:prstGeom prst="rect">
            <a:avLst/>
          </a:prstGeom>
          <a:solidFill>
            <a:srgbClr val="EAFAFA"/>
          </a:solidFill>
          <a:ln w="0">
            <a:noFill/>
          </a:ln>
        </p:spPr>
      </p:sp>
      <p:sp>
        <p:nvSpPr>
          <p:cNvPr id="25" name="矩形 24"/>
          <p:cNvSpPr>
            <a:spLocks noGrp="1"/>
          </p:cNvSpPr>
          <p:nvPr/>
        </p:nvSpPr>
        <p:spPr>
          <a:xfrm>
            <a:off x="9070652" y="2004834"/>
            <a:ext cx="1393604" cy="354513"/>
          </a:xfrm>
          <a:prstGeom prst="rect">
            <a:avLst/>
          </a:prstGeom>
          <a:noFill/>
          <a:ln w="0">
            <a:noFill/>
          </a:ln>
        </p:spPr>
        <p:txBody>
          <a:bodyPr wrap="none" lIns="0" tIns="0" rIns="0" bIns="0" anchor="ctr">
            <a:noAutofit/>
          </a:bodyPr>
          <a:lstStyle/>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Recool 1 h</a:t>
            </a:r>
            <a:endParaRPr sz="1350" b="0">
              <a:solidFill>
                <a:srgbClr val="0B2450"/>
              </a:solidFill>
              <a:latin typeface="Arial" panose="020B0604020202020204"/>
              <a:ea typeface="Arial" panose="020B0604020202020204"/>
              <a:cs typeface="Arial" panose="020B0604020202020204"/>
            </a:endParaRPr>
          </a:p>
        </p:txBody>
      </p:sp>
      <p:sp>
        <p:nvSpPr>
          <p:cNvPr id="26" name="矩形 25"/>
          <p:cNvSpPr>
            <a:spLocks noGrp="1"/>
          </p:cNvSpPr>
          <p:nvPr/>
        </p:nvSpPr>
        <p:spPr>
          <a:xfrm>
            <a:off x="11134547" y="1122600"/>
            <a:ext cx="2241227" cy="810949"/>
          </a:xfrm>
          <a:prstGeom prst="rect">
            <a:avLst/>
          </a:prstGeom>
          <a:solidFill>
            <a:srgbClr val="F0F7FD"/>
          </a:solidFill>
          <a:ln w="0">
            <a:noFill/>
          </a:ln>
        </p:spPr>
      </p:sp>
      <p:sp>
        <p:nvSpPr>
          <p:cNvPr id="27" name="矩形 26"/>
          <p:cNvSpPr>
            <a:spLocks noGrp="1"/>
          </p:cNvSpPr>
          <p:nvPr/>
        </p:nvSpPr>
        <p:spPr>
          <a:xfrm>
            <a:off x="11148834" y="1136888"/>
            <a:ext cx="2212652" cy="782374"/>
          </a:xfrm>
          <a:prstGeom prst="rect">
            <a:avLst/>
          </a:prstGeom>
          <a:noFill/>
          <a:ln w="0">
            <a:noFill/>
          </a:ln>
        </p:spPr>
        <p:txBody>
          <a:bodyPr wrap="none" lIns="0" tIns="0" rIns="0" bIns="0" anchor="ctr">
            <a:noAutofit/>
          </a:bodyPr>
          <a:lstStyle/>
          <a:p>
            <a:pPr algn="l">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All comparisons:</a:t>
            </a:r>
            <a:endParaRPr sz="1350" b="0">
              <a:solidFill>
                <a:srgbClr val="0B2450"/>
              </a:solidFill>
              <a:latin typeface="Arial" panose="020B0604020202020204"/>
              <a:ea typeface="Arial" panose="020B0604020202020204"/>
              <a:cs typeface="Arial" panose="020B0604020202020204"/>
            </a:endParaRPr>
          </a:p>
          <a:p>
            <a:pPr algn="l">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hold → reheat + recool</a:t>
            </a:r>
            <a:endParaRPr sz="1350" b="0">
              <a:solidFill>
                <a:srgbClr val="0B2450"/>
              </a:solidFill>
              <a:latin typeface="Arial" panose="020B0604020202020204"/>
              <a:ea typeface="Arial" panose="020B0604020202020204"/>
              <a:cs typeface="Arial" panose="020B0604020202020204"/>
            </a:endParaRPr>
          </a:p>
        </p:txBody>
      </p:sp>
      <p:sp>
        <p:nvSpPr>
          <p:cNvPr id="28" name="矩形 27"/>
          <p:cNvSpPr>
            <a:spLocks noGrp="1"/>
          </p:cNvSpPr>
          <p:nvPr/>
        </p:nvSpPr>
        <p:spPr>
          <a:xfrm>
            <a:off x="293390" y="2738310"/>
            <a:ext cx="403412" cy="427861"/>
          </a:xfrm>
          <a:prstGeom prst="rect">
            <a:avLst/>
          </a:prstGeom>
          <a:solidFill>
            <a:srgbClr val="FFFFFF"/>
          </a:solidFill>
          <a:ln w="0">
            <a:noFill/>
          </a:ln>
        </p:spPr>
      </p:sp>
      <p:sp>
        <p:nvSpPr>
          <p:cNvPr id="29" name="矩形 28"/>
          <p:cNvSpPr>
            <a:spLocks noGrp="1"/>
          </p:cNvSpPr>
          <p:nvPr/>
        </p:nvSpPr>
        <p:spPr>
          <a:xfrm>
            <a:off x="293390" y="2738310"/>
            <a:ext cx="403412" cy="427861"/>
          </a:xfrm>
          <a:prstGeom prst="rect">
            <a:avLst/>
          </a:prstGeom>
          <a:noFill/>
          <a:ln w="0">
            <a:noFill/>
          </a:ln>
        </p:spPr>
        <p:txBody>
          <a:bodyPr wrap="none" lIns="0" tIns="0" rIns="0" bIns="0" anchor="ctr">
            <a:noAutofit/>
          </a:bodyPr>
          <a:lstStyle/>
          <a:p>
            <a:pPr algn="l">
              <a:defRPr sz="2250" b="1">
                <a:solidFill>
                  <a:srgbClr val="0B2450"/>
                </a:solidFill>
                <a:latin typeface="Arial" panose="020B0604020202020204"/>
                <a:ea typeface="Arial" panose="020B0604020202020204"/>
                <a:cs typeface="Arial" panose="020B0604020202020204"/>
              </a:defRPr>
            </a:pPr>
            <a:r>
              <a:rPr sz="2250" b="1">
                <a:solidFill>
                  <a:srgbClr val="0B2450"/>
                </a:solidFill>
                <a:latin typeface="Arial" panose="020B0604020202020204"/>
                <a:ea typeface="Arial" panose="020B0604020202020204"/>
                <a:cs typeface="Arial" panose="020B0604020202020204"/>
              </a:rPr>
              <a:t>b</a:t>
            </a:r>
            <a:endParaRPr sz="2250" b="1">
              <a:solidFill>
                <a:srgbClr val="0B2450"/>
              </a:solidFill>
              <a:latin typeface="Arial" panose="020B0604020202020204"/>
              <a:ea typeface="Arial" panose="020B0604020202020204"/>
              <a:cs typeface="Arial" panose="020B0604020202020204"/>
            </a:endParaRPr>
          </a:p>
        </p:txBody>
      </p:sp>
      <p:sp>
        <p:nvSpPr>
          <p:cNvPr id="30" name="矩形 29"/>
          <p:cNvSpPr>
            <a:spLocks noGrp="1"/>
          </p:cNvSpPr>
          <p:nvPr/>
        </p:nvSpPr>
        <p:spPr>
          <a:xfrm>
            <a:off x="804761" y="2724023"/>
            <a:ext cx="12546564" cy="456436"/>
          </a:xfrm>
          <a:prstGeom prst="rect">
            <a:avLst/>
          </a:prstGeom>
          <a:solidFill>
            <a:srgbClr val="FFFFFF"/>
          </a:solidFill>
          <a:ln w="0">
            <a:noFill/>
          </a:ln>
        </p:spPr>
      </p:sp>
      <p:sp>
        <p:nvSpPr>
          <p:cNvPr id="31" name="矩形 30"/>
          <p:cNvSpPr>
            <a:spLocks noGrp="1"/>
          </p:cNvSpPr>
          <p:nvPr/>
        </p:nvSpPr>
        <p:spPr>
          <a:xfrm>
            <a:off x="819048" y="2738310"/>
            <a:ext cx="12517989" cy="427861"/>
          </a:xfrm>
          <a:prstGeom prst="rect">
            <a:avLst/>
          </a:prstGeom>
          <a:noFill/>
          <a:ln w="0">
            <a:noFill/>
          </a:ln>
        </p:spPr>
        <p:txBody>
          <a:bodyPr wrap="none" lIns="0" tIns="0" rIns="0" bIns="0" anchor="ctr">
            <a:noAutofit/>
          </a:bodyPr>
          <a:lstStyle/>
          <a:p>
            <a:pPr algn="l">
              <a:defRPr sz="2025" b="1">
                <a:solidFill>
                  <a:srgbClr val="0B2450"/>
                </a:solidFill>
                <a:latin typeface="Arial" panose="020B0604020202020204"/>
                <a:ea typeface="Arial" panose="020B0604020202020204"/>
                <a:cs typeface="Arial" panose="020B0604020202020204"/>
              </a:defRPr>
            </a:pPr>
            <a:r>
              <a:rPr sz="2025" b="1">
                <a:solidFill>
                  <a:srgbClr val="0B2450"/>
                </a:solidFill>
                <a:latin typeface="Arial" panose="020B0604020202020204"/>
                <a:ea typeface="Arial" panose="020B0604020202020204"/>
                <a:cs typeface="Arial" panose="020B0604020202020204"/>
              </a:rPr>
              <a:t>Sealed forecasts, then recorded reflection</a:t>
            </a:r>
            <a:endParaRPr sz="2025" b="1">
              <a:solidFill>
                <a:srgbClr val="0B2450"/>
              </a:solidFill>
              <a:latin typeface="Arial" panose="020B0604020202020204"/>
              <a:ea typeface="Arial" panose="020B0604020202020204"/>
              <a:cs typeface="Arial" panose="020B0604020202020204"/>
            </a:endParaRPr>
          </a:p>
        </p:txBody>
      </p:sp>
      <p:sp>
        <p:nvSpPr>
          <p:cNvPr id="32" name="矩形 31"/>
          <p:cNvSpPr>
            <a:spLocks noGrp="1"/>
          </p:cNvSpPr>
          <p:nvPr/>
        </p:nvSpPr>
        <p:spPr>
          <a:xfrm>
            <a:off x="523595" y="3286354"/>
            <a:ext cx="6018628" cy="468661"/>
          </a:xfrm>
          <a:prstGeom prst="rect">
            <a:avLst/>
          </a:prstGeom>
          <a:solidFill>
            <a:srgbClr val="EAF3FF"/>
          </a:solidFill>
          <a:ln w="0">
            <a:noFill/>
          </a:ln>
        </p:spPr>
      </p:sp>
      <p:sp>
        <p:nvSpPr>
          <p:cNvPr id="33" name="矩形 32"/>
          <p:cNvSpPr>
            <a:spLocks noGrp="1"/>
          </p:cNvSpPr>
          <p:nvPr/>
        </p:nvSpPr>
        <p:spPr>
          <a:xfrm>
            <a:off x="537882" y="3300642"/>
            <a:ext cx="5990053" cy="440086"/>
          </a:xfrm>
          <a:prstGeom prst="rect">
            <a:avLst/>
          </a:prstGeom>
          <a:noFill/>
          <a:ln w="0">
            <a:noFill/>
          </a:ln>
        </p:spPr>
        <p:txBody>
          <a:bodyPr wrap="none" lIns="0" tIns="0" rIns="0" bIns="0" anchor="ctr">
            <a:noAutofit/>
          </a:bodyPr>
          <a:lstStyle/>
          <a:p>
            <a:pPr algn="l">
              <a:defRPr sz="2025" b="1">
                <a:solidFill>
                  <a:srgbClr val="0B2450"/>
                </a:solidFill>
                <a:latin typeface="Arial" panose="020B0604020202020204"/>
                <a:ea typeface="Arial" panose="020B0604020202020204"/>
                <a:cs typeface="Arial" panose="020B0604020202020204"/>
              </a:defRPr>
            </a:pPr>
            <a:r>
              <a:rPr sz="2025" b="1">
                <a:solidFill>
                  <a:srgbClr val="0B2450"/>
                </a:solidFill>
                <a:latin typeface="Arial" panose="020B0604020202020204"/>
                <a:ea typeface="Arial" panose="020B0604020202020204"/>
                <a:cs typeface="Arial" panose="020B0604020202020204"/>
              </a:rPr>
              <a:t>12-batch session</a:t>
            </a:r>
            <a:endParaRPr sz="2025" b="1">
              <a:solidFill>
                <a:srgbClr val="0B2450"/>
              </a:solidFill>
              <a:latin typeface="Arial" panose="020B0604020202020204"/>
              <a:ea typeface="Arial" panose="020B0604020202020204"/>
              <a:cs typeface="Arial" panose="020B0604020202020204"/>
            </a:endParaRPr>
          </a:p>
        </p:txBody>
      </p:sp>
      <p:sp>
        <p:nvSpPr>
          <p:cNvPr id="34" name="矩形 33"/>
          <p:cNvSpPr>
            <a:spLocks noGrp="1"/>
          </p:cNvSpPr>
          <p:nvPr/>
        </p:nvSpPr>
        <p:spPr>
          <a:xfrm>
            <a:off x="7271573" y="3286354"/>
            <a:ext cx="6091976" cy="468661"/>
          </a:xfrm>
          <a:prstGeom prst="rect">
            <a:avLst/>
          </a:prstGeom>
          <a:solidFill>
            <a:srgbClr val="EAFAFA"/>
          </a:solidFill>
          <a:ln w="0">
            <a:noFill/>
          </a:ln>
        </p:spPr>
      </p:sp>
      <p:sp>
        <p:nvSpPr>
          <p:cNvPr id="35" name="矩形 34"/>
          <p:cNvSpPr>
            <a:spLocks noGrp="1"/>
          </p:cNvSpPr>
          <p:nvPr/>
        </p:nvSpPr>
        <p:spPr>
          <a:xfrm>
            <a:off x="7285861" y="3300642"/>
            <a:ext cx="6063401" cy="440086"/>
          </a:xfrm>
          <a:prstGeom prst="rect">
            <a:avLst/>
          </a:prstGeom>
          <a:noFill/>
          <a:ln w="0">
            <a:noFill/>
          </a:ln>
        </p:spPr>
        <p:txBody>
          <a:bodyPr wrap="none" lIns="0" tIns="0" rIns="0" bIns="0" anchor="ctr">
            <a:noAutofit/>
          </a:bodyPr>
          <a:lstStyle/>
          <a:p>
            <a:pPr algn="l">
              <a:defRPr sz="2025" b="1">
                <a:solidFill>
                  <a:srgbClr val="0B2450"/>
                </a:solidFill>
                <a:latin typeface="Arial" panose="020B0604020202020204"/>
                <a:ea typeface="Arial" panose="020B0604020202020204"/>
                <a:cs typeface="Arial" panose="020B0604020202020204"/>
              </a:defRPr>
            </a:pPr>
            <a:r>
              <a:rPr sz="2025" b="1">
                <a:solidFill>
                  <a:srgbClr val="0B2450"/>
                </a:solidFill>
                <a:latin typeface="Arial" panose="020B0604020202020204"/>
                <a:ea typeface="Arial" panose="020B0604020202020204"/>
                <a:cs typeface="Arial" panose="020B0604020202020204"/>
              </a:rPr>
              <a:t>24-batch session</a:t>
            </a:r>
            <a:endParaRPr sz="2025" b="1">
              <a:solidFill>
                <a:srgbClr val="0B2450"/>
              </a:solidFill>
              <a:latin typeface="Arial" panose="020B0604020202020204"/>
              <a:ea typeface="Arial" panose="020B0604020202020204"/>
              <a:cs typeface="Arial" panose="020B0604020202020204"/>
            </a:endParaRPr>
          </a:p>
        </p:txBody>
      </p:sp>
      <p:sp>
        <p:nvSpPr>
          <p:cNvPr id="36" name="矩形 35"/>
          <p:cNvSpPr>
            <a:spLocks noGrp="1"/>
          </p:cNvSpPr>
          <p:nvPr/>
        </p:nvSpPr>
        <p:spPr>
          <a:xfrm>
            <a:off x="523595" y="3885360"/>
            <a:ext cx="4600575" cy="383088"/>
          </a:xfrm>
          <a:prstGeom prst="rect">
            <a:avLst/>
          </a:prstGeom>
          <a:solidFill>
            <a:srgbClr val="FFFFFF"/>
          </a:solidFill>
          <a:ln w="0">
            <a:noFill/>
          </a:ln>
        </p:spPr>
      </p:sp>
      <p:sp>
        <p:nvSpPr>
          <p:cNvPr id="37" name="矩形 36"/>
          <p:cNvSpPr>
            <a:spLocks noGrp="1"/>
          </p:cNvSpPr>
          <p:nvPr/>
        </p:nvSpPr>
        <p:spPr>
          <a:xfrm>
            <a:off x="537882" y="3899647"/>
            <a:ext cx="4572000" cy="354513"/>
          </a:xfrm>
          <a:prstGeom prst="rect">
            <a:avLst/>
          </a:prstGeom>
          <a:noFill/>
          <a:ln w="0">
            <a:noFill/>
          </a:ln>
        </p:spPr>
        <p:txBody>
          <a:bodyPr wrap="none" lIns="0" tIns="0" rIns="0" bIns="0" anchor="ctr">
            <a:noAutofit/>
          </a:bodyPr>
          <a:lstStyle/>
          <a:p>
            <a:pPr algn="l">
              <a:defRPr sz="1500" b="0">
                <a:solidFill>
                  <a:srgbClr val="0B2450"/>
                </a:solidFill>
                <a:latin typeface="Arial" panose="020B0604020202020204"/>
                <a:ea typeface="Arial" panose="020B0604020202020204"/>
                <a:cs typeface="Arial" panose="020B0604020202020204"/>
              </a:defRPr>
            </a:pPr>
            <a:r>
              <a:rPr sz="1500" b="0">
                <a:solidFill>
                  <a:srgbClr val="0B2450"/>
                </a:solidFill>
                <a:latin typeface="Arial" panose="020B0604020202020204"/>
                <a:ea typeface="Arial" panose="020B0604020202020204"/>
                <a:cs typeface="Arial" panose="020B0604020202020204"/>
              </a:rPr>
              <a:t>Predicted fines fraction</a:t>
            </a:r>
            <a:endParaRPr sz="1500" b="0">
              <a:solidFill>
                <a:srgbClr val="0B2450"/>
              </a:solidFill>
              <a:latin typeface="Arial" panose="020B0604020202020204"/>
              <a:ea typeface="Arial" panose="020B0604020202020204"/>
              <a:cs typeface="Arial" panose="020B0604020202020204"/>
            </a:endParaRPr>
          </a:p>
        </p:txBody>
      </p:sp>
      <p:sp>
        <p:nvSpPr>
          <p:cNvPr id="38" name="矩形 37"/>
          <p:cNvSpPr>
            <a:spLocks noGrp="1"/>
          </p:cNvSpPr>
          <p:nvPr/>
        </p:nvSpPr>
        <p:spPr>
          <a:xfrm>
            <a:off x="7259349" y="3885360"/>
            <a:ext cx="4735046" cy="383088"/>
          </a:xfrm>
          <a:prstGeom prst="rect">
            <a:avLst/>
          </a:prstGeom>
          <a:solidFill>
            <a:srgbClr val="FFFFFF"/>
          </a:solidFill>
          <a:ln w="0">
            <a:noFill/>
          </a:ln>
        </p:spPr>
      </p:sp>
      <p:sp>
        <p:nvSpPr>
          <p:cNvPr id="39" name="矩形 38"/>
          <p:cNvSpPr>
            <a:spLocks noGrp="1"/>
          </p:cNvSpPr>
          <p:nvPr/>
        </p:nvSpPr>
        <p:spPr>
          <a:xfrm>
            <a:off x="7273636" y="3899647"/>
            <a:ext cx="4706471" cy="354513"/>
          </a:xfrm>
          <a:prstGeom prst="rect">
            <a:avLst/>
          </a:prstGeom>
          <a:noFill/>
          <a:ln w="0">
            <a:noFill/>
          </a:ln>
        </p:spPr>
        <p:txBody>
          <a:bodyPr wrap="none" lIns="0" tIns="0" rIns="0" bIns="0" anchor="ctr">
            <a:noAutofit/>
          </a:bodyPr>
          <a:lstStyle/>
          <a:p>
            <a:pPr algn="l">
              <a:defRPr sz="1500" b="0">
                <a:solidFill>
                  <a:srgbClr val="0B2450"/>
                </a:solidFill>
                <a:latin typeface="Arial" panose="020B0604020202020204"/>
                <a:ea typeface="Arial" panose="020B0604020202020204"/>
                <a:cs typeface="Arial" panose="020B0604020202020204"/>
              </a:defRPr>
            </a:pPr>
            <a:r>
              <a:rPr sz="1500" b="0">
                <a:solidFill>
                  <a:srgbClr val="0B2450"/>
                </a:solidFill>
                <a:latin typeface="Arial" panose="020B0604020202020204"/>
                <a:ea typeface="Arial" panose="020B0604020202020204"/>
                <a:cs typeface="Arial" panose="020B0604020202020204"/>
              </a:rPr>
              <a:t>Predicted fines fraction</a:t>
            </a:r>
            <a:endParaRPr sz="1500" b="0">
              <a:solidFill>
                <a:srgbClr val="0B2450"/>
              </a:solidFill>
              <a:latin typeface="Arial" panose="020B0604020202020204"/>
              <a:ea typeface="Arial" panose="020B0604020202020204"/>
              <a:cs typeface="Arial" panose="020B0604020202020204"/>
            </a:endParaRPr>
          </a:p>
        </p:txBody>
      </p:sp>
      <p:sp>
        <p:nvSpPr>
          <p:cNvPr id="40" name="矩形 39"/>
          <p:cNvSpPr>
            <a:spLocks noGrp="1"/>
          </p:cNvSpPr>
          <p:nvPr/>
        </p:nvSpPr>
        <p:spPr>
          <a:xfrm>
            <a:off x="1782729" y="4288771"/>
            <a:ext cx="3243645" cy="688703"/>
          </a:xfrm>
          <a:prstGeom prst="rect">
            <a:avLst/>
          </a:prstGeom>
          <a:solidFill>
            <a:srgbClr val="FFFFFF"/>
          </a:solidFill>
          <a:ln w="0">
            <a:noFill/>
          </a:ln>
        </p:spPr>
      </p:sp>
      <p:sp>
        <p:nvSpPr>
          <p:cNvPr id="41" name="矩形 40"/>
          <p:cNvSpPr>
            <a:spLocks noGrp="1"/>
          </p:cNvSpPr>
          <p:nvPr/>
        </p:nvSpPr>
        <p:spPr>
          <a:xfrm>
            <a:off x="1797016" y="4303059"/>
            <a:ext cx="3215070" cy="660128"/>
          </a:xfrm>
          <a:prstGeom prst="rect">
            <a:avLst/>
          </a:prstGeom>
          <a:noFill/>
          <a:ln w="0">
            <a:noFill/>
          </a:ln>
        </p:spPr>
        <p:txBody>
          <a:bodyPr wrap="none" lIns="0" tIns="0" rIns="0" bIns="0" anchor="ctr">
            <a:noAutofit/>
          </a:bodyPr>
          <a:lstStyle/>
          <a:p>
            <a:pPr algn="ctr">
              <a:defRPr sz="2250" b="1">
                <a:solidFill>
                  <a:srgbClr val="005CED"/>
                </a:solidFill>
                <a:latin typeface="Arial" panose="020B0604020202020204"/>
                <a:ea typeface="Arial" panose="020B0604020202020204"/>
                <a:cs typeface="Arial" panose="020B0604020202020204"/>
              </a:defRPr>
            </a:pPr>
            <a:r>
              <a:rPr sz="2250" b="1">
                <a:solidFill>
                  <a:srgbClr val="005CED"/>
                </a:solidFill>
                <a:latin typeface="Arial" panose="020B0604020202020204"/>
                <a:ea typeface="Arial" panose="020B0604020202020204"/>
                <a:cs typeface="Arial" panose="020B0604020202020204"/>
              </a:rPr>
              <a:t>17% → 12%</a:t>
            </a:r>
            <a:endParaRPr sz="2250" b="1">
              <a:solidFill>
                <a:srgbClr val="005CED"/>
              </a:solidFill>
              <a:latin typeface="Arial" panose="020B0604020202020204"/>
              <a:ea typeface="Arial" panose="020B0604020202020204"/>
              <a:cs typeface="Arial" panose="020B0604020202020204"/>
            </a:endParaRPr>
          </a:p>
        </p:txBody>
      </p:sp>
      <p:sp>
        <p:nvSpPr>
          <p:cNvPr id="42" name="矩形 41"/>
          <p:cNvSpPr>
            <a:spLocks noGrp="1"/>
          </p:cNvSpPr>
          <p:nvPr/>
        </p:nvSpPr>
        <p:spPr>
          <a:xfrm>
            <a:off x="8591830" y="4288771"/>
            <a:ext cx="3390340" cy="688703"/>
          </a:xfrm>
          <a:prstGeom prst="rect">
            <a:avLst/>
          </a:prstGeom>
          <a:solidFill>
            <a:srgbClr val="FFFFFF"/>
          </a:solidFill>
          <a:ln w="0">
            <a:noFill/>
          </a:ln>
        </p:spPr>
      </p:sp>
      <p:sp>
        <p:nvSpPr>
          <p:cNvPr id="43" name="矩形 42"/>
          <p:cNvSpPr>
            <a:spLocks noGrp="1"/>
          </p:cNvSpPr>
          <p:nvPr/>
        </p:nvSpPr>
        <p:spPr>
          <a:xfrm>
            <a:off x="8606118" y="4303059"/>
            <a:ext cx="3361765" cy="660128"/>
          </a:xfrm>
          <a:prstGeom prst="rect">
            <a:avLst/>
          </a:prstGeom>
          <a:noFill/>
          <a:ln w="0">
            <a:noFill/>
          </a:ln>
        </p:spPr>
        <p:txBody>
          <a:bodyPr wrap="none" lIns="0" tIns="0" rIns="0" bIns="0" anchor="ctr">
            <a:noAutofit/>
          </a:bodyPr>
          <a:lstStyle/>
          <a:p>
            <a:pPr algn="ctr">
              <a:defRPr sz="2250" b="1">
                <a:solidFill>
                  <a:srgbClr val="0098AD"/>
                </a:solidFill>
                <a:latin typeface="Arial" panose="020B0604020202020204"/>
                <a:ea typeface="Arial" panose="020B0604020202020204"/>
                <a:cs typeface="Arial" panose="020B0604020202020204"/>
              </a:defRPr>
            </a:pPr>
            <a:r>
              <a:rPr sz="2250" b="1">
                <a:solidFill>
                  <a:srgbClr val="0098AD"/>
                </a:solidFill>
                <a:latin typeface="Arial" panose="020B0604020202020204"/>
                <a:ea typeface="Arial" panose="020B0604020202020204"/>
                <a:cs typeface="Arial" panose="020B0604020202020204"/>
              </a:rPr>
              <a:t>49% → 35%</a:t>
            </a:r>
            <a:endParaRPr sz="2250" b="1">
              <a:solidFill>
                <a:srgbClr val="0098AD"/>
              </a:solidFill>
              <a:latin typeface="Arial" panose="020B0604020202020204"/>
              <a:ea typeface="Arial" panose="020B0604020202020204"/>
              <a:cs typeface="Arial" panose="020B0604020202020204"/>
            </a:endParaRPr>
          </a:p>
        </p:txBody>
      </p:sp>
      <p:sp>
        <p:nvSpPr>
          <p:cNvPr id="44" name="矩形 43"/>
          <p:cNvSpPr>
            <a:spLocks noGrp="1"/>
          </p:cNvSpPr>
          <p:nvPr/>
        </p:nvSpPr>
        <p:spPr>
          <a:xfrm>
            <a:off x="4166525" y="5144493"/>
            <a:ext cx="8035687" cy="395313"/>
          </a:xfrm>
          <a:prstGeom prst="rect">
            <a:avLst/>
          </a:prstGeom>
          <a:solidFill>
            <a:srgbClr val="EAF3FF"/>
          </a:solidFill>
          <a:ln w="0">
            <a:noFill/>
          </a:ln>
        </p:spPr>
      </p:sp>
      <p:sp>
        <p:nvSpPr>
          <p:cNvPr id="45" name="矩形 44"/>
          <p:cNvSpPr>
            <a:spLocks noGrp="1"/>
          </p:cNvSpPr>
          <p:nvPr/>
        </p:nvSpPr>
        <p:spPr>
          <a:xfrm>
            <a:off x="4180813" y="5158781"/>
            <a:ext cx="8007112" cy="366738"/>
          </a:xfrm>
          <a:prstGeom prst="rect">
            <a:avLst/>
          </a:prstGeom>
          <a:noFill/>
          <a:ln w="0">
            <a:noFill/>
          </a:ln>
        </p:spPr>
        <p:txBody>
          <a:bodyPr wrap="none" lIns="0" tIns="0" rIns="0" bIns="0" anchor="ctr">
            <a:noAutofit/>
          </a:bodyPr>
          <a:lstStyle/>
          <a:p>
            <a:pPr algn="ctr">
              <a:defRPr sz="1500" b="0">
                <a:solidFill>
                  <a:srgbClr val="0B2450"/>
                </a:solidFill>
                <a:latin typeface="Arial" panose="020B0604020202020204"/>
                <a:ea typeface="Arial" panose="020B0604020202020204"/>
                <a:cs typeface="Arial" panose="020B0604020202020204"/>
              </a:defRPr>
            </a:pPr>
            <a:r>
              <a:rPr sz="1500" b="0">
                <a:solidFill>
                  <a:srgbClr val="0B2450"/>
                </a:solidFill>
                <a:latin typeface="Arial" panose="020B0604020202020204"/>
                <a:ea typeface="Arial" panose="020B0604020202020204"/>
                <a:cs typeface="Arial" panose="020B0604020202020204"/>
              </a:rPr>
              <a:t>Expected: small particles dissolve preferentially</a:t>
            </a:r>
            <a:endParaRPr sz="1500" b="0">
              <a:solidFill>
                <a:srgbClr val="0B2450"/>
              </a:solidFill>
              <a:latin typeface="Arial" panose="020B0604020202020204"/>
              <a:ea typeface="Arial" panose="020B0604020202020204"/>
              <a:cs typeface="Arial" panose="020B0604020202020204"/>
            </a:endParaRPr>
          </a:p>
        </p:txBody>
      </p:sp>
      <p:sp>
        <p:nvSpPr>
          <p:cNvPr id="46" name="矩形 45"/>
          <p:cNvSpPr>
            <a:spLocks noGrp="1"/>
          </p:cNvSpPr>
          <p:nvPr/>
        </p:nvSpPr>
        <p:spPr>
          <a:xfrm>
            <a:off x="4679958" y="5963541"/>
            <a:ext cx="4453880" cy="407538"/>
          </a:xfrm>
          <a:prstGeom prst="rect">
            <a:avLst/>
          </a:prstGeom>
          <a:solidFill>
            <a:srgbClr val="E9F0FA"/>
          </a:solidFill>
          <a:ln w="0">
            <a:noFill/>
          </a:ln>
        </p:spPr>
      </p:sp>
      <p:sp>
        <p:nvSpPr>
          <p:cNvPr id="47" name="矩形 46"/>
          <p:cNvSpPr>
            <a:spLocks noGrp="1"/>
          </p:cNvSpPr>
          <p:nvPr/>
        </p:nvSpPr>
        <p:spPr>
          <a:xfrm>
            <a:off x="4694246" y="5977829"/>
            <a:ext cx="4425305" cy="378963"/>
          </a:xfrm>
          <a:prstGeom prst="rect">
            <a:avLst/>
          </a:prstGeom>
          <a:noFill/>
          <a:ln w="0">
            <a:noFill/>
          </a:ln>
        </p:spPr>
        <p:txBody>
          <a:bodyPr wrap="none" lIns="0" tIns="0" rIns="0" bIns="0" anchor="ctr">
            <a:noAutofit/>
          </a:bodyPr>
          <a:lstStyle/>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Predictions sealed     |     No truth feedback</a:t>
            </a:r>
            <a:endParaRPr sz="1350" b="0">
              <a:solidFill>
                <a:srgbClr val="0B2450"/>
              </a:solidFill>
              <a:latin typeface="Arial" panose="020B0604020202020204"/>
              <a:ea typeface="Arial" panose="020B0604020202020204"/>
              <a:cs typeface="Arial" panose="020B0604020202020204"/>
            </a:endParaRPr>
          </a:p>
        </p:txBody>
      </p:sp>
      <p:sp>
        <p:nvSpPr>
          <p:cNvPr id="48" name="矩形 47"/>
          <p:cNvSpPr>
            <a:spLocks noGrp="1"/>
          </p:cNvSpPr>
          <p:nvPr/>
        </p:nvSpPr>
        <p:spPr>
          <a:xfrm>
            <a:off x="4337670" y="6648119"/>
            <a:ext cx="7705623" cy="419762"/>
          </a:xfrm>
          <a:prstGeom prst="rect">
            <a:avLst/>
          </a:prstGeom>
          <a:solidFill>
            <a:srgbClr val="EEF6FC"/>
          </a:solidFill>
          <a:ln w="0">
            <a:noFill/>
          </a:ln>
        </p:spPr>
      </p:sp>
      <p:sp>
        <p:nvSpPr>
          <p:cNvPr id="49" name="矩形 48"/>
          <p:cNvSpPr>
            <a:spLocks noGrp="1"/>
          </p:cNvSpPr>
          <p:nvPr/>
        </p:nvSpPr>
        <p:spPr>
          <a:xfrm>
            <a:off x="4351957" y="6662406"/>
            <a:ext cx="7677048" cy="391187"/>
          </a:xfrm>
          <a:prstGeom prst="rect">
            <a:avLst/>
          </a:prstGeom>
          <a:noFill/>
          <a:ln w="0">
            <a:noFill/>
          </a:ln>
        </p:spPr>
        <p:txBody>
          <a:bodyPr wrap="none" lIns="0" tIns="0" rIns="0" bIns="0" anchor="ctr">
            <a:noAutofit/>
          </a:bodyPr>
          <a:lstStyle/>
          <a:p>
            <a:pPr algn="ctr">
              <a:defRPr sz="1500" b="0">
                <a:solidFill>
                  <a:srgbClr val="0B2450"/>
                </a:solidFill>
                <a:latin typeface="Arial" panose="020B0604020202020204"/>
                <a:ea typeface="Arial" panose="020B0604020202020204"/>
                <a:cs typeface="Arial" panose="020B0604020202020204"/>
              </a:defRPr>
            </a:pPr>
            <a:r>
              <a:rPr sz="1500" b="0">
                <a:solidFill>
                  <a:srgbClr val="0B2450"/>
                </a:solidFill>
                <a:latin typeface="Arial" panose="020B0604020202020204"/>
                <a:ea typeface="Arial" panose="020B0604020202020204"/>
                <a:cs typeface="Arial" panose="020B0604020202020204"/>
              </a:rPr>
              <a:t>Which prediction is least reliable, and why?</a:t>
            </a:r>
            <a:endParaRPr sz="1500" b="0">
              <a:solidFill>
                <a:srgbClr val="0B2450"/>
              </a:solidFill>
              <a:latin typeface="Arial" panose="020B0604020202020204"/>
              <a:ea typeface="Arial" panose="020B0604020202020204"/>
              <a:cs typeface="Arial" panose="020B0604020202020204"/>
            </a:endParaRPr>
          </a:p>
        </p:txBody>
      </p:sp>
      <p:sp>
        <p:nvSpPr>
          <p:cNvPr id="50" name="矩形 49"/>
          <p:cNvSpPr>
            <a:spLocks noGrp="1"/>
          </p:cNvSpPr>
          <p:nvPr/>
        </p:nvSpPr>
        <p:spPr>
          <a:xfrm>
            <a:off x="2345060" y="7271573"/>
            <a:ext cx="3952671" cy="810949"/>
          </a:xfrm>
          <a:prstGeom prst="rect">
            <a:avLst/>
          </a:prstGeom>
          <a:solidFill>
            <a:srgbClr val="FFFFFF"/>
          </a:solidFill>
          <a:ln w="0">
            <a:noFill/>
          </a:ln>
        </p:spPr>
      </p:sp>
      <p:sp>
        <p:nvSpPr>
          <p:cNvPr id="51" name="矩形 50"/>
          <p:cNvSpPr>
            <a:spLocks noGrp="1"/>
          </p:cNvSpPr>
          <p:nvPr/>
        </p:nvSpPr>
        <p:spPr>
          <a:xfrm>
            <a:off x="2359348" y="7285861"/>
            <a:ext cx="3924096" cy="782374"/>
          </a:xfrm>
          <a:prstGeom prst="rect">
            <a:avLst/>
          </a:prstGeom>
          <a:noFill/>
          <a:ln w="0">
            <a:noFill/>
          </a:ln>
        </p:spPr>
        <p:txBody>
          <a:bodyPr wrap="none" lIns="0" tIns="0" rIns="0" bIns="0" anchor="ctr">
            <a:noAutofit/>
          </a:bodyPr>
          <a:lstStyle/>
          <a:p>
            <a:pPr algn="l">
              <a:defRPr sz="1500" b="0">
                <a:solidFill>
                  <a:srgbClr val="0B2450"/>
                </a:solidFill>
                <a:latin typeface="Arial" panose="020B0604020202020204"/>
                <a:ea typeface="Arial" panose="020B0604020202020204"/>
                <a:cs typeface="Arial" panose="020B0604020202020204"/>
              </a:defRPr>
            </a:pPr>
            <a:r>
              <a:rPr sz="1500" b="0">
                <a:solidFill>
                  <a:srgbClr val="0B2450"/>
                </a:solidFill>
                <a:latin typeface="Arial" panose="020B0604020202020204"/>
                <a:ea typeface="Arial" panose="020B0604020202020204"/>
                <a:cs typeface="Arial" panose="020B0604020202020204"/>
              </a:rPr>
              <a:t>Thermal cycling was untested;</a:t>
            </a:r>
            <a:endParaRPr sz="1500" b="0">
              <a:solidFill>
                <a:srgbClr val="0B2450"/>
              </a:solidFill>
              <a:latin typeface="Arial" panose="020B0604020202020204"/>
              <a:ea typeface="Arial" panose="020B0604020202020204"/>
              <a:cs typeface="Arial" panose="020B0604020202020204"/>
            </a:endParaRPr>
          </a:p>
          <a:p>
            <a:pPr algn="l">
              <a:defRPr sz="1500" b="0">
                <a:solidFill>
                  <a:srgbClr val="0B2450"/>
                </a:solidFill>
                <a:latin typeface="Arial" panose="020B0604020202020204"/>
                <a:ea typeface="Arial" panose="020B0604020202020204"/>
                <a:cs typeface="Arial" panose="020B0604020202020204"/>
              </a:defRPr>
            </a:pPr>
            <a:r>
              <a:rPr sz="1500" b="0">
                <a:solidFill>
                  <a:srgbClr val="0B2450"/>
                </a:solidFill>
                <a:latin typeface="Arial" panose="020B0604020202020204"/>
                <a:ea typeface="Arial" panose="020B0604020202020204"/>
                <a:cs typeface="Arial" panose="020B0604020202020204"/>
              </a:rPr>
              <a:t>seed survival was assumed.</a:t>
            </a:r>
            <a:endParaRPr sz="1500" b="0">
              <a:solidFill>
                <a:srgbClr val="0B2450"/>
              </a:solidFill>
              <a:latin typeface="Arial" panose="020B0604020202020204"/>
              <a:ea typeface="Arial" panose="020B0604020202020204"/>
              <a:cs typeface="Arial" panose="020B0604020202020204"/>
            </a:endParaRPr>
          </a:p>
        </p:txBody>
      </p:sp>
      <p:sp>
        <p:nvSpPr>
          <p:cNvPr id="52" name="矩形 51"/>
          <p:cNvSpPr>
            <a:spLocks noGrp="1"/>
          </p:cNvSpPr>
          <p:nvPr/>
        </p:nvSpPr>
        <p:spPr>
          <a:xfrm>
            <a:off x="9264183" y="7247124"/>
            <a:ext cx="3854874" cy="872072"/>
          </a:xfrm>
          <a:prstGeom prst="rect">
            <a:avLst/>
          </a:prstGeom>
          <a:solidFill>
            <a:srgbClr val="FFFFFF"/>
          </a:solidFill>
          <a:ln w="0">
            <a:noFill/>
          </a:ln>
        </p:spPr>
      </p:sp>
      <p:sp>
        <p:nvSpPr>
          <p:cNvPr id="53" name="矩形 52"/>
          <p:cNvSpPr>
            <a:spLocks noGrp="1"/>
          </p:cNvSpPr>
          <p:nvPr/>
        </p:nvSpPr>
        <p:spPr>
          <a:xfrm>
            <a:off x="9278471" y="7261412"/>
            <a:ext cx="3826299" cy="843497"/>
          </a:xfrm>
          <a:prstGeom prst="rect">
            <a:avLst/>
          </a:prstGeom>
          <a:noFill/>
          <a:ln w="0">
            <a:noFill/>
          </a:ln>
        </p:spPr>
        <p:txBody>
          <a:bodyPr wrap="none" lIns="0" tIns="0" rIns="0" bIns="0" anchor="ctr">
            <a:noAutofit/>
          </a:bodyPr>
          <a:lstStyle/>
          <a:p>
            <a:pPr algn="l">
              <a:defRPr sz="1500" b="0">
                <a:solidFill>
                  <a:srgbClr val="0B2450"/>
                </a:solidFill>
                <a:latin typeface="Arial" panose="020B0604020202020204"/>
                <a:ea typeface="Arial" panose="020B0604020202020204"/>
                <a:cs typeface="Arial" panose="020B0604020202020204"/>
              </a:defRPr>
            </a:pPr>
            <a:r>
              <a:rPr sz="1500" b="0">
                <a:solidFill>
                  <a:srgbClr val="0B2450"/>
                </a:solidFill>
                <a:latin typeface="Arial" panose="020B0604020202020204"/>
                <a:ea typeface="Arial" panose="020B0604020202020204"/>
                <a:cs typeface="Arial" panose="020B0604020202020204"/>
              </a:rPr>
              <a:t>Batch 8 gave no improvement.</a:t>
            </a:r>
            <a:endParaRPr sz="1500" b="0">
              <a:solidFill>
                <a:srgbClr val="0B2450"/>
              </a:solidFill>
              <a:latin typeface="Arial" panose="020B0604020202020204"/>
              <a:ea typeface="Arial" panose="020B0604020202020204"/>
              <a:cs typeface="Arial" panose="020B0604020202020204"/>
            </a:endParaRPr>
          </a:p>
          <a:p>
            <a:pPr algn="l">
              <a:defRPr sz="1500" b="0">
                <a:solidFill>
                  <a:srgbClr val="0B2450"/>
                </a:solidFill>
                <a:latin typeface="Arial" panose="020B0604020202020204"/>
                <a:ea typeface="Arial" panose="020B0604020202020204"/>
                <a:cs typeface="Arial" panose="020B0604020202020204"/>
              </a:defRPr>
            </a:pPr>
            <a:r>
              <a:rPr sz="1500" b="0">
                <a:solidFill>
                  <a:srgbClr val="0B2450"/>
                </a:solidFill>
                <a:latin typeface="Arial" panose="020B0604020202020204"/>
                <a:ea typeface="Arial" panose="020B0604020202020204"/>
                <a:cs typeface="Arial" panose="020B0604020202020204"/>
              </a:rPr>
              <a:t>I underused this negative evidence.</a:t>
            </a:r>
            <a:endParaRPr sz="1500" b="0">
              <a:solidFill>
                <a:srgbClr val="0B2450"/>
              </a:solidFill>
              <a:latin typeface="Arial" panose="020B0604020202020204"/>
              <a:ea typeface="Arial" panose="020B0604020202020204"/>
              <a:cs typeface="Arial" panose="020B0604020202020204"/>
            </a:endParaRPr>
          </a:p>
        </p:txBody>
      </p:sp>
      <p:sp>
        <p:nvSpPr>
          <p:cNvPr id="54" name="矩形 53"/>
          <p:cNvSpPr>
            <a:spLocks noGrp="1"/>
          </p:cNvSpPr>
          <p:nvPr/>
        </p:nvSpPr>
        <p:spPr>
          <a:xfrm>
            <a:off x="706964" y="8176194"/>
            <a:ext cx="982094" cy="383088"/>
          </a:xfrm>
          <a:prstGeom prst="rect">
            <a:avLst/>
          </a:prstGeom>
          <a:solidFill>
            <a:srgbClr val="FFFFFF"/>
          </a:solidFill>
          <a:ln w="0">
            <a:noFill/>
          </a:ln>
        </p:spPr>
      </p:sp>
      <p:sp>
        <p:nvSpPr>
          <p:cNvPr id="55" name="矩形 54"/>
          <p:cNvSpPr>
            <a:spLocks noGrp="1"/>
          </p:cNvSpPr>
          <p:nvPr/>
        </p:nvSpPr>
        <p:spPr>
          <a:xfrm>
            <a:off x="721251" y="8190481"/>
            <a:ext cx="953519" cy="354513"/>
          </a:xfrm>
          <a:prstGeom prst="rect">
            <a:avLst/>
          </a:prstGeom>
          <a:noFill/>
          <a:ln w="0">
            <a:noFill/>
          </a:ln>
        </p:spPr>
        <p:txBody>
          <a:bodyPr wrap="none" lIns="0" tIns="0" rIns="0" bIns="0" anchor="ctr">
            <a:noAutofit/>
          </a:bodyPr>
          <a:lstStyle/>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Agent</a:t>
            </a:r>
            <a:endParaRPr sz="1350" b="0">
              <a:solidFill>
                <a:srgbClr val="0B2450"/>
              </a:solidFill>
              <a:latin typeface="Arial" panose="020B0604020202020204"/>
              <a:ea typeface="Arial" panose="020B0604020202020204"/>
              <a:cs typeface="Arial" panose="020B0604020202020204"/>
            </a:endParaRPr>
          </a:p>
        </p:txBody>
      </p:sp>
      <p:sp>
        <p:nvSpPr>
          <p:cNvPr id="56" name="矩形 55"/>
          <p:cNvSpPr>
            <a:spLocks noGrp="1"/>
          </p:cNvSpPr>
          <p:nvPr/>
        </p:nvSpPr>
        <p:spPr>
          <a:xfrm>
            <a:off x="7467167" y="8176194"/>
            <a:ext cx="994318" cy="383088"/>
          </a:xfrm>
          <a:prstGeom prst="rect">
            <a:avLst/>
          </a:prstGeom>
          <a:solidFill>
            <a:srgbClr val="FFFFFF"/>
          </a:solidFill>
          <a:ln w="0">
            <a:noFill/>
          </a:ln>
        </p:spPr>
      </p:sp>
      <p:sp>
        <p:nvSpPr>
          <p:cNvPr id="57" name="矩形 56"/>
          <p:cNvSpPr>
            <a:spLocks noGrp="1"/>
          </p:cNvSpPr>
          <p:nvPr/>
        </p:nvSpPr>
        <p:spPr>
          <a:xfrm>
            <a:off x="7481455" y="8190481"/>
            <a:ext cx="965743" cy="354513"/>
          </a:xfrm>
          <a:prstGeom prst="rect">
            <a:avLst/>
          </a:prstGeom>
          <a:noFill/>
          <a:ln w="0">
            <a:noFill/>
          </a:ln>
        </p:spPr>
        <p:txBody>
          <a:bodyPr wrap="none" lIns="0" tIns="0" rIns="0" bIns="0" anchor="ctr">
            <a:noAutofit/>
          </a:bodyPr>
          <a:lstStyle/>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Agent</a:t>
            </a:r>
            <a:endParaRPr sz="1350" b="0">
              <a:solidFill>
                <a:srgbClr val="0B2450"/>
              </a:solidFill>
              <a:latin typeface="Arial" panose="020B0604020202020204"/>
              <a:ea typeface="Arial" panose="020B0604020202020204"/>
              <a:cs typeface="Arial" panose="020B0604020202020204"/>
            </a:endParaRPr>
          </a:p>
        </p:txBody>
      </p:sp>
      <p:sp>
        <p:nvSpPr>
          <p:cNvPr id="58" name="矩形 57"/>
          <p:cNvSpPr>
            <a:spLocks noGrp="1"/>
          </p:cNvSpPr>
          <p:nvPr/>
        </p:nvSpPr>
        <p:spPr>
          <a:xfrm>
            <a:off x="9288632" y="8102846"/>
            <a:ext cx="3915997" cy="431987"/>
          </a:xfrm>
          <a:prstGeom prst="rect">
            <a:avLst/>
          </a:prstGeom>
          <a:solidFill>
            <a:srgbClr val="FFFFFF"/>
          </a:solidFill>
          <a:ln w="0">
            <a:noFill/>
          </a:ln>
        </p:spPr>
      </p:sp>
      <p:sp>
        <p:nvSpPr>
          <p:cNvPr id="59" name="矩形 58"/>
          <p:cNvSpPr>
            <a:spLocks noGrp="1"/>
          </p:cNvSpPr>
          <p:nvPr/>
        </p:nvSpPr>
        <p:spPr>
          <a:xfrm>
            <a:off x="9302920" y="8117134"/>
            <a:ext cx="3887422" cy="403412"/>
          </a:xfrm>
          <a:prstGeom prst="rect">
            <a:avLst/>
          </a:prstGeom>
          <a:noFill/>
          <a:ln w="0">
            <a:noFill/>
          </a:ln>
        </p:spPr>
        <p:txBody>
          <a:bodyPr wrap="none" lIns="0" tIns="0" rIns="0" bIns="0" anchor="ctr">
            <a:noAutofit/>
          </a:bodyPr>
          <a:lstStyle/>
          <a:p>
            <a:pPr algn="l">
              <a:defRPr sz="1500" b="0">
                <a:solidFill>
                  <a:srgbClr val="D92B20"/>
                </a:solidFill>
                <a:latin typeface="Arial" panose="020B0604020202020204"/>
                <a:ea typeface="Arial" panose="020B0604020202020204"/>
                <a:cs typeface="Arial" panose="020B0604020202020204"/>
              </a:defRPr>
            </a:pPr>
            <a:r>
              <a:rPr sz="1500" b="0">
                <a:solidFill>
                  <a:srgbClr val="D92B20"/>
                </a:solidFill>
                <a:latin typeface="Arial" panose="020B0604020202020204"/>
                <a:ea typeface="Arial" panose="020B0604020202020204"/>
                <a:cs typeface="Arial" panose="020B0604020202020204"/>
              </a:rPr>
              <a:t>Even the direction is uncertain.</a:t>
            </a:r>
            <a:endParaRPr sz="1500" b="0">
              <a:solidFill>
                <a:srgbClr val="D92B20"/>
              </a:solidFill>
              <a:latin typeface="Arial" panose="020B0604020202020204"/>
              <a:ea typeface="Arial" panose="020B0604020202020204"/>
              <a:cs typeface="Arial" panose="020B0604020202020204"/>
            </a:endParaRPr>
          </a:p>
        </p:txBody>
      </p:sp>
      <p:sp>
        <p:nvSpPr>
          <p:cNvPr id="60" name="矩形 59"/>
          <p:cNvSpPr>
            <a:spLocks noGrp="1"/>
          </p:cNvSpPr>
          <p:nvPr/>
        </p:nvSpPr>
        <p:spPr>
          <a:xfrm>
            <a:off x="3909809" y="8555156"/>
            <a:ext cx="7803420" cy="383088"/>
          </a:xfrm>
          <a:prstGeom prst="rect">
            <a:avLst/>
          </a:prstGeom>
          <a:solidFill>
            <a:srgbClr val="FFFFFF"/>
          </a:solidFill>
          <a:ln w="0">
            <a:noFill/>
          </a:ln>
        </p:spPr>
      </p:sp>
      <p:sp>
        <p:nvSpPr>
          <p:cNvPr id="61" name="矩形 60"/>
          <p:cNvSpPr>
            <a:spLocks noGrp="1"/>
          </p:cNvSpPr>
          <p:nvPr/>
        </p:nvSpPr>
        <p:spPr>
          <a:xfrm>
            <a:off x="3924096" y="8569444"/>
            <a:ext cx="7774845" cy="354513"/>
          </a:xfrm>
          <a:prstGeom prst="rect">
            <a:avLst/>
          </a:prstGeom>
          <a:noFill/>
          <a:ln w="0">
            <a:noFill/>
          </a:ln>
        </p:spPr>
        <p:txBody>
          <a:bodyPr wrap="none" lIns="0" tIns="0" rIns="0" bIns="0" anchor="ctr">
            <a:noAutofit/>
          </a:bodyPr>
          <a:lstStyle/>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Recorded retrospective answers, condensed; not verbatim quotations.</a:t>
            </a:r>
            <a:endParaRPr sz="1350" b="0">
              <a:solidFill>
                <a:srgbClr val="0B2450"/>
              </a:solidFill>
              <a:latin typeface="Arial" panose="020B0604020202020204"/>
              <a:ea typeface="Arial" panose="020B0604020202020204"/>
              <a:cs typeface="Arial" panose="020B0604020202020204"/>
            </a:endParaRPr>
          </a:p>
        </p:txBody>
      </p:sp>
      <p:sp>
        <p:nvSpPr>
          <p:cNvPr id="62" name="矩形 61"/>
          <p:cNvSpPr>
            <a:spLocks noGrp="1"/>
          </p:cNvSpPr>
          <p:nvPr/>
        </p:nvSpPr>
        <p:spPr>
          <a:xfrm>
            <a:off x="293390" y="9217348"/>
            <a:ext cx="415636" cy="427861"/>
          </a:xfrm>
          <a:prstGeom prst="rect">
            <a:avLst/>
          </a:prstGeom>
          <a:solidFill>
            <a:srgbClr val="FFFFFF"/>
          </a:solidFill>
          <a:ln w="0">
            <a:noFill/>
          </a:ln>
        </p:spPr>
      </p:sp>
      <p:sp>
        <p:nvSpPr>
          <p:cNvPr id="63" name="矩形 62"/>
          <p:cNvSpPr>
            <a:spLocks noGrp="1"/>
          </p:cNvSpPr>
          <p:nvPr/>
        </p:nvSpPr>
        <p:spPr>
          <a:xfrm>
            <a:off x="293390" y="9217348"/>
            <a:ext cx="415636" cy="427861"/>
          </a:xfrm>
          <a:prstGeom prst="rect">
            <a:avLst/>
          </a:prstGeom>
          <a:noFill/>
          <a:ln w="0">
            <a:noFill/>
          </a:ln>
        </p:spPr>
        <p:txBody>
          <a:bodyPr wrap="none" lIns="0" tIns="0" rIns="0" bIns="0" anchor="ctr">
            <a:noAutofit/>
          </a:bodyPr>
          <a:lstStyle/>
          <a:p>
            <a:pPr algn="l">
              <a:defRPr sz="2250" b="1">
                <a:solidFill>
                  <a:srgbClr val="0B2450"/>
                </a:solidFill>
                <a:latin typeface="Arial" panose="020B0604020202020204"/>
                <a:ea typeface="Arial" panose="020B0604020202020204"/>
                <a:cs typeface="Arial" panose="020B0604020202020204"/>
              </a:defRPr>
            </a:pPr>
            <a:r>
              <a:rPr sz="2250" b="1">
                <a:solidFill>
                  <a:srgbClr val="0B2450"/>
                </a:solidFill>
                <a:latin typeface="Arial" panose="020B0604020202020204"/>
                <a:ea typeface="Arial" panose="020B0604020202020204"/>
                <a:cs typeface="Arial" panose="020B0604020202020204"/>
              </a:rPr>
              <a:t>c</a:t>
            </a:r>
            <a:endParaRPr sz="2250" b="1">
              <a:solidFill>
                <a:srgbClr val="0B2450"/>
              </a:solidFill>
              <a:latin typeface="Arial" panose="020B0604020202020204"/>
              <a:ea typeface="Arial" panose="020B0604020202020204"/>
              <a:cs typeface="Arial" panose="020B0604020202020204"/>
            </a:endParaRPr>
          </a:p>
        </p:txBody>
      </p:sp>
      <p:sp>
        <p:nvSpPr>
          <p:cNvPr id="64" name="矩形 63"/>
          <p:cNvSpPr>
            <a:spLocks noGrp="1"/>
          </p:cNvSpPr>
          <p:nvPr/>
        </p:nvSpPr>
        <p:spPr>
          <a:xfrm>
            <a:off x="780311" y="9203060"/>
            <a:ext cx="12583238" cy="456436"/>
          </a:xfrm>
          <a:prstGeom prst="rect">
            <a:avLst/>
          </a:prstGeom>
          <a:solidFill>
            <a:srgbClr val="FFFFFF"/>
          </a:solidFill>
          <a:ln w="0">
            <a:noFill/>
          </a:ln>
        </p:spPr>
      </p:sp>
      <p:sp>
        <p:nvSpPr>
          <p:cNvPr id="65" name="矩形 64"/>
          <p:cNvSpPr>
            <a:spLocks noGrp="1"/>
          </p:cNvSpPr>
          <p:nvPr/>
        </p:nvSpPr>
        <p:spPr>
          <a:xfrm>
            <a:off x="794599" y="9217348"/>
            <a:ext cx="12554663" cy="427861"/>
          </a:xfrm>
          <a:prstGeom prst="rect">
            <a:avLst/>
          </a:prstGeom>
          <a:noFill/>
          <a:ln w="0">
            <a:noFill/>
          </a:ln>
        </p:spPr>
        <p:txBody>
          <a:bodyPr wrap="none" lIns="0" tIns="0" rIns="0" bIns="0" anchor="ctr">
            <a:noAutofit/>
          </a:bodyPr>
          <a:lstStyle/>
          <a:p>
            <a:pPr algn="l">
              <a:defRPr sz="2025" b="1">
                <a:solidFill>
                  <a:srgbClr val="0B2450"/>
                </a:solidFill>
                <a:latin typeface="Arial" panose="020B0604020202020204"/>
                <a:ea typeface="Arial" panose="020B0604020202020204"/>
                <a:cs typeface="Arial" panose="020B0604020202020204"/>
              </a:defRPr>
            </a:pPr>
            <a:r>
              <a:rPr sz="2025" b="1">
                <a:solidFill>
                  <a:srgbClr val="0B2450"/>
                </a:solidFill>
                <a:latin typeface="Arial" panose="020B0604020202020204"/>
                <a:ea typeface="Arial" panose="020B0604020202020204"/>
                <a:cs typeface="Arial" panose="020B0604020202020204"/>
              </a:rPr>
              <a:t>One experiment to distinguish explanations</a:t>
            </a:r>
            <a:endParaRPr sz="2025" b="1">
              <a:solidFill>
                <a:srgbClr val="0B2450"/>
              </a:solidFill>
              <a:latin typeface="Arial" panose="020B0604020202020204"/>
              <a:ea typeface="Arial" panose="020B0604020202020204"/>
              <a:cs typeface="Arial" panose="020B0604020202020204"/>
            </a:endParaRPr>
          </a:p>
        </p:txBody>
      </p:sp>
      <p:sp>
        <p:nvSpPr>
          <p:cNvPr id="66" name="矩形 65"/>
          <p:cNvSpPr>
            <a:spLocks noGrp="1"/>
          </p:cNvSpPr>
          <p:nvPr/>
        </p:nvSpPr>
        <p:spPr>
          <a:xfrm>
            <a:off x="548044" y="9716493"/>
            <a:ext cx="2510169" cy="407538"/>
          </a:xfrm>
          <a:prstGeom prst="rect">
            <a:avLst/>
          </a:prstGeom>
          <a:solidFill>
            <a:srgbClr val="EAFAFA"/>
          </a:solidFill>
          <a:ln w="0">
            <a:noFill/>
          </a:ln>
        </p:spPr>
      </p:sp>
      <p:sp>
        <p:nvSpPr>
          <p:cNvPr id="67" name="矩形 66"/>
          <p:cNvSpPr>
            <a:spLocks noGrp="1"/>
          </p:cNvSpPr>
          <p:nvPr/>
        </p:nvSpPr>
        <p:spPr>
          <a:xfrm>
            <a:off x="562332" y="9730781"/>
            <a:ext cx="2481594" cy="378963"/>
          </a:xfrm>
          <a:prstGeom prst="rect">
            <a:avLst/>
          </a:prstGeom>
          <a:noFill/>
          <a:ln w="0">
            <a:noFill/>
          </a:ln>
        </p:spPr>
        <p:txBody>
          <a:bodyPr wrap="none" lIns="0" tIns="0" rIns="0" bIns="0" anchor="ctr">
            <a:noAutofit/>
          </a:bodyPr>
          <a:lstStyle/>
          <a:p>
            <a:pPr algn="l">
              <a:defRPr sz="1500" b="0">
                <a:solidFill>
                  <a:srgbClr val="0B2450"/>
                </a:solidFill>
                <a:latin typeface="Arial" panose="020B0604020202020204"/>
                <a:ea typeface="Arial" panose="020B0604020202020204"/>
                <a:cs typeface="Arial" panose="020B0604020202020204"/>
              </a:defRPr>
            </a:pPr>
            <a:r>
              <a:rPr sz="1500" b="0">
                <a:solidFill>
                  <a:srgbClr val="0B2450"/>
                </a:solidFill>
                <a:latin typeface="Arial" panose="020B0604020202020204"/>
                <a:ea typeface="Arial" panose="020B0604020202020204"/>
                <a:cs typeface="Arial" panose="020B0604020202020204"/>
              </a:rPr>
              <a:t>24-batch session</a:t>
            </a:r>
            <a:endParaRPr sz="1500" b="0">
              <a:solidFill>
                <a:srgbClr val="0B2450"/>
              </a:solidFill>
              <a:latin typeface="Arial" panose="020B0604020202020204"/>
              <a:ea typeface="Arial" panose="020B0604020202020204"/>
              <a:cs typeface="Arial" panose="020B0604020202020204"/>
            </a:endParaRPr>
          </a:p>
        </p:txBody>
      </p:sp>
      <p:sp>
        <p:nvSpPr>
          <p:cNvPr id="68" name="矩形 67"/>
          <p:cNvSpPr>
            <a:spLocks noGrp="1"/>
          </p:cNvSpPr>
          <p:nvPr/>
        </p:nvSpPr>
        <p:spPr>
          <a:xfrm>
            <a:off x="3249680" y="9716493"/>
            <a:ext cx="7448907" cy="407538"/>
          </a:xfrm>
          <a:prstGeom prst="rect">
            <a:avLst/>
          </a:prstGeom>
          <a:solidFill>
            <a:srgbClr val="EAFAFA"/>
          </a:solidFill>
          <a:ln w="0">
            <a:noFill/>
          </a:ln>
        </p:spPr>
      </p:sp>
      <p:sp>
        <p:nvSpPr>
          <p:cNvPr id="69" name="矩形 68"/>
          <p:cNvSpPr>
            <a:spLocks noGrp="1"/>
          </p:cNvSpPr>
          <p:nvPr/>
        </p:nvSpPr>
        <p:spPr>
          <a:xfrm>
            <a:off x="3263968" y="9730781"/>
            <a:ext cx="7420332" cy="378963"/>
          </a:xfrm>
          <a:prstGeom prst="rect">
            <a:avLst/>
          </a:prstGeom>
          <a:noFill/>
          <a:ln w="0">
            <a:noFill/>
          </a:ln>
        </p:spPr>
        <p:txBody>
          <a:bodyPr wrap="none" lIns="0" tIns="0" rIns="0" bIns="0" anchor="ctr">
            <a:noAutofit/>
          </a:bodyPr>
          <a:lstStyle/>
          <a:p>
            <a:pPr algn="l">
              <a:defRPr sz="1500" b="0">
                <a:solidFill>
                  <a:srgbClr val="0B2450"/>
                </a:solidFill>
                <a:latin typeface="Arial" panose="020B0604020202020204"/>
                <a:ea typeface="Arial" panose="020B0604020202020204"/>
                <a:cs typeface="Arial" panose="020B0604020202020204"/>
              </a:defRPr>
            </a:pPr>
            <a:r>
              <a:rPr sz="1500" b="0">
                <a:solidFill>
                  <a:srgbClr val="0B2450"/>
                </a:solidFill>
                <a:latin typeface="Arial" panose="020B0604020202020204"/>
                <a:ea typeface="Arial" panose="020B0604020202020204"/>
                <a:cs typeface="Arial" panose="020B0604020202020204"/>
              </a:rPr>
              <a:t>Proposed only – not executed</a:t>
            </a:r>
            <a:endParaRPr sz="1500" b="0">
              <a:solidFill>
                <a:srgbClr val="0B2450"/>
              </a:solidFill>
              <a:latin typeface="Arial" panose="020B0604020202020204"/>
              <a:ea typeface="Arial" panose="020B0604020202020204"/>
              <a:cs typeface="Arial" panose="020B0604020202020204"/>
            </a:endParaRPr>
          </a:p>
        </p:txBody>
      </p:sp>
      <p:sp>
        <p:nvSpPr>
          <p:cNvPr id="70" name="矩形 69"/>
          <p:cNvSpPr>
            <a:spLocks noGrp="1"/>
          </p:cNvSpPr>
          <p:nvPr/>
        </p:nvSpPr>
        <p:spPr>
          <a:xfrm>
            <a:off x="5572354" y="10266600"/>
            <a:ext cx="6385366" cy="370864"/>
          </a:xfrm>
          <a:prstGeom prst="rect">
            <a:avLst/>
          </a:prstGeom>
          <a:solidFill>
            <a:srgbClr val="FFFFFF"/>
          </a:solidFill>
          <a:ln w="0">
            <a:noFill/>
          </a:ln>
        </p:spPr>
      </p:sp>
      <p:sp>
        <p:nvSpPr>
          <p:cNvPr id="71" name="矩形 70"/>
          <p:cNvSpPr>
            <a:spLocks noGrp="1"/>
          </p:cNvSpPr>
          <p:nvPr/>
        </p:nvSpPr>
        <p:spPr>
          <a:xfrm>
            <a:off x="5586642" y="10280888"/>
            <a:ext cx="6356791" cy="342289"/>
          </a:xfrm>
          <a:prstGeom prst="rect">
            <a:avLst/>
          </a:prstGeom>
          <a:noFill/>
          <a:ln w="0">
            <a:noFill/>
          </a:ln>
        </p:spPr>
        <p:txBody>
          <a:bodyPr wrap="none" lIns="0" tIns="0" rIns="0" bIns="0" anchor="ctr">
            <a:noAutofit/>
          </a:bodyPr>
          <a:lstStyle/>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Keep batch 23 upstream conditions</a:t>
            </a:r>
            <a:endParaRPr sz="1350" b="0">
              <a:solidFill>
                <a:srgbClr val="0B2450"/>
              </a:solidFill>
              <a:latin typeface="Arial" panose="020B0604020202020204"/>
              <a:ea typeface="Arial" panose="020B0604020202020204"/>
              <a:cs typeface="Arial" panose="020B0604020202020204"/>
            </a:endParaRPr>
          </a:p>
        </p:txBody>
      </p:sp>
      <p:sp>
        <p:nvSpPr>
          <p:cNvPr id="72" name="矩形 71"/>
          <p:cNvSpPr>
            <a:spLocks noGrp="1"/>
          </p:cNvSpPr>
          <p:nvPr/>
        </p:nvSpPr>
        <p:spPr>
          <a:xfrm>
            <a:off x="878108" y="11709103"/>
            <a:ext cx="969869" cy="444211"/>
          </a:xfrm>
          <a:prstGeom prst="rect">
            <a:avLst/>
          </a:prstGeom>
          <a:solidFill>
            <a:srgbClr val="FFFFFF"/>
          </a:solidFill>
          <a:ln w="0">
            <a:noFill/>
          </a:ln>
        </p:spPr>
      </p:sp>
      <p:sp>
        <p:nvSpPr>
          <p:cNvPr id="73" name="矩形 72"/>
          <p:cNvSpPr>
            <a:spLocks noGrp="1"/>
          </p:cNvSpPr>
          <p:nvPr/>
        </p:nvSpPr>
        <p:spPr>
          <a:xfrm>
            <a:off x="892396" y="11723390"/>
            <a:ext cx="941294" cy="415636"/>
          </a:xfrm>
          <a:prstGeom prst="rect">
            <a:avLst/>
          </a:prstGeom>
          <a:noFill/>
          <a:ln w="0">
            <a:noFill/>
          </a:ln>
        </p:spPr>
        <p:txBody>
          <a:bodyPr wrap="none" lIns="0" tIns="0" rIns="0" bIns="0" anchor="ctr">
            <a:noAutofit/>
          </a:bodyPr>
          <a:lstStyle/>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Agent</a:t>
            </a:r>
            <a:endParaRPr sz="1350" b="0">
              <a:solidFill>
                <a:srgbClr val="0B2450"/>
              </a:solidFill>
              <a:latin typeface="Arial" panose="020B0604020202020204"/>
              <a:ea typeface="Arial" panose="020B0604020202020204"/>
              <a:cs typeface="Arial" panose="020B0604020202020204"/>
            </a:endParaRPr>
          </a:p>
        </p:txBody>
      </p:sp>
      <p:sp>
        <p:nvSpPr>
          <p:cNvPr id="74" name="矩形 73"/>
          <p:cNvSpPr>
            <a:spLocks noGrp="1"/>
          </p:cNvSpPr>
          <p:nvPr/>
        </p:nvSpPr>
        <p:spPr>
          <a:xfrm>
            <a:off x="3995381" y="11269017"/>
            <a:ext cx="2045634" cy="358639"/>
          </a:xfrm>
          <a:prstGeom prst="rect">
            <a:avLst/>
          </a:prstGeom>
          <a:solidFill>
            <a:srgbClr val="EAF5FB"/>
          </a:solidFill>
          <a:ln w="0">
            <a:noFill/>
          </a:ln>
        </p:spPr>
      </p:sp>
      <p:sp>
        <p:nvSpPr>
          <p:cNvPr id="75" name="矩形 74"/>
          <p:cNvSpPr>
            <a:spLocks noGrp="1"/>
          </p:cNvSpPr>
          <p:nvPr/>
        </p:nvSpPr>
        <p:spPr>
          <a:xfrm>
            <a:off x="4009668" y="11283305"/>
            <a:ext cx="2017059" cy="330064"/>
          </a:xfrm>
          <a:prstGeom prst="rect">
            <a:avLst/>
          </a:prstGeom>
          <a:noFill/>
          <a:ln w="0">
            <a:noFill/>
          </a:ln>
        </p:spPr>
        <p:txBody>
          <a:bodyPr wrap="none" lIns="0" tIns="0" rIns="0" bIns="0" anchor="ctr">
            <a:noAutofit/>
          </a:bodyPr>
          <a:lstStyle/>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Staged cooling</a:t>
            </a:r>
            <a:endParaRPr sz="1350" b="0">
              <a:solidFill>
                <a:srgbClr val="0B2450"/>
              </a:solidFill>
              <a:latin typeface="Arial" panose="020B0604020202020204"/>
              <a:ea typeface="Arial" panose="020B0604020202020204"/>
              <a:cs typeface="Arial" panose="020B0604020202020204"/>
            </a:endParaRPr>
          </a:p>
        </p:txBody>
      </p:sp>
      <p:sp>
        <p:nvSpPr>
          <p:cNvPr id="76" name="矩形 75"/>
          <p:cNvSpPr>
            <a:spLocks noGrp="1"/>
          </p:cNvSpPr>
          <p:nvPr/>
        </p:nvSpPr>
        <p:spPr>
          <a:xfrm>
            <a:off x="6794814" y="10767809"/>
            <a:ext cx="1703345" cy="383088"/>
          </a:xfrm>
          <a:prstGeom prst="rect">
            <a:avLst/>
          </a:prstGeom>
          <a:solidFill>
            <a:srgbClr val="FFFFFF"/>
          </a:solidFill>
          <a:ln w="0">
            <a:noFill/>
          </a:ln>
        </p:spPr>
      </p:sp>
      <p:sp>
        <p:nvSpPr>
          <p:cNvPr id="77" name="矩形 76"/>
          <p:cNvSpPr>
            <a:spLocks noGrp="1"/>
          </p:cNvSpPr>
          <p:nvPr/>
        </p:nvSpPr>
        <p:spPr>
          <a:xfrm>
            <a:off x="6809102" y="10782096"/>
            <a:ext cx="1674770" cy="354513"/>
          </a:xfrm>
          <a:prstGeom prst="rect">
            <a:avLst/>
          </a:prstGeom>
          <a:noFill/>
          <a:ln w="0">
            <a:noFill/>
          </a:ln>
        </p:spPr>
        <p:txBody>
          <a:bodyPr wrap="none" lIns="0" tIns="0" rIns="0" bIns="0" anchor="ctr">
            <a:noAutofit/>
          </a:bodyPr>
          <a:lstStyle/>
          <a:p>
            <a:pPr algn="ctr">
              <a:defRPr sz="1350" b="0">
                <a:solidFill>
                  <a:srgbClr val="0098AD"/>
                </a:solidFill>
                <a:latin typeface="Arial" panose="020B0604020202020204"/>
                <a:ea typeface="Arial" panose="020B0604020202020204"/>
                <a:cs typeface="Arial" panose="020B0604020202020204"/>
              </a:defRPr>
            </a:pPr>
            <a:r>
              <a:rPr sz="1350" b="0">
                <a:solidFill>
                  <a:srgbClr val="0098AD"/>
                </a:solidFill>
                <a:latin typeface="Arial" panose="020B0604020202020204"/>
                <a:ea typeface="Arial" panose="020B0604020202020204"/>
                <a:cs typeface="Arial" panose="020B0604020202020204"/>
              </a:rPr>
              <a:t>replace with</a:t>
            </a:r>
            <a:endParaRPr sz="1350" b="0">
              <a:solidFill>
                <a:srgbClr val="0098AD"/>
              </a:solidFill>
              <a:latin typeface="Arial" panose="020B0604020202020204"/>
              <a:ea typeface="Arial" panose="020B0604020202020204"/>
              <a:cs typeface="Arial" panose="020B0604020202020204"/>
            </a:endParaRPr>
          </a:p>
        </p:txBody>
      </p:sp>
      <p:sp>
        <p:nvSpPr>
          <p:cNvPr id="78" name="矩形 77"/>
          <p:cNvSpPr>
            <a:spLocks noGrp="1"/>
          </p:cNvSpPr>
          <p:nvPr/>
        </p:nvSpPr>
        <p:spPr>
          <a:xfrm>
            <a:off x="9667595" y="10767809"/>
            <a:ext cx="1972286" cy="395313"/>
          </a:xfrm>
          <a:prstGeom prst="rect">
            <a:avLst/>
          </a:prstGeom>
          <a:solidFill>
            <a:srgbClr val="EAFAFA"/>
          </a:solidFill>
          <a:ln w="0">
            <a:noFill/>
          </a:ln>
        </p:spPr>
      </p:sp>
      <p:sp>
        <p:nvSpPr>
          <p:cNvPr id="79" name="矩形 78"/>
          <p:cNvSpPr>
            <a:spLocks noGrp="1"/>
          </p:cNvSpPr>
          <p:nvPr/>
        </p:nvSpPr>
        <p:spPr>
          <a:xfrm>
            <a:off x="9681882" y="10782096"/>
            <a:ext cx="1943711" cy="366738"/>
          </a:xfrm>
          <a:prstGeom prst="rect">
            <a:avLst/>
          </a:prstGeom>
          <a:noFill/>
          <a:ln w="0">
            <a:noFill/>
          </a:ln>
        </p:spPr>
        <p:txBody>
          <a:bodyPr wrap="none" lIns="0" tIns="0" rIns="0" bIns="0" anchor="ctr">
            <a:noAutofit/>
          </a:bodyPr>
          <a:lstStyle/>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Direct to 250 K</a:t>
            </a:r>
            <a:endParaRPr sz="1350" b="0">
              <a:solidFill>
                <a:srgbClr val="0B2450"/>
              </a:solidFill>
              <a:latin typeface="Arial" panose="020B0604020202020204"/>
              <a:ea typeface="Arial" panose="020B0604020202020204"/>
              <a:cs typeface="Arial" panose="020B0604020202020204"/>
            </a:endParaRPr>
          </a:p>
        </p:txBody>
      </p:sp>
      <p:sp>
        <p:nvSpPr>
          <p:cNvPr id="80" name="矩形 79"/>
          <p:cNvSpPr>
            <a:spLocks noGrp="1"/>
          </p:cNvSpPr>
          <p:nvPr/>
        </p:nvSpPr>
        <p:spPr>
          <a:xfrm>
            <a:off x="5120044" y="11831349"/>
            <a:ext cx="7106618" cy="407538"/>
          </a:xfrm>
          <a:prstGeom prst="rect">
            <a:avLst/>
          </a:prstGeom>
          <a:solidFill>
            <a:srgbClr val="FFFFFF"/>
          </a:solidFill>
          <a:ln w="0">
            <a:noFill/>
          </a:ln>
        </p:spPr>
      </p:sp>
      <p:sp>
        <p:nvSpPr>
          <p:cNvPr id="81" name="矩形 80"/>
          <p:cNvSpPr>
            <a:spLocks noGrp="1"/>
          </p:cNvSpPr>
          <p:nvPr/>
        </p:nvSpPr>
        <p:spPr>
          <a:xfrm>
            <a:off x="5134332" y="11845636"/>
            <a:ext cx="7078043" cy="378963"/>
          </a:xfrm>
          <a:prstGeom prst="rect">
            <a:avLst/>
          </a:prstGeom>
          <a:noFill/>
          <a:ln w="0">
            <a:noFill/>
          </a:ln>
        </p:spPr>
        <p:txBody>
          <a:bodyPr wrap="none" lIns="0" tIns="0" rIns="0" bIns="0" anchor="ctr">
            <a:noAutofit/>
          </a:bodyPr>
          <a:lstStyle/>
          <a:p>
            <a:pPr algn="ctr">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Expected interpretations proposed by the agent</a:t>
            </a:r>
            <a:endParaRPr sz="1350" b="0">
              <a:solidFill>
                <a:srgbClr val="0B2450"/>
              </a:solidFill>
              <a:latin typeface="Arial" panose="020B0604020202020204"/>
              <a:ea typeface="Arial" panose="020B0604020202020204"/>
              <a:cs typeface="Arial" panose="020B0604020202020204"/>
            </a:endParaRPr>
          </a:p>
        </p:txBody>
      </p:sp>
      <p:sp>
        <p:nvSpPr>
          <p:cNvPr id="82" name="矩形 81"/>
          <p:cNvSpPr>
            <a:spLocks noGrp="1"/>
          </p:cNvSpPr>
          <p:nvPr/>
        </p:nvSpPr>
        <p:spPr>
          <a:xfrm>
            <a:off x="2235039" y="12308108"/>
            <a:ext cx="3292543" cy="737602"/>
          </a:xfrm>
          <a:prstGeom prst="rect">
            <a:avLst/>
          </a:prstGeom>
          <a:solidFill>
            <a:srgbClr val="EDF6FD"/>
          </a:solidFill>
          <a:ln w="0">
            <a:noFill/>
          </a:ln>
        </p:spPr>
      </p:sp>
      <p:sp>
        <p:nvSpPr>
          <p:cNvPr id="83" name="矩形 82"/>
          <p:cNvSpPr>
            <a:spLocks noGrp="1"/>
          </p:cNvSpPr>
          <p:nvPr/>
        </p:nvSpPr>
        <p:spPr>
          <a:xfrm>
            <a:off x="2249326" y="12322396"/>
            <a:ext cx="3263968" cy="709027"/>
          </a:xfrm>
          <a:prstGeom prst="rect">
            <a:avLst/>
          </a:prstGeom>
          <a:noFill/>
          <a:ln w="0">
            <a:noFill/>
          </a:ln>
        </p:spPr>
        <p:txBody>
          <a:bodyPr wrap="none" lIns="0" tIns="0" rIns="0" bIns="0" anchor="ctr">
            <a:noAutofit/>
          </a:bodyPr>
          <a:lstStyle/>
          <a:p>
            <a:pPr algn="ctr">
              <a:defRPr sz="1500" b="0">
                <a:solidFill>
                  <a:srgbClr val="0B2450"/>
                </a:solidFill>
                <a:latin typeface="Arial" panose="020B0604020202020204"/>
                <a:ea typeface="Arial" panose="020B0604020202020204"/>
                <a:cs typeface="Arial" panose="020B0604020202020204"/>
              </a:defRPr>
            </a:pPr>
            <a:r>
              <a:rPr sz="1500" b="0">
                <a:solidFill>
                  <a:srgbClr val="0B2450"/>
                </a:solidFill>
                <a:latin typeface="Arial" panose="020B0604020202020204"/>
                <a:ea typeface="Arial" panose="020B0604020202020204"/>
                <a:cs typeface="Arial" panose="020B0604020202020204"/>
              </a:rPr>
              <a:t>Recovery + quality retained</a:t>
            </a:r>
            <a:endParaRPr sz="1500" b="0">
              <a:solidFill>
                <a:srgbClr val="0B2450"/>
              </a:solidFill>
              <a:latin typeface="Arial" panose="020B0604020202020204"/>
              <a:ea typeface="Arial" panose="020B0604020202020204"/>
              <a:cs typeface="Arial" panose="020B0604020202020204"/>
            </a:endParaRPr>
          </a:p>
          <a:p>
            <a:pPr algn="ctr">
              <a:defRPr sz="1500" b="0">
                <a:solidFill>
                  <a:srgbClr val="0B2450"/>
                </a:solidFill>
                <a:latin typeface="Arial" panose="020B0604020202020204"/>
                <a:ea typeface="Arial" panose="020B0604020202020204"/>
                <a:cs typeface="Arial" panose="020B0604020202020204"/>
              </a:defRPr>
            </a:pPr>
            <a:r>
              <a:rPr sz="1500" b="0">
                <a:solidFill>
                  <a:srgbClr val="0B2450"/>
                </a:solidFill>
                <a:latin typeface="Arial" panose="020B0604020202020204"/>
                <a:ea typeface="Arial" panose="020B0604020202020204"/>
                <a:cs typeface="Arial" panose="020B0604020202020204"/>
              </a:rPr>
              <a:t>→ Upstream dominates</a:t>
            </a:r>
            <a:endParaRPr sz="1500" b="0">
              <a:solidFill>
                <a:srgbClr val="0B2450"/>
              </a:solidFill>
              <a:latin typeface="Arial" panose="020B0604020202020204"/>
              <a:ea typeface="Arial" panose="020B0604020202020204"/>
              <a:cs typeface="Arial" panose="020B0604020202020204"/>
            </a:endParaRPr>
          </a:p>
        </p:txBody>
      </p:sp>
      <p:sp>
        <p:nvSpPr>
          <p:cNvPr id="84" name="矩形 83"/>
          <p:cNvSpPr>
            <a:spLocks noGrp="1"/>
          </p:cNvSpPr>
          <p:nvPr/>
        </p:nvSpPr>
        <p:spPr>
          <a:xfrm>
            <a:off x="5877969" y="12308108"/>
            <a:ext cx="3292543" cy="737602"/>
          </a:xfrm>
          <a:prstGeom prst="rect">
            <a:avLst/>
          </a:prstGeom>
          <a:solidFill>
            <a:srgbClr val="EDF6FD"/>
          </a:solidFill>
          <a:ln w="0">
            <a:noFill/>
          </a:ln>
        </p:spPr>
      </p:sp>
      <p:sp>
        <p:nvSpPr>
          <p:cNvPr id="85" name="矩形 84"/>
          <p:cNvSpPr>
            <a:spLocks noGrp="1"/>
          </p:cNvSpPr>
          <p:nvPr/>
        </p:nvSpPr>
        <p:spPr>
          <a:xfrm>
            <a:off x="5892257" y="12322396"/>
            <a:ext cx="3263968" cy="709027"/>
          </a:xfrm>
          <a:prstGeom prst="rect">
            <a:avLst/>
          </a:prstGeom>
          <a:noFill/>
          <a:ln w="0">
            <a:noFill/>
          </a:ln>
        </p:spPr>
        <p:txBody>
          <a:bodyPr wrap="none" lIns="0" tIns="0" rIns="0" bIns="0" anchor="ctr">
            <a:noAutofit/>
          </a:bodyPr>
          <a:lstStyle/>
          <a:p>
            <a:pPr algn="ctr">
              <a:defRPr sz="1500" b="0">
                <a:solidFill>
                  <a:srgbClr val="0B2450"/>
                </a:solidFill>
                <a:latin typeface="Arial" panose="020B0604020202020204"/>
                <a:ea typeface="Arial" panose="020B0604020202020204"/>
                <a:cs typeface="Arial" panose="020B0604020202020204"/>
              </a:defRPr>
            </a:pPr>
            <a:r>
              <a:rPr sz="1500" b="0">
                <a:solidFill>
                  <a:srgbClr val="0B2450"/>
                </a:solidFill>
                <a:latin typeface="Arial" panose="020B0604020202020204"/>
                <a:ea typeface="Arial" panose="020B0604020202020204"/>
                <a:cs typeface="Arial" panose="020B0604020202020204"/>
              </a:rPr>
              <a:t>Recovery retained; fines rise</a:t>
            </a:r>
            <a:endParaRPr sz="1500" b="0">
              <a:solidFill>
                <a:srgbClr val="0B2450"/>
              </a:solidFill>
              <a:latin typeface="Arial" panose="020B0604020202020204"/>
              <a:ea typeface="Arial" panose="020B0604020202020204"/>
              <a:cs typeface="Arial" panose="020B0604020202020204"/>
            </a:endParaRPr>
          </a:p>
          <a:p>
            <a:pPr algn="ctr">
              <a:defRPr sz="1500" b="0">
                <a:solidFill>
                  <a:srgbClr val="0B2450"/>
                </a:solidFill>
                <a:latin typeface="Arial" panose="020B0604020202020204"/>
                <a:ea typeface="Arial" panose="020B0604020202020204"/>
                <a:cs typeface="Arial" panose="020B0604020202020204"/>
              </a:defRPr>
            </a:pPr>
            <a:r>
              <a:rPr sz="1500" b="0">
                <a:solidFill>
                  <a:srgbClr val="0B2450"/>
                </a:solidFill>
                <a:latin typeface="Arial" panose="020B0604020202020204"/>
                <a:ea typeface="Arial" panose="020B0604020202020204"/>
                <a:cs typeface="Arial" panose="020B0604020202020204"/>
              </a:rPr>
              <a:t>→ Staging matters</a:t>
            </a:r>
            <a:endParaRPr sz="1500" b="0">
              <a:solidFill>
                <a:srgbClr val="0B2450"/>
              </a:solidFill>
              <a:latin typeface="Arial" panose="020B0604020202020204"/>
              <a:ea typeface="Arial" panose="020B0604020202020204"/>
              <a:cs typeface="Arial" panose="020B0604020202020204"/>
            </a:endParaRPr>
          </a:p>
        </p:txBody>
      </p:sp>
      <p:sp>
        <p:nvSpPr>
          <p:cNvPr id="86" name="矩形 85"/>
          <p:cNvSpPr>
            <a:spLocks noGrp="1"/>
          </p:cNvSpPr>
          <p:nvPr/>
        </p:nvSpPr>
        <p:spPr>
          <a:xfrm>
            <a:off x="9557573" y="12308108"/>
            <a:ext cx="3414789" cy="737602"/>
          </a:xfrm>
          <a:prstGeom prst="rect">
            <a:avLst/>
          </a:prstGeom>
          <a:solidFill>
            <a:srgbClr val="EDF6FD"/>
          </a:solidFill>
          <a:ln w="0">
            <a:noFill/>
          </a:ln>
        </p:spPr>
      </p:sp>
      <p:sp>
        <p:nvSpPr>
          <p:cNvPr id="87" name="矩形 86"/>
          <p:cNvSpPr>
            <a:spLocks noGrp="1"/>
          </p:cNvSpPr>
          <p:nvPr/>
        </p:nvSpPr>
        <p:spPr>
          <a:xfrm>
            <a:off x="9571861" y="12322396"/>
            <a:ext cx="3386214" cy="709027"/>
          </a:xfrm>
          <a:prstGeom prst="rect">
            <a:avLst/>
          </a:prstGeom>
          <a:noFill/>
          <a:ln w="0">
            <a:noFill/>
          </a:ln>
        </p:spPr>
        <p:txBody>
          <a:bodyPr wrap="none" lIns="0" tIns="0" rIns="0" bIns="0" anchor="ctr">
            <a:noAutofit/>
          </a:bodyPr>
          <a:lstStyle/>
          <a:p>
            <a:pPr algn="ctr">
              <a:defRPr sz="1500" b="0">
                <a:solidFill>
                  <a:srgbClr val="0B2450"/>
                </a:solidFill>
                <a:latin typeface="Arial" panose="020B0604020202020204"/>
                <a:ea typeface="Arial" panose="020B0604020202020204"/>
                <a:cs typeface="Arial" panose="020B0604020202020204"/>
              </a:defRPr>
            </a:pPr>
            <a:r>
              <a:rPr sz="1500" b="0">
                <a:solidFill>
                  <a:srgbClr val="0B2450"/>
                </a:solidFill>
                <a:latin typeface="Arial" panose="020B0604020202020204"/>
                <a:ea typeface="Arial" panose="020B0604020202020204"/>
                <a:cs typeface="Arial" panose="020B0604020202020204"/>
              </a:rPr>
              <a:t>Recovery + quality worsen</a:t>
            </a:r>
            <a:endParaRPr sz="1500" b="0">
              <a:solidFill>
                <a:srgbClr val="0B2450"/>
              </a:solidFill>
              <a:latin typeface="Arial" panose="020B0604020202020204"/>
              <a:ea typeface="Arial" panose="020B0604020202020204"/>
              <a:cs typeface="Arial" panose="020B0604020202020204"/>
            </a:endParaRPr>
          </a:p>
          <a:p>
            <a:pPr algn="ctr">
              <a:defRPr sz="1500" b="0">
                <a:solidFill>
                  <a:srgbClr val="0B2450"/>
                </a:solidFill>
                <a:latin typeface="Arial" panose="020B0604020202020204"/>
                <a:ea typeface="Arial" panose="020B0604020202020204"/>
                <a:cs typeface="Arial" panose="020B0604020202020204"/>
              </a:defRPr>
            </a:pPr>
            <a:r>
              <a:rPr sz="1500" b="0">
                <a:solidFill>
                  <a:srgbClr val="0B2450"/>
                </a:solidFill>
                <a:latin typeface="Arial" panose="020B0604020202020204"/>
                <a:ea typeface="Arial" panose="020B0604020202020204"/>
                <a:cs typeface="Arial" panose="020B0604020202020204"/>
              </a:rPr>
              <a:t>→ Interaction possible</a:t>
            </a:r>
            <a:endParaRPr sz="1500" b="0">
              <a:solidFill>
                <a:srgbClr val="0B2450"/>
              </a:solidFill>
              <a:latin typeface="Arial" panose="020B0604020202020204"/>
              <a:ea typeface="Arial" panose="020B0604020202020204"/>
              <a:cs typeface="Arial" panose="020B0604020202020204"/>
            </a:endParaRPr>
          </a:p>
        </p:txBody>
      </p:sp>
      <p:sp>
        <p:nvSpPr>
          <p:cNvPr id="88" name="矩形 87"/>
          <p:cNvSpPr>
            <a:spLocks noGrp="1"/>
          </p:cNvSpPr>
          <p:nvPr/>
        </p:nvSpPr>
        <p:spPr>
          <a:xfrm>
            <a:off x="293390" y="13361487"/>
            <a:ext cx="403412" cy="440086"/>
          </a:xfrm>
          <a:prstGeom prst="rect">
            <a:avLst/>
          </a:prstGeom>
          <a:solidFill>
            <a:srgbClr val="FFFFFF"/>
          </a:solidFill>
          <a:ln w="0">
            <a:noFill/>
          </a:ln>
        </p:spPr>
      </p:sp>
      <p:sp>
        <p:nvSpPr>
          <p:cNvPr id="89" name="矩形 88"/>
          <p:cNvSpPr>
            <a:spLocks noGrp="1"/>
          </p:cNvSpPr>
          <p:nvPr/>
        </p:nvSpPr>
        <p:spPr>
          <a:xfrm>
            <a:off x="293390" y="13361487"/>
            <a:ext cx="403412" cy="440086"/>
          </a:xfrm>
          <a:prstGeom prst="rect">
            <a:avLst/>
          </a:prstGeom>
          <a:noFill/>
          <a:ln w="0">
            <a:noFill/>
          </a:ln>
        </p:spPr>
        <p:txBody>
          <a:bodyPr wrap="none" lIns="0" tIns="0" rIns="0" bIns="0" anchor="ctr">
            <a:noAutofit/>
          </a:bodyPr>
          <a:lstStyle/>
          <a:p>
            <a:pPr algn="l">
              <a:defRPr sz="2250" b="1">
                <a:solidFill>
                  <a:srgbClr val="0B2450"/>
                </a:solidFill>
                <a:latin typeface="Arial" panose="020B0604020202020204"/>
                <a:ea typeface="Arial" panose="020B0604020202020204"/>
                <a:cs typeface="Arial" panose="020B0604020202020204"/>
              </a:defRPr>
            </a:pPr>
            <a:r>
              <a:rPr sz="2250" b="1">
                <a:solidFill>
                  <a:srgbClr val="0B2450"/>
                </a:solidFill>
                <a:latin typeface="Arial" panose="020B0604020202020204"/>
                <a:ea typeface="Arial" panose="020B0604020202020204"/>
                <a:cs typeface="Arial" panose="020B0604020202020204"/>
              </a:rPr>
              <a:t>d</a:t>
            </a:r>
            <a:endParaRPr sz="2250" b="1">
              <a:solidFill>
                <a:srgbClr val="0B2450"/>
              </a:solidFill>
              <a:latin typeface="Arial" panose="020B0604020202020204"/>
              <a:ea typeface="Arial" panose="020B0604020202020204"/>
              <a:cs typeface="Arial" panose="020B0604020202020204"/>
            </a:endParaRPr>
          </a:p>
        </p:txBody>
      </p:sp>
      <p:sp>
        <p:nvSpPr>
          <p:cNvPr id="90" name="矩形 89"/>
          <p:cNvSpPr>
            <a:spLocks noGrp="1"/>
          </p:cNvSpPr>
          <p:nvPr/>
        </p:nvSpPr>
        <p:spPr>
          <a:xfrm>
            <a:off x="780311" y="13347199"/>
            <a:ext cx="3243645" cy="468661"/>
          </a:xfrm>
          <a:prstGeom prst="rect">
            <a:avLst/>
          </a:prstGeom>
          <a:solidFill>
            <a:srgbClr val="FFFFFF"/>
          </a:solidFill>
          <a:ln w="0">
            <a:noFill/>
          </a:ln>
        </p:spPr>
      </p:sp>
      <p:sp>
        <p:nvSpPr>
          <p:cNvPr id="91" name="矩形 90"/>
          <p:cNvSpPr>
            <a:spLocks noGrp="1"/>
          </p:cNvSpPr>
          <p:nvPr/>
        </p:nvSpPr>
        <p:spPr>
          <a:xfrm>
            <a:off x="794599" y="13361487"/>
            <a:ext cx="3215070" cy="440086"/>
          </a:xfrm>
          <a:prstGeom prst="rect">
            <a:avLst/>
          </a:prstGeom>
          <a:noFill/>
          <a:ln w="0">
            <a:noFill/>
          </a:ln>
        </p:spPr>
        <p:txBody>
          <a:bodyPr wrap="none" lIns="0" tIns="0" rIns="0" bIns="0" anchor="ctr">
            <a:noAutofit/>
          </a:bodyPr>
          <a:lstStyle/>
          <a:p>
            <a:pPr algn="l">
              <a:defRPr sz="2025" b="1">
                <a:solidFill>
                  <a:srgbClr val="0B2450"/>
                </a:solidFill>
                <a:latin typeface="Arial" panose="020B0604020202020204"/>
                <a:ea typeface="Arial" panose="020B0604020202020204"/>
                <a:cs typeface="Arial" panose="020B0604020202020204"/>
              </a:defRPr>
            </a:pPr>
            <a:r>
              <a:rPr sz="2025" b="1">
                <a:solidFill>
                  <a:srgbClr val="0B2450"/>
                </a:solidFill>
                <a:latin typeface="Arial" panose="020B0604020202020204"/>
                <a:ea typeface="Arial" panose="020B0604020202020204"/>
                <a:cs typeface="Arial" panose="020B0604020202020204"/>
              </a:rPr>
              <a:t>Evaluator reference</a:t>
            </a:r>
            <a:endParaRPr sz="2025" b="1">
              <a:solidFill>
                <a:srgbClr val="0B2450"/>
              </a:solidFill>
              <a:latin typeface="Arial" panose="020B0604020202020204"/>
              <a:ea typeface="Arial" panose="020B0604020202020204"/>
              <a:cs typeface="Arial" panose="020B0604020202020204"/>
            </a:endParaRPr>
          </a:p>
        </p:txBody>
      </p:sp>
      <p:sp>
        <p:nvSpPr>
          <p:cNvPr id="92" name="矩形 91"/>
          <p:cNvSpPr>
            <a:spLocks noGrp="1"/>
          </p:cNvSpPr>
          <p:nvPr/>
        </p:nvSpPr>
        <p:spPr>
          <a:xfrm>
            <a:off x="4080953" y="13408322"/>
            <a:ext cx="9270372" cy="358639"/>
          </a:xfrm>
          <a:prstGeom prst="rect">
            <a:avLst/>
          </a:prstGeom>
          <a:solidFill>
            <a:srgbClr val="FFFFFF"/>
          </a:solidFill>
          <a:ln w="0">
            <a:noFill/>
          </a:ln>
        </p:spPr>
      </p:sp>
      <p:sp>
        <p:nvSpPr>
          <p:cNvPr id="93" name="矩形 92"/>
          <p:cNvSpPr>
            <a:spLocks noGrp="1"/>
          </p:cNvSpPr>
          <p:nvPr/>
        </p:nvSpPr>
        <p:spPr>
          <a:xfrm>
            <a:off x="4095241" y="13422610"/>
            <a:ext cx="9241797" cy="330064"/>
          </a:xfrm>
          <a:prstGeom prst="rect">
            <a:avLst/>
          </a:prstGeom>
          <a:noFill/>
          <a:ln w="0">
            <a:noFill/>
          </a:ln>
        </p:spPr>
        <p:txBody>
          <a:bodyPr wrap="none" lIns="0" tIns="0" rIns="0" bIns="0" anchor="ctr">
            <a:noAutofit/>
          </a:bodyPr>
          <a:lstStyle/>
          <a:p>
            <a:pPr algn="l">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Unavailable during prediction and reflection.</a:t>
            </a:r>
            <a:endParaRPr sz="1350" b="0">
              <a:solidFill>
                <a:srgbClr val="0B2450"/>
              </a:solidFill>
              <a:latin typeface="Arial" panose="020B0604020202020204"/>
              <a:ea typeface="Arial" panose="020B0604020202020204"/>
              <a:cs typeface="Arial" panose="020B0604020202020204"/>
            </a:endParaRPr>
          </a:p>
        </p:txBody>
      </p:sp>
      <p:sp>
        <p:nvSpPr>
          <p:cNvPr id="94" name="矩形 93"/>
          <p:cNvSpPr>
            <a:spLocks noGrp="1"/>
          </p:cNvSpPr>
          <p:nvPr/>
        </p:nvSpPr>
        <p:spPr>
          <a:xfrm>
            <a:off x="474696" y="14056226"/>
            <a:ext cx="4869516" cy="407538"/>
          </a:xfrm>
          <a:prstGeom prst="rect">
            <a:avLst/>
          </a:prstGeom>
          <a:solidFill>
            <a:srgbClr val="FFF1F2"/>
          </a:solidFill>
          <a:ln w="0">
            <a:noFill/>
          </a:ln>
        </p:spPr>
      </p:sp>
      <p:sp>
        <p:nvSpPr>
          <p:cNvPr id="95" name="矩形 94"/>
          <p:cNvSpPr>
            <a:spLocks noGrp="1"/>
          </p:cNvSpPr>
          <p:nvPr/>
        </p:nvSpPr>
        <p:spPr>
          <a:xfrm>
            <a:off x="488984" y="14070513"/>
            <a:ext cx="4840941" cy="378963"/>
          </a:xfrm>
          <a:prstGeom prst="rect">
            <a:avLst/>
          </a:prstGeom>
          <a:noFill/>
          <a:ln w="0">
            <a:noFill/>
          </a:ln>
        </p:spPr>
        <p:txBody>
          <a:bodyPr wrap="none" lIns="0" tIns="0" rIns="0" bIns="0" anchor="ctr">
            <a:noAutofit/>
          </a:bodyPr>
          <a:lstStyle/>
          <a:p>
            <a:pPr algn="l">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Reference for the reheating question in a</a:t>
            </a:r>
            <a:endParaRPr sz="1350" b="0">
              <a:solidFill>
                <a:srgbClr val="0B2450"/>
              </a:solidFill>
              <a:latin typeface="Arial" panose="020B0604020202020204"/>
              <a:ea typeface="Arial" panose="020B0604020202020204"/>
              <a:cs typeface="Arial" panose="020B0604020202020204"/>
            </a:endParaRPr>
          </a:p>
        </p:txBody>
      </p:sp>
      <p:sp>
        <p:nvSpPr>
          <p:cNvPr id="96" name="矩形 95"/>
          <p:cNvSpPr>
            <a:spLocks noGrp="1"/>
          </p:cNvSpPr>
          <p:nvPr/>
        </p:nvSpPr>
        <p:spPr>
          <a:xfrm>
            <a:off x="474696" y="14471862"/>
            <a:ext cx="4869516" cy="321965"/>
          </a:xfrm>
          <a:prstGeom prst="rect">
            <a:avLst/>
          </a:prstGeom>
          <a:solidFill>
            <a:srgbClr val="FFF1F2"/>
          </a:solidFill>
          <a:ln w="0">
            <a:noFill/>
          </a:ln>
        </p:spPr>
      </p:sp>
      <p:sp>
        <p:nvSpPr>
          <p:cNvPr id="97" name="矩形 96"/>
          <p:cNvSpPr>
            <a:spLocks noGrp="1"/>
          </p:cNvSpPr>
          <p:nvPr/>
        </p:nvSpPr>
        <p:spPr>
          <a:xfrm>
            <a:off x="488984" y="14486150"/>
            <a:ext cx="4840941" cy="293390"/>
          </a:xfrm>
          <a:prstGeom prst="rect">
            <a:avLst/>
          </a:prstGeom>
          <a:noFill/>
          <a:ln w="0">
            <a:noFill/>
          </a:ln>
        </p:spPr>
        <p:txBody>
          <a:bodyPr wrap="none" lIns="0" tIns="0" rIns="0" bIns="0" anchor="ctr">
            <a:noAutofit/>
          </a:bodyPr>
          <a:lstStyle/>
          <a:p>
            <a:pPr algn="l">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Noise-free simulator reference.</a:t>
            </a:r>
            <a:endParaRPr sz="1350" b="0">
              <a:solidFill>
                <a:srgbClr val="0B2450"/>
              </a:solidFill>
              <a:latin typeface="Arial" panose="020B0604020202020204"/>
              <a:ea typeface="Arial" panose="020B0604020202020204"/>
              <a:cs typeface="Arial" panose="020B0604020202020204"/>
            </a:endParaRPr>
          </a:p>
        </p:txBody>
      </p:sp>
      <p:sp>
        <p:nvSpPr>
          <p:cNvPr id="98" name="矩形 97"/>
          <p:cNvSpPr>
            <a:spLocks noGrp="1"/>
          </p:cNvSpPr>
          <p:nvPr/>
        </p:nvSpPr>
        <p:spPr>
          <a:xfrm>
            <a:off x="5450108" y="14068450"/>
            <a:ext cx="982094" cy="456436"/>
          </a:xfrm>
          <a:prstGeom prst="rect">
            <a:avLst/>
          </a:prstGeom>
          <a:solidFill>
            <a:srgbClr val="FFF1F2"/>
          </a:solidFill>
          <a:ln w="0">
            <a:noFill/>
          </a:ln>
        </p:spPr>
      </p:sp>
      <p:sp>
        <p:nvSpPr>
          <p:cNvPr id="99" name="矩形 98"/>
          <p:cNvSpPr>
            <a:spLocks noGrp="1"/>
          </p:cNvSpPr>
          <p:nvPr/>
        </p:nvSpPr>
        <p:spPr>
          <a:xfrm>
            <a:off x="5464396" y="14082738"/>
            <a:ext cx="953519" cy="427861"/>
          </a:xfrm>
          <a:prstGeom prst="rect">
            <a:avLst/>
          </a:prstGeom>
          <a:noFill/>
          <a:ln w="0">
            <a:noFill/>
          </a:ln>
        </p:spPr>
        <p:txBody>
          <a:bodyPr wrap="none" lIns="0" tIns="0" rIns="0" bIns="0" anchor="ctr">
            <a:noAutofit/>
          </a:bodyPr>
          <a:lstStyle/>
          <a:p>
            <a:pPr algn="l">
              <a:defRPr sz="1500" b="0">
                <a:solidFill>
                  <a:srgbClr val="0B2450"/>
                </a:solidFill>
                <a:latin typeface="Arial" panose="020B0604020202020204"/>
                <a:ea typeface="Arial" panose="020B0604020202020204"/>
                <a:cs typeface="Arial" panose="020B0604020202020204"/>
              </a:defRPr>
            </a:pPr>
            <a:r>
              <a:rPr sz="1500" b="0">
                <a:solidFill>
                  <a:srgbClr val="0B2450"/>
                </a:solidFill>
                <a:latin typeface="Arial" panose="020B0604020202020204"/>
                <a:ea typeface="Arial" panose="020B0604020202020204"/>
                <a:cs typeface="Arial" panose="020B0604020202020204"/>
              </a:rPr>
              <a:t>Fines:</a:t>
            </a:r>
            <a:endParaRPr sz="1500" b="0">
              <a:solidFill>
                <a:srgbClr val="0B2450"/>
              </a:solidFill>
              <a:latin typeface="Arial" panose="020B0604020202020204"/>
              <a:ea typeface="Arial" panose="020B0604020202020204"/>
              <a:cs typeface="Arial" panose="020B0604020202020204"/>
            </a:endParaRPr>
          </a:p>
        </p:txBody>
      </p:sp>
      <p:sp>
        <p:nvSpPr>
          <p:cNvPr id="100" name="矩形 99"/>
          <p:cNvSpPr>
            <a:spLocks noGrp="1"/>
          </p:cNvSpPr>
          <p:nvPr/>
        </p:nvSpPr>
        <p:spPr>
          <a:xfrm>
            <a:off x="6464750" y="13995103"/>
            <a:ext cx="2828008" cy="554233"/>
          </a:xfrm>
          <a:prstGeom prst="rect">
            <a:avLst/>
          </a:prstGeom>
          <a:solidFill>
            <a:srgbClr val="FFF1F2"/>
          </a:solidFill>
          <a:ln w="0">
            <a:noFill/>
          </a:ln>
        </p:spPr>
      </p:sp>
      <p:sp>
        <p:nvSpPr>
          <p:cNvPr id="101" name="矩形 100"/>
          <p:cNvSpPr>
            <a:spLocks noGrp="1"/>
          </p:cNvSpPr>
          <p:nvPr/>
        </p:nvSpPr>
        <p:spPr>
          <a:xfrm>
            <a:off x="6479037" y="14009390"/>
            <a:ext cx="2799433" cy="525658"/>
          </a:xfrm>
          <a:prstGeom prst="rect">
            <a:avLst/>
          </a:prstGeom>
          <a:noFill/>
          <a:ln w="0">
            <a:noFill/>
          </a:ln>
        </p:spPr>
        <p:txBody>
          <a:bodyPr wrap="none" lIns="0" tIns="0" rIns="0" bIns="0" anchor="ctr">
            <a:noAutofit/>
          </a:bodyPr>
          <a:lstStyle/>
          <a:p>
            <a:pPr algn="ctr">
              <a:defRPr sz="2250" b="1">
                <a:solidFill>
                  <a:srgbClr val="D92B20"/>
                </a:solidFill>
                <a:latin typeface="Arial" panose="020B0604020202020204"/>
                <a:ea typeface="Arial" panose="020B0604020202020204"/>
                <a:cs typeface="Arial" panose="020B0604020202020204"/>
              </a:defRPr>
            </a:pPr>
            <a:r>
              <a:rPr sz="2250" b="1">
                <a:solidFill>
                  <a:srgbClr val="D92B20"/>
                </a:solidFill>
                <a:latin typeface="Arial" panose="020B0604020202020204"/>
                <a:ea typeface="Arial" panose="020B0604020202020204"/>
                <a:cs typeface="Arial" panose="020B0604020202020204"/>
              </a:rPr>
              <a:t>35% → 100%</a:t>
            </a:r>
            <a:endParaRPr sz="2250" b="1">
              <a:solidFill>
                <a:srgbClr val="D92B20"/>
              </a:solidFill>
              <a:latin typeface="Arial" panose="020B0604020202020204"/>
              <a:ea typeface="Arial" panose="020B0604020202020204"/>
              <a:cs typeface="Arial" panose="020B0604020202020204"/>
            </a:endParaRPr>
          </a:p>
        </p:txBody>
      </p:sp>
      <p:sp>
        <p:nvSpPr>
          <p:cNvPr id="102" name="矩形 101"/>
          <p:cNvSpPr>
            <a:spLocks noGrp="1"/>
          </p:cNvSpPr>
          <p:nvPr/>
        </p:nvSpPr>
        <p:spPr>
          <a:xfrm>
            <a:off x="5523456" y="14594108"/>
            <a:ext cx="2387923" cy="358639"/>
          </a:xfrm>
          <a:prstGeom prst="rect">
            <a:avLst/>
          </a:prstGeom>
          <a:solidFill>
            <a:srgbClr val="FFF1F2"/>
          </a:solidFill>
          <a:ln w="0">
            <a:noFill/>
          </a:ln>
        </p:spPr>
      </p:sp>
      <p:sp>
        <p:nvSpPr>
          <p:cNvPr id="103" name="矩形 102"/>
          <p:cNvSpPr>
            <a:spLocks noGrp="1"/>
          </p:cNvSpPr>
          <p:nvPr/>
        </p:nvSpPr>
        <p:spPr>
          <a:xfrm>
            <a:off x="5537743" y="14608396"/>
            <a:ext cx="2359348" cy="330064"/>
          </a:xfrm>
          <a:prstGeom prst="rect">
            <a:avLst/>
          </a:prstGeom>
          <a:noFill/>
          <a:ln w="0">
            <a:noFill/>
          </a:ln>
        </p:spPr>
        <p:txBody>
          <a:bodyPr wrap="none" lIns="0" tIns="0" rIns="0" bIns="0" anchor="ctr">
            <a:noAutofit/>
          </a:bodyPr>
          <a:lstStyle/>
          <a:p>
            <a:pPr algn="l">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Hold: passes fines limit</a:t>
            </a:r>
            <a:endParaRPr sz="1350" b="0">
              <a:solidFill>
                <a:srgbClr val="0B2450"/>
              </a:solidFill>
              <a:latin typeface="Arial" panose="020B0604020202020204"/>
              <a:ea typeface="Arial" panose="020B0604020202020204"/>
              <a:cs typeface="Arial" panose="020B0604020202020204"/>
            </a:endParaRPr>
          </a:p>
        </p:txBody>
      </p:sp>
      <p:sp>
        <p:nvSpPr>
          <p:cNvPr id="104" name="矩形 103"/>
          <p:cNvSpPr>
            <a:spLocks noGrp="1"/>
          </p:cNvSpPr>
          <p:nvPr/>
        </p:nvSpPr>
        <p:spPr>
          <a:xfrm>
            <a:off x="7931702" y="14594108"/>
            <a:ext cx="2155655" cy="358639"/>
          </a:xfrm>
          <a:prstGeom prst="rect">
            <a:avLst/>
          </a:prstGeom>
          <a:solidFill>
            <a:srgbClr val="FFF1F2"/>
          </a:solidFill>
          <a:ln w="0">
            <a:noFill/>
          </a:ln>
        </p:spPr>
      </p:sp>
      <p:sp>
        <p:nvSpPr>
          <p:cNvPr id="105" name="矩形 104"/>
          <p:cNvSpPr>
            <a:spLocks noGrp="1"/>
          </p:cNvSpPr>
          <p:nvPr/>
        </p:nvSpPr>
        <p:spPr>
          <a:xfrm>
            <a:off x="7945989" y="14608396"/>
            <a:ext cx="2127080" cy="330064"/>
          </a:xfrm>
          <a:prstGeom prst="rect">
            <a:avLst/>
          </a:prstGeom>
          <a:noFill/>
          <a:ln w="0">
            <a:noFill/>
          </a:ln>
        </p:spPr>
        <p:txBody>
          <a:bodyPr wrap="none" lIns="0" tIns="0" rIns="0" bIns="0" anchor="ctr">
            <a:noAutofit/>
          </a:bodyPr>
          <a:lstStyle/>
          <a:p>
            <a:pPr algn="l">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Reheat + recool: fails</a:t>
            </a:r>
            <a:endParaRPr sz="1350" b="0">
              <a:solidFill>
                <a:srgbClr val="0B2450"/>
              </a:solidFill>
              <a:latin typeface="Arial" panose="020B0604020202020204"/>
              <a:ea typeface="Arial" panose="020B0604020202020204"/>
              <a:cs typeface="Arial" panose="020B0604020202020204"/>
            </a:endParaRPr>
          </a:p>
        </p:txBody>
      </p:sp>
      <p:sp>
        <p:nvSpPr>
          <p:cNvPr id="106" name="矩形 105"/>
          <p:cNvSpPr>
            <a:spLocks noGrp="1"/>
          </p:cNvSpPr>
          <p:nvPr/>
        </p:nvSpPr>
        <p:spPr>
          <a:xfrm>
            <a:off x="10498868" y="14056226"/>
            <a:ext cx="2889131" cy="762051"/>
          </a:xfrm>
          <a:prstGeom prst="rect">
            <a:avLst/>
          </a:prstGeom>
          <a:solidFill>
            <a:srgbClr val="FFF1F2"/>
          </a:solidFill>
          <a:ln w="0">
            <a:noFill/>
          </a:ln>
        </p:spPr>
      </p:sp>
      <p:sp>
        <p:nvSpPr>
          <p:cNvPr id="107" name="矩形 106"/>
          <p:cNvSpPr>
            <a:spLocks noGrp="1"/>
          </p:cNvSpPr>
          <p:nvPr/>
        </p:nvSpPr>
        <p:spPr>
          <a:xfrm>
            <a:off x="10513155" y="14070513"/>
            <a:ext cx="2860556" cy="733476"/>
          </a:xfrm>
          <a:prstGeom prst="rect">
            <a:avLst/>
          </a:prstGeom>
          <a:noFill/>
          <a:ln w="0">
            <a:noFill/>
          </a:ln>
        </p:spPr>
        <p:txBody>
          <a:bodyPr wrap="none" lIns="0" tIns="0" rIns="0" bIns="0" anchor="ctr">
            <a:noAutofit/>
          </a:bodyPr>
          <a:lstStyle/>
          <a:p>
            <a:pPr algn="l">
              <a:defRPr sz="1500" b="0">
                <a:solidFill>
                  <a:srgbClr val="0B2450"/>
                </a:solidFill>
                <a:latin typeface="Arial" panose="020B0604020202020204"/>
                <a:ea typeface="Arial" panose="020B0604020202020204"/>
                <a:cs typeface="Arial" panose="020B0604020202020204"/>
              </a:defRPr>
            </a:pPr>
            <a:r>
              <a:rPr sz="1500" b="0">
                <a:solidFill>
                  <a:srgbClr val="0B2450"/>
                </a:solidFill>
                <a:latin typeface="Arial" panose="020B0604020202020204"/>
                <a:ea typeface="Arial" panose="020B0604020202020204"/>
                <a:cs typeface="Arial" panose="020B0604020202020204"/>
              </a:rPr>
              <a:t>Both point predictions</a:t>
            </a:r>
            <a:endParaRPr sz="1500" b="0">
              <a:solidFill>
                <a:srgbClr val="0B2450"/>
              </a:solidFill>
              <a:latin typeface="Arial" panose="020B0604020202020204"/>
              <a:ea typeface="Arial" panose="020B0604020202020204"/>
              <a:cs typeface="Arial" panose="020B0604020202020204"/>
            </a:endParaRPr>
          </a:p>
          <a:p>
            <a:pPr algn="l">
              <a:defRPr sz="1500" b="0">
                <a:solidFill>
                  <a:srgbClr val="0B2450"/>
                </a:solidFill>
                <a:latin typeface="Arial" panose="020B0604020202020204"/>
                <a:ea typeface="Arial" panose="020B0604020202020204"/>
                <a:cs typeface="Arial" panose="020B0604020202020204"/>
              </a:defRPr>
            </a:pPr>
            <a:r>
              <a:rPr sz="1500" b="0">
                <a:solidFill>
                  <a:srgbClr val="0B2450"/>
                </a:solidFill>
                <a:latin typeface="Arial" panose="020B0604020202020204"/>
                <a:ea typeface="Arial" panose="020B0604020202020204"/>
                <a:cs typeface="Arial" panose="020B0604020202020204"/>
              </a:rPr>
              <a:t>had the opposite direction.</a:t>
            </a:r>
            <a:endParaRPr sz="1500" b="0">
              <a:solidFill>
                <a:srgbClr val="0B2450"/>
              </a:solidFill>
              <a:latin typeface="Arial" panose="020B0604020202020204"/>
              <a:ea typeface="Arial" panose="020B0604020202020204"/>
              <a:cs typeface="Arial" panose="020B0604020202020204"/>
            </a:endParaRPr>
          </a:p>
        </p:txBody>
      </p:sp>
      <p:sp>
        <p:nvSpPr>
          <p:cNvPr id="108" name="矩形 107"/>
          <p:cNvSpPr>
            <a:spLocks noGrp="1"/>
          </p:cNvSpPr>
          <p:nvPr/>
        </p:nvSpPr>
        <p:spPr>
          <a:xfrm>
            <a:off x="254654" y="15242012"/>
            <a:ext cx="8903634" cy="358639"/>
          </a:xfrm>
          <a:prstGeom prst="rect">
            <a:avLst/>
          </a:prstGeom>
          <a:solidFill>
            <a:srgbClr val="FFFFFF"/>
          </a:solidFill>
          <a:ln w="0">
            <a:noFill/>
          </a:ln>
        </p:spPr>
      </p:sp>
      <p:sp>
        <p:nvSpPr>
          <p:cNvPr id="109" name="矩形 108"/>
          <p:cNvSpPr>
            <a:spLocks noGrp="1"/>
          </p:cNvSpPr>
          <p:nvPr/>
        </p:nvSpPr>
        <p:spPr>
          <a:xfrm>
            <a:off x="268941" y="15256299"/>
            <a:ext cx="8875059" cy="330064"/>
          </a:xfrm>
          <a:prstGeom prst="rect">
            <a:avLst/>
          </a:prstGeom>
          <a:noFill/>
          <a:ln w="0">
            <a:noFill/>
          </a:ln>
        </p:spPr>
        <p:txBody>
          <a:bodyPr wrap="none" lIns="0" tIns="0" rIns="0" bIns="0" anchor="ctr">
            <a:noAutofit/>
          </a:bodyPr>
          <a:lstStyle/>
          <a:p>
            <a:pPr algn="l">
              <a:defRPr sz="1350" b="0">
                <a:solidFill>
                  <a:srgbClr val="0B2450"/>
                </a:solidFill>
                <a:latin typeface="Arial" panose="020B0604020202020204"/>
                <a:ea typeface="Arial" panose="020B0604020202020204"/>
                <a:cs typeface="Arial" panose="020B0604020202020204"/>
              </a:defRPr>
            </a:pPr>
            <a:r>
              <a:rPr sz="1350" b="0">
                <a:solidFill>
                  <a:srgbClr val="0B2450"/>
                </a:solidFill>
                <a:latin typeface="Arial" panose="020B0604020202020204"/>
                <a:ea typeface="Arial" panose="020B0604020202020204"/>
                <a:cs typeface="Arial" panose="020B0604020202020204"/>
              </a:rPr>
              <a:t>Selected case; two independent sessions. Fines: particles &lt;20 micrometres.</a:t>
            </a:r>
            <a:endParaRPr sz="1350" b="0">
              <a:solidFill>
                <a:srgbClr val="0B2450"/>
              </a:solidFill>
              <a:latin typeface="Arial" panose="020B0604020202020204"/>
              <a:ea typeface="Arial" panose="020B0604020202020204"/>
              <a:cs typeface="Arial" panose="020B0604020202020204"/>
            </a:endParaRPr>
          </a:p>
        </p:txBody>
      </p:sp>
      <p:sp>
        <p:nvSpPr>
          <p:cNvPr id="110" name="矩形 109"/>
          <p:cNvSpPr>
            <a:spLocks noGrp="1"/>
          </p:cNvSpPr>
          <p:nvPr/>
        </p:nvSpPr>
        <p:spPr>
          <a:xfrm>
            <a:off x="9655370" y="15242012"/>
            <a:ext cx="3805976" cy="358639"/>
          </a:xfrm>
          <a:prstGeom prst="rect">
            <a:avLst/>
          </a:prstGeom>
          <a:solidFill>
            <a:srgbClr val="FFFFFF"/>
          </a:solidFill>
          <a:ln w="0">
            <a:noFill/>
          </a:ln>
        </p:spPr>
      </p:sp>
      <p:sp>
        <p:nvSpPr>
          <p:cNvPr id="111" name="矩形 110"/>
          <p:cNvSpPr>
            <a:spLocks noGrp="1"/>
          </p:cNvSpPr>
          <p:nvPr/>
        </p:nvSpPr>
        <p:spPr>
          <a:xfrm>
            <a:off x="9669658" y="15256299"/>
            <a:ext cx="3777401" cy="330064"/>
          </a:xfrm>
          <a:prstGeom prst="rect">
            <a:avLst/>
          </a:prstGeom>
          <a:noFill/>
          <a:ln w="0">
            <a:noFill/>
          </a:ln>
        </p:spPr>
        <p:txBody>
          <a:bodyPr wrap="none" lIns="0" tIns="0" rIns="0" bIns="0" anchor="ctr">
            <a:noAutofit/>
          </a:bodyPr>
          <a:lstStyle/>
          <a:p>
            <a:pPr algn="l">
              <a:defRPr sz="1200" b="0">
                <a:solidFill>
                  <a:srgbClr val="0B2450"/>
                </a:solidFill>
                <a:latin typeface="Arial" panose="020B0604020202020204"/>
                <a:ea typeface="Arial" panose="020B0604020202020204"/>
                <a:cs typeface="Arial" panose="020B0604020202020204"/>
              </a:defRPr>
            </a:pPr>
            <a:r>
              <a:rPr sz="1200" b="0">
                <a:solidFill>
                  <a:srgbClr val="0B2450"/>
                </a:solidFill>
                <a:latin typeface="Arial" panose="020B0604020202020204"/>
                <a:ea typeface="Arial" panose="020B0604020202020204"/>
                <a:cs typeface="Arial" panose="020B0604020202020204"/>
              </a:rPr>
              <a:t>Later reflection cannot revise the sealed forecasts.</a:t>
            </a:r>
            <a:endParaRPr sz="1200" b="0">
              <a:solidFill>
                <a:srgbClr val="0B2450"/>
              </a:solidFill>
              <a:latin typeface="Arial" panose="020B0604020202020204"/>
              <a:ea typeface="Arial" panose="020B0604020202020204"/>
              <a:cs typeface="Arial" panose="020B0604020202020204"/>
            </a:endParaRPr>
          </a:p>
        </p:txBody>
      </p:sp>
      <p:pic>
        <p:nvPicPr>
          <p:cNvPr id="228" name="图片 227"/>
          <p:cNvPicPr>
            <a:picLocks noChangeAspect="1"/>
          </p:cNvPicPr>
          <p:nvPr/>
        </p:nvPicPr>
        <p:blipFill>
          <a:blip r:embed="rId2"/>
          <a:stretch>
            <a:fillRect/>
          </a:stretch>
        </p:blipFill>
        <p:spPr>
          <a:xfrm>
            <a:off x="3190620" y="941294"/>
            <a:ext cx="256717" cy="1112439"/>
          </a:xfrm>
          <a:prstGeom prst="rect">
            <a:avLst/>
          </a:prstGeom>
        </p:spPr>
      </p:pic>
      <p:pic>
        <p:nvPicPr>
          <p:cNvPr id="229" name="图片 228"/>
          <p:cNvPicPr>
            <a:picLocks noChangeAspect="1"/>
          </p:cNvPicPr>
          <p:nvPr/>
        </p:nvPicPr>
        <p:blipFill>
          <a:blip r:embed="rId3"/>
          <a:stretch>
            <a:fillRect/>
          </a:stretch>
        </p:blipFill>
        <p:spPr>
          <a:xfrm>
            <a:off x="6258995" y="7298086"/>
            <a:ext cx="48898" cy="831273"/>
          </a:xfrm>
          <a:prstGeom prst="rect">
            <a:avLst/>
          </a:prstGeom>
        </p:spPr>
      </p:pic>
      <p:pic>
        <p:nvPicPr>
          <p:cNvPr id="230" name="图片 229"/>
          <p:cNvPicPr>
            <a:picLocks noChangeAspect="1"/>
          </p:cNvPicPr>
          <p:nvPr/>
        </p:nvPicPr>
        <p:blipFill>
          <a:blip r:embed="rId4"/>
          <a:stretch>
            <a:fillRect/>
          </a:stretch>
        </p:blipFill>
        <p:spPr>
          <a:xfrm>
            <a:off x="2261551" y="8117134"/>
            <a:ext cx="3960770" cy="48898"/>
          </a:xfrm>
          <a:prstGeom prst="rect">
            <a:avLst/>
          </a:prstGeom>
        </p:spPr>
      </p:pic>
      <p:pic>
        <p:nvPicPr>
          <p:cNvPr id="231" name="图片 230"/>
          <p:cNvPicPr>
            <a:picLocks noChangeAspect="1"/>
          </p:cNvPicPr>
          <p:nvPr/>
        </p:nvPicPr>
        <p:blipFill>
          <a:blip r:embed="rId5"/>
          <a:stretch>
            <a:fillRect/>
          </a:stretch>
        </p:blipFill>
        <p:spPr>
          <a:xfrm>
            <a:off x="9131775" y="8068235"/>
            <a:ext cx="3985219" cy="48898"/>
          </a:xfrm>
          <a:prstGeom prst="rect">
            <a:avLst/>
          </a:prstGeom>
        </p:spPr>
      </p:pic>
      <p:pic>
        <p:nvPicPr>
          <p:cNvPr id="232" name="图片 231"/>
          <p:cNvPicPr>
            <a:picLocks noChangeAspect="1"/>
          </p:cNvPicPr>
          <p:nvPr/>
        </p:nvPicPr>
        <p:blipFill>
          <a:blip r:embed="rId6"/>
          <a:stretch>
            <a:fillRect/>
          </a:stretch>
        </p:blipFill>
        <p:spPr>
          <a:xfrm>
            <a:off x="13116995" y="7310310"/>
            <a:ext cx="48898" cy="7579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9" name="矩形 18"/>
          <p:cNvSpPr>
            <a:spLocks noGrp="1"/>
          </p:cNvSpPr>
          <p:nvPr/>
        </p:nvSpPr>
        <p:spPr>
          <a:xfrm>
            <a:off x="238125" y="152400"/>
            <a:ext cx="323850" cy="342900"/>
          </a:xfrm>
          <a:prstGeom prst="rect">
            <a:avLst/>
          </a:prstGeom>
          <a:noFill/>
          <a:ln w="0">
            <a:noFill/>
          </a:ln>
        </p:spPr>
        <p:txBody>
          <a:bodyPr wrap="none" lIns="0" tIns="0" rIns="0" bIns="0" anchor="ctr">
            <a:noAutofit/>
          </a:bodyPr>
          <a:lstStyle/>
          <a:p>
            <a:pPr algn="l">
              <a:defRPr sz="2025" b="1">
                <a:solidFill>
                  <a:srgbClr val="24292D"/>
                </a:solidFill>
                <a:latin typeface="Arial" panose="020B0604020202020204"/>
                <a:ea typeface="Arial" panose="020B0604020202020204"/>
                <a:cs typeface="Arial" panose="020B0604020202020204"/>
              </a:defRPr>
            </a:pPr>
            <a:r>
              <a:rPr sz="2025" b="1">
                <a:solidFill>
                  <a:srgbClr val="24292D"/>
                </a:solidFill>
                <a:latin typeface="Arial" panose="020B0604020202020204"/>
                <a:ea typeface="Arial" panose="020B0604020202020204"/>
                <a:cs typeface="Arial" panose="020B0604020202020204"/>
              </a:rPr>
              <a:t>a</a:t>
            </a:r>
            <a:endParaRPr sz="2025" b="1">
              <a:solidFill>
                <a:srgbClr val="24292D"/>
              </a:solidFill>
              <a:latin typeface="Arial" panose="020B0604020202020204"/>
              <a:ea typeface="Arial" panose="020B0604020202020204"/>
              <a:cs typeface="Arial" panose="020B0604020202020204"/>
            </a:endParaRPr>
          </a:p>
        </p:txBody>
      </p:sp>
      <p:sp>
        <p:nvSpPr>
          <p:cNvPr id="2" name="矩形 1"/>
          <p:cNvSpPr>
            <a:spLocks noGrp="1"/>
          </p:cNvSpPr>
          <p:nvPr/>
        </p:nvSpPr>
        <p:spPr>
          <a:xfrm>
            <a:off x="619125" y="152400"/>
            <a:ext cx="1516380" cy="342900"/>
          </a:xfrm>
          <a:prstGeom prst="rect">
            <a:avLst/>
          </a:prstGeom>
          <a:noFill/>
          <a:ln w="0">
            <a:noFill/>
          </a:ln>
        </p:spPr>
        <p:txBody>
          <a:bodyPr wrap="none" lIns="0" tIns="0" rIns="0" bIns="0" anchor="ctr">
            <a:noAutofit/>
          </a:bodyPr>
          <a:lstStyle/>
          <a:p>
            <a:pPr algn="l">
              <a:defRPr sz="1500" b="0">
                <a:solidFill>
                  <a:srgbClr val="24292D"/>
                </a:solidFill>
                <a:latin typeface="Arial" panose="020B0604020202020204"/>
                <a:ea typeface="Arial" panose="020B0604020202020204"/>
                <a:cs typeface="Arial" panose="020B0604020202020204"/>
              </a:defRPr>
            </a:pPr>
            <a:r>
              <a:rPr sz="1500" b="0">
                <a:solidFill>
                  <a:srgbClr val="24292D"/>
                </a:solidFill>
                <a:latin typeface="Arial" panose="020B0604020202020204"/>
                <a:ea typeface="Arial" panose="020B0604020202020204"/>
                <a:cs typeface="Arial" panose="020B0604020202020204"/>
              </a:rPr>
              <a:t>Purification</a:t>
            </a:r>
            <a:endParaRPr sz="1500" b="0">
              <a:solidFill>
                <a:srgbClr val="24292D"/>
              </a:solidFill>
              <a:latin typeface="Arial" panose="020B0604020202020204"/>
              <a:ea typeface="Arial" panose="020B0604020202020204"/>
              <a:cs typeface="Arial" panose="020B0604020202020204"/>
            </a:endParaRPr>
          </a:p>
        </p:txBody>
      </p:sp>
      <p:graphicFrame>
        <p:nvGraphicFramePr>
          <p:cNvPr id="21" name="Chart"/>
          <p:cNvGraphicFramePr/>
          <p:nvPr/>
        </p:nvGraphicFramePr>
        <p:xfrm>
          <a:off x="285750" y="762000"/>
          <a:ext cx="4143375" cy="4048125"/>
        </p:xfrm>
        <a:graphic>
          <a:graphicData uri="http://schemas.openxmlformats.org/drawingml/2006/chart">
            <c:chart xmlns:c="http://schemas.openxmlformats.org/drawingml/2006/chart" xmlns:r="http://schemas.openxmlformats.org/officeDocument/2006/relationships" r:id="rId1"/>
          </a:graphicData>
        </a:graphic>
      </p:graphicFrame>
      <p:sp>
        <p:nvSpPr>
          <p:cNvPr id="4" name="矩形 3"/>
          <p:cNvSpPr>
            <a:spLocks noGrp="1"/>
          </p:cNvSpPr>
          <p:nvPr/>
        </p:nvSpPr>
        <p:spPr>
          <a:xfrm>
            <a:off x="476250" y="5067300"/>
            <a:ext cx="4000500" cy="295275"/>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Eligible: 0/5, 3/5, 0/5 (O, A, M)</a:t>
            </a:r>
            <a:endParaRPr sz="1350" b="0">
              <a:solidFill>
                <a:srgbClr val="24292D"/>
              </a:solidFill>
              <a:latin typeface="Arial" panose="020B0604020202020204"/>
              <a:ea typeface="Arial" panose="020B0604020202020204"/>
              <a:cs typeface="Arial" panose="020B0604020202020204"/>
            </a:endParaRPr>
          </a:p>
        </p:txBody>
      </p:sp>
      <p:sp>
        <p:nvSpPr>
          <p:cNvPr id="5" name="矩形 4"/>
          <p:cNvSpPr>
            <a:spLocks noGrp="1"/>
          </p:cNvSpPr>
          <p:nvPr/>
        </p:nvSpPr>
        <p:spPr>
          <a:xfrm>
            <a:off x="4810125" y="152400"/>
            <a:ext cx="323850" cy="342900"/>
          </a:xfrm>
          <a:prstGeom prst="rect">
            <a:avLst/>
          </a:prstGeom>
          <a:noFill/>
          <a:ln w="0">
            <a:noFill/>
          </a:ln>
        </p:spPr>
        <p:txBody>
          <a:bodyPr wrap="none" lIns="0" tIns="0" rIns="0" bIns="0" anchor="ctr">
            <a:noAutofit/>
          </a:bodyPr>
          <a:lstStyle/>
          <a:p>
            <a:pPr algn="l">
              <a:defRPr sz="2025" b="1">
                <a:solidFill>
                  <a:srgbClr val="24292D"/>
                </a:solidFill>
                <a:latin typeface="Arial" panose="020B0604020202020204"/>
                <a:ea typeface="Arial" panose="020B0604020202020204"/>
                <a:cs typeface="Arial" panose="020B0604020202020204"/>
              </a:defRPr>
            </a:pPr>
            <a:r>
              <a:rPr sz="2025" b="1">
                <a:solidFill>
                  <a:srgbClr val="24292D"/>
                </a:solidFill>
                <a:latin typeface="Arial" panose="020B0604020202020204"/>
                <a:ea typeface="Arial" panose="020B0604020202020204"/>
                <a:cs typeface="Arial" panose="020B0604020202020204"/>
              </a:rPr>
              <a:t>b</a:t>
            </a:r>
            <a:endParaRPr sz="2025" b="1">
              <a:solidFill>
                <a:srgbClr val="24292D"/>
              </a:solidFill>
              <a:latin typeface="Arial" panose="020B0604020202020204"/>
              <a:ea typeface="Arial" panose="020B0604020202020204"/>
              <a:cs typeface="Arial" panose="020B0604020202020204"/>
            </a:endParaRPr>
          </a:p>
        </p:txBody>
      </p:sp>
      <p:sp>
        <p:nvSpPr>
          <p:cNvPr id="6" name="矩形 5"/>
          <p:cNvSpPr>
            <a:spLocks noGrp="1"/>
          </p:cNvSpPr>
          <p:nvPr/>
        </p:nvSpPr>
        <p:spPr>
          <a:xfrm>
            <a:off x="5191125" y="152400"/>
            <a:ext cx="1295400" cy="342900"/>
          </a:xfrm>
          <a:prstGeom prst="rect">
            <a:avLst/>
          </a:prstGeom>
          <a:noFill/>
          <a:ln w="0">
            <a:noFill/>
          </a:ln>
        </p:spPr>
        <p:txBody>
          <a:bodyPr wrap="none" lIns="0" tIns="0" rIns="0" bIns="0" anchor="ctr">
            <a:noAutofit/>
          </a:bodyPr>
          <a:lstStyle/>
          <a:p>
            <a:pPr algn="l">
              <a:defRPr sz="1500" b="0">
                <a:solidFill>
                  <a:srgbClr val="24292D"/>
                </a:solidFill>
                <a:latin typeface="Arial" panose="020B0604020202020204"/>
                <a:ea typeface="Arial" panose="020B0604020202020204"/>
                <a:cs typeface="Arial" panose="020B0604020202020204"/>
              </a:defRPr>
            </a:pPr>
            <a:r>
              <a:rPr sz="1500" b="0">
                <a:solidFill>
                  <a:srgbClr val="24292D"/>
                </a:solidFill>
                <a:latin typeface="Arial" panose="020B0604020202020204"/>
                <a:ea typeface="Arial" panose="020B0604020202020204"/>
                <a:cs typeface="Arial" panose="020B0604020202020204"/>
              </a:rPr>
              <a:t>Size index</a:t>
            </a:r>
            <a:endParaRPr sz="1500" b="0">
              <a:solidFill>
                <a:srgbClr val="24292D"/>
              </a:solidFill>
              <a:latin typeface="Arial" panose="020B0604020202020204"/>
              <a:ea typeface="Arial" panose="020B0604020202020204"/>
              <a:cs typeface="Arial" panose="020B0604020202020204"/>
            </a:endParaRPr>
          </a:p>
        </p:txBody>
      </p:sp>
      <p:graphicFrame>
        <p:nvGraphicFramePr>
          <p:cNvPr id="25" name="Chart"/>
          <p:cNvGraphicFramePr/>
          <p:nvPr/>
        </p:nvGraphicFramePr>
        <p:xfrm>
          <a:off x="4810125" y="762000"/>
          <a:ext cx="4238625" cy="4048125"/>
        </p:xfrm>
        <a:graphic>
          <a:graphicData uri="http://schemas.openxmlformats.org/drawingml/2006/chart">
            <c:chart xmlns:c="http://schemas.openxmlformats.org/drawingml/2006/chart" xmlns:r="http://schemas.openxmlformats.org/officeDocument/2006/relationships" r:id="rId2"/>
          </a:graphicData>
        </a:graphic>
      </p:graphicFrame>
      <p:sp>
        <p:nvSpPr>
          <p:cNvPr id="8" name="矩形 7"/>
          <p:cNvSpPr>
            <a:spLocks noGrp="1"/>
          </p:cNvSpPr>
          <p:nvPr/>
        </p:nvSpPr>
        <p:spPr>
          <a:xfrm>
            <a:off x="5429250" y="5067300"/>
            <a:ext cx="3762375" cy="295275"/>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4/30 lower agent error</a:t>
            </a:r>
            <a:endParaRPr sz="1350" b="0">
              <a:solidFill>
                <a:srgbClr val="24292D"/>
              </a:solidFill>
              <a:latin typeface="Arial" panose="020B0604020202020204"/>
              <a:ea typeface="Arial" panose="020B0604020202020204"/>
              <a:cs typeface="Arial" panose="020B0604020202020204"/>
            </a:endParaRPr>
          </a:p>
        </p:txBody>
      </p:sp>
      <p:sp>
        <p:nvSpPr>
          <p:cNvPr id="9" name="矩形 8"/>
          <p:cNvSpPr>
            <a:spLocks noGrp="1"/>
          </p:cNvSpPr>
          <p:nvPr/>
        </p:nvSpPr>
        <p:spPr>
          <a:xfrm>
            <a:off x="9191625" y="152400"/>
            <a:ext cx="323850" cy="342900"/>
          </a:xfrm>
          <a:prstGeom prst="rect">
            <a:avLst/>
          </a:prstGeom>
          <a:noFill/>
          <a:ln w="0">
            <a:noFill/>
          </a:ln>
        </p:spPr>
        <p:txBody>
          <a:bodyPr wrap="none" lIns="0" tIns="0" rIns="0" bIns="0" anchor="ctr">
            <a:noAutofit/>
          </a:bodyPr>
          <a:lstStyle/>
          <a:p>
            <a:pPr algn="l">
              <a:defRPr sz="2025" b="1">
                <a:solidFill>
                  <a:srgbClr val="24292D"/>
                </a:solidFill>
                <a:latin typeface="Arial" panose="020B0604020202020204"/>
                <a:ea typeface="Arial" panose="020B0604020202020204"/>
                <a:cs typeface="Arial" panose="020B0604020202020204"/>
              </a:defRPr>
            </a:pPr>
            <a:r>
              <a:rPr sz="2025" b="1">
                <a:solidFill>
                  <a:srgbClr val="24292D"/>
                </a:solidFill>
                <a:latin typeface="Arial" panose="020B0604020202020204"/>
                <a:ea typeface="Arial" panose="020B0604020202020204"/>
                <a:cs typeface="Arial" panose="020B0604020202020204"/>
              </a:rPr>
              <a:t>c</a:t>
            </a:r>
            <a:endParaRPr sz="2025" b="1">
              <a:solidFill>
                <a:srgbClr val="24292D"/>
              </a:solidFill>
              <a:latin typeface="Arial" panose="020B0604020202020204"/>
              <a:ea typeface="Arial" panose="020B0604020202020204"/>
              <a:cs typeface="Arial" panose="020B0604020202020204"/>
            </a:endParaRPr>
          </a:p>
        </p:txBody>
      </p:sp>
      <p:sp>
        <p:nvSpPr>
          <p:cNvPr id="10" name="矩形 9"/>
          <p:cNvSpPr>
            <a:spLocks noGrp="1"/>
          </p:cNvSpPr>
          <p:nvPr/>
        </p:nvSpPr>
        <p:spPr>
          <a:xfrm>
            <a:off x="9572625" y="152400"/>
            <a:ext cx="742950" cy="342900"/>
          </a:xfrm>
          <a:prstGeom prst="rect">
            <a:avLst/>
          </a:prstGeom>
          <a:noFill/>
          <a:ln w="0">
            <a:noFill/>
          </a:ln>
        </p:spPr>
        <p:txBody>
          <a:bodyPr wrap="none" lIns="0" tIns="0" rIns="0" bIns="0" anchor="ctr">
            <a:noAutofit/>
          </a:bodyPr>
          <a:lstStyle/>
          <a:p>
            <a:pPr algn="l">
              <a:defRPr sz="1500" b="0">
                <a:solidFill>
                  <a:srgbClr val="24292D"/>
                </a:solidFill>
                <a:latin typeface="Arial" panose="020B0604020202020204"/>
                <a:ea typeface="Arial" panose="020B0604020202020204"/>
                <a:cs typeface="Arial" panose="020B0604020202020204"/>
              </a:defRPr>
            </a:pPr>
            <a:r>
              <a:rPr sz="1500" b="0">
                <a:solidFill>
                  <a:srgbClr val="24292D"/>
                </a:solidFill>
                <a:latin typeface="Arial" panose="020B0604020202020204"/>
                <a:ea typeface="Arial" panose="020B0604020202020204"/>
                <a:cs typeface="Arial" panose="020B0604020202020204"/>
              </a:rPr>
              <a:t>Fines</a:t>
            </a:r>
            <a:endParaRPr sz="1500" b="0">
              <a:solidFill>
                <a:srgbClr val="24292D"/>
              </a:solidFill>
              <a:latin typeface="Arial" panose="020B0604020202020204"/>
              <a:ea typeface="Arial" panose="020B0604020202020204"/>
              <a:cs typeface="Arial" panose="020B0604020202020204"/>
            </a:endParaRPr>
          </a:p>
        </p:txBody>
      </p:sp>
      <p:graphicFrame>
        <p:nvGraphicFramePr>
          <p:cNvPr id="29" name="Chart"/>
          <p:cNvGraphicFramePr/>
          <p:nvPr/>
        </p:nvGraphicFramePr>
        <p:xfrm>
          <a:off x="9191625" y="762000"/>
          <a:ext cx="4238625" cy="4048125"/>
        </p:xfrm>
        <a:graphic>
          <a:graphicData uri="http://schemas.openxmlformats.org/drawingml/2006/chart">
            <c:chart xmlns:c="http://schemas.openxmlformats.org/drawingml/2006/chart" xmlns:r="http://schemas.openxmlformats.org/officeDocument/2006/relationships" r:id="rId3"/>
          </a:graphicData>
        </a:graphic>
      </p:graphicFrame>
      <p:sp>
        <p:nvSpPr>
          <p:cNvPr id="12" name="矩形 11"/>
          <p:cNvSpPr>
            <a:spLocks noGrp="1"/>
          </p:cNvSpPr>
          <p:nvPr/>
        </p:nvSpPr>
        <p:spPr>
          <a:xfrm>
            <a:off x="9810750" y="5067300"/>
            <a:ext cx="3714750" cy="295275"/>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21/30 lower agent error</a:t>
            </a:r>
            <a:endParaRPr sz="1350" b="0">
              <a:solidFill>
                <a:srgbClr val="24292D"/>
              </a:solidFill>
              <a:latin typeface="Arial" panose="020B0604020202020204"/>
              <a:ea typeface="Arial" panose="020B0604020202020204"/>
              <a:cs typeface="Arial" panose="020B0604020202020204"/>
            </a:endParaRPr>
          </a:p>
        </p:txBody>
      </p:sp>
      <p:sp>
        <p:nvSpPr>
          <p:cNvPr id="13" name="椭圆 12"/>
          <p:cNvSpPr>
            <a:spLocks noGrp="1"/>
          </p:cNvSpPr>
          <p:nvPr/>
        </p:nvSpPr>
        <p:spPr>
          <a:xfrm>
            <a:off x="4200525" y="5962650"/>
            <a:ext cx="114300" cy="114300"/>
          </a:xfrm>
          <a:prstGeom prst="ellipse">
            <a:avLst/>
          </a:prstGeom>
          <a:solidFill>
            <a:srgbClr val="637482"/>
          </a:solidFill>
          <a:ln w="9525">
            <a:solidFill>
              <a:srgbClr val="637482"/>
            </a:solidFill>
          </a:ln>
        </p:spPr>
      </p:sp>
      <p:sp>
        <p:nvSpPr>
          <p:cNvPr id="14" name="矩形 13"/>
          <p:cNvSpPr>
            <a:spLocks noGrp="1"/>
          </p:cNvSpPr>
          <p:nvPr/>
        </p:nvSpPr>
        <p:spPr>
          <a:xfrm>
            <a:off x="4429125" y="5867400"/>
            <a:ext cx="952500" cy="32385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Opaque</a:t>
            </a:r>
            <a:endParaRPr sz="1350" b="0">
              <a:solidFill>
                <a:srgbClr val="24292D"/>
              </a:solidFill>
              <a:latin typeface="Arial" panose="020B0604020202020204"/>
              <a:ea typeface="Arial" panose="020B0604020202020204"/>
              <a:cs typeface="Arial" panose="020B0604020202020204"/>
            </a:endParaRPr>
          </a:p>
        </p:txBody>
      </p:sp>
      <p:sp>
        <p:nvSpPr>
          <p:cNvPr id="15" name="椭圆 14"/>
          <p:cNvSpPr>
            <a:spLocks noGrp="1"/>
          </p:cNvSpPr>
          <p:nvPr/>
        </p:nvSpPr>
        <p:spPr>
          <a:xfrm>
            <a:off x="5267325" y="5962650"/>
            <a:ext cx="114300" cy="114300"/>
          </a:xfrm>
          <a:prstGeom prst="ellipse">
            <a:avLst/>
          </a:prstGeom>
          <a:solidFill>
            <a:srgbClr val="277F8A"/>
          </a:solidFill>
          <a:ln w="9525">
            <a:solidFill>
              <a:srgbClr val="277F8A"/>
            </a:solidFill>
          </a:ln>
        </p:spPr>
      </p:sp>
      <p:sp>
        <p:nvSpPr>
          <p:cNvPr id="16" name="矩形 15"/>
          <p:cNvSpPr>
            <a:spLocks noGrp="1"/>
          </p:cNvSpPr>
          <p:nvPr/>
        </p:nvSpPr>
        <p:spPr>
          <a:xfrm>
            <a:off x="5495925" y="5867400"/>
            <a:ext cx="952500" cy="32385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Aligned</a:t>
            </a:r>
            <a:endParaRPr sz="1350" b="0">
              <a:solidFill>
                <a:srgbClr val="24292D"/>
              </a:solidFill>
              <a:latin typeface="Arial" panose="020B0604020202020204"/>
              <a:ea typeface="Arial" panose="020B0604020202020204"/>
              <a:cs typeface="Arial" panose="020B0604020202020204"/>
            </a:endParaRPr>
          </a:p>
        </p:txBody>
      </p:sp>
      <p:sp>
        <p:nvSpPr>
          <p:cNvPr id="17" name="椭圆 16"/>
          <p:cNvSpPr>
            <a:spLocks noGrp="1"/>
          </p:cNvSpPr>
          <p:nvPr/>
        </p:nvSpPr>
        <p:spPr>
          <a:xfrm>
            <a:off x="6448425" y="5962650"/>
            <a:ext cx="114300" cy="114300"/>
          </a:xfrm>
          <a:prstGeom prst="ellipse">
            <a:avLst/>
          </a:prstGeom>
          <a:solidFill>
            <a:srgbClr val="BC7850"/>
          </a:solidFill>
          <a:ln w="9525">
            <a:solidFill>
              <a:srgbClr val="BC7850"/>
            </a:solidFill>
          </a:ln>
        </p:spPr>
      </p:sp>
      <p:sp>
        <p:nvSpPr>
          <p:cNvPr id="18" name="矩形 17"/>
          <p:cNvSpPr>
            <a:spLocks noGrp="1"/>
          </p:cNvSpPr>
          <p:nvPr/>
        </p:nvSpPr>
        <p:spPr>
          <a:xfrm>
            <a:off x="6677025" y="5867400"/>
            <a:ext cx="1143000" cy="323850"/>
          </a:xfrm>
          <a:prstGeom prst="rect">
            <a:avLst/>
          </a:prstGeom>
          <a:noFill/>
          <a:ln w="0">
            <a:noFill/>
          </a:ln>
        </p:spPr>
        <p:txBody>
          <a:bodyPr wrap="none" lIns="0" tIns="0" rIns="0" bIns="0" anchor="ctr">
            <a:noAutofit/>
          </a:bodyPr>
          <a:lstStyle/>
          <a:p>
            <a:pPr algn="l">
              <a:defRPr sz="1350" b="0">
                <a:solidFill>
                  <a:srgbClr val="24292D"/>
                </a:solidFill>
                <a:latin typeface="Arial" panose="020B0604020202020204"/>
                <a:ea typeface="Arial" panose="020B0604020202020204"/>
                <a:cs typeface="Arial" panose="020B0604020202020204"/>
              </a:defRPr>
            </a:pPr>
            <a:r>
              <a:rPr sz="1350" b="0">
                <a:solidFill>
                  <a:srgbClr val="24292D"/>
                </a:solidFill>
                <a:latin typeface="Arial" panose="020B0604020202020204"/>
                <a:ea typeface="Arial" panose="020B0604020202020204"/>
                <a:cs typeface="Arial" panose="020B0604020202020204"/>
              </a:rPr>
              <a:t>MisIndexed</a:t>
            </a:r>
            <a:endParaRPr sz="1350" b="0">
              <a:solidFill>
                <a:srgbClr val="24292D"/>
              </a:solidFill>
              <a:latin typeface="Arial" panose="020B0604020202020204"/>
              <a:ea typeface="Arial" panose="020B0604020202020204"/>
              <a:cs typeface="Arial" panose="020B0604020202020204"/>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8053</Words>
  <Application>WPS 演示</Application>
  <PresentationFormat>Converted Presentation</PresentationFormat>
  <Paragraphs>1052</Paragraphs>
  <Slides>11</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11</vt:i4>
      </vt:variant>
    </vt:vector>
  </HeadingPairs>
  <TitlesOfParts>
    <vt:vector size="16" baseType="lpstr">
      <vt:lpstr>Arial</vt:lpstr>
      <vt:lpstr>宋体</vt:lpstr>
      <vt:lpstr>Wingdings</vt:lpstr>
      <vt:lpstr>Arial</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邱江杰(2025311052)</cp:lastModifiedBy>
  <cp:revision>1</cp:revision>
  <dcterms:created xsi:type="dcterms:W3CDTF">2026-09-25T02:16:03Z</dcterms:created>
  <dcterms:modified xsi:type="dcterms:W3CDTF">2026-09-25T02:16:03Z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2052-12.1.0.28022</vt:lpwstr>
  </property>
</Properties>
</file>