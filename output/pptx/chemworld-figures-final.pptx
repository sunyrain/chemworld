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Lst>
  <p:sldSz cx="13716000" cy="180975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_rels/chart7.xml.rels><?xml version='1.0' encoding='UTF-8' standalone='yes'?>
<Relationships xmlns="http://schemas.openxmlformats.org/package/2006/relationships"><Relationship Id="rId1" Type="http://schemas.openxmlformats.org/officeDocument/2006/relationships/package" Target="../embeddings/Workbook7.xlsx"/></Relationships>
</file>

<file path=ppt/charts/_rels/chart8.xml.rels><?xml version='1.0' encoding='UTF-8' standalone='yes'?>
<Relationships xmlns="http://schemas.openxmlformats.org/package/2006/relationships"><Relationship Id="rId1" Type="http://schemas.openxmlformats.org/officeDocument/2006/relationships/package" Target="../embeddings/Workbook8.xlsx"/></Relationships>
</file>

<file path=ppt/charts/_rels/chart9.xml.rels><?xml version='1.0' encoding='UTF-8' standalone='yes'?>
<Relationships xmlns="http://schemas.openxmlformats.org/package/2006/relationships"><Relationship Id="rId1" Type="http://schemas.openxmlformats.org/officeDocument/2006/relationships/package" Target="../embeddings/Workbook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Workbook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Workbook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Workbook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Workbook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Workbook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Workbook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Workbook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Workbook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Workbook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Workbook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Workbook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Workbook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Workbook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Workbook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Workbook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Workbook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Workbook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Workbook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Workbook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Workbook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Workbook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Workbook31.xlsx"/></Relationships>
</file>

<file path=ppt/charts/chart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Best feasible recovery</ns0:f>
              <ns0:strCache>
                <ns0:ptCount val="1"/>
                <ns0:pt idx="0">
                  <ns0:v>Best feasible recovery</ns0:v>
                </ns0:pt>
              </ns0:strCache>
            </ns0:strRef>
          </ns0:tx>
          <ns0:spPr>
            <ns3:ln w="26670" cap="rnd">
              <ns3:solidFill>
                <ns3:srgbClr val="277F8A"/>
              </ns3:solidFill>
              <ns3:prstDash val="solid"/>
              <ns3:round/>
            </ns3:ln>
          </ns0:spPr>
          <ns0:marker>
            <ns0:symbol val="none"/>
          </ns0:marker>
          <ns0:dLbls>
            <ns0:delete val="1"/>
          </ns0:dLbls>
          <ns0:xVal>
            <ns0:numRef>
              <ns0:f>'Chart Data'!$A$2:$A$10</ns0:f>
              <ns0:numCache>
                <ns0:formatCode>General</ns0:formatCode>
                <ns0:ptCount val="9"/>
                <ns0:pt idx="0">
                  <ns0:v>20</ns0:v>
                </ns0:pt>
                <ns0:pt idx="1">
                  <ns0:v>21</ns0:v>
                </ns0:pt>
                <ns0:pt idx="2">
                  <ns0:v>21</ns0:v>
                </ns0:pt>
                <ns0:pt idx="3">
                  <ns0:v>22</ns0:v>
                </ns0:pt>
                <ns0:pt idx="4">
                  <ns0:v>22</ns0:v>
                </ns0:pt>
                <ns0:pt idx="5">
                  <ns0:v>23</ns0:v>
                </ns0:pt>
                <ns0:pt idx="6">
                  <ns0:v>23</ns0:v>
                </ns0:pt>
                <ns0:pt idx="7">
                  <ns0:v>24</ns0:v>
                </ns0:pt>
                <ns0:pt idx="8">
                  <ns0:v>24</ns0:v>
                </ns0:pt>
              </ns0:numCache>
            </ns0:numRef>
          </ns0:xVal>
          <ns0:yVal>
            <ns0:numRef>
              <ns0:f>'Chart Data'!$B$2:$B$10</ns0:f>
              <ns0:numCache>
                <ns0:formatCode>0</ns0:formatCode>
                <ns0:ptCount val="9"/>
                <ns0:pt idx="0">
                  <ns0:v>52.870374918</ns0:v>
                </ns0:pt>
                <ns0:pt idx="1">
                  <ns0:v>52.870374918</ns0:v>
                </ns0:pt>
                <ns0:pt idx="2">
                  <ns0:v>55.2692890167</ns0:v>
                </ns0:pt>
                <ns0:pt idx="3">
                  <ns0:v>55.2692890167</ns0:v>
                </ns0:pt>
                <ns0:pt idx="4">
                  <ns0:v>56.9585680962</ns0:v>
                </ns0:pt>
                <ns0:pt idx="5">
                  <ns0:v>56.9585680962</ns0:v>
                </ns0:pt>
                <ns0:pt idx="6">
                  <ns0:v>56.9886684418</ns0:v>
                </ns0:pt>
                <ns0:pt idx="7">
                  <ns0:v>56.9886684418</ns0:v>
                </ns0:pt>
                <ns0:pt idx="8">
                  <ns0:v>56.9886684418</ns0:v>
                </ns0:pt>
              </ns0:numCache>
            </ns0:numRef>
          </ns0:yVal>
          <ns0:smooth val="0"/>
        </ns0:ser>
        <ns0:ser>
          <ns0:idx val="1"/>
          <ns0:order val="1"/>
          <ns0:tx>
            <ns0:strRef>
              <ns0:f>Feasible</ns0:f>
              <ns0:strCache>
                <ns0:ptCount val="1"/>
                <ns0:pt idx="0">
                  <ns0:v>Feasible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Data'!$C$2:$C$6</ns0:f>
              <ns0:numCache>
                <ns0:formatCode>General</ns0:formatCode>
                <ns0:ptCount val="5"/>
                <ns0:pt idx="0">
                  <ns0:v>20</ns0:v>
                </ns0:pt>
                <ns0:pt idx="1">
                  <ns0:v>21</ns0:v>
                </ns0:pt>
                <ns0:pt idx="2">
                  <ns0:v>22</ns0:v>
                </ns0:pt>
                <ns0:pt idx="3">
                  <ns0:v>23</ns0:v>
                </ns0:pt>
                <ns0:pt idx="4">
                  <ns0:v>24</ns0:v>
                </ns0:pt>
              </ns0:numCache>
            </ns0:numRef>
          </ns0:xVal>
          <ns0:yVal>
            <ns0:numRef>
              <ns0:f>'Chart Data'!$D$2:$D$6</ns0:f>
              <ns0:numCache>
                <ns0:formatCode>0</ns0:formatCode>
                <ns0:ptCount val="5"/>
                <ns0:pt idx="0">
                  <ns0:v>52.870374918</ns0:v>
                </ns0:pt>
                <ns0:pt idx="1">
                  <ns0:v>55.2692890167</ns0:v>
                </ns0:pt>
                <ns0:pt idx="2">
                  <ns0:v>56.9585680962</ns0:v>
                </ns0:pt>
                <ns0:pt idx="3">
                  <ns0:v>56.9886684418</ns0:v>
                </ns0:pt>
                <ns0:pt idx="4">
                  <ns0:v>56.7886471748</ns0:v>
                </ns0:pt>
              </ns0:numCache>
            </ns0:numRef>
          </ns0:yVal>
          <ns0:smooth val="0"/>
        </ns0:ser>
        <ns0:ser>
          <ns0:idx val="2"/>
          <ns0:order val="2"/>
          <ns0:tx>
            <ns0:strRef>
              <ns0:f>Infeasible</ns0:f>
              <ns0:strCache>
                <ns0:ptCount val="1"/>
                <ns0:pt idx="0">
                  <ns0:v>Infeasible</ns0:v>
                </ns0:pt>
              </ns0:strCache>
            </ns0:strRef>
          </ns0:tx>
          <ns0:spPr>
            <ns3:ln w="0" cap="rnd">
              <ns3:noFill/>
              <ns3:prstDash val="solid"/>
              <ns3:round/>
            </ns3:ln>
          </ns0:spPr>
          <ns0:marker>
            <ns0:symbol val="x"/>
            <ns0:size val="8"/>
            <ns0:spPr>
              <ns3:noFill/>
              <ns3:ln w="12700">
                <ns3:solidFill>
                  <ns3:srgbClr val="A35F42"/>
                </ns3:solidFill>
              </ns3:ln>
            </ns0:spPr>
          </ns0:marker>
          <ns0:dLbls>
            <ns0:delete val="1"/>
          </ns0:dLbls>
          <ns0:xVal>
            <ns0:numRef>
              <ns0:f>'Chart Data'!$E$2:$E$20</ns0:f>
              <ns0:numCache>
                <ns0:formatCode>General</ns0:formatCode>
                <ns0:ptCount val="19"/>
                <ns0:pt idx="0">
                  <ns0:v>1</ns0:v>
                </ns0:pt>
                <ns0:pt idx="1">
                  <ns0:v>2</ns0:v>
                </ns0:pt>
                <ns0:pt idx="2">
                  <ns0:v>3</ns0:v>
                </ns0:pt>
                <ns0:pt idx="3">
                  <ns0:v>4</ns0:v>
                </ns0:pt>
                <ns0:pt idx="4">
                  <ns0:v>5</ns0:v>
                </ns0:pt>
                <ns0:pt idx="5">
                  <ns0:v>6</ns0:v>
                </ns0:pt>
                <ns0:pt idx="6">
                  <ns0:v>7</ns0:v>
                </ns0:pt>
                <ns0:pt idx="7">
                  <ns0:v>8</ns0:v>
                </ns0:pt>
                <ns0:pt idx="8">
                  <ns0:v>9</ns0:v>
                </ns0:pt>
                <ns0:pt idx="9">
                  <ns0:v>10</ns0:v>
                </ns0:pt>
                <ns0:pt idx="10">
                  <ns0:v>11</ns0:v>
                </ns0:pt>
                <ns0:pt idx="11">
                  <ns0:v>12</ns0:v>
                </ns0:pt>
                <ns0:pt idx="12">
                  <ns0:v>13</ns0:v>
                </ns0:pt>
                <ns0:pt idx="13">
                  <ns0:v>14</ns0:v>
                </ns0:pt>
                <ns0:pt idx="14">
                  <ns0:v>15</ns0:v>
                </ns0:pt>
                <ns0:pt idx="15">
                  <ns0:v>16</ns0:v>
                </ns0:pt>
                <ns0:pt idx="16">
                  <ns0:v>17</ns0:v>
                </ns0:pt>
                <ns0:pt idx="17">
                  <ns0:v>18</ns0:v>
                </ns0:pt>
                <ns0:pt idx="18">
                  <ns0:v>19</ns0:v>
                </ns0:pt>
              </ns0:numCache>
            </ns0:numRef>
          </ns0:xVal>
          <ns0:yVal>
            <ns0:numRef>
              <ns0:f>'Chart Data'!$F$2:$F$20</ns0:f>
              <ns0:numCache>
                <ns0:formatCode>0</ns0:formatCode>
                <ns0:ptCount val="19"/>
                <ns0:pt idx="0">
                  <ns0:v>37.5208616257</ns0:v>
                </ns0:pt>
                <ns0:pt idx="1">
                  <ns0:v>39.7665053606</ns0:v>
                </ns0:pt>
                <ns0:pt idx="2">
                  <ns0:v>23.2451826334</ns0:v>
                </ns0:pt>
                <ns0:pt idx="3">
                  <ns0:v>47.7206528187</ns0:v>
                </ns0:pt>
                <ns0:pt idx="4">
                  <ns0:v>38.1134063005</ns0:v>
                </ns0:pt>
                <ns0:pt idx="5">
                  <ns0:v>40.8400893211</ns0:v>
                </ns0:pt>
                <ns0:pt idx="6">
                  <ns0:v>40.2332872152</ns0:v>
                </ns0:pt>
                <ns0:pt idx="7">
                  <ns0:v>40.8462494612</ns0:v>
                </ns0:pt>
                <ns0:pt idx="8">
                  <ns0:v>46.9656139612</ns0:v>
                </ns0:pt>
                <ns0:pt idx="9">
                  <ns0:v>36.4954799414</ns0:v>
                </ns0:pt>
                <ns0:pt idx="10">
                  <ns0:v>42.1330988407</ns0:v>
                </ns0:pt>
                <ns0:pt idx="11">
                  <ns0:v>39.916524291</ns0:v>
                </ns0:pt>
                <ns0:pt idx="12">
                  <ns0:v>38.1688684225</ns0:v>
                </ns0:pt>
                <ns0:pt idx="13">
                  <ns0:v>38.6617660522</ns0:v>
                </ns0:pt>
                <ns0:pt idx="14">
                  <ns0:v>38.3515328169</ns0:v>
                </ns0:pt>
                <ns0:pt idx="15">
                  <ns0:v>38.310828805</ns0:v>
                </ns0:pt>
                <ns0:pt idx="16">
                  <ns0:v>31.7858457565</ns0:v>
                </ns0:pt>
                <ns0:pt idx="17">
                  <ns0:v>42.263302207</ns0:v>
                </ns0:pt>
                <ns0:pt idx="18">
                  <ns0:v>49.0144908428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
          <ns0:min val="0"/>
        </ns0:scaling>
        <ns0:delete val="0"/>
        <ns0:axPos val="b"/>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4"/>
      </ns0:valAx>
      <ns0:valAx>
        <ns0:axId val="48672768"/>
        <ns0:scaling>
          <ns0:orientation val="minMax"/>
          <ns0:max val="65"/>
          <ns0:min val="2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Net recovery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10"/>
      </ns0:valAx>
      <ns0:spPr>
        <ns3:solidFill>
          <ns3:srgbClr val="FFFFFF"/>
        </ns3:solidFill>
        <ns3:ln w="0">
          <ns3:noFill/>
        </ns3:ln>
      </ns0:spPr>
    </ns0:plotArea>
    <ns0:plotVisOnly val="1"/>
    <ns0:dispBlanksAs val="gap"/>
    <ns0:showDLblsOverMax val="0"/>
    <ns0:extLst>
      <ns0:ext uri="{0b15fc19-7d7d-44ad-8c2d-2c3a37ce22c3}">
        <ns4:chartProps chartId="{6598f7b4-efb9-487d-b8f9-33c3a54318eb}"/>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Fines limit</ns0:f>
              <ns0:strCache>
                <ns0:ptCount val="1"/>
                <ns0:pt idx="0">
                  <ns0:v>Fines limit</ns0:v>
                </ns0:pt>
              </ns0:strCache>
            </ns0:strRef>
          </ns0:tx>
          <ns0:spPr>
            <ns3:ln w="15240"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24</ns0:v>
                </ns0:pt>
              </ns0:numCache>
            </ns0:numRef>
          </ns0:xVal>
          <ns0:yVal>
            <ns0:numRef>
              <ns0:f>'Chart Data'!$B$2:$B$3</ns0:f>
              <ns0:numCache>
                <ns0:formatCode>0</ns0:formatCode>
                <ns0:ptCount val="2"/>
                <ns0:pt idx="0">
                  <ns0:v>50</ns0:v>
                </ns0:pt>
                <ns0:pt idx="1">
                  <ns0:v>50</ns0:v>
                </ns0:pt>
              </ns0:numCache>
            </ns0:numRef>
          </ns0:yVal>
          <ns0:smooth val="0"/>
        </ns0:ser>
        <ns0:ser>
          <ns0:idx val="1"/>
          <ns0:order val="1"/>
          <ns0:tx>
            <ns0:strRef>
              <ns0:f>Feasible fines</ns0:f>
              <ns0:strCache>
                <ns0:ptCount val="1"/>
                <ns0:pt idx="0">
                  <ns0:v>Feasible fines</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Data'!$C$2:$C$6</ns0:f>
              <ns0:numCache>
                <ns0:formatCode>General</ns0:formatCode>
                <ns0:ptCount val="5"/>
                <ns0:pt idx="0">
                  <ns0:v>20</ns0:v>
                </ns0:pt>
                <ns0:pt idx="1">
                  <ns0:v>21</ns0:v>
                </ns0:pt>
                <ns0:pt idx="2">
                  <ns0:v>22</ns0:v>
                </ns0:pt>
                <ns0:pt idx="3">
                  <ns0:v>23</ns0:v>
                </ns0:pt>
                <ns0:pt idx="4">
                  <ns0:v>24</ns0:v>
                </ns0:pt>
              </ns0:numCache>
            </ns0:numRef>
          </ns0:xVal>
          <ns0:yVal>
            <ns0:numRef>
              <ns0:f>'Chart Data'!$D$2:$D$6</ns0:f>
              <ns0:numCache>
                <ns0:formatCode>0</ns0:formatCode>
                <ns0:ptCount val="5"/>
                <ns0:pt idx="0">
                  <ns0:v>21.4978814125</ns0:v>
                </ns0:pt>
                <ns0:pt idx="1">
                  <ns0:v>17.7438303828</ns0:v>
                </ns0:pt>
                <ns0:pt idx="2">
                  <ns0:v>11.7556251585</ns0:v>
                </ns0:pt>
                <ns0:pt idx="3">
                  <ns0:v>14.2353460193</ns0:v>
                </ns0:pt>
                <ns0:pt idx="4">
                  <ns0:v>17.8021773696</ns0:v>
                </ns0:pt>
              </ns0:numCache>
            </ns0:numRef>
          </ns0:yVal>
          <ns0:smooth val="0"/>
        </ns0:ser>
        <ns0:ser>
          <ns0:idx val="2"/>
          <ns0:order val="2"/>
          <ns0:tx>
            <ns0:strRef>
              <ns0:f>Infeasible fines</ns0:f>
              <ns0:strCache>
                <ns0:ptCount val="1"/>
                <ns0:pt idx="0">
                  <ns0:v>Infeasible fines</ns0:v>
                </ns0:pt>
              </ns0:strCache>
            </ns0:strRef>
          </ns0:tx>
          <ns0:spPr>
            <ns3:ln w="0" cap="rnd">
              <ns3:noFill/>
              <ns3:prstDash val="solid"/>
              <ns3:round/>
            </ns3:ln>
          </ns0:spPr>
          <ns0:marker>
            <ns0:symbol val="x"/>
            <ns0:size val="8"/>
            <ns0:spPr>
              <ns3:noFill/>
              <ns3:ln w="12700">
                <ns3:solidFill>
                  <ns3:srgbClr val="A35F42"/>
                </ns3:solidFill>
              </ns3:ln>
            </ns0:spPr>
          </ns0:marker>
          <ns0:dLbls>
            <ns0:delete val="1"/>
          </ns0:dLbls>
          <ns0:xVal>
            <ns0:numRef>
              <ns0:f>'Chart Data'!$E$2:$E$20</ns0:f>
              <ns0:numCache>
                <ns0:formatCode>General</ns0:formatCode>
                <ns0:ptCount val="19"/>
                <ns0:pt idx="0">
                  <ns0:v>1</ns0:v>
                </ns0:pt>
                <ns0:pt idx="1">
                  <ns0:v>2</ns0:v>
                </ns0:pt>
                <ns0:pt idx="2">
                  <ns0:v>3</ns0:v>
                </ns0:pt>
                <ns0:pt idx="3">
                  <ns0:v>4</ns0:v>
                </ns0:pt>
                <ns0:pt idx="4">
                  <ns0:v>5</ns0:v>
                </ns0:pt>
                <ns0:pt idx="5">
                  <ns0:v>6</ns0:v>
                </ns0:pt>
                <ns0:pt idx="6">
                  <ns0:v>7</ns0:v>
                </ns0:pt>
                <ns0:pt idx="7">
                  <ns0:v>8</ns0:v>
                </ns0:pt>
                <ns0:pt idx="8">
                  <ns0:v>9</ns0:v>
                </ns0:pt>
                <ns0:pt idx="9">
                  <ns0:v>10</ns0:v>
                </ns0:pt>
                <ns0:pt idx="10">
                  <ns0:v>11</ns0:v>
                </ns0:pt>
                <ns0:pt idx="11">
                  <ns0:v>12</ns0:v>
                </ns0:pt>
                <ns0:pt idx="12">
                  <ns0:v>13</ns0:v>
                </ns0:pt>
                <ns0:pt idx="13">
                  <ns0:v>14</ns0:v>
                </ns0:pt>
                <ns0:pt idx="14">
                  <ns0:v>15</ns0:v>
                </ns0:pt>
                <ns0:pt idx="15">
                  <ns0:v>16</ns0:v>
                </ns0:pt>
                <ns0:pt idx="16">
                  <ns0:v>17</ns0:v>
                </ns0:pt>
                <ns0:pt idx="17">
                  <ns0:v>18</ns0:v>
                </ns0:pt>
                <ns0:pt idx="18">
                  <ns0:v>19</ns0:v>
                </ns0:pt>
              </ns0:numCache>
            </ns0:numRef>
          </ns0:xVal>
          <ns0:yVal>
            <ns0:numRef>
              <ns0:f>'Chart Data'!$F$2:$F$20</ns0:f>
              <ns0:numCache>
                <ns0:formatCode>0</ns0:formatCode>
                <ns0:ptCount val="19"/>
                <ns0:pt idx="0">
                  <ns0:v>53.74366045</ns0:v>
                </ns0:pt>
                <ns0:pt idx="1">
                  <ns0:v>100</ns0:v>
                </ns0:pt>
                <ns0:pt idx="2">
                  <ns0:v>99.4870126247</ns0:v>
                </ns0:pt>
                <ns0:pt idx="3">
                  <ns0:v>100</ns0:v>
                </ns0:pt>
                <ns0:pt idx="4">
                  <ns0:v>100</ns0:v>
                </ns0:pt>
                <ns0:pt idx="5">
                  <ns0:v>100</ns0:v>
                </ns0:pt>
                <ns0:pt idx="6">
                  <ns0:v>52.6934087276</ns0:v>
                </ns0:pt>
                <ns0:pt idx="7">
                  <ns0:v>52.821969986</ns0:v>
                </ns0:pt>
                <ns0:pt idx="8">
                  <ns0:v>100</ns0:v>
                </ns0:pt>
                <ns0:pt idx="9">
                  <ns0:v>100</ns0:v>
                </ns0:pt>
                <ns0:pt idx="10">
                  <ns0:v>71.2394535542</ns0:v>
                </ns0:pt>
                <ns0:pt idx="11">
                  <ns0:v>100</ns0:v>
                </ns0:pt>
                <ns0:pt idx="12">
                  <ns0:v>53.6181628704</ns0:v>
                </ns0:pt>
                <ns0:pt idx="13">
                  <ns0:v>55.1417708397</ns0:v>
                </ns0:pt>
                <ns0:pt idx="14">
                  <ns0:v>55.2693605423</ns0:v>
                </ns0:pt>
                <ns0:pt idx="15">
                  <ns0:v>52.7921378613</ns0:v>
                </ns0:pt>
                <ns0:pt idx="16">
                  <ns0:v>69.9711501598</ns0:v>
                </ns0:pt>
                <ns0:pt idx="17">
                  <ns0:v>100</ns0:v>
                </ns0:pt>
                <ns0:pt idx="18">
                  <ns0:v>52.8414666653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Batch</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4"/>
      </ns0:valAx>
      <ns0:valAx>
        <ns0:axId val="48672768"/>
        <ns0:scaling>
          <ns0:orientation val="minMax"/>
          <ns0:max val="10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Fines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25"/>
      </ns0:valAx>
      <ns0:spPr>
        <ns3:solidFill>
          <ns3:srgbClr val="FFFFFF"/>
        </ns3:solidFill>
        <ns3:ln w="0">
          <ns3:noFill/>
        </ns3:ln>
      </ns0:spPr>
    </ns0:plotArea>
    <ns0:plotVisOnly val="1"/>
    <ns0:dispBlanksAs val="gap"/>
    <ns0:showDLblsOverMax val="0"/>
    <ns0:extLst>
      <ns0:ext uri="{0b15fc19-7d7d-44ad-8c2d-2c3a37ce22c3}">
        <ns4:chartProps chartId="{f4ddeea5-db45-433d-9c6b-7ac2c913f6c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zero x</ns0:f>
              <ns0:strCache>
                <ns0:ptCount val="1"/>
                <ns0:pt idx="0">
                  <ns0:v>zero x</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0.00</ns0:formatCode>
                <ns0:ptCount val="2"/>
                <ns0:pt idx="0">
                  <ns0:v>-0.25</ns0:v>
                </ns0:pt>
                <ns0:pt idx="1">
                  <ns0:v>0.25</ns0:v>
                </ns0:pt>
              </ns0:numCache>
            </ns0:numRef>
          </ns0:yVal>
          <ns0:smooth val="0"/>
        </ns0:ser>
        <ns0:ser>
          <ns0:idx val="1"/>
          <ns0:order val="1"/>
          <ns0:tx>
            <ns0:strRef>
              <ns0:f>zero y</ns0:f>
              <ns0:strCache>
                <ns0:ptCount val="1"/>
                <ns0:pt idx="0">
                  <ns0:v>zero y</ns0:v>
                </ns0:pt>
              </ns0:strCache>
            </ns0:strRef>
          </ns0:tx>
          <ns0:spPr>
            <ns3:ln w="14288" cap="rnd">
              <ns3:solidFill>
                <ns3:srgbClr val="D7DDE1"/>
              </ns3:solidFill>
              <ns3:prstDash val="solid"/>
              <ns3:round/>
            </ns3:ln>
          </ns0:spPr>
          <ns0:marker>
            <ns0:symbol val="none"/>
          </ns0:marker>
          <ns0:dLbls>
            <ns0:delete val="1"/>
          </ns0:dLbls>
          <ns0:xVal>
            <ns0:numRef>
              <ns0:f>'Chart Data'!$C$2:$C$3</ns0:f>
              <ns0:numCache>
                <ns0:formatCode>General</ns0:formatCode>
                <ns0:ptCount val="2"/>
                <ns0:pt idx="0">
                  <ns0:v>-0.3</ns0:v>
                </ns0:pt>
                <ns0:pt idx="1">
                  <ns0:v>0.6</ns0:v>
                </ns0:pt>
              </ns0:numCache>
            </ns0:numRef>
          </ns0:xVal>
          <ns0:yVal>
            <ns0:numRef>
              <ns0:f>'Chart Data'!$D$2:$D$3</ns0:f>
              <ns0:numCache>
                <ns0:formatCode>0.00</ns0:formatCode>
                <ns0:ptCount val="2"/>
                <ns0:pt idx="0">
                  <ns0:v>0</ns0:v>
                </ns0:pt>
                <ns0:pt idx="1">
                  <ns0:v>0</ns0:v>
                </ns0:pt>
              </ns0:numCache>
            </ns0:numRef>
          </ns0:yVal>
          <ns0:smooth val="0"/>
        </ns0:ser>
        <ns0:ser>
          <ns0:idx val="2"/>
          <ns0:order val="2"/>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Data'!$E$2:$E$11</ns0:f>
              <ns0:numCache>
                <ns0:formatCode>General</ns0:formatCode>
                <ns0:ptCount val="10"/>
                <ns0:pt idx="0">
                  <ns0:v>0.0385354757309</ns0:v>
                </ns0:pt>
                <ns0:pt idx="1">
                  <ns0:v>0.245197713375</ns0:v>
                </ns0:pt>
                <ns0:pt idx="2">
                  <ns0:v>0.259088337421</ns0:v>
                </ns0:pt>
                <ns0:pt idx="3">
                  <ns0:v>0.2449644804</ns0:v>
                </ns0:pt>
                <ns0:pt idx="4">
                  <ns0:v>0.0632915496826</ns0:v>
                </ns0:pt>
                <ns0:pt idx="5">
                  <ns0:v>0.297834098339</ns0:v>
                </ns0:pt>
                <ns0:pt idx="6">
                  <ns0:v>0.125800907612</ns0:v>
                </ns0:pt>
                <ns0:pt idx="7">
                  <ns0:v>0.140221893787</ns0:v>
                </ns0:pt>
                <ns0:pt idx="8">
                  <ns0:v>0.0153107047081</ns0:v>
                </ns0:pt>
                <ns0:pt idx="9">
                  <ns0:v>0.515994727612</ns0:v>
                </ns0:pt>
              </ns0:numCache>
            </ns0:numRef>
          </ns0:xVal>
          <ns0:yVal>
            <ns0:numRef>
              <ns0:f>'Chart Data'!$F$2:$F$11</ns0:f>
              <ns0:numCache>
                <ns0:formatCode>0.00</ns0:formatCode>
                <ns0:ptCount val="10"/>
                <ns0:pt idx="0">
                  <ns0:v>0.141003548702</ns0:v>
                </ns0:pt>
                <ns0:pt idx="1">
                  <ns0:v>0.0525775841872</ns0:v>
                </ns0:pt>
                <ns0:pt idx="2">
                  <ns0:v>-0.225962252975</ns0:v>
                </ns0:pt>
                <ns0:pt idx="3">
                  <ns0:v>-0.0830991016626</ns0:v>
                </ns0:pt>
                <ns0:pt idx="4">
                  <ns0:v>0.180683138907</ns0:v>
                </ns0:pt>
                <ns0:pt idx="5">
                  <ns0:v>-0.0884220294356</ns0:v>
                </ns0:pt>
                <ns0:pt idx="6">
                  <ns0:v>-0.104716846188</ns0:v>
                </ns0:pt>
                <ns0:pt idx="7">
                  <ns0:v>-0.0651835566759</ns0:v>
                </ns0:pt>
                <ns0:pt idx="8">
                  <ns0:v>0.00598266879718</ns0:v>
                </ns0:pt>
                <ns0:pt idx="9">
                  <ns0:v>0.139898586432</ns0:v>
                </ns0:pt>
              </ns0:numCache>
            </ns0:numRef>
          </ns0:yVal>
          <ns0:smooth val="0"/>
        </ns0:ser>
        <ns0:ser>
          <ns0:idx val="3"/>
          <ns0:order val="3"/>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Data'!$G$2:$G$11</ns0:f>
              <ns0:numCache>
                <ns0:formatCode>General</ns0:formatCode>
                <ns0:ptCount val="10"/>
                <ns0:pt idx="0">
                  <ns0:v>0.355543076992</ns0:v>
                </ns0:pt>
                <ns0:pt idx="1">
                  <ns0:v>0.290801852942</ns0:v>
                </ns0:pt>
                <ns0:pt idx="2">
                  <ns0:v>0.127223372459</ns0:v>
                </ns0:pt>
                <ns0:pt idx="3">
                  <ns0:v>0.210446834564</ns0:v>
                </ns0:pt>
                <ns0:pt idx="4">
                  <ns0:v>0.245496273041</ns0:v>
                </ns0:pt>
                <ns0:pt idx="5">
                  <ns0:v>0.093596637249</ns0:v>
                </ns0:pt>
                <ns0:pt idx="6">
                  <ns0:v>0.454601436853</ns0:v>
                </ns0:pt>
                <ns0:pt idx="7">
                  <ns0:v>0.268975675106</ns0:v>
                </ns0:pt>
                <ns0:pt idx="8">
                  <ns0:v>0.227455675602</ns0:v>
                </ns0:pt>
                <ns0:pt idx="9">
                  <ns0:v>0.435660988092</ns0:v>
                </ns0:pt>
              </ns0:numCache>
            </ns0:numRef>
          </ns0:xVal>
          <ns0:yVal>
            <ns0:numRef>
              <ns0:f>'Chart Data'!$H$2:$H$11</ns0:f>
              <ns0:numCache>
                <ns0:formatCode>0.00</ns0:formatCode>
                <ns0:ptCount val="10"/>
                <ns0:pt idx="0">
                  <ns0:v>-0.204749189253</ns0:v>
                </ns0:pt>
                <ns0:pt idx="1">
                  <ns0:v>-0.0532898058544</ns0:v>
                </ns0:pt>
                <ns0:pt idx="2">
                  <ns0:v>0.0023548757871</ns0:v>
                </ns0:pt>
                <ns0:pt idx="3">
                  <ns0:v>-0.0111021570737</ns0:v>
                </ns0:pt>
                <ns0:pt idx="4">
                  <ns0:v>0.000624943053971</ns0:v>
                </ns0:pt>
                <ns0:pt idx="5">
                  <ns0:v>-0.0145699882905</ns0:v>
                </ns0:pt>
                <ns0:pt idx="6">
                  <ns0:v>-0.081905635794</ns0:v>
                </ns0:pt>
                <ns0:pt idx="7">
                  <ns0:v>0.0432128133376</ns0:v>
                </ns0:pt>
                <ns0:pt idx="8">
                  <ns0:v>0.0945899596413</ns0:v>
                </ns0:pt>
                <ns0:pt idx="9">
                  <ns0:v>-0.192242830396</ns0:v>
                </ns0:pt>
              </ns0:numCache>
            </ns0:numRef>
          </ns0:yVal>
          <ns0:smooth val="0"/>
        </ns0:ser>
        <ns0:ser>
          <ns0:idx val="4"/>
          <ns0:order val="4"/>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Data'!$I$2:$I$11</ns0:f>
              <ns0:numCache>
                <ns0:formatCode>General</ns0:formatCode>
                <ns0:ptCount val="10"/>
                <ns0:pt idx="0">
                  <ns0:v>0.30223017931</ns0:v>
                </ns0:pt>
                <ns0:pt idx="1">
                  <ns0:v>0.0132523775101</ns0:v>
                </ns0:pt>
                <ns0:pt idx="2">
                  <ns0:v>0.0436210036278</ns0:v>
                </ns0:pt>
                <ns0:pt idx="3">
                  <ns0:v>0.231856107712</ns0:v>
                </ns0:pt>
                <ns0:pt idx="4">
                  <ns0:v>-0.197389662266</ns0:v>
                </ns0:pt>
                <ns0:pt idx="5">
                  <ns0:v>0.308152019978</ns0:v>
                </ns0:pt>
                <ns0:pt idx="6">
                  <ns0:v>-0.273207962513</ns0:v>
                </ns0:pt>
                <ns0:pt idx="7">
                  <ns0:v>-0.248076677322</ns0:v>
                </ns0:pt>
                <ns0:pt idx="8">
                  <ns0:v>0.127265334129</ns0:v>
                </ns0:pt>
                <ns0:pt idx="9">
                  <ns0:v>-0.0655096769333</ns0:v>
                </ns0:pt>
              </ns0:numCache>
            </ns0:numRef>
          </ns0:xVal>
          <ns0:yVal>
            <ns0:numRef>
              <ns0:f>'Chart Data'!$J$2:$J$11</ns0:f>
              <ns0:numCache>
                <ns0:formatCode>0.00</ns0:formatCode>
                <ns0:ptCount val="10"/>
                <ns0:pt idx="0">
                  <ns0:v>-0.0805362884253</ns0:v>
                </ns0:pt>
                <ns0:pt idx="1">
                  <ns0:v>0.155224764302</ns0:v>
                </ns0:pt>
                <ns0:pt idx="2">
                  <ns0:v>0.0130800776482</ns0:v>
                </ns0:pt>
                <ns0:pt idx="3">
                  <ns0:v>-0.00846366194884</ns0:v>
                </ns0:pt>
                <ns0:pt idx="4">
                  <ns0:v>0.0627843488256</ns0:v>
                </ns0:pt>
                <ns0:pt idx="5">
                  <ns0:v>0.0167065068881</ns0:v>
                </ns0:pt>
                <ns0:pt idx="6">
                  <ns0:v>0.0968925877412</ns0:v>
                </ns0:pt>
                <ns0:pt idx="7">
                  <ns0:v>0.114579026699</ns0:v>
                </ns0:pt>
                <ns0:pt idx="8">
                  <ns0:v>0.164934770683</ns0:v>
                </ns0:pt>
                <ns0:pt idx="9">
                  <ns0:v>-0.066449393034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6"/>
          <ns0:min val="-0.3"/>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 gain (optimization - discovery)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3"/>
      </ns0:valAx>
      <ns0:valAx>
        <ns0:axId val="48672768"/>
        <ns0:scaling>
          <ns0:orientation val="minMax"/>
          <ns0:max val="0.25"/>
          <ns0:min val="-0.25"/>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Prediction error change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d6c0c20e-c271-456b-ad1f-0b98a5e111bb}"/>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zero x</ns0:f>
              <ns0:strCache>
                <ns0:ptCount val="1"/>
                <ns0:pt idx="0">
                  <ns0:v>zero x</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0.00</ns0:formatCode>
                <ns0:ptCount val="2"/>
                <ns0:pt idx="0">
                  <ns0:v>-0.1</ns0:v>
                </ns0:pt>
                <ns0:pt idx="1">
                  <ns0:v>0.2</ns0:v>
                </ns0:pt>
              </ns0:numCache>
            </ns0:numRef>
          </ns0:yVal>
          <ns0:smooth val="0"/>
        </ns0:ser>
        <ns0:ser>
          <ns0:idx val="1"/>
          <ns0:order val="1"/>
          <ns0:tx>
            <ns0:strRef>
              <ns0:f>zero y</ns0:f>
              <ns0:strCache>
                <ns0:ptCount val="1"/>
                <ns0:pt idx="0">
                  <ns0:v>zero y</ns0:v>
                </ns0:pt>
              </ns0:strCache>
            </ns0:strRef>
          </ns0:tx>
          <ns0:spPr>
            <ns3:ln w="14288" cap="rnd">
              <ns3:solidFill>
                <ns3:srgbClr val="D7DDE1"/>
              </ns3:solidFill>
              <ns3:prstDash val="solid"/>
              <ns3:round/>
            </ns3:ln>
          </ns0:spPr>
          <ns0:marker>
            <ns0:symbol val="none"/>
          </ns0:marker>
          <ns0:dLbls>
            <ns0:delete val="1"/>
          </ns0:dLbls>
          <ns0:xVal>
            <ns0:numRef>
              <ns0:f>'Chart Data'!$C$2:$C$3</ns0:f>
              <ns0:numCache>
                <ns0:formatCode>General</ns0:formatCode>
                <ns0:ptCount val="2"/>
                <ns0:pt idx="0">
                  <ns0:v>-0.08</ns0:v>
                </ns0:pt>
                <ns0:pt idx="1">
                  <ns0:v>0.08</ns0:v>
                </ns0:pt>
              </ns0:numCache>
            </ns0:numRef>
          </ns0:xVal>
          <ns0:yVal>
            <ns0:numRef>
              <ns0:f>'Chart Data'!$D$2:$D$3</ns0:f>
              <ns0:numCache>
                <ns0:formatCode>0.00</ns0:formatCode>
                <ns0:ptCount val="2"/>
                <ns0:pt idx="0">
                  <ns0:v>0</ns0:v>
                </ns0:pt>
                <ns0:pt idx="1">
                  <ns0:v>0</ns0:v>
                </ns0:pt>
              </ns0:numCache>
            </ns0:numRef>
          </ns0:yVal>
          <ns0:smooth val="0"/>
        </ns0:ser>
        <ns0:ser>
          <ns0:idx val="2"/>
          <ns0:order val="2"/>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Data'!$E$2:$E$11</ns0:f>
              <ns0:numCache>
                <ns0:formatCode>General</ns0:formatCode>
                <ns0:ptCount val="10"/>
                <ns0:pt idx="0">
                  <ns0:v>0.0397782027721</ns0:v>
                </ns0:pt>
                <ns0:pt idx="1">
                  <ns0:v>-0.0485621243715</ns0:v>
                </ns0:pt>
                <ns0:pt idx="2">
                  <ns0:v>0.0102851986885</ns0:v>
                </ns0:pt>
                <ns0:pt idx="3">
                  <ns0:v>0.0608382374048</ns0:v>
                </ns0:pt>
                <ns0:pt idx="4">
                  <ns0:v>-0.0134732723236</ns0:v>
                </ns0:pt>
                <ns0:pt idx="5">
                  <ns0:v>0.0136517286301</ns0:v>
                </ns0:pt>
                <ns0:pt idx="6">
                  <ns0:v>-0.00659164786339</ns0:v>
                </ns0:pt>
                <ns0:pt idx="7">
                  <ns0:v>-0.0281997919083</ns0:v>
                </ns0:pt>
                <ns0:pt idx="8">
                  <ns0:v>-0.0292480587959</ns0:v>
                </ns0:pt>
                <ns0:pt idx="9">
                  <ns0:v>-0.00255793333054</ns0:v>
                </ns0:pt>
              </ns0:numCache>
            </ns0:numRef>
          </ns0:xVal>
          <ns0:yVal>
            <ns0:numRef>
              <ns0:f>'Chart Data'!$F$2:$F$11</ns0:f>
              <ns0:numCache>
                <ns0:formatCode>0.00</ns0:formatCode>
                <ns0:ptCount val="10"/>
                <ns0:pt idx="0">
                  <ns0:v>0.07225</ns0:v>
                </ns0:pt>
                <ns0:pt idx="1">
                  <ns0:v>0.0158333333333</ns0:v>
                </ns0:pt>
                <ns0:pt idx="2">
                  <ns0:v>-0.049</ns0:v>
                </ns0:pt>
                <ns0:pt idx="3">
                  <ns0:v>0.021802314659</ns0:v>
                </ns0:pt>
                <ns0:pt idx="4">
                  <ns0:v>-0.021</ns0:v>
                </ns0:pt>
                <ns0:pt idx="5">
                  <ns0:v>0.0656133267562</ns0:v>
                </ns0:pt>
                <ns0:pt idx="6">
                  <ns0:v>0.0606454493602</ns0:v>
                </ns0:pt>
                <ns0:pt idx="7">
                  <ns0:v>0.0681908914919</ns0:v>
                </ns0:pt>
                <ns0:pt idx="8">
                  <ns0:v>0.0101666666667</ns0:v>
                </ns0:pt>
                <ns0:pt idx="9">
                  <ns0:v>0.0421873520811</ns0:v>
                </ns0:pt>
              </ns0:numCache>
            </ns0:numRef>
          </ns0:yVal>
          <ns0:smooth val="0"/>
        </ns0:ser>
        <ns0:ser>
          <ns0:idx val="3"/>
          <ns0:order val="3"/>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Data'!$G$2:$G$11</ns0:f>
              <ns0:numCache>
                <ns0:formatCode>General</ns0:formatCode>
                <ns0:ptCount val="10"/>
                <ns0:pt idx="0">
                  <ns0:v>-0.00934964418411</ns0:v>
                </ns0:pt>
                <ns0:pt idx="1">
                  <ns0:v>-0.0181660652161</ns0:v>
                </ns0:pt>
                <ns0:pt idx="2">
                  <ns0:v>-0.0543777048588</ns0:v>
                </ns0:pt>
                <ns0:pt idx="3">
                  <ns0:v>0.048193141818</ns0:v>
                </ns0:pt>
                <ns0:pt idx="4">
                  <ns0:v>0.0020986199379</ns0:v>
                </ns0:pt>
                <ns0:pt idx="5">
                  <ns0:v>-0.0122962594032</ns0:v>
                </ns0:pt>
                <ns0:pt idx="6">
                  <ns0:v>-0.0288851559162</ns0:v>
                </ns0:pt>
                <ns0:pt idx="7">
                  <ns0:v>0.0143758654594</ns0:v>
                </ns0:pt>
                <ns0:pt idx="8">
                  <ns0:v>-0.0193728208542</ns0:v>
                </ns0:pt>
                <ns0:pt idx="9">
                  <ns0:v>-0.00627610087395</ns0:v>
                </ns0:pt>
              </ns0:numCache>
            </ns0:numRef>
          </ns0:xVal>
          <ns0:yVal>
            <ns0:numRef>
              <ns0:f>'Chart Data'!$H$2:$H$11</ns0:f>
              <ns0:numCache>
                <ns0:formatCode>0.00</ns0:formatCode>
                <ns0:ptCount val="10"/>
                <ns0:pt idx="0">
                  <ns0:v>0.038395020167</ns0:v>
                </ns0:pt>
                <ns0:pt idx="1">
                  <ns0:v>0.0194664906462</ns0:v>
                </ns0:pt>
                <ns0:pt idx="2">
                  <ns0:v>0.00621826535463</ns0:v>
                </ns0:pt>
                <ns0:pt idx="3">
                  <ns0:v>0.00598864985326</ns0:v>
                </ns0:pt>
                <ns0:pt idx="4">
                  <ns0:v>-0.0536934199333</ns0:v>
                </ns0:pt>
                <ns0:pt idx="5">
                  <ns0:v>-0.012480133613</ns0:v>
                </ns0:pt>
                <ns0:pt idx="6">
                  <ns0:v>-0.0119440670212</ns0:v>
                </ns0:pt>
                <ns0:pt idx="7">
                  <ns0:v>0.00759575454394</ns0:v>
                </ns0:pt>
                <ns0:pt idx="8">
                  <ns0:v>0.179603652477</ns0:v>
                </ns0:pt>
                <ns0:pt idx="9">
                  <ns0:v>0.0297406881253</ns0:v>
                </ns0:pt>
              </ns0:numCache>
            </ns0:numRef>
          </ns0:yVal>
          <ns0:smooth val="0"/>
        </ns0:ser>
        <ns0:ser>
          <ns0:idx val="4"/>
          <ns0:order val="4"/>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Data'!$I$2:$I$11</ns0:f>
              <ns0:numCache>
                <ns0:formatCode>General</ns0:formatCode>
                <ns0:ptCount val="10"/>
                <ns0:pt idx="0">
                  <ns0:v>-0.0340854227543</ns0:v>
                </ns0:pt>
                <ns0:pt idx="1">
                  <ns0:v>-0.0260199010372</ns0:v>
                </ns0:pt>
                <ns0:pt idx="2">
                  <ns0:v>-0.0361331105232</ns0:v>
                </ns0:pt>
                <ns0:pt idx="3">
                  <ns0:v>-0.0210985392332</ns0:v>
                </ns0:pt>
                <ns0:pt idx="4">
                  <ns0:v>-0.0278052985668</ns0:v>
                </ns0:pt>
                <ns0:pt idx="5">
                  <ns0:v>0.0590219497681</ns0:v>
                </ns0:pt>
                <ns0:pt idx="6">
                  <ns0:v>-0.0369533002377</ns0:v>
                </ns0:pt>
                <ns0:pt idx="7">
                  <ns0:v>-0.00816658139229</ns0:v>
                </ns0:pt>
                <ns0:pt idx="8">
                  <ns0:v>-0.0261023640633</ns0:v>
                </ns0:pt>
                <ns0:pt idx="9">
                  <ns0:v>0.0494475662708</ns0:v>
                </ns0:pt>
              </ns0:numCache>
            </ns0:numRef>
          </ns0:xVal>
          <ns0:yVal>
            <ns0:numRef>
              <ns0:f>'Chart Data'!$J$2:$J$11</ns0:f>
              <ns0:numCache>
                <ns0:formatCode>0.00</ns0:formatCode>
                <ns0:ptCount val="10"/>
                <ns0:pt idx="0">
                  <ns0:v>0.0531883131663</ns0:v>
                </ns0:pt>
                <ns0:pt idx="1">
                  <ns0:v>-0.0434981864492</ns0:v>
                </ns0:pt>
                <ns0:pt idx="2">
                  <ns0:v>0.00217287993679</ns0:v>
                </ns0:pt>
                <ns0:pt idx="3">
                  <ns0:v>0.030800871412</ns0:v>
                </ns0:pt>
                <ns0:pt idx="4">
                  <ns0:v>0.0458776772022</ns0:v>
                </ns0:pt>
                <ns0:pt idx="5">
                  <ns0:v>-0.00189680027962</ns0:v>
                </ns0:pt>
                <ns0:pt idx="6">
                  <ns0:v>0.0845896321734</ns0:v>
                </ns0:pt>
                <ns0:pt idx="7">
                  <ns0:v>0.0262333594337</ns0:v>
                </ns0:pt>
                <ns0:pt idx="8">
                  <ns0:v>0.0156679763794</ns0:v>
                </ns0:pt>
                <ns0:pt idx="9">
                  <ns0:v>-0.0257021013995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08"/>
          <ns0:min val="-0.08"/>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 gain (optimization - discovery)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04"/>
      </ns0:valAx>
      <ns0:valAx>
        <ns0:axId val="48672768"/>
        <ns0:scaling>
          <ns0:orientation val="minMax"/>
          <ns0:max val="0.2"/>
          <ns0:min val="-0.1"/>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Prediction error change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8f73b3ed-9040-460a-95b9-2e280eb8fffd}"/>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chemas.microsoft.com/office/drawing/2012/chart" xmlns:ns5="https://web.wps.cn/et/2018/main" xmlns:ns6="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manualLayout>
          <ns0:layoutTarget val="inner"/>
          <ns0:xMode val="factor"/>
          <ns0:yMode val="factor"/>
          <ns0:wMode val="factor"/>
          <ns0:hMode val="factor"/>
          <ns0:x val="0.07"/>
          <ns0:y val="0.025"/>
          <ns0:w val="0.9"/>
          <ns0:h val="0.84"/>
        </ns0:manualLayout>
      </ns0:layout>
      <ns0:barChart>
        <ns0:barDir val="col"/>
        <ns0:grouping val="clustered"/>
        <ns0:varyColors val="0"/>
        <ns0:ser>
          <ns0:idx val="0"/>
          <ns0:order val="0"/>
          <ns0:tx>
            <ns0:strRef>
              <ns0:f>EQ Withheld reference</ns0:f>
              <ns0:strCache>
                <ns0:ptCount val="1"/>
                <ns0:pt idx="0">
                  <ns0:v>EQ Withheld reference</ns0:v>
                </ns0:pt>
              </ns0:strCache>
            </ns0:strRef>
          </ns0:tx>
          <ns0:spPr>
            <ns3:solidFill>
              <ns3:srgbClr val="CBD5DC"/>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Data'!$A$2:$A$6</ns0:f>
              <ns0:strCache>
                <ns0:ptCount val="5"/>
                <ns0:pt idx="0">
                  <ns0:v>World 1</ns0:v>
                </ns0:pt>
                <ns0:pt idx="1">
                  <ns0:v>World 2</ns0:v>
                </ns0:pt>
                <ns0:pt idx="2">
                  <ns0:v>World 3</ns0:v>
                </ns0:pt>
                <ns0:pt idx="3">
                  <ns0:v>World 4</ns0:v>
                </ns0:pt>
                <ns0:pt idx="4">
                  <ns0:v>World 5</ns0:v>
                </ns0:pt>
              </ns0:strCache>
            </ns0:strRef>
          </ns0:cat>
          <ns0:val>
            <ns0:numRef>
              <ns0:f>'Chart Data'!$B$2:$B$6</ns0:f>
              <ns0:numCache>
                <ns0:formatCode>0.0</ns0:formatCode>
                <ns0:ptCount val="5"/>
                <ns0:pt idx="0">
                  <ns0:v>71.6033911705</ns0:v>
                </ns0:pt>
                <ns0:pt idx="1">
                  <ns0:v>65.4631316662</ns0:v>
                </ns0:pt>
                <ns0:pt idx="2">
                  <ns0:v>57.9679787159</ns0:v>
                </ns0:pt>
                <ns0:pt idx="3">
                  <ns0:v>51.7307078838</ns0:v>
                </ns0:pt>
                <ns0:pt idx="4">
                  <ns0:v>44.7965872288</ns0:v>
                </ns0:pt>
              </ns0:numCache>
            </ns0:numRef>
          </ns0:val>
        </ns0:ser>
        <ns0:ser>
          <ns0:idx val="1"/>
          <ns0:order val="1"/>
          <ns0:tx>
            <ns0:strRef>
              <ns0:f>EQ Opaque</ns0:f>
              <ns0:strCache>
                <ns0:ptCount val="1"/>
                <ns0:pt idx="0">
                  <ns0:v>EQ Opaque</ns0:v>
                </ns0:pt>
              </ns0:strCache>
            </ns0:strRef>
          </ns0:tx>
          <ns0:spPr>
            <ns3:solidFill>
              <ns3:srgbClr val="637482"/>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Data'!$C$2:$C$6</ns0:f>
              <ns0:strCache>
                <ns0:ptCount val="5"/>
                <ns0:pt idx="0">
                  <ns0:v>World 1</ns0:v>
                </ns0:pt>
                <ns0:pt idx="1">
                  <ns0:v>World 2</ns0:v>
                </ns0:pt>
                <ns0:pt idx="2">
                  <ns0:v>World 3</ns0:v>
                </ns0:pt>
                <ns0:pt idx="3">
                  <ns0:v>World 4</ns0:v>
                </ns0:pt>
                <ns0:pt idx="4">
                  <ns0:v>World 5</ns0:v>
                </ns0:pt>
              </ns0:strCache>
            </ns0:strRef>
          </ns0:cat>
          <ns0:val>
            <ns0:numRef>
              <ns0:f>'Chart Data'!$D$2:$D$6</ns0:f>
              <ns0:numCache>
                <ns0:formatCode>0.0</ns0:formatCode>
                <ns0:ptCount val="5"/>
                <ns0:pt idx="0">
                  <ns0:v>69.9</ns0:v>
                </ns0:pt>
                <ns0:pt idx="1">
                  <ns0:v>62.9</ns0:v>
                </ns0:pt>
                <ns0:pt idx="2">
                  <ns0:v>56.3</ns0:v>
                </ns0:pt>
                <ns0:pt idx="3">
                  <ns0:v>52</ns0:v>
                </ns0:pt>
                <ns0:pt idx="4">
                  <ns0:v>41.3</ns0:v>
                </ns0:pt>
              </ns0:numCache>
            </ns0:numRef>
          </ns0:val>
        </ns0:ser>
        <ns0:ser>
          <ns0:idx val="2"/>
          <ns0:order val="2"/>
          <ns0:tx>
            <ns0:strRef>
              <ns0:f>EQ Aligned</ns0:f>
              <ns0:strCache>
                <ns0:ptCount val="1"/>
                <ns0:pt idx="0">
                  <ns0:v>EQ Aligned</ns0:v>
                </ns0:pt>
              </ns0:strCache>
            </ns0:strRef>
          </ns0:tx>
          <ns0:spPr>
            <ns3:solidFill>
              <ns3:srgbClr val="277F8A"/>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Data'!$E$2:$E$6</ns0:f>
              <ns0:strCache>
                <ns0:ptCount val="5"/>
                <ns0:pt idx="0">
                  <ns0:v>World 1</ns0:v>
                </ns0:pt>
                <ns0:pt idx="1">
                  <ns0:v>World 2</ns0:v>
                </ns0:pt>
                <ns0:pt idx="2">
                  <ns0:v>World 3</ns0:v>
                </ns0:pt>
                <ns0:pt idx="3">
                  <ns0:v>World 4</ns0:v>
                </ns0:pt>
                <ns0:pt idx="4">
                  <ns0:v>World 5</ns0:v>
                </ns0:pt>
              </ns0:strCache>
            </ns0:strRef>
          </ns0:cat>
          <ns0:val>
            <ns0:numRef>
              <ns0:f>'Chart Data'!$F$2:$F$6</ns0:f>
              <ns0:numCache>
                <ns0:formatCode>0.0</ns0:formatCode>
                <ns0:ptCount val="5"/>
                <ns0:pt idx="0">
                  <ns0:v>10.4</ns0:v>
                </ns0:pt>
                <ns0:pt idx="1">
                  <ns0:v>8.04</ns0:v>
                </ns0:pt>
                <ns0:pt idx="2">
                  <ns0:v>11</ns0:v>
                </ns0:pt>
                <ns0:pt idx="3">
                  <ns0:v>7.24</ns0:v>
                </ns0:pt>
                <ns0:pt idx="4">
                  <ns0:v>7.9</ns0:v>
                </ns0:pt>
              </ns0:numCache>
            </ns0:numRef>
          </ns0:val>
        </ns0:ser>
        <ns0:ser>
          <ns0:idx val="3"/>
          <ns0:order val="3"/>
          <ns0:tx>
            <ns0:strRef>
              <ns0:f>EQ MisIndexed</ns0:f>
              <ns0:strCache>
                <ns0:ptCount val="1"/>
                <ns0:pt idx="0">
                  <ns0:v>EQ MisIndexed</ns0:v>
                </ns0:pt>
              </ns0:strCache>
            </ns0:strRef>
          </ns0:tx>
          <ns0:spPr>
            <ns3:solidFill>
              <ns3:srgbClr val="BC7850"/>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Data'!$G$2:$G$6</ns0:f>
              <ns0:strCache>
                <ns0:ptCount val="5"/>
                <ns0:pt idx="0">
                  <ns0:v>World 1</ns0:v>
                </ns0:pt>
                <ns0:pt idx="1">
                  <ns0:v>World 2</ns0:v>
                </ns0:pt>
                <ns0:pt idx="2">
                  <ns0:v>World 3</ns0:v>
                </ns0:pt>
                <ns0:pt idx="3">
                  <ns0:v>World 4</ns0:v>
                </ns0:pt>
                <ns0:pt idx="4">
                  <ns0:v>World 5</ns0:v>
                </ns0:pt>
              </ns0:strCache>
            </ns0:strRef>
          </ns0:cat>
          <ns0:val>
            <ns0:numRef>
              <ns0:f>'Chart Data'!$H$2:$H$6</ns0:f>
              <ns0:numCache>
                <ns0:formatCode>0.0</ns0:formatCode>
                <ns0:ptCount val="5"/>
                <ns0:pt idx="0">
                  <ns0:v>10.9245</ns0:v>
                </ns0:pt>
                <ns0:pt idx="1">
                  <ns0:v>8.06</ns0:v>
                </ns0:pt>
                <ns0:pt idx="2">
                  <ns0:v>46</ns0:v>
                </ns0:pt>
                <ns0:pt idx="3">
                  <ns0:v>9.62</ns0:v>
                </ns0:pt>
                <ns0:pt idx="4">
                  <ns0:v>6.81</ns0:v>
                </ns0:pt>
              </ns0:numCache>
            </ns0:numRef>
          </ns0:val>
        </ns0:ser>
        <ns0:dLbls>
          <ns0:showLegendKey val="0"/>
          <ns0:showVal val="1"/>
          <ns0:showCatName val="0"/>
          <ns0:showSerName val="0"/>
          <ns0:showPercent val="0"/>
          <ns0:showBubbleSize val="0"/>
        </ns0:dLbls>
        <ns0:gapWidth val="85"/>
        <ns0:axId val="48650112"/>
        <ns0:axId val="48672768"/>
      </ns0:barChart>
      <ns0:catAx>
        <ns0:axId val="48650112"/>
        <ns0:scaling>
          <ns0:orientation val="minMax"/>
        </ns0:scaling>
        <ns0:delete val="0"/>
        <ns0:axPos val="b"/>
        <ns0:numFmt formatCode="General" sourceLinked="1"/>
        <ns0:majorTickMark val="none"/>
        <ns0:minorTickMark val="none"/>
        <ns0:tickLblPos val="nextTo"/>
        <ns0:spPr>
          <ns3:ln w="9525">
            <ns3:solidFill>
              <ns3:srgbClr val="24292D"/>
            </ns3:solidFill>
            <ns3:prstDash val="solid"/>
            <ns3:round/>
          </ns3:ln>
        </ns0:spPr>
        <ns0:txPr>
          <ns3:bodyPr rot="-60000000" spcFirstLastPara="0" vertOverflow="ellipsis" vert="horz" wrap="square" anchor="ctr" anchorCtr="1"/>
          <ns3:lstStyle/>
          <ns3:p>
            <ns3:pPr>
              <ns3:defRPr lang="zh-CN" sz="1575"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autoZero"/>
        <ns0:auto val="1"/>
        <ns0:lblAlgn val="ctr"/>
        <ns0:lblOffset val="100"/>
        <ns0:noMultiLvlLbl val="0"/>
      </ns0:catAx>
      <ns0:valAx>
        <ns0:axId val="48672768"/>
        <ns0:scaling>
          <ns0:orientation val="minMax"/>
          <ns0:max val="82"/>
          <ns0:min val="0"/>
        </ns0:scaling>
        <ns0:delete val="0"/>
        <ns0:axPos val="l"/>
        <ns0:majorGridlines>
          <ns0:spPr>
            <ns3:ln w="6668">
              <ns3:solidFill>
                <ns3:srgbClr val="E3E8EB"/>
              </ns3:solidFill>
              <ns3:prstDash val="solid"/>
              <ns3:round/>
            </ns3:ln>
          </ns0:spPr>
        </ns0:majorGridlines>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Dissociation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0"/>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between"/>
        <ns0:majorUnit val="20"/>
      </ns0:valAx>
      <ns0:spPr>
        <ns3:noFill/>
        <ns3:ln w="0">
          <ns3:noFill/>
        </ns3:ln>
      </ns0:spPr>
    </ns0:plotArea>
    <ns0:plotVisOnly val="1"/>
    <ns0:dispBlanksAs val="gap"/>
    <ns0:showDLblsOverMax val="0"/>
    <ns0:extLst>
      <ns0:ext uri="{0b15fc19-7d7d-44ad-8c2d-2c3a37ce22c3}">
        <ns5:chartProps chartId="{3a28a89b-e77c-4b41-8bda-2510be1737d4}"/>
      </ns0:ext>
    </ns0:extLst>
  </ns0:chart>
  <ns0:spPr>
    <ns3:noFill/>
    <ns3:ln w="0">
      <ns3:noFill/>
    </ns3:ln>
  </ns0:spPr>
  <ns0:txPr>
    <ns3:bodyPr/>
    <ns3:lstStyle/>
    <ns3:p>
      <ns3:pPr>
        <ns3:defRPr lang="zh-CN"/>
      </ns3:pPr>
    </ns3:p>
  </ns0:txPr>
  <ns0:externalData ns6:id="rId1">
    <ns0:autoUpdate val="0"/>
  </ns0:externalData>
</ns0:chartSpace>
</file>

<file path=ppt/charts/chart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manualLayout>
          <ns0:layoutTarget val="inner"/>
          <ns0:xMode val="factor"/>
          <ns0:yMode val="factor"/>
          <ns0:wMode val="factor"/>
          <ns0:hMode val="factor"/>
          <ns0:x val="0.075"/>
          <ns0:y val="0.035"/>
          <ns0:w val="0.9"/>
          <ns0:h val="0.85"/>
        </ns0:manualLayout>
      </ns0:layout>
      <ns0:scatterChart>
        <ns0:scatterStyle val="lineMarker"/>
        <ns0:varyColors val="0"/>
        <ns0:ser>
          <ns0:idx val="0"/>
          <ns0:order val="0"/>
          <ns0:tx>
            <ns0:strRef>
              <ns0:f>Purity observations 0</ns0:f>
              <ns0:strCache>
                <ns0:ptCount val="1"/>
                <ns0:pt idx="0">
                  <ns0:v>Purity observations 0</ns0:v>
                </ns0:pt>
              </ns0:strCache>
            </ns0:strRef>
          </ns0:tx>
          <ns0:spPr>
            <ns3:ln w="0" cap="rnd">
              <ns3:noFill/>
              <ns3:prstDash val="solid"/>
              <ns3:round/>
            </ns3:ln>
          </ns0:spPr>
          <ns0:marker>
            <ns0:symbol val="circle"/>
            <ns0:size val="8"/>
            <ns0:spPr>
              <ns3:solidFill>
                <ns3:srgbClr val="6A737B"/>
              </ns3:solidFill>
              <ns3:ln w="0">
                <ns3:noFill/>
                <ns3:prstDash val="solid"/>
                <ns3:round/>
              </ns3:ln>
            </ns0:spPr>
          </ns0:marker>
          <ns0:dLbls>
            <ns0:delete val="1"/>
          </ns0:dLbls>
          <ns0:xVal>
            <ns0:numRef>
              <ns0:f>'Chart Data'!$A$2:$A$31</ns0:f>
              <ns0:numCache>
                <ns0:formatCode>General</ns0:formatCode>
                <ns0:ptCount val="30"/>
                <ns0:pt idx="0">
                  <ns0:v>-0.11</ns0:v>
                </ns0:pt>
                <ns0:pt idx="1">
                  <ns0:v>-0.102413793103</ns0:v>
                </ns0:pt>
                <ns0:pt idx="2">
                  <ns0:v>-0.0948275862069</ns0:v>
                </ns0:pt>
                <ns0:pt idx="3">
                  <ns0:v>-0.0872413793103</ns0:v>
                </ns0:pt>
                <ns0:pt idx="4">
                  <ns0:v>-0.0796551724138</ns0:v>
                </ns0:pt>
                <ns0:pt idx="5">
                  <ns0:v>-0.0720689655172</ns0:v>
                </ns0:pt>
                <ns0:pt idx="6">
                  <ns0:v>-0.0644827586207</ns0:v>
                </ns0:pt>
                <ns0:pt idx="7">
                  <ns0:v>-0.0568965517241</ns0:v>
                </ns0:pt>
                <ns0:pt idx="8">
                  <ns0:v>-0.0493103448276</ns0:v>
                </ns0:pt>
                <ns0:pt idx="9">
                  <ns0:v>-0.041724137931</ns0:v>
                </ns0:pt>
                <ns0:pt idx="10">
                  <ns0:v>-0.0341379310345</ns0:v>
                </ns0:pt>
                <ns0:pt idx="11">
                  <ns0:v>-0.0265517241379</ns0:v>
                </ns0:pt>
                <ns0:pt idx="12">
                  <ns0:v>-0.0189655172414</ns0:v>
                </ns0:pt>
                <ns0:pt idx="13">
                  <ns0:v>-0.0113793103448</ns0:v>
                </ns0:pt>
                <ns0:pt idx="14">
                  <ns0:v>-0.00379310344828</ns0:v>
                </ns0:pt>
                <ns0:pt idx="15">
                  <ns0:v>0.00379310344828</ns0:v>
                </ns0:pt>
                <ns0:pt idx="16">
                  <ns0:v>0.0113793103448</ns0:v>
                </ns0:pt>
                <ns0:pt idx="17">
                  <ns0:v>0.0189655172414</ns0:v>
                </ns0:pt>
                <ns0:pt idx="18">
                  <ns0:v>0.0265517241379</ns0:v>
                </ns0:pt>
                <ns0:pt idx="19">
                  <ns0:v>0.0341379310345</ns0:v>
                </ns0:pt>
                <ns0:pt idx="20">
                  <ns0:v>0.041724137931</ns0:v>
                </ns0:pt>
                <ns0:pt idx="21">
                  <ns0:v>0.0493103448276</ns0:v>
                </ns0:pt>
                <ns0:pt idx="22">
                  <ns0:v>0.0568965517241</ns0:v>
                </ns0:pt>
                <ns0:pt idx="23">
                  <ns0:v>0.0644827586207</ns0:v>
                </ns0:pt>
                <ns0:pt idx="24">
                  <ns0:v>0.0720689655172</ns0:v>
                </ns0:pt>
                <ns0:pt idx="25">
                  <ns0:v>0.0796551724138</ns0:v>
                </ns0:pt>
                <ns0:pt idx="26">
                  <ns0:v>0.0872413793103</ns0:v>
                </ns0:pt>
                <ns0:pt idx="27">
                  <ns0:v>0.0948275862069</ns0:v>
                </ns0:pt>
                <ns0:pt idx="28">
                  <ns0:v>0.102413793103</ns0:v>
                </ns0:pt>
                <ns0:pt idx="29">
                  <ns0:v>0.11</ns0:v>
                </ns0:pt>
              </ns0:numCache>
            </ns0:numRef>
          </ns0:xVal>
          <ns0:yVal>
            <ns0:numRef>
              <ns0:f>'Chart Data'!$B$2:$B$31</ns0:f>
              <ns0:numCache>
                <ns0:formatCode>0</ns0:formatCode>
                <ns0:ptCount val="30"/>
                <ns0:pt idx="0">
                  <ns0:v>98.6213003596</ns0:v>
                </ns0:pt>
                <ns0:pt idx="1">
                  <ns0:v>99.1278499365</ns0:v>
                </ns0:pt>
                <ns0:pt idx="2">
                  <ns0:v>98.6858154337</ns0:v>
                </ns0:pt>
                <ns0:pt idx="3">
                  <ns0:v>98.3303427696</ns0:v>
                </ns0:pt>
                <ns0:pt idx="4">
                  <ns0:v>98.6721158028</ns0:v>
                </ns0:pt>
                <ns0:pt idx="5">
                  <ns0:v>98.7310101589</ns0:v>
                </ns0:pt>
                <ns0:pt idx="6">
                  <ns0:v>98.7851418555</ns0:v>
                </ns0:pt>
                <ns0:pt idx="7">
                  <ns0:v>98.5718617837</ns0:v>
                </ns0:pt>
                <ns0:pt idx="8">
                  <ns0:v>98.3278396229</ns0:v>
                </ns0:pt>
                <ns0:pt idx="9">
                  <ns0:v>98.4577034911</ns0:v>
                </ns0:pt>
                <ns0:pt idx="10">
                  <ns0:v>98.4670907259</ns0:v>
                </ns0:pt>
                <ns0:pt idx="11">
                  <ns0:v>98.1518311934</ns0:v>
                </ns0:pt>
                <ns0:pt idx="12">
                  <ns0:v>98.6147537827</ns0:v>
                </ns0:pt>
                <ns0:pt idx="13">
                  <ns0:v>98.469855388</ns0:v>
                </ns0:pt>
                <ns0:pt idx="14">
                  <ns0:v>98.7489839395</ns0:v>
                </ns0:pt>
                <ns0:pt idx="15">
                  <ns0:v>98.3921249708</ns0:v>
                </ns0:pt>
                <ns0:pt idx="16">
                  <ns0:v>98.4511449933</ns0:v>
                </ns0:pt>
                <ns0:pt idx="17">
                  <ns0:v>98.6893497407</ns0:v>
                </ns0:pt>
                <ns0:pt idx="18">
                  <ns0:v>98.1140601138</ns0:v>
                </ns0:pt>
                <ns0:pt idx="19">
                  <ns0:v>98.6719446878</ns0:v>
                </ns0:pt>
                <ns0:pt idx="20">
                  <ns0:v>98.8027038674</ns0:v>
                </ns0:pt>
                <ns0:pt idx="21">
                  <ns0:v>98.2880423466</ns0:v>
                </ns0:pt>
                <ns0:pt idx="22">
                  <ns0:v>98.2934728265</ns0:v>
                </ns0:pt>
                <ns0:pt idx="23">
                  <ns0:v>98.6567412814</ns0:v>
                </ns0:pt>
                <ns0:pt idx="24">
                  <ns0:v>98.5307753086</ns0:v>
                </ns0:pt>
                <ns0:pt idx="25">
                  <ns0:v>98.7309550246</ns0:v>
                </ns0:pt>
                <ns0:pt idx="26">
                  <ns0:v>98.391721646</ns0:v>
                </ns0:pt>
                <ns0:pt idx="27">
                  <ns0:v>98.7250295778</ns0:v>
                </ns0:pt>
                <ns0:pt idx="28">
                  <ns0:v>98.5110737383</ns0:v>
                </ns0:pt>
                <ns0:pt idx="29">
                  <ns0:v>98.0057880282</ns0:v>
                </ns0:pt>
              </ns0:numCache>
            </ns0:numRef>
          </ns0:yVal>
          <ns0:smooth val="0"/>
        </ns0:ser>
        <ns0:ser>
          <ns0:idx val="1"/>
          <ns0:order val="1"/>
          <ns0:tx>
            <ns0:strRef>
              <ns0:f>Purity mean 0</ns0:f>
              <ns0:strCache>
                <ns0:ptCount val="1"/>
                <ns0:pt idx="0">
                  <ns0:v>Purity mean 0</ns0:v>
                </ns0:pt>
              </ns0:strCache>
            </ns0:strRef>
          </ns0:tx>
          <ns0:spPr>
            <ns3:ln w="28575" cap="rnd">
              <ns3:solidFill>
                <ns3:srgbClr val="6A737B"/>
              </ns3:solidFill>
              <ns3:prstDash val="solid"/>
              <ns3:round/>
            </ns3:ln>
          </ns0:spPr>
          <ns0:marker>
            <ns0:symbol val="none"/>
          </ns0:marker>
          <ns0:dLbls>
            <ns0:delete val="1"/>
          </ns0:dLbls>
          <ns0:xVal>
            <ns0:numRef>
              <ns0:f>'Chart Data'!$C$2:$C$3</ns0:f>
              <ns0:numCache>
                <ns0:formatCode>General</ns0:formatCode>
                <ns0:ptCount val="2"/>
                <ns0:pt idx="0">
                  <ns0:v>-0.22</ns0:v>
                </ns0:pt>
                <ns0:pt idx="1">
                  <ns0:v>0.22</ns0:v>
                </ns0:pt>
              </ns0:numCache>
            </ns0:numRef>
          </ns0:xVal>
          <ns0:yVal>
            <ns0:numRef>
              <ns0:f>'Chart Data'!$D$2:$D$3</ns0:f>
              <ns0:numCache>
                <ns0:formatCode>0</ns0:formatCode>
                <ns0:ptCount val="2"/>
                <ns0:pt idx="0">
                  <ns0:v>98.5339474798</ns0:v>
                </ns0:pt>
                <ns0:pt idx="1">
                  <ns0:v>98.5339474798</ns0:v>
                </ns0:pt>
              </ns0:numCache>
            </ns0:numRef>
          </ns0:yVal>
          <ns0:smooth val="0"/>
        </ns0:ser>
        <ns0:ser>
          <ns0:idx val="2"/>
          <ns0:order val="2"/>
          <ns0:tx>
            <ns0:strRef>
              <ns0:f>Purity observations 1</ns0:f>
              <ns0:strCache>
                <ns0:ptCount val="1"/>
                <ns0:pt idx="0">
                  <ns0:v>Purity observations 1</ns0:v>
                </ns0:pt>
              </ns0:strCache>
            </ns0:strRef>
          </ns0:tx>
          <ns0:spPr>
            <ns3:ln w="0" cap="rnd">
              <ns3:noFill/>
              <ns3:prstDash val="solid"/>
              <ns3:round/>
            </ns3:ln>
          </ns0:spPr>
          <ns0:marker>
            <ns0:symbol val="circle"/>
            <ns0:size val="8"/>
            <ns0:spPr>
              <ns3:solidFill>
                <ns3:srgbClr val="24292D"/>
              </ns3:solidFill>
              <ns3:ln w="0">
                <ns3:noFill/>
                <ns3:prstDash val="solid"/>
                <ns3:round/>
              </ns3:ln>
            </ns0:spPr>
          </ns0:marker>
          <ns0:dLbls>
            <ns0:delete val="1"/>
          </ns0:dLbls>
          <ns0:xVal>
            <ns0:numRef>
              <ns0:f>'Chart Data'!$E$2:$E$31</ns0:f>
              <ns0:numCache>
                <ns0:formatCode>General</ns0:formatCode>
                <ns0:ptCount val="30"/>
                <ns0:pt idx="0">
                  <ns0:v>0.89</ns0:v>
                </ns0:pt>
                <ns0:pt idx="1">
                  <ns0:v>0.897586206897</ns0:v>
                </ns0:pt>
                <ns0:pt idx="2">
                  <ns0:v>0.905172413793</ns0:v>
                </ns0:pt>
                <ns0:pt idx="3">
                  <ns0:v>0.91275862069</ns0:v>
                </ns0:pt>
                <ns0:pt idx="4">
                  <ns0:v>0.920344827586</ns0:v>
                </ns0:pt>
                <ns0:pt idx="5">
                  <ns0:v>0.927931034483</ns0:v>
                </ns0:pt>
                <ns0:pt idx="6">
                  <ns0:v>0.935517241379</ns0:v>
                </ns0:pt>
                <ns0:pt idx="7">
                  <ns0:v>0.943103448276</ns0:v>
                </ns0:pt>
                <ns0:pt idx="8">
                  <ns0:v>0.950689655172</ns0:v>
                </ns0:pt>
                <ns0:pt idx="9">
                  <ns0:v>0.958275862069</ns0:v>
                </ns0:pt>
                <ns0:pt idx="10">
                  <ns0:v>0.965862068966</ns0:v>
                </ns0:pt>
                <ns0:pt idx="11">
                  <ns0:v>0.973448275862</ns0:v>
                </ns0:pt>
                <ns0:pt idx="12">
                  <ns0:v>0.981034482759</ns0:v>
                </ns0:pt>
                <ns0:pt idx="13">
                  <ns0:v>0.988620689655</ns0:v>
                </ns0:pt>
                <ns0:pt idx="14">
                  <ns0:v>0.996206896552</ns0:v>
                </ns0:pt>
                <ns0:pt idx="15">
                  <ns0:v>1.00379310345</ns0:v>
                </ns0:pt>
                <ns0:pt idx="16">
                  <ns0:v>1.01137931034</ns0:v>
                </ns0:pt>
                <ns0:pt idx="17">
                  <ns0:v>1.01896551724</ns0:v>
                </ns0:pt>
                <ns0:pt idx="18">
                  <ns0:v>1.02655172414</ns0:v>
                </ns0:pt>
                <ns0:pt idx="19">
                  <ns0:v>1.03413793103</ns0:v>
                </ns0:pt>
                <ns0:pt idx="20">
                  <ns0:v>1.04172413793</ns0:v>
                </ns0:pt>
                <ns0:pt idx="21">
                  <ns0:v>1.04931034483</ns0:v>
                </ns0:pt>
                <ns0:pt idx="22">
                  <ns0:v>1.05689655172</ns0:v>
                </ns0:pt>
                <ns0:pt idx="23">
                  <ns0:v>1.06448275862</ns0:v>
                </ns0:pt>
                <ns0:pt idx="24">
                  <ns0:v>1.07206896552</ns0:v>
                </ns0:pt>
                <ns0:pt idx="25">
                  <ns0:v>1.07965517241</ns0:v>
                </ns0:pt>
                <ns0:pt idx="26">
                  <ns0:v>1.08724137931</ns0:v>
                </ns0:pt>
                <ns0:pt idx="27">
                  <ns0:v>1.09482758621</ns0:v>
                </ns0:pt>
                <ns0:pt idx="28">
                  <ns0:v>1.1024137931</ns0:v>
                </ns0:pt>
                <ns0:pt idx="29">
                  <ns0:v>1.11</ns0:v>
                </ns0:pt>
              </ns0:numCache>
            </ns0:numRef>
          </ns0:xVal>
          <ns0:yVal>
            <ns0:numRef>
              <ns0:f>'Chart Data'!$F$2:$F$31</ns0:f>
              <ns0:numCache>
                <ns0:formatCode>0</ns0:formatCode>
                <ns0:ptCount val="30"/>
                <ns0:pt idx="0">
                  <ns0:v>98.4975122399</ns0:v>
                </ns0:pt>
                <ns0:pt idx="1">
                  <ns0:v>98.4975122399</ns0:v>
                </ns0:pt>
                <ns0:pt idx="2">
                  <ns0:v>98.4975122399</ns0:v>
                </ns0:pt>
                <ns0:pt idx="3">
                  <ns0:v>98.4975122399</ns0:v>
                </ns0:pt>
                <ns0:pt idx="4">
                  <ns0:v>98.4975122399</ns0:v>
                </ns0:pt>
                <ns0:pt idx="5">
                  <ns0:v>98.4975122399</ns0:v>
                </ns0:pt>
                <ns0:pt idx="6">
                  <ns0:v>98.4323235959</ns0:v>
                </ns0:pt>
                <ns0:pt idx="7">
                  <ns0:v>98.4323235959</ns0:v>
                </ns0:pt>
                <ns0:pt idx="8">
                  <ns0:v>98.4323235959</ns0:v>
                </ns0:pt>
                <ns0:pt idx="9">
                  <ns0:v>98.4323235959</ns0:v>
                </ns0:pt>
                <ns0:pt idx="10">
                  <ns0:v>98.4323235959</ns0:v>
                </ns0:pt>
                <ns0:pt idx="11">
                  <ns0:v>98.4323235959</ns0:v>
                </ns0:pt>
                <ns0:pt idx="12">
                  <ns0:v>98.5429161905</ns0:v>
                </ns0:pt>
                <ns0:pt idx="13">
                  <ns0:v>98.5429161905</ns0:v>
                </ns0:pt>
                <ns0:pt idx="14">
                  <ns0:v>98.5429161905</ns0:v>
                </ns0:pt>
                <ns0:pt idx="15">
                  <ns0:v>98.5429161905</ns0:v>
                </ns0:pt>
                <ns0:pt idx="16">
                  <ns0:v>98.5429161905</ns0:v>
                </ns0:pt>
                <ns0:pt idx="17">
                  <ns0:v>98.5429161905</ns0:v>
                </ns0:pt>
                <ns0:pt idx="18">
                  <ns0:v>98.5013276968</ns0:v>
                </ns0:pt>
                <ns0:pt idx="19">
                  <ns0:v>98.5013276968</ns0:v>
                </ns0:pt>
                <ns0:pt idx="20">
                  <ns0:v>98.5013276968</ns0:v>
                </ns0:pt>
                <ns0:pt idx="21">
                  <ns0:v>98.5013276968</ns0:v>
                </ns0:pt>
                <ns0:pt idx="22">
                  <ns0:v>98.5013276968</ns0:v>
                </ns0:pt>
                <ns0:pt idx="23">
                  <ns0:v>98.5013276968</ns0:v>
                </ns0:pt>
                <ns0:pt idx="24">
                  <ns0:v>98.5663782167</ns0:v>
                </ns0:pt>
                <ns0:pt idx="25">
                  <ns0:v>98.5663782167</ns0:v>
                </ns0:pt>
                <ns0:pt idx="26">
                  <ns0:v>98.5663782167</ns0:v>
                </ns0:pt>
                <ns0:pt idx="27">
                  <ns0:v>98.5663782167</ns0:v>
                </ns0:pt>
                <ns0:pt idx="28">
                  <ns0:v>98.5663782167</ns0:v>
                </ns0:pt>
                <ns0:pt idx="29">
                  <ns0:v>98.5663782167</ns0:v>
                </ns0:pt>
              </ns0:numCache>
            </ns0:numRef>
          </ns0:yVal>
          <ns0:smooth val="0"/>
        </ns0:ser>
        <ns0:ser>
          <ns0:idx val="3"/>
          <ns0:order val="3"/>
          <ns0:tx>
            <ns0:strRef>
              <ns0:f>Purity mean 1</ns0:f>
              <ns0:strCache>
                <ns0:ptCount val="1"/>
                <ns0:pt idx="0">
                  <ns0:v>Purity mean 1</ns0:v>
                </ns0:pt>
              </ns0:strCache>
            </ns0:strRef>
          </ns0:tx>
          <ns0:spPr>
            <ns3:ln w="28575" cap="rnd">
              <ns3:solidFill>
                <ns3:srgbClr val="24292D"/>
              </ns3:solidFill>
              <ns3:prstDash val="solid"/>
              <ns3:round/>
            </ns3:ln>
          </ns0:spPr>
          <ns0:marker>
            <ns0:symbol val="none"/>
          </ns0:marker>
          <ns0:dLbls>
            <ns0:delete val="1"/>
          </ns0:dLbls>
          <ns0:xVal>
            <ns0:numRef>
              <ns0:f>'Chart Data'!$G$2:$G$3</ns0:f>
              <ns0:numCache>
                <ns0:formatCode>General</ns0:formatCode>
                <ns0:ptCount val="2"/>
                <ns0:pt idx="0">
                  <ns0:v>0.78</ns0:v>
                </ns0:pt>
                <ns0:pt idx="1">
                  <ns0:v>1.22</ns0:v>
                </ns0:pt>
              </ns0:numCache>
            </ns0:numRef>
          </ns0:xVal>
          <ns0:yVal>
            <ns0:numRef>
              <ns0:f>'Chart Data'!$H$2:$H$3</ns0:f>
              <ns0:numCache>
                <ns0:formatCode>0</ns0:formatCode>
                <ns0:ptCount val="2"/>
                <ns0:pt idx="0">
                  <ns0:v>98.508091588</ns0:v>
                </ns0:pt>
                <ns0:pt idx="1">
                  <ns0:v>98.508091588</ns0:v>
                </ns0:pt>
              </ns0:numCache>
            </ns0:numRef>
          </ns0:yVal>
          <ns0:smooth val="0"/>
        </ns0:ser>
        <ns0:ser>
          <ns0:idx val="4"/>
          <ns0:order val="4"/>
          <ns0:tx>
            <ns0:strRef>
              <ns0:f>Purity observations 2</ns0:f>
              <ns0:strCache>
                <ns0:ptCount val="1"/>
                <ns0:pt idx="0">
                  <ns0:v>Purity observations 2</ns0:v>
                </ns0:pt>
              </ns0:strCache>
            </ns0:strRef>
          </ns0:tx>
          <ns0:spPr>
            <ns3:ln w="0" cap="rnd">
              <ns3:noFill/>
              <ns3:prstDash val="solid"/>
              <ns3:round/>
            </ns3:ln>
          </ns0:spPr>
          <ns0:marker>
            <ns0:symbol val="circle"/>
            <ns0:size val="8"/>
            <ns0:spPr>
              <ns3:solidFill>
                <ns3:srgbClr val="416B92"/>
              </ns3:solidFill>
              <ns3:ln w="0">
                <ns3:noFill/>
                <ns3:prstDash val="solid"/>
                <ns3:round/>
              </ns3:ln>
            </ns0:spPr>
          </ns0:marker>
          <ns0:dLbls>
            <ns0:delete val="1"/>
          </ns0:dLbls>
          <ns0:xVal>
            <ns0:numRef>
              <ns0:f>'Chart Data'!$I$2:$I$16</ns0:f>
              <ns0:numCache>
                <ns0:formatCode>General</ns0:formatCode>
                <ns0:ptCount val="15"/>
                <ns0:pt idx="0">
                  <ns0:v>1.89</ns0:v>
                </ns0:pt>
                <ns0:pt idx="1">
                  <ns0:v>1.90571428571</ns0:v>
                </ns0:pt>
                <ns0:pt idx="2">
                  <ns0:v>1.92142857143</ns0:v>
                </ns0:pt>
                <ns0:pt idx="3">
                  <ns0:v>1.93714285714</ns0:v>
                </ns0:pt>
                <ns0:pt idx="4">
                  <ns0:v>1.95285714286</ns0:v>
                </ns0:pt>
                <ns0:pt idx="5">
                  <ns0:v>1.96857142857</ns0:v>
                </ns0:pt>
                <ns0:pt idx="6">
                  <ns0:v>1.98428571429</ns0:v>
                </ns0:pt>
                <ns0:pt idx="7">
                  <ns0:v>2</ns0:v>
                </ns0:pt>
                <ns0:pt idx="8">
                  <ns0:v>2.01571428571</ns0:v>
                </ns0:pt>
                <ns0:pt idx="9">
                  <ns0:v>2.03142857143</ns0:v>
                </ns0:pt>
                <ns0:pt idx="10">
                  <ns0:v>2.04714285714</ns0:v>
                </ns0:pt>
                <ns0:pt idx="11">
                  <ns0:v>2.06285714286</ns0:v>
                </ns0:pt>
                <ns0:pt idx="12">
                  <ns0:v>2.07857142857</ns0:v>
                </ns0:pt>
                <ns0:pt idx="13">
                  <ns0:v>2.09428571429</ns0:v>
                </ns0:pt>
                <ns0:pt idx="14">
                  <ns0:v>2.11</ns0:v>
                </ns0:pt>
              </ns0:numCache>
            </ns0:numRef>
          </ns0:xVal>
          <ns0:yVal>
            <ns0:numRef>
              <ns0:f>'Chart Data'!$J$2:$J$16</ns0:f>
              <ns0:numCache>
                <ns0:formatCode>0</ns0:formatCode>
                <ns0:ptCount val="15"/>
                <ns0:pt idx="0">
                  <ns0:v>97.25</ns0:v>
                </ns0:pt>
                <ns0:pt idx="1">
                  <ns0:v>88.6666666667</ns0:v>
                </ns0:pt>
                <ns0:pt idx="2">
                  <ns0:v>88.0833333333</ns0:v>
                </ns0:pt>
                <ns0:pt idx="3">
                  <ns0:v>94.9166666667</ns0:v>
                </ns0:pt>
                <ns0:pt idx="4">
                  <ns0:v>94.1666666667</ns0:v>
                </ns0:pt>
                <ns0:pt idx="5">
                  <ns0:v>97</ns0:v>
                </ns0:pt>
                <ns0:pt idx="6">
                  <ns0:v>89.8333333333</ns0:v>
                </ns0:pt>
                <ns0:pt idx="7">
                  <ns0:v>98.1</ns0:v>
                </ns0:pt>
                <ns0:pt idx="8">
                  <ns0:v>95.1666666667</ns0:v>
                </ns0:pt>
                <ns0:pt idx="9">
                  <ns0:v>98.0666666667</ns0:v>
                </ns0:pt>
                <ns0:pt idx="10">
                  <ns0:v>91.5</ns0:v>
                </ns0:pt>
                <ns0:pt idx="11">
                  <ns0:v>87.7916666667</ns0:v>
                </ns0:pt>
                <ns0:pt idx="12">
                  <ns0:v>97.6916666667</ns0:v>
                </ns0:pt>
                <ns0:pt idx="13">
                  <ns0:v>86.8333333333</ns0:v>
                </ns0:pt>
                <ns0:pt idx="14">
                  <ns0:v>98.0916666667</ns0:v>
                </ns0:pt>
              </ns0:numCache>
            </ns0:numRef>
          </ns0:yVal>
          <ns0:smooth val="0"/>
        </ns0:ser>
        <ns0:ser>
          <ns0:idx val="5"/>
          <ns0:order val="5"/>
          <ns0:tx>
            <ns0:strRef>
              <ns0:f>Purity mean 2</ns0:f>
              <ns0:strCache>
                <ns0:ptCount val="1"/>
                <ns0:pt idx="0">
                  <ns0:v>Purity mean 2</ns0:v>
                </ns0:pt>
              </ns0:strCache>
            </ns0:strRef>
          </ns0:tx>
          <ns0:spPr>
            <ns3:ln w="28575" cap="rnd">
              <ns3:solidFill>
                <ns3:srgbClr val="416B92"/>
              </ns3:solidFill>
              <ns3:prstDash val="solid"/>
              <ns3:round/>
            </ns3:ln>
          </ns0:spPr>
          <ns0:marker>
            <ns0:symbol val="none"/>
          </ns0:marker>
          <ns0:dLbls>
            <ns0:delete val="1"/>
          </ns0:dLbls>
          <ns0:xVal>
            <ns0:numRef>
              <ns0:f>'Chart Data'!$K$2:$K$3</ns0:f>
              <ns0:numCache>
                <ns0:formatCode>General</ns0:formatCode>
                <ns0:ptCount val="2"/>
                <ns0:pt idx="0">
                  <ns0:v>1.78</ns0:v>
                </ns0:pt>
                <ns0:pt idx="1">
                  <ns0:v>2.22</ns0:v>
                </ns0:pt>
              </ns0:numCache>
            </ns0:numRef>
          </ns0:xVal>
          <ns0:yVal>
            <ns0:numRef>
              <ns0:f>'Chart Data'!$L$2:$L$3</ns0:f>
              <ns0:numCache>
                <ns0:formatCode>0</ns0:formatCode>
                <ns0:ptCount val="2"/>
                <ns0:pt idx="0">
                  <ns0:v>93.5438888889</ns0:v>
                </ns0:pt>
                <ns0:pt idx="1">
                  <ns0:v>93.5438888889</ns0:v>
                </ns0:pt>
              </ns0:numCache>
            </ns0:numRef>
          </ns0:yVal>
          <ns0:smooth val="0"/>
        </ns0:ser>
        <ns0:ser>
          <ns0:idx val="6"/>
          <ns0:order val="6"/>
          <ns0:tx>
            <ns0:strRef>
              <ns0:f>Purity observations 3</ns0:f>
              <ns0:strCache>
                <ns0:ptCount val="1"/>
                <ns0:pt idx="0">
                  <ns0:v>Purity observations 3</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Data'!$M$2:$M$16</ns0:f>
              <ns0:numCache>
                <ns0:formatCode>General</ns0:formatCode>
                <ns0:ptCount val="15"/>
                <ns0:pt idx="0">
                  <ns0:v>2.89</ns0:v>
                </ns0:pt>
                <ns0:pt idx="1">
                  <ns0:v>2.90571428571</ns0:v>
                </ns0:pt>
                <ns0:pt idx="2">
                  <ns0:v>2.92142857143</ns0:v>
                </ns0:pt>
                <ns0:pt idx="3">
                  <ns0:v>2.93714285714</ns0:v>
                </ns0:pt>
                <ns0:pt idx="4">
                  <ns0:v>2.95285714286</ns0:v>
                </ns0:pt>
                <ns0:pt idx="5">
                  <ns0:v>2.96857142857</ns0:v>
                </ns0:pt>
                <ns0:pt idx="6">
                  <ns0:v>2.98428571429</ns0:v>
                </ns0:pt>
                <ns0:pt idx="7">
                  <ns0:v>3</ns0:v>
                </ns0:pt>
                <ns0:pt idx="8">
                  <ns0:v>3.01571428571</ns0:v>
                </ns0:pt>
                <ns0:pt idx="9">
                  <ns0:v>3.03142857143</ns0:v>
                </ns0:pt>
                <ns0:pt idx="10">
                  <ns0:v>3.04714285714</ns0:v>
                </ns0:pt>
                <ns0:pt idx="11">
                  <ns0:v>3.06285714286</ns0:v>
                </ns0:pt>
                <ns0:pt idx="12">
                  <ns0:v>3.07857142857</ns0:v>
                </ns0:pt>
                <ns0:pt idx="13">
                  <ns0:v>3.09428571429</ns0:v>
                </ns0:pt>
                <ns0:pt idx="14">
                  <ns0:v>3.11</ns0:v>
                </ns0:pt>
              </ns0:numCache>
            </ns0:numRef>
          </ns0:xVal>
          <ns0:yVal>
            <ns0:numRef>
              <ns0:f>'Chart Data'!$N$2:$N$16</ns0:f>
              <ns0:numCache>
                <ns0:formatCode>0</ns0:formatCode>
                <ns0:ptCount val="15"/>
                <ns0:pt idx="0">
                  <ns0:v>96.7583333333</ns0:v>
                </ns0:pt>
                <ns0:pt idx="1">
                  <ns0:v>97.0833333333</ns0:v>
                </ns0:pt>
                <ns0:pt idx="2">
                  <ns0:v>89</ns0:v>
                </ns0:pt>
                <ns0:pt idx="3">
                  <ns0:v>94.5833333333</ns0:v>
                </ns0:pt>
                <ns0:pt idx="4">
                  <ns0:v>94.625</ns0:v>
                </ns0:pt>
                <ns0:pt idx="5">
                  <ns0:v>95.4166666667</ns0:v>
                </ns0:pt>
                <ns0:pt idx="6">
                  <ns0:v>97.5833333333</ns0:v>
                </ns0:pt>
                <ns0:pt idx="7">
                  <ns0:v>95.75</ns0:v>
                </ns0:pt>
                <ns0:pt idx="8">
                  <ns0:v>92.0833333333</ns0:v>
                </ns0:pt>
                <ns0:pt idx="9">
                  <ns0:v>97.8666666667</ns0:v>
                </ns0:pt>
                <ns0:pt idx="10">
                  <ns0:v>96.9666666667</ns0:v>
                </ns0:pt>
                <ns0:pt idx="11">
                  <ns0:v>90.5</ns0:v>
                </ns0:pt>
                <ns0:pt idx="12">
                  <ns0:v>92.0833333333</ns0:v>
                </ns0:pt>
                <ns0:pt idx="13">
                  <ns0:v>95.4333333333</ns0:v>
                </ns0:pt>
                <ns0:pt idx="14">
                  <ns0:v>97.6666666667</ns0:v>
                </ns0:pt>
              </ns0:numCache>
            </ns0:numRef>
          </ns0:yVal>
          <ns0:smooth val="0"/>
        </ns0:ser>
        <ns0:ser>
          <ns0:idx val="7"/>
          <ns0:order val="7"/>
          <ns0:tx>
            <ns0:strRef>
              <ns0:f>Purity mean 3</ns0:f>
              <ns0:strCache>
                <ns0:ptCount val="1"/>
                <ns0:pt idx="0">
                  <ns0:v>Purity mean 3</ns0:v>
                </ns0:pt>
              </ns0:strCache>
            </ns0:strRef>
          </ns0:tx>
          <ns0:spPr>
            <ns3:ln w="28575" cap="rnd">
              <ns3:solidFill>
                <ns3:srgbClr val="277F8A"/>
              </ns3:solidFill>
              <ns3:prstDash val="solid"/>
              <ns3:round/>
            </ns3:ln>
          </ns0:spPr>
          <ns0:marker>
            <ns0:symbol val="none"/>
          </ns0:marker>
          <ns0:dLbls>
            <ns0:delete val="1"/>
          </ns0:dLbls>
          <ns0:xVal>
            <ns0:numRef>
              <ns0:f>'Chart Data'!$O$2:$O$3</ns0:f>
              <ns0:numCache>
                <ns0:formatCode>General</ns0:formatCode>
                <ns0:ptCount val="2"/>
                <ns0:pt idx="0">
                  <ns0:v>2.78</ns0:v>
                </ns0:pt>
                <ns0:pt idx="1">
                  <ns0:v>3.22</ns0:v>
                </ns0:pt>
              </ns0:numCache>
            </ns0:numRef>
          </ns0:xVal>
          <ns0:yVal>
            <ns0:numRef>
              <ns0:f>'Chart Data'!$P$2:$P$3</ns0:f>
              <ns0:numCache>
                <ns0:formatCode>0</ns0:formatCode>
                <ns0:ptCount val="2"/>
                <ns0:pt idx="0">
                  <ns0:v>94.8933333333</ns0:v>
                </ns0:pt>
                <ns0:pt idx="1">
                  <ns0:v>94.8933333333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3.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100"/>
          <ns0:min val="84"/>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Campaign mean purity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4"/>
      </ns0:valAx>
      <ns0:spPr>
        <ns3:solidFill>
          <ns3:srgbClr val="FFFFFF"/>
        </ns3:solidFill>
        <ns3:ln w="0">
          <ns3:noFill/>
        </ns3:ln>
      </ns0:spPr>
    </ns0:plotArea>
    <ns0:plotVisOnly val="1"/>
    <ns0:dispBlanksAs val="gap"/>
    <ns0:showDLblsOverMax val="0"/>
    <ns0:extLst>
      <ns0:ext uri="{0b15fc19-7d7d-44ad-8c2d-2c3a37ce22c3}">
        <ns4:chartProps chartId="{664238d1-28d8-4d9a-befb-fd95fcc96b72}"/>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accuracy crystal_yield</ns0:f>
              <ns0:strCache>
                <ns0:ptCount val="1"/>
                <ns0:pt idx="0">
                  <ns0:v>Equal accuracy crystal_yield</ns0:v>
                </ns0:pt>
              </ns0:strCache>
            </ns0:strRef>
          </ns0:tx>
          <ns0:spPr>
            <ns3:ln w="15240"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ns0:formatCode>
                <ns0:ptCount val="2"/>
                <ns0:pt idx="0">
                  <ns0:v>0.05</ns0:v>
                </ns0:pt>
                <ns0:pt idx="1">
                  <ns0:v>0.95</ns0:v>
                </ns0:pt>
              </ns0:numCache>
            </ns0:numRef>
          </ns0:yVal>
          <ns0:smooth val="0"/>
        </ns0:ser>
        <ns0:ser>
          <ns0:idx val="1"/>
          <ns0:order val="1"/>
          <ns0:tx>
            <ns0:strRef>
              <ns0:f>Error difference crystal_yield Opaque</ns0:f>
              <ns0:strCache>
                <ns0:ptCount val="1"/>
                <ns0:pt idx="0">
                  <ns0:v>Error difference crystal_yield 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-15.8557432497</ns0:v>
                </ns0:pt>
                <ns0:pt idx="1">
                  <ns0:v>-9.71521715772</ns0:v>
                </ns0:pt>
                <ns0:pt idx="2">
                  <ns0:v>-8.17828467926</ns0:v>
                </ns0:pt>
                <ns0:pt idx="3">
                  <ns0:v>-6.8998405536</ns0:v>
                </ns0:pt>
                <ns0:pt idx="4">
                  <ns0:v>-4.65713891852</ns0:v>
                </ns0:pt>
                <ns0:pt idx="5">
                  <ns0:v>-1.40462554495</ns0:v>
                </ns0:pt>
                <ns0:pt idx="6">
                  <ns0:v>-1.36185493604</ns0:v>
                </ns0:pt>
                <ns0:pt idx="7">
                  <ns0:v>-1.35466392042</ns0:v>
                </ns0:pt>
                <ns0:pt idx="8">
                  <ns0:v>1.50942507633</ns0:v>
                </ns0:pt>
                <ns0:pt idx="9">
                  <ns0:v>32.1452647146</ns0:v>
                </ns0:pt>
              </ns0:numCache>
            </ns0:numRef>
          </ns0:xVal>
          <ns0:yVal>
            <ns0:numRef>
              <ns0:f>'Chart Data'!$D$2:$D$11</ns0:f>
              <ns0:numCache>
                <ns0:formatCode>0</ns0:formatCode>
                <ns0:ptCount val="10"/>
                <ns0:pt idx="0">
                  <ns0:v>0.6</ns0:v>
                </ns0:pt>
                <ns0:pt idx="1">
                  <ns0:v>0.6</ns0:v>
                </ns0:pt>
                <ns0:pt idx="2">
                  <ns0:v>0.5</ns0:v>
                </ns0:pt>
                <ns0:pt idx="3">
                  <ns0:v>0.4</ns0:v>
                </ns0:pt>
                <ns0:pt idx="4">
                  <ns0:v>0.6</ns0:v>
                </ns0:pt>
                <ns0:pt idx="5">
                  <ns0:v>0.6</ns0:v>
                </ns0:pt>
                <ns0:pt idx="6">
                  <ns0:v>0.4</ns0:v>
                </ns0:pt>
                <ns0:pt idx="7">
                  <ns0:v>0.7</ns0:v>
                </ns0:pt>
                <ns0:pt idx="8">
                  <ns0:v>0.6</ns0:v>
                </ns0:pt>
                <ns0:pt idx="9">
                  <ns0:v>0.5</ns0:v>
                </ns0:pt>
              </ns0:numCache>
            </ns0:numRef>
          </ns0:yVal>
          <ns0:smooth val="0"/>
        </ns0:ser>
        <ns0:ser>
          <ns0:idx val="2"/>
          <ns0:order val="2"/>
          <ns0:tx>
            <ns0:strRef>
              <ns0:f>Error difference crystal_yield Aligned</ns0:f>
              <ns0:strCache>
                <ns0:ptCount val="1"/>
                <ns0:pt idx="0">
                  <ns0:v>Error difference crystal_yield 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-21.9703929969</ns0:v>
                </ns0:pt>
                <ns0:pt idx="1">
                  <ns0:v>-20.0293701201</ns0:v>
                </ns0:pt>
                <ns0:pt idx="2">
                  <ns0:v>-17.0003655691</ns0:v>
                </ns0:pt>
                <ns0:pt idx="3">
                  <ns0:v>-15.2735520923</ns0:v>
                </ns0:pt>
                <ns0:pt idx="4">
                  <ns0:v>-15.06641513</ns0:v>
                </ns0:pt>
                <ns0:pt idx="5">
                  <ns0:v>-13.327262528</ns0:v>
                </ns0:pt>
                <ns0:pt idx="6">
                  <ns0:v>-9.92676151733</ns0:v>
                </ns0:pt>
                <ns0:pt idx="7">
                  <ns0:v>-9.07147390459</ns0:v>
                </ns0:pt>
                <ns0:pt idx="8">
                  <ns0:v>-8.49633771305</ns0:v>
                </ns0:pt>
                <ns0:pt idx="9">
                  <ns0:v>-6.11919283856</ns0:v>
                </ns0:pt>
              </ns0:numCache>
            </ns0:numRef>
          </ns0:xVal>
          <ns0:yVal>
            <ns0:numRef>
              <ns0:f>'Chart Data'!$F$2:$F$11</ns0:f>
              <ns0:numCache>
                <ns0:formatCode>0</ns0:formatCode>
                <ns0:ptCount val="10"/>
                <ns0:pt idx="0">
                  <ns0:v>0.5</ns0:v>
                </ns0:pt>
                <ns0:pt idx="1">
                  <ns0:v>0.5</ns0:v>
                </ns0:pt>
                <ns0:pt idx="2">
                  <ns0:v>0.5</ns0:v>
                </ns0:pt>
                <ns0:pt idx="3">
                  <ns0:v>0.5</ns0:v>
                </ns0:pt>
                <ns0:pt idx="4">
                  <ns0:v>0.7</ns0:v>
                </ns0:pt>
                <ns0:pt idx="5">
                  <ns0:v>0.5</ns0:v>
                </ns0:pt>
                <ns0:pt idx="6">
                  <ns0:v>0.5</ns0:v>
                </ns0:pt>
                <ns0:pt idx="7">
                  <ns0:v>0.7</ns0:v>
                </ns0:pt>
                <ns0:pt idx="8">
                  <ns0:v>0.3</ns0:v>
                </ns0:pt>
                <ns0:pt idx="9">
                  <ns0:v>0.5</ns0:v>
                </ns0:pt>
              </ns0:numCache>
            </ns0:numRef>
          </ns0:yVal>
          <ns0:smooth val="0"/>
        </ns0:ser>
        <ns0:ser>
          <ns0:idx val="3"/>
          <ns0:order val="3"/>
          <ns0:tx>
            <ns0:strRef>
              <ns0:f>Error difference crystal_yield MisIndexed</ns0:f>
              <ns0:strCache>
                <ns0:ptCount val="1"/>
                <ns0:pt idx="0">
                  <ns0:v>Error difference crystal_yield 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-23.9165772228</ns0:v>
                </ns0:pt>
                <ns0:pt idx="1">
                  <ns0:v>-15.8230774262</ns0:v>
                </ns0:pt>
                <ns0:pt idx="2">
                  <ns0:v>-14.7443471093</ns0:v>
                </ns0:pt>
                <ns0:pt idx="3">
                  <ns0:v>-14.4275228848</ns0:v>
                </ns0:pt>
                <ns0:pt idx="4">
                  <ns0:v>-9.32643750152</ns0:v>
                </ns0:pt>
                <ns0:pt idx="5">
                  <ns0:v>-7.36338870115</ns0:v>
                </ns0:pt>
                <ns0:pt idx="6">
                  <ns0:v>-6.06540052647</ns0:v>
                </ns0:pt>
                <ns0:pt idx="7">
                  <ns0:v>-2.82626624626</ns0:v>
                </ns0:pt>
                <ns0:pt idx="8">
                  <ns0:v>0.999772022915</ns0:v>
                </ns0:pt>
                <ns0:pt idx="9">
                  <ns0:v>7.03378682777</ns0:v>
                </ns0:pt>
              </ns0:numCache>
            </ns0:numRef>
          </ns0:xVal>
          <ns0:yVal>
            <ns0:numRef>
              <ns0:f>'Chart Data'!$H$2:$H$11</ns0:f>
              <ns0:numCache>
                <ns0:formatCode>0</ns0:formatCode>
                <ns0:ptCount val="10"/>
                <ns0:pt idx="0">
                  <ns0:v>0.5</ns0:v>
                </ns0:pt>
                <ns0:pt idx="1">
                  <ns0:v>0.4</ns0:v>
                </ns0:pt>
                <ns0:pt idx="2">
                  <ns0:v>0.3</ns0:v>
                </ns0:pt>
                <ns0:pt idx="3">
                  <ns0:v>0.8</ns0:v>
                </ns0:pt>
                <ns0:pt idx="4">
                  <ns0:v>0.4</ns0:v>
                </ns0:pt>
                <ns0:pt idx="5">
                  <ns0:v>0.6</ns0:v>
                </ns0:pt>
                <ns0:pt idx="6">
                  <ns0:v>0.7</ns0:v>
                </ns0:pt>
                <ns0:pt idx="7">
                  <ns0:v>0.5</ns0:v>
                </ns0:pt>
                <ns0:pt idx="8">
                  <ns0:v>0.5</ns0:v>
                </ns0:pt>
                <ns0:pt idx="9">
                  <ns0:v>0.5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40"/>
          <ns0:min val="-3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MAE difference (percentage points)</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10"/>
      </ns0:valAx>
      <ns0:valAx>
        <ns0:axId val="48672768"/>
        <ns0:scaling>
          <ns0:orientation val="minMax"/>
          <ns0:max val="1"/>
          <ns0:min val="0"/>
        </ns0:scaling>
        <ns0:delete val="0"/>
        <ns0:axPos val="l"/>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50112"/>
        <ns0:crosses val="min"/>
        <ns0:crossBetween val="midCat"/>
        <ns0:majorUnit val="1"/>
      </ns0:valAx>
      <ns0:spPr>
        <ns3:solidFill>
          <ns3:srgbClr val="FFFFFF"/>
        </ns3:solidFill>
        <ns3:ln w="0">
          <ns3:noFill/>
        </ns3:ln>
      </ns0:spPr>
    </ns0:plotArea>
    <ns0:plotVisOnly val="1"/>
    <ns0:dispBlanksAs val="gap"/>
    <ns0:showDLblsOverMax val="0"/>
    <ns0:extLst>
      <ns0:ext uri="{0b15fc19-7d7d-44ad-8c2d-2c3a37ce22c3}">
        <ns4:chartProps chartId="{4c7c203b-df6e-4cc7-a9a3-bb346e7cc5a9}"/>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accuracy crystal_purity</ns0:f>
              <ns0:strCache>
                <ns0:ptCount val="1"/>
                <ns0:pt idx="0">
                  <ns0:v>Equal accuracy crystal_purity</ns0:v>
                </ns0:pt>
              </ns0:strCache>
            </ns0:strRef>
          </ns0:tx>
          <ns0:spPr>
            <ns3:ln w="15240"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ns0:formatCode>
                <ns0:ptCount val="2"/>
                <ns0:pt idx="0">
                  <ns0:v>0.05</ns0:v>
                </ns0:pt>
                <ns0:pt idx="1">
                  <ns0:v>0.95</ns0:v>
                </ns0:pt>
              </ns0:numCache>
            </ns0:numRef>
          </ns0:yVal>
          <ns0:smooth val="0"/>
        </ns0:ser>
        <ns0:ser>
          <ns0:idx val="1"/>
          <ns0:order val="1"/>
          <ns0:tx>
            <ns0:strRef>
              <ns0:f>Error difference crystal_purity Opaque</ns0:f>
              <ns0:strCache>
                <ns0:ptCount val="1"/>
                <ns0:pt idx="0">
                  <ns0:v>Error difference crystal_purity 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0.129760282885</ns0:v>
                </ns0:pt>
                <ns0:pt idx="1">
                  <ns0:v>0.162775489903</ns0:v>
                </ns0:pt>
                <ns0:pt idx="2">
                  <ns0:v>0.244541082356</ns0:v>
                </ns0:pt>
                <ns0:pt idx="3">
                  <ns0:v>0.42052535216</ns0:v>
                </ns0:pt>
                <ns0:pt idx="4">
                  <ns0:v>0.543372157613</ns0:v>
                </ns0:pt>
                <ns0:pt idx="5">
                  <ns0:v>0.913655490332</ns0:v>
                </ns0:pt>
                <ns0:pt idx="6">
                  <ns0:v>0.917318041414</ns0:v>
                </ns0:pt>
                <ns0:pt idx="7">
                  <ns0:v>1.29098008469</ns0:v>
                </ns0:pt>
                <ns0:pt idx="8">
                  <ns0:v>2.42050904843</ns0:v>
                </ns0:pt>
                <ns0:pt idx="9">
                  <ns0:v>2.55932085124</ns0:v>
                </ns0:pt>
              </ns0:numCache>
            </ns0:numRef>
          </ns0:xVal>
          <ns0:yVal>
            <ns0:numRef>
              <ns0:f>'Chart Data'!$D$2:$D$11</ns0:f>
              <ns0:numCache>
                <ns0:formatCode>0</ns0:formatCode>
                <ns0:ptCount val="10"/>
                <ns0:pt idx="0">
                  <ns0:v>0.5</ns0:v>
                </ns0:pt>
                <ns0:pt idx="1">
                  <ns0:v>0.6</ns0:v>
                </ns0:pt>
                <ns0:pt idx="2">
                  <ns0:v>0.4</ns0:v>
                </ns0:pt>
                <ns0:pt idx="3">
                  <ns0:v>0.7</ns0:v>
                </ns0:pt>
                <ns0:pt idx="4">
                  <ns0:v>0.6</ns0:v>
                </ns0:pt>
                <ns0:pt idx="5">
                  <ns0:v>0.5</ns0:v>
                </ns0:pt>
                <ns0:pt idx="6">
                  <ns0:v>0.6</ns0:v>
                </ns0:pt>
                <ns0:pt idx="7">
                  <ns0:v>0.5</ns0:v>
                </ns0:pt>
                <ns0:pt idx="8">
                  <ns0:v>0.5</ns0:v>
                </ns0:pt>
                <ns0:pt idx="9">
                  <ns0:v>0.6</ns0:v>
                </ns0:pt>
              </ns0:numCache>
            </ns0:numRef>
          </ns0:yVal>
          <ns0:smooth val="0"/>
        </ns0:ser>
        <ns0:ser>
          <ns0:idx val="2"/>
          <ns0:order val="2"/>
          <ns0:tx>
            <ns0:strRef>
              <ns0:f>Error difference crystal_purity Aligned</ns0:f>
              <ns0:strCache>
                <ns0:ptCount val="1"/>
                <ns0:pt idx="0">
                  <ns0:v>Error difference crystal_purity 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0.681506734543</ns0:v>
                </ns0:pt>
                <ns0:pt idx="1">
                  <ns0:v>1.02817314137</ns0:v>
                </ns0:pt>
                <ns0:pt idx="2">
                  <ns0:v>1.20476220965</ns0:v>
                </ns0:pt>
                <ns0:pt idx="3">
                  <ns0:v>2.92634338779</ns0:v>
                </ns0:pt>
                <ns0:pt idx="4">
                  <ns0:v>3.09864728882</ns0:v>
                </ns0:pt>
                <ns0:pt idx="5">
                  <ns0:v>3.2977272728</ns0:v>
                </ns0:pt>
                <ns0:pt idx="6">
                  <ns0:v>6.02955478737</ns0:v>
                </ns0:pt>
                <ns0:pt idx="7">
                  <ns0:v>6.04379136299</ns0:v>
                </ns0:pt>
                <ns0:pt idx="8">
                  <ns0:v>6.51775009745</ns0:v>
                </ns0:pt>
                <ns0:pt idx="9">
                  <ns0:v>9.068270524</ns0:v>
                </ns0:pt>
              </ns0:numCache>
            </ns0:numRef>
          </ns0:xVal>
          <ns0:yVal>
            <ns0:numRef>
              <ns0:f>'Chart Data'!$F$2:$F$11</ns0:f>
              <ns0:numCache>
                <ns0:formatCode>0</ns0:formatCode>
                <ns0:ptCount val="10"/>
                <ns0:pt idx="0">
                  <ns0:v>0.4</ns0:v>
                </ns0:pt>
                <ns0:pt idx="1">
                  <ns0:v>0.4</ns0:v>
                </ns0:pt>
                <ns0:pt idx="2">
                  <ns0:v>0.7</ns0:v>
                </ns0:pt>
                <ns0:pt idx="3">
                  <ns0:v>0.5</ns0:v>
                </ns0:pt>
                <ns0:pt idx="4">
                  <ns0:v>0.6</ns0:v>
                </ns0:pt>
                <ns0:pt idx="5">
                  <ns0:v>0.5</ns0:v>
                </ns0:pt>
                <ns0:pt idx="6">
                  <ns0:v>0.5</ns0:v>
                </ns0:pt>
                <ns0:pt idx="7">
                  <ns0:v>0.6</ns0:v>
                </ns0:pt>
                <ns0:pt idx="8">
                  <ns0:v>0.5</ns0:v>
                </ns0:pt>
                <ns0:pt idx="9">
                  <ns0:v>0.6</ns0:v>
                </ns0:pt>
              </ns0:numCache>
            </ns0:numRef>
          </ns0:yVal>
          <ns0:smooth val="0"/>
        </ns0:ser>
        <ns0:ser>
          <ns0:idx val="3"/>
          <ns0:order val="3"/>
          <ns0:tx>
            <ns0:strRef>
              <ns0:f>Error difference crystal_purity MisIndexed</ns0:f>
              <ns0:strCache>
                <ns0:ptCount val="1"/>
                <ns0:pt idx="0">
                  <ns0:v>Error difference crystal_purity 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0.472639418967</ns0:v>
                </ns0:pt>
                <ns0:pt idx="1">
                  <ns0:v>2.68462744168</ns0:v>
                </ns0:pt>
                <ns0:pt idx="2">
                  <ns0:v>3.37707493364</ns0:v>
                </ns0:pt>
                <ns0:pt idx="3">
                  <ns0:v>3.84980185512</ns0:v>
                </ns0:pt>
                <ns0:pt idx="4">
                  <ns0:v>7.48834126605</ns0:v>
                </ns0:pt>
                <ns0:pt idx="5">
                  <ns0:v>8.28322914567</ns0:v>
                </ns0:pt>
                <ns0:pt idx="6">
                  <ns0:v>9.00105457675</ns0:v>
                </ns0:pt>
                <ns0:pt idx="7">
                  <ns0:v>9.94031860601</ns0:v>
                </ns0:pt>
                <ns0:pt idx="8">
                  <ns0:v>10.2939829901</ns0:v>
                </ns0:pt>
                <ns0:pt idx="9">
                  <ns0:v>11.2918162141</ns0:v>
                </ns0:pt>
              </ns0:numCache>
            </ns0:numRef>
          </ns0:xVal>
          <ns0:yVal>
            <ns0:numRef>
              <ns0:f>'Chart Data'!$H$2:$H$11</ns0:f>
              <ns0:numCache>
                <ns0:formatCode>0</ns0:formatCode>
                <ns0:ptCount val="10"/>
                <ns0:pt idx="0">
                  <ns0:v>0.5</ns0:v>
                </ns0:pt>
                <ns0:pt idx="1">
                  <ns0:v>0.4</ns0:v>
                </ns0:pt>
                <ns0:pt idx="2">
                  <ns0:v>0.4</ns0:v>
                </ns0:pt>
                <ns0:pt idx="3">
                  <ns0:v>0.5</ns0:v>
                </ns0:pt>
                <ns0:pt idx="4">
                  <ns0:v>0.5</ns0:v>
                </ns0:pt>
                <ns0:pt idx="5">
                  <ns0:v>0.5</ns0:v>
                </ns0:pt>
                <ns0:pt idx="6">
                  <ns0:v>0.5</ns0:v>
                </ns0:pt>
                <ns0:pt idx="7">
                  <ns0:v>0.5</ns0:v>
                </ns0:pt>
                <ns0:pt idx="8">
                  <ns0:v>0.5</ns0:v>
                </ns0:pt>
                <ns0:pt idx="9">
                  <ns0:v>0.5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12"/>
          <ns0:min val="-2"/>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MAE difference (percentage points)</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2"/>
      </ns0:valAx>
      <ns0:valAx>
        <ns0:axId val="48672768"/>
        <ns0:scaling>
          <ns0:orientation val="minMax"/>
          <ns0:max val="1"/>
          <ns0:min val="0"/>
        </ns0:scaling>
        <ns0:delete val="0"/>
        <ns0:axPos val="l"/>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50112"/>
        <ns0:crosses val="min"/>
        <ns0:crossBetween val="midCat"/>
        <ns0:majorUnit val="1"/>
      </ns0:valAx>
      <ns0:spPr>
        <ns3:solidFill>
          <ns3:srgbClr val="FFFFFF"/>
        </ns3:solidFill>
        <ns3:ln w="0">
          <ns3:noFill/>
        </ns3:ln>
      </ns0:spPr>
    </ns0:plotArea>
    <ns0:plotVisOnly val="1"/>
    <ns0:dispBlanksAs val="gap"/>
    <ns0:showDLblsOverMax val="0"/>
    <ns0:extLst>
      <ns0:ext uri="{0b15fc19-7d7d-44ad-8c2d-2c3a37ce22c3}">
        <ns4:chartProps chartId="{f71f3e9e-6082-42d6-b833-540ab594ef19}"/>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0.0883938320105</ns0:v>
                </ns0:pt>
                <ns0:pt idx="1">
                  <ns0:v>0.261981368499</ns0:v>
                </ns0:pt>
                <ns0:pt idx="2">
                  <ns0:v>0.246721178852</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0.273798996785</ns0:v>
                </ns0:pt>
                <ns0:pt idx="1">
                  <ns0:v>0.0717608553516</ns0:v>
                </ns0:pt>
                <ns0:pt idx="2">
                  <ns0:v>0.125806427617</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0.064967072757</ns0:v>
                </ns0:pt>
                <ns0:pt idx="1">
                  <ns0:v>0.245367702993</ns0:v>
                </ns0:pt>
                <ns0:pt idx="2">
                  <ns0:v>0.0601056496023</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0.259554781616</ns0:v>
                </ns0:pt>
                <ns0:pt idx="1">
                  <ns0:v>0.265505931874</ns0:v>
                </ns0:pt>
                <ns0:pt idx="2">
                  <ns0:v>0.165423463563</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0.28997020331</ns0:v>
                </ns0:pt>
                <ns0:pt idx="1">
                  <ns0:v>0.125052306483</ns0:v>
                </ns0:pt>
                <ns0:pt idx="2">
                  <ns0:v>0.0622413404683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0.0883938320105</ns0:v>
                </ns0:pt>
                <ns0:pt idx="1">
                  <ns0:v>0.273798996785</ns0:v>
                </ns0:pt>
                <ns0:pt idx="2">
                  <ns0:v>0.064967072757</ns0:v>
                </ns0:pt>
                <ns0:pt idx="3">
                  <ns0:v>0.259554781616</ns0:v>
                </ns0:pt>
                <ns0:pt idx="4">
                  <ns0:v>0.28997020331</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0.261981368499</ns0:v>
                </ns0:pt>
                <ns0:pt idx="1">
                  <ns0:v>0.0717608553516</ns0:v>
                </ns0:pt>
                <ns0:pt idx="2">
                  <ns0:v>0.245367702993</ns0:v>
                </ns0:pt>
                <ns0:pt idx="3">
                  <ns0:v>0.265505931874</ns0:v>
                </ns0:pt>
                <ns0:pt idx="4">
                  <ns0:v>0.125052306483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0.246721178852</ns0:v>
                </ns0:pt>
                <ns0:pt idx="1">
                  <ns0:v>0.125806427617</ns0:v>
                </ns0:pt>
                <ns0:pt idx="2">
                  <ns0:v>0.0601056496023</ns0:v>
                </ns0:pt>
                <ns0:pt idx="3">
                  <ns0:v>0.165423463563</ns0:v>
                </ns0:pt>
                <ns0:pt idx="4">
                  <ns0:v>0.0622413404683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18967223641276"/>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f052a0ab-c783-480d-b108-943b731c796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0.070735847714</ns0:v>
                </ns0:pt>
                <ns0:pt idx="1">
                  <ns0:v>0.232454872571</ns0:v>
                </ns0:pt>
                <ns0:pt idx="2">
                  <ns0:v>0.0367626219615</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0.136589668213</ns0:v>
                </ns0:pt>
                <ns0:pt idx="1">
                  <ns0:v>0.0486093169637</ns0:v>
                </ns0:pt>
                <ns0:pt idx="2">
                  <ns0:v>0.0630664331702</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0.172451036326</ns0:v>
                </ns0:pt>
                <ns0:pt idx="1">
                  <ns0:v>0.0727917200048</ns0:v>
                </ns0:pt>
                <ns0:pt idx="2">
                  <ns0:v>0.0756224778214</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0.108376371761</ns0:v>
                </ns0:pt>
                <ns0:pt idx="1">
                  <ns0:v>0.0776456210017</ns0:v>
                </ns0:pt>
                <ns0:pt idx="2">
                  <ns0:v>0.0667561373115</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0.112420901606</ns0:v>
                </ns0:pt>
                <ns0:pt idx="1">
                  <ns0:v>0.294545537581</ns0:v>
                </ns0:pt>
                <ns0:pt idx="2">
                  <ns0:v>0.114435547739</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0.070735847714</ns0:v>
                </ns0:pt>
                <ns0:pt idx="1">
                  <ns0:v>0.136589668213</ns0:v>
                </ns0:pt>
                <ns0:pt idx="2">
                  <ns0:v>0.172451036326</ns0:v>
                </ns0:pt>
                <ns0:pt idx="3">
                  <ns0:v>0.108376371761</ns0:v>
                </ns0:pt>
                <ns0:pt idx="4">
                  <ns0:v>0.112420901606</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0.232454872571</ns0:v>
                </ns0:pt>
                <ns0:pt idx="1">
                  <ns0:v>0.0486093169637</ns0:v>
                </ns0:pt>
                <ns0:pt idx="2">
                  <ns0:v>0.0727917200048</ns0:v>
                </ns0:pt>
                <ns0:pt idx="3">
                  <ns0:v>0.0776456210017</ns0:v>
                </ns0:pt>
                <ns0:pt idx="4">
                  <ns0:v>0.294545537581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0.0367626219615</ns0:v>
                </ns0:pt>
                <ns0:pt idx="1">
                  <ns0:v>0.0630664331702</ns0:v>
                </ns0:pt>
                <ns0:pt idx="2">
                  <ns0:v>0.0756224778214</ns0:v>
                </ns0:pt>
                <ns0:pt idx="3">
                  <ns0:v>0.0667561373115</ns0:v>
                </ns0:pt>
                <ns0:pt idx="4">
                  <ns0:v>0.114435547739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2400009133915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15c28c9d-d6a8-4efd-b066-472cc0f2c476}"/>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0.229397380712</ns0:v>
                </ns0:pt>
                <ns0:pt idx="1">
                  <ns0:v>0.0572321792468</ns0:v>
                </ns0:pt>
                <ns0:pt idx="2">
                  <ns0:v>0.166184890427</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0.0478367438105</ns0:v>
                </ns0:pt>
                <ns0:pt idx="1">
                  <ns0:v>0.0741157311387</ns0:v>
                </ns0:pt>
                <ns0:pt idx="2">
                  <ns0:v>0.138886505265</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0.245650211664</ns0:v>
                </ns0:pt>
                <ns0:pt idx="1">
                  <ns0:v>0.245992646047</ns0:v>
                </ns0:pt>
                <ns0:pt idx="2">
                  <ns0:v>0.122889998428</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0.154837935428</ns0:v>
                </ns0:pt>
                <ns0:pt idx="1">
                  <ns0:v>0.18360029608</ns0:v>
                </ns0:pt>
                <ns0:pt idx="2">
                  <ns0:v>0.262316051304</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0.295952872107</ns0:v>
                </ns0:pt>
                <ns0:pt idx="1">
                  <ns0:v>0.219642266124</ns0:v>
                </ns0:pt>
                <ns0:pt idx="2">
                  <ns0:v>0.227176111152</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0.229397380712</ns0:v>
                </ns0:pt>
                <ns0:pt idx="1">
                  <ns0:v>0.0478367438105</ns0:v>
                </ns0:pt>
                <ns0:pt idx="2">
                  <ns0:v>0.245650211664</ns0:v>
                </ns0:pt>
                <ns0:pt idx="3">
                  <ns0:v>0.154837935428</ns0:v>
                </ns0:pt>
                <ns0:pt idx="4">
                  <ns0:v>0.295952872107</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0.0572321792468</ns0:v>
                </ns0:pt>
                <ns0:pt idx="1">
                  <ns0:v>0.0741157311387</ns0:v>
                </ns0:pt>
                <ns0:pt idx="2">
                  <ns0:v>0.245992646047</ns0:v>
                </ns0:pt>
                <ns0:pt idx="3">
                  <ns0:v>0.18360029608</ns0:v>
                </ns0:pt>
                <ns0:pt idx="4">
                  <ns0:v>0.219642266124</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0.166184890427</ns0:v>
                </ns0:pt>
                <ns0:pt idx="1">
                  <ns0:v>0.138886505265</ns0:v>
                </ns0:pt>
                <ns0:pt idx="2">
                  <ns0:v>0.122889998428</ns0:v>
                </ns0:pt>
                <ns0:pt idx="3">
                  <ns0:v>0.262316051304</ns0:v>
                </ns0:pt>
                <ns0:pt idx="4">
                  <ns0:v>0.227176111152</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25548159318169"/>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b84a93f8-d7fb-42c8-a9e1-30e7832bd0e1}"/>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0.123313431901</ns0:v>
                </ns0:pt>
                <ns0:pt idx="1">
                  <ns0:v>0.179165066717</ns0:v>
                </ns0:pt>
                <ns0:pt idx="2">
                  <ns0:v>0.191987386264</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0.0534905665504</ns0:v>
                </ns0:pt>
                <ns0:pt idx="1">
                  <ns0:v>0.03750715989</ns0:v>
                </ns0:pt>
                <ns0:pt idx="2">
                  <ns0:v>0.0546027712213</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0.0840290068903</ns0:v>
                </ns0:pt>
                <ns0:pt idx="1">
                  <ns0:v>0.0582217317143</ns0:v>
                </ns0:pt>
                <ns0:pt idx="2">
                  <ns0:v>0.0923289847095</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0.0431928150853</ns0:v>
                </ns0:pt>
                <ns0:pt idx="1">
                  <ns0:v>0.120858434339</ns0:v>
                </ns0:pt>
                <ns0:pt idx="2">
                  <ns0:v>0.181335164011</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0.252319488039</ns0:v>
                </ns0:pt>
                <ns0:pt idx="1">
                  <ns0:v>0.102302707185</ns0:v>
                </ns0:pt>
                <ns0:pt idx="2">
                  <ns0:v>0.0479861547053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0.123313431901</ns0:v>
                </ns0:pt>
                <ns0:pt idx="1">
                  <ns0:v>0.0534905665504</ns0:v>
                </ns0:pt>
                <ns0:pt idx="2">
                  <ns0:v>0.0840290068903</ns0:v>
                </ns0:pt>
                <ns0:pt idx="3">
                  <ns0:v>0.0431928150853</ns0:v>
                </ns0:pt>
                <ns0:pt idx="4">
                  <ns0:v>0.252319488039</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0.179165066717</ns0:v>
                </ns0:pt>
                <ns0:pt idx="1">
                  <ns0:v>0.03750715989</ns0:v>
                </ns0:pt>
                <ns0:pt idx="2">
                  <ns0:v>0.0582217317143</ns0:v>
                </ns0:pt>
                <ns0:pt idx="3">
                  <ns0:v>0.120858434339</ns0:v>
                </ns0:pt>
                <ns0:pt idx="4">
                  <ns0:v>0.102302707185</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0.191987386264</ns0:v>
                </ns0:pt>
                <ns0:pt idx="1">
                  <ns0:v>0.0546027712213</ns0:v>
                </ns0:pt>
                <ns0:pt idx="2">
                  <ns0:v>0.0923289847095</ns0:v>
                </ns0:pt>
                <ns0:pt idx="3">
                  <ns0:v>0.181335164011</ns0:v>
                </ns0:pt>
                <ns0:pt idx="4">
                  <ns0:v>0.0479861547053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7755143684248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456c67ec-9b0b-4050-904f-7d70f56e6ba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PA-W01</ns0:f>
              <ns0:strCache>
                <ns0:ptCount val="1"/>
                <ns0:pt idx="0">
                  <ns0:v>PA-W01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0.0483434975518</ns0:v>
                </ns0:pt>
                <ns0:pt idx="1">
                  <ns0:v>0.066994324668</ns0:v>
                </ns0:pt>
                <ns0:pt idx="2">
                  <ns0:v>0.0524268308851</ns0:v>
                </ns0:pt>
              </ns0:numCache>
            </ns0:numRef>
          </ns0:yVal>
          <ns0:smooth val="0"/>
        </ns0:ser>
        <ns0:ser>
          <ns0:idx val="1"/>
          <ns0:order val="1"/>
          <ns0:tx>
            <ns0:strRef>
              <ns0:f>PA-W02</ns0:f>
              <ns0:strCache>
                <ns0:ptCount val="1"/>
                <ns0:pt idx="0">
                  <ns0:v>PA-W02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0.109975107353</ns0:v>
                </ns0:pt>
                <ns0:pt idx="1">
                  <ns0:v>0.0333223742013</ns0:v>
                </ns0:pt>
                <ns0:pt idx="2">
                  <ns0:v>0.130225107353</ns0:v>
                </ns0:pt>
              </ns0:numCache>
            </ns0:numRef>
          </ns0:yVal>
          <ns0:smooth val="0"/>
        </ns0:ser>
        <ns0:ser>
          <ns0:idx val="2"/>
          <ns0:order val="2"/>
          <ns0:tx>
            <ns0:strRef>
              <ns0:f>PA-W03</ns0:f>
              <ns0:strCache>
                <ns0:ptCount val="1"/>
                <ns0:pt idx="0">
                  <ns0:v>PA-W03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0.0983184374634</ns0:v>
                </ns0:pt>
                <ns0:pt idx="1">
                  <ns0:v>0.0148666406325</ns0:v>
                </ns0:pt>
                <ns0:pt idx="2">
                  <ns0:v>0.0958966441273</ns0:v>
                </ns0:pt>
              </ns0:numCache>
            </ns0:numRef>
          </ns0:yVal>
          <ns0:smooth val="0"/>
        </ns0:ser>
        <ns0:ser>
          <ns0:idx val="3"/>
          <ns0:order val="3"/>
          <ns0:tx>
            <ns0:strRef>
              <ns0:f>PA-W04</ns0:f>
              <ns0:strCache>
                <ns0:ptCount val="1"/>
                <ns0:pt idx="0">
                  <ns0:v>PA-W04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0.202846558206</ns0:v>
                </ns0:pt>
                <ns0:pt idx="1">
                  <ns0:v>0.192713192728</ns0:v>
                </ns0:pt>
                <ns0:pt idx="2">
                  <ns0:v>0.0508890409648</ns0:v>
                </ns0:pt>
              </ns0:numCache>
            </ns0:numRef>
          </ns0:yVal>
          <ns0:smooth val="0"/>
        </ns0:ser>
        <ns0:ser>
          <ns0:idx val="4"/>
          <ns0:order val="4"/>
          <ns0:tx>
            <ns0:strRef>
              <ns0:f>PA-W05</ns0:f>
              <ns0:strCache>
                <ns0:ptCount val="1"/>
                <ns0:pt idx="0">
                  <ns0:v>PA-W05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0.034805456158</ns0:v>
                </ns0:pt>
                <ns0:pt idx="1">
                  <ns0:v>0.0482922582129</ns0:v>
                </ns0:pt>
                <ns0:pt idx="2">
                  <ns0:v>0.0637110355526</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0.0483434975518</ns0:v>
                </ns0:pt>
                <ns0:pt idx="1">
                  <ns0:v>0.109975107353</ns0:v>
                </ns0:pt>
                <ns0:pt idx="2">
                  <ns0:v>0.0983184374634</ns0:v>
                </ns0:pt>
                <ns0:pt idx="3">
                  <ns0:v>0.202846558206</ns0:v>
                </ns0:pt>
                <ns0:pt idx="4">
                  <ns0:v>0.034805456158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0.066994324668</ns0:v>
                </ns0:pt>
                <ns0:pt idx="1">
                  <ns0:v>0.0333223742013</ns0:v>
                </ns0:pt>
                <ns0:pt idx="2">
                  <ns0:v>0.0148666406325</ns0:v>
                </ns0:pt>
                <ns0:pt idx="3">
                  <ns0:v>0.192713192728</ns0:v>
                </ns0:pt>
                <ns0:pt idx="4">
                  <ns0:v>0.0482922582129</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0.0524268308851</ns0:v>
                </ns0:pt>
                <ns0:pt idx="1">
                  <ns0:v>0.130225107353</ns0:v>
                </ns0:pt>
                <ns0:pt idx="2">
                  <ns0:v>0.0958966441273</ns0:v>
                </ns0:pt>
                <ns0:pt idx="3">
                  <ns0:v>0.0508890409648</ns0:v>
                </ns0:pt>
                <ns0:pt idx="4">
                  <ns0:v>0.0637110355526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23131214026459"/>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cf0140b7-cd53-4485-b605-3e90c7076cdc}"/>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PA-W01</ns0:f>
              <ns0:strCache>
                <ns0:ptCount val="1"/>
                <ns0:pt idx="0">
                  <ns0:v>PA-W01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0.0129374414604</ns0:v>
                </ns0:pt>
                <ns0:pt idx="1">
                  <ns0:v>0.00682675796498</ns0:v>
                </ns0:pt>
                <ns0:pt idx="2">
                  <ns0:v>0.0216768308851</ns0:v>
                </ns0:pt>
              </ns0:numCache>
            </ns0:numRef>
          </ns0:yVal>
          <ns0:smooth val="0"/>
        </ns0:ser>
        <ns0:ser>
          <ns0:idx val="1"/>
          <ns0:order val="1"/>
          <ns0:tx>
            <ns0:strRef>
              <ns0:f>PA-W02</ns0:f>
              <ns0:strCache>
                <ns0:ptCount val="1"/>
                <ns0:pt idx="0">
                  <ns0:v>PA-W02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0.00888496189908</ns0:v>
                </ns0:pt>
                <ns0:pt idx="1">
                  <ns0:v>0.0349064792745</ns0:v>
                </ns0:pt>
                <ns0:pt idx="2">
                  <ns0:v>0.0192601873922</ns0:v>
                </ns0:pt>
              </ns0:numCache>
            </ns0:numRef>
          </ns0:yVal>
          <ns0:smooth val="0"/>
        </ns0:ser>
        <ns0:ser>
          <ns0:idx val="2"/>
          <ns0:order val="2"/>
          <ns0:tx>
            <ns0:strRef>
              <ns0:f>PA-W03</ns0:f>
              <ns0:strCache>
                <ns0:ptCount val="1"/>
                <ns0:pt idx="0">
                  <ns0:v>PA-W03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0.0266839065389</ns0:v>
                </ns0:pt>
                <ns0:pt idx="1">
                  <ns0:v>0.0128387670542</ns0:v>
                </ns0:pt>
                <ns0:pt idx="2">
                  <ns0:v>0.017699856208</ns0:v>
                </ns0:pt>
              </ns0:numCache>
            </ns0:numRef>
          </ns0:yVal>
          <ns0:smooth val="0"/>
        </ns0:ser>
        <ns0:ser>
          <ns0:idx val="3"/>
          <ns0:order val="3"/>
          <ns0:tx>
            <ns0:strRef>
              <ns0:f>PA-W04</ns0:f>
              <ns0:strCache>
                <ns0:ptCount val="1"/>
                <ns0:pt idx="0">
                  <ns0:v>PA-W04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0.0286634594948</ns0:v>
                </ns0:pt>
                <ns0:pt idx="1">
                  <ns0:v>0.0109628032082</ns0:v>
                </ns0:pt>
                <ns0:pt idx="2">
                  <ns0:v>0.0197025468239</ns0:v>
                </ns0:pt>
              </ns0:numCache>
            </ns0:numRef>
          </ns0:yVal>
          <ns0:smooth val="0"/>
        </ns0:ser>
        <ns0:ser>
          <ns0:idx val="4"/>
          <ns0:order val="4"/>
          <ns0:tx>
            <ns0:strRef>
              <ns0:f>PA-W05</ns0:f>
              <ns0:strCache>
                <ns0:ptCount val="1"/>
                <ns0:pt idx="0">
                  <ns0:v>PA-W05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0.0281054376418</ns0:v>
                </ns0:pt>
                <ns0:pt idx="1">
                  <ns0:v>0.082556581613</ns0:v>
                </ns0:pt>
                <ns0:pt idx="2">
                  <ns0:v>0.025218294561</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0.0129374414604</ns0:v>
                </ns0:pt>
                <ns0:pt idx="1">
                  <ns0:v>0.00888496189908</ns0:v>
                </ns0:pt>
                <ns0:pt idx="2">
                  <ns0:v>0.0266839065389</ns0:v>
                </ns0:pt>
                <ns0:pt idx="3">
                  <ns0:v>0.0286634594948</ns0:v>
                </ns0:pt>
                <ns0:pt idx="4">
                  <ns0:v>0.0281054376418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0.00682675796498</ns0:v>
                </ns0:pt>
                <ns0:pt idx="1">
                  <ns0:v>0.0349064792745</ns0:v>
                </ns0:pt>
                <ns0:pt idx="2">
                  <ns0:v>0.0128387670542</ns0:v>
                </ns0:pt>
                <ns0:pt idx="3">
                  <ns0:v>0.0109628032082</ns0:v>
                </ns0:pt>
                <ns0:pt idx="4">
                  <ns0:v>0.082556581613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0.0216768308851</ns0:v>
                </ns0:pt>
                <ns0:pt idx="1">
                  <ns0:v>0.0192601873922</ns0:v>
                </ns0:pt>
                <ns0:pt idx="2">
                  <ns0:v>0.017699856208</ns0:v>
                </ns0:pt>
                <ns0:pt idx="3">
                  <ns0:v>0.0197025468239</ns0:v>
                </ns0:pt>
                <ns0:pt idx="4">
                  <ns0:v>0.025218294561</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90812239774256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4b08b239-b500-46ee-bb57-e9fb17e2be8f}"/>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0.0936152752108</ns0:v>
                </ns0:pt>
                <ns0:pt idx="1">
                  <ns0:v>0.0308056516482</ns0:v>
                </ns0:pt>
                <ns0:pt idx="2">
                  <ns0:v>0.031682666209</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0.117326158206</ns0:v>
                </ns0:pt>
                <ns0:pt idx="1">
                  <ns0:v>0.0276962021885</ns0:v>
                </ns0:pt>
                <ns0:pt idx="2">
                  <ns0:v>0.0390434166688</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0.126062109098</ns0:v>
                </ns0:pt>
                <ns0:pt idx="1">
                  <ns0:v>0.133253384933</ns0:v>
                </ns0:pt>
                <ns0:pt idx="2">
                  <ns0:v>0.117523621256</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0.0732518602345</ns0:v>
                </ns0:pt>
                <ns0:pt idx="1">
                  <ns0:v>0.0427617804739</ns0:v>
                </ns0:pt>
                <ns0:pt idx="2">
                  <ns0:v>0.0313129054275</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0.0990465026134</ns0:v>
                </ns0:pt>
                <ns0:pt idx="1">
                  <ns0:v>0.0505162103872</ns0:v>
                </ns0:pt>
                <ns0:pt idx="2">
                  <ns0:v>0.0532862475018</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0.0936152752108</ns0:v>
                </ns0:pt>
                <ns0:pt idx="1">
                  <ns0:v>0.117326158206</ns0:v>
                </ns0:pt>
                <ns0:pt idx="2">
                  <ns0:v>0.126062109098</ns0:v>
                </ns0:pt>
                <ns0:pt idx="3">
                  <ns0:v>0.0732518602345</ns0:v>
                </ns0:pt>
                <ns0:pt idx="4">
                  <ns0:v>0.0990465026134</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0.0308056516482</ns0:v>
                </ns0:pt>
                <ns0:pt idx="1">
                  <ns0:v>0.0276962021885</ns0:v>
                </ns0:pt>
                <ns0:pt idx="2">
                  <ns0:v>0.133253384933</ns0:v>
                </ns0:pt>
                <ns0:pt idx="3">
                  <ns0:v>0.0427617804739</ns0:v>
                </ns0:pt>
                <ns0:pt idx="4">
                  <ns0:v>0.0505162103872</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0.031682666209</ns0:v>
                </ns0:pt>
                <ns0:pt idx="1">
                  <ns0:v>0.0390434166688</ns0:v>
                </ns0:pt>
                <ns0:pt idx="2">
                  <ns0:v>0.117523621256</ns0:v>
                </ns0:pt>
                <ns0:pt idx="3">
                  <ns0:v>0.0313129054275</ns0:v>
                </ns0:pt>
                <ns0:pt idx="4">
                  <ns0:v>0.0532862475018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46578723426163"/>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5b936353-08b4-449f-aff5-48da999be082}"/>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0.0919518923242</ns0:v>
                </ns0:pt>
                <ns0:pt idx="1">
                  <ns0:v>0.0700406059271</ns0:v>
                </ns0:pt>
                <ns0:pt idx="2">
                  <ns0:v>0.0923074634352</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0.0650043574809</ns0:v>
                </ns0:pt>
                <ns0:pt idx="1">
                  <ns0:v>0.0657272778027</ns0:v>
                </ns0:pt>
                <ns0:pt idx="2">
                  <ns0:v>0.079861142583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0.0768516327151</ns0:v>
                </ns0:pt>
                <ns0:pt idx="1">
                  <ns0:v>0.0980617729831</ns0:v>
                </ns0:pt>
                <ns0:pt idx="2">
                  <ns0:v>0.118067539175</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0.103423013568</ns0:v>
                </ns0:pt>
                <ns0:pt idx="1">
                  <ns0:v>0.0715426359522</ns0:v>
                </ns0:pt>
                <ns0:pt idx="2">
                  <ns0:v>0.0712657589753</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0.0829887484031</ns0:v>
                </ns0:pt>
                <ns0:pt idx="1">
                  <ns0:v>0.15505382209</ns0:v>
                </ns0:pt>
                <ns0:pt idx="2">
                  <ns0:v>0.146471616973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0.0919518923242</ns0:v>
                </ns0:pt>
                <ns0:pt idx="1">
                  <ns0:v>0.0650043574809</ns0:v>
                </ns0:pt>
                <ns0:pt idx="2">
                  <ns0:v>0.0768516327151</ns0:v>
                </ns0:pt>
                <ns0:pt idx="3">
                  <ns0:v>0.103423013568</ns0:v>
                </ns0:pt>
                <ns0:pt idx="4">
                  <ns0:v>0.0829887484031</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0.0700406059271</ns0:v>
                </ns0:pt>
                <ns0:pt idx="1">
                  <ns0:v>0.0657272778027</ns0:v>
                </ns0:pt>
                <ns0:pt idx="2">
                  <ns0:v>0.0980617729831</ns0:v>
                </ns0:pt>
                <ns0:pt idx="3">
                  <ns0:v>0.0715426359522</ns0:v>
                </ns0:pt>
                <ns0:pt idx="4">
                  <ns0:v>0.15505382209</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0.0923074634352</ns0:v>
                </ns0:pt>
                <ns0:pt idx="1">
                  <ns0:v>0.079861142583</ns0:v>
                </ns0:pt>
                <ns0:pt idx="2">
                  <ns0:v>0.118067539175</ns0:v>
                </ns0:pt>
                <ns0:pt idx="3">
                  <ns0:v>0.0712657589753</ns0:v>
                </ns0:pt>
                <ns0:pt idx="4">
                  <ns0:v>0.146471616973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7055920429925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004795e6-765e-4b85-bf18-7ef633bb32a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0.192655851656</ns0:v>
                </ns0:pt>
                <ns0:pt idx="1">
                  <ns0:v>0.0479071559509</ns0:v>
                </ns0:pt>
                <ns0:pt idx="2">
                  <ns0:v>0.0893396101362</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0.105263674206</ns0:v>
                </ns0:pt>
                <ns0:pt idx="1">
                  <ns0:v>0.0520761277309</ns0:v>
                </ns0:pt>
                <ns0:pt idx="2">
                  <ns0:v>0.0555966520113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0.12611130144</ns0:v>
                </ns0:pt>
                <ns0:pt idx="1">
                  <ns0:v>0.0775945244812</ns0:v>
                </ns0:pt>
                <ns0:pt idx="2">
                  <ns0:v>0.218754688079</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0.0942134820223</ns0:v>
                </ns0:pt>
                <ns0:pt idx="1">
                  <ns0:v>0.0521713428166</ns0:v>
                </ns0:pt>
                <ns0:pt idx="2">
                  <ns0:v>0.208894799004</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0.176398953203</ns0:v>
                </ns0:pt>
                <ns0:pt idx="1">
                  <ns0:v>0.189456765436</ns0:v>
                </ns0:pt>
                <ns0:pt idx="2">
                  <ns0:v>0.0757616942094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0.192655851656</ns0:v>
                </ns0:pt>
                <ns0:pt idx="1">
                  <ns0:v>0.105263674206</ns0:v>
                </ns0:pt>
                <ns0:pt idx="2">
                  <ns0:v>0.12611130144</ns0:v>
                </ns0:pt>
                <ns0:pt idx="3">
                  <ns0:v>0.0942134820223</ns0:v>
                </ns0:pt>
                <ns0:pt idx="4">
                  <ns0:v>0.176398953203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0.0479071559509</ns0:v>
                </ns0:pt>
                <ns0:pt idx="1">
                  <ns0:v>0.0520761277309</ns0:v>
                </ns0:pt>
                <ns0:pt idx="2">
                  <ns0:v>0.0775945244812</ns0:v>
                </ns0:pt>
                <ns0:pt idx="3">
                  <ns0:v>0.0521713428166</ns0:v>
                </ns0:pt>
                <ns0:pt idx="4">
                  <ns0:v>0.189456765436</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0.0893396101362</ns0:v>
                </ns0:pt>
                <ns0:pt idx="1">
                  <ns0:v>0.0555966520113</ns0:v>
                </ns0:pt>
                <ns0:pt idx="2">
                  <ns0:v>0.218754688079</ns0:v>
                </ns0:pt>
                <ns0:pt idx="3">
                  <ns0:v>0.208894799004</ns0:v>
                </ns0:pt>
                <ns0:pt idx="4">
                  <ns0:v>0.0757616942094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40630156887074"/>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d198a77d-82e5-43a2-8628-d4629854462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0.105172687807</ns0:v>
                </ns0:pt>
                <ns0:pt idx="1">
                  <ns0:v>0.0757795171253</ns0:v>
                </ns0:pt>
                <ns0:pt idx="2">
                  <ns0:v>0.084199299191</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0.0939464116003</ns0:v>
                </ns0:pt>
                <ns0:pt idx="1">
                  <ns0:v>0.0842743890438</ns0:v>
                </ns0:pt>
                <ns0:pt idx="2">
                  <ns0:v>0.108568896443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0.123896404985</ns0:v>
                </ns0:pt>
                <ns0:pt idx="1">
                  <ns0:v>0.095687036169</ns0:v>
                </ns0:pt>
                <ns0:pt idx="2">
                  <ns0:v>0.0965575649664</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0.140717470664</ns0:v>
                </ns0:pt>
                <ns0:pt idx="1">
                  <ns0:v>0.117178334767</ns0:v>
                </ns0:pt>
                <ns0:pt idx="2">
                  <ns0:v>0.102032941792</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0.0976262304435</ns0:v>
                </ns0:pt>
                <ns0:pt idx="1">
                  <ns0:v>0.223664347331</ns0:v>
                </ns0:pt>
                <ns0:pt idx="2">
                  <ns0:v>0.069682042607</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0.105172687807</ns0:v>
                </ns0:pt>
                <ns0:pt idx="1">
                  <ns0:v>0.0939464116003</ns0:v>
                </ns0:pt>
                <ns0:pt idx="2">
                  <ns0:v>0.123896404985</ns0:v>
                </ns0:pt>
                <ns0:pt idx="3">
                  <ns0:v>0.140717470664</ns0:v>
                </ns0:pt>
                <ns0:pt idx="4">
                  <ns0:v>0.0976262304435</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0.0757795171253</ns0:v>
                </ns0:pt>
                <ns0:pt idx="1">
                  <ns0:v>0.0842743890438</ns0:v>
                </ns0:pt>
                <ns0:pt idx="2">
                  <ns0:v>0.095687036169</ns0:v>
                </ns0:pt>
                <ns0:pt idx="3">
                  <ns0:v>0.117178334767</ns0:v>
                </ns0:pt>
                <ns0:pt idx="4">
                  <ns0:v>0.223664347331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0.084199299191</ns0:v>
                </ns0:pt>
                <ns0:pt idx="1">
                  <ns0:v>0.108568896443</ns0:v>
                </ns0:pt>
                <ns0:pt idx="2">
                  <ns0:v>0.0965575649664</ns0:v>
                </ns0:pt>
                <ns0:pt idx="3">
                  <ns0:v>0.102032941792</ns0:v>
                </ns0:pt>
                <ns0:pt idx="4">
                  <ns0:v>0.069682042607</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46030782063802"/>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7e96cad7-0860-4026-9473-9777d75c5605}"/>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EQ-W01</ns0:f>
              <ns0:strCache>
                <ns0:ptCount val="1"/>
                <ns0:pt idx="0">
                  <ns0:v>EQ-W01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0.0138122998247</ns0:v>
                </ns0:pt>
                <ns0:pt idx="1">
                  <ns0:v>0.0511483707351</ns0:v>
                </ns0:pt>
                <ns0:pt idx="2">
                  <ns0:v>0.0515771295704</ns0:v>
                </ns0:pt>
              </ns0:numCache>
            </ns0:numRef>
          </ns0:yVal>
          <ns0:smooth val="0"/>
        </ns0:ser>
        <ns0:ser>
          <ns0:idx val="1"/>
          <ns0:order val="1"/>
          <ns0:tx>
            <ns0:strRef>
              <ns0:f>EQ-W02</ns0:f>
              <ns0:strCache>
                <ns0:ptCount val="1"/>
                <ns0:pt idx="0">
                  <ns0:v>EQ-W02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0.0114999910475</ns0:v>
                </ns0:pt>
                <ns0:pt idx="1">
                  <ns0:v>0.0496203954028</ns0:v>
                </ns0:pt>
                <ns0:pt idx="2">
                  <ns0:v>0.0516753434055</ns0:v>
                </ns0:pt>
              </ns0:numCache>
            </ns0:numRef>
          </ns0:yVal>
          <ns0:smooth val="0"/>
        </ns0:ser>
        <ns0:ser>
          <ns0:idx val="2"/>
          <ns0:order val="2"/>
          <ns0:tx>
            <ns0:strRef>
              <ns0:f>EQ-W03</ns0:f>
              <ns0:strCache>
                <ns0:ptCount val="1"/>
                <ns0:pt idx="0">
                  <ns0:v>EQ-W03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0.0104174772888</ns0:v>
                </ns0:pt>
                <ns0:pt idx="1">
                  <ns0:v>0.0407480328921</ns0:v>
                </ns0:pt>
                <ns0:pt idx="2">
                  <ns0:v>0.0195390230328</ns0:v>
                </ns0:pt>
              </ns0:numCache>
            </ns0:numRef>
          </ns0:yVal>
          <ns0:smooth val="0"/>
        </ns0:ser>
        <ns0:ser>
          <ns0:idx val="3"/>
          <ns0:order val="3"/>
          <ns0:tx>
            <ns0:strRef>
              <ns0:f>EQ-W04</ns0:f>
              <ns0:strCache>
                <ns0:ptCount val="1"/>
                <ns0:pt idx="0">
                  <ns0:v>EQ-W04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0.0142425187552</ns0:v>
                </ns0:pt>
                <ns0:pt idx="1">
                  <ns0:v>0.0387965801459</ns0:v>
                </ns0:pt>
                <ns0:pt idx="2">
                  <ns0:v>0.038565131878</ns0:v>
                </ns0:pt>
              </ns0:numCache>
            </ns0:numRef>
          </ns0:yVal>
          <ns0:smooth val="0"/>
        </ns0:ser>
        <ns0:ser>
          <ns0:idx val="4"/>
          <ns0:order val="4"/>
          <ns0:tx>
            <ns0:strRef>
              <ns0:f>EQ-W05</ns0:f>
              <ns0:strCache>
                <ns0:ptCount val="1"/>
                <ns0:pt idx="0">
                  <ns0:v>EQ-W05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0.0107287780805</ns0:v>
                </ns0:pt>
                <ns0:pt idx="1">
                  <ns0:v>0.0353943299543</ns0:v>
                </ns0:pt>
                <ns0:pt idx="2">
                  <ns0:v>0.0350654150576</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0.0138122998247</ns0:v>
                </ns0:pt>
                <ns0:pt idx="1">
                  <ns0:v>0.0114999910475</ns0:v>
                </ns0:pt>
                <ns0:pt idx="2">
                  <ns0:v>0.0104174772888</ns0:v>
                </ns0:pt>
                <ns0:pt idx="3">
                  <ns0:v>0.0142425187552</ns0:v>
                </ns0:pt>
                <ns0:pt idx="4">
                  <ns0:v>0.0107287780805</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0.0511483707351</ns0:v>
                </ns0:pt>
                <ns0:pt idx="1">
                  <ns0:v>0.0496203954028</ns0:v>
                </ns0:pt>
                <ns0:pt idx="2">
                  <ns0:v>0.0407480328921</ns0:v>
                </ns0:pt>
                <ns0:pt idx="3">
                  <ns0:v>0.0387965801459</ns0:v>
                </ns0:pt>
                <ns0:pt idx="4">
                  <ns0:v>0.0353943299543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0.0515771295704</ns0:v>
                </ns0:pt>
                <ns0:pt idx="1">
                  <ns0:v>0.0516753434055</ns0:v>
                </ns0:pt>
                <ns0:pt idx="2">
                  <ns0:v>0.0195390230328</ns0:v>
                </ns0:pt>
                <ns0:pt idx="3">
                  <ns0:v>0.038565131878</ns0:v>
                </ns0:pt>
                <ns0:pt idx="4">
                  <ns0:v>0.0350654150576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568428777460806"/>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bb38b085-789e-445e-a8ad-73564906147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EQ-S-W01</ns0:f>
              <ns0:strCache>
                <ns0:ptCount val="1"/>
                <ns0:pt idx="0">
                  <ns0:v>EQ-S-W01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0.0026463584092</ns0:v>
                </ns0:pt>
                <ns0:pt idx="1">
                  <ns0:v>0.0030944304943</ns0:v>
                </ns0:pt>
                <ns0:pt idx="2">
                  <ns0:v>0.0224358189545</ns0:v>
                </ns0:pt>
              </ns0:numCache>
            </ns0:numRef>
          </ns0:yVal>
          <ns0:smooth val="0"/>
        </ns0:ser>
        <ns0:ser>
          <ns0:idx val="1"/>
          <ns0:order val="1"/>
          <ns0:tx>
            <ns0:strRef>
              <ns0:f>EQ-S-W02</ns0:f>
              <ns0:strCache>
                <ns0:ptCount val="1"/>
                <ns0:pt idx="0">
                  <ns0:v>EQ-S-W02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0.00891616052557</ns0:v>
                </ns0:pt>
                <ns0:pt idx="1">
                  <ns0:v>0.0072617467821</ns0:v>
                </ns0:pt>
                <ns0:pt idx="2">
                  <ns0:v>0.00819065212333</ns0:v>
                </ns0:pt>
              </ns0:numCache>
            </ns0:numRef>
          </ns0:yVal>
          <ns0:smooth val="0"/>
        </ns0:ser>
        <ns0:ser>
          <ns0:idx val="2"/>
          <ns0:order val="2"/>
          <ns0:tx>
            <ns0:strRef>
              <ns0:f>EQ-S-W03</ns0:f>
              <ns0:strCache>
                <ns0:ptCount val="1"/>
                <ns0:pt idx="0">
                  <ns0:v>EQ-S-W03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0.0522223986515</ns0:v>
                </ns0:pt>
                <ns0:pt idx="1">
                  <ns0:v>0.018378648323</ns0:v>
                </ns0:pt>
                <ns0:pt idx="2">
                  <ns0:v>0.0134359281525</ns0:v>
                </ns0:pt>
              </ns0:numCache>
            </ns0:numRef>
          </ns0:yVal>
          <ns0:smooth val="0"/>
        </ns0:ser>
        <ns0:ser>
          <ns0:idx val="3"/>
          <ns0:order val="3"/>
          <ns0:tx>
            <ns0:strRef>
              <ns0:f>EQ-S-W04</ns0:f>
              <ns0:strCache>
                <ns0:ptCount val="1"/>
                <ns0:pt idx="0">
                  <ns0:v>EQ-S-W04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0.00456377031121</ns0:v>
                </ns0:pt>
                <ns0:pt idx="1">
                  <ns0:v>0.0360294822499</ns0:v>
                </ns0:pt>
                <ns0:pt idx="2">
                  <ns0:v>0.00594248946715</ns0:v>
                </ns0:pt>
              </ns0:numCache>
            </ns0:numRef>
          </ns0:yVal>
          <ns0:smooth val="0"/>
        </ns0:ser>
        <ns0:ser>
          <ns0:idx val="4"/>
          <ns0:order val="4"/>
          <ns0:tx>
            <ns0:strRef>
              <ns0:f>EQ-S-W05</ns0:f>
              <ns0:strCache>
                <ns0:ptCount val="1"/>
                <ns0:pt idx="0">
                  <ns0:v>EQ-S-W05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0.00205904095257</ns0:v>
                </ns0:pt>
                <ns0:pt idx="1">
                  <ns0:v>0.014718887598</ns0:v>
                </ns0:pt>
                <ns0:pt idx="2">
                  <ns0:v>0.0172429748529</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0.0026463584092</ns0:v>
                </ns0:pt>
                <ns0:pt idx="1">
                  <ns0:v>0.00891616052557</ns0:v>
                </ns0:pt>
                <ns0:pt idx="2">
                  <ns0:v>0.0522223986515</ns0:v>
                </ns0:pt>
                <ns0:pt idx="3">
                  <ns0:v>0.00456377031121</ns0:v>
                </ns0:pt>
                <ns0:pt idx="4">
                  <ns0:v>0.00205904095257</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0.0030944304943</ns0:v>
                </ns0:pt>
                <ns0:pt idx="1">
                  <ns0:v>0.0072617467821</ns0:v>
                </ns0:pt>
                <ns0:pt idx="2">
                  <ns0:v>0.018378648323</ns0:v>
                </ns0:pt>
                <ns0:pt idx="3">
                  <ns0:v>0.0360294822499</ns0:v>
                </ns0:pt>
                <ns0:pt idx="4">
                  <ns0:v>0.014718887598</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0.0224358189545</ns0:v>
                </ns0:pt>
                <ns0:pt idx="1">
                  <ns0:v>0.00819065212333</ns0:v>
                </ns0:pt>
                <ns0:pt idx="2">
                  <ns0:v>0.0134359281525</ns0:v>
                </ns0:pt>
                <ns0:pt idx="3">
                  <ns0:v>0.00594248946715</ns0:v>
                </ns0:pt>
                <ns0:pt idx="4">
                  <ns0:v>0.0172429748529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574446385166457"/>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6c280ef1-2950-4630-990a-364d5f31c7f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C-W01</ns0:f>
              <ns0:strCache>
                <ns0:ptCount val="1"/>
                <ns0:pt idx="0">
                  <ns0:v>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0.234678247484</ns0:v>
                </ns0:pt>
                <ns0:pt idx="1">
                  <ns0:v>0.266523140412</ns0:v>
                </ns0:pt>
                <ns0:pt idx="2">
                  <ns0:v>0.203251692324</ns0:v>
                </ns0:pt>
              </ns0:numCache>
            </ns0:numRef>
          </ns0:yVal>
          <ns0:smooth val="0"/>
        </ns0:ser>
        <ns0:ser>
          <ns0:idx val="1"/>
          <ns0:order val="1"/>
          <ns0:tx>
            <ns0:strRef>
              <ns0:f>C-W02</ns0:f>
              <ns0:strCache>
                <ns0:ptCount val="1"/>
                <ns0:pt idx="0">
                  <ns0:v>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0.378336260183</ns0:v>
                </ns0:pt>
                <ns0:pt idx="1">
                  <ns0:v>0.252677692722</ns0:v>
                </ns0:pt>
                <ns0:pt idx="2">
                  <ns0:v>0.379491229799</ns0:v>
                </ns0:pt>
              </ns0:numCache>
            </ns0:numRef>
          </ns0:yVal>
          <ns0:smooth val="0"/>
        </ns0:ser>
        <ns0:ser>
          <ns0:idx val="2"/>
          <ns0:order val="2"/>
          <ns0:tx>
            <ns0:strRef>
              <ns0:f>C-W03</ns0:f>
              <ns0:strCache>
                <ns0:ptCount val="1"/>
                <ns0:pt idx="0">
                  <ns0:v>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0.457183807008</ns0:v>
                </ns0:pt>
                <ns0:pt idx="1">
                  <ns0:v>0.225371182119</ns0:v>
                </ns0:pt>
                <ns0:pt idx="2">
                  <ns0:v>0.294537848786</ns0:v>
                </ns0:pt>
              </ns0:numCache>
            </ns0:numRef>
          </ns0:yVal>
          <ns0:smooth val="0"/>
        </ns0:ser>
        <ns0:ser>
          <ns0:idx val="3"/>
          <ns0:order val="3"/>
          <ns0:tx>
            <ns0:strRef>
              <ns0:f>C-W04</ns0:f>
              <ns0:strCache>
                <ns0:ptCount val="1"/>
                <ns0:pt idx="0">
                  <ns0:v>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0.233789678955</ns0:v>
                </ns0:pt>
                <ns0:pt idx="1">
                  <ns0:v>0.307956345622</ns0:v>
                </ns0:pt>
                <ns0:pt idx="2">
                  <ns0:v>0.277828283398</ns0:v>
                </ns0:pt>
              </ns0:numCache>
            </ns0:numRef>
          </ns0:yVal>
          <ns0:smooth val="0"/>
        </ns0:ser>
        <ns0:ser>
          <ns0:idx val="4"/>
          <ns0:order val="4"/>
          <ns0:tx>
            <ns0:strRef>
              <ns0:f>C-W05</ns0:f>
              <ns0:strCache>
                <ns0:ptCount val="1"/>
                <ns0:pt idx="0">
                  <ns0:v>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0.335540167868</ns0:v>
                </ns0:pt>
                <ns0:pt idx="1">
                  <ns0:v>0.495540167868</ns0:v>
                </ns0:pt>
                <ns0:pt idx="2">
                  <ns0:v>0.307206834534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0.234678247484</ns0:v>
                </ns0:pt>
                <ns0:pt idx="1">
                  <ns0:v>0.378336260183</ns0:v>
                </ns0:pt>
                <ns0:pt idx="2">
                  <ns0:v>0.457183807008</ns0:v>
                </ns0:pt>
                <ns0:pt idx="3">
                  <ns0:v>0.233789678955</ns0:v>
                </ns0:pt>
                <ns0:pt idx="4">
                  <ns0:v>0.335540167868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0.266523140412</ns0:v>
                </ns0:pt>
                <ns0:pt idx="1">
                  <ns0:v>0.252677692722</ns0:v>
                </ns0:pt>
                <ns0:pt idx="2">
                  <ns0:v>0.225371182119</ns0:v>
                </ns0:pt>
                <ns0:pt idx="3">
                  <ns0:v>0.307956345622</ns0:v>
                </ns0:pt>
                <ns0:pt idx="4">
                  <ns0:v>0.495540167868</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0.203251692324</ns0:v>
                </ns0:pt>
                <ns0:pt idx="1">
                  <ns0:v>0.379491229799</ns0:v>
                </ns0:pt>
                <ns0:pt idx="2">
                  <ns0:v>0.294537848786</ns0:v>
                </ns0:pt>
                <ns0:pt idx="3">
                  <ns0:v>0.277828283398</ns0:v>
                </ns0:pt>
                <ns0:pt idx="4">
                  <ns0:v>0.307206834534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545094184654337"/>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f7ca3b39-b6f6-4156-860a-74832ea53af4}"/>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C-W01</ns0:f>
              <ns0:strCache>
                <ns0:ptCount val="1"/>
                <ns0:pt idx="0">
                  <ns0:v>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0.177606494137</ns0:v>
                </ns0:pt>
                <ns0:pt idx="1">
                  <ns0:v>0.279856473746</ns0:v>
                </ns0:pt>
                <ns0:pt idx="2">
                  <ns0:v>0.271344914151</ns0:v>
                </ns0:pt>
              </ns0:numCache>
            </ns0:numRef>
          </ns0:yVal>
          <ns0:smooth val="0"/>
        </ns0:ser>
        <ns0:ser>
          <ns0:idx val="1"/>
          <ns0:order val="1"/>
          <ns0:tx>
            <ns0:strRef>
              <ns0:f>C-W02</ns0:f>
              <ns0:strCache>
                <ns0:ptCount val="1"/>
                <ns0:pt idx="0">
                  <ns0:v>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0.135324563133</ns0:v>
                </ns0:pt>
                <ns0:pt idx="1">
                  <ns0:v>0.269559625191</ns0:v>
                </ns0:pt>
                <ns0:pt idx="2">
                  <ns0:v>0.286669593517</ns0:v>
                </ns0:pt>
              </ns0:numCache>
            </ns0:numRef>
          </ns0:yVal>
          <ns0:smooth val="0"/>
        </ns0:ser>
        <ns0:ser>
          <ns0:idx val="2"/>
          <ns0:order val="2"/>
          <ns0:tx>
            <ns0:strRef>
              <ns0:f>C-W03</ns0:f>
              <ns0:strCache>
                <ns0:ptCount val="1"/>
                <ns0:pt idx="0">
                  <ns0:v>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0.285773637911</ns0:v>
                </ns0:pt>
                <ns0:pt idx="1">
                  <ns0:v>0.28399140566</ns0:v>
                </ns0:pt>
                <ns0:pt idx="2">
                  <ns0:v>0.353880089495</ns0:v>
                </ns0:pt>
              </ns0:numCache>
            </ns0:numRef>
          </ns0:yVal>
          <ns0:smooth val="0"/>
        </ns0:ser>
        <ns0:ser>
          <ns0:idx val="3"/>
          <ns0:order val="3"/>
          <ns0:tx>
            <ns0:strRef>
              <ns0:f>C-W04</ns0:f>
              <ns0:strCache>
                <ns0:ptCount val="1"/>
                <ns0:pt idx="0">
                  <ns0:v>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0.331974651653</ns0:v>
                </ns0:pt>
                <ns0:pt idx="1">
                  <ns0:v>0.239502291008</ns0:v>
                </ns0:pt>
                <ns0:pt idx="2">
                  <ns0:v>0.347956345622</ns0:v>
                </ns0:pt>
              </ns0:numCache>
            </ns0:numRef>
          </ns0:yVal>
          <ns0:smooth val="0"/>
        </ns0:ser>
        <ns0:ser>
          <ns0:idx val="4"/>
          <ns0:order val="4"/>
          <ns0:tx>
            <ns0:strRef>
              <ns0:f>C-W05</ns0:f>
              <ns0:strCache>
                <ns0:ptCount val="1"/>
                <ns0:pt idx="0">
                  <ns0:v>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0.209706834534</ns0:v>
                </ns0:pt>
                <ns0:pt idx="1">
                  <ns0:v>0.313930922262</ns0:v>
                </ns0:pt>
                <ns0:pt idx="2">
                  <ns0:v>0.262935839495</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0.177606494137</ns0:v>
                </ns0:pt>
                <ns0:pt idx="1">
                  <ns0:v>0.135324563133</ns0:v>
                </ns0:pt>
                <ns0:pt idx="2">
                  <ns0:v>0.285773637911</ns0:v>
                </ns0:pt>
                <ns0:pt idx="3">
                  <ns0:v>0.331974651653</ns0:v>
                </ns0:pt>
                <ns0:pt idx="4">
                  <ns0:v>0.209706834534</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0.279856473746</ns0:v>
                </ns0:pt>
                <ns0:pt idx="1">
                  <ns0:v>0.269559625191</ns0:v>
                </ns0:pt>
                <ns0:pt idx="2">
                  <ns0:v>0.28399140566</ns0:v>
                </ns0:pt>
                <ns0:pt idx="3">
                  <ns0:v>0.239502291008</ns0:v>
                </ns0:pt>
                <ns0:pt idx="4">
                  <ns0:v>0.313930922262</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0.271344914151</ns0:v>
                </ns0:pt>
                <ns0:pt idx="1">
                  <ns0:v>0.286669593517</ns0:v>
                </ns0:pt>
                <ns0:pt idx="2">
                  <ns0:v>0.353880089495</ns0:v>
                </ns0:pt>
                <ns0:pt idx="3">
                  <ns0:v>0.347956345622</ns0:v>
                </ns0:pt>
                <ns0:pt idx="4">
                  <ns0:v>0.262935839495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89268098444785"/>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59139e04-02c0-4519-b93c-fba02f6db570}"/>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P-W01</ns0:f>
              <ns0:strCache>
                <ns0:ptCount val="1"/>
                <ns0:pt idx="0">
                  <ns0:v>P-W01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0.18955425938</ns0:v>
                </ns0:pt>
                <ns0:pt idx="1">
                  <ns0:v>0.191978216966</ns0:v>
                </ns0:pt>
                <ns0:pt idx="2">
                  <ns0:v>0.130387592713</ns0:v>
                </ns0:pt>
              </ns0:numCache>
            </ns0:numRef>
          </ns0:yVal>
          <ns0:smooth val="0"/>
        </ns0:ser>
        <ns0:ser>
          <ns0:idx val="1"/>
          <ns0:order val="1"/>
          <ns0:tx>
            <ns0:strRef>
              <ns0:f>P-W02</ns0:f>
              <ns0:strCache>
                <ns0:ptCount val="1"/>
                <ns0:pt idx="0">
                  <ns0:v>P-W02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0.159057553212</ns0:v>
                </ns0:pt>
                <ns0:pt idx="1">
                  <ns0:v>0.144957601229</ns0:v>
                </ns0:pt>
                <ns0:pt idx="2">
                  <ns0:v>0.262464023431</ns0:v>
                </ns0:pt>
              </ns0:numCache>
            </ns0:numRef>
          </ns0:yVal>
          <ns0:smooth val="0"/>
        </ns0:ser>
        <ns0:ser>
          <ns0:idx val="2"/>
          <ns0:order val="2"/>
          <ns0:tx>
            <ns0:strRef>
              <ns0:f>P-W03</ns0:f>
              <ns0:strCache>
                <ns0:ptCount val="1"/>
                <ns0:pt idx="0">
                  <ns0:v>P-W03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0.146327644934</ns0:v>
                </ns0:pt>
                <ns0:pt idx="1">
                  <ns0:v>0.1590579847</ns0:v>
                </ns0:pt>
                <ns0:pt idx="2">
                  <ns0:v>0.327669356118</ns0:v>
                </ns0:pt>
              </ns0:numCache>
            </ns0:numRef>
          </ns0:yVal>
          <ns0:smooth val="0"/>
        </ns0:ser>
        <ns0:ser>
          <ns0:idx val="3"/>
          <ns0:order val="3"/>
          <ns0:tx>
            <ns0:strRef>
              <ns0:f>P-W04</ns0:f>
              <ns0:strCache>
                <ns0:ptCount val="1"/>
                <ns0:pt idx="0">
                  <ns0:v>P-W04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0.335796808948</ns0:v>
                </ns0:pt>
                <ns0:pt idx="1">
                  <ns0:v>0.252326473743</ns0:v>
                </ns0:pt>
                <ns0:pt idx="2">
                  <ns0:v>0.401577029973</ns0:v>
                </ns0:pt>
              </ns0:numCache>
            </ns0:numRef>
          </ns0:yVal>
          <ns0:smooth val="0"/>
        </ns0:ser>
        <ns0:ser>
          <ns0:idx val="4"/>
          <ns0:order val="4"/>
          <ns0:tx>
            <ns0:strRef>
              <ns0:f>P-W05</ns0:f>
              <ns0:strCache>
                <ns0:ptCount val="1"/>
                <ns0:pt idx="0">
                  <ns0:v>P-W05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0.289062083463</ns0:v>
                </ns0:pt>
                <ns0:pt idx="1">
                  <ns0:v>0.193164773881</ns0:v>
                </ns0:pt>
                <ns0:pt idx="2">
                  <ns0:v>0.13180121392</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0.18955425938</ns0:v>
                </ns0:pt>
                <ns0:pt idx="1">
                  <ns0:v>0.159057553212</ns0:v>
                </ns0:pt>
                <ns0:pt idx="2">
                  <ns0:v>0.146327644934</ns0:v>
                </ns0:pt>
                <ns0:pt idx="3">
                  <ns0:v>0.335796808948</ns0:v>
                </ns0:pt>
                <ns0:pt idx="4">
                  <ns0:v>0.289062083463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0.191978216966</ns0:v>
                </ns0:pt>
                <ns0:pt idx="1">
                  <ns0:v>0.144957601229</ns0:v>
                </ns0:pt>
                <ns0:pt idx="2">
                  <ns0:v>0.1590579847</ns0:v>
                </ns0:pt>
                <ns0:pt idx="3">
                  <ns0:v>0.252326473743</ns0:v>
                </ns0:pt>
                <ns0:pt idx="4">
                  <ns0:v>0.193164773881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0.130387592713</ns0:v>
                </ns0:pt>
                <ns0:pt idx="1">
                  <ns0:v>0.262464023431</ns0:v>
                </ns0:pt>
                <ns0:pt idx="2">
                  <ns0:v>0.327669356118</ns0:v>
                </ns0:pt>
                <ns0:pt idx="3">
                  <ns0:v>0.401577029973</ns0:v>
                </ns0:pt>
                <ns0:pt idx="4">
                  <ns0:v>0.13180121392</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441734732970595"/>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f2fd71a3-bead-47eb-bb57-251d4e3f5e66}"/>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P-W01</ns0:f>
              <ns0:strCache>
                <ns0:ptCount val="1"/>
                <ns0:pt idx="0">
                  <ns0:v>P-W01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0.0449141730224</ns0:v>
                </ns0:pt>
                <ns0:pt idx="1">
                  <ns0:v>0.0489822853779</ns0:v>
                </ns0:pt>
                <ns0:pt idx="2">
                  <ns0:v>0.026211617507</ns0:v>
                </ns0:pt>
              </ns0:numCache>
            </ns0:numRef>
          </ns0:yVal>
          <ns0:smooth val="0"/>
        </ns0:ser>
        <ns0:ser>
          <ns0:idx val="1"/>
          <ns0:order val="1"/>
          <ns0:tx>
            <ns0:strRef>
              <ns0:f>P-W02</ns0:f>
              <ns0:strCache>
                <ns0:ptCount val="1"/>
                <ns0:pt idx="0">
                  <ns0:v>P-W02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0.0934806252594</ns0:v>
                </ns0:pt>
                <ns0:pt idx="1">
                  <ns0:v>0.0648139585927</ns0:v>
                </ns0:pt>
                <ns0:pt idx="2">
                  <ns0:v>0.127933754576</ns0:v>
                </ns0:pt>
              </ns0:numCache>
            </ns0:numRef>
          </ns0:yVal>
          <ns0:smooth val="0"/>
        </ns0:ser>
        <ns0:ser>
          <ns0:idx val="2"/>
          <ns0:order val="2"/>
          <ns0:tx>
            <ns0:strRef>
              <ns0:f>P-W03</ns0:f>
              <ns0:strCache>
                <ns0:ptCount val="1"/>
                <ns0:pt idx="0">
                  <ns0:v>P-W03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0.0532198398548</ns0:v>
                </ns0:pt>
                <ns0:pt idx="1">
                  <ns0:v>0.0960458592686</ns0:v>
                </ns0:pt>
                <ns0:pt idx="2">
                  <ns0:v>0.0780875259352</ns0:v>
                </ns0:pt>
              </ns0:numCache>
            </ns0:numRef>
          </ns0:yVal>
          <ns0:smooth val="0"/>
        </ns0:ser>
        <ns0:ser>
          <ns0:idx val="3"/>
          <ns0:order val="3"/>
          <ns0:tx>
            <ns0:strRef>
              <ns0:f>P-W04</ns0:f>
              <ns0:strCache>
                <ns0:ptCount val="1"/>
                <ns0:pt idx="0">
                  <ns0:v>P-W04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0.0434557707744</ns0:v>
                </ns0:pt>
                <ns0:pt idx="1">
                  <ns0:v>0.0449557707744</ns0:v>
                </ns0:pt>
                <ns0:pt idx="2">
                  <ns0:v>0.0700514134419</ns0:v>
                </ns0:pt>
              </ns0:numCache>
            </ns0:numRef>
          </ns0:yVal>
          <ns0:smooth val="0"/>
        </ns0:ser>
        <ns0:ser>
          <ns0:idx val="4"/>
          <ns0:order val="4"/>
          <ns0:tx>
            <ns0:strRef>
              <ns0:f>P-W05</ns0:f>
              <ns0:strCache>
                <ns0:ptCount val="1"/>
                <ns0:pt idx="0">
                  <ns0:v>P-W05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0.098802128613</ns0:v>
                </ns0:pt>
                <ns0:pt idx="1">
                  <ns0:v>0.0884687952797</ns0:v>
                </ns0:pt>
                <ns0:pt idx="2">
                  <ns0:v>0.0612600160241</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0.0449141730224</ns0:v>
                </ns0:pt>
                <ns0:pt idx="1">
                  <ns0:v>0.0934806252594</ns0:v>
                </ns0:pt>
                <ns0:pt idx="2">
                  <ns0:v>0.0532198398548</ns0:v>
                </ns0:pt>
                <ns0:pt idx="3">
                  <ns0:v>0.0434557707744</ns0:v>
                </ns0:pt>
                <ns0:pt idx="4">
                  <ns0:v>0.098802128613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0.0489822853779</ns0:v>
                </ns0:pt>
                <ns0:pt idx="1">
                  <ns0:v>0.0648139585927</ns0:v>
                </ns0:pt>
                <ns0:pt idx="2">
                  <ns0:v>0.0960458592686</ns0:v>
                </ns0:pt>
                <ns0:pt idx="3">
                  <ns0:v>0.0449557707744</ns0:v>
                </ns0:pt>
                <ns0:pt idx="4">
                  <ns0:v>0.0884687952797</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0.026211617507</ns0:v>
                </ns0:pt>
                <ns0:pt idx="1">
                  <ns0:v>0.127933754576</ns0:v>
                </ns0:pt>
                <ns0:pt idx="2">
                  <ns0:v>0.0780875259352</ns0:v>
                </ns0:pt>
                <ns0:pt idx="3">
                  <ns0:v>0.0700514134419</ns0:v>
                </ns0:pt>
                <ns0:pt idx="4">
                  <ns0:v>0.0612600160241</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40727130033324"/>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d87838d9-4777-4163-8984-f76894b16e96}"/>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9525"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0.0936152752108</ns0:v>
                </ns0:pt>
                <ns0:pt idx="1">
                  <ns0:v>0.0308056516482</ns0:v>
                </ns0:pt>
                <ns0:pt idx="2">
                  <ns0:v>0.031682666209</ns0:v>
                </ns0:pt>
              </ns0:numCache>
            </ns0:numRef>
          </ns0:yVal>
          <ns0:smooth val="0"/>
        </ns0:ser>
        <ns0:ser>
          <ns0:idx val="1"/>
          <ns0:order val="1"/>
          <ns0:tx>
            <ns0:strRef>
              <ns0:f>RX-W02</ns0:f>
              <ns0:strCache>
                <ns0:ptCount val="1"/>
                <ns0:pt idx="0">
                  <ns0:v>RX-W02</ns0:v>
                </ns0:pt>
              </ns0:strCache>
            </ns0:strRef>
          </ns0:tx>
          <ns0:spPr>
            <ns3:ln w="9525"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0.117326158206</ns0:v>
                </ns0:pt>
                <ns0:pt idx="1">
                  <ns0:v>0.0276962021885</ns0:v>
                </ns0:pt>
                <ns0:pt idx="2">
                  <ns0:v>0.0390434166688</ns0:v>
                </ns0:pt>
              </ns0:numCache>
            </ns0:numRef>
          </ns0:yVal>
          <ns0:smooth val="0"/>
        </ns0:ser>
        <ns0:ser>
          <ns0:idx val="2"/>
          <ns0:order val="2"/>
          <ns0:tx>
            <ns0:strRef>
              <ns0:f>RX-W03</ns0:f>
              <ns0:strCache>
                <ns0:ptCount val="1"/>
                <ns0:pt idx="0">
                  <ns0:v>RX-W03</ns0:v>
                </ns0:pt>
              </ns0:strCache>
            </ns0:strRef>
          </ns0:tx>
          <ns0:spPr>
            <ns3:ln w="9525"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0.126062109098</ns0:v>
                </ns0:pt>
                <ns0:pt idx="1">
                  <ns0:v>0.133253384933</ns0:v>
                </ns0:pt>
                <ns0:pt idx="2">
                  <ns0:v>0.117523621256</ns0:v>
                </ns0:pt>
              </ns0:numCache>
            </ns0:numRef>
          </ns0:yVal>
          <ns0:smooth val="0"/>
        </ns0:ser>
        <ns0:ser>
          <ns0:idx val="3"/>
          <ns0:order val="3"/>
          <ns0:tx>
            <ns0:strRef>
              <ns0:f>RX-W04</ns0:f>
              <ns0:strCache>
                <ns0:ptCount val="1"/>
                <ns0:pt idx="0">
                  <ns0:v>RX-W04</ns0:v>
                </ns0:pt>
              </ns0:strCache>
            </ns0:strRef>
          </ns0:tx>
          <ns0:spPr>
            <ns3:ln w="9525"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0.0732518602345</ns0:v>
                </ns0:pt>
                <ns0:pt idx="1">
                  <ns0:v>0.0427617804739</ns0:v>
                </ns0:pt>
                <ns0:pt idx="2">
                  <ns0:v>0.0313129054275</ns0:v>
                </ns0:pt>
              </ns0:numCache>
            </ns0:numRef>
          </ns0:yVal>
          <ns0:smooth val="0"/>
        </ns0:ser>
        <ns0:ser>
          <ns0:idx val="4"/>
          <ns0:order val="4"/>
          <ns0:tx>
            <ns0:strRef>
              <ns0:f>RX-W05</ns0:f>
              <ns0:strCache>
                <ns0:ptCount val="1"/>
                <ns0:pt idx="0">
                  <ns0:v>RX-W05</ns0:v>
                </ns0:pt>
              </ns0:strCache>
            </ns0:strRef>
          </ns0:tx>
          <ns0:spPr>
            <ns3:ln w="9525"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0.0990465026134</ns0:v>
                </ns0:pt>
                <ns0:pt idx="1">
                  <ns0:v>0.0505162103872</ns0:v>
                </ns0:pt>
                <ns0:pt idx="2">
                  <ns0:v>0.0532862475018</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0.0936152752108</ns0:v>
                </ns0:pt>
                <ns0:pt idx="1">
                  <ns0:v>0.117326158206</ns0:v>
                </ns0:pt>
                <ns0:pt idx="2">
                  <ns0:v>0.126062109098</ns0:v>
                </ns0:pt>
                <ns0:pt idx="3">
                  <ns0:v>0.0732518602345</ns0:v>
                </ns0:pt>
                <ns0:pt idx="4">
                  <ns0:v>0.0990465026134</ns0:v>
                </ns0:pt>
              </ns0:numCache>
            </ns0:numRef>
          </ns0:yVal>
          <ns0:smooth val="0"/>
        </ns0:ser>
        <ns0:ser>
          <ns0:idx val="6"/>
          <ns0:order val="6"/>
          <ns0:tx>
            <ns0:strRef>
              <ns0:f>Mean Opaque</ns0:f>
              <ns0:strCache>
                <ns0:ptCount val="1"/>
                <ns0:pt idx="0">
                  <ns0:v>Mean Opaque</ns0:v>
                </ns0:pt>
              </ns0:strCache>
            </ns0:strRef>
          </ns0:tx>
          <ns0:spPr>
            <ns3:ln w="28575" cap="rnd">
              <ns3:solidFill>
                <ns3:srgbClr val="637482"/>
              </ns3:solidFill>
              <ns3:prstDash val="solid"/>
              <ns3:round/>
            </ns3:ln>
          </ns0:spPr>
          <ns0:marker>
            <ns0:symbol val="none"/>
          </ns0:marker>
          <ns0:dLbls>
            <ns0:delete val="1"/>
          </ns0:dLbls>
          <ns0:xVal>
            <ns0:numRef>
              <ns0:f>'Chart Data'!$M$2:$M$3</ns0:f>
              <ns0:numCache>
                <ns0:formatCode>General</ns0:formatCode>
                <ns0:ptCount val="2"/>
                <ns0:pt idx="0">
                  <ns0:v>-0.12</ns0:v>
                </ns0:pt>
                <ns0:pt idx="1">
                  <ns0:v>0.12</ns0:v>
                </ns0:pt>
              </ns0:numCache>
            </ns0:numRef>
          </ns0:xVal>
          <ns0:yVal>
            <ns0:numRef>
              <ns0:f>'Chart Data'!$N$2:$N$3</ns0:f>
              <ns0:numCache>
                <ns0:formatCode>0.00</ns0:formatCode>
                <ns0:ptCount val="2"/>
                <ns0:pt idx="0">
                  <ns0:v>0.101860381072</ns0:v>
                </ns0:pt>
                <ns0:pt idx="1">
                  <ns0:v>0.101860381072</ns0:v>
                </ns0:pt>
              </ns0:numCache>
            </ns0:numRef>
          </ns0:yVal>
          <ns0:smooth val="0"/>
        </ns0:ser>
        <ns0:ser>
          <ns0:idx val="7"/>
          <ns0:order val="7"/>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Data'!$O$2:$O$6</ns0:f>
              <ns0:numCache>
                <ns0:formatCode>General</ns0:formatCode>
                <ns0:ptCount val="5"/>
                <ns0:pt idx="0">
                  <ns0:v>1</ns0:v>
                </ns0:pt>
                <ns0:pt idx="1">
                  <ns0:v>1</ns0:v>
                </ns0:pt>
                <ns0:pt idx="2">
                  <ns0:v>1</ns0:v>
                </ns0:pt>
                <ns0:pt idx="3">
                  <ns0:v>1</ns0:v>
                </ns0:pt>
                <ns0:pt idx="4">
                  <ns0:v>1</ns0:v>
                </ns0:pt>
              </ns0:numCache>
            </ns0:numRef>
          </ns0:xVal>
          <ns0:yVal>
            <ns0:numRef>
              <ns0:f>'Chart Data'!$P$2:$P$6</ns0:f>
              <ns0:numCache>
                <ns0:formatCode>0.00</ns0:formatCode>
                <ns0:ptCount val="5"/>
                <ns0:pt idx="0">
                  <ns0:v>0.0308056516482</ns0:v>
                </ns0:pt>
                <ns0:pt idx="1">
                  <ns0:v>0.0276962021885</ns0:v>
                </ns0:pt>
                <ns0:pt idx="2">
                  <ns0:v>0.133253384933</ns0:v>
                </ns0:pt>
                <ns0:pt idx="3">
                  <ns0:v>0.0427617804739</ns0:v>
                </ns0:pt>
                <ns0:pt idx="4">
                  <ns0:v>0.0505162103872</ns0:v>
                </ns0:pt>
              </ns0:numCache>
            </ns0:numRef>
          </ns0:yVal>
          <ns0:smooth val="0"/>
        </ns0:ser>
        <ns0:ser>
          <ns0:idx val="8"/>
          <ns0:order val="8"/>
          <ns0:tx>
            <ns0:strRef>
              <ns0:f>Mean Aligned</ns0:f>
              <ns0:strCache>
                <ns0:ptCount val="1"/>
                <ns0:pt idx="0">
                  <ns0:v>Mean Aligned</ns0:v>
                </ns0:pt>
              </ns0:strCache>
            </ns0:strRef>
          </ns0:tx>
          <ns0:spPr>
            <ns3:ln w="28575" cap="rnd">
              <ns3:solidFill>
                <ns3:srgbClr val="277F8A"/>
              </ns3:solidFill>
              <ns3:prstDash val="solid"/>
              <ns3:round/>
            </ns3:ln>
          </ns0:spPr>
          <ns0:marker>
            <ns0:symbol val="none"/>
          </ns0:marker>
          <ns0:dLbls>
            <ns0:delete val="1"/>
          </ns0:dLbls>
          <ns0:xVal>
            <ns0:numRef>
              <ns0:f>'Chart Data'!$Q$2:$Q$3</ns0:f>
              <ns0:numCache>
                <ns0:formatCode>General</ns0:formatCode>
                <ns0:ptCount val="2"/>
                <ns0:pt idx="0">
                  <ns0:v>0.88</ns0:v>
                </ns0:pt>
                <ns0:pt idx="1">
                  <ns0:v>1.12</ns0:v>
                </ns0:pt>
              </ns0:numCache>
            </ns0:numRef>
          </ns0:xVal>
          <ns0:yVal>
            <ns0:numRef>
              <ns0:f>'Chart Data'!$R$2:$R$3</ns0:f>
              <ns0:numCache>
                <ns0:formatCode>0.00</ns0:formatCode>
                <ns0:ptCount val="2"/>
                <ns0:pt idx="0">
                  <ns0:v>0.0570066459261</ns0:v>
                </ns0:pt>
                <ns0:pt idx="1">
                  <ns0:v>0.0570066459261</ns0:v>
                </ns0:pt>
              </ns0:numCache>
            </ns0:numRef>
          </ns0:yVal>
          <ns0:smooth val="0"/>
        </ns0:ser>
        <ns0:ser>
          <ns0:idx val="9"/>
          <ns0:order val="9"/>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Data'!$S$2:$S$6</ns0:f>
              <ns0:numCache>
                <ns0:formatCode>General</ns0:formatCode>
                <ns0:ptCount val="5"/>
                <ns0:pt idx="0">
                  <ns0:v>2</ns0:v>
                </ns0:pt>
                <ns0:pt idx="1">
                  <ns0:v>2</ns0:v>
                </ns0:pt>
                <ns0:pt idx="2">
                  <ns0:v>2</ns0:v>
                </ns0:pt>
                <ns0:pt idx="3">
                  <ns0:v>2</ns0:v>
                </ns0:pt>
                <ns0:pt idx="4">
                  <ns0:v>2</ns0:v>
                </ns0:pt>
              </ns0:numCache>
            </ns0:numRef>
          </ns0:xVal>
          <ns0:yVal>
            <ns0:numRef>
              <ns0:f>'Chart Data'!$T$2:$T$6</ns0:f>
              <ns0:numCache>
                <ns0:formatCode>0.00</ns0:formatCode>
                <ns0:ptCount val="5"/>
                <ns0:pt idx="0">
                  <ns0:v>0.031682666209</ns0:v>
                </ns0:pt>
                <ns0:pt idx="1">
                  <ns0:v>0.0390434166688</ns0:v>
                </ns0:pt>
                <ns0:pt idx="2">
                  <ns0:v>0.117523621256</ns0:v>
                </ns0:pt>
                <ns0:pt idx="3">
                  <ns0:v>0.0313129054275</ns0:v>
                </ns0:pt>
                <ns0:pt idx="4">
                  <ns0:v>0.0532862475018</ns0:v>
                </ns0:pt>
              </ns0:numCache>
            </ns0:numRef>
          </ns0:yVal>
          <ns0:smooth val="0"/>
        </ns0:ser>
        <ns0:ser>
          <ns0:idx val="10"/>
          <ns0:order val="10"/>
          <ns0:tx>
            <ns0:strRef>
              <ns0:f>Mean MisIndexed</ns0:f>
              <ns0:strCache>
                <ns0:ptCount val="1"/>
                <ns0:pt idx="0">
                  <ns0:v>Mean MisIndexed</ns0:v>
                </ns0:pt>
              </ns0:strCache>
            </ns0:strRef>
          </ns0:tx>
          <ns0:spPr>
            <ns3:ln w="28575" cap="rnd">
              <ns3:solidFill>
                <ns3:srgbClr val="BC7850"/>
              </ns3:solidFill>
              <ns3:prstDash val="solid"/>
              <ns3:round/>
            </ns3:ln>
          </ns0:spPr>
          <ns0:marker>
            <ns0:symbol val="none"/>
          </ns0:marker>
          <ns0:dLbls>
            <ns0:delete val="1"/>
          </ns0:dLbls>
          <ns0:xVal>
            <ns0:numRef>
              <ns0:f>'Chart Data'!$U$2:$U$3</ns0:f>
              <ns0:numCache>
                <ns0:formatCode>General</ns0:formatCode>
                <ns0:ptCount val="2"/>
                <ns0:pt idx="0">
                  <ns0:v>1.88</ns0:v>
                </ns0:pt>
                <ns0:pt idx="1">
                  <ns0:v>2.12</ns0:v>
                </ns0:pt>
              </ns0:numCache>
            </ns0:numRef>
          </ns0:xVal>
          <ns0:yVal>
            <ns0:numRef>
              <ns0:f>'Chart Data'!$V$2:$V$3</ns0:f>
              <ns0:numCache>
                <ns0:formatCode>0.00</ns0:formatCode>
                <ns0:ptCount val="2"/>
                <ns0:pt idx="0">
                  <ns0:v>0.0545697714126</ns0:v>
                </ns0:pt>
                <ns0:pt idx="1">
                  <ns0:v>0.0545697714126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5"/>
          <ns0:min val="-0.4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e4faf32f-c537-4bfd-8b80-edd0d13d8d5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9525"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0.192655851656</ns0:v>
                </ns0:pt>
                <ns0:pt idx="1">
                  <ns0:v>0.0479071559509</ns0:v>
                </ns0:pt>
                <ns0:pt idx="2">
                  <ns0:v>0.0893396101362</ns0:v>
                </ns0:pt>
              </ns0:numCache>
            </ns0:numRef>
          </ns0:yVal>
          <ns0:smooth val="0"/>
        </ns0:ser>
        <ns0:ser>
          <ns0:idx val="1"/>
          <ns0:order val="1"/>
          <ns0:tx>
            <ns0:strRef>
              <ns0:f>RX-W02</ns0:f>
              <ns0:strCache>
                <ns0:ptCount val="1"/>
                <ns0:pt idx="0">
                  <ns0:v>RX-W02</ns0:v>
                </ns0:pt>
              </ns0:strCache>
            </ns0:strRef>
          </ns0:tx>
          <ns0:spPr>
            <ns3:ln w="9525"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0.105263674206</ns0:v>
                </ns0:pt>
                <ns0:pt idx="1">
                  <ns0:v>0.0520761277309</ns0:v>
                </ns0:pt>
                <ns0:pt idx="2">
                  <ns0:v>0.0555966520113</ns0:v>
                </ns0:pt>
              </ns0:numCache>
            </ns0:numRef>
          </ns0:yVal>
          <ns0:smooth val="0"/>
        </ns0:ser>
        <ns0:ser>
          <ns0:idx val="2"/>
          <ns0:order val="2"/>
          <ns0:tx>
            <ns0:strRef>
              <ns0:f>RX-W03</ns0:f>
              <ns0:strCache>
                <ns0:ptCount val="1"/>
                <ns0:pt idx="0">
                  <ns0:v>RX-W03</ns0:v>
                </ns0:pt>
              </ns0:strCache>
            </ns0:strRef>
          </ns0:tx>
          <ns0:spPr>
            <ns3:ln w="9525"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0.12611130144</ns0:v>
                </ns0:pt>
                <ns0:pt idx="1">
                  <ns0:v>0.0775945244812</ns0:v>
                </ns0:pt>
                <ns0:pt idx="2">
                  <ns0:v>0.218754688079</ns0:v>
                </ns0:pt>
              </ns0:numCache>
            </ns0:numRef>
          </ns0:yVal>
          <ns0:smooth val="0"/>
        </ns0:ser>
        <ns0:ser>
          <ns0:idx val="3"/>
          <ns0:order val="3"/>
          <ns0:tx>
            <ns0:strRef>
              <ns0:f>RX-W04</ns0:f>
              <ns0:strCache>
                <ns0:ptCount val="1"/>
                <ns0:pt idx="0">
                  <ns0:v>RX-W04</ns0:v>
                </ns0:pt>
              </ns0:strCache>
            </ns0:strRef>
          </ns0:tx>
          <ns0:spPr>
            <ns3:ln w="9525"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0.0942134820223</ns0:v>
                </ns0:pt>
                <ns0:pt idx="1">
                  <ns0:v>0.0521713428166</ns0:v>
                </ns0:pt>
                <ns0:pt idx="2">
                  <ns0:v>0.208894799004</ns0:v>
                </ns0:pt>
              </ns0:numCache>
            </ns0:numRef>
          </ns0:yVal>
          <ns0:smooth val="0"/>
        </ns0:ser>
        <ns0:ser>
          <ns0:idx val="4"/>
          <ns0:order val="4"/>
          <ns0:tx>
            <ns0:strRef>
              <ns0:f>RX-W05</ns0:f>
              <ns0:strCache>
                <ns0:ptCount val="1"/>
                <ns0:pt idx="0">
                  <ns0:v>RX-W05</ns0:v>
                </ns0:pt>
              </ns0:strCache>
            </ns0:strRef>
          </ns0:tx>
          <ns0:spPr>
            <ns3:ln w="9525"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0.176398953203</ns0:v>
                </ns0:pt>
                <ns0:pt idx="1">
                  <ns0:v>0.189456765436</ns0:v>
                </ns0:pt>
                <ns0:pt idx="2">
                  <ns0:v>0.0757616942094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0.192655851656</ns0:v>
                </ns0:pt>
                <ns0:pt idx="1">
                  <ns0:v>0.105263674206</ns0:v>
                </ns0:pt>
                <ns0:pt idx="2">
                  <ns0:v>0.12611130144</ns0:v>
                </ns0:pt>
                <ns0:pt idx="3">
                  <ns0:v>0.0942134820223</ns0:v>
                </ns0:pt>
                <ns0:pt idx="4">
                  <ns0:v>0.176398953203</ns0:v>
                </ns0:pt>
              </ns0:numCache>
            </ns0:numRef>
          </ns0:yVal>
          <ns0:smooth val="0"/>
        </ns0:ser>
        <ns0:ser>
          <ns0:idx val="6"/>
          <ns0:order val="6"/>
          <ns0:tx>
            <ns0:strRef>
              <ns0:f>Mean Opaque</ns0:f>
              <ns0:strCache>
                <ns0:ptCount val="1"/>
                <ns0:pt idx="0">
                  <ns0:v>Mean Opaque</ns0:v>
                </ns0:pt>
              </ns0:strCache>
            </ns0:strRef>
          </ns0:tx>
          <ns0:spPr>
            <ns3:ln w="28575" cap="rnd">
              <ns3:solidFill>
                <ns3:srgbClr val="637482"/>
              </ns3:solidFill>
              <ns3:prstDash val="solid"/>
              <ns3:round/>
            </ns3:ln>
          </ns0:spPr>
          <ns0:marker>
            <ns0:symbol val="none"/>
          </ns0:marker>
          <ns0:dLbls>
            <ns0:delete val="1"/>
          </ns0:dLbls>
          <ns0:xVal>
            <ns0:numRef>
              <ns0:f>'Chart Data'!$M$2:$M$3</ns0:f>
              <ns0:numCache>
                <ns0:formatCode>General</ns0:formatCode>
                <ns0:ptCount val="2"/>
                <ns0:pt idx="0">
                  <ns0:v>-0.12</ns0:v>
                </ns0:pt>
                <ns0:pt idx="1">
                  <ns0:v>0.12</ns0:v>
                </ns0:pt>
              </ns0:numCache>
            </ns0:numRef>
          </ns0:xVal>
          <ns0:yVal>
            <ns0:numRef>
              <ns0:f>'Chart Data'!$N$2:$N$3</ns0:f>
              <ns0:numCache>
                <ns0:formatCode>0.00</ns0:formatCode>
                <ns0:ptCount val="2"/>
                <ns0:pt idx="0">
                  <ns0:v>0.138928652505</ns0:v>
                </ns0:pt>
                <ns0:pt idx="1">
                  <ns0:v>0.138928652505</ns0:v>
                </ns0:pt>
              </ns0:numCache>
            </ns0:numRef>
          </ns0:yVal>
          <ns0:smooth val="0"/>
        </ns0:ser>
        <ns0:ser>
          <ns0:idx val="7"/>
          <ns0:order val="7"/>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Data'!$O$2:$O$6</ns0:f>
              <ns0:numCache>
                <ns0:formatCode>General</ns0:formatCode>
                <ns0:ptCount val="5"/>
                <ns0:pt idx="0">
                  <ns0:v>1</ns0:v>
                </ns0:pt>
                <ns0:pt idx="1">
                  <ns0:v>1</ns0:v>
                </ns0:pt>
                <ns0:pt idx="2">
                  <ns0:v>1</ns0:v>
                </ns0:pt>
                <ns0:pt idx="3">
                  <ns0:v>1</ns0:v>
                </ns0:pt>
                <ns0:pt idx="4">
                  <ns0:v>1</ns0:v>
                </ns0:pt>
              </ns0:numCache>
            </ns0:numRef>
          </ns0:xVal>
          <ns0:yVal>
            <ns0:numRef>
              <ns0:f>'Chart Data'!$P$2:$P$6</ns0:f>
              <ns0:numCache>
                <ns0:formatCode>0.00</ns0:formatCode>
                <ns0:ptCount val="5"/>
                <ns0:pt idx="0">
                  <ns0:v>0.0479071559509</ns0:v>
                </ns0:pt>
                <ns0:pt idx="1">
                  <ns0:v>0.0520761277309</ns0:v>
                </ns0:pt>
                <ns0:pt idx="2">
                  <ns0:v>0.0775945244812</ns0:v>
                </ns0:pt>
                <ns0:pt idx="3">
                  <ns0:v>0.0521713428166</ns0:v>
                </ns0:pt>
                <ns0:pt idx="4">
                  <ns0:v>0.189456765436</ns0:v>
                </ns0:pt>
              </ns0:numCache>
            </ns0:numRef>
          </ns0:yVal>
          <ns0:smooth val="0"/>
        </ns0:ser>
        <ns0:ser>
          <ns0:idx val="8"/>
          <ns0:order val="8"/>
          <ns0:tx>
            <ns0:strRef>
              <ns0:f>Mean Aligned</ns0:f>
              <ns0:strCache>
                <ns0:ptCount val="1"/>
                <ns0:pt idx="0">
                  <ns0:v>Mean Aligned</ns0:v>
                </ns0:pt>
              </ns0:strCache>
            </ns0:strRef>
          </ns0:tx>
          <ns0:spPr>
            <ns3:ln w="28575" cap="rnd">
              <ns3:solidFill>
                <ns3:srgbClr val="277F8A"/>
              </ns3:solidFill>
              <ns3:prstDash val="solid"/>
              <ns3:round/>
            </ns3:ln>
          </ns0:spPr>
          <ns0:marker>
            <ns0:symbol val="none"/>
          </ns0:marker>
          <ns0:dLbls>
            <ns0:delete val="1"/>
          </ns0:dLbls>
          <ns0:xVal>
            <ns0:numRef>
              <ns0:f>'Chart Data'!$Q$2:$Q$3</ns0:f>
              <ns0:numCache>
                <ns0:formatCode>General</ns0:formatCode>
                <ns0:ptCount val="2"/>
                <ns0:pt idx="0">
                  <ns0:v>0.88</ns0:v>
                </ns0:pt>
                <ns0:pt idx="1">
                  <ns0:v>1.12</ns0:v>
                </ns0:pt>
              </ns0:numCache>
            </ns0:numRef>
          </ns0:xVal>
          <ns0:yVal>
            <ns0:numRef>
              <ns0:f>'Chart Data'!$R$2:$R$3</ns0:f>
              <ns0:numCache>
                <ns0:formatCode>0.00</ns0:formatCode>
                <ns0:ptCount val="2"/>
                <ns0:pt idx="0">
                  <ns0:v>0.0838411832832</ns0:v>
                </ns0:pt>
                <ns0:pt idx="1">
                  <ns0:v>0.0838411832832</ns0:v>
                </ns0:pt>
              </ns0:numCache>
            </ns0:numRef>
          </ns0:yVal>
          <ns0:smooth val="0"/>
        </ns0:ser>
        <ns0:ser>
          <ns0:idx val="9"/>
          <ns0:order val="9"/>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Data'!$S$2:$S$6</ns0:f>
              <ns0:numCache>
                <ns0:formatCode>General</ns0:formatCode>
                <ns0:ptCount val="5"/>
                <ns0:pt idx="0">
                  <ns0:v>2</ns0:v>
                </ns0:pt>
                <ns0:pt idx="1">
                  <ns0:v>2</ns0:v>
                </ns0:pt>
                <ns0:pt idx="2">
                  <ns0:v>2</ns0:v>
                </ns0:pt>
                <ns0:pt idx="3">
                  <ns0:v>2</ns0:v>
                </ns0:pt>
                <ns0:pt idx="4">
                  <ns0:v>2</ns0:v>
                </ns0:pt>
              </ns0:numCache>
            </ns0:numRef>
          </ns0:xVal>
          <ns0:yVal>
            <ns0:numRef>
              <ns0:f>'Chart Data'!$T$2:$T$6</ns0:f>
              <ns0:numCache>
                <ns0:formatCode>0.00</ns0:formatCode>
                <ns0:ptCount val="5"/>
                <ns0:pt idx="0">
                  <ns0:v>0.0893396101362</ns0:v>
                </ns0:pt>
                <ns0:pt idx="1">
                  <ns0:v>0.0555966520113</ns0:v>
                </ns0:pt>
                <ns0:pt idx="2">
                  <ns0:v>0.218754688079</ns0:v>
                </ns0:pt>
                <ns0:pt idx="3">
                  <ns0:v>0.208894799004</ns0:v>
                </ns0:pt>
                <ns0:pt idx="4">
                  <ns0:v>0.0757616942094</ns0:v>
                </ns0:pt>
              </ns0:numCache>
            </ns0:numRef>
          </ns0:yVal>
          <ns0:smooth val="0"/>
        </ns0:ser>
        <ns0:ser>
          <ns0:idx val="10"/>
          <ns0:order val="10"/>
          <ns0:tx>
            <ns0:strRef>
              <ns0:f>Mean MisIndexed</ns0:f>
              <ns0:strCache>
                <ns0:ptCount val="1"/>
                <ns0:pt idx="0">
                  <ns0:v>Mean MisIndexed</ns0:v>
                </ns0:pt>
              </ns0:strCache>
            </ns0:strRef>
          </ns0:tx>
          <ns0:spPr>
            <ns3:ln w="28575" cap="rnd">
              <ns3:solidFill>
                <ns3:srgbClr val="BC7850"/>
              </ns3:solidFill>
              <ns3:prstDash val="solid"/>
              <ns3:round/>
            </ns3:ln>
          </ns0:spPr>
          <ns0:marker>
            <ns0:symbol val="none"/>
          </ns0:marker>
          <ns0:dLbls>
            <ns0:delete val="1"/>
          </ns0:dLbls>
          <ns0:xVal>
            <ns0:numRef>
              <ns0:f>'Chart Data'!$U$2:$U$3</ns0:f>
              <ns0:numCache>
                <ns0:formatCode>General</ns0:formatCode>
                <ns0:ptCount val="2"/>
                <ns0:pt idx="0">
                  <ns0:v>1.88</ns0:v>
                </ns0:pt>
                <ns0:pt idx="1">
                  <ns0:v>2.12</ns0:v>
                </ns0:pt>
              </ns0:numCache>
            </ns0:numRef>
          </ns0:xVal>
          <ns0:yVal>
            <ns0:numRef>
              <ns0:f>'Chart Data'!$V$2:$V$3</ns0:f>
              <ns0:numCache>
                <ns0:formatCode>0.00</ns0:formatCode>
                <ns0:ptCount val="2"/>
                <ns0:pt idx="0">
                  <ns0:v>0.129669488688</ns0:v>
                </ns0:pt>
                <ns0:pt idx="1">
                  <ns0:v>0.129669488688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5"/>
          <ns0:min val="-0.4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8dc29d6b-e4b1-4025-80b2-5767053ce0d6}"/>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Opaque other_nine</ns0:f>
              <ns0:strCache>
                <ns0:ptCount val="1"/>
                <ns0:pt idx="0">
                  <ns0:v>Opaque other_nine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Data'!$A$2:$A$6</ns0:f>
              <ns0:numCache>
                <ns0:formatCode>General</ns0:formatCode>
                <ns0:ptCount val="5"/>
                <ns0:pt idx="0">
                  <ns0:v>0.784</ns0:v>
                </ns0:pt>
                <ns0:pt idx="1">
                  <ns0:v>0.802</ns0:v>
                </ns0:pt>
                <ns0:pt idx="2">
                  <ns0:v>0.82</ns0:v>
                </ns0:pt>
                <ns0:pt idx="3">
                  <ns0:v>0.838</ns0:v>
                </ns0:pt>
                <ns0:pt idx="4">
                  <ns0:v>0.856</ns0:v>
                </ns0:pt>
              </ns0:numCache>
            </ns0:numRef>
          </ns0:xVal>
          <ns0:yVal>
            <ns0:numRef>
              <ns0:f>'Chart Data'!$B$2:$B$6</ns0:f>
              <ns0:numCache>
                <ns0:formatCode>0.00</ns0:formatCode>
                <ns0:ptCount val="5"/>
                <ns0:pt idx="0">
                  <ns0:v>0.00531345372465</ns0:v>
                </ns0:pt>
                <ns0:pt idx="1">
                  <ns0:v>0.0106081330909</ns0:v>
                </ns0:pt>
                <ns0:pt idx="2">
                  <ns0:v>0.00991255779399</ns0:v>
                </ns0:pt>
                <ns0:pt idx="3">
                  <ns0:v>0.0154284600991</ns0:v>
                </ns0:pt>
                <ns0:pt idx="4">
                  <ns0:v>0.00911864817805</ns0:v>
                </ns0:pt>
              </ns0:numCache>
            </ns0:numRef>
          </ns0:yVal>
          <ns0:smooth val="0"/>
        </ns0:ser>
        <ns0:ser>
          <ns0:idx val="1"/>
          <ns0:order val="1"/>
          <ns0:tx>
            <ns0:strRef>
              <ns0:f>Mean Opaque other_nine</ns0:f>
              <ns0:strCache>
                <ns0:ptCount val="1"/>
                <ns0:pt idx="0">
                  <ns0:v>Mean Opaque other_nine</ns0:v>
                </ns0:pt>
              </ns0:strCache>
            </ns0:strRef>
          </ns0:tx>
          <ns0:spPr>
            <ns3:ln w="28575" cap="rnd">
              <ns3:solidFill>
                <ns3:srgbClr val="637482"/>
              </ns3:solidFill>
              <ns3:prstDash val="solid"/>
              <ns3:round/>
            </ns3:ln>
          </ns0:spPr>
          <ns0:marker>
            <ns0:symbol val="none"/>
          </ns0:marker>
          <ns0:dLbls>
            <ns0:delete val="1"/>
          </ns0:dLbls>
          <ns0:xVal>
            <ns0:numRef>
              <ns0:f>'Chart Data'!$C$2:$C$3</ns0:f>
              <ns0:numCache>
                <ns0:formatCode>General</ns0:formatCode>
                <ns0:ptCount val="2"/>
                <ns0:pt idx="0">
                  <ns0:v>0.755</ns0:v>
                </ns0:pt>
                <ns0:pt idx="1">
                  <ns0:v>0.885</ns0:v>
                </ns0:pt>
              </ns0:numCache>
            </ns0:numRef>
          </ns0:xVal>
          <ns0:yVal>
            <ns0:numRef>
              <ns0:f>'Chart Data'!$D$2:$D$3</ns0:f>
              <ns0:numCache>
                <ns0:formatCode>0.00</ns0:formatCode>
                <ns0:ptCount val="2"/>
                <ns0:pt idx="0">
                  <ns0:v>0.0100762505773</ns0:v>
                </ns0:pt>
                <ns0:pt idx="1">
                  <ns0:v>0.0100762505773</ns0:v>
                </ns0:pt>
              </ns0:numCache>
            </ns0:numRef>
          </ns0:yVal>
          <ns0:smooth val="0"/>
        </ns0:ser>
        <ns0:ser>
          <ns0:idx val="2"/>
          <ns0:order val="2"/>
          <ns0:tx>
            <ns0:strRef>
              <ns0:f>Aligned other_nine</ns0:f>
              <ns0:strCache>
                <ns0:ptCount val="1"/>
                <ns0:pt idx="0">
                  <ns0:v>Aligned other_nine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Data'!$E$2:$E$6</ns0:f>
              <ns0:numCache>
                <ns0:formatCode>General</ns0:formatCode>
                <ns0:ptCount val="5"/>
                <ns0:pt idx="0">
                  <ns0:v>0.964</ns0:v>
                </ns0:pt>
                <ns0:pt idx="1">
                  <ns0:v>0.982</ns0:v>
                </ns0:pt>
                <ns0:pt idx="2">
                  <ns0:v>1</ns0:v>
                </ns0:pt>
                <ns0:pt idx="3">
                  <ns0:v>1.018</ns0:v>
                </ns0:pt>
                <ns0:pt idx="4">
                  <ns0:v>1.036</ns0:v>
                </ns0:pt>
              </ns0:numCache>
            </ns0:numRef>
          </ns0:xVal>
          <ns0:yVal>
            <ns0:numRef>
              <ns0:f>'Chart Data'!$F$2:$F$6</ns0:f>
              <ns0:numCache>
                <ns0:formatCode>0.00</ns0:formatCode>
                <ns0:ptCount val="5"/>
                <ns0:pt idx="0">
                  <ns0:v>0.00502080753114</ns0:v>
                </ns0:pt>
                <ns0:pt idx="1">
                  <ns0:v>0.00526615361373</ns0:v>
                </ns0:pt>
                <ns0:pt idx="2">
                  <ns0:v>0.00447773672696</ns0:v>
                </ns0:pt>
                <ns0:pt idx="3">
                  <ns0:v>0.00463010829422</ns0:v>
                </ns0:pt>
                <ns0:pt idx="4">
                  <ns0:v>0.00384170347717</ns0:v>
                </ns0:pt>
              </ns0:numCache>
            </ns0:numRef>
          </ns0:yVal>
          <ns0:smooth val="0"/>
        </ns0:ser>
        <ns0:ser>
          <ns0:idx val="3"/>
          <ns0:order val="3"/>
          <ns0:tx>
            <ns0:strRef>
              <ns0:f>Mean Aligned other_nine</ns0:f>
              <ns0:strCache>
                <ns0:ptCount val="1"/>
                <ns0:pt idx="0">
                  <ns0:v>Mean Aligned other_nine</ns0:v>
                </ns0:pt>
              </ns0:strCache>
            </ns0:strRef>
          </ns0:tx>
          <ns0:spPr>
            <ns3:ln w="28575" cap="rnd">
              <ns3:solidFill>
                <ns3:srgbClr val="277F8A"/>
              </ns3:solidFill>
              <ns3:prstDash val="solid"/>
              <ns3:round/>
            </ns3:ln>
          </ns0:spPr>
          <ns0:marker>
            <ns0:symbol val="none"/>
          </ns0:marker>
          <ns0:dLbls>
            <ns0:delete val="1"/>
          </ns0:dLbls>
          <ns0:xVal>
            <ns0:numRef>
              <ns0:f>'Chart Data'!$G$2:$G$3</ns0:f>
              <ns0:numCache>
                <ns0:formatCode>General</ns0:formatCode>
                <ns0:ptCount val="2"/>
                <ns0:pt idx="0">
                  <ns0:v>0.935</ns0:v>
                </ns0:pt>
                <ns0:pt idx="1">
                  <ns0:v>1.065</ns0:v>
                </ns0:pt>
              </ns0:numCache>
            </ns0:numRef>
          </ns0:xVal>
          <ns0:yVal>
            <ns0:numRef>
              <ns0:f>'Chart Data'!$H$2:$H$3</ns0:f>
              <ns0:numCache>
                <ns0:formatCode>0.00</ns0:formatCode>
                <ns0:ptCount val="2"/>
                <ns0:pt idx="0">
                  <ns0:v>0.00464730192864</ns0:v>
                </ns0:pt>
                <ns0:pt idx="1">
                  <ns0:v>0.00464730192864</ns0:v>
                </ns0:pt>
              </ns0:numCache>
            </ns0:numRef>
          </ns0:yVal>
          <ns0:smooth val="0"/>
        </ns0:ser>
        <ns0:ser>
          <ns0:idx val="4"/>
          <ns0:order val="4"/>
          <ns0:tx>
            <ns0:strRef>
              <ns0:f>MisIndexed other_nine</ns0:f>
              <ns0:strCache>
                <ns0:ptCount val="1"/>
                <ns0:pt idx="0">
                  <ns0:v>MisIndexed other_nine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Data'!$I$2:$I$6</ns0:f>
              <ns0:numCache>
                <ns0:formatCode>General</ns0:formatCode>
                <ns0:ptCount val="5"/>
                <ns0:pt idx="0">
                  <ns0:v>1.144</ns0:v>
                </ns0:pt>
                <ns0:pt idx="1">
                  <ns0:v>1.162</ns0:v>
                </ns0:pt>
                <ns0:pt idx="2">
                  <ns0:v>1.18</ns0:v>
                </ns0:pt>
                <ns0:pt idx="3">
                  <ns0:v>1.198</ns0:v>
                </ns0:pt>
                <ns0:pt idx="4">
                  <ns0:v>1.216</ns0:v>
                </ns0:pt>
              </ns0:numCache>
            </ns0:numRef>
          </ns0:xVal>
          <ns0:yVal>
            <ns0:numRef>
              <ns0:f>'Chart Data'!$J$2:$J$6</ns0:f>
              <ns0:numCache>
                <ns0:formatCode>0.00</ns0:formatCode>
                <ns0:ptCount val="5"/>
                <ns0:pt idx="0">
                  <ns0:v>0.00557500449665</ns0:v>
                </ns0:pt>
                <ns0:pt idx="1">
                  <ns0:v>0.00616534354334</ns0:v>
                </ns0:pt>
                <ns0:pt idx="2">
                  <ns0:v>0.00179164950715</ns0:v>
                </ns0:pt>
                <ns0:pt idx="3">
                  <ns0:v>0.00439188097406</ns0:v>
                </ns0:pt>
                <ns0:pt idx="4">
                  <ns0:v>0.00402537250386</ns0:v>
                </ns0:pt>
              </ns0:numCache>
            </ns0:numRef>
          </ns0:yVal>
          <ns0:smooth val="0"/>
        </ns0:ser>
        <ns0:ser>
          <ns0:idx val="5"/>
          <ns0:order val="5"/>
          <ns0:tx>
            <ns0:strRef>
              <ns0:f>Mean MisIndexed other_nine</ns0:f>
              <ns0:strCache>
                <ns0:ptCount val="1"/>
                <ns0:pt idx="0">
                  <ns0:v>Mean MisIndexed other_nine</ns0:v>
                </ns0:pt>
              </ns0:strCache>
            </ns0:strRef>
          </ns0:tx>
          <ns0:spPr>
            <ns3:ln w="28575" cap="rnd">
              <ns3:solidFill>
                <ns3:srgbClr val="BC7850"/>
              </ns3:solidFill>
              <ns3:prstDash val="solid"/>
              <ns3:round/>
            </ns3:ln>
          </ns0:spPr>
          <ns0:marker>
            <ns0:symbol val="none"/>
          </ns0:marker>
          <ns0:dLbls>
            <ns0:delete val="1"/>
          </ns0:dLbls>
          <ns0:xVal>
            <ns0:numRef>
              <ns0:f>'Chart Data'!$K$2:$K$3</ns0:f>
              <ns0:numCache>
                <ns0:formatCode>General</ns0:formatCode>
                <ns0:ptCount val="2"/>
                <ns0:pt idx="0">
                  <ns0:v>1.115</ns0:v>
                </ns0:pt>
                <ns0:pt idx="1">
                  <ns0:v>1.245</ns0:v>
                </ns0:pt>
              </ns0:numCache>
            </ns0:numRef>
          </ns0:xVal>
          <ns0:yVal>
            <ns0:numRef>
              <ns0:f>'Chart Data'!$L$2:$L$3</ns0:f>
              <ns0:numCache>
                <ns0:formatCode>0.00</ns0:formatCode>
                <ns0:ptCount val="2"/>
                <ns0:pt idx="0">
                  <ns0:v>0.00438985020501</ns0:v>
                </ns0:pt>
                <ns0:pt idx="1">
                  <ns0:v>0.00438985020501</ns0:v>
                </ns0:pt>
              </ns0:numCache>
            </ns0:numRef>
          </ns0:yVal>
          <ns0:smooth val="0"/>
        </ns0:ser>
        <ns0:ser>
          <ns0:idx val="6"/>
          <ns0:order val="6"/>
          <ns0:tx>
            <ns0:strRef>
              <ns0:f>Opaque three_most_dilute</ns0:f>
              <ns0:strCache>
                <ns0:ptCount val="1"/>
                <ns0:pt idx="0">
                  <ns0:v>Opaque three_most_dilute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Data'!$M$2:$M$6</ns0:f>
              <ns0:numCache>
                <ns0:formatCode>General</ns0:formatCode>
                <ns0:ptCount val="5"/>
                <ns0:pt idx="0">
                  <ns0:v>1.784</ns0:v>
                </ns0:pt>
                <ns0:pt idx="1">
                  <ns0:v>1.802</ns0:v>
                </ns0:pt>
                <ns0:pt idx="2">
                  <ns0:v>1.82</ns0:v>
                </ns0:pt>
                <ns0:pt idx="3">
                  <ns0:v>1.838</ns0:v>
                </ns0:pt>
                <ns0:pt idx="4">
                  <ns0:v>1.856</ns0:v>
                </ns0:pt>
              </ns0:numCache>
            </ns0:numRef>
          </ns0:xVal>
          <ns0:yVal>
            <ns0:numRef>
              <ns0:f>'Chart Data'!$N$2:$N$6</ns0:f>
              <ns0:numCache>
                <ns0:formatCode>0.00</ns0:formatCode>
                <ns0:ptCount val="5"/>
                <ns0:pt idx="0">
                  <ns0:v>0.0393088381249</ns0:v>
                </ns0:pt>
                <ns0:pt idx="1">
                  <ns0:v>0.0141755649172</ns0:v>
                </ns0:pt>
                <ns0:pt idx="2">
                  <ns0:v>0.0119322357734</ns0:v>
                </ns0:pt>
                <ns0:pt idx="3">
                  <ns0:v>0.0106846947237</ns0:v>
                </ns0:pt>
                <ns0:pt idx="4">
                  <ns0:v>0.015559167788</ns0:v>
                </ns0:pt>
              </ns0:numCache>
            </ns0:numRef>
          </ns0:yVal>
          <ns0:smooth val="0"/>
        </ns0:ser>
        <ns0:ser>
          <ns0:idx val="7"/>
          <ns0:order val="7"/>
          <ns0:tx>
            <ns0:strRef>
              <ns0:f>Mean Opaque three_most_dilute</ns0:f>
              <ns0:strCache>
                <ns0:ptCount val="1"/>
                <ns0:pt idx="0">
                  <ns0:v>Mean Opaque three_most_dilute</ns0:v>
                </ns0:pt>
              </ns0:strCache>
            </ns0:strRef>
          </ns0:tx>
          <ns0:spPr>
            <ns3:ln w="28575" cap="rnd">
              <ns3:solidFill>
                <ns3:srgbClr val="637482"/>
              </ns3:solidFill>
              <ns3:prstDash val="solid"/>
              <ns3:round/>
            </ns3:ln>
          </ns0:spPr>
          <ns0:marker>
            <ns0:symbol val="none"/>
          </ns0:marker>
          <ns0:dLbls>
            <ns0:delete val="1"/>
          </ns0:dLbls>
          <ns0:xVal>
            <ns0:numRef>
              <ns0:f>'Chart Data'!$O$2:$O$3</ns0:f>
              <ns0:numCache>
                <ns0:formatCode>General</ns0:formatCode>
                <ns0:ptCount val="2"/>
                <ns0:pt idx="0">
                  <ns0:v>1.755</ns0:v>
                </ns0:pt>
                <ns0:pt idx="1">
                  <ns0:v>1.885</ns0:v>
                </ns0:pt>
              </ns0:numCache>
            </ns0:numRef>
          </ns0:xVal>
          <ns0:yVal>
            <ns0:numRef>
              <ns0:f>'Chart Data'!$P$2:$P$3</ns0:f>
              <ns0:numCache>
                <ns0:formatCode>0.00</ns0:formatCode>
                <ns0:ptCount val="2"/>
                <ns0:pt idx="0">
                  <ns0:v>0.0183321002655</ns0:v>
                </ns0:pt>
                <ns0:pt idx="1">
                  <ns0:v>0.0183321002655</ns0:v>
                </ns0:pt>
              </ns0:numCache>
            </ns0:numRef>
          </ns0:yVal>
          <ns0:smooth val="0"/>
        </ns0:ser>
        <ns0:ser>
          <ns0:idx val="8"/>
          <ns0:order val="8"/>
          <ns0:tx>
            <ns0:strRef>
              <ns0:f>Aligned three_most_dilute</ns0:f>
              <ns0:strCache>
                <ns0:ptCount val="1"/>
                <ns0:pt idx="0">
                  <ns0:v>Aligned three_most_dilute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Data'!$Q$2:$Q$6</ns0:f>
              <ns0:numCache>
                <ns0:formatCode>General</ns0:formatCode>
                <ns0:ptCount val="5"/>
                <ns0:pt idx="0">
                  <ns0:v>1.964</ns0:v>
                </ns0:pt>
                <ns0:pt idx="1">
                  <ns0:v>1.982</ns0:v>
                </ns0:pt>
                <ns0:pt idx="2">
                  <ns0:v>2</ns0:v>
                </ns0:pt>
                <ns0:pt idx="3">
                  <ns0:v>2.018</ns0:v>
                </ns0:pt>
                <ns0:pt idx="4">
                  <ns0:v>2.036</ns0:v>
                </ns0:pt>
              </ns0:numCache>
            </ns0:numRef>
          </ns0:xVal>
          <ns0:yVal>
            <ns0:numRef>
              <ns0:f>'Chart Data'!$R$2:$R$6</ns0:f>
              <ns0:numCache>
                <ns0:formatCode>0.00</ns0:formatCode>
                <ns0:ptCount val="5"/>
                <ns0:pt idx="0">
                  <ns0:v>0.189531060347</ns0:v>
                </ns0:pt>
                <ns0:pt idx="1">
                  <ns0:v>0.18268312077</ns0:v>
                </ns0:pt>
                <ns0:pt idx="2">
                  <ns0:v>0.149558921387</ns0:v>
                </ns0:pt>
                <ns0:pt idx="3">
                  <ns0:v>0.141295995701</ns0:v>
                </ns0:pt>
                <ns0:pt idx="4">
                  <ns0:v>0.130052209385</ns0:v>
                </ns0:pt>
              </ns0:numCache>
            </ns0:numRef>
          </ns0:yVal>
          <ns0:smooth val="0"/>
        </ns0:ser>
        <ns0:ser>
          <ns0:idx val="9"/>
          <ns0:order val="9"/>
          <ns0:tx>
            <ns0:strRef>
              <ns0:f>Mean Aligned three_most_dilute</ns0:f>
              <ns0:strCache>
                <ns0:ptCount val="1"/>
                <ns0:pt idx="0">
                  <ns0:v>Mean Aligned three_most_dilute</ns0:v>
                </ns0:pt>
              </ns0:strCache>
            </ns0:strRef>
          </ns0:tx>
          <ns0:spPr>
            <ns3:ln w="28575" cap="rnd">
              <ns3:solidFill>
                <ns3:srgbClr val="277F8A"/>
              </ns3:solidFill>
              <ns3:prstDash val="solid"/>
              <ns3:round/>
            </ns3:ln>
          </ns0:spPr>
          <ns0:marker>
            <ns0:symbol val="none"/>
          </ns0:marker>
          <ns0:dLbls>
            <ns0:delete val="1"/>
          </ns0:dLbls>
          <ns0:xVal>
            <ns0:numRef>
              <ns0:f>'Chart Data'!$S$2:$S$3</ns0:f>
              <ns0:numCache>
                <ns0:formatCode>General</ns0:formatCode>
                <ns0:ptCount val="2"/>
                <ns0:pt idx="0">
                  <ns0:v>1.935</ns0:v>
                </ns0:pt>
                <ns0:pt idx="1">
                  <ns0:v>2.065</ns0:v>
                </ns0:pt>
              </ns0:numCache>
            </ns0:numRef>
          </ns0:xVal>
          <ns0:yVal>
            <ns0:numRef>
              <ns0:f>'Chart Data'!$T$2:$T$3</ns0:f>
              <ns0:numCache>
                <ns0:formatCode>0.00</ns0:formatCode>
                <ns0:ptCount val="2"/>
                <ns0:pt idx="0">
                  <ns0:v>0.158624261518</ns0:v>
                </ns0:pt>
                <ns0:pt idx="1">
                  <ns0:v>0.158624261518</ns0:v>
                </ns0:pt>
              </ns0:numCache>
            </ns0:numRef>
          </ns0:yVal>
          <ns0:smooth val="0"/>
        </ns0:ser>
        <ns0:ser>
          <ns0:idx val="10"/>
          <ns0:order val="10"/>
          <ns0:tx>
            <ns0:strRef>
              <ns0:f>MisIndexed three_most_dilute</ns0:f>
              <ns0:strCache>
                <ns0:ptCount val="1"/>
                <ns0:pt idx="0">
                  <ns0:v>MisIndexed three_most_dilute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Data'!$U$2:$U$6</ns0:f>
              <ns0:numCache>
                <ns0:formatCode>General</ns0:formatCode>
                <ns0:ptCount val="5"/>
                <ns0:pt idx="0">
                  <ns0:v>2.144</ns0:v>
                </ns0:pt>
                <ns0:pt idx="1">
                  <ns0:v>2.162</ns0:v>
                </ns0:pt>
                <ns0:pt idx="2">
                  <ns0:v>2.18</ns0:v>
                </ns0:pt>
                <ns0:pt idx="3">
                  <ns0:v>2.198</ns0:v>
                </ns0:pt>
                <ns0:pt idx="4">
                  <ns0:v>2.216</ns0:v>
                </ns0:pt>
              </ns0:numCache>
            </ns0:numRef>
          </ns0:xVal>
          <ns0:yVal>
            <ns0:numRef>
              <ns0:f>'Chart Data'!$V$2:$V$6</ns0:f>
              <ns0:numCache>
                <ns0:formatCode>0.00</ns0:formatCode>
                <ns0:ptCount val="5"/>
                <ns0:pt idx="0">
                  <ns0:v>0.189583504792</ns0:v>
                </ns0:pt>
                <ns0:pt idx="1">
                  <ns0:v>0.188205342992</ns0:v>
                </ns0:pt>
                <ns0:pt idx="2">
                  <ns0:v>0.0727811436097</ns0:v>
                </ns0:pt>
                <ns0:pt idx="3">
                  <ns0:v>0.14108488459</ns0:v>
                </ns0:pt>
                <ns0:pt idx="4">
                  <ns0:v>0.128185542719</ns0:v>
                </ns0:pt>
              </ns0:numCache>
            </ns0:numRef>
          </ns0:yVal>
          <ns0:smooth val="0"/>
        </ns0:ser>
        <ns0:ser>
          <ns0:idx val="11"/>
          <ns0:order val="11"/>
          <ns0:tx>
            <ns0:strRef>
              <ns0:f>Mean MisIndexed three_most_dilute</ns0:f>
              <ns0:strCache>
                <ns0:ptCount val="1"/>
                <ns0:pt idx="0">
                  <ns0:v>Mean MisIndexed three_most_dilute</ns0:v>
                </ns0:pt>
              </ns0:strCache>
            </ns0:strRef>
          </ns0:tx>
          <ns0:spPr>
            <ns3:ln w="28575" cap="rnd">
              <ns3:solidFill>
                <ns3:srgbClr val="BC7850"/>
              </ns3:solidFill>
              <ns3:prstDash val="solid"/>
              <ns3:round/>
            </ns3:ln>
          </ns0:spPr>
          <ns0:marker>
            <ns0:symbol val="none"/>
          </ns0:marker>
          <ns0:dLbls>
            <ns0:delete val="1"/>
          </ns0:dLbls>
          <ns0:xVal>
            <ns0:numRef>
              <ns0:f>'Chart Data'!$W$2:$W$3</ns0:f>
              <ns0:numCache>
                <ns0:formatCode>General</ns0:formatCode>
                <ns0:ptCount val="2"/>
                <ns0:pt idx="0">
                  <ns0:v>2.115</ns0:v>
                </ns0:pt>
                <ns0:pt idx="1">
                  <ns0:v>2.245</ns0:v>
                </ns0:pt>
              </ns0:numCache>
            </ns0:numRef>
          </ns0:xVal>
          <ns0:yVal>
            <ns0:numRef>
              <ns0:f>'Chart Data'!$X$2:$X$3</ns0:f>
              <ns0:numCache>
                <ns0:formatCode>0.00</ns0:formatCode>
                <ns0:ptCount val="2"/>
                <ns0:pt idx="0">
                  <ns0:v>0.14396808374</ns0:v>
                </ns0:pt>
                <ns0:pt idx="1">
                  <ns0:v>0.14396808374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b18d6263-d8a9-4b28-aa35-85cc27b54d9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Nominal 80%</ns0:f>
              <ns0:strCache>
                <ns0:ptCount val="1"/>
                <ns0:pt idx="0">
                  <ns0:v>Nominal 80%</ns0:v>
                </ns0:pt>
              </ns0:strCache>
            </ns0:strRef>
          </ns0:tx>
          <ns0:spPr>
            <ns3:ln w="12383"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0.5</ns0:v>
                </ns0:pt>
                <ns0:pt idx="1">
                  <ns0:v>2.5</ns0:v>
                </ns0:pt>
              </ns0:numCache>
            </ns0:numRef>
          </ns0:xVal>
          <ns0:yVal>
            <ns0:numRef>
              <ns0:f>'Chart Data'!$B$2:$B$3</ns0:f>
              <ns0:numCache>
                <ns0:formatCode>0</ns0:formatCode>
                <ns0:ptCount val="2"/>
                <ns0:pt idx="0">
                  <ns0:v>80</ns0:v>
                </ns0:pt>
                <ns0:pt idx="1">
                  <ns0:v>80</ns0:v>
                </ns0:pt>
              </ns0:numCache>
            </ns0:numRef>
          </ns0:yVal>
          <ns0:smooth val="0"/>
        </ns0:ser>
        <ns0:ser>
          <ns0:idx val="1"/>
          <ns0:order val="1"/>
          <ns0:tx>
            <ns0:strRef>
              <ns0:f>Opaque other_nine</ns0:f>
              <ns0:strCache>
                <ns0:ptCount val="1"/>
                <ns0:pt idx="0">
                  <ns0:v>Opaque other_nine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Data'!$C$2:$C$6</ns0:f>
              <ns0:numCache>
                <ns0:formatCode>General</ns0:formatCode>
                <ns0:ptCount val="5"/>
                <ns0:pt idx="0">
                  <ns0:v>0.784</ns0:v>
                </ns0:pt>
                <ns0:pt idx="1">
                  <ns0:v>0.802</ns0:v>
                </ns0:pt>
                <ns0:pt idx="2">
                  <ns0:v>0.82</ns0:v>
                </ns0:pt>
                <ns0:pt idx="3">
                  <ns0:v>0.838</ns0:v>
                </ns0:pt>
                <ns0:pt idx="4">
                  <ns0:v>0.856</ns0:v>
                </ns0:pt>
              </ns0:numCache>
            </ns0:numRef>
          </ns0:xVal>
          <ns0:yVal>
            <ns0:numRef>
              <ns0:f>'Chart Data'!$D$2:$D$6</ns0:f>
              <ns0:numCache>
                <ns0:formatCode>0</ns0:formatCode>
                <ns0:ptCount val="5"/>
                <ns0:pt idx="0">
                  <ns0:v>94.0740740741</ns0:v>
                </ns0:pt>
                <ns0:pt idx="1">
                  <ns0:v>96.2962962963</ns0:v>
                </ns0:pt>
                <ns0:pt idx="2">
                  <ns0:v>80</ns0:v>
                </ns0:pt>
                <ns0:pt idx="3">
                  <ns0:v>97.037037037</ns0:v>
                </ns0:pt>
                <ns0:pt idx="4">
                  <ns0:v>85.9259259259</ns0:v>
                </ns0:pt>
              </ns0:numCache>
            </ns0:numRef>
          </ns0:yVal>
          <ns0:smooth val="0"/>
        </ns0:ser>
        <ns0:ser>
          <ns0:idx val="2"/>
          <ns0:order val="2"/>
          <ns0:tx>
            <ns0:strRef>
              <ns0:f>Mean Opaque other_nine</ns0:f>
              <ns0:strCache>
                <ns0:ptCount val="1"/>
                <ns0:pt idx="0">
                  <ns0:v>Mean Opaque other_nine</ns0:v>
                </ns0:pt>
              </ns0:strCache>
            </ns0:strRef>
          </ns0:tx>
          <ns0:spPr>
            <ns3:ln w="28575" cap="rnd">
              <ns3:solidFill>
                <ns3:srgbClr val="637482"/>
              </ns3:solidFill>
              <ns3:prstDash val="solid"/>
              <ns3:round/>
            </ns3:ln>
          </ns0:spPr>
          <ns0:marker>
            <ns0:symbol val="none"/>
          </ns0:marker>
          <ns0:dLbls>
            <ns0:delete val="1"/>
          </ns0:dLbls>
          <ns0:xVal>
            <ns0:numRef>
              <ns0:f>'Chart Data'!$E$2:$E$3</ns0:f>
              <ns0:numCache>
                <ns0:formatCode>General</ns0:formatCode>
                <ns0:ptCount val="2"/>
                <ns0:pt idx="0">
                  <ns0:v>0.755</ns0:v>
                </ns0:pt>
                <ns0:pt idx="1">
                  <ns0:v>0.885</ns0:v>
                </ns0:pt>
              </ns0:numCache>
            </ns0:numRef>
          </ns0:xVal>
          <ns0:yVal>
            <ns0:numRef>
              <ns0:f>'Chart Data'!$F$2:$F$3</ns0:f>
              <ns0:numCache>
                <ns0:formatCode>0</ns0:formatCode>
                <ns0:ptCount val="2"/>
                <ns0:pt idx="0">
                  <ns0:v>90.6666666667</ns0:v>
                </ns0:pt>
                <ns0:pt idx="1">
                  <ns0:v>90.6666666667</ns0:v>
                </ns0:pt>
              </ns0:numCache>
            </ns0:numRef>
          </ns0:yVal>
          <ns0:smooth val="0"/>
        </ns0:ser>
        <ns0:ser>
          <ns0:idx val="3"/>
          <ns0:order val="3"/>
          <ns0:tx>
            <ns0:strRef>
              <ns0:f>Aligned other_nine</ns0:f>
              <ns0:strCache>
                <ns0:ptCount val="1"/>
                <ns0:pt idx="0">
                  <ns0:v>Aligned other_nine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Data'!$G$2:$G$6</ns0:f>
              <ns0:numCache>
                <ns0:formatCode>General</ns0:formatCode>
                <ns0:ptCount val="5"/>
                <ns0:pt idx="0">
                  <ns0:v>0.964</ns0:v>
                </ns0:pt>
                <ns0:pt idx="1">
                  <ns0:v>0.982</ns0:v>
                </ns0:pt>
                <ns0:pt idx="2">
                  <ns0:v>1</ns0:v>
                </ns0:pt>
                <ns0:pt idx="3">
                  <ns0:v>1.018</ns0:v>
                </ns0:pt>
                <ns0:pt idx="4">
                  <ns0:v>1.036</ns0:v>
                </ns0:pt>
              </ns0:numCache>
            </ns0:numRef>
          </ns0:xVal>
          <ns0:yVal>
            <ns0:numRef>
              <ns0:f>'Chart Data'!$H$2:$H$6</ns0:f>
              <ns0:numCache>
                <ns0:formatCode>0</ns0:formatCode>
                <ns0:ptCount val="5"/>
                <ns0:pt idx="0">
                  <ns0:v>92.5925925926</ns0:v>
                </ns0:pt>
                <ns0:pt idx="1">
                  <ns0:v>78.5185185185</ns0:v>
                </ns0:pt>
                <ns0:pt idx="2">
                  <ns0:v>98.5185185185</ns0:v>
                </ns0:pt>
                <ns0:pt idx="3">
                  <ns0:v>90.3703703704</ns0:v>
                </ns0:pt>
                <ns0:pt idx="4">
                  <ns0:v>96.2962962963</ns0:v>
                </ns0:pt>
              </ns0:numCache>
            </ns0:numRef>
          </ns0:yVal>
          <ns0:smooth val="0"/>
        </ns0:ser>
        <ns0:ser>
          <ns0:idx val="4"/>
          <ns0:order val="4"/>
          <ns0:tx>
            <ns0:strRef>
              <ns0:f>Mean Aligned other_nine</ns0:f>
              <ns0:strCache>
                <ns0:ptCount val="1"/>
                <ns0:pt idx="0">
                  <ns0:v>Mean Aligned other_nine</ns0:v>
                </ns0:pt>
              </ns0:strCache>
            </ns0:strRef>
          </ns0:tx>
          <ns0:spPr>
            <ns3:ln w="28575" cap="rnd">
              <ns3:solidFill>
                <ns3:srgbClr val="277F8A"/>
              </ns3:solidFill>
              <ns3:prstDash val="solid"/>
              <ns3:round/>
            </ns3:ln>
          </ns0:spPr>
          <ns0:marker>
            <ns0:symbol val="none"/>
          </ns0:marker>
          <ns0:dLbls>
            <ns0:delete val="1"/>
          </ns0:dLbls>
          <ns0:xVal>
            <ns0:numRef>
              <ns0:f>'Chart Data'!$I$2:$I$3</ns0:f>
              <ns0:numCache>
                <ns0:formatCode>General</ns0:formatCode>
                <ns0:ptCount val="2"/>
                <ns0:pt idx="0">
                  <ns0:v>0.935</ns0:v>
                </ns0:pt>
                <ns0:pt idx="1">
                  <ns0:v>1.065</ns0:v>
                </ns0:pt>
              </ns0:numCache>
            </ns0:numRef>
          </ns0:xVal>
          <ns0:yVal>
            <ns0:numRef>
              <ns0:f>'Chart Data'!$J$2:$J$3</ns0:f>
              <ns0:numCache>
                <ns0:formatCode>0</ns0:formatCode>
                <ns0:ptCount val="2"/>
                <ns0:pt idx="0">
                  <ns0:v>91.2592592593</ns0:v>
                </ns0:pt>
                <ns0:pt idx="1">
                  <ns0:v>91.2592592593</ns0:v>
                </ns0:pt>
              </ns0:numCache>
            </ns0:numRef>
          </ns0:yVal>
          <ns0:smooth val="0"/>
        </ns0:ser>
        <ns0:ser>
          <ns0:idx val="5"/>
          <ns0:order val="5"/>
          <ns0:tx>
            <ns0:strRef>
              <ns0:f>MisIndexed other_nine</ns0:f>
              <ns0:strCache>
                <ns0:ptCount val="1"/>
                <ns0:pt idx="0">
                  <ns0:v>MisIndexed other_nine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Data'!$K$2:$K$6</ns0:f>
              <ns0:numCache>
                <ns0:formatCode>General</ns0:formatCode>
                <ns0:ptCount val="5"/>
                <ns0:pt idx="0">
                  <ns0:v>1.144</ns0:v>
                </ns0:pt>
                <ns0:pt idx="1">
                  <ns0:v>1.162</ns0:v>
                </ns0:pt>
                <ns0:pt idx="2">
                  <ns0:v>1.18</ns0:v>
                </ns0:pt>
                <ns0:pt idx="3">
                  <ns0:v>1.198</ns0:v>
                </ns0:pt>
                <ns0:pt idx="4">
                  <ns0:v>1.216</ns0:v>
                </ns0:pt>
              </ns0:numCache>
            </ns0:numRef>
          </ns0:xVal>
          <ns0:yVal>
            <ns0:numRef>
              <ns0:f>'Chart Data'!$L$2:$L$6</ns0:f>
              <ns0:numCache>
                <ns0:formatCode>0</ns0:formatCode>
                <ns0:ptCount val="5"/>
                <ns0:pt idx="0">
                  <ns0:v>82.962962963</ns0:v>
                </ns0:pt>
                <ns0:pt idx="1">
                  <ns0:v>77.037037037</ns0:v>
                </ns0:pt>
                <ns0:pt idx="2">
                  <ns0:v>94.8148148148</ns0:v>
                </ns0:pt>
                <ns0:pt idx="3">
                  <ns0:v>96.2962962963</ns0:v>
                </ns0:pt>
                <ns0:pt idx="4">
                  <ns0:v>97.037037037</ns0:v>
                </ns0:pt>
              </ns0:numCache>
            </ns0:numRef>
          </ns0:yVal>
          <ns0:smooth val="0"/>
        </ns0:ser>
        <ns0:ser>
          <ns0:idx val="6"/>
          <ns0:order val="6"/>
          <ns0:tx>
            <ns0:strRef>
              <ns0:f>Mean MisIndexed other_nine</ns0:f>
              <ns0:strCache>
                <ns0:ptCount val="1"/>
                <ns0:pt idx="0">
                  <ns0:v>Mean MisIndexed other_nine</ns0:v>
                </ns0:pt>
              </ns0:strCache>
            </ns0:strRef>
          </ns0:tx>
          <ns0:spPr>
            <ns3:ln w="28575" cap="rnd">
              <ns3:solidFill>
                <ns3:srgbClr val="BC7850"/>
              </ns3:solidFill>
              <ns3:prstDash val="solid"/>
              <ns3:round/>
            </ns3:ln>
          </ns0:spPr>
          <ns0:marker>
            <ns0:symbol val="none"/>
          </ns0:marker>
          <ns0:dLbls>
            <ns0:delete val="1"/>
          </ns0:dLbls>
          <ns0:xVal>
            <ns0:numRef>
              <ns0:f>'Chart Data'!$M$2:$M$3</ns0:f>
              <ns0:numCache>
                <ns0:formatCode>General</ns0:formatCode>
                <ns0:ptCount val="2"/>
                <ns0:pt idx="0">
                  <ns0:v>1.115</ns0:v>
                </ns0:pt>
                <ns0:pt idx="1">
                  <ns0:v>1.245</ns0:v>
                </ns0:pt>
              </ns0:numCache>
            </ns0:numRef>
          </ns0:xVal>
          <ns0:yVal>
            <ns0:numRef>
              <ns0:f>'Chart Data'!$N$2:$N$3</ns0:f>
              <ns0:numCache>
                <ns0:formatCode>0</ns0:formatCode>
                <ns0:ptCount val="2"/>
                <ns0:pt idx="0">
                  <ns0:v>89.6296296296</ns0:v>
                </ns0:pt>
                <ns0:pt idx="1">
                  <ns0:v>89.6296296296</ns0:v>
                </ns0:pt>
              </ns0:numCache>
            </ns0:numRef>
          </ns0:yVal>
          <ns0:smooth val="0"/>
        </ns0:ser>
        <ns0:ser>
          <ns0:idx val="7"/>
          <ns0:order val="7"/>
          <ns0:tx>
            <ns0:strRef>
              <ns0:f>Opaque three_most_dilute</ns0:f>
              <ns0:strCache>
                <ns0:ptCount val="1"/>
                <ns0:pt idx="0">
                  <ns0:v>Opaque three_most_dilute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Data'!$O$2:$O$6</ns0:f>
              <ns0:numCache>
                <ns0:formatCode>General</ns0:formatCode>
                <ns0:ptCount val="5"/>
                <ns0:pt idx="0">
                  <ns0:v>1.784</ns0:v>
                </ns0:pt>
                <ns0:pt idx="1">
                  <ns0:v>1.802</ns0:v>
                </ns0:pt>
                <ns0:pt idx="2">
                  <ns0:v>1.82</ns0:v>
                </ns0:pt>
                <ns0:pt idx="3">
                  <ns0:v>1.838</ns0:v>
                </ns0:pt>
                <ns0:pt idx="4">
                  <ns0:v>1.856</ns0:v>
                </ns0:pt>
              </ns0:numCache>
            </ns0:numRef>
          </ns0:xVal>
          <ns0:yVal>
            <ns0:numRef>
              <ns0:f>'Chart Data'!$P$2:$P$6</ns0:f>
              <ns0:numCache>
                <ns0:formatCode>0</ns0:formatCode>
                <ns0:ptCount val="5"/>
                <ns0:pt idx="0">
                  <ns0:v>66.6666666667</ns0:v>
                </ns0:pt>
                <ns0:pt idx="1">
                  <ns0:v>100</ns0:v>
                </ns0:pt>
                <ns0:pt idx="2">
                  <ns0:v>100</ns0:v>
                </ns0:pt>
                <ns0:pt idx="3">
                  <ns0:v>100</ns0:v>
                </ns0:pt>
                <ns0:pt idx="4">
                  <ns0:v>100</ns0:v>
                </ns0:pt>
              </ns0:numCache>
            </ns0:numRef>
          </ns0:yVal>
          <ns0:smooth val="0"/>
        </ns0:ser>
        <ns0:ser>
          <ns0:idx val="8"/>
          <ns0:order val="8"/>
          <ns0:tx>
            <ns0:strRef>
              <ns0:f>Mean Opaque three_most_dilute</ns0:f>
              <ns0:strCache>
                <ns0:ptCount val="1"/>
                <ns0:pt idx="0">
                  <ns0:v>Mean Opaque three_most_dilute</ns0:v>
                </ns0:pt>
              </ns0:strCache>
            </ns0:strRef>
          </ns0:tx>
          <ns0:spPr>
            <ns3:ln w="28575" cap="rnd">
              <ns3:solidFill>
                <ns3:srgbClr val="637482"/>
              </ns3:solidFill>
              <ns3:prstDash val="solid"/>
              <ns3:round/>
            </ns3:ln>
          </ns0:spPr>
          <ns0:marker>
            <ns0:symbol val="none"/>
          </ns0:marker>
          <ns0:dLbls>
            <ns0:delete val="1"/>
          </ns0:dLbls>
          <ns0:xVal>
            <ns0:numRef>
              <ns0:f>'Chart Data'!$Q$2:$Q$3</ns0:f>
              <ns0:numCache>
                <ns0:formatCode>General</ns0:formatCode>
                <ns0:ptCount val="2"/>
                <ns0:pt idx="0">
                  <ns0:v>1.755</ns0:v>
                </ns0:pt>
                <ns0:pt idx="1">
                  <ns0:v>1.885</ns0:v>
                </ns0:pt>
              </ns0:numCache>
            </ns0:numRef>
          </ns0:xVal>
          <ns0:yVal>
            <ns0:numRef>
              <ns0:f>'Chart Data'!$R$2:$R$3</ns0:f>
              <ns0:numCache>
                <ns0:formatCode>0</ns0:formatCode>
                <ns0:ptCount val="2"/>
                <ns0:pt idx="0">
                  <ns0:v>93.3333333333</ns0:v>
                </ns0:pt>
                <ns0:pt idx="1">
                  <ns0:v>93.3333333333</ns0:v>
                </ns0:pt>
              </ns0:numCache>
            </ns0:numRef>
          </ns0:yVal>
          <ns0:smooth val="0"/>
        </ns0:ser>
        <ns0:ser>
          <ns0:idx val="9"/>
          <ns0:order val="9"/>
          <ns0:tx>
            <ns0:strRef>
              <ns0:f>Aligned three_most_dilute</ns0:f>
              <ns0:strCache>
                <ns0:ptCount val="1"/>
                <ns0:pt idx="0">
                  <ns0:v>Aligned three_most_dilute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Data'!$S$2:$S$6</ns0:f>
              <ns0:numCache>
                <ns0:formatCode>General</ns0:formatCode>
                <ns0:ptCount val="5"/>
                <ns0:pt idx="0">
                  <ns0:v>1.964</ns0:v>
                </ns0:pt>
                <ns0:pt idx="1">
                  <ns0:v>1.982</ns0:v>
                </ns0:pt>
                <ns0:pt idx="2">
                  <ns0:v>2</ns0:v>
                </ns0:pt>
                <ns0:pt idx="3">
                  <ns0:v>2.018</ns0:v>
                </ns0:pt>
                <ns0:pt idx="4">
                  <ns0:v>2.036</ns0:v>
                </ns0:pt>
              </ns0:numCache>
            </ns0:numRef>
          </ns0:xVal>
          <ns0:yVal>
            <ns0:numRef>
              <ns0:f>'Chart Data'!$T$2:$T$6</ns0:f>
              <ns0:numCache>
                <ns0:formatCode>0</ns0:formatCode>
                <ns0:ptCount val="5"/>
                <ns0:pt idx="0">
                  <ns0:v>11.1111111111</ns0:v>
                </ns0:pt>
                <ns0:pt idx="1">
                  <ns0:v>0</ns0:v>
                </ns0:pt>
                <ns0:pt idx="2">
                  <ns0:v>0</ns0:v>
                </ns0:pt>
                <ns0:pt idx="3">
                  <ns0:v>0</ns0:v>
                </ns0:pt>
                <ns0:pt idx="4">
                  <ns0:v>0</ns0:v>
                </ns0:pt>
              </ns0:numCache>
            </ns0:numRef>
          </ns0:yVal>
          <ns0:smooth val="0"/>
        </ns0:ser>
        <ns0:ser>
          <ns0:idx val="10"/>
          <ns0:order val="10"/>
          <ns0:tx>
            <ns0:strRef>
              <ns0:f>Mean Aligned three_most_dilute</ns0:f>
              <ns0:strCache>
                <ns0:ptCount val="1"/>
                <ns0:pt idx="0">
                  <ns0:v>Mean Aligned three_most_dilute</ns0:v>
                </ns0:pt>
              </ns0:strCache>
            </ns0:strRef>
          </ns0:tx>
          <ns0:spPr>
            <ns3:ln w="28575" cap="rnd">
              <ns3:solidFill>
                <ns3:srgbClr val="277F8A"/>
              </ns3:solidFill>
              <ns3:prstDash val="solid"/>
              <ns3:round/>
            </ns3:ln>
          </ns0:spPr>
          <ns0:marker>
            <ns0:symbol val="none"/>
          </ns0:marker>
          <ns0:dLbls>
            <ns0:delete val="1"/>
          </ns0:dLbls>
          <ns0:xVal>
            <ns0:numRef>
              <ns0:f>'Chart Data'!$U$2:$U$3</ns0:f>
              <ns0:numCache>
                <ns0:formatCode>General</ns0:formatCode>
                <ns0:ptCount val="2"/>
                <ns0:pt idx="0">
                  <ns0:v>1.935</ns0:v>
                </ns0:pt>
                <ns0:pt idx="1">
                  <ns0:v>2.065</ns0:v>
                </ns0:pt>
              </ns0:numCache>
            </ns0:numRef>
          </ns0:xVal>
          <ns0:yVal>
            <ns0:numRef>
              <ns0:f>'Chart Data'!$V$2:$V$3</ns0:f>
              <ns0:numCache>
                <ns0:formatCode>0</ns0:formatCode>
                <ns0:ptCount val="2"/>
                <ns0:pt idx="0">
                  <ns0:v>2.22222222222</ns0:v>
                </ns0:pt>
                <ns0:pt idx="1">
                  <ns0:v>2.22222222222</ns0:v>
                </ns0:pt>
              </ns0:numCache>
            </ns0:numRef>
          </ns0:yVal>
          <ns0:smooth val="0"/>
        </ns0:ser>
        <ns0:ser>
          <ns0:idx val="11"/>
          <ns0:order val="11"/>
          <ns0:tx>
            <ns0:strRef>
              <ns0:f>MisIndexed three_most_dilute</ns0:f>
              <ns0:strCache>
                <ns0:ptCount val="1"/>
                <ns0:pt idx="0">
                  <ns0:v>MisIndexed three_most_dilute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Data'!$W$2:$W$6</ns0:f>
              <ns0:numCache>
                <ns0:formatCode>General</ns0:formatCode>
                <ns0:ptCount val="5"/>
                <ns0:pt idx="0">
                  <ns0:v>2.144</ns0:v>
                </ns0:pt>
                <ns0:pt idx="1">
                  <ns0:v>2.162</ns0:v>
                </ns0:pt>
                <ns0:pt idx="2">
                  <ns0:v>2.18</ns0:v>
                </ns0:pt>
                <ns0:pt idx="3">
                  <ns0:v>2.198</ns0:v>
                </ns0:pt>
                <ns0:pt idx="4">
                  <ns0:v>2.216</ns0:v>
                </ns0:pt>
              </ns0:numCache>
            </ns0:numRef>
          </ns0:xVal>
          <ns0:yVal>
            <ns0:numRef>
              <ns0:f>'Chart Data'!$X$2:$X$6</ns0:f>
              <ns0:numCache>
                <ns0:formatCode>0</ns0:formatCode>
                <ns0:ptCount val="5"/>
                <ns0:pt idx="0">
                  <ns0:v>0</ns0:v>
                </ns0:pt>
                <ns0:pt idx="1">
                  <ns0:v>0</ns0:v>
                </ns0:pt>
                <ns0:pt idx="2">
                  <ns0:v>35.5555555556</ns0:v>
                </ns0:pt>
                <ns0:pt idx="3">
                  <ns0:v>33.3333333333</ns0:v>
                </ns0:pt>
                <ns0:pt idx="4">
                  <ns0:v>0</ns0:v>
                </ns0:pt>
              </ns0:numCache>
            </ns0:numRef>
          </ns0:yVal>
          <ns0:smooth val="0"/>
        </ns0:ser>
        <ns0:ser>
          <ns0:idx val="12"/>
          <ns0:order val="12"/>
          <ns0:tx>
            <ns0:strRef>
              <ns0:f>Mean MisIndexed three_most_dilute</ns0:f>
              <ns0:strCache>
                <ns0:ptCount val="1"/>
                <ns0:pt idx="0">
                  <ns0:v>Mean MisIndexed three_most_dilute</ns0:v>
                </ns0:pt>
              </ns0:strCache>
            </ns0:strRef>
          </ns0:tx>
          <ns0:spPr>
            <ns3:ln w="28575" cap="rnd">
              <ns3:solidFill>
                <ns3:srgbClr val="BC7850"/>
              </ns3:solidFill>
              <ns3:prstDash val="solid"/>
              <ns3:round/>
            </ns3:ln>
          </ns0:spPr>
          <ns0:marker>
            <ns0:symbol val="none"/>
          </ns0:marker>
          <ns0:dLbls>
            <ns0:delete val="1"/>
          </ns0:dLbls>
          <ns0:xVal>
            <ns0:numRef>
              <ns0:f>'Chart Data'!$Y$2:$Y$3</ns0:f>
              <ns0:numCache>
                <ns0:formatCode>General</ns0:formatCode>
                <ns0:ptCount val="2"/>
                <ns0:pt idx="0">
                  <ns0:v>2.115</ns0:v>
                </ns0:pt>
                <ns0:pt idx="1">
                  <ns0:v>2.245</ns0:v>
                </ns0:pt>
              </ns0:numCache>
            </ns0:numRef>
          </ns0:xVal>
          <ns0:yVal>
            <ns0:numRef>
              <ns0:f>'Chart Data'!$Z$2:$Z$3</ns0:f>
              <ns0:numCache>
                <ns0:formatCode>0</ns0:formatCode>
                <ns0:ptCount val="2"/>
                <ns0:pt idx="0">
                  <ns0:v>13.7777777778</ns0:v>
                </ns0:pt>
                <ns0:pt idx="1">
                  <ns0:v>13.7777777778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100"/>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Interval coverage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20"/>
      </ns0:valAx>
      <ns0:spPr>
        <ns3:solidFill>
          <ns3:srgbClr val="FFFFFF"/>
        </ns3:solidFill>
        <ns3:ln w="0">
          <ns3:noFill/>
        </ns3:ln>
      </ns0:spPr>
    </ns0:plotArea>
    <ns0:plotVisOnly val="1"/>
    <ns0:dispBlanksAs val="gap"/>
    <ns0:showDLblsOverMax val="0"/>
    <ns0:extLst>
      <ns0:ext uri="{0b15fc19-7d7d-44ad-8c2d-2c3a37ce22c3}">
        <ns4:chartProps chartId="{c1f6afc9-98af-4e62-b7cb-c1645afc3c6c}"/>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Purity threshold</ns0:f>
              <ns0:strCache>
                <ns0:ptCount val="1"/>
                <ns0:pt idx="0">
                  <ns0:v>Purity threshold</ns0:v>
                </ns0:pt>
              </ns0:strCache>
            </ns0:strRef>
          </ns0:tx>
          <ns0:spPr>
            <ns3:ln w="14288" cap="rnd">
              <ns3:solidFill>
                <ns3:srgbClr val="24292D"/>
              </ns3:solidFill>
              <ns3:prstDash val="solid"/>
              <ns3:round/>
            </ns3:ln>
          </ns0:spPr>
          <ns0:marker>
            <ns0:symbol val="none"/>
          </ns0:marker>
          <ns0:dLbls>
            <ns0:delete val="1"/>
          </ns0:dLbls>
          <ns0:xVal>
            <ns0:numRef>
              <ns0:f>'Chart Data'!$A$2:$A$3</ns0:f>
              <ns0:numCache>
                <ns0:formatCode>General</ns0:formatCode>
                <ns0:ptCount val="2"/>
                <ns0:pt idx="0">
                  <ns0:v>0</ns0:v>
                </ns0:pt>
                <ns0:pt idx="1">
                  <ns0:v>0.9</ns0:v>
                </ns0:pt>
              </ns0:numCache>
            </ns0:numRef>
          </ns0:xVal>
          <ns0:yVal>
            <ns0:numRef>
              <ns0:f>'Chart Data'!$B$2:$B$3</ns0:f>
              <ns0:numCache>
                <ns0:formatCode>0.0</ns0:formatCode>
                <ns0:ptCount val="2"/>
                <ns0:pt idx="0">
                  <ns0:v>0.8</ns0:v>
                </ns0:pt>
                <ns0:pt idx="1">
                  <ns0:v>0.8</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Data'!$C$2:$C$6</ns0:f>
              <ns0:numCache>
                <ns0:formatCode>General</ns0:formatCode>
                <ns0:ptCount val="5"/>
                <ns0:pt idx="0">
                  <ns0:v>0.00857385061681</ns0:v>
                </ns0:pt>
                <ns0:pt idx="1">
                  <ns0:v>0.010216018185</ns0:v>
                </ns0:pt>
                <ns0:pt idx="2">
                  <ns0:v>0.121818624437</ns0:v>
                </ns0:pt>
                <ns0:pt idx="3">
                  <ns0:v>0.246259510517</ns0:v>
                </ns0:pt>
                <ns0:pt idx="4">
                  <ns0:v>0.231779113412</ns0:v>
                </ns0:pt>
              </ns0:numCache>
            </ns0:numRef>
          </ns0:xVal>
          <ns0:yVal>
            <ns0:numRef>
              <ns0:f>'Chart Data'!$D$2:$D$6</ns0:f>
              <ns0:numCache>
                <ns0:formatCode>0.0</ns0:formatCode>
                <ns0:ptCount val="5"/>
                <ns0:pt idx="0">
                  <ns0:v>0.719405114651</ns0:v>
                </ns0:pt>
                <ns0:pt idx="1">
                  <ns0:v>0.799153625965</ns0:v>
                </ns0:pt>
                <ns0:pt idx="2">
                  <ns0:v>0.646183490753</ns0:v>
                </ns0:pt>
                <ns0:pt idx="3">
                  <ns0:v>0.615477144718</ns0:v>
                </ns0:pt>
                <ns0:pt idx="4">
                  <ns0:v>0.624340951443</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Data'!$E$2:$E$6</ns0:f>
              <ns0:numCache>
                <ns0:formatCode>General</ns0:formatCode>
                <ns0:ptCount val="5"/>
                <ns0:pt idx="0">
                  <ns0:v>0.00872951652855</ns0:v>
                </ns0:pt>
                <ns0:pt idx="1">
                  <ns0:v>0.0518909171224</ns0:v>
                </ns0:pt>
                <ns0:pt idx="2">
                  <ns0:v>0.00169921724591</ns0:v>
                </ns0:pt>
                <ns0:pt idx="3">
                  <ns0:v>0.0959831997752</ns0:v>
                </ns0:pt>
                <ns0:pt idx="4">
                  <ns0:v>0.0644549652934</ns0:v>
                </ns0:pt>
              </ns0:numCache>
            </ns0:numRef>
          </ns0:xVal>
          <ns0:yVal>
            <ns0:numRef>
              <ns0:f>'Chart Data'!$F$2:$F$6</ns0:f>
              <ns0:numCache>
                <ns0:formatCode>0.0</ns0:formatCode>
                <ns0:ptCount val="5"/>
                <ns0:pt idx="0">
                  <ns0:v>0.735200285912</ns0:v>
                </ns0:pt>
                <ns0:pt idx="1">
                  <ns0:v>0.822549343109</ns0:v>
                </ns0:pt>
                <ns0:pt idx="2">
                  <ns0:v>0.806438863277</ns0:v>
                </ns0:pt>
                <ns0:pt idx="3">
                  <ns0:v>0.585172533989</ns0:v>
                </ns0:pt>
                <ns0:pt idx="4">
                  <ns0:v>0.807464301586</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Data'!$G$2:$G$6</ns0:f>
              <ns0:numCache>
                <ns0:formatCode>General</ns0:formatCode>
                <ns0:ptCount val="5"/>
                <ns0:pt idx="0">
                  <ns0:v>0.0825522765517</ns0:v>
                </ns0:pt>
                <ns0:pt idx="1">
                  <ns0:v>0.232249453664</ns0:v>
                </ns0:pt>
                <ns0:pt idx="2">
                  <ns0:v>0.380988478661</ns0:v>
                </ns0:pt>
                <ns0:pt idx="3">
                  <ns0:v>0.448247849941</ns0:v>
                </ns0:pt>
                <ns0:pt idx="4">
                  <ns0:v>0.461209923029</ns0:v>
                </ns0:pt>
              </ns0:numCache>
            </ns0:numRef>
          </ns0:xVal>
          <ns0:yVal>
            <ns0:numRef>
              <ns0:f>'Chart Data'!$H$2:$H$6</ns0:f>
              <ns0:numCache>
                <ns0:formatCode>0.0</ns0:formatCode>
                <ns0:ptCount val="5"/>
                <ns0:pt idx="0">
                  <ns0:v>0.633174419403</ns0:v>
                </ns0:pt>
                <ns0:pt idx="1">
                  <ns0:v>0.609284639359</ns0:v>
                </ns0:pt>
                <ns0:pt idx="2">
                  <ns0:v>0.572338044643</ns0:v>
                </ns0:pt>
                <ns0:pt idx="3">
                  <ns0:v>0.587349653244</ns0:v>
                </ns0:pt>
                <ns0:pt idx="4">
                  <ns0:v>0.676507055759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9"/>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Original-charge recovery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3"/>
      </ns0:valAx>
      <ns0:valAx>
        <ns0:axId val="48672768"/>
        <ns0:scaling>
          <ns0:orientation val="minMax"/>
          <ns0:max val="1"/>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Retested purity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2"/>
      </ns0:valAx>
      <ns0:spPr>
        <ns3:solidFill>
          <ns3:srgbClr val="FFFFFF"/>
        </ns3:solidFill>
        <ns3:ln w="0">
          <ns3:noFill/>
        </ns3:ln>
      </ns0:spPr>
    </ns0:plotArea>
    <ns0:plotVisOnly val="1"/>
    <ns0:dispBlanksAs val="gap"/>
    <ns0:showDLblsOverMax val="0"/>
    <ns0:extLst>
      <ns0:ext uri="{0b15fc19-7d7d-44ad-8c2d-2c3a37ce22c3}">
        <ns4:chartProps chartId="{3ad51813-60ac-4aee-ae8a-2d5dce0bea7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error</ns0:f>
              <ns0:strCache>
                <ns0:ptCount val="1"/>
                <ns0:pt idx="0">
                  <ns0:v>Equal error</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0.22</ns0:v>
                </ns0:pt>
              </ns0:numCache>
            </ns0:numRef>
          </ns0:xVal>
          <ns0:yVal>
            <ns0:numRef>
              <ns0:f>'Chart Data'!$B$2:$B$3</ns0:f>
              <ns0:numCache>
                <ns0:formatCode>0.00</ns0:formatCode>
                <ns0:ptCount val="2"/>
                <ns0:pt idx="0">
                  <ns0:v>0</ns0:v>
                </ns0:pt>
                <ns0:pt idx="1">
                  <ns0:v>0.22</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0.016829786605</ns0:v>
                </ns0:pt>
                <ns0:pt idx="1">
                  <ns0:v>0.0191726504675</ns0:v>
                </ns0:pt>
                <ns0:pt idx="2">
                  <ns0:v>0.0191814420408</ns0:v>
                </ns0:pt>
                <ns0:pt idx="3">
                  <ns0:v>0.04901839487</ns0:v>
                </ns0:pt>
                <ns0:pt idx="4">
                  <ns0:v>0.0193055473197</ns0:v>
                </ns0:pt>
                <ns0:pt idx="5">
                  <ns0:v>0.0189999052882</ns0:v>
                </ns0:pt>
                <ns0:pt idx="6">
                  <ns0:v>0.0204909585555</ns0:v>
                </ns0:pt>
                <ns0:pt idx="7">
                  <ns0:v>0.0212184687926</ns0:v>
                </ns0:pt>
                <ns0:pt idx="8">
                  <ns0:v>0.0181739115361</ns0:v>
                </ns0:pt>
                <ns0:pt idx="9">
                  <ns0:v>0.0180131820958</ns0:v>
                </ns0:pt>
              </ns0:numCache>
            </ns0:numRef>
          </ns0:xVal>
          <ns0:yVal>
            <ns0:numRef>
              <ns0:f>'Chart Data'!$D$2:$D$11</ns0:f>
              <ns0:numCache>
                <ns0:formatCode>0.00</ns0:formatCode>
                <ns0:ptCount val="10"/>
                <ns0:pt idx="0">
                  <ns0:v>0.0289334291368</ns0:v>
                </ns0:pt>
                <ns0:pt idx="1">
                  <ns0:v>0.0422445741276</ns0:v>
                </ns0:pt>
                <ns0:pt idx="2">
                  <ns0:v>0.0304299994529</ns0:v>
                </ns0:pt>
                <ns0:pt idx="3">
                  <ns0:v>0.176660286603</ns0:v>
                </ns0:pt>
                <ns0:pt idx="4">
                  <ns0:v>0.0944843658348</ns0:v>
                </ns0:pt>
                <ns0:pt idx="5">
                  <ns0:v>0.0286013023857</ns0:v>
                </ns0:pt>
                <ns0:pt idx="6">
                  <ns0:v>0.172446488823</ns0:v>
                </ns0:pt>
                <ns0:pt idx="7">
                  <ns0:v>0.031518066029</ns0:v>
                </ns0:pt>
                <ns0:pt idx="8">
                  <ns0:v>0.0567188859533</ns0:v>
                </ns0:pt>
                <ns0:pt idx="9">
                  <ns0:v>0.00935778523931</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0.0165757626922</ns0:v>
                </ns0:pt>
                <ns0:pt idx="1">
                  <ns0:v>0.01754278915</ns0:v>
                </ns0:pt>
                <ns0:pt idx="2">
                  <ns0:v>0.0171922444861</ns0:v>
                </ns0:pt>
                <ns0:pt idx="3">
                  <ns0:v>0.0171922444861</ns0:v>
                </ns0:pt>
                <ns0:pt idx="4">
                  <ns0:v>0.019191178217</ns0:v>
                </ns0:pt>
                <ns0:pt idx="5">
                  <ns0:v>0.0189999052882</ns0:v>
                </ns0:pt>
                <ns0:pt idx="6">
                  <ns0:v>0.0204229036869</ns0:v>
                </ns0:pt>
                <ns0:pt idx="7">
                  <ns0:v>0.0282493806142</ns0:v>
                </ns0:pt>
                <ns0:pt idx="8">
                  <ns0:v>0.0195294060639</ns0:v>
                </ns0:pt>
                <ns0:pt idx="9">
                  <ns0:v>0.0187220498193</ns0:v>
                </ns0:pt>
              </ns0:numCache>
            </ns0:numRef>
          </ns0:xVal>
          <ns0:yVal>
            <ns0:numRef>
              <ns0:f>'Chart Data'!$F$2:$F$11</ns0:f>
              <ns0:numCache>
                <ns0:formatCode>0.00</ns0:formatCode>
                <ns0:ptCount val="10"/>
                <ns0:pt idx="0">
                  <ns0:v>0.0293500958034</ns0:v>
                </ns0:pt>
                <ns0:pt idx="1">
                  <ns0:v>0.0555779074609</ns0:v>
                </ns0:pt>
                <ns0:pt idx="2">
                  <ns0:v>0.0163128427778</ns0:v>
                </ns0:pt>
                <ns0:pt idx="3">
                  <ns0:v>0.0416602866032</ns0:v>
                </ns0:pt>
                <ns0:pt idx="4">
                  <ns0:v>0.0740183987978</ns0:v>
                </ns0:pt>
                <ns0:pt idx="5">
                  <ns0:v>0.106151032501</ns0:v>
                </ns0:pt>
                <ns0:pt idx="6">
                  <ns0:v>0.0146740391677</ns0:v>
                </ns0:pt>
                <ns0:pt idx="7">
                  <ns0:v>0.0525218247153</ns0:v>
                </ns0:pt>
                <ns0:pt idx="8">
                  <ns0:v>0.114291211005</ns0:v>
                </ns0:pt>
                <ns0:pt idx="9">
                  <ns0:v>0.02713555262</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0.0165757626922</ns0:v>
                </ns0:pt>
                <ns0:pt idx="1">
                  <ns0:v>0.0180997634991</ns0:v>
                </ns0:pt>
                <ns0:pt idx="2">
                  <ns0:v>0.0171922444861</ns0:v>
                </ns0:pt>
                <ns0:pt idx="3">
                  <ns0:v>0.0171922444861</ns0:v>
                </ns0:pt>
                <ns0:pt idx="4">
                  <ns0:v>0.0189999052882</ns0:v>
                </ns0:pt>
                <ns0:pt idx="5">
                  <ns0:v>0.0215468742015</ns0:v>
                </ns0:pt>
                <ns0:pt idx="6">
                  <ns0:v>0.122882933739</ns0:v>
                </ns0:pt>
                <ns0:pt idx="7">
                  <ns0:v>0.0199436150884</ns0:v>
                </ns0:pt>
                <ns0:pt idx="8">
                  <ns0:v>0.019036061627</ns0:v>
                </ns0:pt>
                <ns0:pt idx="9">
                  <ns0:v>0.0181084928511</ns0:v>
                </ns0:pt>
              </ns0:numCache>
            </ns0:numRef>
          </ns0:xVal>
          <ns0:yVal>
            <ns0:numRef>
              <ns0:f>'Chart Data'!$H$2:$H$11</ns0:f>
              <ns0:numCache>
                <ns0:formatCode>0.00</ns0:formatCode>
                <ns0:ptCount val="10"/>
                <ns0:pt idx="0">
                  <ns0:v>0.0212253339235</ns0:v>
                </ns0:pt>
                <ns0:pt idx="1">
                  <ns0:v>0.161827907461</ns0:v>
                </ns0:pt>
                <ns0:pt idx="2">
                  <ns0:v>0.13332695327</ns0:v>
                </ns0:pt>
                <ns0:pt idx="3">
                  <ns0:v>0.0991602866032</ns0:v>
                </ns0:pt>
                <ns0:pt idx="4">
                  <ns0:v>0.0245281767076</ns0:v>
                </ns0:pt>
                <ns0:pt idx="5">
                  <ns0:v>0.0699491122534</ns0:v>
                </ns0:pt>
                <ns0:pt idx="6">
                  <ns0:v>0.102521824715</ns0:v>
                </ns0:pt>
                <ns0:pt idx="7">
                  <ns0:v>0.0287718247153</ns0:v>
                </ns0:pt>
                <ns0:pt idx="8">
                  <ns0:v>0.188874544338</ns0:v>
                </ns0:pt>
                <ns0:pt idx="9">
                  <ns0:v>0.0437078776717</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22"/>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Source-mean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1"/>
      </ns0:valAx>
      <ns0:valAx>
        <ns0:axId val="48672768"/>
        <ns0:scaling>
          <ns0:orientation val="minMax"/>
          <ns0:max val="0.22"/>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Agent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2607f788-cbda-493a-93dd-5ae31da13639}"/>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error</ns0:f>
              <ns0:strCache>
                <ns0:ptCount val="1"/>
                <ns0:pt idx="0">
                  <ns0:v>Equal error</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0.55</ns0:v>
                </ns0:pt>
              </ns0:numCache>
            </ns0:numRef>
          </ns0:xVal>
          <ns0:yVal>
            <ns0:numRef>
              <ns0:f>'Chart Data'!$B$2:$B$3</ns0:f>
              <ns0:numCache>
                <ns0:formatCode>0.00</ns0:formatCode>
                <ns0:ptCount val="2"/>
                <ns0:pt idx="0">
                  <ns0:v>0</ns0:v>
                </ns0:pt>
                <ns0:pt idx="1">
                  <ns0:v>0.55</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0.314023140412</ns0:v>
                </ns0:pt>
                <ns0:pt idx="1">
                  <ns0:v>0.345317526104</ns0:v>
                </ns0:pt>
                <ns0:pt idx="2">
                  <ns0:v>0.285392958524</ns0:v>
                </ns0:pt>
                <ns0:pt idx="3">
                  <ns0:v>0.285392958524</ns0:v>
                </ns0:pt>
                <ns0:pt idx="4">
                  <ns0:v>0.33634036614</ns0:v>
                </ns0:pt>
                <ns0:pt idx="5">
                  <ns0:v>0.30715341437</ns0:v>
                </ns0:pt>
                <ns0:pt idx="6">
                  <ns0:v>0.364623012289</ns0:v>
                </ns0:pt>
                <ns0:pt idx="7">
                  <ns0:v>0.364623012289</ns0:v>
                </ns0:pt>
                <ns0:pt idx="8">
                  <ns0:v>0.292383595038</ns0:v>
                </ns0:pt>
                <ns0:pt idx="9">
                  <ns0:v>0.28209062586</ns0:v>
                </ns0:pt>
              </ns0:numCache>
            </ns0:numRef>
          </ns0:xVal>
          <ns0:yVal>
            <ns0:numRef>
              <ns0:f>'Chart Data'!$D$2:$D$11</ns0:f>
              <ns0:numCache>
                <ns0:formatCode>0.00</ns0:formatCode>
                <ns0:ptCount val="10"/>
                <ns0:pt idx="0">
                  <ns0:v>0.234678247484</ns0:v>
                </ns0:pt>
                <ns0:pt idx="1">
                  <ns0:v>0.177606494137</ns0:v>
                </ns0:pt>
                <ns0:pt idx="2">
                  <ns0:v>0.135324563133</ns0:v>
                </ns0:pt>
                <ns0:pt idx="3">
                  <ns0:v>0.378336260183</ns0:v>
                </ns0:pt>
                <ns0:pt idx="4">
                  <ns0:v>0.457183807008</ns0:v>
                </ns0:pt>
                <ns0:pt idx="5">
                  <ns0:v>0.285773637911</ns0:v>
                </ns0:pt>
                <ns0:pt idx="6">
                  <ns0:v>0.331974651653</ns0:v>
                </ns0:pt>
                <ns0:pt idx="7">
                  <ns0:v>0.233789678955</ns0:v>
                </ns0:pt>
                <ns0:pt idx="8">
                  <ns0:v>0.335540167868</ns0:v>
                </ns0:pt>
                <ns0:pt idx="9">
                  <ns0:v>0.209706834534</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0.314023140412</ns0:v>
                </ns0:pt>
                <ns0:pt idx="1">
                  <ns0:v>0.314023140412</ns0:v>
                </ns0:pt>
                <ns0:pt idx="2">
                  <ns0:v>0.285392958524</ns0:v>
                </ns0:pt>
                <ns0:pt idx="3">
                  <ns0:v>0.285392958524</ns0:v>
                </ns0:pt>
                <ns0:pt idx="4">
                  <ns0:v>0.325206901802</ns0:v>
                </ns0:pt>
                <ns0:pt idx="5">
                  <ns0:v>0.30715341437</ns0:v>
                </ns0:pt>
                <ns0:pt idx="6">
                  <ns0:v>0.364623012289</ns0:v>
                </ns0:pt>
                <ns0:pt idx="7">
                  <ns0:v>0.369082640173</ns0:v>
                </ns0:pt>
                <ns0:pt idx="8">
                  <ns0:v>0.323299789573</ns0:v>
                </ns0:pt>
                <ns0:pt idx="9">
                  <ns0:v>0.294441032357</ns0:v>
                </ns0:pt>
              </ns0:numCache>
            </ns0:numRef>
          </ns0:xVal>
          <ns0:yVal>
            <ns0:numRef>
              <ns0:f>'Chart Data'!$F$2:$F$11</ns0:f>
              <ns0:numCache>
                <ns0:formatCode>0.00</ns0:formatCode>
                <ns0:ptCount val="10"/>
                <ns0:pt idx="0">
                  <ns0:v>0.266523140412</ns0:v>
                </ns0:pt>
                <ns0:pt idx="1">
                  <ns0:v>0.279856473746</ns0:v>
                </ns0:pt>
                <ns0:pt idx="2">
                  <ns0:v>0.269559625191</ns0:v>
                </ns0:pt>
                <ns0:pt idx="3">
                  <ns0:v>0.252677692722</ns0:v>
                </ns0:pt>
                <ns0:pt idx="4">
                  <ns0:v>0.225371182119</ns0:v>
                </ns0:pt>
                <ns0:pt idx="5">
                  <ns0:v>0.28399140566</ns0:v>
                </ns0:pt>
                <ns0:pt idx="6">
                  <ns0:v>0.239502291008</ns0:v>
                </ns0:pt>
                <ns0:pt idx="7">
                  <ns0:v>0.307956345622</ns0:v>
                </ns0:pt>
                <ns0:pt idx="8">
                  <ns0:v>0.495540167868</ns0:v>
                </ns0:pt>
                <ns0:pt idx="9">
                  <ns0:v>0.313930922262</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0.314023140412</ns0:v>
                </ns0:pt>
                <ns0:pt idx="1">
                  <ns0:v>0.314023140412</ns0:v>
                </ns0:pt>
                <ns0:pt idx="2">
                  <ns0:v>0.285392958524</ns0:v>
                </ns0:pt>
                <ns0:pt idx="3">
                  <ns0:v>0.285392958524</ns0:v>
                </ns0:pt>
                <ns0:pt idx="4">
                  <ns0:v>0.312874263365</ns0:v>
                </ns0:pt>
                <ns0:pt idx="5">
                  <ns0:v>0.30715341437</ns0:v>
                </ns0:pt>
                <ns0:pt idx="6">
                  <ns0:v>0.364623012289</ns0:v>
                </ns0:pt>
                <ns0:pt idx="7">
                  <ns0:v>0.364623012289</ns0:v>
                </ns0:pt>
                <ns0:pt idx="8">
                  <ns0:v>0.305188068892</ns0:v>
                </ns0:pt>
                <ns0:pt idx="9">
                  <ns0:v>0.28209062586</ns0:v>
                </ns0:pt>
              </ns0:numCache>
            </ns0:numRef>
          </ns0:xVal>
          <ns0:yVal>
            <ns0:numRef>
              <ns0:f>'Chart Data'!$H$2:$H$11</ns0:f>
              <ns0:numCache>
                <ns0:formatCode>0.00</ns0:formatCode>
                <ns0:ptCount val="10"/>
                <ns0:pt idx="0">
                  <ns0:v>0.203251692324</ns0:v>
                </ns0:pt>
                <ns0:pt idx="1">
                  <ns0:v>0.271344914151</ns0:v>
                </ns0:pt>
                <ns0:pt idx="2">
                  <ns0:v>0.286669593517</ns0:v>
                </ns0:pt>
                <ns0:pt idx="3">
                  <ns0:v>0.379491229799</ns0:v>
                </ns0:pt>
                <ns0:pt idx="4">
                  <ns0:v>0.294537848786</ns0:v>
                </ns0:pt>
                <ns0:pt idx="5">
                  <ns0:v>0.353880089495</ns0:v>
                </ns0:pt>
                <ns0:pt idx="6">
                  <ns0:v>0.347956345622</ns0:v>
                </ns0:pt>
                <ns0:pt idx="7">
                  <ns0:v>0.277828283398</ns0:v>
                </ns0:pt>
                <ns0:pt idx="8">
                  <ns0:v>0.307206834534</ns0:v>
                </ns0:pt>
                <ns0:pt idx="9">
                  <ns0:v>0.262935839495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55"/>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Source-mean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25"/>
      </ns0:valAx>
      <ns0:valAx>
        <ns0:axId val="48672768"/>
        <ns0:scaling>
          <ns0:orientation val="minMax"/>
          <ns0:max val="0.5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Agent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25"/>
      </ns0:valAx>
      <ns0:spPr>
        <ns3:solidFill>
          <ns3:srgbClr val="FFFFFF"/>
        </ns3:solidFill>
        <ns3:ln w="0">
          <ns3:noFill/>
        </ns3:ln>
      </ns0:spPr>
    </ns0:plotArea>
    <ns0:plotVisOnly val="1"/>
    <ns0:dispBlanksAs val="gap"/>
    <ns0:showDLblsOverMax val="0"/>
    <ns0:extLst>
      <ns0:ext uri="{0b15fc19-7d7d-44ad-8c2d-2c3a37ce22c3}">
        <ns4:chartProps chartId="{a98556f3-de88-4c25-8092-dba0f8afb571}"/>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artwork: paper\figures\ncs-full\figure01-framework.png. Only the overall title area and typography are edited. Illustrations remain raster artwork; overlaid labels are editable PowerPoint text. ChemWorld framework and retained 240-campaign programme. No new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Selected complete W05 B24 Aligned autonomous session. All 24 source batches are retained. K1 followed the experiments and sealed recommendation, Q was sealed without laboratory or target feedback, and K2 followed Q without target feedback. Displayed K1/K2 text is author-condensed. The Q07/Q08 evaluator references were withheld. The source session is illustrative, not a cohort effect.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Figure 3. Retained complete strategy comparisons. EC and RX have 30 matched pairs each. P has 15 recommendations. Source: integrated-results/analysis.json and campaign_metrics.csv.</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Figure 4. Six source-driven matched independent 12/24-batch outcomes. The upper pair in each panel gives campaign means. The lower swarm plots all 15 signed world-arm differences at their true horizontal values; vertical offset only prevents collisions. Black diamonds show medians. Open crosses retain source-assay shortfalls. Source: retained campaign metrics.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Five-world reference versus original prediction comparison at Q08, 13.3 micromolar. All 15 predictions and 180 source assays retained. The shaded band is the pooled source minimum/maximum, not an uncertainty interval. Native manuscript Table 1 reports regime aggregates; Table F1 retains every original interval. No experiments or internal reasoning reconstructed.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All 30 original crystallization campaigns, including the retained source-assay shortfall. Source: BASELINE_REANALYSIS.json, retained-figure-data.json. Error differences are agent MAE minus the public source-mean MAE in percentage points. No ratios or logarithmic errors. Vertical offsets in panels b/c only separate campaigns.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Supplementary Figure S1. Complete prior overview, retaining the existing 16 selected readouts. Five matched worlds per panel, with all 240 campaigns retained in the tables. Source: campaign_metrics.csv. Scales differ.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RX parameter-prior positive controls and post hoc EQ dilution groups. Five worlds per arm. All retained values, no new scientific experiments.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Budget effects. All 90 response comparisons in 15 matched independent 12/24 pairs per panel. Positive change denotes lower MAE, higher coverage or higher recovery. Native editable data marks. Source shortfalls are retained and crossed. Complete response detail remains in the supplementary view. Source: campaign_metrics.csv.</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artwork: paper\figures\ncs-full\figure07-posttest-reflection.png. Only the overall title area and typography are edited. Illustrations remain raster artwork; overlaid labels are editable PowerPoint text. Original C-W05 Q/K2. Reflection received no reference feedback. Proposed cooling experiment was not executed. Evaluator reference is for reheating only.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secondary outcomes moved from main Figures 2 and 6. Purification has 15 recommendations; crystallization has all 30 original campaigns including its source shortfall.</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chart" Target="../charts/chart4.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chart" Target="../charts/chart18.xml"/><Relationship Id="rId11" Type="http://schemas.openxmlformats.org/officeDocument/2006/relationships/chart" Target="../charts/chart19.xml"/><Relationship Id="rId12" Type="http://schemas.openxmlformats.org/officeDocument/2006/relationships/chart" Target="../charts/chart20.xml"/><Relationship Id="rId13" Type="http://schemas.openxmlformats.org/officeDocument/2006/relationships/chart" Target="../charts/chart21.xml"/><Relationship Id="rId14" Type="http://schemas.openxmlformats.org/officeDocument/2006/relationships/chart" Target="../charts/chart22.xml"/><Relationship Id="rId15" Type="http://schemas.openxmlformats.org/officeDocument/2006/relationships/chart" Target="../charts/chart23.xml"/><Relationship Id="rId16" Type="http://schemas.openxmlformats.org/officeDocument/2006/relationships/chart" Target="../charts/chart24.xml"/><Relationship Id="rId17" Type="http://schemas.openxmlformats.org/officeDocument/2006/relationships/slideLayout" Target="../slideLayouts/slideLayout1.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25.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1.xml"/><Relationship Id="rId8" Type="http://schemas.openxmlformats.org/officeDocument/2006/relationships/notesSlide" Target="../notesSlides/notesSlide10.xml"/><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chart" Target="../charts/chart29.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34" name="图片 133"/>
          <p:cNvPicPr>
            <a:picLocks noChangeAspect="1"/>
          </p:cNvPicPr>
          <p:nvPr/>
        </p:nvPicPr>
        <p:blipFill>
          <a:blip r:embed="rId1"/>
          <a:stretch>
            <a:fillRect/>
          </a:stretch>
        </p:blipFill>
        <p:spPr>
          <a:xfrm>
            <a:off x="0" y="0"/>
            <a:ext cx="13716000" cy="8590359"/>
          </a:xfrm>
          <a:prstGeom prst="rect">
            <a:avLst/>
          </a:prstGeom>
        </p:spPr>
      </p:pic>
      <p:sp>
        <p:nvSpPr>
          <p:cNvPr id="2" name="矩形 1"/>
          <p:cNvSpPr>
            <a:spLocks noGrp="1"/>
          </p:cNvSpPr>
          <p:nvPr/>
        </p:nvSpPr>
        <p:spPr>
          <a:xfrm>
            <a:off x="223242" y="142875"/>
            <a:ext cx="250031" cy="303609"/>
          </a:xfrm>
          <a:prstGeom prst="rect">
            <a:avLst/>
          </a:prstGeom>
          <a:solidFill>
            <a:srgbClr val="FFFFFF"/>
          </a:solidFill>
          <a:ln w="0">
            <a:noFill/>
          </a:ln>
        </p:spPr>
      </p:sp>
      <p:sp>
        <p:nvSpPr>
          <p:cNvPr id="3" name="矩形 2"/>
          <p:cNvSpPr>
            <a:spLocks noGrp="1"/>
          </p:cNvSpPr>
          <p:nvPr/>
        </p:nvSpPr>
        <p:spPr>
          <a:xfrm>
            <a:off x="223242" y="142875"/>
            <a:ext cx="25003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a</a:t>
            </a:r>
            <a:endParaRPr sz="2250" b="1">
              <a:solidFill>
                <a:srgbClr val="0B2450"/>
              </a:solidFill>
              <a:latin typeface="Arial" panose="020B0604020202020204"/>
              <a:ea typeface="Arial" panose="020B0604020202020204"/>
              <a:cs typeface="Arial" panose="020B0604020202020204"/>
            </a:endParaRPr>
          </a:p>
        </p:txBody>
      </p:sp>
      <p:sp>
        <p:nvSpPr>
          <p:cNvPr id="4" name="矩形 3"/>
          <p:cNvSpPr>
            <a:spLocks noGrp="1"/>
          </p:cNvSpPr>
          <p:nvPr/>
        </p:nvSpPr>
        <p:spPr>
          <a:xfrm>
            <a:off x="717947" y="137517"/>
            <a:ext cx="7413427" cy="314325"/>
          </a:xfrm>
          <a:prstGeom prst="rect">
            <a:avLst/>
          </a:prstGeom>
          <a:solidFill>
            <a:srgbClr val="FFFFFF"/>
          </a:solidFill>
          <a:ln w="0">
            <a:noFill/>
          </a:ln>
        </p:spPr>
      </p:sp>
      <p:sp>
        <p:nvSpPr>
          <p:cNvPr id="5" name="矩形 4"/>
          <p:cNvSpPr>
            <a:spLocks noGrp="1"/>
          </p:cNvSpPr>
          <p:nvPr/>
        </p:nvSpPr>
        <p:spPr>
          <a:xfrm>
            <a:off x="732234" y="151805"/>
            <a:ext cx="7384852"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Autonomous experiments in a persistent world</a:t>
            </a:r>
            <a:endParaRPr sz="2025" b="1">
              <a:solidFill>
                <a:srgbClr val="0B2450"/>
              </a:solidFill>
              <a:latin typeface="Arial" panose="020B0604020202020204"/>
              <a:ea typeface="Arial" panose="020B0604020202020204"/>
              <a:cs typeface="Arial" panose="020B0604020202020204"/>
            </a:endParaRPr>
          </a:p>
        </p:txBody>
      </p:sp>
      <p:sp>
        <p:nvSpPr>
          <p:cNvPr id="6" name="矩形 5"/>
          <p:cNvSpPr>
            <a:spLocks noGrp="1"/>
          </p:cNvSpPr>
          <p:nvPr/>
        </p:nvSpPr>
        <p:spPr>
          <a:xfrm>
            <a:off x="3280767" y="476845"/>
            <a:ext cx="2010966" cy="260747"/>
          </a:xfrm>
          <a:prstGeom prst="rect">
            <a:avLst/>
          </a:prstGeom>
          <a:solidFill>
            <a:srgbClr val="FFFFFF"/>
          </a:solidFill>
          <a:ln w="0">
            <a:noFill/>
          </a:ln>
        </p:spPr>
      </p:sp>
      <p:sp>
        <p:nvSpPr>
          <p:cNvPr id="7" name="矩形 6"/>
          <p:cNvSpPr>
            <a:spLocks noGrp="1"/>
          </p:cNvSpPr>
          <p:nvPr/>
        </p:nvSpPr>
        <p:spPr>
          <a:xfrm>
            <a:off x="3295055" y="491133"/>
            <a:ext cx="1982391" cy="232172"/>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Choose the next experiment</a:t>
            </a:r>
            <a:endParaRPr sz="1200" b="0">
              <a:solidFill>
                <a:srgbClr val="0B2450"/>
              </a:solidFill>
              <a:latin typeface="Arial" panose="020B0604020202020204"/>
              <a:ea typeface="Arial" panose="020B0604020202020204"/>
              <a:cs typeface="Arial" panose="020B0604020202020204"/>
            </a:endParaRPr>
          </a:p>
        </p:txBody>
      </p:sp>
      <p:sp>
        <p:nvSpPr>
          <p:cNvPr id="8" name="矩形 7"/>
          <p:cNvSpPr>
            <a:spLocks noGrp="1"/>
          </p:cNvSpPr>
          <p:nvPr/>
        </p:nvSpPr>
        <p:spPr>
          <a:xfrm>
            <a:off x="2959298" y="967978"/>
            <a:ext cx="2644973" cy="287536"/>
          </a:xfrm>
          <a:prstGeom prst="rect">
            <a:avLst/>
          </a:prstGeom>
          <a:solidFill>
            <a:srgbClr val="F2F8FC"/>
          </a:solidFill>
          <a:ln w="0">
            <a:noFill/>
          </a:ln>
        </p:spPr>
      </p:sp>
      <p:sp>
        <p:nvSpPr>
          <p:cNvPr id="9" name="矩形 8"/>
          <p:cNvSpPr>
            <a:spLocks noGrp="1"/>
          </p:cNvSpPr>
          <p:nvPr/>
        </p:nvSpPr>
        <p:spPr>
          <a:xfrm>
            <a:off x="2973586" y="982266"/>
            <a:ext cx="2616398" cy="25896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Experiment (in the chemical world)</a:t>
            </a:r>
            <a:endParaRPr sz="1200" b="0">
              <a:solidFill>
                <a:srgbClr val="0B2450"/>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316111" y="1959173"/>
            <a:ext cx="859036" cy="439341"/>
          </a:xfrm>
          <a:prstGeom prst="rect">
            <a:avLst/>
          </a:prstGeom>
          <a:solidFill>
            <a:srgbClr val="FFFFFF"/>
          </a:solidFill>
          <a:ln w="0">
            <a:noFill/>
          </a:ln>
        </p:spPr>
      </p:sp>
      <p:sp>
        <p:nvSpPr>
          <p:cNvPr id="11" name="矩形 10"/>
          <p:cNvSpPr>
            <a:spLocks noGrp="1"/>
          </p:cNvSpPr>
          <p:nvPr/>
        </p:nvSpPr>
        <p:spPr>
          <a:xfrm>
            <a:off x="330398" y="1973461"/>
            <a:ext cx="830461"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Scientific</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question</a:t>
            </a:r>
            <a:endParaRPr sz="1350" b="0">
              <a:solidFill>
                <a:srgbClr val="0B2450"/>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1584127" y="2039541"/>
            <a:ext cx="626864" cy="260747"/>
          </a:xfrm>
          <a:prstGeom prst="rect">
            <a:avLst/>
          </a:prstGeom>
          <a:solidFill>
            <a:srgbClr val="FFFFFF"/>
          </a:solidFill>
          <a:ln w="0">
            <a:noFill/>
          </a:ln>
        </p:spPr>
      </p:sp>
      <p:sp>
        <p:nvSpPr>
          <p:cNvPr id="13" name="矩形 12"/>
          <p:cNvSpPr>
            <a:spLocks noGrp="1"/>
          </p:cNvSpPr>
          <p:nvPr/>
        </p:nvSpPr>
        <p:spPr>
          <a:xfrm>
            <a:off x="1598414" y="2053828"/>
            <a:ext cx="598289"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Agent</a:t>
            </a:r>
            <a:endParaRPr sz="1350" b="0">
              <a:solidFill>
                <a:srgbClr val="0B2450"/>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2664619" y="1959173"/>
            <a:ext cx="769739" cy="430411"/>
          </a:xfrm>
          <a:prstGeom prst="rect">
            <a:avLst/>
          </a:prstGeom>
          <a:solidFill>
            <a:srgbClr val="F2F8FC"/>
          </a:solidFill>
          <a:ln w="0">
            <a:noFill/>
          </a:ln>
        </p:spPr>
      </p:sp>
      <p:sp>
        <p:nvSpPr>
          <p:cNvPr id="15" name="矩形 14"/>
          <p:cNvSpPr>
            <a:spLocks noGrp="1"/>
          </p:cNvSpPr>
          <p:nvPr/>
        </p:nvSpPr>
        <p:spPr>
          <a:xfrm>
            <a:off x="2678906" y="1973461"/>
            <a:ext cx="741164"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Choose</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operations</a:t>
            </a:r>
            <a:endParaRPr sz="1200" b="0">
              <a:solidFill>
                <a:srgbClr val="0B2450"/>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3736181" y="1959173"/>
            <a:ext cx="617934" cy="430411"/>
          </a:xfrm>
          <a:prstGeom prst="rect">
            <a:avLst/>
          </a:prstGeom>
          <a:solidFill>
            <a:srgbClr val="F2F8FC"/>
          </a:solidFill>
          <a:ln w="0">
            <a:noFill/>
          </a:ln>
        </p:spPr>
      </p:sp>
      <p:sp>
        <p:nvSpPr>
          <p:cNvPr id="17" name="矩形 16"/>
          <p:cNvSpPr>
            <a:spLocks noGrp="1"/>
          </p:cNvSpPr>
          <p:nvPr/>
        </p:nvSpPr>
        <p:spPr>
          <a:xfrm>
            <a:off x="3750469" y="1973461"/>
            <a:ext cx="589359"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Run</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process</a:t>
            </a:r>
            <a:endParaRPr sz="1200" b="0">
              <a:solidFill>
                <a:srgbClr val="0B2450"/>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4727377" y="1950244"/>
            <a:ext cx="653653" cy="260747"/>
          </a:xfrm>
          <a:prstGeom prst="rect">
            <a:avLst/>
          </a:prstGeom>
          <a:solidFill>
            <a:srgbClr val="F2F8FC"/>
          </a:solidFill>
          <a:ln w="0">
            <a:noFill/>
          </a:ln>
        </p:spPr>
      </p:sp>
      <p:sp>
        <p:nvSpPr>
          <p:cNvPr id="19" name="矩形 18"/>
          <p:cNvSpPr>
            <a:spLocks noGrp="1"/>
          </p:cNvSpPr>
          <p:nvPr/>
        </p:nvSpPr>
        <p:spPr>
          <a:xfrm>
            <a:off x="4741664" y="1964531"/>
            <a:ext cx="625078" cy="23217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Measure</a:t>
            </a:r>
            <a:endParaRPr sz="1200" b="0">
              <a:solidFill>
                <a:srgbClr val="0B2450"/>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5861447" y="1959173"/>
            <a:ext cx="939403" cy="430411"/>
          </a:xfrm>
          <a:prstGeom prst="rect">
            <a:avLst/>
          </a:prstGeom>
          <a:solidFill>
            <a:srgbClr val="FFFFFF"/>
          </a:solidFill>
          <a:ln w="0">
            <a:noFill/>
          </a:ln>
        </p:spPr>
      </p:sp>
      <p:sp>
        <p:nvSpPr>
          <p:cNvPr id="21" name="矩形 20"/>
          <p:cNvSpPr>
            <a:spLocks noGrp="1"/>
          </p:cNvSpPr>
          <p:nvPr/>
        </p:nvSpPr>
        <p:spPr>
          <a:xfrm>
            <a:off x="5875734" y="1973461"/>
            <a:ext cx="910828"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Public</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observations</a:t>
            </a:r>
            <a:endParaRPr sz="1200" b="0">
              <a:solidFill>
                <a:srgbClr val="0B2450"/>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7066955" y="1985963"/>
            <a:ext cx="1046559" cy="439341"/>
          </a:xfrm>
          <a:prstGeom prst="rect">
            <a:avLst/>
          </a:prstGeom>
          <a:solidFill>
            <a:srgbClr val="FFFFFF"/>
          </a:solidFill>
          <a:ln w="0">
            <a:noFill/>
          </a:ln>
        </p:spPr>
      </p:sp>
      <p:sp>
        <p:nvSpPr>
          <p:cNvPr id="23" name="矩形 22"/>
          <p:cNvSpPr>
            <a:spLocks noGrp="1"/>
          </p:cNvSpPr>
          <p:nvPr/>
        </p:nvSpPr>
        <p:spPr>
          <a:xfrm>
            <a:off x="7081242" y="2000250"/>
            <a:ext cx="1017984"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Full research</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history</a:t>
            </a:r>
            <a:endParaRPr sz="1350" b="0">
              <a:solidFill>
                <a:srgbClr val="0B2450"/>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798439" y="2655689"/>
            <a:ext cx="4788098" cy="314325"/>
          </a:xfrm>
          <a:prstGeom prst="rect">
            <a:avLst/>
          </a:prstGeom>
          <a:solidFill>
            <a:srgbClr val="F3F9FC"/>
          </a:solidFill>
          <a:ln w="0">
            <a:noFill/>
          </a:ln>
        </p:spPr>
      </p:sp>
      <p:sp>
        <p:nvSpPr>
          <p:cNvPr id="25" name="矩形 24"/>
          <p:cNvSpPr>
            <a:spLocks noGrp="1"/>
          </p:cNvSpPr>
          <p:nvPr/>
        </p:nvSpPr>
        <p:spPr>
          <a:xfrm>
            <a:off x="1812727" y="2669977"/>
            <a:ext cx="4759523" cy="285750"/>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Persistent physical state (updated after every experiment)</a:t>
            </a:r>
            <a:endParaRPr sz="1200" b="0">
              <a:solidFill>
                <a:srgbClr val="0B2450"/>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780455" y="3441502"/>
            <a:ext cx="1135856" cy="251817"/>
          </a:xfrm>
          <a:prstGeom prst="rect">
            <a:avLst/>
          </a:prstGeom>
          <a:solidFill>
            <a:srgbClr val="F3F9FC"/>
          </a:solidFill>
          <a:ln w="0">
            <a:noFill/>
          </a:ln>
        </p:spPr>
      </p:sp>
      <p:sp>
        <p:nvSpPr>
          <p:cNvPr id="27" name="矩形 26"/>
          <p:cNvSpPr>
            <a:spLocks noGrp="1"/>
          </p:cNvSpPr>
          <p:nvPr/>
        </p:nvSpPr>
        <p:spPr>
          <a:xfrm>
            <a:off x="794742" y="3455789"/>
            <a:ext cx="1107281"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Composition</a:t>
            </a:r>
            <a:endParaRPr sz="1350" b="0">
              <a:solidFill>
                <a:srgbClr val="0B2450"/>
              </a:solidFill>
              <a:latin typeface="Arial" panose="020B0604020202020204"/>
              <a:ea typeface="Arial" panose="020B0604020202020204"/>
              <a:cs typeface="Arial" panose="020B0604020202020204"/>
            </a:endParaRPr>
          </a:p>
        </p:txBody>
      </p:sp>
      <p:sp>
        <p:nvSpPr>
          <p:cNvPr id="28" name="矩形 27"/>
          <p:cNvSpPr>
            <a:spLocks noGrp="1"/>
          </p:cNvSpPr>
          <p:nvPr/>
        </p:nvSpPr>
        <p:spPr>
          <a:xfrm>
            <a:off x="2744986" y="3209330"/>
            <a:ext cx="510778" cy="251817"/>
          </a:xfrm>
          <a:prstGeom prst="rect">
            <a:avLst/>
          </a:prstGeom>
          <a:solidFill>
            <a:srgbClr val="F3F9FC"/>
          </a:solidFill>
          <a:ln w="0">
            <a:noFill/>
          </a:ln>
        </p:spPr>
      </p:sp>
      <p:sp>
        <p:nvSpPr>
          <p:cNvPr id="29" name="矩形 28"/>
          <p:cNvSpPr>
            <a:spLocks noGrp="1"/>
          </p:cNvSpPr>
          <p:nvPr/>
        </p:nvSpPr>
        <p:spPr>
          <a:xfrm>
            <a:off x="2759273" y="3223617"/>
            <a:ext cx="482203"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Phase</a:t>
            </a:r>
            <a:endParaRPr sz="1200" b="0">
              <a:solidFill>
                <a:srgbClr val="0B2450"/>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3905845" y="3200400"/>
            <a:ext cx="1100138" cy="278606"/>
          </a:xfrm>
          <a:prstGeom prst="rect">
            <a:avLst/>
          </a:prstGeom>
          <a:solidFill>
            <a:srgbClr val="F3F9FC"/>
          </a:solidFill>
          <a:ln w="0">
            <a:noFill/>
          </a:ln>
        </p:spPr>
      </p:sp>
      <p:sp>
        <p:nvSpPr>
          <p:cNvPr id="31" name="矩形 30"/>
          <p:cNvSpPr>
            <a:spLocks noGrp="1"/>
          </p:cNvSpPr>
          <p:nvPr/>
        </p:nvSpPr>
        <p:spPr>
          <a:xfrm>
            <a:off x="3920133" y="3214688"/>
            <a:ext cx="1071563" cy="25003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Thermal history</a:t>
            </a:r>
            <a:endParaRPr sz="1200" b="0">
              <a:solidFill>
                <a:srgbClr val="0B2450"/>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5879306" y="3182541"/>
            <a:ext cx="725091" cy="412552"/>
          </a:xfrm>
          <a:prstGeom prst="rect">
            <a:avLst/>
          </a:prstGeom>
          <a:solidFill>
            <a:srgbClr val="F3F9FC"/>
          </a:solidFill>
          <a:ln w="0">
            <a:noFill/>
          </a:ln>
        </p:spPr>
      </p:sp>
      <p:sp>
        <p:nvSpPr>
          <p:cNvPr id="33" name="矩形 32"/>
          <p:cNvSpPr>
            <a:spLocks noGrp="1"/>
          </p:cNvSpPr>
          <p:nvPr/>
        </p:nvSpPr>
        <p:spPr>
          <a:xfrm>
            <a:off x="5893594" y="3196828"/>
            <a:ext cx="696516" cy="383977"/>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Remaining</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material</a:t>
            </a:r>
            <a:endParaRPr sz="1050" b="0">
              <a:solidFill>
                <a:srgbClr val="0B2450"/>
              </a:solidFill>
              <a:latin typeface="Arial" panose="020B0604020202020204"/>
              <a:ea typeface="Arial" panose="020B0604020202020204"/>
              <a:cs typeface="Arial" panose="020B0604020202020204"/>
            </a:endParaRPr>
          </a:p>
        </p:txBody>
      </p:sp>
      <p:sp>
        <p:nvSpPr>
          <p:cNvPr id="34" name="矩形 33"/>
          <p:cNvSpPr>
            <a:spLocks noGrp="1"/>
          </p:cNvSpPr>
          <p:nvPr/>
        </p:nvSpPr>
        <p:spPr>
          <a:xfrm>
            <a:off x="6700838" y="2530673"/>
            <a:ext cx="1528763" cy="466130"/>
          </a:xfrm>
          <a:prstGeom prst="rect">
            <a:avLst/>
          </a:prstGeom>
          <a:solidFill>
            <a:srgbClr val="FFFFFF"/>
          </a:solidFill>
          <a:ln w="0">
            <a:noFill/>
          </a:ln>
        </p:spPr>
      </p:sp>
      <p:sp>
        <p:nvSpPr>
          <p:cNvPr id="35" name="矩形 34"/>
          <p:cNvSpPr>
            <a:spLocks noGrp="1"/>
          </p:cNvSpPr>
          <p:nvPr/>
        </p:nvSpPr>
        <p:spPr>
          <a:xfrm>
            <a:off x="6715125" y="2544961"/>
            <a:ext cx="1500188" cy="437555"/>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Replay reconstructs</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actions and observations</a:t>
            </a:r>
            <a:endParaRPr sz="1050" b="0">
              <a:solidFill>
                <a:srgbClr val="0B2450"/>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6933009" y="3271838"/>
            <a:ext cx="1189434" cy="421481"/>
          </a:xfrm>
          <a:prstGeom prst="rect">
            <a:avLst/>
          </a:prstGeom>
          <a:solidFill>
            <a:srgbClr val="FFFFFF"/>
          </a:solidFill>
          <a:ln w="0">
            <a:noFill/>
          </a:ln>
        </p:spPr>
      </p:sp>
      <p:sp>
        <p:nvSpPr>
          <p:cNvPr id="37" name="矩形 36"/>
          <p:cNvSpPr>
            <a:spLocks noGrp="1"/>
          </p:cNvSpPr>
          <p:nvPr/>
        </p:nvSpPr>
        <p:spPr>
          <a:xfrm>
            <a:off x="6947297" y="3286125"/>
            <a:ext cx="1160859" cy="39290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To scientific</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outcomes (c)</a:t>
            </a:r>
            <a:endParaRPr sz="1350" b="0">
              <a:solidFill>
                <a:srgbClr val="0B2450"/>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1530548" y="3896916"/>
            <a:ext cx="3939778" cy="251817"/>
          </a:xfrm>
          <a:prstGeom prst="rect">
            <a:avLst/>
          </a:prstGeom>
          <a:solidFill>
            <a:srgbClr val="FFFFFF"/>
          </a:solidFill>
          <a:ln w="0">
            <a:noFill/>
          </a:ln>
        </p:spPr>
      </p:sp>
      <p:sp>
        <p:nvSpPr>
          <p:cNvPr id="39" name="矩形 38"/>
          <p:cNvSpPr>
            <a:spLocks noGrp="1"/>
          </p:cNvSpPr>
          <p:nvPr/>
        </p:nvSpPr>
        <p:spPr>
          <a:xfrm>
            <a:off x="1544836" y="3911203"/>
            <a:ext cx="3911203" cy="22324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Process laws + instruments</a:t>
            </a:r>
            <a:endParaRPr sz="1350" b="0">
              <a:solidFill>
                <a:srgbClr val="0B2450"/>
              </a:solidFill>
              <a:latin typeface="Arial" panose="020B0604020202020204"/>
              <a:ea typeface="Arial" panose="020B0604020202020204"/>
              <a:cs typeface="Arial" panose="020B0604020202020204"/>
            </a:endParaRPr>
          </a:p>
        </p:txBody>
      </p:sp>
      <p:sp>
        <p:nvSpPr>
          <p:cNvPr id="40" name="矩形 39"/>
          <p:cNvSpPr>
            <a:spLocks noGrp="1"/>
          </p:cNvSpPr>
          <p:nvPr/>
        </p:nvSpPr>
        <p:spPr>
          <a:xfrm>
            <a:off x="1530548" y="4111228"/>
            <a:ext cx="4314825" cy="242888"/>
          </a:xfrm>
          <a:prstGeom prst="rect">
            <a:avLst/>
          </a:prstGeom>
          <a:solidFill>
            <a:srgbClr val="FFFFFF"/>
          </a:solidFill>
          <a:ln w="0">
            <a:noFill/>
          </a:ln>
        </p:spPr>
      </p:sp>
      <p:sp>
        <p:nvSpPr>
          <p:cNvPr id="41" name="矩形 40"/>
          <p:cNvSpPr>
            <a:spLocks noGrp="1"/>
          </p:cNvSpPr>
          <p:nvPr/>
        </p:nvSpPr>
        <p:spPr>
          <a:xfrm>
            <a:off x="1544836" y="4125516"/>
            <a:ext cx="4286250" cy="214313"/>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Laws of the physical world and laboratory instrumentation</a:t>
            </a:r>
            <a:endParaRPr sz="1200" b="0">
              <a:solidFill>
                <a:srgbClr val="0B2450"/>
              </a:solidFill>
              <a:latin typeface="Arial" panose="020B0604020202020204"/>
              <a:ea typeface="Arial" panose="020B0604020202020204"/>
              <a:cs typeface="Arial" panose="020B0604020202020204"/>
            </a:endParaRPr>
          </a:p>
        </p:txBody>
      </p:sp>
      <p:sp>
        <p:nvSpPr>
          <p:cNvPr id="42" name="矩形 41"/>
          <p:cNvSpPr>
            <a:spLocks noGrp="1"/>
          </p:cNvSpPr>
          <p:nvPr/>
        </p:nvSpPr>
        <p:spPr>
          <a:xfrm>
            <a:off x="1530548" y="4432697"/>
            <a:ext cx="4270177" cy="260747"/>
          </a:xfrm>
          <a:prstGeom prst="rect">
            <a:avLst/>
          </a:prstGeom>
          <a:solidFill>
            <a:srgbClr val="FFFFFF"/>
          </a:solidFill>
          <a:ln w="0">
            <a:noFill/>
          </a:ln>
        </p:spPr>
      </p:sp>
      <p:sp>
        <p:nvSpPr>
          <p:cNvPr id="43" name="矩形 42"/>
          <p:cNvSpPr>
            <a:spLocks noGrp="1"/>
          </p:cNvSpPr>
          <p:nvPr/>
        </p:nvSpPr>
        <p:spPr>
          <a:xfrm>
            <a:off x="1544836" y="4446984"/>
            <a:ext cx="4241602" cy="23217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Validated operations + resource accounting</a:t>
            </a:r>
            <a:endParaRPr sz="1350" b="0">
              <a:solidFill>
                <a:srgbClr val="0B2450"/>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1530548" y="4647009"/>
            <a:ext cx="4288036" cy="260747"/>
          </a:xfrm>
          <a:prstGeom prst="rect">
            <a:avLst/>
          </a:prstGeom>
          <a:solidFill>
            <a:srgbClr val="FFFFFF"/>
          </a:solidFill>
          <a:ln w="0">
            <a:noFill/>
          </a:ln>
        </p:spPr>
      </p:sp>
      <p:sp>
        <p:nvSpPr>
          <p:cNvPr id="45" name="矩形 44"/>
          <p:cNvSpPr>
            <a:spLocks noGrp="1"/>
          </p:cNvSpPr>
          <p:nvPr/>
        </p:nvSpPr>
        <p:spPr>
          <a:xfrm>
            <a:off x="1544836" y="4661297"/>
            <a:ext cx="4259461" cy="232172"/>
          </a:xfrm>
          <a:prstGeom prst="rect">
            <a:avLst/>
          </a:prstGeom>
          <a:noFill/>
          <a:ln w="0">
            <a:noFill/>
          </a:ln>
        </p:spPr>
        <p:txBody>
          <a:bodyPr wrap="none" lIns="0" tIns="0" rIns="0" bIns="0" anchor="ctr">
            <a:noAutofit/>
          </a:bodyPr>
          <a:lstStyle/>
          <a:p>
            <a:pPr algn="l">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Allowed operations, safety constraints and computational resources</a:t>
            </a:r>
            <a:endParaRPr sz="1050" b="0">
              <a:solidFill>
                <a:srgbClr val="0B2450"/>
              </a:solidFill>
              <a:latin typeface="Arial" panose="020B0604020202020204"/>
              <a:ea typeface="Arial" panose="020B0604020202020204"/>
              <a:cs typeface="Arial" panose="020B0604020202020204"/>
            </a:endParaRPr>
          </a:p>
        </p:txBody>
      </p:sp>
      <p:sp>
        <p:nvSpPr>
          <p:cNvPr id="46" name="矩形 45"/>
          <p:cNvSpPr>
            <a:spLocks noGrp="1"/>
          </p:cNvSpPr>
          <p:nvPr/>
        </p:nvSpPr>
        <p:spPr>
          <a:xfrm>
            <a:off x="1530548" y="4977408"/>
            <a:ext cx="4252317" cy="260747"/>
          </a:xfrm>
          <a:prstGeom prst="rect">
            <a:avLst/>
          </a:prstGeom>
          <a:solidFill>
            <a:srgbClr val="FFFFFF"/>
          </a:solidFill>
          <a:ln w="0">
            <a:noFill/>
          </a:ln>
        </p:spPr>
      </p:sp>
      <p:sp>
        <p:nvSpPr>
          <p:cNvPr id="47" name="矩形 46"/>
          <p:cNvSpPr>
            <a:spLocks noGrp="1"/>
          </p:cNvSpPr>
          <p:nvPr/>
        </p:nvSpPr>
        <p:spPr>
          <a:xfrm>
            <a:off x="1544836" y="4991695"/>
            <a:ext cx="4223742" cy="23217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Public task + evaluation contract</a:t>
            </a:r>
            <a:endParaRPr sz="1350" b="0">
              <a:solidFill>
                <a:srgbClr val="0B2450"/>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1530548" y="5182791"/>
            <a:ext cx="4296966" cy="233958"/>
          </a:xfrm>
          <a:prstGeom prst="rect">
            <a:avLst/>
          </a:prstGeom>
          <a:solidFill>
            <a:srgbClr val="FFFFFF"/>
          </a:solidFill>
          <a:ln w="0">
            <a:noFill/>
          </a:ln>
        </p:spPr>
      </p:sp>
      <p:sp>
        <p:nvSpPr>
          <p:cNvPr id="49" name="矩形 48"/>
          <p:cNvSpPr>
            <a:spLocks noGrp="1"/>
          </p:cNvSpPr>
          <p:nvPr/>
        </p:nvSpPr>
        <p:spPr>
          <a:xfrm>
            <a:off x="1544836" y="5197078"/>
            <a:ext cx="4268391" cy="205383"/>
          </a:xfrm>
          <a:prstGeom prst="rect">
            <a:avLst/>
          </a:prstGeom>
          <a:noFill/>
          <a:ln w="0">
            <a:noFill/>
          </a:ln>
        </p:spPr>
        <p:txBody>
          <a:bodyPr wrap="none" lIns="0" tIns="0" rIns="0" bIns="0" anchor="ctr">
            <a:noAutofit/>
          </a:bodyPr>
          <a:lstStyle/>
          <a:p>
            <a:pPr algn="l">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Task specification, evaluation protocol and release of observations</a:t>
            </a:r>
            <a:endParaRPr sz="1050" b="0">
              <a:solidFill>
                <a:srgbClr val="0B2450"/>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6629400" y="4138017"/>
            <a:ext cx="1493044" cy="466130"/>
          </a:xfrm>
          <a:prstGeom prst="rect">
            <a:avLst/>
          </a:prstGeom>
          <a:solidFill>
            <a:srgbClr val="FFFFFF"/>
          </a:solidFill>
          <a:ln w="0">
            <a:noFill/>
          </a:ln>
        </p:spPr>
      </p:sp>
      <p:sp>
        <p:nvSpPr>
          <p:cNvPr id="51" name="矩形 50"/>
          <p:cNvSpPr>
            <a:spLocks noGrp="1"/>
          </p:cNvSpPr>
          <p:nvPr/>
        </p:nvSpPr>
        <p:spPr>
          <a:xfrm>
            <a:off x="6643688" y="4152305"/>
            <a:ext cx="1464469" cy="437555"/>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Private world</a:t>
            </a:r>
            <a:endParaRPr sz="1350" b="0">
              <a:solidFill>
                <a:srgbClr val="0B2450"/>
              </a:solidFill>
              <a:latin typeface="Arial" panose="020B0604020202020204"/>
              <a:ea typeface="Arial" panose="020B0604020202020204"/>
              <a:cs typeface="Arial" panose="020B0604020202020204"/>
            </a:endParaRPr>
          </a:p>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parameters</a:t>
            </a:r>
            <a:endParaRPr sz="1350" b="0">
              <a:solidFill>
                <a:srgbClr val="0B2450"/>
              </a:solidFill>
              <a:latin typeface="Arial" panose="020B0604020202020204"/>
              <a:ea typeface="Arial" panose="020B0604020202020204"/>
              <a:cs typeface="Arial" panose="020B0604020202020204"/>
            </a:endParaRPr>
          </a:p>
        </p:txBody>
      </p:sp>
      <p:sp>
        <p:nvSpPr>
          <p:cNvPr id="52" name="矩形 51"/>
          <p:cNvSpPr>
            <a:spLocks noGrp="1"/>
          </p:cNvSpPr>
          <p:nvPr/>
        </p:nvSpPr>
        <p:spPr>
          <a:xfrm>
            <a:off x="6084689" y="4647009"/>
            <a:ext cx="2046684" cy="260747"/>
          </a:xfrm>
          <a:prstGeom prst="rect">
            <a:avLst/>
          </a:prstGeom>
          <a:solidFill>
            <a:srgbClr val="FFFFFF"/>
          </a:solidFill>
          <a:ln w="0">
            <a:noFill/>
          </a:ln>
        </p:spPr>
      </p:sp>
      <p:sp>
        <p:nvSpPr>
          <p:cNvPr id="53" name="矩形 52"/>
          <p:cNvSpPr>
            <a:spLocks noGrp="1"/>
          </p:cNvSpPr>
          <p:nvPr/>
        </p:nvSpPr>
        <p:spPr>
          <a:xfrm>
            <a:off x="6098977" y="4661297"/>
            <a:ext cx="2018109"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Evaluator access only</a:t>
            </a:r>
            <a:endParaRPr sz="1350" b="0">
              <a:solidFill>
                <a:srgbClr val="0B2450"/>
              </a:solidFill>
              <a:latin typeface="Arial" panose="020B0604020202020204"/>
              <a:ea typeface="Arial" panose="020B0604020202020204"/>
              <a:cs typeface="Arial" panose="020B0604020202020204"/>
            </a:endParaRPr>
          </a:p>
        </p:txBody>
      </p:sp>
      <p:sp>
        <p:nvSpPr>
          <p:cNvPr id="54" name="矩形 53"/>
          <p:cNvSpPr>
            <a:spLocks noGrp="1"/>
          </p:cNvSpPr>
          <p:nvPr/>
        </p:nvSpPr>
        <p:spPr>
          <a:xfrm>
            <a:off x="6031111" y="4897041"/>
            <a:ext cx="2100263" cy="260747"/>
          </a:xfrm>
          <a:prstGeom prst="rect">
            <a:avLst/>
          </a:prstGeom>
          <a:solidFill>
            <a:srgbClr val="FFFFFF"/>
          </a:solidFill>
          <a:ln w="0">
            <a:noFill/>
          </a:ln>
        </p:spPr>
      </p:sp>
      <p:sp>
        <p:nvSpPr>
          <p:cNvPr id="55" name="矩形 54"/>
          <p:cNvSpPr>
            <a:spLocks noGrp="1"/>
          </p:cNvSpPr>
          <p:nvPr/>
        </p:nvSpPr>
        <p:spPr>
          <a:xfrm>
            <a:off x="6045398" y="4911328"/>
            <a:ext cx="2071688"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Not available to the agent</a:t>
            </a:r>
            <a:endParaRPr sz="1350" b="0">
              <a:solidFill>
                <a:srgbClr val="0B2450"/>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223242" y="5706070"/>
            <a:ext cx="267891" cy="303609"/>
          </a:xfrm>
          <a:prstGeom prst="rect">
            <a:avLst/>
          </a:prstGeom>
          <a:solidFill>
            <a:srgbClr val="FFFFFF"/>
          </a:solidFill>
          <a:ln w="0">
            <a:noFill/>
          </a:ln>
        </p:spPr>
      </p:sp>
      <p:sp>
        <p:nvSpPr>
          <p:cNvPr id="57" name="矩形 56"/>
          <p:cNvSpPr>
            <a:spLocks noGrp="1"/>
          </p:cNvSpPr>
          <p:nvPr/>
        </p:nvSpPr>
        <p:spPr>
          <a:xfrm>
            <a:off x="223242" y="5706070"/>
            <a:ext cx="26789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b</a:t>
            </a:r>
            <a:endParaRPr sz="2250" b="1">
              <a:solidFill>
                <a:srgbClr val="0B2450"/>
              </a:solidFill>
              <a:latin typeface="Arial" panose="020B0604020202020204"/>
              <a:ea typeface="Arial" panose="020B0604020202020204"/>
              <a:cs typeface="Arial" panose="020B0604020202020204"/>
            </a:endParaRPr>
          </a:p>
        </p:txBody>
      </p:sp>
      <p:sp>
        <p:nvSpPr>
          <p:cNvPr id="58" name="矩形 57"/>
          <p:cNvSpPr>
            <a:spLocks noGrp="1"/>
          </p:cNvSpPr>
          <p:nvPr/>
        </p:nvSpPr>
        <p:spPr>
          <a:xfrm>
            <a:off x="717947" y="5709642"/>
            <a:ext cx="7350919" cy="314325"/>
          </a:xfrm>
          <a:prstGeom prst="rect">
            <a:avLst/>
          </a:prstGeom>
          <a:solidFill>
            <a:srgbClr val="FFFFFF"/>
          </a:solidFill>
          <a:ln w="0">
            <a:noFill/>
          </a:ln>
        </p:spPr>
      </p:sp>
      <p:sp>
        <p:nvSpPr>
          <p:cNvPr id="59" name="矩形 58"/>
          <p:cNvSpPr>
            <a:spLocks noGrp="1"/>
          </p:cNvSpPr>
          <p:nvPr/>
        </p:nvSpPr>
        <p:spPr>
          <a:xfrm>
            <a:off x="732234" y="5723930"/>
            <a:ext cx="7322344"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Matched research conditions</a:t>
            </a:r>
            <a:endParaRPr sz="2025" b="1">
              <a:solidFill>
                <a:srgbClr val="0B2450"/>
              </a:solidFill>
              <a:latin typeface="Arial" panose="020B0604020202020204"/>
              <a:ea typeface="Arial" panose="020B0604020202020204"/>
              <a:cs typeface="Arial" panose="020B0604020202020204"/>
            </a:endParaRPr>
          </a:p>
        </p:txBody>
      </p:sp>
      <p:sp>
        <p:nvSpPr>
          <p:cNvPr id="60" name="矩形 59"/>
          <p:cNvSpPr>
            <a:spLocks noGrp="1"/>
          </p:cNvSpPr>
          <p:nvPr/>
        </p:nvSpPr>
        <p:spPr>
          <a:xfrm>
            <a:off x="530423" y="6093619"/>
            <a:ext cx="653653" cy="251817"/>
          </a:xfrm>
          <a:prstGeom prst="rect">
            <a:avLst/>
          </a:prstGeom>
          <a:solidFill>
            <a:srgbClr val="FFFFFF"/>
          </a:solidFill>
          <a:ln w="0">
            <a:noFill/>
          </a:ln>
        </p:spPr>
      </p:sp>
      <p:sp>
        <p:nvSpPr>
          <p:cNvPr id="61" name="矩形 60"/>
          <p:cNvSpPr>
            <a:spLocks noGrp="1"/>
          </p:cNvSpPr>
          <p:nvPr/>
        </p:nvSpPr>
        <p:spPr>
          <a:xfrm>
            <a:off x="544711" y="6107906"/>
            <a:ext cx="625078"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Opaque</a:t>
            </a:r>
            <a:endParaRPr sz="1350" b="0">
              <a:solidFill>
                <a:srgbClr val="0B2450"/>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1521619" y="6093619"/>
            <a:ext cx="671513" cy="251817"/>
          </a:xfrm>
          <a:prstGeom prst="rect">
            <a:avLst/>
          </a:prstGeom>
          <a:solidFill>
            <a:srgbClr val="FFFFFF"/>
          </a:solidFill>
          <a:ln w="0">
            <a:noFill/>
          </a:ln>
        </p:spPr>
      </p:sp>
      <p:sp>
        <p:nvSpPr>
          <p:cNvPr id="63" name="矩形 62"/>
          <p:cNvSpPr>
            <a:spLocks noGrp="1"/>
          </p:cNvSpPr>
          <p:nvPr/>
        </p:nvSpPr>
        <p:spPr>
          <a:xfrm>
            <a:off x="1535906" y="6107906"/>
            <a:ext cx="642938"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Aligned</a:t>
            </a:r>
            <a:endParaRPr sz="1350" b="0">
              <a:solidFill>
                <a:srgbClr val="0B2450"/>
              </a:solidFill>
              <a:latin typeface="Arial" panose="020B0604020202020204"/>
              <a:ea typeface="Arial" panose="020B0604020202020204"/>
              <a:cs typeface="Arial" panose="020B0604020202020204"/>
            </a:endParaRPr>
          </a:p>
        </p:txBody>
      </p:sp>
      <p:sp>
        <p:nvSpPr>
          <p:cNvPr id="64" name="矩形 63"/>
          <p:cNvSpPr>
            <a:spLocks noGrp="1"/>
          </p:cNvSpPr>
          <p:nvPr/>
        </p:nvSpPr>
        <p:spPr>
          <a:xfrm>
            <a:off x="2378869" y="6093619"/>
            <a:ext cx="814388" cy="251817"/>
          </a:xfrm>
          <a:prstGeom prst="rect">
            <a:avLst/>
          </a:prstGeom>
          <a:solidFill>
            <a:srgbClr val="FFFFFF"/>
          </a:solidFill>
          <a:ln w="0">
            <a:noFill/>
          </a:ln>
        </p:spPr>
      </p:sp>
      <p:sp>
        <p:nvSpPr>
          <p:cNvPr id="65" name="矩形 64"/>
          <p:cNvSpPr>
            <a:spLocks noGrp="1"/>
          </p:cNvSpPr>
          <p:nvPr/>
        </p:nvSpPr>
        <p:spPr>
          <a:xfrm>
            <a:off x="2393156" y="6107906"/>
            <a:ext cx="785813"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MisIndexed</a:t>
            </a:r>
            <a:endParaRPr sz="1200" b="0">
              <a:solidFill>
                <a:srgbClr val="0B2450"/>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1021556" y="7111603"/>
            <a:ext cx="2162770" cy="260747"/>
          </a:xfrm>
          <a:prstGeom prst="rect">
            <a:avLst/>
          </a:prstGeom>
          <a:solidFill>
            <a:srgbClr val="FFFFFF"/>
          </a:solidFill>
          <a:ln w="0">
            <a:noFill/>
          </a:ln>
        </p:spPr>
      </p:sp>
      <p:sp>
        <p:nvSpPr>
          <p:cNvPr id="67" name="矩形 66"/>
          <p:cNvSpPr>
            <a:spLocks noGrp="1"/>
          </p:cNvSpPr>
          <p:nvPr/>
        </p:nvSpPr>
        <p:spPr>
          <a:xfrm>
            <a:off x="1035844" y="7125891"/>
            <a:ext cx="2134195"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Same physical world</a:t>
            </a:r>
            <a:endParaRPr sz="1350" b="0">
              <a:solidFill>
                <a:srgbClr val="0B2450"/>
              </a:solidFill>
              <a:latin typeface="Arial" panose="020B0604020202020204"/>
              <a:ea typeface="Arial" panose="020B0604020202020204"/>
              <a:cs typeface="Arial" panose="020B0604020202020204"/>
            </a:endParaRPr>
          </a:p>
        </p:txBody>
      </p:sp>
      <p:sp>
        <p:nvSpPr>
          <p:cNvPr id="68" name="矩形 67"/>
          <p:cNvSpPr>
            <a:spLocks noGrp="1"/>
          </p:cNvSpPr>
          <p:nvPr/>
        </p:nvSpPr>
        <p:spPr>
          <a:xfrm>
            <a:off x="325041" y="7325916"/>
            <a:ext cx="3136106" cy="260747"/>
          </a:xfrm>
          <a:prstGeom prst="rect">
            <a:avLst/>
          </a:prstGeom>
          <a:solidFill>
            <a:srgbClr val="FFFFFF"/>
          </a:solidFill>
          <a:ln w="0">
            <a:noFill/>
          </a:ln>
        </p:spPr>
      </p:sp>
      <p:sp>
        <p:nvSpPr>
          <p:cNvPr id="69" name="矩形 68"/>
          <p:cNvSpPr>
            <a:spLocks noGrp="1"/>
          </p:cNvSpPr>
          <p:nvPr/>
        </p:nvSpPr>
        <p:spPr>
          <a:xfrm>
            <a:off x="339328" y="7340203"/>
            <a:ext cx="3107531" cy="23217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Different information; identical underlying system</a:t>
            </a:r>
            <a:endParaRPr sz="1050" b="0">
              <a:solidFill>
                <a:srgbClr val="0B2450"/>
              </a:solidFill>
              <a:latin typeface="Arial" panose="020B0604020202020204"/>
              <a:ea typeface="Arial" panose="020B0604020202020204"/>
              <a:cs typeface="Arial" panose="020B0604020202020204"/>
            </a:endParaRPr>
          </a:p>
        </p:txBody>
      </p:sp>
      <p:sp>
        <p:nvSpPr>
          <p:cNvPr id="70" name="矩形 69"/>
          <p:cNvSpPr>
            <a:spLocks noGrp="1"/>
          </p:cNvSpPr>
          <p:nvPr/>
        </p:nvSpPr>
        <p:spPr>
          <a:xfrm>
            <a:off x="3655814" y="5968603"/>
            <a:ext cx="2921794" cy="269677"/>
          </a:xfrm>
          <a:prstGeom prst="rect">
            <a:avLst/>
          </a:prstGeom>
          <a:solidFill>
            <a:srgbClr val="FFFFFF"/>
          </a:solidFill>
          <a:ln w="0">
            <a:noFill/>
          </a:ln>
        </p:spPr>
      </p:sp>
      <p:sp>
        <p:nvSpPr>
          <p:cNvPr id="71" name="矩形 70"/>
          <p:cNvSpPr>
            <a:spLocks noGrp="1"/>
          </p:cNvSpPr>
          <p:nvPr/>
        </p:nvSpPr>
        <p:spPr>
          <a:xfrm>
            <a:off x="3670102" y="5982891"/>
            <a:ext cx="2893219" cy="24110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Experimental + computational resources</a:t>
            </a:r>
            <a:endParaRPr sz="1200" b="0">
              <a:solidFill>
                <a:srgbClr val="0B2450"/>
              </a:solidFill>
              <a:latin typeface="Arial" panose="020B0604020202020204"/>
              <a:ea typeface="Arial" panose="020B0604020202020204"/>
              <a:cs typeface="Arial" panose="020B0604020202020204"/>
            </a:endParaRPr>
          </a:p>
        </p:txBody>
      </p:sp>
      <p:sp>
        <p:nvSpPr>
          <p:cNvPr id="72" name="矩形 71"/>
          <p:cNvSpPr>
            <a:spLocks noGrp="1"/>
          </p:cNvSpPr>
          <p:nvPr/>
        </p:nvSpPr>
        <p:spPr>
          <a:xfrm>
            <a:off x="4298752" y="6191845"/>
            <a:ext cx="1993106" cy="242888"/>
          </a:xfrm>
          <a:prstGeom prst="rect">
            <a:avLst/>
          </a:prstGeom>
          <a:solidFill>
            <a:srgbClr val="FFFFFF"/>
          </a:solidFill>
          <a:ln w="0">
            <a:noFill/>
          </a:ln>
        </p:spPr>
      </p:sp>
      <p:sp>
        <p:nvSpPr>
          <p:cNvPr id="73" name="矩形 72"/>
          <p:cNvSpPr>
            <a:spLocks noGrp="1"/>
          </p:cNvSpPr>
          <p:nvPr/>
        </p:nvSpPr>
        <p:spPr>
          <a:xfrm>
            <a:off x="4313039" y="6206133"/>
            <a:ext cx="1964531" cy="2143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Independent sessions</a:t>
            </a:r>
            <a:endParaRPr sz="1350" b="0">
              <a:solidFill>
                <a:srgbClr val="0B2450"/>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3789759" y="7031236"/>
            <a:ext cx="885825" cy="278606"/>
          </a:xfrm>
          <a:prstGeom prst="rect">
            <a:avLst/>
          </a:prstGeom>
          <a:solidFill>
            <a:srgbClr val="FFFFFF"/>
          </a:solidFill>
          <a:ln w="0">
            <a:noFill/>
          </a:ln>
        </p:spPr>
      </p:sp>
      <p:sp>
        <p:nvSpPr>
          <p:cNvPr id="75" name="矩形 74"/>
          <p:cNvSpPr>
            <a:spLocks noGrp="1"/>
          </p:cNvSpPr>
          <p:nvPr/>
        </p:nvSpPr>
        <p:spPr>
          <a:xfrm>
            <a:off x="3804047" y="7045523"/>
            <a:ext cx="857250" cy="250031"/>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12 batches</a:t>
            </a:r>
            <a:endParaRPr sz="1350" b="0">
              <a:solidFill>
                <a:srgbClr val="0B2450"/>
              </a:solidFill>
              <a:latin typeface="Arial" panose="020B0604020202020204"/>
              <a:ea typeface="Arial" panose="020B0604020202020204"/>
              <a:cs typeface="Arial" panose="020B0604020202020204"/>
            </a:endParaRPr>
          </a:p>
        </p:txBody>
      </p:sp>
      <p:sp>
        <p:nvSpPr>
          <p:cNvPr id="76" name="矩形 75"/>
          <p:cNvSpPr>
            <a:spLocks noGrp="1"/>
          </p:cNvSpPr>
          <p:nvPr/>
        </p:nvSpPr>
        <p:spPr>
          <a:xfrm>
            <a:off x="5173861" y="7031236"/>
            <a:ext cx="1037630" cy="278606"/>
          </a:xfrm>
          <a:prstGeom prst="rect">
            <a:avLst/>
          </a:prstGeom>
          <a:solidFill>
            <a:srgbClr val="FFFFFF"/>
          </a:solidFill>
          <a:ln w="0">
            <a:noFill/>
          </a:ln>
        </p:spPr>
      </p:sp>
      <p:sp>
        <p:nvSpPr>
          <p:cNvPr id="77" name="矩形 76"/>
          <p:cNvSpPr>
            <a:spLocks noGrp="1"/>
          </p:cNvSpPr>
          <p:nvPr/>
        </p:nvSpPr>
        <p:spPr>
          <a:xfrm>
            <a:off x="5188148" y="7045523"/>
            <a:ext cx="1009055" cy="250031"/>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24 batches</a:t>
            </a:r>
            <a:endParaRPr sz="1350" b="0">
              <a:solidFill>
                <a:srgbClr val="0B2450"/>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6861572" y="5977533"/>
            <a:ext cx="1269802" cy="439341"/>
          </a:xfrm>
          <a:prstGeom prst="rect">
            <a:avLst/>
          </a:prstGeom>
          <a:solidFill>
            <a:srgbClr val="FFFFFF"/>
          </a:solidFill>
          <a:ln w="0">
            <a:noFill/>
          </a:ln>
        </p:spPr>
      </p:sp>
      <p:sp>
        <p:nvSpPr>
          <p:cNvPr id="79" name="矩形 78"/>
          <p:cNvSpPr>
            <a:spLocks noGrp="1"/>
          </p:cNvSpPr>
          <p:nvPr/>
        </p:nvSpPr>
        <p:spPr>
          <a:xfrm>
            <a:off x="6875859" y="5991820"/>
            <a:ext cx="1241227"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Five worlds</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per study block</a:t>
            </a:r>
            <a:endParaRPr sz="1350" b="0">
              <a:solidFill>
                <a:srgbClr val="0B2450"/>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8465344" y="142875"/>
            <a:ext cx="267891" cy="303609"/>
          </a:xfrm>
          <a:prstGeom prst="rect">
            <a:avLst/>
          </a:prstGeom>
          <a:solidFill>
            <a:srgbClr val="FFFFFF"/>
          </a:solidFill>
          <a:ln w="0">
            <a:noFill/>
          </a:ln>
        </p:spPr>
      </p:sp>
      <p:sp>
        <p:nvSpPr>
          <p:cNvPr id="81" name="矩形 80"/>
          <p:cNvSpPr>
            <a:spLocks noGrp="1"/>
          </p:cNvSpPr>
          <p:nvPr/>
        </p:nvSpPr>
        <p:spPr>
          <a:xfrm>
            <a:off x="8465344" y="142875"/>
            <a:ext cx="26789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c</a:t>
            </a:r>
            <a:endParaRPr sz="2250" b="1">
              <a:solidFill>
                <a:srgbClr val="0B2450"/>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8870752" y="137517"/>
            <a:ext cx="4564856" cy="314325"/>
          </a:xfrm>
          <a:prstGeom prst="rect">
            <a:avLst/>
          </a:prstGeom>
          <a:solidFill>
            <a:srgbClr val="FFFFFF"/>
          </a:solidFill>
          <a:ln w="0">
            <a:noFill/>
          </a:ln>
        </p:spPr>
      </p:sp>
      <p:sp>
        <p:nvSpPr>
          <p:cNvPr id="83" name="矩形 82"/>
          <p:cNvSpPr>
            <a:spLocks noGrp="1"/>
          </p:cNvSpPr>
          <p:nvPr/>
        </p:nvSpPr>
        <p:spPr>
          <a:xfrm>
            <a:off x="8885039" y="151805"/>
            <a:ext cx="4536281"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Separate scientific outcomes</a:t>
            </a:r>
            <a:endParaRPr sz="2025" b="1">
              <a:solidFill>
                <a:srgbClr val="0B2450"/>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10683478" y="682228"/>
            <a:ext cx="1635919" cy="457200"/>
          </a:xfrm>
          <a:prstGeom prst="rect">
            <a:avLst/>
          </a:prstGeom>
          <a:solidFill>
            <a:srgbClr val="FFFFFF"/>
          </a:solidFill>
          <a:ln w="0">
            <a:noFill/>
          </a:ln>
        </p:spPr>
      </p:sp>
      <p:sp>
        <p:nvSpPr>
          <p:cNvPr id="85" name="矩形 84"/>
          <p:cNvSpPr>
            <a:spLocks noGrp="1"/>
          </p:cNvSpPr>
          <p:nvPr/>
        </p:nvSpPr>
        <p:spPr>
          <a:xfrm>
            <a:off x="10697766" y="696516"/>
            <a:ext cx="1607344" cy="428625"/>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Full research</a:t>
            </a:r>
            <a:endParaRPr sz="1350" b="0">
              <a:solidFill>
                <a:srgbClr val="0B2450"/>
              </a:solidFill>
              <a:latin typeface="Arial" panose="020B0604020202020204"/>
              <a:ea typeface="Arial" panose="020B0604020202020204"/>
              <a:cs typeface="Arial" panose="020B0604020202020204"/>
            </a:endParaRPr>
          </a:p>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history</a:t>
            </a:r>
            <a:endParaRPr sz="1350" b="0">
              <a:solidFill>
                <a:srgbClr val="0B2450"/>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11522869" y="1092994"/>
            <a:ext cx="2010966" cy="269677"/>
          </a:xfrm>
          <a:prstGeom prst="rect">
            <a:avLst/>
          </a:prstGeom>
          <a:solidFill>
            <a:srgbClr val="FFFFFF"/>
          </a:solidFill>
          <a:ln w="0">
            <a:noFill/>
          </a:ln>
        </p:spPr>
      </p:sp>
      <p:sp>
        <p:nvSpPr>
          <p:cNvPr id="87" name="矩形 86"/>
          <p:cNvSpPr>
            <a:spLocks noGrp="1"/>
          </p:cNvSpPr>
          <p:nvPr/>
        </p:nvSpPr>
        <p:spPr>
          <a:xfrm>
            <a:off x="11537156" y="1107281"/>
            <a:ext cx="1982391" cy="24110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Full original context retained</a:t>
            </a:r>
            <a:endParaRPr sz="1200" b="0">
              <a:solidFill>
                <a:srgbClr val="0B2450"/>
              </a:solidFill>
              <a:latin typeface="Arial" panose="020B0604020202020204"/>
              <a:ea typeface="Arial" panose="020B0604020202020204"/>
              <a:cs typeface="Arial" panose="020B0604020202020204"/>
            </a:endParaRPr>
          </a:p>
        </p:txBody>
      </p:sp>
      <p:sp>
        <p:nvSpPr>
          <p:cNvPr id="88" name="矩形 87"/>
          <p:cNvSpPr>
            <a:spLocks noGrp="1"/>
          </p:cNvSpPr>
          <p:nvPr/>
        </p:nvSpPr>
        <p:spPr>
          <a:xfrm>
            <a:off x="8540353" y="1914525"/>
            <a:ext cx="2082403" cy="278606"/>
          </a:xfrm>
          <a:prstGeom prst="rect">
            <a:avLst/>
          </a:prstGeom>
          <a:solidFill>
            <a:srgbClr val="EFFAFA"/>
          </a:solidFill>
          <a:ln w="0">
            <a:noFill/>
          </a:ln>
        </p:spPr>
      </p:sp>
      <p:sp>
        <p:nvSpPr>
          <p:cNvPr id="89" name="矩形 88"/>
          <p:cNvSpPr>
            <a:spLocks noGrp="1"/>
          </p:cNvSpPr>
          <p:nvPr/>
        </p:nvSpPr>
        <p:spPr>
          <a:xfrm>
            <a:off x="8554641" y="1928813"/>
            <a:ext cx="2053828" cy="250031"/>
          </a:xfrm>
          <a:prstGeom prst="rect">
            <a:avLst/>
          </a:prstGeom>
          <a:noFill/>
          <a:ln w="0">
            <a:noFill/>
          </a:ln>
        </p:spPr>
        <p:txBody>
          <a:bodyPr wrap="none" lIns="0" tIns="0" rIns="0" bIns="0" anchor="ctr">
            <a:noAutofit/>
          </a:bodyPr>
          <a:lstStyle/>
          <a:p>
            <a:pPr algn="ctr">
              <a:defRPr sz="1350" b="0">
                <a:solidFill>
                  <a:srgbClr val="087B83"/>
                </a:solidFill>
                <a:latin typeface="Arial" panose="020B0604020202020204"/>
                <a:ea typeface="Arial" panose="020B0604020202020204"/>
                <a:cs typeface="Arial" panose="020B0604020202020204"/>
              </a:defRPr>
            </a:pPr>
            <a:r>
              <a:rPr sz="1350" b="0">
                <a:solidFill>
                  <a:srgbClr val="087B83"/>
                </a:solidFill>
                <a:latin typeface="Arial" panose="020B0604020202020204"/>
                <a:ea typeface="Arial" panose="020B0604020202020204"/>
                <a:cs typeface="Arial" panose="020B0604020202020204"/>
              </a:rPr>
              <a:t>Operational achievement</a:t>
            </a:r>
            <a:endParaRPr sz="1350" b="0">
              <a:solidFill>
                <a:srgbClr val="087B83"/>
              </a:solidFill>
              <a:latin typeface="Arial" panose="020B0604020202020204"/>
              <a:ea typeface="Arial" panose="020B0604020202020204"/>
              <a:cs typeface="Arial" panose="020B0604020202020204"/>
            </a:endParaRPr>
          </a:p>
        </p:txBody>
      </p:sp>
      <p:sp>
        <p:nvSpPr>
          <p:cNvPr id="90" name="矩形 89"/>
          <p:cNvSpPr>
            <a:spLocks noGrp="1"/>
          </p:cNvSpPr>
          <p:nvPr/>
        </p:nvSpPr>
        <p:spPr>
          <a:xfrm>
            <a:off x="8540353" y="2173486"/>
            <a:ext cx="2082403" cy="457200"/>
          </a:xfrm>
          <a:prstGeom prst="rect">
            <a:avLst/>
          </a:prstGeom>
          <a:solidFill>
            <a:srgbClr val="EFFAFA"/>
          </a:solidFill>
          <a:ln w="0">
            <a:noFill/>
          </a:ln>
        </p:spPr>
      </p:sp>
      <p:sp>
        <p:nvSpPr>
          <p:cNvPr id="91" name="矩形 90"/>
          <p:cNvSpPr>
            <a:spLocks noGrp="1"/>
          </p:cNvSpPr>
          <p:nvPr/>
        </p:nvSpPr>
        <p:spPr>
          <a:xfrm>
            <a:off x="8554641" y="2187773"/>
            <a:ext cx="2053828" cy="428625"/>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Does the recommendation</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meet the goal?</a:t>
            </a:r>
            <a:endParaRPr sz="1350" b="0">
              <a:solidFill>
                <a:srgbClr val="0B2450"/>
              </a:solidFill>
              <a:latin typeface="Arial" panose="020B0604020202020204"/>
              <a:ea typeface="Arial" panose="020B0604020202020204"/>
              <a:cs typeface="Arial" panose="020B0604020202020204"/>
            </a:endParaRPr>
          </a:p>
        </p:txBody>
      </p:sp>
      <p:sp>
        <p:nvSpPr>
          <p:cNvPr id="92" name="矩形 91"/>
          <p:cNvSpPr>
            <a:spLocks noGrp="1"/>
          </p:cNvSpPr>
          <p:nvPr/>
        </p:nvSpPr>
        <p:spPr>
          <a:xfrm>
            <a:off x="10799564" y="1914525"/>
            <a:ext cx="2698552" cy="278606"/>
          </a:xfrm>
          <a:prstGeom prst="rect">
            <a:avLst/>
          </a:prstGeom>
          <a:solidFill>
            <a:srgbClr val="EDF6FF"/>
          </a:solidFill>
          <a:ln w="0">
            <a:noFill/>
          </a:ln>
        </p:spPr>
      </p:sp>
      <p:sp>
        <p:nvSpPr>
          <p:cNvPr id="93" name="矩形 92"/>
          <p:cNvSpPr>
            <a:spLocks noGrp="1"/>
          </p:cNvSpPr>
          <p:nvPr/>
        </p:nvSpPr>
        <p:spPr>
          <a:xfrm>
            <a:off x="10813852" y="1928813"/>
            <a:ext cx="2669977" cy="250031"/>
          </a:xfrm>
          <a:prstGeom prst="rect">
            <a:avLst/>
          </a:prstGeom>
          <a:noFill/>
          <a:ln w="0">
            <a:noFill/>
          </a:ln>
        </p:spPr>
        <p:txBody>
          <a:bodyPr wrap="none" lIns="0" tIns="0" rIns="0" bIns="0" anchor="ctr">
            <a:noAutofit/>
          </a:bodyPr>
          <a:lstStyle/>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Predictive generalization</a:t>
            </a:r>
            <a:endParaRPr sz="1350" b="0">
              <a:solidFill>
                <a:srgbClr val="005CED"/>
              </a:solidFill>
              <a:latin typeface="Arial" panose="020B0604020202020204"/>
              <a:ea typeface="Arial" panose="020B0604020202020204"/>
              <a:cs typeface="Arial" panose="020B0604020202020204"/>
            </a:endParaRPr>
          </a:p>
        </p:txBody>
      </p:sp>
      <p:sp>
        <p:nvSpPr>
          <p:cNvPr id="94" name="矩形 93"/>
          <p:cNvSpPr>
            <a:spLocks noGrp="1"/>
          </p:cNvSpPr>
          <p:nvPr/>
        </p:nvSpPr>
        <p:spPr>
          <a:xfrm>
            <a:off x="10924580" y="2173486"/>
            <a:ext cx="2528888" cy="430411"/>
          </a:xfrm>
          <a:prstGeom prst="rect">
            <a:avLst/>
          </a:prstGeom>
          <a:solidFill>
            <a:srgbClr val="EDF6FF"/>
          </a:solidFill>
          <a:ln w="0">
            <a:noFill/>
          </a:ln>
        </p:spPr>
      </p:sp>
      <p:sp>
        <p:nvSpPr>
          <p:cNvPr id="95" name="矩形 94"/>
          <p:cNvSpPr>
            <a:spLocks noGrp="1"/>
          </p:cNvSpPr>
          <p:nvPr/>
        </p:nvSpPr>
        <p:spPr>
          <a:xfrm>
            <a:off x="10938867" y="2187773"/>
            <a:ext cx="2500313" cy="40183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Do learned relationships hold</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under new conditions?</a:t>
            </a:r>
            <a:endParaRPr sz="1350" b="0">
              <a:solidFill>
                <a:srgbClr val="0B2450"/>
              </a:solidFill>
              <a:latin typeface="Arial" panose="020B0604020202020204"/>
              <a:ea typeface="Arial" panose="020B0604020202020204"/>
              <a:cs typeface="Arial" panose="020B0604020202020204"/>
            </a:endParaRPr>
          </a:p>
        </p:txBody>
      </p:sp>
      <p:sp>
        <p:nvSpPr>
          <p:cNvPr id="96" name="矩形 95"/>
          <p:cNvSpPr>
            <a:spLocks noGrp="1"/>
          </p:cNvSpPr>
          <p:nvPr/>
        </p:nvSpPr>
        <p:spPr>
          <a:xfrm>
            <a:off x="8513564" y="3548658"/>
            <a:ext cx="1046559" cy="457200"/>
          </a:xfrm>
          <a:prstGeom prst="rect">
            <a:avLst/>
          </a:prstGeom>
          <a:solidFill>
            <a:srgbClr val="EFFAFA"/>
          </a:solidFill>
          <a:ln w="0">
            <a:noFill/>
          </a:ln>
        </p:spPr>
      </p:sp>
      <p:sp>
        <p:nvSpPr>
          <p:cNvPr id="97" name="矩形 96"/>
          <p:cNvSpPr>
            <a:spLocks noGrp="1"/>
          </p:cNvSpPr>
          <p:nvPr/>
        </p:nvSpPr>
        <p:spPr>
          <a:xfrm>
            <a:off x="8527852" y="3562945"/>
            <a:ext cx="1017984" cy="428625"/>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Seal</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recommendation</a:t>
            </a:r>
            <a:endParaRPr sz="1050" b="0">
              <a:solidFill>
                <a:srgbClr val="0B2450"/>
              </a:solidFill>
              <a:latin typeface="Arial" panose="020B0604020202020204"/>
              <a:ea typeface="Arial" panose="020B0604020202020204"/>
              <a:cs typeface="Arial" panose="020B0604020202020204"/>
            </a:endParaRPr>
          </a:p>
        </p:txBody>
      </p:sp>
      <p:sp>
        <p:nvSpPr>
          <p:cNvPr id="98" name="矩形 97"/>
          <p:cNvSpPr>
            <a:spLocks noGrp="1"/>
          </p:cNvSpPr>
          <p:nvPr/>
        </p:nvSpPr>
        <p:spPr>
          <a:xfrm>
            <a:off x="9602986" y="3548658"/>
            <a:ext cx="1001911" cy="457200"/>
          </a:xfrm>
          <a:prstGeom prst="rect">
            <a:avLst/>
          </a:prstGeom>
          <a:solidFill>
            <a:srgbClr val="EFFAFA"/>
          </a:solidFill>
          <a:ln w="0">
            <a:noFill/>
          </a:ln>
        </p:spPr>
      </p:sp>
      <p:sp>
        <p:nvSpPr>
          <p:cNvPr id="99" name="矩形 98"/>
          <p:cNvSpPr>
            <a:spLocks noGrp="1"/>
          </p:cNvSpPr>
          <p:nvPr/>
        </p:nvSpPr>
        <p:spPr>
          <a:xfrm>
            <a:off x="9617273" y="3562945"/>
            <a:ext cx="973336" cy="428625"/>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Independent</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retest</a:t>
            </a:r>
            <a:endParaRPr sz="1200" b="0">
              <a:solidFill>
                <a:srgbClr val="0B2450"/>
              </a:solidFill>
              <a:latin typeface="Arial" panose="020B0604020202020204"/>
              <a:ea typeface="Arial" panose="020B0604020202020204"/>
              <a:cs typeface="Arial" panose="020B0604020202020204"/>
            </a:endParaRPr>
          </a:p>
        </p:txBody>
      </p:sp>
      <p:sp>
        <p:nvSpPr>
          <p:cNvPr id="100" name="矩形 99"/>
          <p:cNvSpPr>
            <a:spLocks noGrp="1"/>
          </p:cNvSpPr>
          <p:nvPr/>
        </p:nvSpPr>
        <p:spPr>
          <a:xfrm>
            <a:off x="9210080" y="4057650"/>
            <a:ext cx="1305520" cy="251817"/>
          </a:xfrm>
          <a:prstGeom prst="rect">
            <a:avLst/>
          </a:prstGeom>
          <a:solidFill>
            <a:srgbClr val="EFFAFA"/>
          </a:solidFill>
          <a:ln w="0">
            <a:noFill/>
          </a:ln>
        </p:spPr>
      </p:sp>
      <p:sp>
        <p:nvSpPr>
          <p:cNvPr id="101" name="矩形 100"/>
          <p:cNvSpPr>
            <a:spLocks noGrp="1"/>
          </p:cNvSpPr>
          <p:nvPr/>
        </p:nvSpPr>
        <p:spPr>
          <a:xfrm>
            <a:off x="9224367" y="4071938"/>
            <a:ext cx="1276945"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When required</a:t>
            </a:r>
            <a:endParaRPr sz="1350" b="0">
              <a:solidFill>
                <a:srgbClr val="0B2450"/>
              </a:solidFill>
              <a:latin typeface="Arial" panose="020B0604020202020204"/>
              <a:ea typeface="Arial" panose="020B0604020202020204"/>
              <a:cs typeface="Arial" panose="020B0604020202020204"/>
            </a:endParaRPr>
          </a:p>
        </p:txBody>
      </p:sp>
      <p:sp>
        <p:nvSpPr>
          <p:cNvPr id="102" name="矩形 101"/>
          <p:cNvSpPr>
            <a:spLocks noGrp="1"/>
          </p:cNvSpPr>
          <p:nvPr/>
        </p:nvSpPr>
        <p:spPr>
          <a:xfrm>
            <a:off x="10781705" y="3459361"/>
            <a:ext cx="725091" cy="626864"/>
          </a:xfrm>
          <a:prstGeom prst="rect">
            <a:avLst/>
          </a:prstGeom>
          <a:solidFill>
            <a:srgbClr val="EDF6FF"/>
          </a:solidFill>
          <a:ln w="0">
            <a:noFill/>
          </a:ln>
        </p:spPr>
      </p:sp>
      <p:sp>
        <p:nvSpPr>
          <p:cNvPr id="103" name="矩形 102"/>
          <p:cNvSpPr>
            <a:spLocks noGrp="1"/>
          </p:cNvSpPr>
          <p:nvPr/>
        </p:nvSpPr>
        <p:spPr>
          <a:xfrm>
            <a:off x="10795992" y="3473648"/>
            <a:ext cx="696516" cy="598289"/>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Scientific</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account</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(K1)</a:t>
            </a:r>
            <a:endParaRPr sz="1200" b="0">
              <a:solidFill>
                <a:srgbClr val="0B2450"/>
              </a:solidFill>
              <a:latin typeface="Arial" panose="020B0604020202020204"/>
              <a:ea typeface="Arial" panose="020B0604020202020204"/>
              <a:cs typeface="Arial" panose="020B0604020202020204"/>
            </a:endParaRPr>
          </a:p>
        </p:txBody>
      </p:sp>
      <p:sp>
        <p:nvSpPr>
          <p:cNvPr id="104" name="矩形 103"/>
          <p:cNvSpPr>
            <a:spLocks noGrp="1"/>
          </p:cNvSpPr>
          <p:nvPr/>
        </p:nvSpPr>
        <p:spPr>
          <a:xfrm>
            <a:off x="11576447" y="3459361"/>
            <a:ext cx="1055489" cy="626864"/>
          </a:xfrm>
          <a:prstGeom prst="rect">
            <a:avLst/>
          </a:prstGeom>
          <a:solidFill>
            <a:srgbClr val="EDF6FF"/>
          </a:solidFill>
          <a:ln w="0">
            <a:noFill/>
          </a:ln>
        </p:spPr>
      </p:sp>
      <p:sp>
        <p:nvSpPr>
          <p:cNvPr id="105" name="矩形 104"/>
          <p:cNvSpPr>
            <a:spLocks noGrp="1"/>
          </p:cNvSpPr>
          <p:nvPr/>
        </p:nvSpPr>
        <p:spPr>
          <a:xfrm>
            <a:off x="11590734" y="3473648"/>
            <a:ext cx="1026914" cy="598289"/>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New-condition</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predictions</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(Q)</a:t>
            </a:r>
            <a:endParaRPr sz="1200" b="0">
              <a:solidFill>
                <a:srgbClr val="0B2450"/>
              </a:solidFill>
              <a:latin typeface="Arial" panose="020B0604020202020204"/>
              <a:ea typeface="Arial" panose="020B0604020202020204"/>
              <a:cs typeface="Arial" panose="020B0604020202020204"/>
            </a:endParaRPr>
          </a:p>
        </p:txBody>
      </p:sp>
      <p:sp>
        <p:nvSpPr>
          <p:cNvPr id="106" name="矩形 105"/>
          <p:cNvSpPr>
            <a:spLocks noGrp="1"/>
          </p:cNvSpPr>
          <p:nvPr/>
        </p:nvSpPr>
        <p:spPr>
          <a:xfrm>
            <a:off x="12639080" y="3459361"/>
            <a:ext cx="912614" cy="626864"/>
          </a:xfrm>
          <a:prstGeom prst="rect">
            <a:avLst/>
          </a:prstGeom>
          <a:solidFill>
            <a:srgbClr val="EDF6FF"/>
          </a:solidFill>
          <a:ln w="0">
            <a:noFill/>
          </a:ln>
        </p:spPr>
      </p:sp>
      <p:sp>
        <p:nvSpPr>
          <p:cNvPr id="107" name="矩形 106"/>
          <p:cNvSpPr>
            <a:spLocks noGrp="1"/>
          </p:cNvSpPr>
          <p:nvPr/>
        </p:nvSpPr>
        <p:spPr>
          <a:xfrm>
            <a:off x="12653367" y="3473648"/>
            <a:ext cx="884039" cy="598289"/>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Retrospective</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questions</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(K2)</a:t>
            </a:r>
            <a:endParaRPr sz="1050" b="0">
              <a:solidFill>
                <a:srgbClr val="0B2450"/>
              </a:solidFill>
              <a:latin typeface="Arial" panose="020B0604020202020204"/>
              <a:ea typeface="Arial" panose="020B0604020202020204"/>
              <a:cs typeface="Arial" panose="020B0604020202020204"/>
            </a:endParaRPr>
          </a:p>
        </p:txBody>
      </p:sp>
      <p:sp>
        <p:nvSpPr>
          <p:cNvPr id="108" name="矩形 107"/>
          <p:cNvSpPr>
            <a:spLocks noGrp="1"/>
          </p:cNvSpPr>
          <p:nvPr/>
        </p:nvSpPr>
        <p:spPr>
          <a:xfrm>
            <a:off x="11031736" y="4236244"/>
            <a:ext cx="2394942" cy="278606"/>
          </a:xfrm>
          <a:prstGeom prst="rect">
            <a:avLst/>
          </a:prstGeom>
          <a:solidFill>
            <a:srgbClr val="EDF6FF"/>
          </a:solidFill>
          <a:ln w="0">
            <a:noFill/>
          </a:ln>
        </p:spPr>
      </p:sp>
      <p:sp>
        <p:nvSpPr>
          <p:cNvPr id="109" name="矩形 108"/>
          <p:cNvSpPr>
            <a:spLocks noGrp="1"/>
          </p:cNvSpPr>
          <p:nvPr/>
        </p:nvSpPr>
        <p:spPr>
          <a:xfrm>
            <a:off x="11046023" y="4250531"/>
            <a:ext cx="2366367" cy="25003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No truth feedback before reflection</a:t>
            </a:r>
            <a:endParaRPr sz="1200" b="0">
              <a:solidFill>
                <a:srgbClr val="0B2450"/>
              </a:solidFill>
              <a:latin typeface="Arial" panose="020B0604020202020204"/>
              <a:ea typeface="Arial" panose="020B0604020202020204"/>
              <a:cs typeface="Arial" panose="020B0604020202020204"/>
            </a:endParaRPr>
          </a:p>
        </p:txBody>
      </p:sp>
      <p:sp>
        <p:nvSpPr>
          <p:cNvPr id="110" name="矩形 109"/>
          <p:cNvSpPr>
            <a:spLocks noGrp="1"/>
          </p:cNvSpPr>
          <p:nvPr/>
        </p:nvSpPr>
        <p:spPr>
          <a:xfrm>
            <a:off x="10960298" y="4486275"/>
            <a:ext cx="2555677" cy="251817"/>
          </a:xfrm>
          <a:prstGeom prst="rect">
            <a:avLst/>
          </a:prstGeom>
          <a:solidFill>
            <a:srgbClr val="EDF6FF"/>
          </a:solidFill>
          <a:ln w="0">
            <a:noFill/>
          </a:ln>
        </p:spPr>
      </p:sp>
      <p:sp>
        <p:nvSpPr>
          <p:cNvPr id="111" name="矩形 110"/>
          <p:cNvSpPr>
            <a:spLocks noGrp="1"/>
          </p:cNvSpPr>
          <p:nvPr/>
        </p:nvSpPr>
        <p:spPr>
          <a:xfrm>
            <a:off x="10974586" y="4500563"/>
            <a:ext cx="2527102"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(K2 follows Q; K2 cannot change Q)</a:t>
            </a:r>
            <a:endParaRPr sz="1200" b="0">
              <a:solidFill>
                <a:srgbClr val="0B2450"/>
              </a:solidFill>
              <a:latin typeface="Arial" panose="020B0604020202020204"/>
              <a:ea typeface="Arial" panose="020B0604020202020204"/>
              <a:cs typeface="Arial" panose="020B0604020202020204"/>
            </a:endParaRPr>
          </a:p>
        </p:txBody>
      </p:sp>
      <p:sp>
        <p:nvSpPr>
          <p:cNvPr id="112" name="矩形 111"/>
          <p:cNvSpPr>
            <a:spLocks noGrp="1"/>
          </p:cNvSpPr>
          <p:nvPr/>
        </p:nvSpPr>
        <p:spPr>
          <a:xfrm>
            <a:off x="8531423" y="5173861"/>
            <a:ext cx="2046684" cy="332184"/>
          </a:xfrm>
          <a:prstGeom prst="rect">
            <a:avLst/>
          </a:prstGeom>
          <a:solidFill>
            <a:srgbClr val="EFFAFA"/>
          </a:solidFill>
          <a:ln w="0">
            <a:noFill/>
          </a:ln>
        </p:spPr>
      </p:sp>
      <p:sp>
        <p:nvSpPr>
          <p:cNvPr id="113" name="矩形 112"/>
          <p:cNvSpPr>
            <a:spLocks noGrp="1"/>
          </p:cNvSpPr>
          <p:nvPr/>
        </p:nvSpPr>
        <p:spPr>
          <a:xfrm>
            <a:off x="8545711" y="5188148"/>
            <a:ext cx="2018109" cy="303609"/>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Recommendation performance</a:t>
            </a:r>
            <a:endParaRPr sz="1050" b="0">
              <a:solidFill>
                <a:srgbClr val="0B2450"/>
              </a:solidFill>
              <a:latin typeface="Arial" panose="020B0604020202020204"/>
              <a:ea typeface="Arial" panose="020B0604020202020204"/>
              <a:cs typeface="Arial" panose="020B0604020202020204"/>
            </a:endParaRPr>
          </a:p>
        </p:txBody>
      </p:sp>
      <p:sp>
        <p:nvSpPr>
          <p:cNvPr id="114" name="矩形 113"/>
          <p:cNvSpPr>
            <a:spLocks noGrp="1"/>
          </p:cNvSpPr>
          <p:nvPr/>
        </p:nvSpPr>
        <p:spPr>
          <a:xfrm>
            <a:off x="11085314" y="5156002"/>
            <a:ext cx="2144911" cy="457200"/>
          </a:xfrm>
          <a:prstGeom prst="rect">
            <a:avLst/>
          </a:prstGeom>
          <a:solidFill>
            <a:srgbClr val="EDF6FF"/>
          </a:solidFill>
          <a:ln w="0">
            <a:noFill/>
          </a:ln>
        </p:spPr>
      </p:sp>
      <p:sp>
        <p:nvSpPr>
          <p:cNvPr id="115" name="矩形 114"/>
          <p:cNvSpPr>
            <a:spLocks noGrp="1"/>
          </p:cNvSpPr>
          <p:nvPr/>
        </p:nvSpPr>
        <p:spPr>
          <a:xfrm>
            <a:off x="11099602" y="5170289"/>
            <a:ext cx="2116336" cy="428625"/>
          </a:xfrm>
          <a:prstGeom prst="rect">
            <a:avLst/>
          </a:prstGeom>
          <a:noFill/>
          <a:ln w="0">
            <a:noFill/>
          </a:ln>
        </p:spPr>
        <p:txBody>
          <a:bodyPr wrap="none" lIns="0" tIns="0" rIns="0" bIns="0" anchor="ctr">
            <a:noAutofit/>
          </a:bodyPr>
          <a:lstStyle/>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Prediction accuracy +</a:t>
            </a:r>
            <a:endParaRPr sz="1350" b="0">
              <a:solidFill>
                <a:srgbClr val="005CED"/>
              </a:solidFill>
              <a:latin typeface="Arial" panose="020B0604020202020204"/>
              <a:ea typeface="Arial" panose="020B0604020202020204"/>
              <a:cs typeface="Arial" panose="020B0604020202020204"/>
            </a:endParaRPr>
          </a:p>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uncertainty</a:t>
            </a:r>
            <a:endParaRPr sz="1350" b="0">
              <a:solidFill>
                <a:srgbClr val="005CED"/>
              </a:solidFill>
              <a:latin typeface="Arial" panose="020B0604020202020204"/>
              <a:ea typeface="Arial" panose="020B0604020202020204"/>
              <a:cs typeface="Arial" panose="020B0604020202020204"/>
            </a:endParaRPr>
          </a:p>
        </p:txBody>
      </p:sp>
      <p:sp>
        <p:nvSpPr>
          <p:cNvPr id="116" name="矩形 115"/>
          <p:cNvSpPr>
            <a:spLocks noGrp="1"/>
          </p:cNvSpPr>
          <p:nvPr/>
        </p:nvSpPr>
        <p:spPr>
          <a:xfrm>
            <a:off x="191095" y="7977783"/>
            <a:ext cx="1457325" cy="367903"/>
          </a:xfrm>
          <a:prstGeom prst="rect">
            <a:avLst/>
          </a:prstGeom>
          <a:solidFill>
            <a:srgbClr val="FFFFFF"/>
          </a:solidFill>
          <a:ln w="0">
            <a:noFill/>
          </a:ln>
        </p:spPr>
      </p:sp>
      <p:sp>
        <p:nvSpPr>
          <p:cNvPr id="117" name="矩形 116"/>
          <p:cNvSpPr>
            <a:spLocks noGrp="1"/>
          </p:cNvSpPr>
          <p:nvPr/>
        </p:nvSpPr>
        <p:spPr>
          <a:xfrm>
            <a:off x="205383" y="7992070"/>
            <a:ext cx="1428750" cy="339328"/>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240 campaigns</a:t>
            </a:r>
            <a:endParaRPr sz="1500" b="0">
              <a:solidFill>
                <a:srgbClr val="0B2450"/>
              </a:solidFill>
              <a:latin typeface="Arial" panose="020B0604020202020204"/>
              <a:ea typeface="Arial" panose="020B0604020202020204"/>
              <a:cs typeface="Arial" panose="020B0604020202020204"/>
            </a:endParaRPr>
          </a:p>
        </p:txBody>
      </p:sp>
      <p:sp>
        <p:nvSpPr>
          <p:cNvPr id="118" name="矩形 117"/>
          <p:cNvSpPr>
            <a:spLocks noGrp="1"/>
          </p:cNvSpPr>
          <p:nvPr/>
        </p:nvSpPr>
        <p:spPr>
          <a:xfrm>
            <a:off x="1753791" y="7995642"/>
            <a:ext cx="2394942" cy="332184"/>
          </a:xfrm>
          <a:prstGeom prst="rect">
            <a:avLst/>
          </a:prstGeom>
          <a:solidFill>
            <a:srgbClr val="FFFFFF"/>
          </a:solidFill>
          <a:ln w="0">
            <a:noFill/>
          </a:ln>
        </p:spPr>
      </p:sp>
      <p:sp>
        <p:nvSpPr>
          <p:cNvPr id="119" name="矩形 118"/>
          <p:cNvSpPr>
            <a:spLocks noGrp="1"/>
          </p:cNvSpPr>
          <p:nvPr/>
        </p:nvSpPr>
        <p:spPr>
          <a:xfrm>
            <a:off x="1768078" y="8009930"/>
            <a:ext cx="2366367" cy="303609"/>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Six chemical system families</a:t>
            </a:r>
            <a:endParaRPr sz="1200" b="0">
              <a:solidFill>
                <a:srgbClr val="0B2450"/>
              </a:solidFill>
              <a:latin typeface="Arial" panose="020B0604020202020204"/>
              <a:ea typeface="Arial" panose="020B0604020202020204"/>
              <a:cs typeface="Arial" panose="020B0604020202020204"/>
            </a:endParaRPr>
          </a:p>
        </p:txBody>
      </p:sp>
      <p:sp>
        <p:nvSpPr>
          <p:cNvPr id="120" name="矩形 119"/>
          <p:cNvSpPr>
            <a:spLocks noGrp="1"/>
          </p:cNvSpPr>
          <p:nvPr/>
        </p:nvSpPr>
        <p:spPr>
          <a:xfrm>
            <a:off x="4236244" y="8281392"/>
            <a:ext cx="1064419" cy="251817"/>
          </a:xfrm>
          <a:prstGeom prst="rect">
            <a:avLst/>
          </a:prstGeom>
          <a:solidFill>
            <a:srgbClr val="FFFFFF"/>
          </a:solidFill>
          <a:ln w="0">
            <a:noFill/>
          </a:ln>
        </p:spPr>
      </p:sp>
      <p:sp>
        <p:nvSpPr>
          <p:cNvPr id="121" name="矩形 120"/>
          <p:cNvSpPr>
            <a:spLocks noGrp="1"/>
          </p:cNvSpPr>
          <p:nvPr/>
        </p:nvSpPr>
        <p:spPr>
          <a:xfrm>
            <a:off x="4250531" y="8295680"/>
            <a:ext cx="1035844"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Electrochemistry</a:t>
            </a:r>
            <a:endParaRPr sz="1050" b="0">
              <a:solidFill>
                <a:srgbClr val="0B2450"/>
              </a:solidFill>
              <a:latin typeface="Arial" panose="020B0604020202020204"/>
              <a:ea typeface="Arial" panose="020B0604020202020204"/>
              <a:cs typeface="Arial" panose="020B0604020202020204"/>
            </a:endParaRPr>
          </a:p>
        </p:txBody>
      </p:sp>
      <p:sp>
        <p:nvSpPr>
          <p:cNvPr id="122" name="矩形 121"/>
          <p:cNvSpPr>
            <a:spLocks noGrp="1"/>
          </p:cNvSpPr>
          <p:nvPr/>
        </p:nvSpPr>
        <p:spPr>
          <a:xfrm>
            <a:off x="5307806" y="8281392"/>
            <a:ext cx="823317" cy="251817"/>
          </a:xfrm>
          <a:prstGeom prst="rect">
            <a:avLst/>
          </a:prstGeom>
          <a:solidFill>
            <a:srgbClr val="FFFFFF"/>
          </a:solidFill>
          <a:ln w="0">
            <a:noFill/>
          </a:ln>
        </p:spPr>
      </p:sp>
      <p:sp>
        <p:nvSpPr>
          <p:cNvPr id="123" name="矩形 122"/>
          <p:cNvSpPr>
            <a:spLocks noGrp="1"/>
          </p:cNvSpPr>
          <p:nvPr/>
        </p:nvSpPr>
        <p:spPr>
          <a:xfrm>
            <a:off x="5322094" y="8295680"/>
            <a:ext cx="794742"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Partitioning</a:t>
            </a:r>
            <a:endParaRPr sz="1050" b="0">
              <a:solidFill>
                <a:srgbClr val="0B2450"/>
              </a:solidFill>
              <a:latin typeface="Arial" panose="020B0604020202020204"/>
              <a:ea typeface="Arial" panose="020B0604020202020204"/>
              <a:cs typeface="Arial" panose="020B0604020202020204"/>
            </a:endParaRPr>
          </a:p>
        </p:txBody>
      </p:sp>
      <p:sp>
        <p:nvSpPr>
          <p:cNvPr id="124" name="矩形 123"/>
          <p:cNvSpPr>
            <a:spLocks noGrp="1"/>
          </p:cNvSpPr>
          <p:nvPr/>
        </p:nvSpPr>
        <p:spPr>
          <a:xfrm>
            <a:off x="6200775" y="8281392"/>
            <a:ext cx="1162645" cy="251817"/>
          </a:xfrm>
          <a:prstGeom prst="rect">
            <a:avLst/>
          </a:prstGeom>
          <a:solidFill>
            <a:srgbClr val="FFFFFF"/>
          </a:solidFill>
          <a:ln w="0">
            <a:noFill/>
          </a:ln>
        </p:spPr>
      </p:sp>
      <p:sp>
        <p:nvSpPr>
          <p:cNvPr id="125" name="矩形 124"/>
          <p:cNvSpPr>
            <a:spLocks noGrp="1"/>
          </p:cNvSpPr>
          <p:nvPr/>
        </p:nvSpPr>
        <p:spPr>
          <a:xfrm>
            <a:off x="6215063" y="8295680"/>
            <a:ext cx="1134070"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Reaction / thermal</a:t>
            </a:r>
            <a:endParaRPr sz="1050" b="0">
              <a:solidFill>
                <a:srgbClr val="0B2450"/>
              </a:solidFill>
              <a:latin typeface="Arial" panose="020B0604020202020204"/>
              <a:ea typeface="Arial" panose="020B0604020202020204"/>
              <a:cs typeface="Arial" panose="020B0604020202020204"/>
            </a:endParaRPr>
          </a:p>
        </p:txBody>
      </p:sp>
      <p:sp>
        <p:nvSpPr>
          <p:cNvPr id="126" name="矩形 125"/>
          <p:cNvSpPr>
            <a:spLocks noGrp="1"/>
          </p:cNvSpPr>
          <p:nvPr/>
        </p:nvSpPr>
        <p:spPr>
          <a:xfrm>
            <a:off x="7442002" y="8281392"/>
            <a:ext cx="832247" cy="251817"/>
          </a:xfrm>
          <a:prstGeom prst="rect">
            <a:avLst/>
          </a:prstGeom>
          <a:solidFill>
            <a:srgbClr val="FFFFFF"/>
          </a:solidFill>
          <a:ln w="0">
            <a:noFill/>
          </a:ln>
        </p:spPr>
      </p:sp>
      <p:sp>
        <p:nvSpPr>
          <p:cNvPr id="127" name="矩形 126"/>
          <p:cNvSpPr>
            <a:spLocks noGrp="1"/>
          </p:cNvSpPr>
          <p:nvPr/>
        </p:nvSpPr>
        <p:spPr>
          <a:xfrm>
            <a:off x="7456289" y="8295680"/>
            <a:ext cx="803672"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Equilibrium</a:t>
            </a:r>
            <a:endParaRPr sz="1050" b="0">
              <a:solidFill>
                <a:srgbClr val="0B2450"/>
              </a:solidFill>
              <a:latin typeface="Arial" panose="020B0604020202020204"/>
              <a:ea typeface="Arial" panose="020B0604020202020204"/>
              <a:cs typeface="Arial" panose="020B0604020202020204"/>
            </a:endParaRPr>
          </a:p>
        </p:txBody>
      </p:sp>
      <p:sp>
        <p:nvSpPr>
          <p:cNvPr id="128" name="矩形 127"/>
          <p:cNvSpPr>
            <a:spLocks noGrp="1"/>
          </p:cNvSpPr>
          <p:nvPr/>
        </p:nvSpPr>
        <p:spPr>
          <a:xfrm>
            <a:off x="8424267" y="8281392"/>
            <a:ext cx="966192" cy="251817"/>
          </a:xfrm>
          <a:prstGeom prst="rect">
            <a:avLst/>
          </a:prstGeom>
          <a:solidFill>
            <a:srgbClr val="FFFFFF"/>
          </a:solidFill>
          <a:ln w="0">
            <a:noFill/>
          </a:ln>
        </p:spPr>
      </p:sp>
      <p:sp>
        <p:nvSpPr>
          <p:cNvPr id="129" name="矩形 128"/>
          <p:cNvSpPr>
            <a:spLocks noGrp="1"/>
          </p:cNvSpPr>
          <p:nvPr/>
        </p:nvSpPr>
        <p:spPr>
          <a:xfrm>
            <a:off x="8438555" y="8295680"/>
            <a:ext cx="937617"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Crystallization</a:t>
            </a:r>
            <a:endParaRPr sz="1050" b="0">
              <a:solidFill>
                <a:srgbClr val="0B2450"/>
              </a:solidFill>
              <a:latin typeface="Arial" panose="020B0604020202020204"/>
              <a:ea typeface="Arial" panose="020B0604020202020204"/>
              <a:cs typeface="Arial" panose="020B0604020202020204"/>
            </a:endParaRPr>
          </a:p>
        </p:txBody>
      </p:sp>
      <p:sp>
        <p:nvSpPr>
          <p:cNvPr id="130" name="矩形 129"/>
          <p:cNvSpPr>
            <a:spLocks noGrp="1"/>
          </p:cNvSpPr>
          <p:nvPr/>
        </p:nvSpPr>
        <p:spPr>
          <a:xfrm>
            <a:off x="9594056" y="8263533"/>
            <a:ext cx="903684" cy="269677"/>
          </a:xfrm>
          <a:prstGeom prst="rect">
            <a:avLst/>
          </a:prstGeom>
          <a:solidFill>
            <a:srgbClr val="FFFFFF"/>
          </a:solidFill>
          <a:ln w="0">
            <a:noFill/>
          </a:ln>
        </p:spPr>
      </p:sp>
      <p:sp>
        <p:nvSpPr>
          <p:cNvPr id="131" name="矩形 130"/>
          <p:cNvSpPr>
            <a:spLocks noGrp="1"/>
          </p:cNvSpPr>
          <p:nvPr/>
        </p:nvSpPr>
        <p:spPr>
          <a:xfrm>
            <a:off x="9608344" y="8277820"/>
            <a:ext cx="875109" cy="24110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Purification</a:t>
            </a:r>
            <a:endParaRPr sz="1050" b="0">
              <a:solidFill>
                <a:srgbClr val="0B2450"/>
              </a:solidFill>
              <a:latin typeface="Arial" panose="020B0604020202020204"/>
              <a:ea typeface="Arial" panose="020B0604020202020204"/>
              <a:cs typeface="Arial" panose="020B0604020202020204"/>
            </a:endParaRPr>
          </a:p>
        </p:txBody>
      </p:sp>
      <p:sp>
        <p:nvSpPr>
          <p:cNvPr id="132" name="矩形 131"/>
          <p:cNvSpPr>
            <a:spLocks noGrp="1"/>
          </p:cNvSpPr>
          <p:nvPr/>
        </p:nvSpPr>
        <p:spPr>
          <a:xfrm>
            <a:off x="10737056" y="7924205"/>
            <a:ext cx="2787848" cy="519708"/>
          </a:xfrm>
          <a:prstGeom prst="rect">
            <a:avLst/>
          </a:prstGeom>
          <a:solidFill>
            <a:srgbClr val="FFFFFF"/>
          </a:solidFill>
          <a:ln w="0">
            <a:noFill/>
          </a:ln>
        </p:spPr>
      </p:sp>
      <p:sp>
        <p:nvSpPr>
          <p:cNvPr id="133" name="矩形 132"/>
          <p:cNvSpPr>
            <a:spLocks noGrp="1"/>
          </p:cNvSpPr>
          <p:nvPr/>
        </p:nvSpPr>
        <p:spPr>
          <a:xfrm>
            <a:off x="10751344" y="7938492"/>
            <a:ext cx="2759273" cy="491133"/>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Which learned relationships</a:t>
            </a:r>
            <a:endParaRPr sz="1200" b="0">
              <a:solidFill>
                <a:srgbClr val="0B2450"/>
              </a:solidFill>
              <a:latin typeface="Arial" panose="020B0604020202020204"/>
              <a:ea typeface="Arial" panose="020B0604020202020204"/>
              <a:cs typeface="Arial" panose="020B0604020202020204"/>
            </a:endParaRPr>
          </a:p>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remain valid under new interventions?</a:t>
            </a:r>
            <a:endParaRPr sz="1200" b="0">
              <a:solidFill>
                <a:srgbClr val="0B2450"/>
              </a:solidFill>
              <a:latin typeface="Arial" panose="020B0604020202020204"/>
              <a:ea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59" name="矩形 58"/>
          <p:cNvSpPr>
            <a:spLocks noGrp="1"/>
          </p:cNvSpPr>
          <p:nvPr/>
        </p:nvSpPr>
        <p:spPr>
          <a:xfrm>
            <a:off x="171450" y="114300"/>
            <a:ext cx="333375" cy="381000"/>
          </a:xfrm>
          <a:prstGeom prst="rect">
            <a:avLst/>
          </a:prstGeom>
          <a:noFill/>
          <a:ln w="0">
            <a:noFill/>
          </a:ln>
        </p:spPr>
        <p:txBody>
          <a:bodyPr wrap="none" lIns="0" tIns="0" rIns="0" bIns="0" anchor="ctr">
            <a:noAutofit/>
          </a:bodyPr>
          <a:lstStyle/>
          <a:p>
            <a:pPr algn="l">
              <a:defRPr sz="2250" b="1">
                <a:solidFill>
                  <a:srgbClr val="111111"/>
                </a:solidFill>
                <a:latin typeface="Arial" panose="020B0604020202020204"/>
                <a:ea typeface="Arial" panose="020B0604020202020204"/>
                <a:cs typeface="Arial" panose="020B0604020202020204"/>
              </a:defRPr>
            </a:pPr>
            <a:r>
              <a:rPr sz="2250" b="1">
                <a:solidFill>
                  <a:srgbClr val="111111"/>
                </a:solidFill>
                <a:latin typeface="Arial" panose="020B0604020202020204"/>
                <a:ea typeface="Arial" panose="020B0604020202020204"/>
                <a:cs typeface="Arial" panose="020B0604020202020204"/>
              </a:rPr>
              <a:t>a</a:t>
            </a:r>
            <a:endParaRPr sz="2250" b="1">
              <a:solidFill>
                <a:srgbClr val="111111"/>
              </a:solidFill>
              <a:latin typeface="Arial" panose="020B0604020202020204"/>
              <a:ea typeface="Arial" panose="020B0604020202020204"/>
              <a:cs typeface="Arial" panose="020B0604020202020204"/>
            </a:endParaRPr>
          </a:p>
        </p:txBody>
      </p:sp>
      <p:sp>
        <p:nvSpPr>
          <p:cNvPr id="2" name="矩形 1"/>
          <p:cNvSpPr>
            <a:spLocks noGrp="1"/>
          </p:cNvSpPr>
          <p:nvPr/>
        </p:nvSpPr>
        <p:spPr>
          <a:xfrm>
            <a:off x="590550" y="114300"/>
            <a:ext cx="12668250" cy="381000"/>
          </a:xfrm>
          <a:prstGeom prst="rect">
            <a:avLst/>
          </a:prstGeom>
          <a:noFill/>
          <a:ln w="0">
            <a:noFill/>
          </a:ln>
        </p:spPr>
        <p:txBody>
          <a:bodyPr wrap="none" lIns="0" tIns="0" rIns="0" bIns="0" anchor="ctr">
            <a:noAutofit/>
          </a:bodyPr>
          <a:lstStyle/>
          <a:p>
            <a:pPr algn="l">
              <a:defRPr sz="1725" b="0">
                <a:solidFill>
                  <a:srgbClr val="24292D"/>
                </a:solidFill>
                <a:latin typeface="Arial" panose="020B0604020202020204"/>
                <a:ea typeface="Arial" panose="020B0604020202020204"/>
                <a:cs typeface="Arial" panose="020B0604020202020204"/>
              </a:defRPr>
            </a:pPr>
            <a:r>
              <a:rPr sz="1725" b="0">
                <a:solidFill>
                  <a:srgbClr val="24292D"/>
                </a:solidFill>
                <a:latin typeface="Arial" panose="020B0604020202020204"/>
                <a:ea typeface="Arial" panose="020B0604020202020204"/>
                <a:cs typeface="Arial" panose="020B0604020202020204"/>
              </a:rPr>
              <a:t>A complete 24-batch experimental history</a:t>
            </a:r>
            <a:endParaRPr sz="1725" b="0">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600075" y="542925"/>
            <a:ext cx="12573000" cy="371475"/>
          </a:xfrm>
          <a:prstGeom prst="rect">
            <a:avLst/>
          </a:prstGeom>
          <a:noFill/>
          <a:ln w="0">
            <a:noFill/>
          </a:ln>
        </p:spPr>
        <p:txBody>
          <a:bodyPr wrap="none" lIns="0" tIns="0" rIns="0" bIns="0" anchor="ctr">
            <a:noAutofit/>
          </a:bodyPr>
          <a:lstStyle/>
          <a:p>
            <a:pPr algn="l">
              <a:defRPr sz="1425" b="0">
                <a:solidFill>
                  <a:srgbClr val="657078"/>
                </a:solidFill>
                <a:latin typeface="Arial" panose="020B0604020202020204"/>
                <a:ea typeface="Arial" panose="020B0604020202020204"/>
                <a:cs typeface="Arial" panose="020B0604020202020204"/>
              </a:defRPr>
            </a:pPr>
            <a:r>
              <a:rPr sz="1425" b="0">
                <a:solidFill>
                  <a:srgbClr val="657078"/>
                </a:solidFill>
                <a:latin typeface="Arial" panose="020B0604020202020204"/>
                <a:ea typeface="Arial" panose="020B0604020202020204"/>
                <a:cs typeface="Arial" panose="020B0604020202020204"/>
              </a:rPr>
              <a:t>Materials (1–6)  →  process variation (7–18)  →  hotter reaction (19)  →  joint process change (20)  →  refinement (21–24)</a:t>
            </a:r>
            <a:endParaRPr sz="1425" b="0">
              <a:solidFill>
                <a:srgbClr val="657078"/>
              </a:solidFill>
              <a:latin typeface="Arial" panose="020B0604020202020204"/>
              <a:ea typeface="Arial" panose="020B0604020202020204"/>
              <a:cs typeface="Arial" panose="020B0604020202020204"/>
            </a:endParaRPr>
          </a:p>
        </p:txBody>
      </p:sp>
      <p:graphicFrame>
        <p:nvGraphicFramePr>
          <p:cNvPr id="62" name="Chart"/>
          <p:cNvGraphicFramePr/>
          <p:nvPr/>
        </p:nvGraphicFramePr>
        <p:xfrm>
          <a:off x="495300" y="1076325"/>
          <a:ext cx="12744450" cy="3362325"/>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63" name="Chart"/>
          <p:cNvGraphicFramePr/>
          <p:nvPr/>
        </p:nvGraphicFramePr>
        <p:xfrm>
          <a:off x="495300" y="4419600"/>
          <a:ext cx="12744450" cy="2781300"/>
        </p:xfrm>
        <a:graphic>
          <a:graphicData uri="http://schemas.openxmlformats.org/drawingml/2006/chart">
            <c:chart xmlns:c="http://schemas.openxmlformats.org/drawingml/2006/chart" xmlns:r="http://schemas.openxmlformats.org/officeDocument/2006/relationships" r:id="rId2"/>
          </a:graphicData>
        </a:graphic>
      </p:graphicFrame>
      <p:sp>
        <p:nvSpPr>
          <p:cNvPr id="6" name="矩形 5"/>
          <p:cNvSpPr>
            <a:spLocks noGrp="1"/>
          </p:cNvSpPr>
          <p:nvPr/>
        </p:nvSpPr>
        <p:spPr>
          <a:xfrm>
            <a:off x="552450" y="7324725"/>
            <a:ext cx="4171950" cy="361950"/>
          </a:xfrm>
          <a:prstGeom prst="rect">
            <a:avLst/>
          </a:prstGeom>
          <a:noFill/>
          <a:ln w="0">
            <a:noFill/>
          </a:ln>
        </p:spPr>
        <p:txBody>
          <a:bodyPr wrap="none" lIns="0" tIns="0" rIns="0" bIns="0" anchor="ctr">
            <a:noAutofit/>
          </a:bodyPr>
          <a:lstStyle/>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B8  Thermal-cycle probe; fines 52.8%</a:t>
            </a:r>
            <a:endParaRPr sz="1425"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4800600" y="7324725"/>
            <a:ext cx="4191000" cy="361950"/>
          </a:xfrm>
          <a:prstGeom prst="rect">
            <a:avLst/>
          </a:prstGeom>
          <a:noFill/>
          <a:ln w="0">
            <a:noFill/>
          </a:ln>
        </p:spPr>
        <p:txBody>
          <a:bodyPr wrap="none" lIns="0" tIns="0" rIns="0" bIns="0" anchor="ctr">
            <a:noAutofit/>
          </a:bodyPr>
          <a:lstStyle/>
          <a:p>
            <a:pPr algn="l">
              <a:defRPr sz="1425" b="1">
                <a:solidFill>
                  <a:srgbClr val="277F8A"/>
                </a:solidFill>
                <a:latin typeface="Arial" panose="020B0604020202020204"/>
                <a:ea typeface="Arial" panose="020B0604020202020204"/>
                <a:cs typeface="Arial" panose="020B0604020202020204"/>
              </a:defRPr>
            </a:pPr>
            <a:r>
              <a:rPr sz="1425" b="1">
                <a:solidFill>
                  <a:srgbClr val="277F8A"/>
                </a:solidFill>
                <a:latin typeface="Arial" panose="020B0604020202020204"/>
                <a:ea typeface="Arial" panose="020B0604020202020204"/>
                <a:cs typeface="Arial" panose="020B0604020202020204"/>
              </a:rPr>
              <a:t>B20  First quality-feasible batch</a:t>
            </a:r>
            <a:endParaRPr sz="1425" b="1">
              <a:solidFill>
                <a:srgbClr val="277F8A"/>
              </a:solidFill>
              <a:latin typeface="Arial" panose="020B0604020202020204"/>
              <a:ea typeface="Arial" panose="020B0604020202020204"/>
              <a:cs typeface="Arial" panose="020B0604020202020204"/>
            </a:endParaRPr>
          </a:p>
        </p:txBody>
      </p:sp>
      <p:sp>
        <p:nvSpPr>
          <p:cNvPr id="8" name="矩形 7"/>
          <p:cNvSpPr>
            <a:spLocks noGrp="1"/>
          </p:cNvSpPr>
          <p:nvPr/>
        </p:nvSpPr>
        <p:spPr>
          <a:xfrm>
            <a:off x="9525000" y="7324725"/>
            <a:ext cx="3667125" cy="361950"/>
          </a:xfrm>
          <a:prstGeom prst="rect">
            <a:avLst/>
          </a:prstGeom>
          <a:noFill/>
          <a:ln w="0">
            <a:noFill/>
          </a:ln>
        </p:spPr>
        <p:txBody>
          <a:bodyPr wrap="none" lIns="0" tIns="0" rIns="0" bIns="0" anchor="ctr">
            <a:noAutofit/>
          </a:bodyPr>
          <a:lstStyle/>
          <a:p>
            <a:pPr algn="l">
              <a:defRPr sz="1425" b="1">
                <a:solidFill>
                  <a:srgbClr val="277F8A"/>
                </a:solidFill>
                <a:latin typeface="Arial" panose="020B0604020202020204"/>
                <a:ea typeface="Arial" panose="020B0604020202020204"/>
                <a:cs typeface="Arial" panose="020B0604020202020204"/>
              </a:defRPr>
            </a:pPr>
            <a:r>
              <a:rPr sz="1425" b="1">
                <a:solidFill>
                  <a:srgbClr val="277F8A"/>
                </a:solidFill>
                <a:latin typeface="Arial" panose="020B0604020202020204"/>
                <a:ea typeface="Arial" panose="020B0604020202020204"/>
                <a:cs typeface="Arial" panose="020B0604020202020204"/>
              </a:rPr>
              <a:t>B23  Best feasible; selected</a:t>
            </a:r>
            <a:endParaRPr sz="1425" b="1">
              <a:solidFill>
                <a:srgbClr val="277F8A"/>
              </a:solidFill>
              <a:latin typeface="Arial" panose="020B0604020202020204"/>
              <a:ea typeface="Arial" panose="020B0604020202020204"/>
              <a:cs typeface="Arial" panose="020B0604020202020204"/>
            </a:endParaRPr>
          </a:p>
        </p:txBody>
      </p:sp>
      <p:sp>
        <p:nvSpPr>
          <p:cNvPr id="9" name="椭圆 8"/>
          <p:cNvSpPr>
            <a:spLocks noGrp="1"/>
          </p:cNvSpPr>
          <p:nvPr/>
        </p:nvSpPr>
        <p:spPr>
          <a:xfrm>
            <a:off x="3162300" y="7886700"/>
            <a:ext cx="123825" cy="123825"/>
          </a:xfrm>
          <a:prstGeom prst="ellipse">
            <a:avLst/>
          </a:prstGeom>
          <a:solidFill>
            <a:srgbClr val="277F8A"/>
          </a:solidFill>
          <a:ln w="9525">
            <a:solidFill>
              <a:srgbClr val="277F8A"/>
            </a:solidFill>
          </a:ln>
        </p:spPr>
      </p:sp>
      <p:sp>
        <p:nvSpPr>
          <p:cNvPr id="10" name="矩形 9"/>
          <p:cNvSpPr>
            <a:spLocks noGrp="1"/>
          </p:cNvSpPr>
          <p:nvPr/>
        </p:nvSpPr>
        <p:spPr>
          <a:xfrm>
            <a:off x="3381375" y="7810500"/>
            <a:ext cx="1809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quality-feasible</a:t>
            </a:r>
            <a:endParaRPr sz="1350" b="0">
              <a:solidFill>
                <a:srgbClr val="24292D"/>
              </a:solidFill>
              <a:latin typeface="Arial" panose="020B0604020202020204"/>
              <a:ea typeface="Arial" panose="020B0604020202020204"/>
              <a:cs typeface="Arial" panose="020B0604020202020204"/>
            </a:endParaRPr>
          </a:p>
        </p:txBody>
      </p:sp>
      <p:sp>
        <p:nvSpPr>
          <p:cNvPr id="11" name="直接连接符 10"/>
          <p:cNvSpPr>
            <a:spLocks noGrp="1"/>
          </p:cNvSpPr>
          <p:nvPr/>
        </p:nvSpPr>
        <p:spPr>
          <a:xfrm>
            <a:off x="5400675" y="7877175"/>
            <a:ext cx="133350" cy="133350"/>
          </a:xfrm>
          <a:prstGeom prst="line">
            <a:avLst/>
          </a:prstGeom>
          <a:noFill/>
          <a:ln w="19050">
            <a:solidFill>
              <a:srgbClr val="A35F42"/>
            </a:solidFill>
          </a:ln>
        </p:spPr>
      </p:sp>
      <p:sp>
        <p:nvSpPr>
          <p:cNvPr id="12" name="直接连接符 11"/>
          <p:cNvSpPr>
            <a:spLocks noGrp="1"/>
          </p:cNvSpPr>
          <p:nvPr/>
        </p:nvSpPr>
        <p:spPr>
          <a:xfrm flipV="1">
            <a:off x="5400675" y="7877175"/>
            <a:ext cx="133350" cy="133350"/>
          </a:xfrm>
          <a:prstGeom prst="line">
            <a:avLst/>
          </a:prstGeom>
          <a:noFill/>
          <a:ln w="19050">
            <a:solidFill>
              <a:srgbClr val="A35F42"/>
            </a:solidFill>
          </a:ln>
        </p:spPr>
      </p:sp>
      <p:sp>
        <p:nvSpPr>
          <p:cNvPr id="13" name="矩形 12"/>
          <p:cNvSpPr>
            <a:spLocks noGrp="1"/>
          </p:cNvSpPr>
          <p:nvPr/>
        </p:nvSpPr>
        <p:spPr>
          <a:xfrm>
            <a:off x="5638800" y="7810500"/>
            <a:ext cx="138112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infeasible</a:t>
            </a:r>
            <a:endParaRPr sz="1350" b="0">
              <a:solidFill>
                <a:srgbClr val="24292D"/>
              </a:solidFill>
              <a:latin typeface="Arial" panose="020B0604020202020204"/>
              <a:ea typeface="Arial" panose="020B0604020202020204"/>
              <a:cs typeface="Arial" panose="020B0604020202020204"/>
            </a:endParaRPr>
          </a:p>
        </p:txBody>
      </p:sp>
      <p:sp>
        <p:nvSpPr>
          <p:cNvPr id="14" name="直接连接符 13"/>
          <p:cNvSpPr>
            <a:spLocks noGrp="1"/>
          </p:cNvSpPr>
          <p:nvPr/>
        </p:nvSpPr>
        <p:spPr>
          <a:xfrm>
            <a:off x="7210425" y="7953375"/>
            <a:ext cx="390525" cy="953"/>
          </a:xfrm>
          <a:prstGeom prst="line">
            <a:avLst/>
          </a:prstGeom>
          <a:noFill/>
          <a:ln w="26670">
            <a:solidFill>
              <a:srgbClr val="277F8A"/>
            </a:solidFill>
          </a:ln>
        </p:spPr>
      </p:sp>
      <p:sp>
        <p:nvSpPr>
          <p:cNvPr id="15" name="矩形 14"/>
          <p:cNvSpPr>
            <a:spLocks noGrp="1"/>
          </p:cNvSpPr>
          <p:nvPr/>
        </p:nvSpPr>
        <p:spPr>
          <a:xfrm>
            <a:off x="7715250" y="7810500"/>
            <a:ext cx="224790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best feasible so far</a:t>
            </a:r>
            <a:endParaRPr sz="1350" b="0">
              <a:solidFill>
                <a:srgbClr val="24292D"/>
              </a:solidFill>
              <a:latin typeface="Arial" panose="020B0604020202020204"/>
              <a:ea typeface="Arial" panose="020B0604020202020204"/>
              <a:cs typeface="Arial" panose="020B0604020202020204"/>
            </a:endParaRPr>
          </a:p>
        </p:txBody>
      </p:sp>
      <p:sp>
        <p:nvSpPr>
          <p:cNvPr id="16" name="直接连接符 15"/>
          <p:cNvSpPr>
            <a:spLocks noGrp="1"/>
          </p:cNvSpPr>
          <p:nvPr/>
        </p:nvSpPr>
        <p:spPr>
          <a:xfrm>
            <a:off x="238125" y="8315325"/>
            <a:ext cx="13192125" cy="953"/>
          </a:xfrm>
          <a:prstGeom prst="line">
            <a:avLst/>
          </a:prstGeom>
          <a:noFill/>
          <a:ln w="13335">
            <a:solidFill>
              <a:srgbClr val="D7DDE1"/>
            </a:solidFill>
          </a:ln>
        </p:spPr>
      </p:sp>
      <p:sp>
        <p:nvSpPr>
          <p:cNvPr id="17" name="矩形 16"/>
          <p:cNvSpPr>
            <a:spLocks noGrp="1"/>
          </p:cNvSpPr>
          <p:nvPr/>
        </p:nvSpPr>
        <p:spPr>
          <a:xfrm>
            <a:off x="171450" y="8467725"/>
            <a:ext cx="333375" cy="381000"/>
          </a:xfrm>
          <a:prstGeom prst="rect">
            <a:avLst/>
          </a:prstGeom>
          <a:noFill/>
          <a:ln w="0">
            <a:noFill/>
          </a:ln>
        </p:spPr>
        <p:txBody>
          <a:bodyPr wrap="none" lIns="0" tIns="0" rIns="0" bIns="0" anchor="ctr">
            <a:noAutofit/>
          </a:bodyPr>
          <a:lstStyle/>
          <a:p>
            <a:pPr algn="l">
              <a:defRPr sz="2250" b="1">
                <a:solidFill>
                  <a:srgbClr val="111111"/>
                </a:solidFill>
                <a:latin typeface="Arial" panose="020B0604020202020204"/>
                <a:ea typeface="Arial" panose="020B0604020202020204"/>
                <a:cs typeface="Arial" panose="020B0604020202020204"/>
              </a:defRPr>
            </a:pPr>
            <a:r>
              <a:rPr sz="2250" b="1">
                <a:solidFill>
                  <a:srgbClr val="111111"/>
                </a:solidFill>
                <a:latin typeface="Arial" panose="020B0604020202020204"/>
                <a:ea typeface="Arial" panose="020B0604020202020204"/>
                <a:cs typeface="Arial" panose="020B0604020202020204"/>
              </a:rPr>
              <a:t>b</a:t>
            </a:r>
            <a:endParaRPr sz="2250" b="1">
              <a:solidFill>
                <a:srgbClr val="111111"/>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590550" y="8467725"/>
            <a:ext cx="12668250" cy="381000"/>
          </a:xfrm>
          <a:prstGeom prst="rect">
            <a:avLst/>
          </a:prstGeom>
          <a:noFill/>
          <a:ln w="0">
            <a:noFill/>
          </a:ln>
        </p:spPr>
        <p:txBody>
          <a:bodyPr wrap="none" lIns="0" tIns="0" rIns="0" bIns="0" anchor="ctr">
            <a:noAutofit/>
          </a:bodyPr>
          <a:lstStyle/>
          <a:p>
            <a:pPr algn="l">
              <a:defRPr sz="1725" b="0">
                <a:solidFill>
                  <a:srgbClr val="24292D"/>
                </a:solidFill>
                <a:latin typeface="Arial" panose="020B0604020202020204"/>
                <a:ea typeface="Arial" panose="020B0604020202020204"/>
                <a:cs typeface="Arial" panose="020B0604020202020204"/>
              </a:defRPr>
            </a:pPr>
            <a:r>
              <a:rPr sz="1725" b="0">
                <a:solidFill>
                  <a:srgbClr val="24292D"/>
                </a:solidFill>
                <a:latin typeface="Arial" panose="020B0604020202020204"/>
                <a:ea typeface="Arial" panose="020B0604020202020204"/>
                <a:cs typeface="Arial" panose="020B0604020202020204"/>
              </a:rPr>
              <a:t>From a failed batch to a retested procedure</a:t>
            </a:r>
            <a:endParaRPr sz="1725" b="0">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514350" y="8972550"/>
            <a:ext cx="6191250" cy="381000"/>
          </a:xfrm>
          <a:prstGeom prst="rect">
            <a:avLst/>
          </a:prstGeom>
          <a:noFill/>
          <a:ln w="0">
            <a:noFill/>
          </a:ln>
        </p:spPr>
        <p:txBody>
          <a:bodyPr wrap="none" lIns="0" tIns="0" rIns="0" bIns="0" anchor="ctr">
            <a:noAutofit/>
          </a:bodyPr>
          <a:lstStyle/>
          <a:p>
            <a:pPr algn="l">
              <a:defRPr sz="1800" b="1">
                <a:solidFill>
                  <a:srgbClr val="277F8A"/>
                </a:solidFill>
                <a:latin typeface="Arial" panose="020B0604020202020204"/>
                <a:ea typeface="Arial" panose="020B0604020202020204"/>
                <a:cs typeface="Arial" panose="020B0604020202020204"/>
              </a:defRPr>
            </a:pPr>
            <a:r>
              <a:rPr sz="1800" b="1">
                <a:solidFill>
                  <a:srgbClr val="277F8A"/>
                </a:solidFill>
                <a:latin typeface="Arial" panose="020B0604020202020204"/>
                <a:ea typeface="Arial" panose="020B0604020202020204"/>
                <a:cs typeface="Arial" panose="020B0604020202020204"/>
              </a:rPr>
              <a:t>B19 → B20  first feasible result</a:t>
            </a:r>
            <a:endParaRPr sz="1800" b="1">
              <a:solidFill>
                <a:srgbClr val="277F8A"/>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533400" y="9420225"/>
            <a:ext cx="1666875" cy="323850"/>
          </a:xfrm>
          <a:prstGeom prst="rect">
            <a:avLst/>
          </a:prstGeom>
          <a:noFill/>
          <a:ln w="0">
            <a:noFill/>
          </a:ln>
        </p:spPr>
        <p:txBody>
          <a:bodyPr wrap="none" lIns="0" tIns="0" rIns="0" bIns="0" anchor="ctr">
            <a:noAutofit/>
          </a:bodyPr>
          <a:lstStyle/>
          <a:p>
            <a:pPr algn="l">
              <a:defRPr sz="1425" b="0">
                <a:solidFill>
                  <a:srgbClr val="657078"/>
                </a:solidFill>
                <a:latin typeface="Arial" panose="020B0604020202020204"/>
                <a:ea typeface="Arial" panose="020B0604020202020204"/>
                <a:cs typeface="Arial" panose="020B0604020202020204"/>
              </a:defRPr>
            </a:pPr>
            <a:r>
              <a:rPr sz="1425" b="0">
                <a:solidFill>
                  <a:srgbClr val="657078"/>
                </a:solidFill>
                <a:latin typeface="Arial" panose="020B0604020202020204"/>
                <a:ea typeface="Arial" panose="020B0604020202020204"/>
                <a:cs typeface="Arial" panose="020B0604020202020204"/>
              </a:rPr>
              <a:t>Heating</a:t>
            </a:r>
            <a:endParaRPr sz="1425" b="0">
              <a:solidFill>
                <a:srgbClr val="657078"/>
              </a:solidFill>
              <a:latin typeface="Arial" panose="020B0604020202020204"/>
              <a:ea typeface="Arial" panose="020B0604020202020204"/>
              <a:cs typeface="Arial" panose="020B0604020202020204"/>
            </a:endParaRPr>
          </a:p>
        </p:txBody>
      </p:sp>
      <p:sp>
        <p:nvSpPr>
          <p:cNvPr id="21" name="矩形 20"/>
          <p:cNvSpPr>
            <a:spLocks noGrp="1"/>
          </p:cNvSpPr>
          <p:nvPr/>
        </p:nvSpPr>
        <p:spPr>
          <a:xfrm>
            <a:off x="2143125" y="9420225"/>
            <a:ext cx="1762125" cy="3238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390 K / 30 min</a:t>
            </a:r>
            <a:endParaRPr sz="1500" b="0">
              <a:solidFill>
                <a:srgbClr val="24292D"/>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3914775" y="9420225"/>
            <a:ext cx="352425" cy="323850"/>
          </a:xfrm>
          <a:prstGeom prst="rect">
            <a:avLst/>
          </a:prstGeom>
          <a:noFill/>
          <a:ln w="0">
            <a:noFill/>
          </a:ln>
        </p:spPr>
        <p:txBody>
          <a:bodyPr wrap="none" lIns="0" tIns="0" rIns="0" bIns="0" anchor="ctr">
            <a:noAutofit/>
          </a:bodyPr>
          <a:lstStyle/>
          <a:p>
            <a:pPr algn="ctr">
              <a:defRPr sz="1650" b="0">
                <a:solidFill>
                  <a:srgbClr val="A35F42"/>
                </a:solidFill>
                <a:latin typeface="Arial" panose="020B0604020202020204"/>
                <a:ea typeface="Arial" panose="020B0604020202020204"/>
                <a:cs typeface="Arial" panose="020B0604020202020204"/>
              </a:defRPr>
            </a:pPr>
            <a:r>
              <a:rPr sz="1650" b="0">
                <a:solidFill>
                  <a:srgbClr val="A35F42"/>
                </a:solidFill>
                <a:latin typeface="Arial" panose="020B0604020202020204"/>
                <a:ea typeface="Arial" panose="020B0604020202020204"/>
                <a:cs typeface="Arial" panose="020B0604020202020204"/>
              </a:rPr>
              <a:t>→</a:t>
            </a:r>
            <a:endParaRPr sz="1650" b="0">
              <a:solidFill>
                <a:srgbClr val="A35F42"/>
              </a:solidFill>
              <a:latin typeface="Arial" panose="020B0604020202020204"/>
              <a:ea typeface="Arial" panose="020B0604020202020204"/>
              <a:cs typeface="Arial" panose="020B0604020202020204"/>
            </a:endParaRPr>
          </a:p>
        </p:txBody>
      </p:sp>
      <p:sp>
        <p:nvSpPr>
          <p:cNvPr id="23" name="矩形 22"/>
          <p:cNvSpPr>
            <a:spLocks noGrp="1"/>
          </p:cNvSpPr>
          <p:nvPr/>
        </p:nvSpPr>
        <p:spPr>
          <a:xfrm>
            <a:off x="4333875" y="9420225"/>
            <a:ext cx="2238375" cy="323850"/>
          </a:xfrm>
          <a:prstGeom prst="rect">
            <a:avLst/>
          </a:prstGeom>
          <a:noFill/>
          <a:ln w="0">
            <a:noFill/>
          </a:ln>
        </p:spPr>
        <p:txBody>
          <a:bodyPr wrap="none" lIns="0" tIns="0" rIns="0" bIns="0" anchor="ctr">
            <a:noAutofit/>
          </a:bodyPr>
          <a:lstStyle/>
          <a:p>
            <a:pPr algn="l">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410 K / 20 min</a:t>
            </a:r>
            <a:endParaRPr sz="1500" b="1">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533400" y="9848850"/>
            <a:ext cx="1666875" cy="323850"/>
          </a:xfrm>
          <a:prstGeom prst="rect">
            <a:avLst/>
          </a:prstGeom>
          <a:noFill/>
          <a:ln w="0">
            <a:noFill/>
          </a:ln>
        </p:spPr>
        <p:txBody>
          <a:bodyPr wrap="none" lIns="0" tIns="0" rIns="0" bIns="0" anchor="ctr">
            <a:noAutofit/>
          </a:bodyPr>
          <a:lstStyle/>
          <a:p>
            <a:pPr algn="l">
              <a:defRPr sz="1425" b="0">
                <a:solidFill>
                  <a:srgbClr val="657078"/>
                </a:solidFill>
                <a:latin typeface="Arial" panose="020B0604020202020204"/>
                <a:ea typeface="Arial" panose="020B0604020202020204"/>
                <a:cs typeface="Arial" panose="020B0604020202020204"/>
              </a:defRPr>
            </a:pPr>
            <a:r>
              <a:rPr sz="1425" b="0">
                <a:solidFill>
                  <a:srgbClr val="657078"/>
                </a:solidFill>
                <a:latin typeface="Arial" panose="020B0604020202020204"/>
                <a:ea typeface="Arial" panose="020B0604020202020204"/>
                <a:cs typeface="Arial" panose="020B0604020202020204"/>
              </a:rPr>
              <a:t>Cooling</a:t>
            </a:r>
            <a:endParaRPr sz="1425" b="0">
              <a:solidFill>
                <a:srgbClr val="657078"/>
              </a:solidFill>
              <a:latin typeface="Arial" panose="020B0604020202020204"/>
              <a:ea typeface="Arial" panose="020B0604020202020204"/>
              <a:cs typeface="Arial" panose="020B0604020202020204"/>
            </a:endParaRPr>
          </a:p>
        </p:txBody>
      </p:sp>
      <p:sp>
        <p:nvSpPr>
          <p:cNvPr id="25" name="矩形 24"/>
          <p:cNvSpPr>
            <a:spLocks noGrp="1"/>
          </p:cNvSpPr>
          <p:nvPr/>
        </p:nvSpPr>
        <p:spPr>
          <a:xfrm>
            <a:off x="2143125" y="9848850"/>
            <a:ext cx="1762125" cy="3238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Direct to 260 K</a:t>
            </a:r>
            <a:endParaRPr sz="1500" b="0">
              <a:solidFill>
                <a:srgbClr val="24292D"/>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3914775" y="9848850"/>
            <a:ext cx="352425" cy="323850"/>
          </a:xfrm>
          <a:prstGeom prst="rect">
            <a:avLst/>
          </a:prstGeom>
          <a:noFill/>
          <a:ln w="0">
            <a:noFill/>
          </a:ln>
        </p:spPr>
        <p:txBody>
          <a:bodyPr wrap="none" lIns="0" tIns="0" rIns="0" bIns="0" anchor="ctr">
            <a:noAutofit/>
          </a:bodyPr>
          <a:lstStyle/>
          <a:p>
            <a:pPr algn="ctr">
              <a:defRPr sz="1650" b="0">
                <a:solidFill>
                  <a:srgbClr val="A35F42"/>
                </a:solidFill>
                <a:latin typeface="Arial" panose="020B0604020202020204"/>
                <a:ea typeface="Arial" panose="020B0604020202020204"/>
                <a:cs typeface="Arial" panose="020B0604020202020204"/>
              </a:defRPr>
            </a:pPr>
            <a:r>
              <a:rPr sz="1650" b="0">
                <a:solidFill>
                  <a:srgbClr val="A35F42"/>
                </a:solidFill>
                <a:latin typeface="Arial" panose="020B0604020202020204"/>
                <a:ea typeface="Arial" panose="020B0604020202020204"/>
                <a:cs typeface="Arial" panose="020B0604020202020204"/>
              </a:rPr>
              <a:t>→</a:t>
            </a:r>
            <a:endParaRPr sz="1650" b="0">
              <a:solidFill>
                <a:srgbClr val="A35F42"/>
              </a:solidFill>
              <a:latin typeface="Arial" panose="020B0604020202020204"/>
              <a:ea typeface="Arial" panose="020B0604020202020204"/>
              <a:cs typeface="Arial" panose="020B0604020202020204"/>
            </a:endParaRPr>
          </a:p>
        </p:txBody>
      </p:sp>
      <p:sp>
        <p:nvSpPr>
          <p:cNvPr id="27" name="矩形 26"/>
          <p:cNvSpPr>
            <a:spLocks noGrp="1"/>
          </p:cNvSpPr>
          <p:nvPr/>
        </p:nvSpPr>
        <p:spPr>
          <a:xfrm>
            <a:off x="4333875" y="9848850"/>
            <a:ext cx="2238375" cy="323850"/>
          </a:xfrm>
          <a:prstGeom prst="rect">
            <a:avLst/>
          </a:prstGeom>
          <a:noFill/>
          <a:ln w="0">
            <a:noFill/>
          </a:ln>
        </p:spPr>
        <p:txBody>
          <a:bodyPr wrap="none" lIns="0" tIns="0" rIns="0" bIns="0" anchor="ctr">
            <a:noAutofit/>
          </a:bodyPr>
          <a:lstStyle/>
          <a:p>
            <a:pPr algn="l">
              <a:defRPr sz="1425" b="1">
                <a:solidFill>
                  <a:srgbClr val="24292D"/>
                </a:solidFill>
                <a:latin typeface="Arial" panose="020B0604020202020204"/>
                <a:ea typeface="Arial" panose="020B0604020202020204"/>
                <a:cs typeface="Arial" panose="020B0604020202020204"/>
              </a:defRPr>
            </a:pPr>
            <a:r>
              <a:rPr sz="1425" b="1">
                <a:solidFill>
                  <a:srgbClr val="24292D"/>
                </a:solidFill>
                <a:latin typeface="Arial" panose="020B0604020202020204"/>
                <a:ea typeface="Arial" panose="020B0604020202020204"/>
                <a:cs typeface="Arial" panose="020B0604020202020204"/>
              </a:rPr>
              <a:t>320 → 290 → 260 K</a:t>
            </a:r>
            <a:endParaRPr sz="1425" b="1">
              <a:solidFill>
                <a:srgbClr val="24292D"/>
              </a:solidFill>
              <a:latin typeface="Arial" panose="020B0604020202020204"/>
              <a:ea typeface="Arial" panose="020B0604020202020204"/>
              <a:cs typeface="Arial" panose="020B0604020202020204"/>
            </a:endParaRPr>
          </a:p>
        </p:txBody>
      </p:sp>
      <p:sp>
        <p:nvSpPr>
          <p:cNvPr id="28" name="矩形 27"/>
          <p:cNvSpPr>
            <a:spLocks noGrp="1"/>
          </p:cNvSpPr>
          <p:nvPr/>
        </p:nvSpPr>
        <p:spPr>
          <a:xfrm>
            <a:off x="533400" y="10277475"/>
            <a:ext cx="1666875" cy="323850"/>
          </a:xfrm>
          <a:prstGeom prst="rect">
            <a:avLst/>
          </a:prstGeom>
          <a:noFill/>
          <a:ln w="0">
            <a:noFill/>
          </a:ln>
        </p:spPr>
        <p:txBody>
          <a:bodyPr wrap="none" lIns="0" tIns="0" rIns="0" bIns="0" anchor="ctr">
            <a:noAutofit/>
          </a:bodyPr>
          <a:lstStyle/>
          <a:p>
            <a:pPr algn="l">
              <a:defRPr sz="1425" b="0">
                <a:solidFill>
                  <a:srgbClr val="657078"/>
                </a:solidFill>
                <a:latin typeface="Arial" panose="020B0604020202020204"/>
                <a:ea typeface="Arial" panose="020B0604020202020204"/>
                <a:cs typeface="Arial" panose="020B0604020202020204"/>
              </a:defRPr>
            </a:pPr>
            <a:r>
              <a:rPr sz="1425" b="0">
                <a:solidFill>
                  <a:srgbClr val="657078"/>
                </a:solidFill>
                <a:latin typeface="Arial" panose="020B0604020202020204"/>
                <a:ea typeface="Arial" panose="020B0604020202020204"/>
                <a:cs typeface="Arial" panose="020B0604020202020204"/>
              </a:rPr>
              <a:t>Particle check</a:t>
            </a:r>
            <a:endParaRPr sz="1425" b="0">
              <a:solidFill>
                <a:srgbClr val="657078"/>
              </a:solidFill>
              <a:latin typeface="Arial" panose="020B0604020202020204"/>
              <a:ea typeface="Arial" panose="020B0604020202020204"/>
              <a:cs typeface="Arial" panose="020B0604020202020204"/>
            </a:endParaRPr>
          </a:p>
        </p:txBody>
      </p:sp>
      <p:sp>
        <p:nvSpPr>
          <p:cNvPr id="29" name="矩形 28"/>
          <p:cNvSpPr>
            <a:spLocks noGrp="1"/>
          </p:cNvSpPr>
          <p:nvPr/>
        </p:nvSpPr>
        <p:spPr>
          <a:xfrm>
            <a:off x="2143125" y="10277475"/>
            <a:ext cx="1762125" cy="3238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Performed</a:t>
            </a:r>
            <a:endParaRPr sz="1500" b="0">
              <a:solidFill>
                <a:srgbClr val="24292D"/>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3914775" y="10277475"/>
            <a:ext cx="352425" cy="323850"/>
          </a:xfrm>
          <a:prstGeom prst="rect">
            <a:avLst/>
          </a:prstGeom>
          <a:noFill/>
          <a:ln w="0">
            <a:noFill/>
          </a:ln>
        </p:spPr>
        <p:txBody>
          <a:bodyPr wrap="none" lIns="0" tIns="0" rIns="0" bIns="0" anchor="ctr">
            <a:noAutofit/>
          </a:bodyPr>
          <a:lstStyle/>
          <a:p>
            <a:pPr algn="ctr">
              <a:defRPr sz="1650" b="0">
                <a:solidFill>
                  <a:srgbClr val="A35F42"/>
                </a:solidFill>
                <a:latin typeface="Arial" panose="020B0604020202020204"/>
                <a:ea typeface="Arial" panose="020B0604020202020204"/>
                <a:cs typeface="Arial" panose="020B0604020202020204"/>
              </a:defRPr>
            </a:pPr>
            <a:r>
              <a:rPr sz="1650" b="0">
                <a:solidFill>
                  <a:srgbClr val="A35F42"/>
                </a:solidFill>
                <a:latin typeface="Arial" panose="020B0604020202020204"/>
                <a:ea typeface="Arial" panose="020B0604020202020204"/>
                <a:cs typeface="Arial" panose="020B0604020202020204"/>
              </a:rPr>
              <a:t>→</a:t>
            </a:r>
            <a:endParaRPr sz="1650" b="0">
              <a:solidFill>
                <a:srgbClr val="A35F42"/>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4333875" y="10277475"/>
            <a:ext cx="2238375" cy="323850"/>
          </a:xfrm>
          <a:prstGeom prst="rect">
            <a:avLst/>
          </a:prstGeom>
          <a:noFill/>
          <a:ln w="0">
            <a:noFill/>
          </a:ln>
        </p:spPr>
        <p:txBody>
          <a:bodyPr wrap="none" lIns="0" tIns="0" rIns="0" bIns="0" anchor="ctr">
            <a:noAutofit/>
          </a:bodyPr>
          <a:lstStyle/>
          <a:p>
            <a:pPr algn="l">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Omitted</a:t>
            </a:r>
            <a:endParaRPr sz="1500" b="1">
              <a:solidFill>
                <a:srgbClr val="24292D"/>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533400" y="10858500"/>
            <a:ext cx="6143625" cy="371475"/>
          </a:xfrm>
          <a:prstGeom prst="rect">
            <a:avLst/>
          </a:prstGeom>
          <a:noFill/>
          <a:ln w="0">
            <a:noFill/>
          </a:ln>
        </p:spPr>
        <p:txBody>
          <a:bodyPr wrap="none" lIns="0" tIns="0" rIns="0" bIns="0" anchor="ctr">
            <a:noAutofit/>
          </a:bodyPr>
          <a:lstStyle/>
          <a:p>
            <a:pPr algn="l">
              <a:defRPr sz="1650" b="1">
                <a:solidFill>
                  <a:srgbClr val="277F8A"/>
                </a:solidFill>
                <a:latin typeface="Arial" panose="020B0604020202020204"/>
                <a:ea typeface="Arial" panose="020B0604020202020204"/>
                <a:cs typeface="Arial" panose="020B0604020202020204"/>
              </a:defRPr>
            </a:pPr>
            <a:r>
              <a:rPr sz="1650" b="1">
                <a:solidFill>
                  <a:srgbClr val="277F8A"/>
                </a:solidFill>
                <a:latin typeface="Arial" panose="020B0604020202020204"/>
                <a:ea typeface="Arial" panose="020B0604020202020204"/>
                <a:cs typeface="Arial" panose="020B0604020202020204"/>
              </a:rPr>
              <a:t>Recovery 49.0% → 52.9%   ·   fines 52.8% → 21.5%</a:t>
            </a:r>
            <a:endParaRPr sz="1650" b="1">
              <a:solidFill>
                <a:srgbClr val="277F8A"/>
              </a:solidFill>
              <a:latin typeface="Arial" panose="020B0604020202020204"/>
              <a:ea typeface="Arial" panose="020B0604020202020204"/>
              <a:cs typeface="Arial" panose="020B0604020202020204"/>
            </a:endParaRPr>
          </a:p>
        </p:txBody>
      </p:sp>
      <p:sp>
        <p:nvSpPr>
          <p:cNvPr id="33" name="矩形 32"/>
          <p:cNvSpPr>
            <a:spLocks noGrp="1"/>
          </p:cNvSpPr>
          <p:nvPr/>
        </p:nvSpPr>
        <p:spPr>
          <a:xfrm>
            <a:off x="533400" y="11268075"/>
            <a:ext cx="6143625" cy="342900"/>
          </a:xfrm>
          <a:prstGeom prst="rect">
            <a:avLst/>
          </a:prstGeom>
          <a:noFill/>
          <a:ln w="0">
            <a:noFill/>
          </a:ln>
        </p:spPr>
        <p:txBody>
          <a:bodyPr wrap="none" lIns="0" tIns="0" rIns="0" bIns="0" anchor="ctr">
            <a:noAutofit/>
          </a:bodyPr>
          <a:lstStyle/>
          <a:p>
            <a:pPr algn="l">
              <a:defRPr sz="1350" b="0">
                <a:solidFill>
                  <a:srgbClr val="657078"/>
                </a:solidFill>
                <a:latin typeface="Arial" panose="020B0604020202020204"/>
                <a:ea typeface="Arial" panose="020B0604020202020204"/>
                <a:cs typeface="Arial" panose="020B0604020202020204"/>
              </a:defRPr>
            </a:pPr>
            <a:r>
              <a:rPr sz="1350" b="0">
                <a:solidFill>
                  <a:srgbClr val="657078"/>
                </a:solidFill>
                <a:latin typeface="Arial" panose="020B0604020202020204"/>
                <a:ea typeface="Arial" panose="020B0604020202020204"/>
                <a:cs typeface="Arial" panose="020B0604020202020204"/>
              </a:rPr>
              <a:t>Changes occurred together; their separate effects are not identified.</a:t>
            </a:r>
            <a:endParaRPr sz="1350" b="0">
              <a:solidFill>
                <a:srgbClr val="657078"/>
              </a:solidFill>
              <a:latin typeface="Arial" panose="020B0604020202020204"/>
              <a:ea typeface="Arial" panose="020B0604020202020204"/>
              <a:cs typeface="Arial" panose="020B0604020202020204"/>
            </a:endParaRPr>
          </a:p>
        </p:txBody>
      </p:sp>
      <p:sp>
        <p:nvSpPr>
          <p:cNvPr id="34" name="直接连接符 33"/>
          <p:cNvSpPr>
            <a:spLocks noGrp="1"/>
          </p:cNvSpPr>
          <p:nvPr/>
        </p:nvSpPr>
        <p:spPr>
          <a:xfrm>
            <a:off x="6915150" y="9020175"/>
            <a:ext cx="953" cy="2647950"/>
          </a:xfrm>
          <a:prstGeom prst="line">
            <a:avLst/>
          </a:prstGeom>
          <a:noFill/>
          <a:ln w="12383">
            <a:solidFill>
              <a:srgbClr val="D7DDE1"/>
            </a:solidFill>
          </a:ln>
        </p:spPr>
      </p:sp>
      <p:sp>
        <p:nvSpPr>
          <p:cNvPr id="35" name="矩形 34"/>
          <p:cNvSpPr>
            <a:spLocks noGrp="1"/>
          </p:cNvSpPr>
          <p:nvPr/>
        </p:nvSpPr>
        <p:spPr>
          <a:xfrm>
            <a:off x="7239000" y="8972550"/>
            <a:ext cx="6000750" cy="381000"/>
          </a:xfrm>
          <a:prstGeom prst="rect">
            <a:avLst/>
          </a:prstGeom>
          <a:noFill/>
          <a:ln w="0">
            <a:noFill/>
          </a:ln>
        </p:spPr>
        <p:txBody>
          <a:bodyPr wrap="none" lIns="0" tIns="0" rIns="0" bIns="0" anchor="ctr">
            <a:noAutofit/>
          </a:bodyPr>
          <a:lstStyle/>
          <a:p>
            <a:pPr algn="l">
              <a:defRPr sz="1800" b="1">
                <a:solidFill>
                  <a:srgbClr val="277F8A"/>
                </a:solidFill>
                <a:latin typeface="Arial" panose="020B0604020202020204"/>
                <a:ea typeface="Arial" panose="020B0604020202020204"/>
                <a:cs typeface="Arial" panose="020B0604020202020204"/>
              </a:defRPr>
            </a:pPr>
            <a:r>
              <a:rPr sz="1800" b="1">
                <a:solidFill>
                  <a:srgbClr val="277F8A"/>
                </a:solidFill>
                <a:latin typeface="Arial" panose="020B0604020202020204"/>
                <a:ea typeface="Arial" panose="020B0604020202020204"/>
                <a:cs typeface="Arial" panose="020B0604020202020204"/>
              </a:rPr>
              <a:t>B23  sealed recommendation</a:t>
            </a:r>
            <a:endParaRPr sz="1800" b="1">
              <a:solidFill>
                <a:srgbClr val="277F8A"/>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7239000" y="9420225"/>
            <a:ext cx="5991225" cy="35242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Charge S2/C1  →  heat 450 K / 15 min  →  quench  →  seed 50 mg</a:t>
            </a:r>
            <a:endParaRPr sz="1350" b="0">
              <a:solidFill>
                <a:srgbClr val="24292D"/>
              </a:solidFill>
              <a:latin typeface="Arial" panose="020B0604020202020204"/>
              <a:ea typeface="Arial" panose="020B0604020202020204"/>
              <a:cs typeface="Arial" panose="020B0604020202020204"/>
            </a:endParaRPr>
          </a:p>
        </p:txBody>
      </p:sp>
      <p:sp>
        <p:nvSpPr>
          <p:cNvPr id="37" name="矩形 36"/>
          <p:cNvSpPr>
            <a:spLocks noGrp="1"/>
          </p:cNvSpPr>
          <p:nvPr/>
        </p:nvSpPr>
        <p:spPr>
          <a:xfrm>
            <a:off x="7239000" y="9877425"/>
            <a:ext cx="5991225" cy="35242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Cool 310 → 280 → 250 K (4 h each)  →  hold 4 h  →  filter + assay</a:t>
            </a:r>
            <a:endParaRPr sz="1350" b="0">
              <a:solidFill>
                <a:srgbClr val="24292D"/>
              </a:solidFill>
              <a:latin typeface="Arial" panose="020B0604020202020204"/>
              <a:ea typeface="Arial" panose="020B0604020202020204"/>
              <a:cs typeface="Arial" panose="020B0604020202020204"/>
            </a:endParaRPr>
          </a:p>
        </p:txBody>
      </p:sp>
      <p:sp>
        <p:nvSpPr>
          <p:cNvPr id="38" name="直接连接符 37"/>
          <p:cNvSpPr>
            <a:spLocks noGrp="1"/>
          </p:cNvSpPr>
          <p:nvPr/>
        </p:nvSpPr>
        <p:spPr>
          <a:xfrm>
            <a:off x="7239000" y="10401300"/>
            <a:ext cx="5972175" cy="953"/>
          </a:xfrm>
          <a:prstGeom prst="line">
            <a:avLst/>
          </a:prstGeom>
          <a:noFill/>
          <a:ln w="11430">
            <a:solidFill>
              <a:srgbClr val="D7DDE1"/>
            </a:solidFill>
          </a:ln>
        </p:spPr>
      </p:sp>
      <p:sp>
        <p:nvSpPr>
          <p:cNvPr id="39" name="矩形 38"/>
          <p:cNvSpPr>
            <a:spLocks noGrp="1"/>
          </p:cNvSpPr>
          <p:nvPr/>
        </p:nvSpPr>
        <p:spPr>
          <a:xfrm>
            <a:off x="7239000" y="10525125"/>
            <a:ext cx="6000750" cy="352425"/>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Source batch: 57.0% recovery · 14.2% fines</a:t>
            </a:r>
            <a:endParaRPr sz="1500" b="0">
              <a:solidFill>
                <a:srgbClr val="24292D"/>
              </a:solidFill>
              <a:latin typeface="Arial" panose="020B0604020202020204"/>
              <a:ea typeface="Arial" panose="020B0604020202020204"/>
              <a:cs typeface="Arial" panose="020B0604020202020204"/>
            </a:endParaRPr>
          </a:p>
        </p:txBody>
      </p:sp>
      <p:sp>
        <p:nvSpPr>
          <p:cNvPr id="40" name="矩形 39"/>
          <p:cNvSpPr>
            <a:spLocks noGrp="1"/>
          </p:cNvSpPr>
          <p:nvPr/>
        </p:nvSpPr>
        <p:spPr>
          <a:xfrm>
            <a:off x="7239000" y="10982325"/>
            <a:ext cx="6000750" cy="400050"/>
          </a:xfrm>
          <a:prstGeom prst="rect">
            <a:avLst/>
          </a:prstGeom>
          <a:noFill/>
          <a:ln w="0">
            <a:noFill/>
          </a:ln>
        </p:spPr>
        <p:txBody>
          <a:bodyPr wrap="none" lIns="0" tIns="0" rIns="0" bIns="0" anchor="ctr">
            <a:noAutofit/>
          </a:bodyPr>
          <a:lstStyle/>
          <a:p>
            <a:pPr algn="l">
              <a:defRPr sz="1650" b="1">
                <a:solidFill>
                  <a:srgbClr val="277F8A"/>
                </a:solidFill>
                <a:latin typeface="Arial" panose="020B0604020202020204"/>
                <a:ea typeface="Arial" panose="020B0604020202020204"/>
                <a:cs typeface="Arial" panose="020B0604020202020204"/>
              </a:defRPr>
            </a:pPr>
            <a:r>
              <a:rPr sz="1650" b="1">
                <a:solidFill>
                  <a:srgbClr val="277F8A"/>
                </a:solidFill>
                <a:latin typeface="Arial" panose="020B0604020202020204"/>
                <a:ea typeface="Arial" panose="020B0604020202020204"/>
                <a:cs typeface="Arial" panose="020B0604020202020204"/>
              </a:rPr>
              <a:t>Independent retest: 58.1% recovery · 19.3% fines</a:t>
            </a:r>
            <a:endParaRPr sz="1650" b="1">
              <a:solidFill>
                <a:srgbClr val="277F8A"/>
              </a:solidFill>
              <a:latin typeface="Arial" panose="020B0604020202020204"/>
              <a:ea typeface="Arial" panose="020B0604020202020204"/>
              <a:cs typeface="Arial" panose="020B0604020202020204"/>
            </a:endParaRPr>
          </a:p>
        </p:txBody>
      </p:sp>
      <p:sp>
        <p:nvSpPr>
          <p:cNvPr id="41" name="直接连接符 40"/>
          <p:cNvSpPr>
            <a:spLocks noGrp="1"/>
          </p:cNvSpPr>
          <p:nvPr/>
        </p:nvSpPr>
        <p:spPr>
          <a:xfrm>
            <a:off x="238125" y="11972925"/>
            <a:ext cx="13192125" cy="953"/>
          </a:xfrm>
          <a:prstGeom prst="line">
            <a:avLst/>
          </a:prstGeom>
          <a:noFill/>
          <a:ln w="13335">
            <a:solidFill>
              <a:srgbClr val="D7DDE1"/>
            </a:solidFill>
          </a:ln>
        </p:spPr>
      </p:sp>
      <p:sp>
        <p:nvSpPr>
          <p:cNvPr id="42" name="矩形 41"/>
          <p:cNvSpPr>
            <a:spLocks noGrp="1"/>
          </p:cNvSpPr>
          <p:nvPr/>
        </p:nvSpPr>
        <p:spPr>
          <a:xfrm>
            <a:off x="171450" y="12115800"/>
            <a:ext cx="333375" cy="381000"/>
          </a:xfrm>
          <a:prstGeom prst="rect">
            <a:avLst/>
          </a:prstGeom>
          <a:noFill/>
          <a:ln w="0">
            <a:noFill/>
          </a:ln>
        </p:spPr>
        <p:txBody>
          <a:bodyPr wrap="none" lIns="0" tIns="0" rIns="0" bIns="0" anchor="ctr">
            <a:noAutofit/>
          </a:bodyPr>
          <a:lstStyle/>
          <a:p>
            <a:pPr algn="l">
              <a:defRPr sz="2250" b="1">
                <a:solidFill>
                  <a:srgbClr val="111111"/>
                </a:solidFill>
                <a:latin typeface="Arial" panose="020B0604020202020204"/>
                <a:ea typeface="Arial" panose="020B0604020202020204"/>
                <a:cs typeface="Arial" panose="020B0604020202020204"/>
              </a:defRPr>
            </a:pPr>
            <a:r>
              <a:rPr sz="2250" b="1">
                <a:solidFill>
                  <a:srgbClr val="111111"/>
                </a:solidFill>
                <a:latin typeface="Arial" panose="020B0604020202020204"/>
                <a:ea typeface="Arial" panose="020B0604020202020204"/>
                <a:cs typeface="Arial" panose="020B0604020202020204"/>
              </a:rPr>
              <a:t>c</a:t>
            </a:r>
            <a:endParaRPr sz="2250" b="1">
              <a:solidFill>
                <a:srgbClr val="111111"/>
              </a:solidFill>
              <a:latin typeface="Arial" panose="020B0604020202020204"/>
              <a:ea typeface="Arial" panose="020B0604020202020204"/>
              <a:cs typeface="Arial" panose="020B0604020202020204"/>
            </a:endParaRPr>
          </a:p>
        </p:txBody>
      </p:sp>
      <p:sp>
        <p:nvSpPr>
          <p:cNvPr id="43" name="矩形 42"/>
          <p:cNvSpPr>
            <a:spLocks noGrp="1"/>
          </p:cNvSpPr>
          <p:nvPr/>
        </p:nvSpPr>
        <p:spPr>
          <a:xfrm>
            <a:off x="590550" y="12115800"/>
            <a:ext cx="12668250" cy="381000"/>
          </a:xfrm>
          <a:prstGeom prst="rect">
            <a:avLst/>
          </a:prstGeom>
          <a:noFill/>
          <a:ln w="0">
            <a:noFill/>
          </a:ln>
        </p:spPr>
        <p:txBody>
          <a:bodyPr wrap="none" lIns="0" tIns="0" rIns="0" bIns="0" anchor="ctr">
            <a:noAutofit/>
          </a:bodyPr>
          <a:lstStyle/>
          <a:p>
            <a:pPr algn="l">
              <a:defRPr sz="1725" b="0">
                <a:solidFill>
                  <a:srgbClr val="24292D"/>
                </a:solidFill>
                <a:latin typeface="Arial" panose="020B0604020202020204"/>
                <a:ea typeface="Arial" panose="020B0604020202020204"/>
                <a:cs typeface="Arial" panose="020B0604020202020204"/>
              </a:defRPr>
            </a:pPr>
            <a:r>
              <a:rPr sz="1725" b="0">
                <a:solidFill>
                  <a:srgbClr val="24292D"/>
                </a:solidFill>
                <a:latin typeface="Arial" panose="020B0604020202020204"/>
                <a:ea typeface="Arial" panose="020B0604020202020204"/>
                <a:cs typeface="Arial" panose="020B0604020202020204"/>
              </a:rPr>
              <a:t>What the original researcher inferred and predicted</a:t>
            </a:r>
            <a:endParaRPr sz="1725" b="0">
              <a:solidFill>
                <a:srgbClr val="24292D"/>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514350" y="12620625"/>
            <a:ext cx="3857625" cy="323850"/>
          </a:xfrm>
          <a:prstGeom prst="rect">
            <a:avLst/>
          </a:prstGeom>
          <a:noFill/>
          <a:ln w="0">
            <a:noFill/>
          </a:ln>
        </p:spPr>
        <p:txBody>
          <a:bodyPr wrap="none" lIns="0" tIns="0" rIns="0" bIns="0" anchor="ctr">
            <a:noAutofit/>
          </a:bodyPr>
          <a:lstStyle/>
          <a:p>
            <a:pPr algn="l">
              <a:defRPr sz="1575" b="1">
                <a:solidFill>
                  <a:srgbClr val="277F8A"/>
                </a:solidFill>
                <a:latin typeface="Arial" panose="020B0604020202020204"/>
                <a:ea typeface="Arial" panose="020B0604020202020204"/>
                <a:cs typeface="Arial" panose="020B0604020202020204"/>
              </a:defRPr>
            </a:pPr>
            <a:r>
              <a:rPr sz="1575" b="1">
                <a:solidFill>
                  <a:srgbClr val="277F8A"/>
                </a:solidFill>
                <a:latin typeface="Arial" panose="020B0604020202020204"/>
                <a:ea typeface="Arial" panose="020B0604020202020204"/>
                <a:cs typeface="Arial" panose="020B0604020202020204"/>
              </a:rPr>
              <a:t>K1 · after research</a:t>
            </a:r>
            <a:endParaRPr sz="1575" b="1">
              <a:solidFill>
                <a:srgbClr val="277F8A"/>
              </a:solidFill>
              <a:latin typeface="Arial" panose="020B0604020202020204"/>
              <a:ea typeface="Arial" panose="020B0604020202020204"/>
              <a:cs typeface="Arial" panose="020B0604020202020204"/>
            </a:endParaRPr>
          </a:p>
        </p:txBody>
      </p:sp>
      <p:sp>
        <p:nvSpPr>
          <p:cNvPr id="45" name="矩形 44"/>
          <p:cNvSpPr>
            <a:spLocks noGrp="1"/>
          </p:cNvSpPr>
          <p:nvPr/>
        </p:nvSpPr>
        <p:spPr>
          <a:xfrm>
            <a:off x="514350" y="13001625"/>
            <a:ext cx="3943350" cy="1019175"/>
          </a:xfrm>
          <a:prstGeom prst="rect">
            <a:avLst/>
          </a:prstGeom>
          <a:noFill/>
          <a:ln w="0">
            <a:noFill/>
          </a:ln>
        </p:spPr>
        <p:txBody>
          <a:bodyPr wrap="none" lIns="0" tIns="0" rIns="0" bIns="0" anchor="ctr">
            <a:noAutofit/>
          </a:bodyPr>
          <a:lstStyle/>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Upstream chemistry and cooling were</a:t>
            </a:r>
            <a:endParaRPr sz="1425" b="0">
              <a:solidFill>
                <a:srgbClr val="24292D"/>
              </a:solidFill>
              <a:latin typeface="Arial" panose="020B0604020202020204"/>
              <a:ea typeface="Arial" panose="020B0604020202020204"/>
              <a:cs typeface="Arial" panose="020B0604020202020204"/>
            </a:endParaRPr>
          </a:p>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interpreted jointly; seed conditioning</a:t>
            </a:r>
            <a:endParaRPr sz="1425" b="0">
              <a:solidFill>
                <a:srgbClr val="24292D"/>
              </a:solidFill>
              <a:latin typeface="Arial" panose="020B0604020202020204"/>
              <a:ea typeface="Arial" panose="020B0604020202020204"/>
              <a:cs typeface="Arial" panose="020B0604020202020204"/>
            </a:endParaRPr>
          </a:p>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was not directly measured.</a:t>
            </a:r>
            <a:endParaRPr sz="1425" b="0">
              <a:solidFill>
                <a:srgbClr val="24292D"/>
              </a:solidFill>
              <a:latin typeface="Arial" panose="020B0604020202020204"/>
              <a:ea typeface="Arial" panose="020B0604020202020204"/>
              <a:cs typeface="Arial" panose="020B0604020202020204"/>
            </a:endParaRPr>
          </a:p>
        </p:txBody>
      </p:sp>
      <p:sp>
        <p:nvSpPr>
          <p:cNvPr id="46" name="直接连接符 45"/>
          <p:cNvSpPr>
            <a:spLocks noGrp="1"/>
          </p:cNvSpPr>
          <p:nvPr/>
        </p:nvSpPr>
        <p:spPr>
          <a:xfrm>
            <a:off x="4648200" y="12620625"/>
            <a:ext cx="953" cy="1628775"/>
          </a:xfrm>
          <a:prstGeom prst="line">
            <a:avLst/>
          </a:prstGeom>
          <a:noFill/>
          <a:ln w="11430">
            <a:solidFill>
              <a:srgbClr val="D7DDE1"/>
            </a:solidFill>
          </a:ln>
        </p:spPr>
      </p:sp>
      <p:sp>
        <p:nvSpPr>
          <p:cNvPr id="47" name="矩形 46"/>
          <p:cNvSpPr>
            <a:spLocks noGrp="1"/>
          </p:cNvSpPr>
          <p:nvPr/>
        </p:nvSpPr>
        <p:spPr>
          <a:xfrm>
            <a:off x="4933950" y="12620625"/>
            <a:ext cx="4219575" cy="323850"/>
          </a:xfrm>
          <a:prstGeom prst="rect">
            <a:avLst/>
          </a:prstGeom>
          <a:noFill/>
          <a:ln w="0">
            <a:noFill/>
          </a:ln>
        </p:spPr>
        <p:txBody>
          <a:bodyPr wrap="none" lIns="0" tIns="0" rIns="0" bIns="0" anchor="ctr">
            <a:noAutofit/>
          </a:bodyPr>
          <a:lstStyle/>
          <a:p>
            <a:pPr algn="l">
              <a:defRPr sz="1575" b="1">
                <a:solidFill>
                  <a:srgbClr val="277F8A"/>
                </a:solidFill>
                <a:latin typeface="Arial" panose="020B0604020202020204"/>
                <a:ea typeface="Arial" panose="020B0604020202020204"/>
                <a:cs typeface="Arial" panose="020B0604020202020204"/>
              </a:defRPr>
            </a:pPr>
            <a:r>
              <a:rPr sz="1575" b="1">
                <a:solidFill>
                  <a:srgbClr val="277F8A"/>
                </a:solidFill>
                <a:latin typeface="Arial" panose="020B0604020202020204"/>
                <a:ea typeface="Arial" panose="020B0604020202020204"/>
                <a:cs typeface="Arial" panose="020B0604020202020204"/>
              </a:rPr>
              <a:t>Q · sealed forecast</a:t>
            </a:r>
            <a:endParaRPr sz="1575" b="1">
              <a:solidFill>
                <a:srgbClr val="277F8A"/>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4933950" y="13001625"/>
            <a:ext cx="4219575" cy="3238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Hold 2 h  →  reheat + recool</a:t>
            </a:r>
            <a:endParaRPr sz="1500" b="0">
              <a:solidFill>
                <a:srgbClr val="24292D"/>
              </a:solidFill>
              <a:latin typeface="Arial" panose="020B0604020202020204"/>
              <a:ea typeface="Arial" panose="020B0604020202020204"/>
              <a:cs typeface="Arial" panose="020B0604020202020204"/>
            </a:endParaRPr>
          </a:p>
        </p:txBody>
      </p:sp>
      <p:sp>
        <p:nvSpPr>
          <p:cNvPr id="49" name="矩形 48"/>
          <p:cNvSpPr>
            <a:spLocks noGrp="1"/>
          </p:cNvSpPr>
          <p:nvPr/>
        </p:nvSpPr>
        <p:spPr>
          <a:xfrm>
            <a:off x="4933950" y="13363575"/>
            <a:ext cx="4219575" cy="361950"/>
          </a:xfrm>
          <a:prstGeom prst="rect">
            <a:avLst/>
          </a:prstGeom>
          <a:noFill/>
          <a:ln w="0">
            <a:noFill/>
          </a:ln>
        </p:spPr>
        <p:txBody>
          <a:bodyPr wrap="none" lIns="0" tIns="0" rIns="0" bIns="0" anchor="ctr">
            <a:noAutofit/>
          </a:bodyPr>
          <a:lstStyle/>
          <a:p>
            <a:pPr algn="l">
              <a:defRPr sz="1650" b="1">
                <a:solidFill>
                  <a:srgbClr val="277F8A"/>
                </a:solidFill>
                <a:latin typeface="Arial" panose="020B0604020202020204"/>
                <a:ea typeface="Arial" panose="020B0604020202020204"/>
                <a:cs typeface="Arial" panose="020B0604020202020204"/>
              </a:defRPr>
            </a:pPr>
            <a:r>
              <a:rPr sz="1650" b="1">
                <a:solidFill>
                  <a:srgbClr val="277F8A"/>
                </a:solidFill>
                <a:latin typeface="Arial" panose="020B0604020202020204"/>
                <a:ea typeface="Arial" panose="020B0604020202020204"/>
                <a:cs typeface="Arial" panose="020B0604020202020204"/>
              </a:rPr>
              <a:t>Predicted fines: 49% → 35%</a:t>
            </a:r>
            <a:endParaRPr sz="1650" b="1">
              <a:solidFill>
                <a:srgbClr val="277F8A"/>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4933950" y="13782675"/>
            <a:ext cx="4219575" cy="333375"/>
          </a:xfrm>
          <a:prstGeom prst="rect">
            <a:avLst/>
          </a:prstGeom>
          <a:noFill/>
          <a:ln w="0">
            <a:noFill/>
          </a:ln>
        </p:spPr>
        <p:txBody>
          <a:bodyPr wrap="none" lIns="0" tIns="0" rIns="0" bIns="0" anchor="ctr">
            <a:noAutofit/>
          </a:bodyPr>
          <a:lstStyle/>
          <a:p>
            <a:pPr algn="l">
              <a:defRPr sz="1350" b="0">
                <a:solidFill>
                  <a:srgbClr val="657078"/>
                </a:solidFill>
                <a:latin typeface="Arial" panose="020B0604020202020204"/>
                <a:ea typeface="Arial" panose="020B0604020202020204"/>
                <a:cs typeface="Arial" panose="020B0604020202020204"/>
              </a:defRPr>
            </a:pPr>
            <a:r>
              <a:rPr sz="1350" b="0">
                <a:solidFill>
                  <a:srgbClr val="657078"/>
                </a:solidFill>
                <a:latin typeface="Arial" panose="020B0604020202020204"/>
                <a:ea typeface="Arial" panose="020B0604020202020204"/>
                <a:cs typeface="Arial" panose="020B0604020202020204"/>
              </a:rPr>
              <a:t>80% intervals: [28, 71] → [16, 59]%</a:t>
            </a:r>
            <a:endParaRPr sz="1350" b="0">
              <a:solidFill>
                <a:srgbClr val="657078"/>
              </a:solidFill>
              <a:latin typeface="Arial" panose="020B0604020202020204"/>
              <a:ea typeface="Arial" panose="020B0604020202020204"/>
              <a:cs typeface="Arial" panose="020B0604020202020204"/>
            </a:endParaRPr>
          </a:p>
        </p:txBody>
      </p:sp>
      <p:sp>
        <p:nvSpPr>
          <p:cNvPr id="51" name="直接连接符 50"/>
          <p:cNvSpPr>
            <a:spLocks noGrp="1"/>
          </p:cNvSpPr>
          <p:nvPr/>
        </p:nvSpPr>
        <p:spPr>
          <a:xfrm>
            <a:off x="9401175" y="12620625"/>
            <a:ext cx="953" cy="1628775"/>
          </a:xfrm>
          <a:prstGeom prst="line">
            <a:avLst/>
          </a:prstGeom>
          <a:noFill/>
          <a:ln w="11430">
            <a:solidFill>
              <a:srgbClr val="D7DDE1"/>
            </a:solidFill>
          </a:ln>
        </p:spPr>
      </p:sp>
      <p:sp>
        <p:nvSpPr>
          <p:cNvPr id="52" name="矩形 51"/>
          <p:cNvSpPr>
            <a:spLocks noGrp="1"/>
          </p:cNvSpPr>
          <p:nvPr/>
        </p:nvSpPr>
        <p:spPr>
          <a:xfrm>
            <a:off x="9667875" y="12620625"/>
            <a:ext cx="3552825" cy="323850"/>
          </a:xfrm>
          <a:prstGeom prst="rect">
            <a:avLst/>
          </a:prstGeom>
          <a:noFill/>
          <a:ln w="0">
            <a:noFill/>
          </a:ln>
        </p:spPr>
        <p:txBody>
          <a:bodyPr wrap="none" lIns="0" tIns="0" rIns="0" bIns="0" anchor="ctr">
            <a:noAutofit/>
          </a:bodyPr>
          <a:lstStyle/>
          <a:p>
            <a:pPr algn="l">
              <a:defRPr sz="1575" b="1">
                <a:solidFill>
                  <a:srgbClr val="277F8A"/>
                </a:solidFill>
                <a:latin typeface="Arial" panose="020B0604020202020204"/>
                <a:ea typeface="Arial" panose="020B0604020202020204"/>
                <a:cs typeface="Arial" panose="020B0604020202020204"/>
              </a:defRPr>
            </a:pPr>
            <a:r>
              <a:rPr sz="1575" b="1">
                <a:solidFill>
                  <a:srgbClr val="277F8A"/>
                </a:solidFill>
                <a:latin typeface="Arial" panose="020B0604020202020204"/>
                <a:ea typeface="Arial" panose="020B0604020202020204"/>
                <a:cs typeface="Arial" panose="020B0604020202020204"/>
              </a:rPr>
              <a:t>K2 · after sealed Q</a:t>
            </a:r>
            <a:endParaRPr sz="1575" b="1">
              <a:solidFill>
                <a:srgbClr val="277F8A"/>
              </a:solidFill>
              <a:latin typeface="Arial" panose="020B0604020202020204"/>
              <a:ea typeface="Arial" panose="020B0604020202020204"/>
              <a:cs typeface="Arial" panose="020B0604020202020204"/>
            </a:endParaRPr>
          </a:p>
        </p:txBody>
      </p:sp>
      <p:sp>
        <p:nvSpPr>
          <p:cNvPr id="53" name="矩形 52"/>
          <p:cNvSpPr>
            <a:spLocks noGrp="1"/>
          </p:cNvSpPr>
          <p:nvPr/>
        </p:nvSpPr>
        <p:spPr>
          <a:xfrm>
            <a:off x="9667875" y="13001625"/>
            <a:ext cx="3543300" cy="1019175"/>
          </a:xfrm>
          <a:prstGeom prst="rect">
            <a:avLst/>
          </a:prstGeom>
          <a:noFill/>
          <a:ln w="0">
            <a:noFill/>
          </a:ln>
        </p:spPr>
        <p:txBody>
          <a:bodyPr wrap="none" lIns="0" tIns="0" rIns="0" bIns="0" anchor="ctr">
            <a:noAutofit/>
          </a:bodyPr>
          <a:lstStyle/>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With no reference feedback, it said</a:t>
            </a:r>
            <a:endParaRPr sz="1425" b="0">
              <a:solidFill>
                <a:srgbClr val="24292D"/>
              </a:solidFill>
              <a:latin typeface="Arial" panose="020B0604020202020204"/>
              <a:ea typeface="Arial" panose="020B0604020202020204"/>
              <a:cs typeface="Arial" panose="020B0604020202020204"/>
            </a:endParaRPr>
          </a:p>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the B8 negative result was underused</a:t>
            </a:r>
            <a:endParaRPr sz="1425" b="0">
              <a:solidFill>
                <a:srgbClr val="24292D"/>
              </a:solidFill>
              <a:latin typeface="Arial" panose="020B0604020202020204"/>
              <a:ea typeface="Arial" panose="020B0604020202020204"/>
              <a:cs typeface="Arial" panose="020B0604020202020204"/>
            </a:endParaRPr>
          </a:p>
          <a:p>
            <a:pPr algn="l">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and even the sign was uncertain.</a:t>
            </a:r>
            <a:endParaRPr sz="1425" b="0">
              <a:solidFill>
                <a:srgbClr val="24292D"/>
              </a:solidFill>
              <a:latin typeface="Arial" panose="020B0604020202020204"/>
              <a:ea typeface="Arial" panose="020B0604020202020204"/>
              <a:cs typeface="Arial" panose="020B0604020202020204"/>
            </a:endParaRPr>
          </a:p>
        </p:txBody>
      </p:sp>
      <p:sp>
        <p:nvSpPr>
          <p:cNvPr id="54" name="直接连接符 53"/>
          <p:cNvSpPr>
            <a:spLocks noGrp="1"/>
          </p:cNvSpPr>
          <p:nvPr/>
        </p:nvSpPr>
        <p:spPr>
          <a:xfrm>
            <a:off x="238125" y="14420850"/>
            <a:ext cx="13192125" cy="953"/>
          </a:xfrm>
          <a:prstGeom prst="line">
            <a:avLst/>
          </a:prstGeom>
          <a:noFill/>
          <a:ln w="13335">
            <a:solidFill>
              <a:srgbClr val="D7DDE1"/>
            </a:solidFill>
          </a:ln>
        </p:spPr>
      </p:sp>
      <p:sp>
        <p:nvSpPr>
          <p:cNvPr id="55" name="矩形 54"/>
          <p:cNvSpPr>
            <a:spLocks noGrp="1"/>
          </p:cNvSpPr>
          <p:nvPr/>
        </p:nvSpPr>
        <p:spPr>
          <a:xfrm>
            <a:off x="514350" y="14611350"/>
            <a:ext cx="12573000" cy="323850"/>
          </a:xfrm>
          <a:prstGeom prst="rect">
            <a:avLst/>
          </a:prstGeom>
          <a:noFill/>
          <a:ln w="0">
            <a:noFill/>
          </a:ln>
        </p:spPr>
        <p:txBody>
          <a:bodyPr wrap="none" lIns="0" tIns="0" rIns="0" bIns="0" anchor="ctr">
            <a:noAutofit/>
          </a:bodyPr>
          <a:lstStyle/>
          <a:p>
            <a:pPr algn="l">
              <a:defRPr sz="1425" b="0">
                <a:solidFill>
                  <a:srgbClr val="657078"/>
                </a:solidFill>
                <a:latin typeface="Arial" panose="020B0604020202020204"/>
                <a:ea typeface="Arial" panose="020B0604020202020204"/>
                <a:cs typeface="Arial" panose="020B0604020202020204"/>
              </a:defRPr>
            </a:pPr>
            <a:r>
              <a:rPr sz="1425" b="0">
                <a:solidFill>
                  <a:srgbClr val="657078"/>
                </a:solidFill>
                <a:latin typeface="Arial" panose="020B0604020202020204"/>
                <a:ea typeface="Arial" panose="020B0604020202020204"/>
                <a:cs typeface="Arial" panose="020B0604020202020204"/>
              </a:rPr>
              <a:t>Evaluator-only reference for the same hold → reheat contrast</a:t>
            </a:r>
            <a:endParaRPr sz="1425" b="0">
              <a:solidFill>
                <a:srgbClr val="657078"/>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514350" y="14954250"/>
            <a:ext cx="4857750" cy="447675"/>
          </a:xfrm>
          <a:prstGeom prst="rect">
            <a:avLst/>
          </a:prstGeom>
          <a:noFill/>
          <a:ln w="0">
            <a:noFill/>
          </a:ln>
        </p:spPr>
        <p:txBody>
          <a:bodyPr wrap="none" lIns="0" tIns="0" rIns="0" bIns="0" anchor="ctr">
            <a:noAutofit/>
          </a:bodyPr>
          <a:lstStyle/>
          <a:p>
            <a:pPr algn="l">
              <a:defRPr sz="2175" b="1">
                <a:solidFill>
                  <a:srgbClr val="A35F42"/>
                </a:solidFill>
                <a:latin typeface="Arial" panose="020B0604020202020204"/>
                <a:ea typeface="Arial" panose="020B0604020202020204"/>
                <a:cs typeface="Arial" panose="020B0604020202020204"/>
              </a:defRPr>
            </a:pPr>
            <a:r>
              <a:rPr sz="2175" b="1">
                <a:solidFill>
                  <a:srgbClr val="A35F42"/>
                </a:solidFill>
                <a:latin typeface="Arial" panose="020B0604020202020204"/>
                <a:ea typeface="Arial" panose="020B0604020202020204"/>
                <a:cs typeface="Arial" panose="020B0604020202020204"/>
              </a:rPr>
              <a:t>Fines: 35% → 100%</a:t>
            </a:r>
            <a:endParaRPr sz="2175" b="1">
              <a:solidFill>
                <a:srgbClr val="A35F42"/>
              </a:solidFill>
              <a:latin typeface="Arial" panose="020B0604020202020204"/>
              <a:ea typeface="Arial" panose="020B0604020202020204"/>
              <a:cs typeface="Arial" panose="020B0604020202020204"/>
            </a:endParaRPr>
          </a:p>
        </p:txBody>
      </p:sp>
      <p:sp>
        <p:nvSpPr>
          <p:cNvPr id="57" name="矩形 56"/>
          <p:cNvSpPr>
            <a:spLocks noGrp="1"/>
          </p:cNvSpPr>
          <p:nvPr/>
        </p:nvSpPr>
        <p:spPr>
          <a:xfrm>
            <a:off x="5572125" y="14973300"/>
            <a:ext cx="7543800" cy="419100"/>
          </a:xfrm>
          <a:prstGeom prst="rect">
            <a:avLst/>
          </a:prstGeom>
          <a:noFill/>
          <a:ln w="0">
            <a:noFill/>
          </a:ln>
        </p:spPr>
        <p:txBody>
          <a:bodyPr wrap="none" lIns="0" tIns="0" rIns="0" bIns="0" anchor="ctr">
            <a:noAutofit/>
          </a:bodyPr>
          <a:lstStyle/>
          <a:p>
            <a:pPr algn="l">
              <a:defRPr sz="1650" b="1">
                <a:solidFill>
                  <a:srgbClr val="24292D"/>
                </a:solidFill>
                <a:latin typeface="Arial" panose="020B0604020202020204"/>
                <a:ea typeface="Arial" panose="020B0604020202020204"/>
                <a:cs typeface="Arial" panose="020B0604020202020204"/>
              </a:defRPr>
            </a:pPr>
            <a:r>
              <a:rPr sz="1650" b="1">
                <a:solidFill>
                  <a:srgbClr val="24292D"/>
                </a:solidFill>
                <a:latin typeface="Arial" panose="020B0604020202020204"/>
                <a:ea typeface="Arial" panose="020B0604020202020204"/>
                <a:cs typeface="Arial" panose="020B0604020202020204"/>
              </a:rPr>
              <a:t>The sealed forecast had the opposite direction.</a:t>
            </a:r>
            <a:endParaRPr sz="1650" b="1">
              <a:solidFill>
                <a:srgbClr val="24292D"/>
              </a:solidFill>
              <a:latin typeface="Arial" panose="020B0604020202020204"/>
              <a:ea typeface="Arial" panose="020B0604020202020204"/>
              <a:cs typeface="Arial" panose="020B0604020202020204"/>
            </a:endParaRPr>
          </a:p>
        </p:txBody>
      </p:sp>
      <p:sp>
        <p:nvSpPr>
          <p:cNvPr id="58" name="矩形 57"/>
          <p:cNvSpPr>
            <a:spLocks noGrp="1"/>
          </p:cNvSpPr>
          <p:nvPr/>
        </p:nvSpPr>
        <p:spPr>
          <a:xfrm>
            <a:off x="514350" y="15544800"/>
            <a:ext cx="12573000" cy="295275"/>
          </a:xfrm>
          <a:prstGeom prst="rect">
            <a:avLst/>
          </a:prstGeom>
          <a:noFill/>
          <a:ln w="0">
            <a:noFill/>
          </a:ln>
        </p:spPr>
        <p:txBody>
          <a:bodyPr wrap="none" lIns="0" tIns="0" rIns="0" bIns="0" anchor="ctr">
            <a:noAutofit/>
          </a:bodyPr>
          <a:lstStyle/>
          <a:p>
            <a:pPr algn="l">
              <a:defRPr sz="1350" b="0">
                <a:solidFill>
                  <a:srgbClr val="657078"/>
                </a:solidFill>
                <a:latin typeface="Arial" panose="020B0604020202020204"/>
                <a:ea typeface="Arial" panose="020B0604020202020204"/>
                <a:cs typeface="Arial" panose="020B0604020202020204"/>
              </a:defRPr>
            </a:pPr>
            <a:r>
              <a:rPr sz="1350" b="0">
                <a:solidFill>
                  <a:srgbClr val="657078"/>
                </a:solidFill>
                <a:latin typeface="Arial" panose="020B0604020202020204"/>
                <a:ea typeface="Arial" panose="020B0604020202020204"/>
                <a:cs typeface="Arial" panose="020B0604020202020204"/>
              </a:rPr>
              <a:t>Reference outcomes were unavailable during K1, Q and K2.</a:t>
            </a:r>
            <a:endParaRPr sz="1350" b="0">
              <a:solidFill>
                <a:srgbClr val="657078"/>
              </a:solidFill>
              <a:latin typeface="Arial" panose="020B0604020202020204"/>
              <a:ea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1" name="矩形 20"/>
          <p:cNvSpPr>
            <a:spLocks noGrp="1"/>
          </p:cNvSpPr>
          <p:nvPr/>
        </p:nvSpPr>
        <p:spPr>
          <a:xfrm>
            <a:off x="238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52400"/>
            <a:ext cx="195834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Electrochemistry</a:t>
            </a:r>
            <a:endParaRPr sz="1500" b="0">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962025" y="542925"/>
            <a:ext cx="5810250" cy="276225"/>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Upper right: better operation, worse prediction</a:t>
            </a:r>
            <a:endParaRPr sz="1350" b="0">
              <a:solidFill>
                <a:srgbClr val="6A737B"/>
              </a:solidFill>
              <a:latin typeface="Arial" panose="020B0604020202020204"/>
              <a:ea typeface="Arial" panose="020B0604020202020204"/>
              <a:cs typeface="Arial" panose="020B0604020202020204"/>
            </a:endParaRPr>
          </a:p>
        </p:txBody>
      </p:sp>
      <p:graphicFrame>
        <p:nvGraphicFramePr>
          <p:cNvPr id="24" name="Chart"/>
          <p:cNvGraphicFramePr/>
          <p:nvPr/>
        </p:nvGraphicFramePr>
        <p:xfrm>
          <a:off x="285750" y="857250"/>
          <a:ext cx="6429375" cy="4191000"/>
        </p:xfrm>
        <a:graphic>
          <a:graphicData uri="http://schemas.openxmlformats.org/drawingml/2006/chart">
            <c:chart xmlns:c="http://schemas.openxmlformats.org/drawingml/2006/chart" xmlns:r="http://schemas.openxmlformats.org/officeDocument/2006/relationships" r:id="rId1"/>
          </a:graphicData>
        </a:graphic>
      </p:graphicFrame>
      <p:sp>
        <p:nvSpPr>
          <p:cNvPr id="5" name="矩形 4"/>
          <p:cNvSpPr>
            <a:spLocks noGrp="1"/>
          </p:cNvSpPr>
          <p:nvPr/>
        </p:nvSpPr>
        <p:spPr>
          <a:xfrm>
            <a:off x="971550" y="52197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Retest improves: 26/30</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971550" y="55245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improves: 14/30</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971550" y="5895975"/>
            <a:ext cx="5810250" cy="314325"/>
          </a:xfrm>
          <a:prstGeom prst="rect">
            <a:avLst/>
          </a:prstGeom>
          <a:noFill/>
          <a:ln w="0">
            <a:noFill/>
          </a:ln>
        </p:spPr>
        <p:txBody>
          <a:bodyPr wrap="none" lIns="0" tIns="0" rIns="0" bIns="0" anchor="ctr">
            <a:noAutofit/>
          </a:bodyPr>
          <a:lstStyle/>
          <a:p>
            <a:pPr algn="l">
              <a:defRPr sz="1500" b="1">
                <a:solidFill>
                  <a:srgbClr val="A35F42"/>
                </a:solidFill>
                <a:latin typeface="Arial" panose="020B0604020202020204"/>
                <a:ea typeface="Arial" panose="020B0604020202020204"/>
                <a:cs typeface="Arial" panose="020B0604020202020204"/>
              </a:defRPr>
            </a:pPr>
            <a:r>
              <a:rPr sz="1500" b="1">
                <a:solidFill>
                  <a:srgbClr val="A35F42"/>
                </a:solidFill>
                <a:latin typeface="Arial" panose="020B0604020202020204"/>
                <a:ea typeface="Arial" panose="020B0604020202020204"/>
                <a:cs typeface="Arial" panose="020B0604020202020204"/>
              </a:rPr>
              <a:t>Better retest + worse prediction: 13/30</a:t>
            </a:r>
            <a:endParaRPr sz="1500" b="1">
              <a:solidFill>
                <a:srgbClr val="A35F42"/>
              </a:solidFill>
              <a:latin typeface="Arial" panose="020B0604020202020204"/>
              <a:ea typeface="Arial" panose="020B0604020202020204"/>
              <a:cs typeface="Arial" panose="020B0604020202020204"/>
            </a:endParaRPr>
          </a:p>
        </p:txBody>
      </p:sp>
      <p:sp>
        <p:nvSpPr>
          <p:cNvPr id="8" name="矩形 7"/>
          <p:cNvSpPr>
            <a:spLocks noGrp="1"/>
          </p:cNvSpPr>
          <p:nvPr/>
        </p:nvSpPr>
        <p:spPr>
          <a:xfrm>
            <a:off x="7096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7477125" y="152400"/>
            <a:ext cx="228981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a:t>
            </a:r>
            <a:endParaRPr sz="150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7820025" y="542925"/>
            <a:ext cx="5705475" cy="276225"/>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Upper right: better operation, worse prediction</a:t>
            </a:r>
            <a:endParaRPr sz="1350" b="0">
              <a:solidFill>
                <a:srgbClr val="6A737B"/>
              </a:solidFill>
              <a:latin typeface="Arial" panose="020B0604020202020204"/>
              <a:ea typeface="Arial" panose="020B0604020202020204"/>
              <a:cs typeface="Arial" panose="020B0604020202020204"/>
            </a:endParaRPr>
          </a:p>
        </p:txBody>
      </p:sp>
      <p:graphicFrame>
        <p:nvGraphicFramePr>
          <p:cNvPr id="31" name="Chart"/>
          <p:cNvGraphicFramePr/>
          <p:nvPr/>
        </p:nvGraphicFramePr>
        <p:xfrm>
          <a:off x="7143750" y="857250"/>
          <a:ext cx="6429375" cy="4191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矩形 11"/>
          <p:cNvSpPr>
            <a:spLocks noGrp="1"/>
          </p:cNvSpPr>
          <p:nvPr/>
        </p:nvSpPr>
        <p:spPr>
          <a:xfrm>
            <a:off x="7829550" y="52197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Retest improves: 9/30</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7829550" y="55245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improves: 8/30</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829550" y="5895975"/>
            <a:ext cx="5695950" cy="314325"/>
          </a:xfrm>
          <a:prstGeom prst="rect">
            <a:avLst/>
          </a:prstGeom>
          <a:noFill/>
          <a:ln w="0">
            <a:noFill/>
          </a:ln>
        </p:spPr>
        <p:txBody>
          <a:bodyPr wrap="none" lIns="0" tIns="0" rIns="0" bIns="0" anchor="ctr">
            <a:noAutofit/>
          </a:bodyPr>
          <a:lstStyle/>
          <a:p>
            <a:pPr algn="l">
              <a:defRPr sz="1500" b="1">
                <a:solidFill>
                  <a:srgbClr val="A35F42"/>
                </a:solidFill>
                <a:latin typeface="Arial" panose="020B0604020202020204"/>
                <a:ea typeface="Arial" panose="020B0604020202020204"/>
                <a:cs typeface="Arial" panose="020B0604020202020204"/>
              </a:defRPr>
            </a:pPr>
            <a:r>
              <a:rPr sz="1500" b="1">
                <a:solidFill>
                  <a:srgbClr val="A35F42"/>
                </a:solidFill>
                <a:latin typeface="Arial" panose="020B0604020202020204"/>
                <a:ea typeface="Arial" panose="020B0604020202020204"/>
                <a:cs typeface="Arial" panose="020B0604020202020204"/>
              </a:rPr>
              <a:t>Better retest + worse prediction: 5/30</a:t>
            </a:r>
            <a:endParaRPr sz="1500" b="1">
              <a:solidFill>
                <a:srgbClr val="A35F42"/>
              </a:solidFill>
              <a:latin typeface="Arial" panose="020B0604020202020204"/>
              <a:ea typeface="Arial" panose="020B0604020202020204"/>
              <a:cs typeface="Arial" panose="020B0604020202020204"/>
            </a:endParaRPr>
          </a:p>
        </p:txBody>
      </p:sp>
      <p:sp>
        <p:nvSpPr>
          <p:cNvPr id="15" name="椭圆 14"/>
          <p:cNvSpPr>
            <a:spLocks noGrp="1"/>
          </p:cNvSpPr>
          <p:nvPr/>
        </p:nvSpPr>
        <p:spPr>
          <a:xfrm>
            <a:off x="4200525" y="6686550"/>
            <a:ext cx="114300" cy="114300"/>
          </a:xfrm>
          <a:prstGeom prst="ellipse">
            <a:avLst/>
          </a:prstGeom>
          <a:solidFill>
            <a:srgbClr val="637482"/>
          </a:solidFill>
          <a:ln w="9525">
            <a:solidFill>
              <a:srgbClr val="637482"/>
            </a:solidFill>
          </a:ln>
        </p:spPr>
      </p:sp>
      <p:sp>
        <p:nvSpPr>
          <p:cNvPr id="16" name="矩形 15"/>
          <p:cNvSpPr>
            <a:spLocks noGrp="1"/>
          </p:cNvSpPr>
          <p:nvPr/>
        </p:nvSpPr>
        <p:spPr>
          <a:xfrm>
            <a:off x="4429125" y="65913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7" name="椭圆 16"/>
          <p:cNvSpPr>
            <a:spLocks noGrp="1"/>
          </p:cNvSpPr>
          <p:nvPr/>
        </p:nvSpPr>
        <p:spPr>
          <a:xfrm>
            <a:off x="5267325" y="6686550"/>
            <a:ext cx="114300" cy="114300"/>
          </a:xfrm>
          <a:prstGeom prst="ellipse">
            <a:avLst/>
          </a:prstGeom>
          <a:solidFill>
            <a:srgbClr val="277F8A"/>
          </a:solidFill>
          <a:ln w="9525">
            <a:solidFill>
              <a:srgbClr val="277F8A"/>
            </a:solidFill>
          </a:ln>
        </p:spPr>
      </p:sp>
      <p:sp>
        <p:nvSpPr>
          <p:cNvPr id="18" name="矩形 17"/>
          <p:cNvSpPr>
            <a:spLocks noGrp="1"/>
          </p:cNvSpPr>
          <p:nvPr/>
        </p:nvSpPr>
        <p:spPr>
          <a:xfrm>
            <a:off x="5495925" y="65913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9" name="椭圆 18"/>
          <p:cNvSpPr>
            <a:spLocks noGrp="1"/>
          </p:cNvSpPr>
          <p:nvPr/>
        </p:nvSpPr>
        <p:spPr>
          <a:xfrm>
            <a:off x="6448425" y="6686550"/>
            <a:ext cx="114300" cy="114300"/>
          </a:xfrm>
          <a:prstGeom prst="ellipse">
            <a:avLst/>
          </a:prstGeom>
          <a:solidFill>
            <a:srgbClr val="BC7850"/>
          </a:solidFill>
          <a:ln w="9525">
            <a:solidFill>
              <a:srgbClr val="BC7850"/>
            </a:solidFill>
          </a:ln>
        </p:spPr>
      </p:sp>
      <p:sp>
        <p:nvSpPr>
          <p:cNvPr id="20" name="矩形 19"/>
          <p:cNvSpPr>
            <a:spLocks noGrp="1"/>
          </p:cNvSpPr>
          <p:nvPr/>
        </p:nvSpPr>
        <p:spPr>
          <a:xfrm>
            <a:off x="6677025" y="65913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5" name="矩形 234"/>
          <p:cNvSpPr>
            <a:spLocks noGrp="1"/>
          </p:cNvSpPr>
          <p:nvPr/>
        </p:nvSpPr>
        <p:spPr>
          <a:xfrm>
            <a:off x="238125" y="14287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476250" y="17145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Electrochemistry Discovery</a:t>
            </a:r>
            <a:endParaRPr sz="1350" b="1">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638175" y="55245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Score MAE</a:t>
            </a:r>
            <a:endParaRPr sz="1275" b="0">
              <a:solidFill>
                <a:srgbClr val="6A737B"/>
              </a:solidFill>
              <a:latin typeface="Arial" panose="020B0604020202020204"/>
              <a:ea typeface="Arial" panose="020B0604020202020204"/>
              <a:cs typeface="Arial" panose="020B0604020202020204"/>
            </a:endParaRPr>
          </a:p>
        </p:txBody>
      </p:sp>
      <p:sp>
        <p:nvSpPr>
          <p:cNvPr id="4" name="直接连接符 3"/>
          <p:cNvSpPr>
            <a:spLocks noGrp="1"/>
          </p:cNvSpPr>
          <p:nvPr/>
        </p:nvSpPr>
        <p:spPr>
          <a:xfrm>
            <a:off x="1304925" y="1524000"/>
            <a:ext cx="1666875" cy="953"/>
          </a:xfrm>
          <a:prstGeom prst="line">
            <a:avLst/>
          </a:prstGeom>
          <a:noFill/>
          <a:ln w="19050">
            <a:solidFill>
              <a:srgbClr val="D7DDE1"/>
            </a:solidFill>
          </a:ln>
        </p:spPr>
      </p:sp>
      <p:sp>
        <p:nvSpPr>
          <p:cNvPr id="5" name="椭圆 4"/>
          <p:cNvSpPr>
            <a:spLocks noGrp="1"/>
          </p:cNvSpPr>
          <p:nvPr/>
        </p:nvSpPr>
        <p:spPr>
          <a:xfrm>
            <a:off x="1219200" y="1438275"/>
            <a:ext cx="171450" cy="171450"/>
          </a:xfrm>
          <a:prstGeom prst="ellipse">
            <a:avLst/>
          </a:prstGeom>
          <a:solidFill>
            <a:srgbClr val="416B92"/>
          </a:solidFill>
          <a:ln w="9525">
            <a:solidFill>
              <a:srgbClr val="416B92"/>
            </a:solidFill>
          </a:ln>
        </p:spPr>
      </p:sp>
      <p:sp>
        <p:nvSpPr>
          <p:cNvPr id="6" name="椭圆 5"/>
          <p:cNvSpPr>
            <a:spLocks noGrp="1"/>
          </p:cNvSpPr>
          <p:nvPr/>
        </p:nvSpPr>
        <p:spPr>
          <a:xfrm>
            <a:off x="2886075" y="1438275"/>
            <a:ext cx="171450" cy="171450"/>
          </a:xfrm>
          <a:prstGeom prst="ellipse">
            <a:avLst/>
          </a:prstGeom>
          <a:solidFill>
            <a:srgbClr val="277F8A"/>
          </a:solidFill>
          <a:ln w="9525">
            <a:solidFill>
              <a:srgbClr val="277F8A"/>
            </a:solidFill>
          </a:ln>
        </p:spPr>
      </p:sp>
      <p:sp>
        <p:nvSpPr>
          <p:cNvPr id="7" name="矩形 6"/>
          <p:cNvSpPr>
            <a:spLocks noGrp="1"/>
          </p:cNvSpPr>
          <p:nvPr/>
        </p:nvSpPr>
        <p:spPr>
          <a:xfrm>
            <a:off x="771525"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2438400"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723900" y="167640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0.1738</a:t>
            </a:r>
            <a:endParaRPr sz="1350" b="0">
              <a:solidFill>
                <a:srgbClr val="416B92"/>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2390775" y="167640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0.1122</a:t>
            </a:r>
            <a:endParaRPr sz="1350" b="0">
              <a:solidFill>
                <a:srgbClr val="277F8A"/>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3714750" y="136207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11/15</a:t>
            </a:r>
            <a:endParaRPr sz="1500" b="1">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3609975" y="1638300"/>
            <a:ext cx="876300"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13" name="直接连接符 12"/>
          <p:cNvSpPr>
            <a:spLocks noGrp="1"/>
          </p:cNvSpPr>
          <p:nvPr/>
        </p:nvSpPr>
        <p:spPr>
          <a:xfrm>
            <a:off x="2333625" y="2257425"/>
            <a:ext cx="953" cy="1295400"/>
          </a:xfrm>
          <a:prstGeom prst="line">
            <a:avLst/>
          </a:prstGeom>
          <a:noFill/>
          <a:ln w="11430">
            <a:solidFill>
              <a:srgbClr val="6A737B"/>
            </a:solidFill>
          </a:ln>
        </p:spPr>
      </p:sp>
      <p:sp>
        <p:nvSpPr>
          <p:cNvPr id="14" name="椭圆 13"/>
          <p:cNvSpPr>
            <a:spLocks noGrp="1"/>
          </p:cNvSpPr>
          <p:nvPr/>
        </p:nvSpPr>
        <p:spPr>
          <a:xfrm>
            <a:off x="1258770" y="2576513"/>
            <a:ext cx="104775" cy="104775"/>
          </a:xfrm>
          <a:prstGeom prst="ellipse">
            <a:avLst/>
          </a:prstGeom>
          <a:solidFill>
            <a:srgbClr val="A35F42"/>
          </a:solidFill>
          <a:ln w="9525">
            <a:solidFill>
              <a:srgbClr val="A35F42"/>
            </a:solidFill>
          </a:ln>
        </p:spPr>
      </p:sp>
      <p:sp>
        <p:nvSpPr>
          <p:cNvPr id="15" name="椭圆 14"/>
          <p:cNvSpPr>
            <a:spLocks noGrp="1"/>
          </p:cNvSpPr>
          <p:nvPr/>
        </p:nvSpPr>
        <p:spPr>
          <a:xfrm>
            <a:off x="1632840" y="3005138"/>
            <a:ext cx="104775" cy="104775"/>
          </a:xfrm>
          <a:prstGeom prst="ellipse">
            <a:avLst/>
          </a:prstGeom>
          <a:solidFill>
            <a:srgbClr val="A35F42"/>
          </a:solidFill>
          <a:ln w="9525">
            <a:solidFill>
              <a:srgbClr val="A35F42"/>
            </a:solidFill>
          </a:ln>
        </p:spPr>
      </p:sp>
      <p:sp>
        <p:nvSpPr>
          <p:cNvPr id="16" name="椭圆 15"/>
          <p:cNvSpPr>
            <a:spLocks noGrp="1"/>
          </p:cNvSpPr>
          <p:nvPr/>
        </p:nvSpPr>
        <p:spPr>
          <a:xfrm>
            <a:off x="1966376" y="2433638"/>
            <a:ext cx="104775" cy="104775"/>
          </a:xfrm>
          <a:prstGeom prst="ellipse">
            <a:avLst/>
          </a:prstGeom>
          <a:solidFill>
            <a:srgbClr val="A35F42"/>
          </a:solidFill>
          <a:ln w="9525">
            <a:solidFill>
              <a:srgbClr val="A35F42"/>
            </a:solidFill>
          </a:ln>
        </p:spPr>
      </p:sp>
      <p:sp>
        <p:nvSpPr>
          <p:cNvPr id="17" name="椭圆 16"/>
          <p:cNvSpPr>
            <a:spLocks noGrp="1"/>
          </p:cNvSpPr>
          <p:nvPr/>
        </p:nvSpPr>
        <p:spPr>
          <a:xfrm>
            <a:off x="2187632" y="3148013"/>
            <a:ext cx="104775" cy="104775"/>
          </a:xfrm>
          <a:prstGeom prst="ellipse">
            <a:avLst/>
          </a:prstGeom>
          <a:solidFill>
            <a:srgbClr val="A35F42"/>
          </a:solidFill>
          <a:ln w="9525">
            <a:solidFill>
              <a:srgbClr val="A35F42"/>
            </a:solidFill>
          </a:ln>
        </p:spPr>
      </p:sp>
      <p:sp>
        <p:nvSpPr>
          <p:cNvPr id="18" name="椭圆 17"/>
          <p:cNvSpPr>
            <a:spLocks noGrp="1"/>
          </p:cNvSpPr>
          <p:nvPr/>
        </p:nvSpPr>
        <p:spPr>
          <a:xfrm>
            <a:off x="2387759" y="2862263"/>
            <a:ext cx="104775" cy="104775"/>
          </a:xfrm>
          <a:prstGeom prst="ellipse">
            <a:avLst/>
          </a:prstGeom>
          <a:solidFill>
            <a:srgbClr val="277F8A"/>
          </a:solidFill>
          <a:ln w="9525">
            <a:solidFill>
              <a:srgbClr val="277F8A"/>
            </a:solidFill>
          </a:ln>
        </p:spPr>
      </p:sp>
      <p:sp>
        <p:nvSpPr>
          <p:cNvPr id="19" name="椭圆 18"/>
          <p:cNvSpPr>
            <a:spLocks noGrp="1"/>
          </p:cNvSpPr>
          <p:nvPr/>
        </p:nvSpPr>
        <p:spPr>
          <a:xfrm>
            <a:off x="2420899" y="2719388"/>
            <a:ext cx="104775" cy="104775"/>
          </a:xfrm>
          <a:prstGeom prst="ellipse">
            <a:avLst/>
          </a:prstGeom>
          <a:solidFill>
            <a:srgbClr val="277F8A"/>
          </a:solidFill>
          <a:ln w="9525">
            <a:solidFill>
              <a:srgbClr val="277F8A"/>
            </a:solidFill>
          </a:ln>
        </p:spPr>
      </p:sp>
      <p:sp>
        <p:nvSpPr>
          <p:cNvPr id="20" name="椭圆 19"/>
          <p:cNvSpPr>
            <a:spLocks noGrp="1"/>
          </p:cNvSpPr>
          <p:nvPr/>
        </p:nvSpPr>
        <p:spPr>
          <a:xfrm>
            <a:off x="2459356" y="3290888"/>
            <a:ext cx="104775" cy="104775"/>
          </a:xfrm>
          <a:prstGeom prst="ellipse">
            <a:avLst/>
          </a:prstGeom>
          <a:solidFill>
            <a:srgbClr val="277F8A"/>
          </a:solidFill>
          <a:ln w="9525">
            <a:solidFill>
              <a:srgbClr val="277F8A"/>
            </a:solidFill>
          </a:ln>
        </p:spPr>
      </p:sp>
      <p:sp>
        <p:nvSpPr>
          <p:cNvPr id="21" name="椭圆 20"/>
          <p:cNvSpPr>
            <a:spLocks noGrp="1"/>
          </p:cNvSpPr>
          <p:nvPr/>
        </p:nvSpPr>
        <p:spPr>
          <a:xfrm>
            <a:off x="2659717" y="3005138"/>
            <a:ext cx="104775" cy="104775"/>
          </a:xfrm>
          <a:prstGeom prst="ellipse">
            <a:avLst/>
          </a:prstGeom>
          <a:solidFill>
            <a:srgbClr val="277F8A"/>
          </a:solidFill>
          <a:ln w="9525">
            <a:solidFill>
              <a:srgbClr val="277F8A"/>
            </a:solidFill>
          </a:ln>
        </p:spPr>
      </p:sp>
      <p:sp>
        <p:nvSpPr>
          <p:cNvPr id="22" name="椭圆 21"/>
          <p:cNvSpPr>
            <a:spLocks noGrp="1"/>
          </p:cNvSpPr>
          <p:nvPr/>
        </p:nvSpPr>
        <p:spPr>
          <a:xfrm>
            <a:off x="2876448" y="2576513"/>
            <a:ext cx="104775" cy="104775"/>
          </a:xfrm>
          <a:prstGeom prst="ellipse">
            <a:avLst/>
          </a:prstGeom>
          <a:solidFill>
            <a:srgbClr val="277F8A"/>
          </a:solidFill>
          <a:ln w="9525">
            <a:solidFill>
              <a:srgbClr val="277F8A"/>
            </a:solidFill>
          </a:ln>
        </p:spPr>
      </p:sp>
      <p:sp>
        <p:nvSpPr>
          <p:cNvPr id="23" name="椭圆 22"/>
          <p:cNvSpPr>
            <a:spLocks noGrp="1"/>
          </p:cNvSpPr>
          <p:nvPr/>
        </p:nvSpPr>
        <p:spPr>
          <a:xfrm>
            <a:off x="3108953" y="3148013"/>
            <a:ext cx="104775" cy="104775"/>
          </a:xfrm>
          <a:prstGeom prst="ellipse">
            <a:avLst/>
          </a:prstGeom>
          <a:solidFill>
            <a:srgbClr val="277F8A"/>
          </a:solidFill>
          <a:ln w="9525">
            <a:solidFill>
              <a:srgbClr val="277F8A"/>
            </a:solidFill>
          </a:ln>
        </p:spPr>
      </p:sp>
      <p:sp>
        <p:nvSpPr>
          <p:cNvPr id="24" name="椭圆 23"/>
          <p:cNvSpPr>
            <a:spLocks noGrp="1"/>
          </p:cNvSpPr>
          <p:nvPr/>
        </p:nvSpPr>
        <p:spPr>
          <a:xfrm>
            <a:off x="3193221" y="2433638"/>
            <a:ext cx="104775" cy="104775"/>
          </a:xfrm>
          <a:prstGeom prst="ellipse">
            <a:avLst/>
          </a:prstGeom>
          <a:solidFill>
            <a:srgbClr val="277F8A"/>
          </a:solidFill>
          <a:ln w="9525">
            <a:solidFill>
              <a:srgbClr val="277F8A"/>
            </a:solidFill>
          </a:ln>
        </p:spPr>
      </p:sp>
      <p:sp>
        <p:nvSpPr>
          <p:cNvPr id="25" name="椭圆 24"/>
          <p:cNvSpPr>
            <a:spLocks noGrp="1"/>
          </p:cNvSpPr>
          <p:nvPr/>
        </p:nvSpPr>
        <p:spPr>
          <a:xfrm>
            <a:off x="3322302" y="2862263"/>
            <a:ext cx="104775" cy="104775"/>
          </a:xfrm>
          <a:prstGeom prst="ellipse">
            <a:avLst/>
          </a:prstGeom>
          <a:solidFill>
            <a:srgbClr val="277F8A"/>
          </a:solidFill>
          <a:ln w="9525">
            <a:solidFill>
              <a:srgbClr val="277F8A"/>
            </a:solidFill>
          </a:ln>
        </p:spPr>
      </p:sp>
      <p:sp>
        <p:nvSpPr>
          <p:cNvPr id="26" name="椭圆 25"/>
          <p:cNvSpPr>
            <a:spLocks noGrp="1"/>
          </p:cNvSpPr>
          <p:nvPr/>
        </p:nvSpPr>
        <p:spPr>
          <a:xfrm>
            <a:off x="3352304" y="3290888"/>
            <a:ext cx="104775" cy="104775"/>
          </a:xfrm>
          <a:prstGeom prst="ellipse">
            <a:avLst/>
          </a:prstGeom>
          <a:solidFill>
            <a:srgbClr val="277F8A"/>
          </a:solidFill>
          <a:ln w="9525">
            <a:solidFill>
              <a:srgbClr val="277F8A"/>
            </a:solidFill>
          </a:ln>
        </p:spPr>
      </p:sp>
      <p:sp>
        <p:nvSpPr>
          <p:cNvPr id="27" name="椭圆 26"/>
          <p:cNvSpPr>
            <a:spLocks noGrp="1"/>
          </p:cNvSpPr>
          <p:nvPr/>
        </p:nvSpPr>
        <p:spPr>
          <a:xfrm>
            <a:off x="3414505" y="2719388"/>
            <a:ext cx="104775" cy="104775"/>
          </a:xfrm>
          <a:prstGeom prst="ellipse">
            <a:avLst/>
          </a:prstGeom>
          <a:solidFill>
            <a:srgbClr val="277F8A"/>
          </a:solidFill>
          <a:ln w="9525">
            <a:solidFill>
              <a:srgbClr val="277F8A"/>
            </a:solidFill>
          </a:ln>
        </p:spPr>
      </p:sp>
      <p:sp>
        <p:nvSpPr>
          <p:cNvPr id="28" name="椭圆 27"/>
          <p:cNvSpPr>
            <a:spLocks noGrp="1"/>
          </p:cNvSpPr>
          <p:nvPr/>
        </p:nvSpPr>
        <p:spPr>
          <a:xfrm>
            <a:off x="3547812" y="2862263"/>
            <a:ext cx="104775" cy="104775"/>
          </a:xfrm>
          <a:prstGeom prst="ellipse">
            <a:avLst/>
          </a:prstGeom>
          <a:solidFill>
            <a:srgbClr val="277F8A"/>
          </a:solidFill>
          <a:ln w="9525">
            <a:solidFill>
              <a:srgbClr val="277F8A"/>
            </a:solidFill>
          </a:ln>
        </p:spPr>
      </p:sp>
      <p:sp>
        <p:nvSpPr>
          <p:cNvPr id="29" name="菱形 28"/>
          <p:cNvSpPr>
            <a:spLocks noGrp="1"/>
          </p:cNvSpPr>
          <p:nvPr/>
        </p:nvSpPr>
        <p:spPr>
          <a:xfrm>
            <a:off x="2654954" y="2857500"/>
            <a:ext cx="114300" cy="114300"/>
          </a:xfrm>
          <a:prstGeom prst="diamond">
            <a:avLst/>
          </a:prstGeom>
          <a:solidFill>
            <a:srgbClr val="24292D"/>
          </a:solidFill>
          <a:ln w="9525">
            <a:solidFill>
              <a:srgbClr val="24292D"/>
            </a:solidFill>
          </a:ln>
        </p:spPr>
      </p:sp>
      <p:sp>
        <p:nvSpPr>
          <p:cNvPr id="30" name="直接连接符 29"/>
          <p:cNvSpPr>
            <a:spLocks noGrp="1"/>
          </p:cNvSpPr>
          <p:nvPr/>
        </p:nvSpPr>
        <p:spPr>
          <a:xfrm>
            <a:off x="476250" y="3695700"/>
            <a:ext cx="3714750" cy="953"/>
          </a:xfrm>
          <a:prstGeom prst="line">
            <a:avLst/>
          </a:prstGeom>
          <a:noFill/>
          <a:ln w="12383">
            <a:solidFill>
              <a:srgbClr val="24292D"/>
            </a:solidFill>
          </a:ln>
        </p:spPr>
      </p:sp>
      <p:sp>
        <p:nvSpPr>
          <p:cNvPr id="31" name="直接连接符 30"/>
          <p:cNvSpPr>
            <a:spLocks noGrp="1"/>
          </p:cNvSpPr>
          <p:nvPr/>
        </p:nvSpPr>
        <p:spPr>
          <a:xfrm>
            <a:off x="523875" y="3695700"/>
            <a:ext cx="953" cy="76200"/>
          </a:xfrm>
          <a:prstGeom prst="line">
            <a:avLst/>
          </a:prstGeom>
          <a:noFill/>
          <a:ln w="9525">
            <a:solidFill>
              <a:srgbClr val="24292D"/>
            </a:solidFill>
          </a:ln>
        </p:spPr>
      </p:sp>
      <p:sp>
        <p:nvSpPr>
          <p:cNvPr id="32" name="矩形 31"/>
          <p:cNvSpPr>
            <a:spLocks noGrp="1"/>
          </p:cNvSpPr>
          <p:nvPr/>
        </p:nvSpPr>
        <p:spPr>
          <a:xfrm>
            <a:off x="161925"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33" name="直接连接符 32"/>
          <p:cNvSpPr>
            <a:spLocks noGrp="1"/>
          </p:cNvSpPr>
          <p:nvPr/>
        </p:nvSpPr>
        <p:spPr>
          <a:xfrm>
            <a:off x="2333625" y="3695700"/>
            <a:ext cx="953" cy="76200"/>
          </a:xfrm>
          <a:prstGeom prst="line">
            <a:avLst/>
          </a:prstGeom>
          <a:noFill/>
          <a:ln w="9525">
            <a:solidFill>
              <a:srgbClr val="24292D"/>
            </a:solidFill>
          </a:ln>
        </p:spPr>
      </p:sp>
      <p:sp>
        <p:nvSpPr>
          <p:cNvPr id="34" name="矩形 33"/>
          <p:cNvSpPr>
            <a:spLocks noGrp="1"/>
          </p:cNvSpPr>
          <p:nvPr/>
        </p:nvSpPr>
        <p:spPr>
          <a:xfrm>
            <a:off x="1971675"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35" name="直接连接符 34"/>
          <p:cNvSpPr>
            <a:spLocks noGrp="1"/>
          </p:cNvSpPr>
          <p:nvPr/>
        </p:nvSpPr>
        <p:spPr>
          <a:xfrm>
            <a:off x="4143375" y="3695700"/>
            <a:ext cx="953" cy="76200"/>
          </a:xfrm>
          <a:prstGeom prst="line">
            <a:avLst/>
          </a:prstGeom>
          <a:noFill/>
          <a:ln w="9525">
            <a:solidFill>
              <a:srgbClr val="24292D"/>
            </a:solidFill>
          </a:ln>
        </p:spPr>
      </p:sp>
      <p:sp>
        <p:nvSpPr>
          <p:cNvPr id="36" name="矩形 35"/>
          <p:cNvSpPr>
            <a:spLocks noGrp="1"/>
          </p:cNvSpPr>
          <p:nvPr/>
        </p:nvSpPr>
        <p:spPr>
          <a:xfrm>
            <a:off x="3781425"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37" name="矩形 36"/>
          <p:cNvSpPr>
            <a:spLocks noGrp="1"/>
          </p:cNvSpPr>
          <p:nvPr/>
        </p:nvSpPr>
        <p:spPr>
          <a:xfrm>
            <a:off x="352425" y="417195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Prediction error reduction</a:t>
            </a:r>
            <a:endParaRPr sz="1275" b="0">
              <a:solidFill>
                <a:srgbClr val="24292D"/>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4762500" y="14287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39" name="矩形 38"/>
          <p:cNvSpPr>
            <a:spLocks noGrp="1"/>
          </p:cNvSpPr>
          <p:nvPr/>
        </p:nvSpPr>
        <p:spPr>
          <a:xfrm>
            <a:off x="5000625" y="17145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Electrochemistry Optimization</a:t>
            </a:r>
            <a:endParaRPr sz="1350" b="1">
              <a:solidFill>
                <a:srgbClr val="24292D"/>
              </a:solidFill>
              <a:latin typeface="Arial" panose="020B0604020202020204"/>
              <a:ea typeface="Arial" panose="020B0604020202020204"/>
              <a:cs typeface="Arial" panose="020B0604020202020204"/>
            </a:endParaRPr>
          </a:p>
        </p:txBody>
      </p:sp>
      <p:sp>
        <p:nvSpPr>
          <p:cNvPr id="40" name="矩形 39"/>
          <p:cNvSpPr>
            <a:spLocks noGrp="1"/>
          </p:cNvSpPr>
          <p:nvPr/>
        </p:nvSpPr>
        <p:spPr>
          <a:xfrm>
            <a:off x="5162550" y="55245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Score MAE</a:t>
            </a:r>
            <a:endParaRPr sz="1275" b="0">
              <a:solidFill>
                <a:srgbClr val="6A737B"/>
              </a:solidFill>
              <a:latin typeface="Arial" panose="020B0604020202020204"/>
              <a:ea typeface="Arial" panose="020B0604020202020204"/>
              <a:cs typeface="Arial" panose="020B0604020202020204"/>
            </a:endParaRPr>
          </a:p>
        </p:txBody>
      </p:sp>
      <p:sp>
        <p:nvSpPr>
          <p:cNvPr id="41" name="直接连接符 40"/>
          <p:cNvSpPr>
            <a:spLocks noGrp="1"/>
          </p:cNvSpPr>
          <p:nvPr/>
        </p:nvSpPr>
        <p:spPr>
          <a:xfrm>
            <a:off x="5829300" y="1524000"/>
            <a:ext cx="1666875" cy="953"/>
          </a:xfrm>
          <a:prstGeom prst="line">
            <a:avLst/>
          </a:prstGeom>
          <a:noFill/>
          <a:ln w="19050">
            <a:solidFill>
              <a:srgbClr val="D7DDE1"/>
            </a:solidFill>
          </a:ln>
        </p:spPr>
      </p:sp>
      <p:sp>
        <p:nvSpPr>
          <p:cNvPr id="42" name="椭圆 41"/>
          <p:cNvSpPr>
            <a:spLocks noGrp="1"/>
          </p:cNvSpPr>
          <p:nvPr/>
        </p:nvSpPr>
        <p:spPr>
          <a:xfrm>
            <a:off x="5743575" y="1438275"/>
            <a:ext cx="171450" cy="171450"/>
          </a:xfrm>
          <a:prstGeom prst="ellipse">
            <a:avLst/>
          </a:prstGeom>
          <a:solidFill>
            <a:srgbClr val="416B92"/>
          </a:solidFill>
          <a:ln w="9525">
            <a:solidFill>
              <a:srgbClr val="416B92"/>
            </a:solidFill>
          </a:ln>
        </p:spPr>
      </p:sp>
      <p:sp>
        <p:nvSpPr>
          <p:cNvPr id="43" name="椭圆 42"/>
          <p:cNvSpPr>
            <a:spLocks noGrp="1"/>
          </p:cNvSpPr>
          <p:nvPr/>
        </p:nvSpPr>
        <p:spPr>
          <a:xfrm>
            <a:off x="7410450" y="1438275"/>
            <a:ext cx="171450" cy="171450"/>
          </a:xfrm>
          <a:prstGeom prst="ellipse">
            <a:avLst/>
          </a:prstGeom>
          <a:solidFill>
            <a:srgbClr val="277F8A"/>
          </a:solidFill>
          <a:ln w="9525">
            <a:solidFill>
              <a:srgbClr val="277F8A"/>
            </a:solidFill>
          </a:ln>
        </p:spPr>
      </p:sp>
      <p:sp>
        <p:nvSpPr>
          <p:cNvPr id="44" name="矩形 43"/>
          <p:cNvSpPr>
            <a:spLocks noGrp="1"/>
          </p:cNvSpPr>
          <p:nvPr/>
        </p:nvSpPr>
        <p:spPr>
          <a:xfrm>
            <a:off x="5295900"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45" name="矩形 44"/>
          <p:cNvSpPr>
            <a:spLocks noGrp="1"/>
          </p:cNvSpPr>
          <p:nvPr/>
        </p:nvSpPr>
        <p:spPr>
          <a:xfrm>
            <a:off x="6962775"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46" name="矩形 45"/>
          <p:cNvSpPr>
            <a:spLocks noGrp="1"/>
          </p:cNvSpPr>
          <p:nvPr/>
        </p:nvSpPr>
        <p:spPr>
          <a:xfrm>
            <a:off x="5248275" y="167640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0.1781</a:t>
            </a:r>
            <a:endParaRPr sz="1350" b="0">
              <a:solidFill>
                <a:srgbClr val="416B92"/>
              </a:solidFill>
              <a:latin typeface="Arial" panose="020B0604020202020204"/>
              <a:ea typeface="Arial" panose="020B0604020202020204"/>
              <a:cs typeface="Arial" panose="020B0604020202020204"/>
            </a:endParaRPr>
          </a:p>
        </p:txBody>
      </p:sp>
      <p:sp>
        <p:nvSpPr>
          <p:cNvPr id="47" name="矩形 46"/>
          <p:cNvSpPr>
            <a:spLocks noGrp="1"/>
          </p:cNvSpPr>
          <p:nvPr/>
        </p:nvSpPr>
        <p:spPr>
          <a:xfrm>
            <a:off x="6915150" y="167640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0.1082</a:t>
            </a:r>
            <a:endParaRPr sz="1350" b="0">
              <a:solidFill>
                <a:srgbClr val="277F8A"/>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8239125" y="136207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12/15</a:t>
            </a:r>
            <a:endParaRPr sz="1500" b="1">
              <a:solidFill>
                <a:srgbClr val="24292D"/>
              </a:solidFill>
              <a:latin typeface="Arial" panose="020B0604020202020204"/>
              <a:ea typeface="Arial" panose="020B0604020202020204"/>
              <a:cs typeface="Arial" panose="020B0604020202020204"/>
            </a:endParaRPr>
          </a:p>
        </p:txBody>
      </p:sp>
      <p:sp>
        <p:nvSpPr>
          <p:cNvPr id="49" name="矩形 48"/>
          <p:cNvSpPr>
            <a:spLocks noGrp="1"/>
          </p:cNvSpPr>
          <p:nvPr/>
        </p:nvSpPr>
        <p:spPr>
          <a:xfrm>
            <a:off x="8134350" y="1638300"/>
            <a:ext cx="876300"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50" name="直接连接符 49"/>
          <p:cNvSpPr>
            <a:spLocks noGrp="1"/>
          </p:cNvSpPr>
          <p:nvPr/>
        </p:nvSpPr>
        <p:spPr>
          <a:xfrm>
            <a:off x="6858000" y="2257425"/>
            <a:ext cx="953" cy="1295400"/>
          </a:xfrm>
          <a:prstGeom prst="line">
            <a:avLst/>
          </a:prstGeom>
          <a:noFill/>
          <a:ln w="11430">
            <a:solidFill>
              <a:srgbClr val="6A737B"/>
            </a:solidFill>
          </a:ln>
        </p:spPr>
      </p:sp>
      <p:sp>
        <p:nvSpPr>
          <p:cNvPr id="51" name="椭圆 50"/>
          <p:cNvSpPr>
            <a:spLocks noGrp="1"/>
          </p:cNvSpPr>
          <p:nvPr/>
        </p:nvSpPr>
        <p:spPr>
          <a:xfrm>
            <a:off x="6070052" y="2576513"/>
            <a:ext cx="104775" cy="104775"/>
          </a:xfrm>
          <a:prstGeom prst="ellipse">
            <a:avLst/>
          </a:prstGeom>
          <a:solidFill>
            <a:srgbClr val="A35F42"/>
          </a:solidFill>
          <a:ln w="9525">
            <a:solidFill>
              <a:srgbClr val="A35F42"/>
            </a:solidFill>
          </a:ln>
        </p:spPr>
      </p:sp>
      <p:sp>
        <p:nvSpPr>
          <p:cNvPr id="52" name="椭圆 51"/>
          <p:cNvSpPr>
            <a:spLocks noGrp="1"/>
          </p:cNvSpPr>
          <p:nvPr/>
        </p:nvSpPr>
        <p:spPr>
          <a:xfrm>
            <a:off x="6649959" y="3005138"/>
            <a:ext cx="104775" cy="104775"/>
          </a:xfrm>
          <a:prstGeom prst="ellipse">
            <a:avLst/>
          </a:prstGeom>
          <a:solidFill>
            <a:srgbClr val="A35F42"/>
          </a:solidFill>
          <a:ln w="9525">
            <a:solidFill>
              <a:srgbClr val="A35F42"/>
            </a:solidFill>
          </a:ln>
        </p:spPr>
      </p:sp>
      <p:sp>
        <p:nvSpPr>
          <p:cNvPr id="53" name="椭圆 52"/>
          <p:cNvSpPr>
            <a:spLocks noGrp="1"/>
          </p:cNvSpPr>
          <p:nvPr/>
        </p:nvSpPr>
        <p:spPr>
          <a:xfrm>
            <a:off x="6771506" y="2433638"/>
            <a:ext cx="104775" cy="104775"/>
          </a:xfrm>
          <a:prstGeom prst="ellipse">
            <a:avLst/>
          </a:prstGeom>
          <a:solidFill>
            <a:srgbClr val="A35F42"/>
          </a:solidFill>
          <a:ln w="9525">
            <a:solidFill>
              <a:srgbClr val="A35F42"/>
            </a:solidFill>
          </a:ln>
        </p:spPr>
      </p:sp>
      <p:sp>
        <p:nvSpPr>
          <p:cNvPr id="54" name="椭圆 53"/>
          <p:cNvSpPr>
            <a:spLocks noGrp="1"/>
          </p:cNvSpPr>
          <p:nvPr/>
        </p:nvSpPr>
        <p:spPr>
          <a:xfrm>
            <a:off x="6989972" y="3148013"/>
            <a:ext cx="104775" cy="104775"/>
          </a:xfrm>
          <a:prstGeom prst="ellipse">
            <a:avLst/>
          </a:prstGeom>
          <a:solidFill>
            <a:srgbClr val="277F8A"/>
          </a:solidFill>
          <a:ln w="9525">
            <a:solidFill>
              <a:srgbClr val="277F8A"/>
            </a:solidFill>
          </a:ln>
        </p:spPr>
      </p:sp>
      <p:sp>
        <p:nvSpPr>
          <p:cNvPr id="55" name="椭圆 54"/>
          <p:cNvSpPr>
            <a:spLocks noGrp="1"/>
          </p:cNvSpPr>
          <p:nvPr/>
        </p:nvSpPr>
        <p:spPr>
          <a:xfrm>
            <a:off x="7026454" y="2862263"/>
            <a:ext cx="104775" cy="104775"/>
          </a:xfrm>
          <a:prstGeom prst="ellipse">
            <a:avLst/>
          </a:prstGeom>
          <a:solidFill>
            <a:srgbClr val="277F8A"/>
          </a:solidFill>
          <a:ln w="9525">
            <a:solidFill>
              <a:srgbClr val="277F8A"/>
            </a:solidFill>
          </a:ln>
        </p:spPr>
      </p:sp>
      <p:sp>
        <p:nvSpPr>
          <p:cNvPr id="56" name="椭圆 55"/>
          <p:cNvSpPr>
            <a:spLocks noGrp="1"/>
          </p:cNvSpPr>
          <p:nvPr/>
        </p:nvSpPr>
        <p:spPr>
          <a:xfrm>
            <a:off x="7068831" y="2719388"/>
            <a:ext cx="104775" cy="104775"/>
          </a:xfrm>
          <a:prstGeom prst="ellipse">
            <a:avLst/>
          </a:prstGeom>
          <a:solidFill>
            <a:srgbClr val="277F8A"/>
          </a:solidFill>
          <a:ln w="9525">
            <a:solidFill>
              <a:srgbClr val="277F8A"/>
            </a:solidFill>
          </a:ln>
        </p:spPr>
      </p:sp>
      <p:sp>
        <p:nvSpPr>
          <p:cNvPr id="57" name="椭圆 56"/>
          <p:cNvSpPr>
            <a:spLocks noGrp="1"/>
          </p:cNvSpPr>
          <p:nvPr/>
        </p:nvSpPr>
        <p:spPr>
          <a:xfrm>
            <a:off x="7184103" y="3290888"/>
            <a:ext cx="104775" cy="104775"/>
          </a:xfrm>
          <a:prstGeom prst="ellipse">
            <a:avLst/>
          </a:prstGeom>
          <a:solidFill>
            <a:srgbClr val="277F8A"/>
          </a:solidFill>
          <a:ln w="9525">
            <a:solidFill>
              <a:srgbClr val="277F8A"/>
            </a:solidFill>
          </a:ln>
        </p:spPr>
      </p:sp>
      <p:sp>
        <p:nvSpPr>
          <p:cNvPr id="58" name="椭圆 57"/>
          <p:cNvSpPr>
            <a:spLocks noGrp="1"/>
          </p:cNvSpPr>
          <p:nvPr/>
        </p:nvSpPr>
        <p:spPr>
          <a:xfrm>
            <a:off x="7294130" y="3005138"/>
            <a:ext cx="104775" cy="104775"/>
          </a:xfrm>
          <a:prstGeom prst="ellipse">
            <a:avLst/>
          </a:prstGeom>
          <a:solidFill>
            <a:srgbClr val="277F8A"/>
          </a:solidFill>
          <a:ln w="9525">
            <a:solidFill>
              <a:srgbClr val="277F8A"/>
            </a:solidFill>
          </a:ln>
        </p:spPr>
      </p:sp>
      <p:sp>
        <p:nvSpPr>
          <p:cNvPr id="59" name="椭圆 58"/>
          <p:cNvSpPr>
            <a:spLocks noGrp="1"/>
          </p:cNvSpPr>
          <p:nvPr/>
        </p:nvSpPr>
        <p:spPr>
          <a:xfrm>
            <a:off x="7314054" y="2576513"/>
            <a:ext cx="104775" cy="104775"/>
          </a:xfrm>
          <a:prstGeom prst="ellipse">
            <a:avLst/>
          </a:prstGeom>
          <a:solidFill>
            <a:srgbClr val="277F8A"/>
          </a:solidFill>
          <a:ln w="9525">
            <a:solidFill>
              <a:srgbClr val="277F8A"/>
            </a:solidFill>
          </a:ln>
        </p:spPr>
      </p:sp>
      <p:sp>
        <p:nvSpPr>
          <p:cNvPr id="60" name="椭圆 59"/>
          <p:cNvSpPr>
            <a:spLocks noGrp="1"/>
          </p:cNvSpPr>
          <p:nvPr/>
        </p:nvSpPr>
        <p:spPr>
          <a:xfrm>
            <a:off x="7445564" y="3148013"/>
            <a:ext cx="104775" cy="104775"/>
          </a:xfrm>
          <a:prstGeom prst="ellipse">
            <a:avLst/>
          </a:prstGeom>
          <a:solidFill>
            <a:srgbClr val="277F8A"/>
          </a:solidFill>
          <a:ln w="9525">
            <a:solidFill>
              <a:srgbClr val="277F8A"/>
            </a:solidFill>
          </a:ln>
        </p:spPr>
      </p:sp>
      <p:sp>
        <p:nvSpPr>
          <p:cNvPr id="61" name="椭圆 60"/>
          <p:cNvSpPr>
            <a:spLocks noGrp="1"/>
          </p:cNvSpPr>
          <p:nvPr/>
        </p:nvSpPr>
        <p:spPr>
          <a:xfrm>
            <a:off x="7479112" y="2433638"/>
            <a:ext cx="104775" cy="104775"/>
          </a:xfrm>
          <a:prstGeom prst="ellipse">
            <a:avLst/>
          </a:prstGeom>
          <a:solidFill>
            <a:srgbClr val="277F8A"/>
          </a:solidFill>
          <a:ln w="9525">
            <a:solidFill>
              <a:srgbClr val="277F8A"/>
            </a:solidFill>
          </a:ln>
        </p:spPr>
      </p:sp>
      <p:sp>
        <p:nvSpPr>
          <p:cNvPr id="62" name="椭圆 61"/>
          <p:cNvSpPr>
            <a:spLocks noGrp="1"/>
          </p:cNvSpPr>
          <p:nvPr/>
        </p:nvSpPr>
        <p:spPr>
          <a:xfrm>
            <a:off x="7513463" y="2862263"/>
            <a:ext cx="104775" cy="104775"/>
          </a:xfrm>
          <a:prstGeom prst="ellipse">
            <a:avLst/>
          </a:prstGeom>
          <a:solidFill>
            <a:srgbClr val="277F8A"/>
          </a:solidFill>
          <a:ln w="9525">
            <a:solidFill>
              <a:srgbClr val="277F8A"/>
            </a:solidFill>
          </a:ln>
        </p:spPr>
      </p:sp>
      <p:sp>
        <p:nvSpPr>
          <p:cNvPr id="63" name="椭圆 62"/>
          <p:cNvSpPr>
            <a:spLocks noGrp="1"/>
          </p:cNvSpPr>
          <p:nvPr/>
        </p:nvSpPr>
        <p:spPr>
          <a:xfrm>
            <a:off x="7780592" y="3290888"/>
            <a:ext cx="104775" cy="104775"/>
          </a:xfrm>
          <a:prstGeom prst="ellipse">
            <a:avLst/>
          </a:prstGeom>
          <a:solidFill>
            <a:srgbClr val="277F8A"/>
          </a:solidFill>
          <a:ln w="9525">
            <a:solidFill>
              <a:srgbClr val="277F8A"/>
            </a:solidFill>
          </a:ln>
        </p:spPr>
      </p:sp>
      <p:sp>
        <p:nvSpPr>
          <p:cNvPr id="64" name="椭圆 63"/>
          <p:cNvSpPr>
            <a:spLocks noGrp="1"/>
          </p:cNvSpPr>
          <p:nvPr/>
        </p:nvSpPr>
        <p:spPr>
          <a:xfrm>
            <a:off x="7886576" y="2719388"/>
            <a:ext cx="104775" cy="104775"/>
          </a:xfrm>
          <a:prstGeom prst="ellipse">
            <a:avLst/>
          </a:prstGeom>
          <a:solidFill>
            <a:srgbClr val="277F8A"/>
          </a:solidFill>
          <a:ln w="9525">
            <a:solidFill>
              <a:srgbClr val="277F8A"/>
            </a:solidFill>
          </a:ln>
        </p:spPr>
      </p:sp>
      <p:sp>
        <p:nvSpPr>
          <p:cNvPr id="65" name="椭圆 64"/>
          <p:cNvSpPr>
            <a:spLocks noGrp="1"/>
          </p:cNvSpPr>
          <p:nvPr/>
        </p:nvSpPr>
        <p:spPr>
          <a:xfrm>
            <a:off x="7938341" y="2862263"/>
            <a:ext cx="104775" cy="104775"/>
          </a:xfrm>
          <a:prstGeom prst="ellipse">
            <a:avLst/>
          </a:prstGeom>
          <a:solidFill>
            <a:srgbClr val="277F8A"/>
          </a:solidFill>
          <a:ln w="9525">
            <a:solidFill>
              <a:srgbClr val="277F8A"/>
            </a:solidFill>
          </a:ln>
        </p:spPr>
      </p:sp>
      <p:sp>
        <p:nvSpPr>
          <p:cNvPr id="66" name="菱形 65"/>
          <p:cNvSpPr>
            <a:spLocks noGrp="1"/>
          </p:cNvSpPr>
          <p:nvPr/>
        </p:nvSpPr>
        <p:spPr>
          <a:xfrm>
            <a:off x="7289367" y="2857500"/>
            <a:ext cx="114300" cy="114300"/>
          </a:xfrm>
          <a:prstGeom prst="diamond">
            <a:avLst/>
          </a:prstGeom>
          <a:solidFill>
            <a:srgbClr val="24292D"/>
          </a:solidFill>
          <a:ln w="9525">
            <a:solidFill>
              <a:srgbClr val="24292D"/>
            </a:solidFill>
          </a:ln>
        </p:spPr>
      </p:sp>
      <p:sp>
        <p:nvSpPr>
          <p:cNvPr id="67" name="直接连接符 66"/>
          <p:cNvSpPr>
            <a:spLocks noGrp="1"/>
          </p:cNvSpPr>
          <p:nvPr/>
        </p:nvSpPr>
        <p:spPr>
          <a:xfrm>
            <a:off x="5000625" y="3695700"/>
            <a:ext cx="3714750" cy="953"/>
          </a:xfrm>
          <a:prstGeom prst="line">
            <a:avLst/>
          </a:prstGeom>
          <a:noFill/>
          <a:ln w="12383">
            <a:solidFill>
              <a:srgbClr val="24292D"/>
            </a:solidFill>
          </a:ln>
        </p:spPr>
      </p:sp>
      <p:sp>
        <p:nvSpPr>
          <p:cNvPr id="68" name="直接连接符 67"/>
          <p:cNvSpPr>
            <a:spLocks noGrp="1"/>
          </p:cNvSpPr>
          <p:nvPr/>
        </p:nvSpPr>
        <p:spPr>
          <a:xfrm>
            <a:off x="5048250" y="3695700"/>
            <a:ext cx="953" cy="76200"/>
          </a:xfrm>
          <a:prstGeom prst="line">
            <a:avLst/>
          </a:prstGeom>
          <a:noFill/>
          <a:ln w="9525">
            <a:solidFill>
              <a:srgbClr val="24292D"/>
            </a:solidFill>
          </a:ln>
        </p:spPr>
      </p:sp>
      <p:sp>
        <p:nvSpPr>
          <p:cNvPr id="69" name="矩形 68"/>
          <p:cNvSpPr>
            <a:spLocks noGrp="1"/>
          </p:cNvSpPr>
          <p:nvPr/>
        </p:nvSpPr>
        <p:spPr>
          <a:xfrm>
            <a:off x="4686300"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70" name="直接连接符 69"/>
          <p:cNvSpPr>
            <a:spLocks noGrp="1"/>
          </p:cNvSpPr>
          <p:nvPr/>
        </p:nvSpPr>
        <p:spPr>
          <a:xfrm>
            <a:off x="6858000" y="3695700"/>
            <a:ext cx="953" cy="76200"/>
          </a:xfrm>
          <a:prstGeom prst="line">
            <a:avLst/>
          </a:prstGeom>
          <a:noFill/>
          <a:ln w="9525">
            <a:solidFill>
              <a:srgbClr val="24292D"/>
            </a:solidFill>
          </a:ln>
        </p:spPr>
      </p:sp>
      <p:sp>
        <p:nvSpPr>
          <p:cNvPr id="71" name="矩形 70"/>
          <p:cNvSpPr>
            <a:spLocks noGrp="1"/>
          </p:cNvSpPr>
          <p:nvPr/>
        </p:nvSpPr>
        <p:spPr>
          <a:xfrm>
            <a:off x="6496050"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72" name="直接连接符 71"/>
          <p:cNvSpPr>
            <a:spLocks noGrp="1"/>
          </p:cNvSpPr>
          <p:nvPr/>
        </p:nvSpPr>
        <p:spPr>
          <a:xfrm>
            <a:off x="8667750" y="3695700"/>
            <a:ext cx="953" cy="76200"/>
          </a:xfrm>
          <a:prstGeom prst="line">
            <a:avLst/>
          </a:prstGeom>
          <a:noFill/>
          <a:ln w="9525">
            <a:solidFill>
              <a:srgbClr val="24292D"/>
            </a:solidFill>
          </a:ln>
        </p:spPr>
      </p:sp>
      <p:sp>
        <p:nvSpPr>
          <p:cNvPr id="73" name="矩形 72"/>
          <p:cNvSpPr>
            <a:spLocks noGrp="1"/>
          </p:cNvSpPr>
          <p:nvPr/>
        </p:nvSpPr>
        <p:spPr>
          <a:xfrm>
            <a:off x="8305800"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4876800" y="417195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Prediction error reduction</a:t>
            </a:r>
            <a:endParaRPr sz="1275" b="0">
              <a:solidFill>
                <a:srgbClr val="24292D"/>
              </a:solidFill>
              <a:latin typeface="Arial" panose="020B0604020202020204"/>
              <a:ea typeface="Arial" panose="020B0604020202020204"/>
              <a:cs typeface="Arial" panose="020B0604020202020204"/>
            </a:endParaRPr>
          </a:p>
        </p:txBody>
      </p:sp>
      <p:sp>
        <p:nvSpPr>
          <p:cNvPr id="75" name="矩形 74"/>
          <p:cNvSpPr>
            <a:spLocks noGrp="1"/>
          </p:cNvSpPr>
          <p:nvPr/>
        </p:nvSpPr>
        <p:spPr>
          <a:xfrm>
            <a:off x="9286875" y="14287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76" name="矩形 75"/>
          <p:cNvSpPr>
            <a:spLocks noGrp="1"/>
          </p:cNvSpPr>
          <p:nvPr/>
        </p:nvSpPr>
        <p:spPr>
          <a:xfrm>
            <a:off x="9525000" y="17145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Partitioning</a:t>
            </a:r>
            <a:endParaRPr sz="1350" b="1">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9686925" y="55245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Organic-fraction MAE</a:t>
            </a:r>
            <a:endParaRPr sz="1275" b="0">
              <a:solidFill>
                <a:srgbClr val="6A737B"/>
              </a:solidFill>
              <a:latin typeface="Arial" panose="020B0604020202020204"/>
              <a:ea typeface="Arial" panose="020B0604020202020204"/>
              <a:cs typeface="Arial" panose="020B0604020202020204"/>
            </a:endParaRPr>
          </a:p>
        </p:txBody>
      </p:sp>
      <p:sp>
        <p:nvSpPr>
          <p:cNvPr id="78" name="直接连接符 77"/>
          <p:cNvSpPr>
            <a:spLocks noGrp="1"/>
          </p:cNvSpPr>
          <p:nvPr/>
        </p:nvSpPr>
        <p:spPr>
          <a:xfrm>
            <a:off x="10353675" y="1524000"/>
            <a:ext cx="1666875" cy="953"/>
          </a:xfrm>
          <a:prstGeom prst="line">
            <a:avLst/>
          </a:prstGeom>
          <a:noFill/>
          <a:ln w="19050">
            <a:solidFill>
              <a:srgbClr val="D7DDE1"/>
            </a:solidFill>
          </a:ln>
        </p:spPr>
      </p:sp>
      <p:sp>
        <p:nvSpPr>
          <p:cNvPr id="79" name="椭圆 78"/>
          <p:cNvSpPr>
            <a:spLocks noGrp="1"/>
          </p:cNvSpPr>
          <p:nvPr/>
        </p:nvSpPr>
        <p:spPr>
          <a:xfrm>
            <a:off x="10267950" y="1438275"/>
            <a:ext cx="171450" cy="171450"/>
          </a:xfrm>
          <a:prstGeom prst="ellipse">
            <a:avLst/>
          </a:prstGeom>
          <a:solidFill>
            <a:srgbClr val="416B92"/>
          </a:solidFill>
          <a:ln w="9525">
            <a:solidFill>
              <a:srgbClr val="416B92"/>
            </a:solidFill>
          </a:ln>
        </p:spPr>
      </p:sp>
      <p:sp>
        <p:nvSpPr>
          <p:cNvPr id="80" name="椭圆 79"/>
          <p:cNvSpPr>
            <a:spLocks noGrp="1"/>
          </p:cNvSpPr>
          <p:nvPr/>
        </p:nvSpPr>
        <p:spPr>
          <a:xfrm>
            <a:off x="11934825" y="1438275"/>
            <a:ext cx="171450" cy="171450"/>
          </a:xfrm>
          <a:prstGeom prst="ellipse">
            <a:avLst/>
          </a:prstGeom>
          <a:solidFill>
            <a:srgbClr val="277F8A"/>
          </a:solidFill>
          <a:ln w="9525">
            <a:solidFill>
              <a:srgbClr val="277F8A"/>
            </a:solidFill>
          </a:ln>
        </p:spPr>
      </p:sp>
      <p:sp>
        <p:nvSpPr>
          <p:cNvPr id="81" name="矩形 80"/>
          <p:cNvSpPr>
            <a:spLocks noGrp="1"/>
          </p:cNvSpPr>
          <p:nvPr/>
        </p:nvSpPr>
        <p:spPr>
          <a:xfrm>
            <a:off x="9820275"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11487150" y="117157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83" name="矩形 82"/>
          <p:cNvSpPr>
            <a:spLocks noGrp="1"/>
          </p:cNvSpPr>
          <p:nvPr/>
        </p:nvSpPr>
        <p:spPr>
          <a:xfrm>
            <a:off x="9772650" y="167640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0.0829</a:t>
            </a:r>
            <a:endParaRPr sz="1350" b="0">
              <a:solidFill>
                <a:srgbClr val="416B92"/>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11439525" y="167640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0.0238</a:t>
            </a:r>
            <a:endParaRPr sz="1350" b="0">
              <a:solidFill>
                <a:srgbClr val="277F8A"/>
              </a:solidFill>
              <a:latin typeface="Arial" panose="020B0604020202020204"/>
              <a:ea typeface="Arial" panose="020B0604020202020204"/>
              <a:cs typeface="Arial" panose="020B0604020202020204"/>
            </a:endParaRPr>
          </a:p>
        </p:txBody>
      </p:sp>
      <p:sp>
        <p:nvSpPr>
          <p:cNvPr id="85" name="矩形 84"/>
          <p:cNvSpPr>
            <a:spLocks noGrp="1"/>
          </p:cNvSpPr>
          <p:nvPr/>
        </p:nvSpPr>
        <p:spPr>
          <a:xfrm>
            <a:off x="12763500" y="136207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13/15</a:t>
            </a:r>
            <a:endParaRPr sz="1500" b="1">
              <a:solidFill>
                <a:srgbClr val="24292D"/>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12658725" y="1638300"/>
            <a:ext cx="866775"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87" name="直接连接符 86"/>
          <p:cNvSpPr>
            <a:spLocks noGrp="1"/>
          </p:cNvSpPr>
          <p:nvPr/>
        </p:nvSpPr>
        <p:spPr>
          <a:xfrm>
            <a:off x="11382375" y="2257425"/>
            <a:ext cx="953" cy="1295400"/>
          </a:xfrm>
          <a:prstGeom prst="line">
            <a:avLst/>
          </a:prstGeom>
          <a:noFill/>
          <a:ln w="11430">
            <a:solidFill>
              <a:srgbClr val="6A737B"/>
            </a:solidFill>
          </a:ln>
        </p:spPr>
      </p:sp>
      <p:sp>
        <p:nvSpPr>
          <p:cNvPr id="88" name="椭圆 87"/>
          <p:cNvSpPr>
            <a:spLocks noGrp="1"/>
          </p:cNvSpPr>
          <p:nvPr/>
        </p:nvSpPr>
        <p:spPr>
          <a:xfrm>
            <a:off x="11019938" y="2576513"/>
            <a:ext cx="104775" cy="104775"/>
          </a:xfrm>
          <a:prstGeom prst="ellipse">
            <a:avLst/>
          </a:prstGeom>
          <a:solidFill>
            <a:srgbClr val="A35F42"/>
          </a:solidFill>
          <a:ln w="9525">
            <a:solidFill>
              <a:srgbClr val="A35F42"/>
            </a:solidFill>
          </a:ln>
        </p:spPr>
      </p:sp>
      <p:sp>
        <p:nvSpPr>
          <p:cNvPr id="89" name="椭圆 88"/>
          <p:cNvSpPr>
            <a:spLocks noGrp="1"/>
          </p:cNvSpPr>
          <p:nvPr/>
        </p:nvSpPr>
        <p:spPr>
          <a:xfrm>
            <a:off x="11315653" y="3005138"/>
            <a:ext cx="104775" cy="104775"/>
          </a:xfrm>
          <a:prstGeom prst="ellipse">
            <a:avLst/>
          </a:prstGeom>
          <a:solidFill>
            <a:srgbClr val="A35F42"/>
          </a:solidFill>
          <a:ln w="9525">
            <a:solidFill>
              <a:srgbClr val="A35F42"/>
            </a:solidFill>
          </a:ln>
        </p:spPr>
      </p:sp>
      <p:sp>
        <p:nvSpPr>
          <p:cNvPr id="90" name="椭圆 89"/>
          <p:cNvSpPr>
            <a:spLocks noGrp="1"/>
          </p:cNvSpPr>
          <p:nvPr/>
        </p:nvSpPr>
        <p:spPr>
          <a:xfrm>
            <a:off x="11348337" y="2433638"/>
            <a:ext cx="104775" cy="104775"/>
          </a:xfrm>
          <a:prstGeom prst="ellipse">
            <a:avLst/>
          </a:prstGeom>
          <a:solidFill>
            <a:srgbClr val="277F8A"/>
          </a:solidFill>
          <a:ln w="9525">
            <a:solidFill>
              <a:srgbClr val="277F8A"/>
            </a:solidFill>
          </a:ln>
        </p:spPr>
      </p:sp>
      <p:sp>
        <p:nvSpPr>
          <p:cNvPr id="91" name="椭圆 90"/>
          <p:cNvSpPr>
            <a:spLocks noGrp="1"/>
          </p:cNvSpPr>
          <p:nvPr/>
        </p:nvSpPr>
        <p:spPr>
          <a:xfrm>
            <a:off x="11390614" y="3148013"/>
            <a:ext cx="104775" cy="104775"/>
          </a:xfrm>
          <a:prstGeom prst="ellipse">
            <a:avLst/>
          </a:prstGeom>
          <a:solidFill>
            <a:srgbClr val="277F8A"/>
          </a:solidFill>
          <a:ln w="9525">
            <a:solidFill>
              <a:srgbClr val="277F8A"/>
            </a:solidFill>
          </a:ln>
        </p:spPr>
      </p:sp>
      <p:sp>
        <p:nvSpPr>
          <p:cNvPr id="92" name="椭圆 91"/>
          <p:cNvSpPr>
            <a:spLocks noGrp="1"/>
          </p:cNvSpPr>
          <p:nvPr/>
        </p:nvSpPr>
        <p:spPr>
          <a:xfrm>
            <a:off x="11608237" y="2862263"/>
            <a:ext cx="104775" cy="104775"/>
          </a:xfrm>
          <a:prstGeom prst="ellipse">
            <a:avLst/>
          </a:prstGeom>
          <a:solidFill>
            <a:srgbClr val="277F8A"/>
          </a:solidFill>
          <a:ln w="9525">
            <a:solidFill>
              <a:srgbClr val="277F8A"/>
            </a:solidFill>
          </a:ln>
        </p:spPr>
      </p:sp>
      <p:sp>
        <p:nvSpPr>
          <p:cNvPr id="93" name="椭圆 92"/>
          <p:cNvSpPr>
            <a:spLocks noGrp="1"/>
          </p:cNvSpPr>
          <p:nvPr/>
        </p:nvSpPr>
        <p:spPr>
          <a:xfrm>
            <a:off x="11612186" y="2719388"/>
            <a:ext cx="104775" cy="104775"/>
          </a:xfrm>
          <a:prstGeom prst="ellipse">
            <a:avLst/>
          </a:prstGeom>
          <a:solidFill>
            <a:srgbClr val="277F8A"/>
          </a:solidFill>
          <a:ln w="9525">
            <a:solidFill>
              <a:srgbClr val="277F8A"/>
            </a:solidFill>
          </a:ln>
        </p:spPr>
      </p:sp>
      <p:sp>
        <p:nvSpPr>
          <p:cNvPr id="94" name="椭圆 93"/>
          <p:cNvSpPr>
            <a:spLocks noGrp="1"/>
          </p:cNvSpPr>
          <p:nvPr/>
        </p:nvSpPr>
        <p:spPr>
          <a:xfrm>
            <a:off x="11650368" y="3290888"/>
            <a:ext cx="104775" cy="104775"/>
          </a:xfrm>
          <a:prstGeom prst="ellipse">
            <a:avLst/>
          </a:prstGeom>
          <a:solidFill>
            <a:srgbClr val="277F8A"/>
          </a:solidFill>
          <a:ln w="9525">
            <a:solidFill>
              <a:srgbClr val="277F8A"/>
            </a:solidFill>
          </a:ln>
        </p:spPr>
      </p:sp>
      <p:sp>
        <p:nvSpPr>
          <p:cNvPr id="95" name="椭圆 94"/>
          <p:cNvSpPr>
            <a:spLocks noGrp="1"/>
          </p:cNvSpPr>
          <p:nvPr/>
        </p:nvSpPr>
        <p:spPr>
          <a:xfrm>
            <a:off x="11678299" y="3005138"/>
            <a:ext cx="104775" cy="104775"/>
          </a:xfrm>
          <a:prstGeom prst="ellipse">
            <a:avLst/>
          </a:prstGeom>
          <a:solidFill>
            <a:srgbClr val="277F8A"/>
          </a:solidFill>
          <a:ln w="9525">
            <a:solidFill>
              <a:srgbClr val="277F8A"/>
            </a:solidFill>
          </a:ln>
        </p:spPr>
      </p:sp>
      <p:sp>
        <p:nvSpPr>
          <p:cNvPr id="96" name="椭圆 95"/>
          <p:cNvSpPr>
            <a:spLocks noGrp="1"/>
          </p:cNvSpPr>
          <p:nvPr/>
        </p:nvSpPr>
        <p:spPr>
          <a:xfrm>
            <a:off x="11874429" y="2576513"/>
            <a:ext cx="104775" cy="104775"/>
          </a:xfrm>
          <a:prstGeom prst="ellipse">
            <a:avLst/>
          </a:prstGeom>
          <a:solidFill>
            <a:srgbClr val="277F8A"/>
          </a:solidFill>
          <a:ln w="9525">
            <a:solidFill>
              <a:srgbClr val="277F8A"/>
            </a:solidFill>
          </a:ln>
        </p:spPr>
      </p:sp>
      <p:sp>
        <p:nvSpPr>
          <p:cNvPr id="97" name="椭圆 96"/>
          <p:cNvSpPr>
            <a:spLocks noGrp="1"/>
          </p:cNvSpPr>
          <p:nvPr/>
        </p:nvSpPr>
        <p:spPr>
          <a:xfrm>
            <a:off x="11978190" y="3148013"/>
            <a:ext cx="104775" cy="104775"/>
          </a:xfrm>
          <a:prstGeom prst="ellipse">
            <a:avLst/>
          </a:prstGeom>
          <a:solidFill>
            <a:srgbClr val="277F8A"/>
          </a:solidFill>
          <a:ln w="9525">
            <a:solidFill>
              <a:srgbClr val="277F8A"/>
            </a:solidFill>
          </a:ln>
        </p:spPr>
      </p:sp>
      <p:sp>
        <p:nvSpPr>
          <p:cNvPr id="98" name="椭圆 97"/>
          <p:cNvSpPr>
            <a:spLocks noGrp="1"/>
          </p:cNvSpPr>
          <p:nvPr/>
        </p:nvSpPr>
        <p:spPr>
          <a:xfrm>
            <a:off x="12037571" y="2433638"/>
            <a:ext cx="104775" cy="104775"/>
          </a:xfrm>
          <a:prstGeom prst="ellipse">
            <a:avLst/>
          </a:prstGeom>
          <a:solidFill>
            <a:srgbClr val="277F8A"/>
          </a:solidFill>
          <a:ln w="9525">
            <a:solidFill>
              <a:srgbClr val="277F8A"/>
            </a:solidFill>
          </a:ln>
        </p:spPr>
      </p:sp>
      <p:sp>
        <p:nvSpPr>
          <p:cNvPr id="99" name="椭圆 98"/>
          <p:cNvSpPr>
            <a:spLocks noGrp="1"/>
          </p:cNvSpPr>
          <p:nvPr/>
        </p:nvSpPr>
        <p:spPr>
          <a:xfrm>
            <a:off x="12244727" y="2862263"/>
            <a:ext cx="104775" cy="104775"/>
          </a:xfrm>
          <a:prstGeom prst="ellipse">
            <a:avLst/>
          </a:prstGeom>
          <a:solidFill>
            <a:srgbClr val="277F8A"/>
          </a:solidFill>
          <a:ln w="9525">
            <a:solidFill>
              <a:srgbClr val="277F8A"/>
            </a:solidFill>
          </a:ln>
        </p:spPr>
      </p:sp>
      <p:sp>
        <p:nvSpPr>
          <p:cNvPr id="100" name="椭圆 99"/>
          <p:cNvSpPr>
            <a:spLocks noGrp="1"/>
          </p:cNvSpPr>
          <p:nvPr/>
        </p:nvSpPr>
        <p:spPr>
          <a:xfrm>
            <a:off x="12334081" y="3290888"/>
            <a:ext cx="104775" cy="104775"/>
          </a:xfrm>
          <a:prstGeom prst="ellipse">
            <a:avLst/>
          </a:prstGeom>
          <a:solidFill>
            <a:srgbClr val="277F8A"/>
          </a:solidFill>
          <a:ln w="9525">
            <a:solidFill>
              <a:srgbClr val="277F8A"/>
            </a:solidFill>
          </a:ln>
        </p:spPr>
      </p:sp>
      <p:sp>
        <p:nvSpPr>
          <p:cNvPr id="101" name="椭圆 100"/>
          <p:cNvSpPr>
            <a:spLocks noGrp="1"/>
          </p:cNvSpPr>
          <p:nvPr/>
        </p:nvSpPr>
        <p:spPr>
          <a:xfrm>
            <a:off x="12906127" y="2719388"/>
            <a:ext cx="104775" cy="104775"/>
          </a:xfrm>
          <a:prstGeom prst="ellipse">
            <a:avLst/>
          </a:prstGeom>
          <a:solidFill>
            <a:srgbClr val="277F8A"/>
          </a:solidFill>
          <a:ln w="9525">
            <a:solidFill>
              <a:srgbClr val="277F8A"/>
            </a:solidFill>
          </a:ln>
        </p:spPr>
      </p:sp>
      <p:sp>
        <p:nvSpPr>
          <p:cNvPr id="102" name="椭圆 101"/>
          <p:cNvSpPr>
            <a:spLocks noGrp="1"/>
          </p:cNvSpPr>
          <p:nvPr/>
        </p:nvSpPr>
        <p:spPr>
          <a:xfrm>
            <a:off x="12974601" y="2862263"/>
            <a:ext cx="104775" cy="104775"/>
          </a:xfrm>
          <a:prstGeom prst="ellipse">
            <a:avLst/>
          </a:prstGeom>
          <a:solidFill>
            <a:srgbClr val="277F8A"/>
          </a:solidFill>
          <a:ln w="9525">
            <a:solidFill>
              <a:srgbClr val="277F8A"/>
            </a:solidFill>
          </a:ln>
        </p:spPr>
      </p:sp>
      <p:sp>
        <p:nvSpPr>
          <p:cNvPr id="103" name="菱形 102"/>
          <p:cNvSpPr>
            <a:spLocks noGrp="1"/>
          </p:cNvSpPr>
          <p:nvPr/>
        </p:nvSpPr>
        <p:spPr>
          <a:xfrm>
            <a:off x="11673536" y="2857500"/>
            <a:ext cx="114300" cy="114300"/>
          </a:xfrm>
          <a:prstGeom prst="diamond">
            <a:avLst/>
          </a:prstGeom>
          <a:solidFill>
            <a:srgbClr val="24292D"/>
          </a:solidFill>
          <a:ln w="9525">
            <a:solidFill>
              <a:srgbClr val="24292D"/>
            </a:solidFill>
          </a:ln>
        </p:spPr>
      </p:sp>
      <p:sp>
        <p:nvSpPr>
          <p:cNvPr id="104" name="直接连接符 103"/>
          <p:cNvSpPr>
            <a:spLocks noGrp="1"/>
          </p:cNvSpPr>
          <p:nvPr/>
        </p:nvSpPr>
        <p:spPr>
          <a:xfrm>
            <a:off x="9525000" y="3695700"/>
            <a:ext cx="3714750" cy="953"/>
          </a:xfrm>
          <a:prstGeom prst="line">
            <a:avLst/>
          </a:prstGeom>
          <a:noFill/>
          <a:ln w="12383">
            <a:solidFill>
              <a:srgbClr val="24292D"/>
            </a:solidFill>
          </a:ln>
        </p:spPr>
      </p:sp>
      <p:sp>
        <p:nvSpPr>
          <p:cNvPr id="105" name="直接连接符 104"/>
          <p:cNvSpPr>
            <a:spLocks noGrp="1"/>
          </p:cNvSpPr>
          <p:nvPr/>
        </p:nvSpPr>
        <p:spPr>
          <a:xfrm>
            <a:off x="9572625" y="3695700"/>
            <a:ext cx="953" cy="76200"/>
          </a:xfrm>
          <a:prstGeom prst="line">
            <a:avLst/>
          </a:prstGeom>
          <a:noFill/>
          <a:ln w="9525">
            <a:solidFill>
              <a:srgbClr val="24292D"/>
            </a:solidFill>
          </a:ln>
        </p:spPr>
      </p:sp>
      <p:sp>
        <p:nvSpPr>
          <p:cNvPr id="106" name="矩形 105"/>
          <p:cNvSpPr>
            <a:spLocks noGrp="1"/>
          </p:cNvSpPr>
          <p:nvPr/>
        </p:nvSpPr>
        <p:spPr>
          <a:xfrm>
            <a:off x="9210675"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-0.2</a:t>
            </a:r>
            <a:endParaRPr sz="1275" b="0">
              <a:solidFill>
                <a:srgbClr val="24292D"/>
              </a:solidFill>
              <a:latin typeface="Arial" panose="020B0604020202020204"/>
              <a:ea typeface="Arial" panose="020B0604020202020204"/>
              <a:cs typeface="Arial" panose="020B0604020202020204"/>
            </a:endParaRPr>
          </a:p>
        </p:txBody>
      </p:sp>
      <p:sp>
        <p:nvSpPr>
          <p:cNvPr id="107" name="直接连接符 106"/>
          <p:cNvSpPr>
            <a:spLocks noGrp="1"/>
          </p:cNvSpPr>
          <p:nvPr/>
        </p:nvSpPr>
        <p:spPr>
          <a:xfrm>
            <a:off x="11382375" y="3695700"/>
            <a:ext cx="953" cy="76200"/>
          </a:xfrm>
          <a:prstGeom prst="line">
            <a:avLst/>
          </a:prstGeom>
          <a:noFill/>
          <a:ln w="9525">
            <a:solidFill>
              <a:srgbClr val="24292D"/>
            </a:solidFill>
          </a:ln>
        </p:spPr>
      </p:sp>
      <p:sp>
        <p:nvSpPr>
          <p:cNvPr id="108" name="矩形 107"/>
          <p:cNvSpPr>
            <a:spLocks noGrp="1"/>
          </p:cNvSpPr>
          <p:nvPr/>
        </p:nvSpPr>
        <p:spPr>
          <a:xfrm>
            <a:off x="11020425" y="381000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109" name="直接连接符 108"/>
          <p:cNvSpPr>
            <a:spLocks noGrp="1"/>
          </p:cNvSpPr>
          <p:nvPr/>
        </p:nvSpPr>
        <p:spPr>
          <a:xfrm>
            <a:off x="13192125" y="3695700"/>
            <a:ext cx="953" cy="76200"/>
          </a:xfrm>
          <a:prstGeom prst="line">
            <a:avLst/>
          </a:prstGeom>
          <a:noFill/>
          <a:ln w="9525">
            <a:solidFill>
              <a:srgbClr val="24292D"/>
            </a:solidFill>
          </a:ln>
        </p:spPr>
      </p:sp>
      <p:sp>
        <p:nvSpPr>
          <p:cNvPr id="110" name="矩形 109"/>
          <p:cNvSpPr>
            <a:spLocks noGrp="1"/>
          </p:cNvSpPr>
          <p:nvPr/>
        </p:nvSpPr>
        <p:spPr>
          <a:xfrm>
            <a:off x="12830175" y="3810000"/>
            <a:ext cx="695325"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+0.2</a:t>
            </a:r>
            <a:endParaRPr sz="1275" b="0">
              <a:solidFill>
                <a:srgbClr val="24292D"/>
              </a:solidFill>
              <a:latin typeface="Arial" panose="020B0604020202020204"/>
              <a:ea typeface="Arial" panose="020B0604020202020204"/>
              <a:cs typeface="Arial" panose="020B0604020202020204"/>
            </a:endParaRPr>
          </a:p>
        </p:txBody>
      </p:sp>
      <p:sp>
        <p:nvSpPr>
          <p:cNvPr id="111" name="矩形 110"/>
          <p:cNvSpPr>
            <a:spLocks noGrp="1"/>
          </p:cNvSpPr>
          <p:nvPr/>
        </p:nvSpPr>
        <p:spPr>
          <a:xfrm>
            <a:off x="9401175" y="417195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Prediction error reduction</a:t>
            </a:r>
            <a:endParaRPr sz="1275" b="0">
              <a:solidFill>
                <a:srgbClr val="24292D"/>
              </a:solidFill>
              <a:latin typeface="Arial" panose="020B0604020202020204"/>
              <a:ea typeface="Arial" panose="020B0604020202020204"/>
              <a:cs typeface="Arial" panose="020B0604020202020204"/>
            </a:endParaRPr>
          </a:p>
        </p:txBody>
      </p:sp>
      <p:sp>
        <p:nvSpPr>
          <p:cNvPr id="112" name="矩形 111"/>
          <p:cNvSpPr>
            <a:spLocks noGrp="1"/>
          </p:cNvSpPr>
          <p:nvPr/>
        </p:nvSpPr>
        <p:spPr>
          <a:xfrm>
            <a:off x="238125" y="481012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d</a:t>
            </a:r>
            <a:endParaRPr sz="2025" b="1">
              <a:solidFill>
                <a:srgbClr val="24292D"/>
              </a:solidFill>
              <a:latin typeface="Arial" panose="020B0604020202020204"/>
              <a:ea typeface="Arial" panose="020B0604020202020204"/>
              <a:cs typeface="Arial" panose="020B0604020202020204"/>
            </a:endParaRPr>
          </a:p>
        </p:txBody>
      </p:sp>
      <p:sp>
        <p:nvSpPr>
          <p:cNvPr id="113" name="矩形 112"/>
          <p:cNvSpPr>
            <a:spLocks noGrp="1"/>
          </p:cNvSpPr>
          <p:nvPr/>
        </p:nvSpPr>
        <p:spPr>
          <a:xfrm>
            <a:off x="476250" y="483870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 Recovery</a:t>
            </a:r>
            <a:endParaRPr sz="1350" b="1">
              <a:solidFill>
                <a:srgbClr val="24292D"/>
              </a:solidFill>
              <a:latin typeface="Arial" panose="020B0604020202020204"/>
              <a:ea typeface="Arial" panose="020B0604020202020204"/>
              <a:cs typeface="Arial" panose="020B0604020202020204"/>
            </a:endParaRPr>
          </a:p>
        </p:txBody>
      </p:sp>
      <p:sp>
        <p:nvSpPr>
          <p:cNvPr id="114" name="矩形 113"/>
          <p:cNvSpPr>
            <a:spLocks noGrp="1"/>
          </p:cNvSpPr>
          <p:nvPr/>
        </p:nvSpPr>
        <p:spPr>
          <a:xfrm>
            <a:off x="638175" y="521970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Recovery MAE</a:t>
            </a:r>
            <a:endParaRPr sz="1275" b="0">
              <a:solidFill>
                <a:srgbClr val="6A737B"/>
              </a:solidFill>
              <a:latin typeface="Arial" panose="020B0604020202020204"/>
              <a:ea typeface="Arial" panose="020B0604020202020204"/>
              <a:cs typeface="Arial" panose="020B0604020202020204"/>
            </a:endParaRPr>
          </a:p>
        </p:txBody>
      </p:sp>
      <p:sp>
        <p:nvSpPr>
          <p:cNvPr id="115" name="直接连接符 114"/>
          <p:cNvSpPr>
            <a:spLocks noGrp="1"/>
          </p:cNvSpPr>
          <p:nvPr/>
        </p:nvSpPr>
        <p:spPr>
          <a:xfrm>
            <a:off x="1304925" y="6191250"/>
            <a:ext cx="1666875" cy="953"/>
          </a:xfrm>
          <a:prstGeom prst="line">
            <a:avLst/>
          </a:prstGeom>
          <a:noFill/>
          <a:ln w="19050">
            <a:solidFill>
              <a:srgbClr val="D7DDE1"/>
            </a:solidFill>
          </a:ln>
        </p:spPr>
      </p:sp>
      <p:sp>
        <p:nvSpPr>
          <p:cNvPr id="116" name="椭圆 115"/>
          <p:cNvSpPr>
            <a:spLocks noGrp="1"/>
          </p:cNvSpPr>
          <p:nvPr/>
        </p:nvSpPr>
        <p:spPr>
          <a:xfrm>
            <a:off x="1219200" y="6105525"/>
            <a:ext cx="171450" cy="171450"/>
          </a:xfrm>
          <a:prstGeom prst="ellipse">
            <a:avLst/>
          </a:prstGeom>
          <a:solidFill>
            <a:srgbClr val="416B92"/>
          </a:solidFill>
          <a:ln w="9525">
            <a:solidFill>
              <a:srgbClr val="416B92"/>
            </a:solidFill>
          </a:ln>
        </p:spPr>
      </p:sp>
      <p:sp>
        <p:nvSpPr>
          <p:cNvPr id="117" name="椭圆 116"/>
          <p:cNvSpPr>
            <a:spLocks noGrp="1"/>
          </p:cNvSpPr>
          <p:nvPr/>
        </p:nvSpPr>
        <p:spPr>
          <a:xfrm>
            <a:off x="2886075" y="6105525"/>
            <a:ext cx="171450" cy="171450"/>
          </a:xfrm>
          <a:prstGeom prst="ellipse">
            <a:avLst/>
          </a:prstGeom>
          <a:solidFill>
            <a:srgbClr val="277F8A"/>
          </a:solidFill>
          <a:ln w="9525">
            <a:solidFill>
              <a:srgbClr val="277F8A"/>
            </a:solidFill>
          </a:ln>
        </p:spPr>
      </p:sp>
      <p:sp>
        <p:nvSpPr>
          <p:cNvPr id="118" name="矩形 117"/>
          <p:cNvSpPr>
            <a:spLocks noGrp="1"/>
          </p:cNvSpPr>
          <p:nvPr/>
        </p:nvSpPr>
        <p:spPr>
          <a:xfrm>
            <a:off x="771525"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119" name="矩形 118"/>
          <p:cNvSpPr>
            <a:spLocks noGrp="1"/>
          </p:cNvSpPr>
          <p:nvPr/>
        </p:nvSpPr>
        <p:spPr>
          <a:xfrm>
            <a:off x="2438400"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120" name="矩形 119"/>
          <p:cNvSpPr>
            <a:spLocks noGrp="1"/>
          </p:cNvSpPr>
          <p:nvPr/>
        </p:nvSpPr>
        <p:spPr>
          <a:xfrm>
            <a:off x="723900" y="634365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0.1043</a:t>
            </a:r>
            <a:endParaRPr sz="1350" b="0">
              <a:solidFill>
                <a:srgbClr val="416B92"/>
              </a:solidFill>
              <a:latin typeface="Arial" panose="020B0604020202020204"/>
              <a:ea typeface="Arial" panose="020B0604020202020204"/>
              <a:cs typeface="Arial" panose="020B0604020202020204"/>
            </a:endParaRPr>
          </a:p>
        </p:txBody>
      </p:sp>
      <p:sp>
        <p:nvSpPr>
          <p:cNvPr id="121" name="矩形 120"/>
          <p:cNvSpPr>
            <a:spLocks noGrp="1"/>
          </p:cNvSpPr>
          <p:nvPr/>
        </p:nvSpPr>
        <p:spPr>
          <a:xfrm>
            <a:off x="2390775" y="634365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0.0794</a:t>
            </a:r>
            <a:endParaRPr sz="1350" b="0">
              <a:solidFill>
                <a:srgbClr val="277F8A"/>
              </a:solidFill>
              <a:latin typeface="Arial" panose="020B0604020202020204"/>
              <a:ea typeface="Arial" panose="020B0604020202020204"/>
              <a:cs typeface="Arial" panose="020B0604020202020204"/>
            </a:endParaRPr>
          </a:p>
        </p:txBody>
      </p:sp>
      <p:sp>
        <p:nvSpPr>
          <p:cNvPr id="122" name="矩形 121"/>
          <p:cNvSpPr>
            <a:spLocks noGrp="1"/>
          </p:cNvSpPr>
          <p:nvPr/>
        </p:nvSpPr>
        <p:spPr>
          <a:xfrm>
            <a:off x="3714750" y="602932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8/15</a:t>
            </a:r>
            <a:endParaRPr sz="1500" b="1">
              <a:solidFill>
                <a:srgbClr val="24292D"/>
              </a:solidFill>
              <a:latin typeface="Arial" panose="020B0604020202020204"/>
              <a:ea typeface="Arial" panose="020B0604020202020204"/>
              <a:cs typeface="Arial" panose="020B0604020202020204"/>
            </a:endParaRPr>
          </a:p>
        </p:txBody>
      </p:sp>
      <p:sp>
        <p:nvSpPr>
          <p:cNvPr id="123" name="矩形 122"/>
          <p:cNvSpPr>
            <a:spLocks noGrp="1"/>
          </p:cNvSpPr>
          <p:nvPr/>
        </p:nvSpPr>
        <p:spPr>
          <a:xfrm>
            <a:off x="3609975" y="6305550"/>
            <a:ext cx="876300"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124" name="直接连接符 123"/>
          <p:cNvSpPr>
            <a:spLocks noGrp="1"/>
          </p:cNvSpPr>
          <p:nvPr/>
        </p:nvSpPr>
        <p:spPr>
          <a:xfrm>
            <a:off x="2333625" y="6924675"/>
            <a:ext cx="953" cy="1295400"/>
          </a:xfrm>
          <a:prstGeom prst="line">
            <a:avLst/>
          </a:prstGeom>
          <a:noFill/>
          <a:ln w="11430">
            <a:solidFill>
              <a:srgbClr val="6A737B"/>
            </a:solidFill>
          </a:ln>
        </p:spPr>
      </p:sp>
      <p:sp>
        <p:nvSpPr>
          <p:cNvPr id="125" name="椭圆 124"/>
          <p:cNvSpPr>
            <a:spLocks noGrp="1"/>
          </p:cNvSpPr>
          <p:nvPr/>
        </p:nvSpPr>
        <p:spPr>
          <a:xfrm>
            <a:off x="1816313" y="7243763"/>
            <a:ext cx="104775" cy="104775"/>
          </a:xfrm>
          <a:prstGeom prst="ellipse">
            <a:avLst/>
          </a:prstGeom>
          <a:solidFill>
            <a:srgbClr val="A35F42"/>
          </a:solidFill>
          <a:ln w="9525">
            <a:solidFill>
              <a:srgbClr val="A35F42"/>
            </a:solidFill>
          </a:ln>
        </p:spPr>
      </p:sp>
      <p:sp>
        <p:nvSpPr>
          <p:cNvPr id="126" name="椭圆 125"/>
          <p:cNvSpPr>
            <a:spLocks noGrp="1"/>
          </p:cNvSpPr>
          <p:nvPr/>
        </p:nvSpPr>
        <p:spPr>
          <a:xfrm>
            <a:off x="1926828" y="7672388"/>
            <a:ext cx="104775" cy="104775"/>
          </a:xfrm>
          <a:prstGeom prst="ellipse">
            <a:avLst/>
          </a:prstGeom>
          <a:solidFill>
            <a:srgbClr val="A35F42"/>
          </a:solidFill>
          <a:ln w="9525">
            <a:solidFill>
              <a:srgbClr val="A35F42"/>
            </a:solidFill>
          </a:ln>
        </p:spPr>
      </p:sp>
      <p:sp>
        <p:nvSpPr>
          <p:cNvPr id="127" name="椭圆 126"/>
          <p:cNvSpPr>
            <a:spLocks noGrp="1"/>
          </p:cNvSpPr>
          <p:nvPr/>
        </p:nvSpPr>
        <p:spPr>
          <a:xfrm>
            <a:off x="2022389" y="7100888"/>
            <a:ext cx="104775" cy="104775"/>
          </a:xfrm>
          <a:prstGeom prst="ellipse">
            <a:avLst/>
          </a:prstGeom>
          <a:solidFill>
            <a:srgbClr val="A35F42"/>
          </a:solidFill>
          <a:ln w="9525">
            <a:solidFill>
              <a:srgbClr val="A35F42"/>
            </a:solidFill>
          </a:ln>
        </p:spPr>
      </p:sp>
      <p:sp>
        <p:nvSpPr>
          <p:cNvPr id="128" name="椭圆 127"/>
          <p:cNvSpPr>
            <a:spLocks noGrp="1"/>
          </p:cNvSpPr>
          <p:nvPr/>
        </p:nvSpPr>
        <p:spPr>
          <a:xfrm>
            <a:off x="2127125" y="7815263"/>
            <a:ext cx="104775" cy="104775"/>
          </a:xfrm>
          <a:prstGeom prst="ellipse">
            <a:avLst/>
          </a:prstGeom>
          <a:solidFill>
            <a:srgbClr val="A35F42"/>
          </a:solidFill>
          <a:ln w="9525">
            <a:solidFill>
              <a:srgbClr val="A35F42"/>
            </a:solidFill>
          </a:ln>
        </p:spPr>
      </p:sp>
      <p:sp>
        <p:nvSpPr>
          <p:cNvPr id="129" name="椭圆 128"/>
          <p:cNvSpPr>
            <a:spLocks noGrp="1"/>
          </p:cNvSpPr>
          <p:nvPr/>
        </p:nvSpPr>
        <p:spPr>
          <a:xfrm>
            <a:off x="2196150" y="7529513"/>
            <a:ext cx="104775" cy="104775"/>
          </a:xfrm>
          <a:prstGeom prst="ellipse">
            <a:avLst/>
          </a:prstGeom>
          <a:solidFill>
            <a:srgbClr val="A35F42"/>
          </a:solidFill>
          <a:ln w="9525">
            <a:solidFill>
              <a:srgbClr val="A35F42"/>
            </a:solidFill>
          </a:ln>
        </p:spPr>
      </p:sp>
      <p:sp>
        <p:nvSpPr>
          <p:cNvPr id="130" name="椭圆 129"/>
          <p:cNvSpPr>
            <a:spLocks noGrp="1"/>
          </p:cNvSpPr>
          <p:nvPr/>
        </p:nvSpPr>
        <p:spPr>
          <a:xfrm>
            <a:off x="2225940" y="7386638"/>
            <a:ext cx="104775" cy="104775"/>
          </a:xfrm>
          <a:prstGeom prst="ellipse">
            <a:avLst/>
          </a:prstGeom>
          <a:solidFill>
            <a:srgbClr val="A35F42"/>
          </a:solidFill>
          <a:ln w="9525">
            <a:solidFill>
              <a:srgbClr val="A35F42"/>
            </a:solidFill>
          </a:ln>
        </p:spPr>
      </p:sp>
      <p:sp>
        <p:nvSpPr>
          <p:cNvPr id="131" name="椭圆 130"/>
          <p:cNvSpPr>
            <a:spLocks noGrp="1"/>
          </p:cNvSpPr>
          <p:nvPr/>
        </p:nvSpPr>
        <p:spPr>
          <a:xfrm>
            <a:off x="2246731" y="7958138"/>
            <a:ext cx="104775" cy="104775"/>
          </a:xfrm>
          <a:prstGeom prst="ellipse">
            <a:avLst/>
          </a:prstGeom>
          <a:solidFill>
            <a:srgbClr val="A35F42"/>
          </a:solidFill>
          <a:ln w="9525">
            <a:solidFill>
              <a:srgbClr val="A35F42"/>
            </a:solidFill>
          </a:ln>
        </p:spPr>
      </p:sp>
      <p:sp>
        <p:nvSpPr>
          <p:cNvPr id="132" name="椭圆 131"/>
          <p:cNvSpPr>
            <a:spLocks noGrp="1"/>
          </p:cNvSpPr>
          <p:nvPr/>
        </p:nvSpPr>
        <p:spPr>
          <a:xfrm>
            <a:off x="2306880" y="7672388"/>
            <a:ext cx="104775" cy="104775"/>
          </a:xfrm>
          <a:prstGeom prst="ellipse">
            <a:avLst/>
          </a:prstGeom>
          <a:solidFill>
            <a:srgbClr val="277F8A"/>
          </a:solidFill>
          <a:ln w="9525">
            <a:solidFill>
              <a:srgbClr val="277F8A"/>
            </a:solidFill>
          </a:ln>
        </p:spPr>
      </p:sp>
      <p:sp>
        <p:nvSpPr>
          <p:cNvPr id="133" name="椭圆 132"/>
          <p:cNvSpPr>
            <a:spLocks noGrp="1"/>
          </p:cNvSpPr>
          <p:nvPr/>
        </p:nvSpPr>
        <p:spPr>
          <a:xfrm>
            <a:off x="2312550" y="7243763"/>
            <a:ext cx="104775" cy="104775"/>
          </a:xfrm>
          <a:prstGeom prst="ellipse">
            <a:avLst/>
          </a:prstGeom>
          <a:solidFill>
            <a:srgbClr val="277F8A"/>
          </a:solidFill>
          <a:ln w="9525">
            <a:solidFill>
              <a:srgbClr val="277F8A"/>
            </a:solidFill>
          </a:ln>
        </p:spPr>
      </p:sp>
      <p:sp>
        <p:nvSpPr>
          <p:cNvPr id="134" name="椭圆 133"/>
          <p:cNvSpPr>
            <a:spLocks noGrp="1"/>
          </p:cNvSpPr>
          <p:nvPr/>
        </p:nvSpPr>
        <p:spPr>
          <a:xfrm>
            <a:off x="2352348" y="7815263"/>
            <a:ext cx="104775" cy="104775"/>
          </a:xfrm>
          <a:prstGeom prst="ellipse">
            <a:avLst/>
          </a:prstGeom>
          <a:solidFill>
            <a:srgbClr val="277F8A"/>
          </a:solidFill>
          <a:ln w="9525">
            <a:solidFill>
              <a:srgbClr val="277F8A"/>
            </a:solidFill>
          </a:ln>
        </p:spPr>
      </p:sp>
      <p:sp>
        <p:nvSpPr>
          <p:cNvPr id="135" name="椭圆 134"/>
          <p:cNvSpPr>
            <a:spLocks noGrp="1"/>
          </p:cNvSpPr>
          <p:nvPr/>
        </p:nvSpPr>
        <p:spPr>
          <a:xfrm>
            <a:off x="2618725" y="7100888"/>
            <a:ext cx="104775" cy="104775"/>
          </a:xfrm>
          <a:prstGeom prst="ellipse">
            <a:avLst/>
          </a:prstGeom>
          <a:solidFill>
            <a:srgbClr val="277F8A"/>
          </a:solidFill>
          <a:ln w="9525">
            <a:solidFill>
              <a:srgbClr val="277F8A"/>
            </a:solidFill>
          </a:ln>
        </p:spPr>
      </p:sp>
      <p:sp>
        <p:nvSpPr>
          <p:cNvPr id="136" name="椭圆 135"/>
          <p:cNvSpPr>
            <a:spLocks noGrp="1"/>
          </p:cNvSpPr>
          <p:nvPr/>
        </p:nvSpPr>
        <p:spPr>
          <a:xfrm>
            <a:off x="2702246" y="7529513"/>
            <a:ext cx="104775" cy="104775"/>
          </a:xfrm>
          <a:prstGeom prst="ellipse">
            <a:avLst/>
          </a:prstGeom>
          <a:solidFill>
            <a:srgbClr val="277F8A"/>
          </a:solidFill>
          <a:ln w="9525">
            <a:solidFill>
              <a:srgbClr val="277F8A"/>
            </a:solidFill>
          </a:ln>
        </p:spPr>
      </p:sp>
      <p:sp>
        <p:nvSpPr>
          <p:cNvPr id="137" name="椭圆 136"/>
          <p:cNvSpPr>
            <a:spLocks noGrp="1"/>
          </p:cNvSpPr>
          <p:nvPr/>
        </p:nvSpPr>
        <p:spPr>
          <a:xfrm>
            <a:off x="2797416" y="7958138"/>
            <a:ext cx="104775" cy="104775"/>
          </a:xfrm>
          <a:prstGeom prst="ellipse">
            <a:avLst/>
          </a:prstGeom>
          <a:solidFill>
            <a:srgbClr val="277F8A"/>
          </a:solidFill>
          <a:ln w="9525">
            <a:solidFill>
              <a:srgbClr val="277F8A"/>
            </a:solidFill>
          </a:ln>
        </p:spPr>
      </p:sp>
      <p:sp>
        <p:nvSpPr>
          <p:cNvPr id="138" name="椭圆 137"/>
          <p:cNvSpPr>
            <a:spLocks noGrp="1"/>
          </p:cNvSpPr>
          <p:nvPr/>
        </p:nvSpPr>
        <p:spPr>
          <a:xfrm>
            <a:off x="2946318" y="7386638"/>
            <a:ext cx="104775" cy="104775"/>
          </a:xfrm>
          <a:prstGeom prst="ellipse">
            <a:avLst/>
          </a:prstGeom>
          <a:solidFill>
            <a:srgbClr val="277F8A"/>
          </a:solidFill>
          <a:ln w="9525">
            <a:solidFill>
              <a:srgbClr val="277F8A"/>
            </a:solidFill>
          </a:ln>
        </p:spPr>
      </p:sp>
      <p:sp>
        <p:nvSpPr>
          <p:cNvPr id="139" name="直接连接符 138"/>
          <p:cNvSpPr>
            <a:spLocks noGrp="1"/>
          </p:cNvSpPr>
          <p:nvPr/>
        </p:nvSpPr>
        <p:spPr>
          <a:xfrm>
            <a:off x="3870093" y="7519988"/>
            <a:ext cx="123825" cy="123825"/>
          </a:xfrm>
          <a:prstGeom prst="line">
            <a:avLst/>
          </a:prstGeom>
          <a:noFill/>
          <a:ln w="19050">
            <a:solidFill>
              <a:srgbClr val="6A737B"/>
            </a:solidFill>
          </a:ln>
        </p:spPr>
      </p:sp>
      <p:sp>
        <p:nvSpPr>
          <p:cNvPr id="140" name="直接连接符 139"/>
          <p:cNvSpPr>
            <a:spLocks noGrp="1"/>
          </p:cNvSpPr>
          <p:nvPr/>
        </p:nvSpPr>
        <p:spPr>
          <a:xfrm flipV="1">
            <a:off x="3870093" y="7519988"/>
            <a:ext cx="123825" cy="123825"/>
          </a:xfrm>
          <a:prstGeom prst="line">
            <a:avLst/>
          </a:prstGeom>
          <a:noFill/>
          <a:ln w="19050">
            <a:solidFill>
              <a:srgbClr val="6A737B"/>
            </a:solidFill>
          </a:ln>
        </p:spPr>
      </p:sp>
      <p:sp>
        <p:nvSpPr>
          <p:cNvPr id="141" name="菱形 140"/>
          <p:cNvSpPr>
            <a:spLocks noGrp="1"/>
          </p:cNvSpPr>
          <p:nvPr/>
        </p:nvSpPr>
        <p:spPr>
          <a:xfrm>
            <a:off x="2302117" y="7524750"/>
            <a:ext cx="114300" cy="114300"/>
          </a:xfrm>
          <a:prstGeom prst="diamond">
            <a:avLst/>
          </a:prstGeom>
          <a:solidFill>
            <a:srgbClr val="24292D"/>
          </a:solidFill>
          <a:ln w="9525">
            <a:solidFill>
              <a:srgbClr val="24292D"/>
            </a:solidFill>
          </a:ln>
        </p:spPr>
      </p:sp>
      <p:sp>
        <p:nvSpPr>
          <p:cNvPr id="142" name="直接连接符 141"/>
          <p:cNvSpPr>
            <a:spLocks noGrp="1"/>
          </p:cNvSpPr>
          <p:nvPr/>
        </p:nvSpPr>
        <p:spPr>
          <a:xfrm>
            <a:off x="476250" y="8362950"/>
            <a:ext cx="3714750" cy="953"/>
          </a:xfrm>
          <a:prstGeom prst="line">
            <a:avLst/>
          </a:prstGeom>
          <a:noFill/>
          <a:ln w="12383">
            <a:solidFill>
              <a:srgbClr val="24292D"/>
            </a:solidFill>
          </a:ln>
        </p:spPr>
      </p:sp>
      <p:sp>
        <p:nvSpPr>
          <p:cNvPr id="143" name="直接连接符 142"/>
          <p:cNvSpPr>
            <a:spLocks noGrp="1"/>
          </p:cNvSpPr>
          <p:nvPr/>
        </p:nvSpPr>
        <p:spPr>
          <a:xfrm>
            <a:off x="523875" y="8362950"/>
            <a:ext cx="953" cy="76200"/>
          </a:xfrm>
          <a:prstGeom prst="line">
            <a:avLst/>
          </a:prstGeom>
          <a:noFill/>
          <a:ln w="9525">
            <a:solidFill>
              <a:srgbClr val="24292D"/>
            </a:solidFill>
          </a:ln>
        </p:spPr>
      </p:sp>
      <p:sp>
        <p:nvSpPr>
          <p:cNvPr id="144" name="矩形 143"/>
          <p:cNvSpPr>
            <a:spLocks noGrp="1"/>
          </p:cNvSpPr>
          <p:nvPr/>
        </p:nvSpPr>
        <p:spPr>
          <a:xfrm>
            <a:off x="161925"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145" name="直接连接符 144"/>
          <p:cNvSpPr>
            <a:spLocks noGrp="1"/>
          </p:cNvSpPr>
          <p:nvPr/>
        </p:nvSpPr>
        <p:spPr>
          <a:xfrm>
            <a:off x="2333625" y="8362950"/>
            <a:ext cx="953" cy="76200"/>
          </a:xfrm>
          <a:prstGeom prst="line">
            <a:avLst/>
          </a:prstGeom>
          <a:noFill/>
          <a:ln w="9525">
            <a:solidFill>
              <a:srgbClr val="24292D"/>
            </a:solidFill>
          </a:ln>
        </p:spPr>
      </p:sp>
      <p:sp>
        <p:nvSpPr>
          <p:cNvPr id="146" name="矩形 145"/>
          <p:cNvSpPr>
            <a:spLocks noGrp="1"/>
          </p:cNvSpPr>
          <p:nvPr/>
        </p:nvSpPr>
        <p:spPr>
          <a:xfrm>
            <a:off x="1971675"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147" name="直接连接符 146"/>
          <p:cNvSpPr>
            <a:spLocks noGrp="1"/>
          </p:cNvSpPr>
          <p:nvPr/>
        </p:nvSpPr>
        <p:spPr>
          <a:xfrm>
            <a:off x="4143375" y="8362950"/>
            <a:ext cx="953" cy="76200"/>
          </a:xfrm>
          <a:prstGeom prst="line">
            <a:avLst/>
          </a:prstGeom>
          <a:noFill/>
          <a:ln w="9525">
            <a:solidFill>
              <a:srgbClr val="24292D"/>
            </a:solidFill>
          </a:ln>
        </p:spPr>
      </p:sp>
      <p:sp>
        <p:nvSpPr>
          <p:cNvPr id="148" name="矩形 147"/>
          <p:cNvSpPr>
            <a:spLocks noGrp="1"/>
          </p:cNvSpPr>
          <p:nvPr/>
        </p:nvSpPr>
        <p:spPr>
          <a:xfrm>
            <a:off x="3781425"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+0.3</a:t>
            </a:r>
            <a:endParaRPr sz="1275" b="0">
              <a:solidFill>
                <a:srgbClr val="24292D"/>
              </a:solidFill>
              <a:latin typeface="Arial" panose="020B0604020202020204"/>
              <a:ea typeface="Arial" panose="020B0604020202020204"/>
              <a:cs typeface="Arial" panose="020B0604020202020204"/>
            </a:endParaRPr>
          </a:p>
        </p:txBody>
      </p:sp>
      <p:sp>
        <p:nvSpPr>
          <p:cNvPr id="149" name="矩形 148"/>
          <p:cNvSpPr>
            <a:spLocks noGrp="1"/>
          </p:cNvSpPr>
          <p:nvPr/>
        </p:nvSpPr>
        <p:spPr>
          <a:xfrm>
            <a:off x="352425" y="883920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Prediction error reduction</a:t>
            </a:r>
            <a:endParaRPr sz="1275" b="0">
              <a:solidFill>
                <a:srgbClr val="24292D"/>
              </a:solidFill>
              <a:latin typeface="Arial" panose="020B0604020202020204"/>
              <a:ea typeface="Arial" panose="020B0604020202020204"/>
              <a:cs typeface="Arial" panose="020B0604020202020204"/>
            </a:endParaRPr>
          </a:p>
        </p:txBody>
      </p:sp>
      <p:sp>
        <p:nvSpPr>
          <p:cNvPr id="150" name="矩形 149"/>
          <p:cNvSpPr>
            <a:spLocks noGrp="1"/>
          </p:cNvSpPr>
          <p:nvPr/>
        </p:nvSpPr>
        <p:spPr>
          <a:xfrm>
            <a:off x="4762500" y="481012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e</a:t>
            </a:r>
            <a:endParaRPr sz="2025" b="1">
              <a:solidFill>
                <a:srgbClr val="24292D"/>
              </a:solidFill>
              <a:latin typeface="Arial" panose="020B0604020202020204"/>
              <a:ea typeface="Arial" panose="020B0604020202020204"/>
              <a:cs typeface="Arial" panose="020B0604020202020204"/>
            </a:endParaRPr>
          </a:p>
        </p:txBody>
      </p:sp>
      <p:sp>
        <p:nvSpPr>
          <p:cNvPr id="151" name="矩形 150"/>
          <p:cNvSpPr>
            <a:spLocks noGrp="1"/>
          </p:cNvSpPr>
          <p:nvPr/>
        </p:nvSpPr>
        <p:spPr>
          <a:xfrm>
            <a:off x="5000625" y="483870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 Fines interval coverage</a:t>
            </a:r>
            <a:endParaRPr sz="1350" b="1">
              <a:solidFill>
                <a:srgbClr val="24292D"/>
              </a:solidFill>
              <a:latin typeface="Arial" panose="020B0604020202020204"/>
              <a:ea typeface="Arial" panose="020B0604020202020204"/>
              <a:cs typeface="Arial" panose="020B0604020202020204"/>
            </a:endParaRPr>
          </a:p>
        </p:txBody>
      </p:sp>
      <p:sp>
        <p:nvSpPr>
          <p:cNvPr id="152" name="矩形 151"/>
          <p:cNvSpPr>
            <a:spLocks noGrp="1"/>
          </p:cNvSpPr>
          <p:nvPr/>
        </p:nvSpPr>
        <p:spPr>
          <a:xfrm>
            <a:off x="5162550" y="521970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Fines coverage (%)</a:t>
            </a:r>
            <a:endParaRPr sz="1275" b="0">
              <a:solidFill>
                <a:srgbClr val="6A737B"/>
              </a:solidFill>
              <a:latin typeface="Arial" panose="020B0604020202020204"/>
              <a:ea typeface="Arial" panose="020B0604020202020204"/>
              <a:cs typeface="Arial" panose="020B0604020202020204"/>
            </a:endParaRPr>
          </a:p>
        </p:txBody>
      </p:sp>
      <p:sp>
        <p:nvSpPr>
          <p:cNvPr id="153" name="直接连接符 152"/>
          <p:cNvSpPr>
            <a:spLocks noGrp="1"/>
          </p:cNvSpPr>
          <p:nvPr/>
        </p:nvSpPr>
        <p:spPr>
          <a:xfrm>
            <a:off x="5829300" y="6191250"/>
            <a:ext cx="1666875" cy="953"/>
          </a:xfrm>
          <a:prstGeom prst="line">
            <a:avLst/>
          </a:prstGeom>
          <a:noFill/>
          <a:ln w="19050">
            <a:solidFill>
              <a:srgbClr val="D7DDE1"/>
            </a:solidFill>
          </a:ln>
        </p:spPr>
      </p:sp>
      <p:sp>
        <p:nvSpPr>
          <p:cNvPr id="154" name="椭圆 153"/>
          <p:cNvSpPr>
            <a:spLocks noGrp="1"/>
          </p:cNvSpPr>
          <p:nvPr/>
        </p:nvSpPr>
        <p:spPr>
          <a:xfrm>
            <a:off x="5743575" y="6105525"/>
            <a:ext cx="171450" cy="171450"/>
          </a:xfrm>
          <a:prstGeom prst="ellipse">
            <a:avLst/>
          </a:prstGeom>
          <a:solidFill>
            <a:srgbClr val="416B92"/>
          </a:solidFill>
          <a:ln w="9525">
            <a:solidFill>
              <a:srgbClr val="416B92"/>
            </a:solidFill>
          </a:ln>
        </p:spPr>
      </p:sp>
      <p:sp>
        <p:nvSpPr>
          <p:cNvPr id="155" name="椭圆 154"/>
          <p:cNvSpPr>
            <a:spLocks noGrp="1"/>
          </p:cNvSpPr>
          <p:nvPr/>
        </p:nvSpPr>
        <p:spPr>
          <a:xfrm>
            <a:off x="7410450" y="6105525"/>
            <a:ext cx="171450" cy="171450"/>
          </a:xfrm>
          <a:prstGeom prst="ellipse">
            <a:avLst/>
          </a:prstGeom>
          <a:solidFill>
            <a:srgbClr val="277F8A"/>
          </a:solidFill>
          <a:ln w="9525">
            <a:solidFill>
              <a:srgbClr val="277F8A"/>
            </a:solidFill>
          </a:ln>
        </p:spPr>
      </p:sp>
      <p:sp>
        <p:nvSpPr>
          <p:cNvPr id="156" name="矩形 155"/>
          <p:cNvSpPr>
            <a:spLocks noGrp="1"/>
          </p:cNvSpPr>
          <p:nvPr/>
        </p:nvSpPr>
        <p:spPr>
          <a:xfrm>
            <a:off x="5295900"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157" name="矩形 156"/>
          <p:cNvSpPr>
            <a:spLocks noGrp="1"/>
          </p:cNvSpPr>
          <p:nvPr/>
        </p:nvSpPr>
        <p:spPr>
          <a:xfrm>
            <a:off x="6962775"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158" name="矩形 157"/>
          <p:cNvSpPr>
            <a:spLocks noGrp="1"/>
          </p:cNvSpPr>
          <p:nvPr/>
        </p:nvSpPr>
        <p:spPr>
          <a:xfrm>
            <a:off x="5248275" y="634365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35.6%</a:t>
            </a:r>
            <a:endParaRPr sz="1350" b="0">
              <a:solidFill>
                <a:srgbClr val="416B92"/>
              </a:solidFill>
              <a:latin typeface="Arial" panose="020B0604020202020204"/>
              <a:ea typeface="Arial" panose="020B0604020202020204"/>
              <a:cs typeface="Arial" panose="020B0604020202020204"/>
            </a:endParaRPr>
          </a:p>
        </p:txBody>
      </p:sp>
      <p:sp>
        <p:nvSpPr>
          <p:cNvPr id="159" name="矩形 158"/>
          <p:cNvSpPr>
            <a:spLocks noGrp="1"/>
          </p:cNvSpPr>
          <p:nvPr/>
        </p:nvSpPr>
        <p:spPr>
          <a:xfrm>
            <a:off x="6915150" y="634365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43.9%</a:t>
            </a:r>
            <a:endParaRPr sz="1350" b="0">
              <a:solidFill>
                <a:srgbClr val="277F8A"/>
              </a:solidFill>
              <a:latin typeface="Arial" panose="020B0604020202020204"/>
              <a:ea typeface="Arial" panose="020B0604020202020204"/>
              <a:cs typeface="Arial" panose="020B0604020202020204"/>
            </a:endParaRPr>
          </a:p>
        </p:txBody>
      </p:sp>
      <p:sp>
        <p:nvSpPr>
          <p:cNvPr id="160" name="矩形 159"/>
          <p:cNvSpPr>
            <a:spLocks noGrp="1"/>
          </p:cNvSpPr>
          <p:nvPr/>
        </p:nvSpPr>
        <p:spPr>
          <a:xfrm>
            <a:off x="8239125" y="602932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7/15</a:t>
            </a:r>
            <a:endParaRPr sz="1500" b="1">
              <a:solidFill>
                <a:srgbClr val="24292D"/>
              </a:solidFill>
              <a:latin typeface="Arial" panose="020B0604020202020204"/>
              <a:ea typeface="Arial" panose="020B0604020202020204"/>
              <a:cs typeface="Arial" panose="020B0604020202020204"/>
            </a:endParaRPr>
          </a:p>
        </p:txBody>
      </p:sp>
      <p:sp>
        <p:nvSpPr>
          <p:cNvPr id="161" name="矩形 160"/>
          <p:cNvSpPr>
            <a:spLocks noGrp="1"/>
          </p:cNvSpPr>
          <p:nvPr/>
        </p:nvSpPr>
        <p:spPr>
          <a:xfrm>
            <a:off x="8134350" y="6305550"/>
            <a:ext cx="876300"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162" name="直接连接符 161"/>
          <p:cNvSpPr>
            <a:spLocks noGrp="1"/>
          </p:cNvSpPr>
          <p:nvPr/>
        </p:nvSpPr>
        <p:spPr>
          <a:xfrm>
            <a:off x="6858000" y="6924675"/>
            <a:ext cx="953" cy="1295400"/>
          </a:xfrm>
          <a:prstGeom prst="line">
            <a:avLst/>
          </a:prstGeom>
          <a:noFill/>
          <a:ln w="11430">
            <a:solidFill>
              <a:srgbClr val="6A737B"/>
            </a:solidFill>
          </a:ln>
        </p:spPr>
      </p:sp>
      <p:sp>
        <p:nvSpPr>
          <p:cNvPr id="163" name="椭圆 162"/>
          <p:cNvSpPr>
            <a:spLocks noGrp="1"/>
          </p:cNvSpPr>
          <p:nvPr/>
        </p:nvSpPr>
        <p:spPr>
          <a:xfrm>
            <a:off x="6202363" y="7243763"/>
            <a:ext cx="104775" cy="104775"/>
          </a:xfrm>
          <a:prstGeom prst="ellipse">
            <a:avLst/>
          </a:prstGeom>
          <a:solidFill>
            <a:srgbClr val="A35F42"/>
          </a:solidFill>
          <a:ln w="9525">
            <a:solidFill>
              <a:srgbClr val="A35F42"/>
            </a:solidFill>
          </a:ln>
        </p:spPr>
      </p:sp>
      <p:sp>
        <p:nvSpPr>
          <p:cNvPr id="164" name="椭圆 163"/>
          <p:cNvSpPr>
            <a:spLocks noGrp="1"/>
          </p:cNvSpPr>
          <p:nvPr/>
        </p:nvSpPr>
        <p:spPr>
          <a:xfrm>
            <a:off x="6202363" y="7672388"/>
            <a:ext cx="104775" cy="104775"/>
          </a:xfrm>
          <a:prstGeom prst="ellipse">
            <a:avLst/>
          </a:prstGeom>
          <a:solidFill>
            <a:srgbClr val="A35F42"/>
          </a:solidFill>
          <a:ln w="9525">
            <a:solidFill>
              <a:srgbClr val="A35F42"/>
            </a:solidFill>
          </a:ln>
        </p:spPr>
      </p:sp>
      <p:sp>
        <p:nvSpPr>
          <p:cNvPr id="165" name="椭圆 164"/>
          <p:cNvSpPr>
            <a:spLocks noGrp="1"/>
          </p:cNvSpPr>
          <p:nvPr/>
        </p:nvSpPr>
        <p:spPr>
          <a:xfrm>
            <a:off x="6503988" y="7100888"/>
            <a:ext cx="104775" cy="104775"/>
          </a:xfrm>
          <a:prstGeom prst="ellipse">
            <a:avLst/>
          </a:prstGeom>
          <a:solidFill>
            <a:srgbClr val="A35F42"/>
          </a:solidFill>
          <a:ln w="9525">
            <a:solidFill>
              <a:srgbClr val="A35F42"/>
            </a:solidFill>
          </a:ln>
        </p:spPr>
      </p:sp>
      <p:sp>
        <p:nvSpPr>
          <p:cNvPr id="166" name="椭圆 165"/>
          <p:cNvSpPr>
            <a:spLocks noGrp="1"/>
          </p:cNvSpPr>
          <p:nvPr/>
        </p:nvSpPr>
        <p:spPr>
          <a:xfrm>
            <a:off x="6503988" y="7815263"/>
            <a:ext cx="104775" cy="104775"/>
          </a:xfrm>
          <a:prstGeom prst="ellipse">
            <a:avLst/>
          </a:prstGeom>
          <a:solidFill>
            <a:srgbClr val="A35F42"/>
          </a:solidFill>
          <a:ln w="9525">
            <a:solidFill>
              <a:srgbClr val="A35F42"/>
            </a:solidFill>
          </a:ln>
        </p:spPr>
      </p:sp>
      <p:sp>
        <p:nvSpPr>
          <p:cNvPr id="167" name="椭圆 166"/>
          <p:cNvSpPr>
            <a:spLocks noGrp="1"/>
          </p:cNvSpPr>
          <p:nvPr/>
        </p:nvSpPr>
        <p:spPr>
          <a:xfrm>
            <a:off x="6805613" y="7529513"/>
            <a:ext cx="104775" cy="104775"/>
          </a:xfrm>
          <a:prstGeom prst="ellipse">
            <a:avLst/>
          </a:prstGeom>
          <a:solidFill>
            <a:srgbClr val="6A737B"/>
          </a:solidFill>
          <a:ln w="9525">
            <a:solidFill>
              <a:srgbClr val="6A737B"/>
            </a:solidFill>
          </a:ln>
        </p:spPr>
      </p:sp>
      <p:sp>
        <p:nvSpPr>
          <p:cNvPr id="168" name="椭圆 167"/>
          <p:cNvSpPr>
            <a:spLocks noGrp="1"/>
          </p:cNvSpPr>
          <p:nvPr/>
        </p:nvSpPr>
        <p:spPr>
          <a:xfrm>
            <a:off x="6805613" y="7386638"/>
            <a:ext cx="104775" cy="104775"/>
          </a:xfrm>
          <a:prstGeom prst="ellipse">
            <a:avLst/>
          </a:prstGeom>
          <a:solidFill>
            <a:srgbClr val="6A737B"/>
          </a:solidFill>
          <a:ln w="9525">
            <a:solidFill>
              <a:srgbClr val="6A737B"/>
            </a:solidFill>
          </a:ln>
        </p:spPr>
      </p:sp>
      <p:sp>
        <p:nvSpPr>
          <p:cNvPr id="169" name="椭圆 168"/>
          <p:cNvSpPr>
            <a:spLocks noGrp="1"/>
          </p:cNvSpPr>
          <p:nvPr/>
        </p:nvSpPr>
        <p:spPr>
          <a:xfrm>
            <a:off x="6805613" y="7958138"/>
            <a:ext cx="104775" cy="104775"/>
          </a:xfrm>
          <a:prstGeom prst="ellipse">
            <a:avLst/>
          </a:prstGeom>
          <a:solidFill>
            <a:srgbClr val="6A737B"/>
          </a:solidFill>
          <a:ln w="9525">
            <a:solidFill>
              <a:srgbClr val="6A737B"/>
            </a:solidFill>
          </a:ln>
        </p:spPr>
      </p:sp>
      <p:sp>
        <p:nvSpPr>
          <p:cNvPr id="170" name="椭圆 169"/>
          <p:cNvSpPr>
            <a:spLocks noGrp="1"/>
          </p:cNvSpPr>
          <p:nvPr/>
        </p:nvSpPr>
        <p:spPr>
          <a:xfrm>
            <a:off x="6805613" y="7672388"/>
            <a:ext cx="104775" cy="104775"/>
          </a:xfrm>
          <a:prstGeom prst="ellipse">
            <a:avLst/>
          </a:prstGeom>
          <a:solidFill>
            <a:srgbClr val="6A737B"/>
          </a:solidFill>
          <a:ln w="9525">
            <a:solidFill>
              <a:srgbClr val="6A737B"/>
            </a:solidFill>
          </a:ln>
        </p:spPr>
      </p:sp>
      <p:sp>
        <p:nvSpPr>
          <p:cNvPr id="171" name="椭圆 170"/>
          <p:cNvSpPr>
            <a:spLocks noGrp="1"/>
          </p:cNvSpPr>
          <p:nvPr/>
        </p:nvSpPr>
        <p:spPr>
          <a:xfrm>
            <a:off x="7107238" y="7243763"/>
            <a:ext cx="104775" cy="104775"/>
          </a:xfrm>
          <a:prstGeom prst="ellipse">
            <a:avLst/>
          </a:prstGeom>
          <a:solidFill>
            <a:srgbClr val="277F8A"/>
          </a:solidFill>
          <a:ln w="9525">
            <a:solidFill>
              <a:srgbClr val="277F8A"/>
            </a:solidFill>
          </a:ln>
        </p:spPr>
      </p:sp>
      <p:sp>
        <p:nvSpPr>
          <p:cNvPr id="172" name="椭圆 171"/>
          <p:cNvSpPr>
            <a:spLocks noGrp="1"/>
          </p:cNvSpPr>
          <p:nvPr/>
        </p:nvSpPr>
        <p:spPr>
          <a:xfrm>
            <a:off x="7107238" y="7815263"/>
            <a:ext cx="104775" cy="104775"/>
          </a:xfrm>
          <a:prstGeom prst="ellipse">
            <a:avLst/>
          </a:prstGeom>
          <a:solidFill>
            <a:srgbClr val="277F8A"/>
          </a:solidFill>
          <a:ln w="9525">
            <a:solidFill>
              <a:srgbClr val="277F8A"/>
            </a:solidFill>
          </a:ln>
        </p:spPr>
      </p:sp>
      <p:sp>
        <p:nvSpPr>
          <p:cNvPr id="173" name="椭圆 172"/>
          <p:cNvSpPr>
            <a:spLocks noGrp="1"/>
          </p:cNvSpPr>
          <p:nvPr/>
        </p:nvSpPr>
        <p:spPr>
          <a:xfrm>
            <a:off x="7408863" y="7100888"/>
            <a:ext cx="104775" cy="104775"/>
          </a:xfrm>
          <a:prstGeom prst="ellipse">
            <a:avLst/>
          </a:prstGeom>
          <a:solidFill>
            <a:srgbClr val="277F8A"/>
          </a:solidFill>
          <a:ln w="9525">
            <a:solidFill>
              <a:srgbClr val="277F8A"/>
            </a:solidFill>
          </a:ln>
        </p:spPr>
      </p:sp>
      <p:sp>
        <p:nvSpPr>
          <p:cNvPr id="174" name="椭圆 173"/>
          <p:cNvSpPr>
            <a:spLocks noGrp="1"/>
          </p:cNvSpPr>
          <p:nvPr/>
        </p:nvSpPr>
        <p:spPr>
          <a:xfrm>
            <a:off x="7408863" y="7529513"/>
            <a:ext cx="104775" cy="104775"/>
          </a:xfrm>
          <a:prstGeom prst="ellipse">
            <a:avLst/>
          </a:prstGeom>
          <a:solidFill>
            <a:srgbClr val="277F8A"/>
          </a:solidFill>
          <a:ln w="9525">
            <a:solidFill>
              <a:srgbClr val="277F8A"/>
            </a:solidFill>
          </a:ln>
        </p:spPr>
      </p:sp>
      <p:sp>
        <p:nvSpPr>
          <p:cNvPr id="175" name="椭圆 174"/>
          <p:cNvSpPr>
            <a:spLocks noGrp="1"/>
          </p:cNvSpPr>
          <p:nvPr/>
        </p:nvSpPr>
        <p:spPr>
          <a:xfrm>
            <a:off x="8012113" y="7958138"/>
            <a:ext cx="104775" cy="104775"/>
          </a:xfrm>
          <a:prstGeom prst="ellipse">
            <a:avLst/>
          </a:prstGeom>
          <a:solidFill>
            <a:srgbClr val="277F8A"/>
          </a:solidFill>
          <a:ln w="9525">
            <a:solidFill>
              <a:srgbClr val="277F8A"/>
            </a:solidFill>
          </a:ln>
        </p:spPr>
      </p:sp>
      <p:sp>
        <p:nvSpPr>
          <p:cNvPr id="176" name="椭圆 175"/>
          <p:cNvSpPr>
            <a:spLocks noGrp="1"/>
          </p:cNvSpPr>
          <p:nvPr/>
        </p:nvSpPr>
        <p:spPr>
          <a:xfrm>
            <a:off x="8313738" y="7386638"/>
            <a:ext cx="104775" cy="104775"/>
          </a:xfrm>
          <a:prstGeom prst="ellipse">
            <a:avLst/>
          </a:prstGeom>
          <a:solidFill>
            <a:srgbClr val="277F8A"/>
          </a:solidFill>
          <a:ln w="9525">
            <a:solidFill>
              <a:srgbClr val="277F8A"/>
            </a:solidFill>
          </a:ln>
        </p:spPr>
      </p:sp>
      <p:sp>
        <p:nvSpPr>
          <p:cNvPr id="177" name="直接连接符 176"/>
          <p:cNvSpPr>
            <a:spLocks noGrp="1"/>
          </p:cNvSpPr>
          <p:nvPr/>
        </p:nvSpPr>
        <p:spPr>
          <a:xfrm>
            <a:off x="8605838" y="7519988"/>
            <a:ext cx="123825" cy="123825"/>
          </a:xfrm>
          <a:prstGeom prst="line">
            <a:avLst/>
          </a:prstGeom>
          <a:noFill/>
          <a:ln w="19050">
            <a:solidFill>
              <a:srgbClr val="6A737B"/>
            </a:solidFill>
          </a:ln>
        </p:spPr>
      </p:sp>
      <p:sp>
        <p:nvSpPr>
          <p:cNvPr id="178" name="直接连接符 177"/>
          <p:cNvSpPr>
            <a:spLocks noGrp="1"/>
          </p:cNvSpPr>
          <p:nvPr/>
        </p:nvSpPr>
        <p:spPr>
          <a:xfrm flipV="1">
            <a:off x="8605838" y="7519988"/>
            <a:ext cx="123825" cy="123825"/>
          </a:xfrm>
          <a:prstGeom prst="line">
            <a:avLst/>
          </a:prstGeom>
          <a:noFill/>
          <a:ln w="19050">
            <a:solidFill>
              <a:srgbClr val="6A737B"/>
            </a:solidFill>
          </a:ln>
        </p:spPr>
      </p:sp>
      <p:sp>
        <p:nvSpPr>
          <p:cNvPr id="179" name="菱形 178"/>
          <p:cNvSpPr>
            <a:spLocks noGrp="1"/>
          </p:cNvSpPr>
          <p:nvPr/>
        </p:nvSpPr>
        <p:spPr>
          <a:xfrm>
            <a:off x="6800850" y="7524750"/>
            <a:ext cx="114300" cy="114300"/>
          </a:xfrm>
          <a:prstGeom prst="diamond">
            <a:avLst/>
          </a:prstGeom>
          <a:solidFill>
            <a:srgbClr val="24292D"/>
          </a:solidFill>
          <a:ln w="9525">
            <a:solidFill>
              <a:srgbClr val="24292D"/>
            </a:solidFill>
          </a:ln>
        </p:spPr>
      </p:sp>
      <p:sp>
        <p:nvSpPr>
          <p:cNvPr id="180" name="直接连接符 179"/>
          <p:cNvSpPr>
            <a:spLocks noGrp="1"/>
          </p:cNvSpPr>
          <p:nvPr/>
        </p:nvSpPr>
        <p:spPr>
          <a:xfrm>
            <a:off x="5000625" y="8362950"/>
            <a:ext cx="3714750" cy="953"/>
          </a:xfrm>
          <a:prstGeom prst="line">
            <a:avLst/>
          </a:prstGeom>
          <a:noFill/>
          <a:ln w="12383">
            <a:solidFill>
              <a:srgbClr val="24292D"/>
            </a:solidFill>
          </a:ln>
        </p:spPr>
      </p:sp>
      <p:sp>
        <p:nvSpPr>
          <p:cNvPr id="181" name="直接连接符 180"/>
          <p:cNvSpPr>
            <a:spLocks noGrp="1"/>
          </p:cNvSpPr>
          <p:nvPr/>
        </p:nvSpPr>
        <p:spPr>
          <a:xfrm>
            <a:off x="5048250" y="8362950"/>
            <a:ext cx="953" cy="76200"/>
          </a:xfrm>
          <a:prstGeom prst="line">
            <a:avLst/>
          </a:prstGeom>
          <a:noFill/>
          <a:ln w="9525">
            <a:solidFill>
              <a:srgbClr val="24292D"/>
            </a:solidFill>
          </a:ln>
        </p:spPr>
      </p:sp>
      <p:sp>
        <p:nvSpPr>
          <p:cNvPr id="182" name="矩形 181"/>
          <p:cNvSpPr>
            <a:spLocks noGrp="1"/>
          </p:cNvSpPr>
          <p:nvPr/>
        </p:nvSpPr>
        <p:spPr>
          <a:xfrm>
            <a:off x="4686300"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-50</a:t>
            </a:r>
            <a:endParaRPr sz="1275" b="0">
              <a:solidFill>
                <a:srgbClr val="24292D"/>
              </a:solidFill>
              <a:latin typeface="Arial" panose="020B0604020202020204"/>
              <a:ea typeface="Arial" panose="020B0604020202020204"/>
              <a:cs typeface="Arial" panose="020B0604020202020204"/>
            </a:endParaRPr>
          </a:p>
        </p:txBody>
      </p:sp>
      <p:sp>
        <p:nvSpPr>
          <p:cNvPr id="183" name="直接连接符 182"/>
          <p:cNvSpPr>
            <a:spLocks noGrp="1"/>
          </p:cNvSpPr>
          <p:nvPr/>
        </p:nvSpPr>
        <p:spPr>
          <a:xfrm>
            <a:off x="6858000" y="8362950"/>
            <a:ext cx="953" cy="76200"/>
          </a:xfrm>
          <a:prstGeom prst="line">
            <a:avLst/>
          </a:prstGeom>
          <a:noFill/>
          <a:ln w="9525">
            <a:solidFill>
              <a:srgbClr val="24292D"/>
            </a:solidFill>
          </a:ln>
        </p:spPr>
      </p:sp>
      <p:sp>
        <p:nvSpPr>
          <p:cNvPr id="184" name="矩形 183"/>
          <p:cNvSpPr>
            <a:spLocks noGrp="1"/>
          </p:cNvSpPr>
          <p:nvPr/>
        </p:nvSpPr>
        <p:spPr>
          <a:xfrm>
            <a:off x="6496050"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185" name="直接连接符 184"/>
          <p:cNvSpPr>
            <a:spLocks noGrp="1"/>
          </p:cNvSpPr>
          <p:nvPr/>
        </p:nvSpPr>
        <p:spPr>
          <a:xfrm>
            <a:off x="8667750" y="8362950"/>
            <a:ext cx="953" cy="76200"/>
          </a:xfrm>
          <a:prstGeom prst="line">
            <a:avLst/>
          </a:prstGeom>
          <a:noFill/>
          <a:ln w="9525">
            <a:solidFill>
              <a:srgbClr val="24292D"/>
            </a:solidFill>
          </a:ln>
        </p:spPr>
      </p:sp>
      <p:sp>
        <p:nvSpPr>
          <p:cNvPr id="186" name="矩形 185"/>
          <p:cNvSpPr>
            <a:spLocks noGrp="1"/>
          </p:cNvSpPr>
          <p:nvPr/>
        </p:nvSpPr>
        <p:spPr>
          <a:xfrm>
            <a:off x="8305800"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+50</a:t>
            </a:r>
            <a:endParaRPr sz="1275" b="0">
              <a:solidFill>
                <a:srgbClr val="24292D"/>
              </a:solidFill>
              <a:latin typeface="Arial" panose="020B0604020202020204"/>
              <a:ea typeface="Arial" panose="020B0604020202020204"/>
              <a:cs typeface="Arial" panose="020B0604020202020204"/>
            </a:endParaRPr>
          </a:p>
        </p:txBody>
      </p:sp>
      <p:sp>
        <p:nvSpPr>
          <p:cNvPr id="187" name="矩形 186"/>
          <p:cNvSpPr>
            <a:spLocks noGrp="1"/>
          </p:cNvSpPr>
          <p:nvPr/>
        </p:nvSpPr>
        <p:spPr>
          <a:xfrm>
            <a:off x="4876800" y="883920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Coverage gain (percentage points)</a:t>
            </a:r>
            <a:endParaRPr sz="1275" b="0">
              <a:solidFill>
                <a:srgbClr val="24292D"/>
              </a:solidFill>
              <a:latin typeface="Arial" panose="020B0604020202020204"/>
              <a:ea typeface="Arial" panose="020B0604020202020204"/>
              <a:cs typeface="Arial" panose="020B0604020202020204"/>
            </a:endParaRPr>
          </a:p>
        </p:txBody>
      </p:sp>
      <p:sp>
        <p:nvSpPr>
          <p:cNvPr id="188" name="矩形 187"/>
          <p:cNvSpPr>
            <a:spLocks noGrp="1"/>
          </p:cNvSpPr>
          <p:nvPr/>
        </p:nvSpPr>
        <p:spPr>
          <a:xfrm>
            <a:off x="9286875" y="4810125"/>
            <a:ext cx="304800" cy="3810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f</a:t>
            </a:r>
            <a:endParaRPr sz="2025" b="1">
              <a:solidFill>
                <a:srgbClr val="24292D"/>
              </a:solidFill>
              <a:latin typeface="Arial" panose="020B0604020202020204"/>
              <a:ea typeface="Arial" panose="020B0604020202020204"/>
              <a:cs typeface="Arial" panose="020B0604020202020204"/>
            </a:endParaRPr>
          </a:p>
        </p:txBody>
      </p:sp>
      <p:sp>
        <p:nvSpPr>
          <p:cNvPr id="189" name="矩形 188"/>
          <p:cNvSpPr>
            <a:spLocks noGrp="1"/>
          </p:cNvSpPr>
          <p:nvPr/>
        </p:nvSpPr>
        <p:spPr>
          <a:xfrm>
            <a:off x="9525000" y="4838700"/>
            <a:ext cx="3857625" cy="381000"/>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 Retested recovery</a:t>
            </a:r>
            <a:endParaRPr sz="1350" b="1">
              <a:solidFill>
                <a:srgbClr val="24292D"/>
              </a:solidFill>
              <a:latin typeface="Arial" panose="020B0604020202020204"/>
              <a:ea typeface="Arial" panose="020B0604020202020204"/>
              <a:cs typeface="Arial" panose="020B0604020202020204"/>
            </a:endParaRPr>
          </a:p>
        </p:txBody>
      </p:sp>
      <p:sp>
        <p:nvSpPr>
          <p:cNvPr id="190" name="矩形 189"/>
          <p:cNvSpPr>
            <a:spLocks noGrp="1"/>
          </p:cNvSpPr>
          <p:nvPr/>
        </p:nvSpPr>
        <p:spPr>
          <a:xfrm>
            <a:off x="9686925" y="5219700"/>
            <a:ext cx="352425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Retested recovery</a:t>
            </a:r>
            <a:endParaRPr sz="1275" b="0">
              <a:solidFill>
                <a:srgbClr val="6A737B"/>
              </a:solidFill>
              <a:latin typeface="Arial" panose="020B0604020202020204"/>
              <a:ea typeface="Arial" panose="020B0604020202020204"/>
              <a:cs typeface="Arial" panose="020B0604020202020204"/>
            </a:endParaRPr>
          </a:p>
        </p:txBody>
      </p:sp>
      <p:sp>
        <p:nvSpPr>
          <p:cNvPr id="191" name="直接连接符 190"/>
          <p:cNvSpPr>
            <a:spLocks noGrp="1"/>
          </p:cNvSpPr>
          <p:nvPr/>
        </p:nvSpPr>
        <p:spPr>
          <a:xfrm>
            <a:off x="10353675" y="6191250"/>
            <a:ext cx="1666875" cy="953"/>
          </a:xfrm>
          <a:prstGeom prst="line">
            <a:avLst/>
          </a:prstGeom>
          <a:noFill/>
          <a:ln w="19050">
            <a:solidFill>
              <a:srgbClr val="D7DDE1"/>
            </a:solidFill>
          </a:ln>
        </p:spPr>
      </p:sp>
      <p:sp>
        <p:nvSpPr>
          <p:cNvPr id="192" name="椭圆 191"/>
          <p:cNvSpPr>
            <a:spLocks noGrp="1"/>
          </p:cNvSpPr>
          <p:nvPr/>
        </p:nvSpPr>
        <p:spPr>
          <a:xfrm>
            <a:off x="10267950" y="6105525"/>
            <a:ext cx="171450" cy="171450"/>
          </a:xfrm>
          <a:prstGeom prst="ellipse">
            <a:avLst/>
          </a:prstGeom>
          <a:solidFill>
            <a:srgbClr val="416B92"/>
          </a:solidFill>
          <a:ln w="9525">
            <a:solidFill>
              <a:srgbClr val="416B92"/>
            </a:solidFill>
          </a:ln>
        </p:spPr>
      </p:sp>
      <p:sp>
        <p:nvSpPr>
          <p:cNvPr id="193" name="椭圆 192"/>
          <p:cNvSpPr>
            <a:spLocks noGrp="1"/>
          </p:cNvSpPr>
          <p:nvPr/>
        </p:nvSpPr>
        <p:spPr>
          <a:xfrm>
            <a:off x="11934825" y="6105525"/>
            <a:ext cx="171450" cy="171450"/>
          </a:xfrm>
          <a:prstGeom prst="ellipse">
            <a:avLst/>
          </a:prstGeom>
          <a:solidFill>
            <a:srgbClr val="277F8A"/>
          </a:solidFill>
          <a:ln w="9525">
            <a:solidFill>
              <a:srgbClr val="277F8A"/>
            </a:solidFill>
          </a:ln>
        </p:spPr>
      </p:sp>
      <p:sp>
        <p:nvSpPr>
          <p:cNvPr id="194" name="矩形 193"/>
          <p:cNvSpPr>
            <a:spLocks noGrp="1"/>
          </p:cNvSpPr>
          <p:nvPr/>
        </p:nvSpPr>
        <p:spPr>
          <a:xfrm>
            <a:off x="9820275"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12 batches</a:t>
            </a:r>
            <a:endParaRPr sz="1200" b="0">
              <a:solidFill>
                <a:srgbClr val="24292D"/>
              </a:solidFill>
              <a:latin typeface="Arial" panose="020B0604020202020204"/>
              <a:ea typeface="Arial" panose="020B0604020202020204"/>
              <a:cs typeface="Arial" panose="020B0604020202020204"/>
            </a:endParaRPr>
          </a:p>
        </p:txBody>
      </p:sp>
      <p:sp>
        <p:nvSpPr>
          <p:cNvPr id="195" name="矩形 194"/>
          <p:cNvSpPr>
            <a:spLocks noGrp="1"/>
          </p:cNvSpPr>
          <p:nvPr/>
        </p:nvSpPr>
        <p:spPr>
          <a:xfrm>
            <a:off x="11487150" y="5838825"/>
            <a:ext cx="1066800" cy="247650"/>
          </a:xfrm>
          <a:prstGeom prst="rect">
            <a:avLst/>
          </a:prstGeom>
          <a:noFill/>
          <a:ln w="0">
            <a:noFill/>
          </a:ln>
        </p:spPr>
        <p:txBody>
          <a:bodyPr wrap="none" lIns="0" tIns="0" rIns="0" bIns="0" anchor="ctr">
            <a:noAutofit/>
          </a:bodyPr>
          <a:lstStyle/>
          <a:p>
            <a:pPr algn="ctr">
              <a:defRPr sz="1200" b="0">
                <a:solidFill>
                  <a:srgbClr val="24292D"/>
                </a:solidFill>
                <a:latin typeface="Arial" panose="020B0604020202020204"/>
                <a:ea typeface="Arial" panose="020B0604020202020204"/>
                <a:cs typeface="Arial" panose="020B0604020202020204"/>
              </a:defRPr>
            </a:pPr>
            <a:r>
              <a:rPr sz="1200" b="0">
                <a:solidFill>
                  <a:srgbClr val="24292D"/>
                </a:solidFill>
                <a:latin typeface="Arial" panose="020B0604020202020204"/>
                <a:ea typeface="Arial" panose="020B0604020202020204"/>
                <a:cs typeface="Arial" panose="020B0604020202020204"/>
              </a:rPr>
              <a:t>24 batches</a:t>
            </a:r>
            <a:endParaRPr sz="1200" b="0">
              <a:solidFill>
                <a:srgbClr val="24292D"/>
              </a:solidFill>
              <a:latin typeface="Arial" panose="020B0604020202020204"/>
              <a:ea typeface="Arial" panose="020B0604020202020204"/>
              <a:cs typeface="Arial" panose="020B0604020202020204"/>
            </a:endParaRPr>
          </a:p>
        </p:txBody>
      </p:sp>
      <p:sp>
        <p:nvSpPr>
          <p:cNvPr id="196" name="矩形 195"/>
          <p:cNvSpPr>
            <a:spLocks noGrp="1"/>
          </p:cNvSpPr>
          <p:nvPr/>
        </p:nvSpPr>
        <p:spPr>
          <a:xfrm>
            <a:off x="9772650" y="6343650"/>
            <a:ext cx="1162050" cy="266700"/>
          </a:xfrm>
          <a:prstGeom prst="rect">
            <a:avLst/>
          </a:prstGeom>
          <a:noFill/>
          <a:ln w="0">
            <a:noFill/>
          </a:ln>
        </p:spPr>
        <p:txBody>
          <a:bodyPr wrap="none" lIns="0" tIns="0" rIns="0" bIns="0" anchor="ctr">
            <a:noAutofit/>
          </a:bodyPr>
          <a:lstStyle/>
          <a:p>
            <a:pPr algn="ctr">
              <a:defRPr sz="1350" b="0">
                <a:solidFill>
                  <a:srgbClr val="416B92"/>
                </a:solidFill>
                <a:latin typeface="Arial" panose="020B0604020202020204"/>
                <a:ea typeface="Arial" panose="020B0604020202020204"/>
                <a:cs typeface="Arial" panose="020B0604020202020204"/>
              </a:defRPr>
            </a:pPr>
            <a:r>
              <a:rPr sz="1350" b="0">
                <a:solidFill>
                  <a:srgbClr val="416B92"/>
                </a:solidFill>
                <a:latin typeface="Arial" panose="020B0604020202020204"/>
                <a:ea typeface="Arial" panose="020B0604020202020204"/>
                <a:cs typeface="Arial" panose="020B0604020202020204"/>
              </a:rPr>
              <a:t>42.1%</a:t>
            </a:r>
            <a:endParaRPr sz="1350" b="0">
              <a:solidFill>
                <a:srgbClr val="416B92"/>
              </a:solidFill>
              <a:latin typeface="Arial" panose="020B0604020202020204"/>
              <a:ea typeface="Arial" panose="020B0604020202020204"/>
              <a:cs typeface="Arial" panose="020B0604020202020204"/>
            </a:endParaRPr>
          </a:p>
        </p:txBody>
      </p:sp>
      <p:sp>
        <p:nvSpPr>
          <p:cNvPr id="197" name="矩形 196"/>
          <p:cNvSpPr>
            <a:spLocks noGrp="1"/>
          </p:cNvSpPr>
          <p:nvPr/>
        </p:nvSpPr>
        <p:spPr>
          <a:xfrm>
            <a:off x="11439525" y="6343650"/>
            <a:ext cx="1162050" cy="266700"/>
          </a:xfrm>
          <a:prstGeom prst="rect">
            <a:avLst/>
          </a:prstGeom>
          <a:noFill/>
          <a:ln w="0">
            <a:noFill/>
          </a:ln>
        </p:spPr>
        <p:txBody>
          <a:bodyPr wrap="none" lIns="0" tIns="0" rIns="0" bIns="0" anchor="ctr">
            <a:noAutofit/>
          </a:bodyPr>
          <a:lstStyle/>
          <a:p>
            <a:pPr algn="ctr">
              <a:defRPr sz="1350" b="0">
                <a:solidFill>
                  <a:srgbClr val="277F8A"/>
                </a:solidFill>
                <a:latin typeface="Arial" panose="020B0604020202020204"/>
                <a:ea typeface="Arial" panose="020B0604020202020204"/>
                <a:cs typeface="Arial" panose="020B0604020202020204"/>
              </a:defRPr>
            </a:pPr>
            <a:r>
              <a:rPr sz="1350" b="0">
                <a:solidFill>
                  <a:srgbClr val="277F8A"/>
                </a:solidFill>
                <a:latin typeface="Arial" panose="020B0604020202020204"/>
                <a:ea typeface="Arial" panose="020B0604020202020204"/>
                <a:cs typeface="Arial" panose="020B0604020202020204"/>
              </a:rPr>
              <a:t>39.9%</a:t>
            </a:r>
            <a:endParaRPr sz="1350" b="0">
              <a:solidFill>
                <a:srgbClr val="277F8A"/>
              </a:solidFill>
              <a:latin typeface="Arial" panose="020B0604020202020204"/>
              <a:ea typeface="Arial" panose="020B0604020202020204"/>
              <a:cs typeface="Arial" panose="020B0604020202020204"/>
            </a:endParaRPr>
          </a:p>
        </p:txBody>
      </p:sp>
      <p:sp>
        <p:nvSpPr>
          <p:cNvPr id="198" name="矩形 197"/>
          <p:cNvSpPr>
            <a:spLocks noGrp="1"/>
          </p:cNvSpPr>
          <p:nvPr/>
        </p:nvSpPr>
        <p:spPr>
          <a:xfrm>
            <a:off x="12763500" y="6029325"/>
            <a:ext cx="666750" cy="2857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7/15</a:t>
            </a:r>
            <a:endParaRPr sz="1500" b="1">
              <a:solidFill>
                <a:srgbClr val="24292D"/>
              </a:solidFill>
              <a:latin typeface="Arial" panose="020B0604020202020204"/>
              <a:ea typeface="Arial" panose="020B0604020202020204"/>
              <a:cs typeface="Arial" panose="020B0604020202020204"/>
            </a:endParaRPr>
          </a:p>
        </p:txBody>
      </p:sp>
      <p:sp>
        <p:nvSpPr>
          <p:cNvPr id="199" name="矩形 198"/>
          <p:cNvSpPr>
            <a:spLocks noGrp="1"/>
          </p:cNvSpPr>
          <p:nvPr/>
        </p:nvSpPr>
        <p:spPr>
          <a:xfrm>
            <a:off x="12658725" y="6305550"/>
            <a:ext cx="866775" cy="228600"/>
          </a:xfrm>
          <a:prstGeom prst="rect">
            <a:avLst/>
          </a:prstGeom>
          <a:noFill/>
          <a:ln w="0">
            <a:noFill/>
          </a:ln>
        </p:spPr>
        <p:txBody>
          <a:bodyPr wrap="none" lIns="0" tIns="0" rIns="0" bIns="0" anchor="ctr">
            <a:noAutofit/>
          </a:bodyPr>
          <a:lstStyle/>
          <a:p>
            <a:pPr algn="ctr">
              <a:defRPr sz="1200" b="0">
                <a:solidFill>
                  <a:srgbClr val="6A737B"/>
                </a:solidFill>
                <a:latin typeface="Arial" panose="020B0604020202020204"/>
                <a:ea typeface="Arial" panose="020B0604020202020204"/>
                <a:cs typeface="Arial" panose="020B0604020202020204"/>
              </a:defRPr>
            </a:pPr>
            <a:r>
              <a:rPr sz="1200" b="0">
                <a:solidFill>
                  <a:srgbClr val="6A737B"/>
                </a:solidFill>
                <a:latin typeface="Arial" panose="020B0604020202020204"/>
                <a:ea typeface="Arial" panose="020B0604020202020204"/>
                <a:cs typeface="Arial" panose="020B0604020202020204"/>
              </a:rPr>
              <a:t>improved</a:t>
            </a:r>
            <a:endParaRPr sz="1200" b="0">
              <a:solidFill>
                <a:srgbClr val="6A737B"/>
              </a:solidFill>
              <a:latin typeface="Arial" panose="020B0604020202020204"/>
              <a:ea typeface="Arial" panose="020B0604020202020204"/>
              <a:cs typeface="Arial" panose="020B0604020202020204"/>
            </a:endParaRPr>
          </a:p>
        </p:txBody>
      </p:sp>
      <p:sp>
        <p:nvSpPr>
          <p:cNvPr id="200" name="直接连接符 199"/>
          <p:cNvSpPr>
            <a:spLocks noGrp="1"/>
          </p:cNvSpPr>
          <p:nvPr/>
        </p:nvSpPr>
        <p:spPr>
          <a:xfrm>
            <a:off x="11382375" y="6924675"/>
            <a:ext cx="953" cy="1295400"/>
          </a:xfrm>
          <a:prstGeom prst="line">
            <a:avLst/>
          </a:prstGeom>
          <a:noFill/>
          <a:ln w="11430">
            <a:solidFill>
              <a:srgbClr val="6A737B"/>
            </a:solidFill>
          </a:ln>
        </p:spPr>
      </p:sp>
      <p:sp>
        <p:nvSpPr>
          <p:cNvPr id="201" name="椭圆 200"/>
          <p:cNvSpPr>
            <a:spLocks noGrp="1"/>
          </p:cNvSpPr>
          <p:nvPr/>
        </p:nvSpPr>
        <p:spPr>
          <a:xfrm>
            <a:off x="9971574" y="7243763"/>
            <a:ext cx="104775" cy="104775"/>
          </a:xfrm>
          <a:prstGeom prst="ellipse">
            <a:avLst/>
          </a:prstGeom>
          <a:solidFill>
            <a:srgbClr val="A35F42"/>
          </a:solidFill>
          <a:ln w="9525">
            <a:solidFill>
              <a:srgbClr val="A35F42"/>
            </a:solidFill>
          </a:ln>
        </p:spPr>
      </p:sp>
      <p:sp>
        <p:nvSpPr>
          <p:cNvPr id="202" name="椭圆 201"/>
          <p:cNvSpPr>
            <a:spLocks noGrp="1"/>
          </p:cNvSpPr>
          <p:nvPr/>
        </p:nvSpPr>
        <p:spPr>
          <a:xfrm>
            <a:off x="10007718" y="7672388"/>
            <a:ext cx="104775" cy="104775"/>
          </a:xfrm>
          <a:prstGeom prst="ellipse">
            <a:avLst/>
          </a:prstGeom>
          <a:solidFill>
            <a:srgbClr val="A35F42"/>
          </a:solidFill>
          <a:ln w="9525">
            <a:solidFill>
              <a:srgbClr val="A35F42"/>
            </a:solidFill>
          </a:ln>
        </p:spPr>
      </p:sp>
      <p:sp>
        <p:nvSpPr>
          <p:cNvPr id="203" name="椭圆 202"/>
          <p:cNvSpPr>
            <a:spLocks noGrp="1"/>
          </p:cNvSpPr>
          <p:nvPr/>
        </p:nvSpPr>
        <p:spPr>
          <a:xfrm>
            <a:off x="10660014" y="7100888"/>
            <a:ext cx="104775" cy="104775"/>
          </a:xfrm>
          <a:prstGeom prst="ellipse">
            <a:avLst/>
          </a:prstGeom>
          <a:solidFill>
            <a:srgbClr val="A35F42"/>
          </a:solidFill>
          <a:ln w="9525">
            <a:solidFill>
              <a:srgbClr val="A35F42"/>
            </a:solidFill>
          </a:ln>
        </p:spPr>
      </p:sp>
      <p:sp>
        <p:nvSpPr>
          <p:cNvPr id="204" name="椭圆 203"/>
          <p:cNvSpPr>
            <a:spLocks noGrp="1"/>
          </p:cNvSpPr>
          <p:nvPr/>
        </p:nvSpPr>
        <p:spPr>
          <a:xfrm>
            <a:off x="10694247" y="7815263"/>
            <a:ext cx="104775" cy="104775"/>
          </a:xfrm>
          <a:prstGeom prst="ellipse">
            <a:avLst/>
          </a:prstGeom>
          <a:solidFill>
            <a:srgbClr val="A35F42"/>
          </a:solidFill>
          <a:ln w="9525">
            <a:solidFill>
              <a:srgbClr val="A35F42"/>
            </a:solidFill>
          </a:ln>
        </p:spPr>
      </p:sp>
      <p:sp>
        <p:nvSpPr>
          <p:cNvPr id="205" name="椭圆 204"/>
          <p:cNvSpPr>
            <a:spLocks noGrp="1"/>
          </p:cNvSpPr>
          <p:nvPr/>
        </p:nvSpPr>
        <p:spPr>
          <a:xfrm>
            <a:off x="10831941" y="7529513"/>
            <a:ext cx="104775" cy="104775"/>
          </a:xfrm>
          <a:prstGeom prst="ellipse">
            <a:avLst/>
          </a:prstGeom>
          <a:solidFill>
            <a:srgbClr val="A35F42"/>
          </a:solidFill>
          <a:ln w="9525">
            <a:solidFill>
              <a:srgbClr val="A35F42"/>
            </a:solidFill>
          </a:ln>
        </p:spPr>
      </p:sp>
      <p:sp>
        <p:nvSpPr>
          <p:cNvPr id="206" name="椭圆 205"/>
          <p:cNvSpPr>
            <a:spLocks noGrp="1"/>
          </p:cNvSpPr>
          <p:nvPr/>
        </p:nvSpPr>
        <p:spPr>
          <a:xfrm>
            <a:off x="11162373" y="7386638"/>
            <a:ext cx="104775" cy="104775"/>
          </a:xfrm>
          <a:prstGeom prst="ellipse">
            <a:avLst/>
          </a:prstGeom>
          <a:solidFill>
            <a:srgbClr val="A35F42"/>
          </a:solidFill>
          <a:ln w="9525">
            <a:solidFill>
              <a:srgbClr val="A35F42"/>
            </a:solidFill>
          </a:ln>
        </p:spPr>
      </p:sp>
      <p:sp>
        <p:nvSpPr>
          <p:cNvPr id="207" name="椭圆 206"/>
          <p:cNvSpPr>
            <a:spLocks noGrp="1"/>
          </p:cNvSpPr>
          <p:nvPr/>
        </p:nvSpPr>
        <p:spPr>
          <a:xfrm>
            <a:off x="11173598" y="7958138"/>
            <a:ext cx="104775" cy="104775"/>
          </a:xfrm>
          <a:prstGeom prst="ellipse">
            <a:avLst/>
          </a:prstGeom>
          <a:solidFill>
            <a:srgbClr val="A35F42"/>
          </a:solidFill>
          <a:ln w="9525">
            <a:solidFill>
              <a:srgbClr val="A35F42"/>
            </a:solidFill>
          </a:ln>
        </p:spPr>
      </p:sp>
      <p:sp>
        <p:nvSpPr>
          <p:cNvPr id="208" name="椭圆 207"/>
          <p:cNvSpPr>
            <a:spLocks noGrp="1"/>
          </p:cNvSpPr>
          <p:nvPr/>
        </p:nvSpPr>
        <p:spPr>
          <a:xfrm>
            <a:off x="11231426" y="7672388"/>
            <a:ext cx="104775" cy="104775"/>
          </a:xfrm>
          <a:prstGeom prst="ellipse">
            <a:avLst/>
          </a:prstGeom>
          <a:solidFill>
            <a:srgbClr val="A35F42"/>
          </a:solidFill>
          <a:ln w="9525">
            <a:solidFill>
              <a:srgbClr val="A35F42"/>
            </a:solidFill>
          </a:ln>
        </p:spPr>
      </p:sp>
      <p:sp>
        <p:nvSpPr>
          <p:cNvPr id="209" name="椭圆 208"/>
          <p:cNvSpPr>
            <a:spLocks noGrp="1"/>
          </p:cNvSpPr>
          <p:nvPr/>
        </p:nvSpPr>
        <p:spPr>
          <a:xfrm>
            <a:off x="11381520" y="7243763"/>
            <a:ext cx="104775" cy="104775"/>
          </a:xfrm>
          <a:prstGeom prst="ellipse">
            <a:avLst/>
          </a:prstGeom>
          <a:solidFill>
            <a:srgbClr val="277F8A"/>
          </a:solidFill>
          <a:ln w="9525">
            <a:solidFill>
              <a:srgbClr val="277F8A"/>
            </a:solidFill>
          </a:ln>
        </p:spPr>
      </p:sp>
      <p:sp>
        <p:nvSpPr>
          <p:cNvPr id="210" name="椭圆 209"/>
          <p:cNvSpPr>
            <a:spLocks noGrp="1"/>
          </p:cNvSpPr>
          <p:nvPr/>
        </p:nvSpPr>
        <p:spPr>
          <a:xfrm>
            <a:off x="11417808" y="7815263"/>
            <a:ext cx="104775" cy="104775"/>
          </a:xfrm>
          <a:prstGeom prst="ellipse">
            <a:avLst/>
          </a:prstGeom>
          <a:solidFill>
            <a:srgbClr val="277F8A"/>
          </a:solidFill>
          <a:ln w="9525">
            <a:solidFill>
              <a:srgbClr val="277F8A"/>
            </a:solidFill>
          </a:ln>
        </p:spPr>
      </p:sp>
      <p:sp>
        <p:nvSpPr>
          <p:cNvPr id="211" name="椭圆 210"/>
          <p:cNvSpPr>
            <a:spLocks noGrp="1"/>
          </p:cNvSpPr>
          <p:nvPr/>
        </p:nvSpPr>
        <p:spPr>
          <a:xfrm>
            <a:off x="11454318" y="7100888"/>
            <a:ext cx="104775" cy="104775"/>
          </a:xfrm>
          <a:prstGeom prst="ellipse">
            <a:avLst/>
          </a:prstGeom>
          <a:solidFill>
            <a:srgbClr val="277F8A"/>
          </a:solidFill>
          <a:ln w="9525">
            <a:solidFill>
              <a:srgbClr val="277F8A"/>
            </a:solidFill>
          </a:ln>
        </p:spPr>
      </p:sp>
      <p:sp>
        <p:nvSpPr>
          <p:cNvPr id="212" name="椭圆 211"/>
          <p:cNvSpPr>
            <a:spLocks noGrp="1"/>
          </p:cNvSpPr>
          <p:nvPr/>
        </p:nvSpPr>
        <p:spPr>
          <a:xfrm>
            <a:off x="11531127" y="7529513"/>
            <a:ext cx="104775" cy="104775"/>
          </a:xfrm>
          <a:prstGeom prst="ellipse">
            <a:avLst/>
          </a:prstGeom>
          <a:solidFill>
            <a:srgbClr val="277F8A"/>
          </a:solidFill>
          <a:ln w="9525">
            <a:solidFill>
              <a:srgbClr val="277F8A"/>
            </a:solidFill>
          </a:ln>
        </p:spPr>
      </p:sp>
      <p:sp>
        <p:nvSpPr>
          <p:cNvPr id="213" name="椭圆 212"/>
          <p:cNvSpPr>
            <a:spLocks noGrp="1"/>
          </p:cNvSpPr>
          <p:nvPr/>
        </p:nvSpPr>
        <p:spPr>
          <a:xfrm>
            <a:off x="11562978" y="7958138"/>
            <a:ext cx="104775" cy="104775"/>
          </a:xfrm>
          <a:prstGeom prst="ellipse">
            <a:avLst/>
          </a:prstGeom>
          <a:solidFill>
            <a:srgbClr val="277F8A"/>
          </a:solidFill>
          <a:ln w="9525">
            <a:solidFill>
              <a:srgbClr val="277F8A"/>
            </a:solidFill>
          </a:ln>
        </p:spPr>
      </p:sp>
      <p:sp>
        <p:nvSpPr>
          <p:cNvPr id="214" name="椭圆 213"/>
          <p:cNvSpPr>
            <a:spLocks noGrp="1"/>
          </p:cNvSpPr>
          <p:nvPr/>
        </p:nvSpPr>
        <p:spPr>
          <a:xfrm>
            <a:off x="12925644" y="7386638"/>
            <a:ext cx="104775" cy="104775"/>
          </a:xfrm>
          <a:prstGeom prst="ellipse">
            <a:avLst/>
          </a:prstGeom>
          <a:solidFill>
            <a:srgbClr val="277F8A"/>
          </a:solidFill>
          <a:ln w="9525">
            <a:solidFill>
              <a:srgbClr val="277F8A"/>
            </a:solidFill>
          </a:ln>
        </p:spPr>
      </p:sp>
      <p:sp>
        <p:nvSpPr>
          <p:cNvPr id="215" name="直接连接符 214"/>
          <p:cNvSpPr>
            <a:spLocks noGrp="1"/>
          </p:cNvSpPr>
          <p:nvPr/>
        </p:nvSpPr>
        <p:spPr>
          <a:xfrm>
            <a:off x="12977412" y="7519988"/>
            <a:ext cx="123825" cy="123825"/>
          </a:xfrm>
          <a:prstGeom prst="line">
            <a:avLst/>
          </a:prstGeom>
          <a:noFill/>
          <a:ln w="19050">
            <a:solidFill>
              <a:srgbClr val="6A737B"/>
            </a:solidFill>
          </a:ln>
        </p:spPr>
      </p:sp>
      <p:sp>
        <p:nvSpPr>
          <p:cNvPr id="216" name="直接连接符 215"/>
          <p:cNvSpPr>
            <a:spLocks noGrp="1"/>
          </p:cNvSpPr>
          <p:nvPr/>
        </p:nvSpPr>
        <p:spPr>
          <a:xfrm flipV="1">
            <a:off x="12977412" y="7519988"/>
            <a:ext cx="123825" cy="123825"/>
          </a:xfrm>
          <a:prstGeom prst="line">
            <a:avLst/>
          </a:prstGeom>
          <a:noFill/>
          <a:ln w="19050">
            <a:solidFill>
              <a:srgbClr val="6A737B"/>
            </a:solidFill>
          </a:ln>
        </p:spPr>
      </p:sp>
      <p:sp>
        <p:nvSpPr>
          <p:cNvPr id="217" name="菱形 216"/>
          <p:cNvSpPr>
            <a:spLocks noGrp="1"/>
          </p:cNvSpPr>
          <p:nvPr/>
        </p:nvSpPr>
        <p:spPr>
          <a:xfrm>
            <a:off x="11226663" y="7524750"/>
            <a:ext cx="114300" cy="114300"/>
          </a:xfrm>
          <a:prstGeom prst="diamond">
            <a:avLst/>
          </a:prstGeom>
          <a:solidFill>
            <a:srgbClr val="24292D"/>
          </a:solidFill>
          <a:ln w="9525">
            <a:solidFill>
              <a:srgbClr val="24292D"/>
            </a:solidFill>
          </a:ln>
        </p:spPr>
      </p:sp>
      <p:sp>
        <p:nvSpPr>
          <p:cNvPr id="218" name="直接连接符 217"/>
          <p:cNvSpPr>
            <a:spLocks noGrp="1"/>
          </p:cNvSpPr>
          <p:nvPr/>
        </p:nvSpPr>
        <p:spPr>
          <a:xfrm>
            <a:off x="9525000" y="8362950"/>
            <a:ext cx="3714750" cy="953"/>
          </a:xfrm>
          <a:prstGeom prst="line">
            <a:avLst/>
          </a:prstGeom>
          <a:noFill/>
          <a:ln w="12383">
            <a:solidFill>
              <a:srgbClr val="24292D"/>
            </a:solidFill>
          </a:ln>
        </p:spPr>
      </p:sp>
      <p:sp>
        <p:nvSpPr>
          <p:cNvPr id="219" name="直接连接符 218"/>
          <p:cNvSpPr>
            <a:spLocks noGrp="1"/>
          </p:cNvSpPr>
          <p:nvPr/>
        </p:nvSpPr>
        <p:spPr>
          <a:xfrm>
            <a:off x="9572625" y="8362950"/>
            <a:ext cx="953" cy="76200"/>
          </a:xfrm>
          <a:prstGeom prst="line">
            <a:avLst/>
          </a:prstGeom>
          <a:noFill/>
          <a:ln w="9525">
            <a:solidFill>
              <a:srgbClr val="24292D"/>
            </a:solidFill>
          </a:ln>
        </p:spPr>
      </p:sp>
      <p:sp>
        <p:nvSpPr>
          <p:cNvPr id="220" name="矩形 219"/>
          <p:cNvSpPr>
            <a:spLocks noGrp="1"/>
          </p:cNvSpPr>
          <p:nvPr/>
        </p:nvSpPr>
        <p:spPr>
          <a:xfrm>
            <a:off x="9210675"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-0.6</a:t>
            </a:r>
            <a:endParaRPr sz="1275" b="0">
              <a:solidFill>
                <a:srgbClr val="24292D"/>
              </a:solidFill>
              <a:latin typeface="Arial" panose="020B0604020202020204"/>
              <a:ea typeface="Arial" panose="020B0604020202020204"/>
              <a:cs typeface="Arial" panose="020B0604020202020204"/>
            </a:endParaRPr>
          </a:p>
        </p:txBody>
      </p:sp>
      <p:sp>
        <p:nvSpPr>
          <p:cNvPr id="221" name="直接连接符 220"/>
          <p:cNvSpPr>
            <a:spLocks noGrp="1"/>
          </p:cNvSpPr>
          <p:nvPr/>
        </p:nvSpPr>
        <p:spPr>
          <a:xfrm>
            <a:off x="11382375" y="8362950"/>
            <a:ext cx="953" cy="76200"/>
          </a:xfrm>
          <a:prstGeom prst="line">
            <a:avLst/>
          </a:prstGeom>
          <a:noFill/>
          <a:ln w="9525">
            <a:solidFill>
              <a:srgbClr val="24292D"/>
            </a:solidFill>
          </a:ln>
        </p:spPr>
      </p:sp>
      <p:sp>
        <p:nvSpPr>
          <p:cNvPr id="222" name="矩形 221"/>
          <p:cNvSpPr>
            <a:spLocks noGrp="1"/>
          </p:cNvSpPr>
          <p:nvPr/>
        </p:nvSpPr>
        <p:spPr>
          <a:xfrm>
            <a:off x="11020425" y="8477250"/>
            <a:ext cx="723900"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a:t>
            </a:r>
            <a:endParaRPr sz="1275" b="0">
              <a:solidFill>
                <a:srgbClr val="24292D"/>
              </a:solidFill>
              <a:latin typeface="Arial" panose="020B0604020202020204"/>
              <a:ea typeface="Arial" panose="020B0604020202020204"/>
              <a:cs typeface="Arial" panose="020B0604020202020204"/>
            </a:endParaRPr>
          </a:p>
        </p:txBody>
      </p:sp>
      <p:sp>
        <p:nvSpPr>
          <p:cNvPr id="223" name="直接连接符 222"/>
          <p:cNvSpPr>
            <a:spLocks noGrp="1"/>
          </p:cNvSpPr>
          <p:nvPr/>
        </p:nvSpPr>
        <p:spPr>
          <a:xfrm>
            <a:off x="13192125" y="8362950"/>
            <a:ext cx="953" cy="76200"/>
          </a:xfrm>
          <a:prstGeom prst="line">
            <a:avLst/>
          </a:prstGeom>
          <a:noFill/>
          <a:ln w="9525">
            <a:solidFill>
              <a:srgbClr val="24292D"/>
            </a:solidFill>
          </a:ln>
        </p:spPr>
      </p:sp>
      <p:sp>
        <p:nvSpPr>
          <p:cNvPr id="224" name="矩形 223"/>
          <p:cNvSpPr>
            <a:spLocks noGrp="1"/>
          </p:cNvSpPr>
          <p:nvPr/>
        </p:nvSpPr>
        <p:spPr>
          <a:xfrm>
            <a:off x="12830175" y="8477250"/>
            <a:ext cx="695325" cy="26670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+0.6</a:t>
            </a:r>
            <a:endParaRPr sz="1275" b="0">
              <a:solidFill>
                <a:srgbClr val="24292D"/>
              </a:solidFill>
              <a:latin typeface="Arial" panose="020B0604020202020204"/>
              <a:ea typeface="Arial" panose="020B0604020202020204"/>
              <a:cs typeface="Arial" panose="020B0604020202020204"/>
            </a:endParaRPr>
          </a:p>
        </p:txBody>
      </p:sp>
      <p:sp>
        <p:nvSpPr>
          <p:cNvPr id="225" name="矩形 224"/>
          <p:cNvSpPr>
            <a:spLocks noGrp="1"/>
          </p:cNvSpPr>
          <p:nvPr/>
        </p:nvSpPr>
        <p:spPr>
          <a:xfrm>
            <a:off x="9401175" y="8839200"/>
            <a:ext cx="3962400" cy="361950"/>
          </a:xfrm>
          <a:prstGeom prst="rect">
            <a:avLst/>
          </a:prstGeom>
          <a:noFill/>
          <a:ln w="0">
            <a:noFill/>
          </a:ln>
        </p:spPr>
        <p:txBody>
          <a:bodyPr wrap="none" lIns="0" tIns="0" rIns="0" bIns="0" anchor="ctr">
            <a:noAutofit/>
          </a:bodyPr>
          <a:lstStyle/>
          <a:p>
            <a:pPr algn="ctr">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Recovery gain</a:t>
            </a:r>
            <a:endParaRPr sz="1275" b="0">
              <a:solidFill>
                <a:srgbClr val="24292D"/>
              </a:solidFill>
              <a:latin typeface="Arial" panose="020B0604020202020204"/>
              <a:ea typeface="Arial" panose="020B0604020202020204"/>
              <a:cs typeface="Arial" panose="020B0604020202020204"/>
            </a:endParaRPr>
          </a:p>
        </p:txBody>
      </p:sp>
      <p:sp>
        <p:nvSpPr>
          <p:cNvPr id="226" name="椭圆 225"/>
          <p:cNvSpPr>
            <a:spLocks noGrp="1"/>
          </p:cNvSpPr>
          <p:nvPr/>
        </p:nvSpPr>
        <p:spPr>
          <a:xfrm>
            <a:off x="1504950" y="9705975"/>
            <a:ext cx="114300" cy="114300"/>
          </a:xfrm>
          <a:prstGeom prst="ellipse">
            <a:avLst/>
          </a:prstGeom>
          <a:solidFill>
            <a:srgbClr val="277F8A"/>
          </a:solidFill>
          <a:ln w="9525">
            <a:solidFill>
              <a:srgbClr val="277F8A"/>
            </a:solidFill>
          </a:ln>
        </p:spPr>
      </p:sp>
      <p:sp>
        <p:nvSpPr>
          <p:cNvPr id="227" name="矩形 226"/>
          <p:cNvSpPr>
            <a:spLocks noGrp="1"/>
          </p:cNvSpPr>
          <p:nvPr/>
        </p:nvSpPr>
        <p:spPr>
          <a:xfrm>
            <a:off x="1743075" y="9620250"/>
            <a:ext cx="1381125" cy="2952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Favorable</a:t>
            </a:r>
            <a:endParaRPr sz="1275" b="0">
              <a:solidFill>
                <a:srgbClr val="24292D"/>
              </a:solidFill>
              <a:latin typeface="Arial" panose="020B0604020202020204"/>
              <a:ea typeface="Arial" panose="020B0604020202020204"/>
              <a:cs typeface="Arial" panose="020B0604020202020204"/>
            </a:endParaRPr>
          </a:p>
        </p:txBody>
      </p:sp>
      <p:sp>
        <p:nvSpPr>
          <p:cNvPr id="228" name="椭圆 227"/>
          <p:cNvSpPr>
            <a:spLocks noGrp="1"/>
          </p:cNvSpPr>
          <p:nvPr/>
        </p:nvSpPr>
        <p:spPr>
          <a:xfrm>
            <a:off x="3952875" y="9705975"/>
            <a:ext cx="114300" cy="114300"/>
          </a:xfrm>
          <a:prstGeom prst="ellipse">
            <a:avLst/>
          </a:prstGeom>
          <a:solidFill>
            <a:srgbClr val="A35F42"/>
          </a:solidFill>
          <a:ln w="9525">
            <a:solidFill>
              <a:srgbClr val="A35F42"/>
            </a:solidFill>
          </a:ln>
        </p:spPr>
      </p:sp>
      <p:sp>
        <p:nvSpPr>
          <p:cNvPr id="229" name="矩形 228"/>
          <p:cNvSpPr>
            <a:spLocks noGrp="1"/>
          </p:cNvSpPr>
          <p:nvPr/>
        </p:nvSpPr>
        <p:spPr>
          <a:xfrm>
            <a:off x="4191000" y="9620250"/>
            <a:ext cx="1524000" cy="2952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Unfavorable</a:t>
            </a:r>
            <a:endParaRPr sz="1275" b="0">
              <a:solidFill>
                <a:srgbClr val="24292D"/>
              </a:solidFill>
              <a:latin typeface="Arial" panose="020B0604020202020204"/>
              <a:ea typeface="Arial" panose="020B0604020202020204"/>
              <a:cs typeface="Arial" panose="020B0604020202020204"/>
            </a:endParaRPr>
          </a:p>
        </p:txBody>
      </p:sp>
      <p:sp>
        <p:nvSpPr>
          <p:cNvPr id="230" name="直接连接符 229"/>
          <p:cNvSpPr>
            <a:spLocks noGrp="1"/>
          </p:cNvSpPr>
          <p:nvPr/>
        </p:nvSpPr>
        <p:spPr>
          <a:xfrm>
            <a:off x="6657975" y="9696450"/>
            <a:ext cx="133350" cy="133350"/>
          </a:xfrm>
          <a:prstGeom prst="line">
            <a:avLst/>
          </a:prstGeom>
          <a:noFill/>
          <a:ln w="19050">
            <a:solidFill>
              <a:srgbClr val="6A737B"/>
            </a:solidFill>
          </a:ln>
        </p:spPr>
      </p:sp>
      <p:sp>
        <p:nvSpPr>
          <p:cNvPr id="231" name="直接连接符 230"/>
          <p:cNvSpPr>
            <a:spLocks noGrp="1"/>
          </p:cNvSpPr>
          <p:nvPr/>
        </p:nvSpPr>
        <p:spPr>
          <a:xfrm flipV="1">
            <a:off x="6657975" y="9696450"/>
            <a:ext cx="133350" cy="133350"/>
          </a:xfrm>
          <a:prstGeom prst="line">
            <a:avLst/>
          </a:prstGeom>
          <a:noFill/>
          <a:ln w="19050">
            <a:solidFill>
              <a:srgbClr val="6A737B"/>
            </a:solidFill>
          </a:ln>
        </p:spPr>
      </p:sp>
      <p:sp>
        <p:nvSpPr>
          <p:cNvPr id="232" name="矩形 231"/>
          <p:cNvSpPr>
            <a:spLocks noGrp="1"/>
          </p:cNvSpPr>
          <p:nvPr/>
        </p:nvSpPr>
        <p:spPr>
          <a:xfrm>
            <a:off x="6934200" y="9620250"/>
            <a:ext cx="2333625" cy="2952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Source-assay shortfall</a:t>
            </a:r>
            <a:endParaRPr sz="1275" b="0">
              <a:solidFill>
                <a:srgbClr val="24292D"/>
              </a:solidFill>
              <a:latin typeface="Arial" panose="020B0604020202020204"/>
              <a:ea typeface="Arial" panose="020B0604020202020204"/>
              <a:cs typeface="Arial" panose="020B0604020202020204"/>
            </a:endParaRPr>
          </a:p>
        </p:txBody>
      </p:sp>
      <p:sp>
        <p:nvSpPr>
          <p:cNvPr id="233" name="菱形 232"/>
          <p:cNvSpPr>
            <a:spLocks noGrp="1"/>
          </p:cNvSpPr>
          <p:nvPr/>
        </p:nvSpPr>
        <p:spPr>
          <a:xfrm>
            <a:off x="10553700" y="9705975"/>
            <a:ext cx="114300" cy="114300"/>
          </a:xfrm>
          <a:prstGeom prst="diamond">
            <a:avLst/>
          </a:prstGeom>
          <a:solidFill>
            <a:srgbClr val="24292D"/>
          </a:solidFill>
          <a:ln w="9525">
            <a:solidFill>
              <a:srgbClr val="24292D"/>
            </a:solidFill>
          </a:ln>
        </p:spPr>
      </p:sp>
      <p:sp>
        <p:nvSpPr>
          <p:cNvPr id="234" name="矩形 233"/>
          <p:cNvSpPr>
            <a:spLocks noGrp="1"/>
          </p:cNvSpPr>
          <p:nvPr/>
        </p:nvSpPr>
        <p:spPr>
          <a:xfrm>
            <a:off x="10772775" y="9620250"/>
            <a:ext cx="2143125" cy="2952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Median (n = 15)</a:t>
            </a:r>
            <a:endParaRPr sz="1275"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矩形 17"/>
          <p:cNvSpPr>
            <a:spLocks noGrp="1"/>
          </p:cNvSpPr>
          <p:nvPr/>
        </p:nvSpPr>
        <p:spPr>
          <a:xfrm>
            <a:off x="838200" y="123825"/>
            <a:ext cx="11811000" cy="342900"/>
          </a:xfrm>
          <a:prstGeom prst="rect">
            <a:avLst/>
          </a:prstGeom>
          <a:noFill/>
          <a:ln w="0">
            <a:noFill/>
          </a:ln>
        </p:spPr>
        <p:txBody>
          <a:bodyPr wrap="none" lIns="0" tIns="0" rIns="0" bIns="0" anchor="ctr">
            <a:noAutofit/>
          </a:bodyPr>
          <a:lstStyle/>
          <a:p>
            <a:pPr algn="l">
              <a:defRPr sz="1650" b="1">
                <a:solidFill>
                  <a:srgbClr val="24292D"/>
                </a:solidFill>
                <a:latin typeface="Arial" panose="020B0604020202020204"/>
                <a:ea typeface="Arial" panose="020B0604020202020204"/>
                <a:cs typeface="Arial" panose="020B0604020202020204"/>
              </a:defRPr>
            </a:pPr>
            <a:r>
              <a:rPr sz="1650" b="1">
                <a:solidFill>
                  <a:srgbClr val="24292D"/>
                </a:solidFill>
                <a:latin typeface="Arial" panose="020B0604020202020204"/>
                <a:ea typeface="Arial" panose="020B0604020202020204"/>
                <a:cs typeface="Arial" panose="020B0604020202020204"/>
              </a:rPr>
              <a:t>Same dilute recipe in each world: 13.3 µM</a:t>
            </a:r>
            <a:endParaRPr sz="1650"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838200" y="647700"/>
            <a:ext cx="209550" cy="152400"/>
          </a:xfrm>
          <a:prstGeom prst="rect">
            <a:avLst/>
          </a:prstGeom>
          <a:solidFill>
            <a:srgbClr val="CBD5DC"/>
          </a:solidFill>
          <a:ln w="0">
            <a:noFill/>
          </a:ln>
        </p:spPr>
      </p:sp>
      <p:sp>
        <p:nvSpPr>
          <p:cNvPr id="3" name="矩形 2"/>
          <p:cNvSpPr>
            <a:spLocks noGrp="1"/>
          </p:cNvSpPr>
          <p:nvPr/>
        </p:nvSpPr>
        <p:spPr>
          <a:xfrm>
            <a:off x="1152525"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Withheld reference</a:t>
            </a:r>
            <a:endParaRPr sz="1500" b="0">
              <a:solidFill>
                <a:srgbClr val="24292D"/>
              </a:solidFill>
              <a:latin typeface="Arial" panose="020B0604020202020204"/>
              <a:ea typeface="Arial" panose="020B0604020202020204"/>
              <a:cs typeface="Arial" panose="020B0604020202020204"/>
            </a:endParaRPr>
          </a:p>
        </p:txBody>
      </p:sp>
      <p:sp>
        <p:nvSpPr>
          <p:cNvPr id="4" name="矩形 3"/>
          <p:cNvSpPr>
            <a:spLocks noGrp="1"/>
          </p:cNvSpPr>
          <p:nvPr/>
        </p:nvSpPr>
        <p:spPr>
          <a:xfrm>
            <a:off x="3933825" y="647700"/>
            <a:ext cx="209550" cy="152400"/>
          </a:xfrm>
          <a:prstGeom prst="rect">
            <a:avLst/>
          </a:prstGeom>
          <a:solidFill>
            <a:srgbClr val="637482"/>
          </a:solidFill>
          <a:ln w="0">
            <a:noFill/>
          </a:ln>
        </p:spPr>
      </p:sp>
      <p:sp>
        <p:nvSpPr>
          <p:cNvPr id="5" name="矩形 4"/>
          <p:cNvSpPr>
            <a:spLocks noGrp="1"/>
          </p:cNvSpPr>
          <p:nvPr/>
        </p:nvSpPr>
        <p:spPr>
          <a:xfrm>
            <a:off x="4248150"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Opaque</a:t>
            </a:r>
            <a:endParaRPr sz="150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6362700" y="647700"/>
            <a:ext cx="209550" cy="152400"/>
          </a:xfrm>
          <a:prstGeom prst="rect">
            <a:avLst/>
          </a:prstGeom>
          <a:solidFill>
            <a:srgbClr val="277F8A"/>
          </a:solidFill>
          <a:ln w="0">
            <a:noFill/>
          </a:ln>
        </p:spPr>
      </p:sp>
      <p:sp>
        <p:nvSpPr>
          <p:cNvPr id="7" name="矩形 6"/>
          <p:cNvSpPr>
            <a:spLocks noGrp="1"/>
          </p:cNvSpPr>
          <p:nvPr/>
        </p:nvSpPr>
        <p:spPr>
          <a:xfrm>
            <a:off x="6677025"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Aligned</a:t>
            </a:r>
            <a:endParaRPr sz="150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8791575" y="647700"/>
            <a:ext cx="209550" cy="152400"/>
          </a:xfrm>
          <a:prstGeom prst="rect">
            <a:avLst/>
          </a:prstGeom>
          <a:solidFill>
            <a:srgbClr val="BC7850"/>
          </a:solidFill>
          <a:ln w="0">
            <a:noFill/>
          </a:ln>
        </p:spPr>
      </p:sp>
      <p:sp>
        <p:nvSpPr>
          <p:cNvPr id="9" name="矩形 8"/>
          <p:cNvSpPr>
            <a:spLocks noGrp="1"/>
          </p:cNvSpPr>
          <p:nvPr/>
        </p:nvSpPr>
        <p:spPr>
          <a:xfrm>
            <a:off x="9105900"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MisIndexed</a:t>
            </a:r>
            <a:endParaRPr sz="150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1538478" y="4402980"/>
            <a:ext cx="10629900" cy="159370"/>
          </a:xfrm>
          <a:prstGeom prst="rect">
            <a:avLst/>
          </a:prstGeom>
          <a:solidFill>
            <a:srgbClr val="E9EDEF"/>
          </a:solidFill>
          <a:ln w="0">
            <a:noFill/>
          </a:ln>
        </p:spPr>
      </p:sp>
      <p:graphicFrame>
        <p:nvGraphicFramePr>
          <p:cNvPr id="28" name="Chart"/>
          <p:cNvGraphicFramePr/>
          <p:nvPr/>
        </p:nvGraphicFramePr>
        <p:xfrm>
          <a:off x="381000" y="1095375"/>
          <a:ext cx="11811000" cy="4143375"/>
        </p:xfrm>
        <a:graphic>
          <a:graphicData uri="http://schemas.openxmlformats.org/drawingml/2006/chart">
            <c:chart xmlns:c="http://schemas.openxmlformats.org/drawingml/2006/chart" xmlns:r="http://schemas.openxmlformats.org/officeDocument/2006/relationships" r:id="rId1"/>
          </a:graphicData>
        </a:graphic>
      </p:graphicFrame>
      <p:sp>
        <p:nvSpPr>
          <p:cNvPr id="12" name="矩形 11"/>
          <p:cNvSpPr>
            <a:spLocks noGrp="1"/>
          </p:cNvSpPr>
          <p:nvPr/>
        </p:nvSpPr>
        <p:spPr>
          <a:xfrm>
            <a:off x="12134850" y="3810000"/>
            <a:ext cx="138112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Observed in</a:t>
            </a:r>
            <a:endParaRPr sz="1350" b="0">
              <a:solidFill>
                <a:srgbClr val="6A737B"/>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2134850" y="4086225"/>
            <a:ext cx="138112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research</a:t>
            </a:r>
            <a:endParaRPr sz="1350" b="0">
              <a:solidFill>
                <a:srgbClr val="6A737B"/>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12134850" y="4505325"/>
            <a:ext cx="1381125" cy="304800"/>
          </a:xfrm>
          <a:prstGeom prst="rect">
            <a:avLst/>
          </a:prstGeom>
          <a:noFill/>
          <a:ln w="0">
            <a:noFill/>
          </a:ln>
        </p:spPr>
        <p:txBody>
          <a:bodyPr wrap="none" lIns="0" tIns="0" rIns="0" bIns="0" anchor="ctr">
            <a:noAutofit/>
          </a:bodyPr>
          <a:lstStyle/>
          <a:p>
            <a:pPr algn="l">
              <a:defRPr sz="1500" b="1">
                <a:solidFill>
                  <a:srgbClr val="6A737B"/>
                </a:solidFill>
                <a:latin typeface="Arial" panose="020B0604020202020204"/>
                <a:ea typeface="Arial" panose="020B0604020202020204"/>
                <a:cs typeface="Arial" panose="020B0604020202020204"/>
              </a:defRPr>
            </a:pPr>
            <a:r>
              <a:rPr sz="1500" b="1">
                <a:solidFill>
                  <a:srgbClr val="6A737B"/>
                </a:solidFill>
                <a:latin typeface="Arial" panose="020B0604020202020204"/>
                <a:ea typeface="Arial" panose="020B0604020202020204"/>
                <a:cs typeface="Arial" panose="020B0604020202020204"/>
              </a:rPr>
              <a:t>5.5–9.2%</a:t>
            </a:r>
            <a:endParaRPr sz="1500" b="1">
              <a:solidFill>
                <a:srgbClr val="6A737B"/>
              </a:solidFill>
              <a:latin typeface="Arial" panose="020B0604020202020204"/>
              <a:ea typeface="Arial" panose="020B0604020202020204"/>
              <a:cs typeface="Arial" panose="020B0604020202020204"/>
            </a:endParaRPr>
          </a:p>
        </p:txBody>
      </p:sp>
      <p:sp>
        <p:nvSpPr>
          <p:cNvPr id="15" name="直接连接符 14"/>
          <p:cNvSpPr>
            <a:spLocks noGrp="1"/>
          </p:cNvSpPr>
          <p:nvPr/>
        </p:nvSpPr>
        <p:spPr>
          <a:xfrm>
            <a:off x="12001500" y="4482664"/>
            <a:ext cx="166878" cy="953"/>
          </a:xfrm>
          <a:prstGeom prst="line">
            <a:avLst/>
          </a:prstGeom>
          <a:noFill/>
          <a:ln w="9525">
            <a:solidFill>
              <a:srgbClr val="6A737B"/>
            </a:solidFill>
          </a:ln>
        </p:spPr>
      </p:sp>
      <p:sp>
        <p:nvSpPr>
          <p:cNvPr id="16" name="矩形 15"/>
          <p:cNvSpPr>
            <a:spLocks noGrp="1"/>
          </p:cNvSpPr>
          <p:nvPr/>
        </p:nvSpPr>
        <p:spPr>
          <a:xfrm>
            <a:off x="838200" y="5438775"/>
            <a:ext cx="12192000" cy="323850"/>
          </a:xfrm>
          <a:prstGeom prst="rect">
            <a:avLst/>
          </a:prstGeom>
          <a:noFill/>
          <a:ln w="0">
            <a:noFill/>
          </a:ln>
        </p:spPr>
        <p:txBody>
          <a:bodyPr wrap="none" lIns="0" tIns="0" rIns="0" bIns="0" anchor="ctr">
            <a:noAutofit/>
          </a:bodyPr>
          <a:lstStyle/>
          <a:p>
            <a:pPr algn="l">
              <a:defRPr sz="1500" b="0">
                <a:solidFill>
                  <a:srgbClr val="6A737B"/>
                </a:solidFill>
                <a:latin typeface="Arial" panose="020B0604020202020204"/>
                <a:ea typeface="Arial" panose="020B0604020202020204"/>
                <a:cs typeface="Arial" panose="020B0604020202020204"/>
              </a:defRPr>
            </a:pPr>
            <a:r>
              <a:rPr sz="1500" b="0">
                <a:solidFill>
                  <a:srgbClr val="6A737B"/>
                </a:solidFill>
                <a:latin typeface="Arial" panose="020B0604020202020204"/>
                <a:ea typeface="Arial" panose="020B0604020202020204"/>
                <a:cs typeface="Arial" panose="020B0604020202020204"/>
              </a:rPr>
              <a:t>Band: pooled range of 180 research observations. Reference outcomes were withheld.</a:t>
            </a:r>
            <a:endParaRPr sz="1500" b="0">
              <a:solidFill>
                <a:srgbClr val="6A737B"/>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838200" y="5781675"/>
            <a:ext cx="1219200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Original 80% prediction intervals: Supplementary Table F1. Regime statistics: Table 1.</a:t>
            </a:r>
            <a:endParaRPr sz="1350" b="0">
              <a:solidFill>
                <a:srgbClr val="6A737B"/>
              </a:solidFill>
              <a:latin typeface="Arial" panose="020B0604020202020204"/>
              <a:ea typeface="Arial" panose="020B0604020202020204"/>
              <a:cs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4" name="矩形 33"/>
          <p:cNvSpPr>
            <a:spLocks noGrp="1"/>
          </p:cNvSpPr>
          <p:nvPr/>
        </p:nvSpPr>
        <p:spPr>
          <a:xfrm>
            <a:off x="238125" y="1428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42875"/>
            <a:ext cx="49530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Measured purity stays high; forecasts depart from it</a:t>
            </a:r>
            <a:endParaRPr sz="1500" b="0">
              <a:solidFill>
                <a:srgbClr val="24292D"/>
              </a:solidFill>
              <a:latin typeface="Arial" panose="020B0604020202020204"/>
              <a:ea typeface="Arial" panose="020B0604020202020204"/>
              <a:cs typeface="Arial" panose="020B0604020202020204"/>
            </a:endParaRPr>
          </a:p>
        </p:txBody>
      </p:sp>
      <p:graphicFrame>
        <p:nvGraphicFramePr>
          <p:cNvPr id="36" name="Chart"/>
          <p:cNvGraphicFramePr/>
          <p:nvPr/>
        </p:nvGraphicFramePr>
        <p:xfrm>
          <a:off x="666750" y="752475"/>
          <a:ext cx="12382500" cy="3714750"/>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1797844" y="466725"/>
            <a:ext cx="2381250" cy="381000"/>
          </a:xfrm>
          <a:prstGeom prst="rect">
            <a:avLst/>
          </a:prstGeom>
          <a:noFill/>
          <a:ln w="0">
            <a:noFill/>
          </a:ln>
        </p:spPr>
        <p:txBody>
          <a:bodyPr wrap="none" lIns="0" tIns="0" rIns="0" bIns="0" anchor="ctr">
            <a:noAutofit/>
          </a:bodyPr>
          <a:lstStyle/>
          <a:p>
            <a:pPr algn="ctr">
              <a:defRPr sz="2100" b="1">
                <a:solidFill>
                  <a:srgbClr val="6A737B"/>
                </a:solidFill>
                <a:latin typeface="Arial" panose="020B0604020202020204"/>
                <a:ea typeface="Arial" panose="020B0604020202020204"/>
                <a:cs typeface="Arial" panose="020B0604020202020204"/>
              </a:defRPr>
            </a:pPr>
            <a:r>
              <a:rPr sz="2100" b="1">
                <a:solidFill>
                  <a:srgbClr val="6A737B"/>
                </a:solidFill>
                <a:latin typeface="Arial" panose="020B0604020202020204"/>
                <a:ea typeface="Arial" panose="020B0604020202020204"/>
                <a:cs typeface="Arial" panose="020B0604020202020204"/>
              </a:rPr>
              <a:t>98.5%</a:t>
            </a:r>
            <a:endParaRPr sz="2100" b="1">
              <a:solidFill>
                <a:srgbClr val="6A737B"/>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588294"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Measured in research</a:t>
            </a:r>
            <a:endParaRPr sz="1500" b="1">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1588294"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30 campaigns</a:t>
            </a:r>
            <a:endParaRPr sz="1350" b="0">
              <a:solidFill>
                <a:srgbClr val="6A737B"/>
              </a:solidFill>
              <a:latin typeface="Arial" panose="020B0604020202020204"/>
              <a:ea typeface="Arial" panose="020B0604020202020204"/>
              <a:cs typeface="Arial" panose="020B0604020202020204"/>
            </a:endParaRPr>
          </a:p>
        </p:txBody>
      </p:sp>
      <p:sp>
        <p:nvSpPr>
          <p:cNvPr id="7" name="矩形 6"/>
          <p:cNvSpPr>
            <a:spLocks noGrp="1"/>
          </p:cNvSpPr>
          <p:nvPr/>
        </p:nvSpPr>
        <p:spPr>
          <a:xfrm>
            <a:off x="4583906" y="466725"/>
            <a:ext cx="2381250" cy="381000"/>
          </a:xfrm>
          <a:prstGeom prst="rect">
            <a:avLst/>
          </a:prstGeom>
          <a:noFill/>
          <a:ln w="0">
            <a:noFill/>
          </a:ln>
        </p:spPr>
        <p:txBody>
          <a:bodyPr wrap="none" lIns="0" tIns="0" rIns="0" bIns="0" anchor="ctr">
            <a:noAutofit/>
          </a:bodyPr>
          <a:lstStyle/>
          <a:p>
            <a:pPr algn="ctr">
              <a:defRPr sz="2100" b="1">
                <a:solidFill>
                  <a:srgbClr val="24292D"/>
                </a:solidFill>
                <a:latin typeface="Arial" panose="020B0604020202020204"/>
                <a:ea typeface="Arial" panose="020B0604020202020204"/>
                <a:cs typeface="Arial" panose="020B0604020202020204"/>
              </a:defRPr>
            </a:pPr>
            <a:r>
              <a:rPr sz="2100" b="1">
                <a:solidFill>
                  <a:srgbClr val="24292D"/>
                </a:solidFill>
                <a:latin typeface="Arial" panose="020B0604020202020204"/>
                <a:ea typeface="Arial" panose="020B0604020202020204"/>
                <a:cs typeface="Arial" panose="020B0604020202020204"/>
              </a:rPr>
              <a:t>98.5%</a:t>
            </a:r>
            <a:endParaRPr sz="2100" b="1">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4374356"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Withheld outcomes</a:t>
            </a:r>
            <a:endParaRPr sz="1500"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4374356"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30 campaigns</a:t>
            </a:r>
            <a:endParaRPr sz="1350" b="0">
              <a:solidFill>
                <a:srgbClr val="6A737B"/>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7369969" y="466725"/>
            <a:ext cx="2381250" cy="381000"/>
          </a:xfrm>
          <a:prstGeom prst="rect">
            <a:avLst/>
          </a:prstGeom>
          <a:noFill/>
          <a:ln w="0">
            <a:noFill/>
          </a:ln>
        </p:spPr>
        <p:txBody>
          <a:bodyPr wrap="none" lIns="0" tIns="0" rIns="0" bIns="0" anchor="ctr">
            <a:noAutofit/>
          </a:bodyPr>
          <a:lstStyle/>
          <a:p>
            <a:pPr algn="ctr">
              <a:defRPr sz="2100" b="1">
                <a:solidFill>
                  <a:srgbClr val="416B92"/>
                </a:solidFill>
                <a:latin typeface="Arial" panose="020B0604020202020204"/>
                <a:ea typeface="Arial" panose="020B0604020202020204"/>
                <a:cs typeface="Arial" panose="020B0604020202020204"/>
              </a:defRPr>
            </a:pPr>
            <a:r>
              <a:rPr sz="2100" b="1">
                <a:solidFill>
                  <a:srgbClr val="416B92"/>
                </a:solidFill>
                <a:latin typeface="Arial" panose="020B0604020202020204"/>
                <a:ea typeface="Arial" panose="020B0604020202020204"/>
                <a:cs typeface="Arial" panose="020B0604020202020204"/>
              </a:rPr>
              <a:t>93.5%</a:t>
            </a:r>
            <a:endParaRPr sz="2100" b="1">
              <a:solidFill>
                <a:srgbClr val="416B92"/>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7160419"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Agent forecast: 12 batches</a:t>
            </a:r>
            <a:endParaRPr sz="1500" b="1">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7160419"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15 campaigns</a:t>
            </a:r>
            <a:endParaRPr sz="1350" b="0">
              <a:solidFill>
                <a:srgbClr val="6A737B"/>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0156031" y="466725"/>
            <a:ext cx="2381250" cy="381000"/>
          </a:xfrm>
          <a:prstGeom prst="rect">
            <a:avLst/>
          </a:prstGeom>
          <a:noFill/>
          <a:ln w="0">
            <a:noFill/>
          </a:ln>
        </p:spPr>
        <p:txBody>
          <a:bodyPr wrap="none" lIns="0" tIns="0" rIns="0" bIns="0" anchor="ctr">
            <a:noAutofit/>
          </a:bodyPr>
          <a:lstStyle/>
          <a:p>
            <a:pPr algn="ctr">
              <a:defRPr sz="2100" b="1">
                <a:solidFill>
                  <a:srgbClr val="277F8A"/>
                </a:solidFill>
                <a:latin typeface="Arial" panose="020B0604020202020204"/>
                <a:ea typeface="Arial" panose="020B0604020202020204"/>
                <a:cs typeface="Arial" panose="020B0604020202020204"/>
              </a:defRPr>
            </a:pPr>
            <a:r>
              <a:rPr sz="2100" b="1">
                <a:solidFill>
                  <a:srgbClr val="277F8A"/>
                </a:solidFill>
                <a:latin typeface="Arial" panose="020B0604020202020204"/>
                <a:ea typeface="Arial" panose="020B0604020202020204"/>
                <a:cs typeface="Arial" panose="020B0604020202020204"/>
              </a:rPr>
              <a:t>94.9%</a:t>
            </a:r>
            <a:endParaRPr sz="2100" b="1">
              <a:solidFill>
                <a:srgbClr val="277F8A"/>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9946481"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Agent forecast: 24 batches</a:t>
            </a:r>
            <a:endParaRPr sz="1500" b="1">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9946481"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15 campaigns</a:t>
            </a:r>
            <a:endParaRPr sz="1350" b="0">
              <a:solidFill>
                <a:srgbClr val="6A737B"/>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904875" y="5305425"/>
            <a:ext cx="12001500" cy="361950"/>
          </a:xfrm>
          <a:prstGeom prst="rect">
            <a:avLst/>
          </a:prstGeom>
          <a:noFill/>
          <a:ln w="0">
            <a:noFill/>
          </a:ln>
        </p:spPr>
        <p:txBody>
          <a:bodyPr wrap="none" lIns="0" tIns="0" rIns="0" bIns="0" anchor="ctr">
            <a:noAutofit/>
          </a:bodyPr>
          <a:lstStyle/>
          <a:p>
            <a:pPr algn="ctr">
              <a:defRPr sz="1725" b="1">
                <a:solidFill>
                  <a:srgbClr val="24292D"/>
                </a:solidFill>
                <a:latin typeface="Arial" panose="020B0604020202020204"/>
                <a:ea typeface="Arial" panose="020B0604020202020204"/>
                <a:cs typeface="Arial" panose="020B0604020202020204"/>
              </a:defRPr>
            </a:pPr>
            <a:r>
              <a:rPr sz="1725" b="1">
                <a:solidFill>
                  <a:srgbClr val="24292D"/>
                </a:solidFill>
                <a:latin typeface="Arial" panose="020B0604020202020204"/>
                <a:ea typeface="Arial" panose="020B0604020202020204"/>
                <a:cs typeface="Arial" panose="020B0604020202020204"/>
              </a:rPr>
              <a:t>335 of 360 individual purity forecasts fall below the withheld reference.</a:t>
            </a:r>
            <a:endParaRPr sz="1725" b="1">
              <a:solidFill>
                <a:srgbClr val="24292D"/>
              </a:solidFill>
              <a:latin typeface="Arial" panose="020B0604020202020204"/>
              <a:ea typeface="Arial" panose="020B0604020202020204"/>
              <a:cs typeface="Arial" panose="020B0604020202020204"/>
            </a:endParaRPr>
          </a:p>
        </p:txBody>
      </p:sp>
      <p:sp>
        <p:nvSpPr>
          <p:cNvPr id="17" name="直接连接符 16"/>
          <p:cNvSpPr>
            <a:spLocks noGrp="1"/>
          </p:cNvSpPr>
          <p:nvPr/>
        </p:nvSpPr>
        <p:spPr>
          <a:xfrm>
            <a:off x="238125" y="5915025"/>
            <a:ext cx="13239750" cy="953"/>
          </a:xfrm>
          <a:prstGeom prst="line">
            <a:avLst/>
          </a:prstGeom>
          <a:noFill/>
          <a:ln w="14288">
            <a:solidFill>
              <a:srgbClr val="D7DDE1"/>
            </a:solidFill>
          </a:ln>
        </p:spPr>
      </p:sp>
      <p:sp>
        <p:nvSpPr>
          <p:cNvPr id="18" name="矩形 17"/>
          <p:cNvSpPr>
            <a:spLocks noGrp="1"/>
          </p:cNvSpPr>
          <p:nvPr/>
        </p:nvSpPr>
        <p:spPr>
          <a:xfrm>
            <a:off x="238125" y="60864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619125" y="6086475"/>
            <a:ext cx="295275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Recovery prediction error</a:t>
            </a:r>
            <a:endParaRPr sz="1500" b="0">
              <a:solidFill>
                <a:srgbClr val="24292D"/>
              </a:solidFill>
              <a:latin typeface="Arial" panose="020B0604020202020204"/>
              <a:ea typeface="Arial" panose="020B0604020202020204"/>
              <a:cs typeface="Arial" panose="020B0604020202020204"/>
            </a:endParaRPr>
          </a:p>
        </p:txBody>
      </p:sp>
      <p:graphicFrame>
        <p:nvGraphicFramePr>
          <p:cNvPr id="53" name="Chart"/>
          <p:cNvGraphicFramePr/>
          <p:nvPr/>
        </p:nvGraphicFramePr>
        <p:xfrm>
          <a:off x="333375" y="7029450"/>
          <a:ext cx="6381750" cy="2333625"/>
        </p:xfrm>
        <a:graphic>
          <a:graphicData uri="http://schemas.openxmlformats.org/drawingml/2006/chart">
            <c:chart xmlns:c="http://schemas.openxmlformats.org/drawingml/2006/chart" xmlns:r="http://schemas.openxmlformats.org/officeDocument/2006/relationships" r:id="rId2"/>
          </a:graphicData>
        </a:graphic>
      </p:graphicFrame>
      <p:sp>
        <p:nvSpPr>
          <p:cNvPr id="21" name="矩形 20"/>
          <p:cNvSpPr>
            <a:spLocks noGrp="1"/>
          </p:cNvSpPr>
          <p:nvPr/>
        </p:nvSpPr>
        <p:spPr>
          <a:xfrm>
            <a:off x="523875" y="6534150"/>
            <a:ext cx="6191250" cy="361950"/>
          </a:xfrm>
          <a:prstGeom prst="rect">
            <a:avLst/>
          </a:prstGeom>
          <a:noFill/>
          <a:ln w="0">
            <a:noFill/>
          </a:ln>
        </p:spPr>
        <p:txBody>
          <a:bodyPr wrap="none" lIns="0" tIns="0" rIns="0" bIns="0" anchor="ctr">
            <a:noAutofit/>
          </a:bodyPr>
          <a:lstStyle/>
          <a:p>
            <a:pPr algn="ctr">
              <a:defRPr sz="1650" b="1">
                <a:solidFill>
                  <a:srgbClr val="277F8A"/>
                </a:solidFill>
                <a:latin typeface="Arial" panose="020B0604020202020204"/>
                <a:ea typeface="Arial" panose="020B0604020202020204"/>
                <a:cs typeface="Arial" panose="020B0604020202020204"/>
              </a:defRPr>
            </a:pPr>
            <a:r>
              <a:rPr sz="1650" b="1">
                <a:solidFill>
                  <a:srgbClr val="277F8A"/>
                </a:solidFill>
                <a:latin typeface="Arial" panose="020B0604020202020204"/>
                <a:ea typeface="Arial" panose="020B0604020202020204"/>
                <a:cs typeface="Arial" panose="020B0604020202020204"/>
              </a:rPr>
              <a:t>Agent more accurate in 26/30 campaigns</a:t>
            </a:r>
            <a:endParaRPr sz="1650" b="1">
              <a:solidFill>
                <a:srgbClr val="277F8A"/>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619125" y="9439275"/>
            <a:ext cx="59055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Negative: agent better. Positive: observed mean better.</a:t>
            </a:r>
            <a:endParaRPr sz="1350" b="0">
              <a:solidFill>
                <a:srgbClr val="6A737B"/>
              </a:solidFill>
              <a:latin typeface="Arial" panose="020B0604020202020204"/>
              <a:ea typeface="Arial" panose="020B0604020202020204"/>
              <a:cs typeface="Arial" panose="020B0604020202020204"/>
            </a:endParaRPr>
          </a:p>
        </p:txBody>
      </p:sp>
      <p:sp>
        <p:nvSpPr>
          <p:cNvPr id="23" name="矩形 22"/>
          <p:cNvSpPr>
            <a:spLocks noGrp="1"/>
          </p:cNvSpPr>
          <p:nvPr/>
        </p:nvSpPr>
        <p:spPr>
          <a:xfrm>
            <a:off x="7096125" y="60864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7477125" y="6086475"/>
            <a:ext cx="273177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Purity prediction error</a:t>
            </a:r>
            <a:endParaRPr sz="1500" b="0">
              <a:solidFill>
                <a:srgbClr val="24292D"/>
              </a:solidFill>
              <a:latin typeface="Arial" panose="020B0604020202020204"/>
              <a:ea typeface="Arial" panose="020B0604020202020204"/>
              <a:cs typeface="Arial" panose="020B0604020202020204"/>
            </a:endParaRPr>
          </a:p>
        </p:txBody>
      </p:sp>
      <p:graphicFrame>
        <p:nvGraphicFramePr>
          <p:cNvPr id="58" name="Chart"/>
          <p:cNvGraphicFramePr/>
          <p:nvPr/>
        </p:nvGraphicFramePr>
        <p:xfrm>
          <a:off x="7191375" y="7029450"/>
          <a:ext cx="6381750" cy="2333625"/>
        </p:xfrm>
        <a:graphic>
          <a:graphicData uri="http://schemas.openxmlformats.org/drawingml/2006/chart">
            <c:chart xmlns:c="http://schemas.openxmlformats.org/drawingml/2006/chart" xmlns:r="http://schemas.openxmlformats.org/officeDocument/2006/relationships" r:id="rId3"/>
          </a:graphicData>
        </a:graphic>
      </p:graphicFrame>
      <p:sp>
        <p:nvSpPr>
          <p:cNvPr id="26" name="矩形 25"/>
          <p:cNvSpPr>
            <a:spLocks noGrp="1"/>
          </p:cNvSpPr>
          <p:nvPr/>
        </p:nvSpPr>
        <p:spPr>
          <a:xfrm>
            <a:off x="7381875" y="6534150"/>
            <a:ext cx="6143625" cy="361950"/>
          </a:xfrm>
          <a:prstGeom prst="rect">
            <a:avLst/>
          </a:prstGeom>
          <a:noFill/>
          <a:ln w="0">
            <a:noFill/>
          </a:ln>
        </p:spPr>
        <p:txBody>
          <a:bodyPr wrap="none" lIns="0" tIns="0" rIns="0" bIns="0" anchor="ctr">
            <a:noAutofit/>
          </a:bodyPr>
          <a:lstStyle/>
          <a:p>
            <a:pPr algn="ctr">
              <a:defRPr sz="1650" b="1">
                <a:solidFill>
                  <a:srgbClr val="A35F42"/>
                </a:solidFill>
                <a:latin typeface="Arial" panose="020B0604020202020204"/>
                <a:ea typeface="Arial" panose="020B0604020202020204"/>
                <a:cs typeface="Arial" panose="020B0604020202020204"/>
              </a:defRPr>
            </a:pPr>
            <a:r>
              <a:rPr sz="1650" b="1">
                <a:solidFill>
                  <a:srgbClr val="A35F42"/>
                </a:solidFill>
                <a:latin typeface="Arial" panose="020B0604020202020204"/>
                <a:ea typeface="Arial" panose="020B0604020202020204"/>
                <a:cs typeface="Arial" panose="020B0604020202020204"/>
              </a:rPr>
              <a:t>Observed mean more accurate in 30/30 campaigns</a:t>
            </a:r>
            <a:endParaRPr sz="1650" b="1">
              <a:solidFill>
                <a:srgbClr val="A35F42"/>
              </a:solidFill>
              <a:latin typeface="Arial" panose="020B0604020202020204"/>
              <a:ea typeface="Arial" panose="020B0604020202020204"/>
              <a:cs typeface="Arial" panose="020B0604020202020204"/>
            </a:endParaRPr>
          </a:p>
        </p:txBody>
      </p:sp>
      <p:sp>
        <p:nvSpPr>
          <p:cNvPr id="27" name="矩形 26"/>
          <p:cNvSpPr>
            <a:spLocks noGrp="1"/>
          </p:cNvSpPr>
          <p:nvPr/>
        </p:nvSpPr>
        <p:spPr>
          <a:xfrm>
            <a:off x="7477125" y="9439275"/>
            <a:ext cx="59055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Negative: agent better. Positive: observed mean better.</a:t>
            </a:r>
            <a:endParaRPr sz="1350" b="0">
              <a:solidFill>
                <a:srgbClr val="6A737B"/>
              </a:solidFill>
              <a:latin typeface="Arial" panose="020B0604020202020204"/>
              <a:ea typeface="Arial" panose="020B0604020202020204"/>
              <a:cs typeface="Arial" panose="020B0604020202020204"/>
            </a:endParaRPr>
          </a:p>
        </p:txBody>
      </p:sp>
      <p:sp>
        <p:nvSpPr>
          <p:cNvPr id="28" name="椭圆 27"/>
          <p:cNvSpPr>
            <a:spLocks noGrp="1"/>
          </p:cNvSpPr>
          <p:nvPr/>
        </p:nvSpPr>
        <p:spPr>
          <a:xfrm>
            <a:off x="4200525" y="10134600"/>
            <a:ext cx="114300" cy="114300"/>
          </a:xfrm>
          <a:prstGeom prst="ellipse">
            <a:avLst/>
          </a:prstGeom>
          <a:solidFill>
            <a:srgbClr val="637482"/>
          </a:solidFill>
          <a:ln w="9525">
            <a:solidFill>
              <a:srgbClr val="637482"/>
            </a:solidFill>
          </a:ln>
        </p:spPr>
      </p:sp>
      <p:sp>
        <p:nvSpPr>
          <p:cNvPr id="29" name="矩形 28"/>
          <p:cNvSpPr>
            <a:spLocks noGrp="1"/>
          </p:cNvSpPr>
          <p:nvPr/>
        </p:nvSpPr>
        <p:spPr>
          <a:xfrm>
            <a:off x="4429125" y="100393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30" name="椭圆 29"/>
          <p:cNvSpPr>
            <a:spLocks noGrp="1"/>
          </p:cNvSpPr>
          <p:nvPr/>
        </p:nvSpPr>
        <p:spPr>
          <a:xfrm>
            <a:off x="5267325" y="10134600"/>
            <a:ext cx="114300" cy="114300"/>
          </a:xfrm>
          <a:prstGeom prst="ellipse">
            <a:avLst/>
          </a:prstGeom>
          <a:solidFill>
            <a:srgbClr val="277F8A"/>
          </a:solidFill>
          <a:ln w="9525">
            <a:solidFill>
              <a:srgbClr val="277F8A"/>
            </a:solidFill>
          </a:ln>
        </p:spPr>
      </p:sp>
      <p:sp>
        <p:nvSpPr>
          <p:cNvPr id="31" name="矩形 30"/>
          <p:cNvSpPr>
            <a:spLocks noGrp="1"/>
          </p:cNvSpPr>
          <p:nvPr/>
        </p:nvSpPr>
        <p:spPr>
          <a:xfrm>
            <a:off x="5495925" y="100393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32" name="椭圆 31"/>
          <p:cNvSpPr>
            <a:spLocks noGrp="1"/>
          </p:cNvSpPr>
          <p:nvPr/>
        </p:nvSpPr>
        <p:spPr>
          <a:xfrm>
            <a:off x="6448425" y="10134600"/>
            <a:ext cx="114300" cy="114300"/>
          </a:xfrm>
          <a:prstGeom prst="ellipse">
            <a:avLst/>
          </a:prstGeom>
          <a:solidFill>
            <a:srgbClr val="BC7850"/>
          </a:solidFill>
          <a:ln w="9525">
            <a:solidFill>
              <a:srgbClr val="BC7850"/>
            </a:solidFill>
          </a:ln>
        </p:spPr>
      </p:sp>
      <p:sp>
        <p:nvSpPr>
          <p:cNvPr id="33" name="矩形 32"/>
          <p:cNvSpPr>
            <a:spLocks noGrp="1"/>
          </p:cNvSpPr>
          <p:nvPr/>
        </p:nvSpPr>
        <p:spPr>
          <a:xfrm>
            <a:off x="6677025" y="1003935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03" name="矩形 102"/>
          <p:cNvSpPr>
            <a:spLocks noGrp="1"/>
          </p:cNvSpPr>
          <p:nvPr/>
        </p:nvSpPr>
        <p:spPr>
          <a:xfrm>
            <a:off x="52387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disc., 12</a:t>
            </a:r>
            <a:endParaRPr sz="1350" b="0">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52387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05" name="Chart"/>
          <p:cNvGraphicFramePr/>
          <p:nvPr/>
        </p:nvGraphicFramePr>
        <p:xfrm>
          <a:off x="190500" y="762000"/>
          <a:ext cx="3295650" cy="19526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9810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8192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26574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393382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disc., 24</a:t>
            </a:r>
            <a:endParaRPr sz="135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393382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11" name="Chart"/>
          <p:cNvGraphicFramePr/>
          <p:nvPr/>
        </p:nvGraphicFramePr>
        <p:xfrm>
          <a:off x="3600450" y="762000"/>
          <a:ext cx="3295650" cy="1952625"/>
        </p:xfrm>
        <a:graphic>
          <a:graphicData uri="http://schemas.openxmlformats.org/drawingml/2006/chart">
            <c:chart xmlns:c="http://schemas.openxmlformats.org/drawingml/2006/chart" xmlns:r="http://schemas.openxmlformats.org/officeDocument/2006/relationships" r:id="rId2"/>
          </a:graphicData>
        </a:graphic>
      </p:graphicFrame>
      <p:sp>
        <p:nvSpPr>
          <p:cNvPr id="10" name="矩形 9"/>
          <p:cNvSpPr>
            <a:spLocks noGrp="1"/>
          </p:cNvSpPr>
          <p:nvPr/>
        </p:nvSpPr>
        <p:spPr>
          <a:xfrm>
            <a:off x="43910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52292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60674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734377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opt., 12</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34377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17" name="Chart"/>
          <p:cNvGraphicFramePr/>
          <p:nvPr/>
        </p:nvGraphicFramePr>
        <p:xfrm>
          <a:off x="7010400" y="762000"/>
          <a:ext cx="3295650" cy="1952625"/>
        </p:xfrm>
        <a:graphic>
          <a:graphicData uri="http://schemas.openxmlformats.org/drawingml/2006/chart">
            <c:chart xmlns:c="http://schemas.openxmlformats.org/drawingml/2006/chart" xmlns:r="http://schemas.openxmlformats.org/officeDocument/2006/relationships" r:id="rId3"/>
          </a:graphicData>
        </a:graphic>
      </p:graphicFrame>
      <p:sp>
        <p:nvSpPr>
          <p:cNvPr id="16" name="矩形 15"/>
          <p:cNvSpPr>
            <a:spLocks noGrp="1"/>
          </p:cNvSpPr>
          <p:nvPr/>
        </p:nvSpPr>
        <p:spPr>
          <a:xfrm>
            <a:off x="78009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86391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94773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10753725" y="114300"/>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opt., 24</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10753725" y="438150"/>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23" name="Chart"/>
          <p:cNvGraphicFramePr/>
          <p:nvPr/>
        </p:nvGraphicFramePr>
        <p:xfrm>
          <a:off x="10420350" y="762000"/>
          <a:ext cx="3295650" cy="1952625"/>
        </p:xfrm>
        <a:graphic>
          <a:graphicData uri="http://schemas.openxmlformats.org/drawingml/2006/chart">
            <c:chart xmlns:c="http://schemas.openxmlformats.org/drawingml/2006/chart" xmlns:r="http://schemas.openxmlformats.org/officeDocument/2006/relationships" r:id="rId4"/>
          </a:graphicData>
        </a:graphic>
      </p:graphicFrame>
      <p:sp>
        <p:nvSpPr>
          <p:cNvPr id="22" name="矩形 21"/>
          <p:cNvSpPr>
            <a:spLocks noGrp="1"/>
          </p:cNvSpPr>
          <p:nvPr/>
        </p:nvSpPr>
        <p:spPr>
          <a:xfrm>
            <a:off x="112109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3" name="矩形 22"/>
          <p:cNvSpPr>
            <a:spLocks noGrp="1"/>
          </p:cNvSpPr>
          <p:nvPr/>
        </p:nvSpPr>
        <p:spPr>
          <a:xfrm>
            <a:off x="120491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28873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5" name="矩形 24"/>
          <p:cNvSpPr>
            <a:spLocks noGrp="1"/>
          </p:cNvSpPr>
          <p:nvPr/>
        </p:nvSpPr>
        <p:spPr>
          <a:xfrm>
            <a:off x="52387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PA/E, disc., 12</a:t>
            </a:r>
            <a:endParaRPr sz="1350" b="0">
              <a:solidFill>
                <a:srgbClr val="24292D"/>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52387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29" name="Chart"/>
          <p:cNvGraphicFramePr/>
          <p:nvPr/>
        </p:nvGraphicFramePr>
        <p:xfrm>
          <a:off x="190500" y="3857625"/>
          <a:ext cx="3295650" cy="1952625"/>
        </p:xfrm>
        <a:graphic>
          <a:graphicData uri="http://schemas.openxmlformats.org/drawingml/2006/chart">
            <c:chart xmlns:c="http://schemas.openxmlformats.org/drawingml/2006/chart" xmlns:r="http://schemas.openxmlformats.org/officeDocument/2006/relationships" r:id="rId5"/>
          </a:graphicData>
        </a:graphic>
      </p:graphicFrame>
      <p:sp>
        <p:nvSpPr>
          <p:cNvPr id="28" name="矩形 27"/>
          <p:cNvSpPr>
            <a:spLocks noGrp="1"/>
          </p:cNvSpPr>
          <p:nvPr/>
        </p:nvSpPr>
        <p:spPr>
          <a:xfrm>
            <a:off x="9810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9" name="矩形 28"/>
          <p:cNvSpPr>
            <a:spLocks noGrp="1"/>
          </p:cNvSpPr>
          <p:nvPr/>
        </p:nvSpPr>
        <p:spPr>
          <a:xfrm>
            <a:off x="18192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26574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393382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PA/E, disc., 24</a:t>
            </a:r>
            <a:endParaRPr sz="1350" b="0">
              <a:solidFill>
                <a:srgbClr val="24292D"/>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393382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35" name="Chart"/>
          <p:cNvGraphicFramePr/>
          <p:nvPr/>
        </p:nvGraphicFramePr>
        <p:xfrm>
          <a:off x="3600450" y="3857625"/>
          <a:ext cx="3295650" cy="1952625"/>
        </p:xfrm>
        <a:graphic>
          <a:graphicData uri="http://schemas.openxmlformats.org/drawingml/2006/chart">
            <c:chart xmlns:c="http://schemas.openxmlformats.org/drawingml/2006/chart" xmlns:r="http://schemas.openxmlformats.org/officeDocument/2006/relationships" r:id="rId6"/>
          </a:graphicData>
        </a:graphic>
      </p:graphicFrame>
      <p:sp>
        <p:nvSpPr>
          <p:cNvPr id="34" name="矩形 33"/>
          <p:cNvSpPr>
            <a:spLocks noGrp="1"/>
          </p:cNvSpPr>
          <p:nvPr/>
        </p:nvSpPr>
        <p:spPr>
          <a:xfrm>
            <a:off x="43910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35" name="矩形 34"/>
          <p:cNvSpPr>
            <a:spLocks noGrp="1"/>
          </p:cNvSpPr>
          <p:nvPr/>
        </p:nvSpPr>
        <p:spPr>
          <a:xfrm>
            <a:off x="52292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60674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37" name="矩形 36"/>
          <p:cNvSpPr>
            <a:spLocks noGrp="1"/>
          </p:cNvSpPr>
          <p:nvPr/>
        </p:nvSpPr>
        <p:spPr>
          <a:xfrm>
            <a:off x="734377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RX/P, disc., 12</a:t>
            </a:r>
            <a:endParaRPr sz="1350" b="0">
              <a:solidFill>
                <a:srgbClr val="24292D"/>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734377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41" name="Chart"/>
          <p:cNvGraphicFramePr/>
          <p:nvPr/>
        </p:nvGraphicFramePr>
        <p:xfrm>
          <a:off x="7010400" y="3857625"/>
          <a:ext cx="3295650" cy="1952625"/>
        </p:xfrm>
        <a:graphic>
          <a:graphicData uri="http://schemas.openxmlformats.org/drawingml/2006/chart">
            <c:chart xmlns:c="http://schemas.openxmlformats.org/drawingml/2006/chart" xmlns:r="http://schemas.openxmlformats.org/officeDocument/2006/relationships" r:id="rId7"/>
          </a:graphicData>
        </a:graphic>
      </p:graphicFrame>
      <p:sp>
        <p:nvSpPr>
          <p:cNvPr id="40" name="矩形 39"/>
          <p:cNvSpPr>
            <a:spLocks noGrp="1"/>
          </p:cNvSpPr>
          <p:nvPr/>
        </p:nvSpPr>
        <p:spPr>
          <a:xfrm>
            <a:off x="78009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41" name="矩形 40"/>
          <p:cNvSpPr>
            <a:spLocks noGrp="1"/>
          </p:cNvSpPr>
          <p:nvPr/>
        </p:nvSpPr>
        <p:spPr>
          <a:xfrm>
            <a:off x="86391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42" name="矩形 41"/>
          <p:cNvSpPr>
            <a:spLocks noGrp="1"/>
          </p:cNvSpPr>
          <p:nvPr/>
        </p:nvSpPr>
        <p:spPr>
          <a:xfrm>
            <a:off x="94773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43" name="矩形 42"/>
          <p:cNvSpPr>
            <a:spLocks noGrp="1"/>
          </p:cNvSpPr>
          <p:nvPr/>
        </p:nvSpPr>
        <p:spPr>
          <a:xfrm>
            <a:off x="10753725" y="3209925"/>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RX/S, disc., 12</a:t>
            </a:r>
            <a:endParaRPr sz="1350" b="0">
              <a:solidFill>
                <a:srgbClr val="24292D"/>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10753725" y="3533775"/>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47" name="Chart"/>
          <p:cNvGraphicFramePr/>
          <p:nvPr/>
        </p:nvGraphicFramePr>
        <p:xfrm>
          <a:off x="10420350" y="3857625"/>
          <a:ext cx="3295650" cy="1952625"/>
        </p:xfrm>
        <a:graphic>
          <a:graphicData uri="http://schemas.openxmlformats.org/drawingml/2006/chart">
            <c:chart xmlns:c="http://schemas.openxmlformats.org/drawingml/2006/chart" xmlns:r="http://schemas.openxmlformats.org/officeDocument/2006/relationships" r:id="rId8"/>
          </a:graphicData>
        </a:graphic>
      </p:graphicFrame>
      <p:sp>
        <p:nvSpPr>
          <p:cNvPr id="46" name="矩形 45"/>
          <p:cNvSpPr>
            <a:spLocks noGrp="1"/>
          </p:cNvSpPr>
          <p:nvPr/>
        </p:nvSpPr>
        <p:spPr>
          <a:xfrm>
            <a:off x="112109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47" name="矩形 46"/>
          <p:cNvSpPr>
            <a:spLocks noGrp="1"/>
          </p:cNvSpPr>
          <p:nvPr/>
        </p:nvSpPr>
        <p:spPr>
          <a:xfrm>
            <a:off x="120491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128873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49" name="矩形 48"/>
          <p:cNvSpPr>
            <a:spLocks noGrp="1"/>
          </p:cNvSpPr>
          <p:nvPr/>
        </p:nvSpPr>
        <p:spPr>
          <a:xfrm>
            <a:off x="52387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RX/P, opt., 12</a:t>
            </a:r>
            <a:endParaRPr sz="1350" b="0">
              <a:solidFill>
                <a:srgbClr val="24292D"/>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52387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53" name="Chart"/>
          <p:cNvGraphicFramePr/>
          <p:nvPr/>
        </p:nvGraphicFramePr>
        <p:xfrm>
          <a:off x="190500" y="6953250"/>
          <a:ext cx="3295650" cy="1952625"/>
        </p:xfrm>
        <a:graphic>
          <a:graphicData uri="http://schemas.openxmlformats.org/drawingml/2006/chart">
            <c:chart xmlns:c="http://schemas.openxmlformats.org/drawingml/2006/chart" xmlns:r="http://schemas.openxmlformats.org/officeDocument/2006/relationships" r:id="rId9"/>
          </a:graphicData>
        </a:graphic>
      </p:graphicFrame>
      <p:sp>
        <p:nvSpPr>
          <p:cNvPr id="52" name="矩形 51"/>
          <p:cNvSpPr>
            <a:spLocks noGrp="1"/>
          </p:cNvSpPr>
          <p:nvPr/>
        </p:nvSpPr>
        <p:spPr>
          <a:xfrm>
            <a:off x="9810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3" name="矩形 52"/>
          <p:cNvSpPr>
            <a:spLocks noGrp="1"/>
          </p:cNvSpPr>
          <p:nvPr/>
        </p:nvSpPr>
        <p:spPr>
          <a:xfrm>
            <a:off x="18192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54" name="矩形 53"/>
          <p:cNvSpPr>
            <a:spLocks noGrp="1"/>
          </p:cNvSpPr>
          <p:nvPr/>
        </p:nvSpPr>
        <p:spPr>
          <a:xfrm>
            <a:off x="26574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55" name="矩形 54"/>
          <p:cNvSpPr>
            <a:spLocks noGrp="1"/>
          </p:cNvSpPr>
          <p:nvPr/>
        </p:nvSpPr>
        <p:spPr>
          <a:xfrm>
            <a:off x="393382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RX/S, opt., 12</a:t>
            </a:r>
            <a:endParaRPr sz="1350" b="0">
              <a:solidFill>
                <a:srgbClr val="24292D"/>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393382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59" name="Chart"/>
          <p:cNvGraphicFramePr/>
          <p:nvPr/>
        </p:nvGraphicFramePr>
        <p:xfrm>
          <a:off x="3600450" y="6953250"/>
          <a:ext cx="3295650" cy="1952625"/>
        </p:xfrm>
        <a:graphic>
          <a:graphicData uri="http://schemas.openxmlformats.org/drawingml/2006/chart">
            <c:chart xmlns:c="http://schemas.openxmlformats.org/drawingml/2006/chart" xmlns:r="http://schemas.openxmlformats.org/officeDocument/2006/relationships" r:id="rId10"/>
          </a:graphicData>
        </a:graphic>
      </p:graphicFrame>
      <p:sp>
        <p:nvSpPr>
          <p:cNvPr id="58" name="矩形 57"/>
          <p:cNvSpPr>
            <a:spLocks noGrp="1"/>
          </p:cNvSpPr>
          <p:nvPr/>
        </p:nvSpPr>
        <p:spPr>
          <a:xfrm>
            <a:off x="43910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9" name="矩形 58"/>
          <p:cNvSpPr>
            <a:spLocks noGrp="1"/>
          </p:cNvSpPr>
          <p:nvPr/>
        </p:nvSpPr>
        <p:spPr>
          <a:xfrm>
            <a:off x="52292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0" name="矩形 59"/>
          <p:cNvSpPr>
            <a:spLocks noGrp="1"/>
          </p:cNvSpPr>
          <p:nvPr/>
        </p:nvSpPr>
        <p:spPr>
          <a:xfrm>
            <a:off x="60674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61" name="矩形 60"/>
          <p:cNvSpPr>
            <a:spLocks noGrp="1"/>
          </p:cNvSpPr>
          <p:nvPr/>
        </p:nvSpPr>
        <p:spPr>
          <a:xfrm>
            <a:off x="734377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EQ/P, char., 12</a:t>
            </a:r>
            <a:endParaRPr sz="1350" b="0">
              <a:solidFill>
                <a:srgbClr val="24292D"/>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734377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65" name="Chart"/>
          <p:cNvGraphicFramePr/>
          <p:nvPr/>
        </p:nvGraphicFramePr>
        <p:xfrm>
          <a:off x="7010400" y="6953250"/>
          <a:ext cx="3295650" cy="1952625"/>
        </p:xfrm>
        <a:graphic>
          <a:graphicData uri="http://schemas.openxmlformats.org/drawingml/2006/chart">
            <c:chart xmlns:c="http://schemas.openxmlformats.org/drawingml/2006/chart" xmlns:r="http://schemas.openxmlformats.org/officeDocument/2006/relationships" r:id="rId11"/>
          </a:graphicData>
        </a:graphic>
      </p:graphicFrame>
      <p:sp>
        <p:nvSpPr>
          <p:cNvPr id="64" name="矩形 63"/>
          <p:cNvSpPr>
            <a:spLocks noGrp="1"/>
          </p:cNvSpPr>
          <p:nvPr/>
        </p:nvSpPr>
        <p:spPr>
          <a:xfrm>
            <a:off x="78009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65" name="矩形 64"/>
          <p:cNvSpPr>
            <a:spLocks noGrp="1"/>
          </p:cNvSpPr>
          <p:nvPr/>
        </p:nvSpPr>
        <p:spPr>
          <a:xfrm>
            <a:off x="86391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94773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67" name="矩形 66"/>
          <p:cNvSpPr>
            <a:spLocks noGrp="1"/>
          </p:cNvSpPr>
          <p:nvPr/>
        </p:nvSpPr>
        <p:spPr>
          <a:xfrm>
            <a:off x="10753725" y="6305550"/>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EQ/S, char., 12</a:t>
            </a:r>
            <a:endParaRPr sz="1350" b="0">
              <a:solidFill>
                <a:srgbClr val="24292D"/>
              </a:solidFill>
              <a:latin typeface="Arial" panose="020B0604020202020204"/>
              <a:ea typeface="Arial" panose="020B0604020202020204"/>
              <a:cs typeface="Arial" panose="020B0604020202020204"/>
            </a:endParaRPr>
          </a:p>
        </p:txBody>
      </p:sp>
      <p:sp>
        <p:nvSpPr>
          <p:cNvPr id="68" name="矩形 67"/>
          <p:cNvSpPr>
            <a:spLocks noGrp="1"/>
          </p:cNvSpPr>
          <p:nvPr/>
        </p:nvSpPr>
        <p:spPr>
          <a:xfrm>
            <a:off x="10753725" y="6629400"/>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71" name="Chart"/>
          <p:cNvGraphicFramePr/>
          <p:nvPr/>
        </p:nvGraphicFramePr>
        <p:xfrm>
          <a:off x="10420350" y="6953250"/>
          <a:ext cx="3295650" cy="1952625"/>
        </p:xfrm>
        <a:graphic>
          <a:graphicData uri="http://schemas.openxmlformats.org/drawingml/2006/chart">
            <c:chart xmlns:c="http://schemas.openxmlformats.org/drawingml/2006/chart" xmlns:r="http://schemas.openxmlformats.org/officeDocument/2006/relationships" r:id="rId12"/>
          </a:graphicData>
        </a:graphic>
      </p:graphicFrame>
      <p:sp>
        <p:nvSpPr>
          <p:cNvPr id="70" name="矩形 69"/>
          <p:cNvSpPr>
            <a:spLocks noGrp="1"/>
          </p:cNvSpPr>
          <p:nvPr/>
        </p:nvSpPr>
        <p:spPr>
          <a:xfrm>
            <a:off x="112109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71" name="矩形 70"/>
          <p:cNvSpPr>
            <a:spLocks noGrp="1"/>
          </p:cNvSpPr>
          <p:nvPr/>
        </p:nvSpPr>
        <p:spPr>
          <a:xfrm>
            <a:off x="120491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2" name="矩形 71"/>
          <p:cNvSpPr>
            <a:spLocks noGrp="1"/>
          </p:cNvSpPr>
          <p:nvPr/>
        </p:nvSpPr>
        <p:spPr>
          <a:xfrm>
            <a:off x="128873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3" name="矩形 72"/>
          <p:cNvSpPr>
            <a:spLocks noGrp="1"/>
          </p:cNvSpPr>
          <p:nvPr/>
        </p:nvSpPr>
        <p:spPr>
          <a:xfrm>
            <a:off x="52387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C/E, delivery, 12</a:t>
            </a:r>
            <a:endParaRPr sz="1350" b="0">
              <a:solidFill>
                <a:srgbClr val="24292D"/>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52387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Fines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77" name="Chart"/>
          <p:cNvGraphicFramePr/>
          <p:nvPr/>
        </p:nvGraphicFramePr>
        <p:xfrm>
          <a:off x="190500" y="10048875"/>
          <a:ext cx="3295650" cy="1952625"/>
        </p:xfrm>
        <a:graphic>
          <a:graphicData uri="http://schemas.openxmlformats.org/drawingml/2006/chart">
            <c:chart xmlns:c="http://schemas.openxmlformats.org/drawingml/2006/chart" xmlns:r="http://schemas.openxmlformats.org/officeDocument/2006/relationships" r:id="rId13"/>
          </a:graphicData>
        </a:graphic>
      </p:graphicFrame>
      <p:sp>
        <p:nvSpPr>
          <p:cNvPr id="76" name="矩形 75"/>
          <p:cNvSpPr>
            <a:spLocks noGrp="1"/>
          </p:cNvSpPr>
          <p:nvPr/>
        </p:nvSpPr>
        <p:spPr>
          <a:xfrm>
            <a:off x="9810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18192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26574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9" name="矩形 78"/>
          <p:cNvSpPr>
            <a:spLocks noGrp="1"/>
          </p:cNvSpPr>
          <p:nvPr/>
        </p:nvSpPr>
        <p:spPr>
          <a:xfrm>
            <a:off x="393382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C/E, delivery, 24</a:t>
            </a:r>
            <a:endParaRPr sz="1350" b="0">
              <a:solidFill>
                <a:srgbClr val="24292D"/>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393382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Fines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83" name="Chart"/>
          <p:cNvGraphicFramePr/>
          <p:nvPr/>
        </p:nvGraphicFramePr>
        <p:xfrm>
          <a:off x="3600450" y="10048875"/>
          <a:ext cx="3295650" cy="1952625"/>
        </p:xfrm>
        <a:graphic>
          <a:graphicData uri="http://schemas.openxmlformats.org/drawingml/2006/chart">
            <c:chart xmlns:c="http://schemas.openxmlformats.org/drawingml/2006/chart" xmlns:r="http://schemas.openxmlformats.org/officeDocument/2006/relationships" r:id="rId14"/>
          </a:graphicData>
        </a:graphic>
      </p:graphicFrame>
      <p:sp>
        <p:nvSpPr>
          <p:cNvPr id="82" name="矩形 81"/>
          <p:cNvSpPr>
            <a:spLocks noGrp="1"/>
          </p:cNvSpPr>
          <p:nvPr/>
        </p:nvSpPr>
        <p:spPr>
          <a:xfrm>
            <a:off x="43910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83" name="矩形 82"/>
          <p:cNvSpPr>
            <a:spLocks noGrp="1"/>
          </p:cNvSpPr>
          <p:nvPr/>
        </p:nvSpPr>
        <p:spPr>
          <a:xfrm>
            <a:off x="52292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60674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85" name="矩形 84"/>
          <p:cNvSpPr>
            <a:spLocks noGrp="1"/>
          </p:cNvSpPr>
          <p:nvPr/>
        </p:nvSpPr>
        <p:spPr>
          <a:xfrm>
            <a:off x="734377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P/E, delivery, 12</a:t>
            </a:r>
            <a:endParaRPr sz="1350" b="0">
              <a:solidFill>
                <a:srgbClr val="24292D"/>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734377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Purity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89" name="Chart"/>
          <p:cNvGraphicFramePr/>
          <p:nvPr/>
        </p:nvGraphicFramePr>
        <p:xfrm>
          <a:off x="7010400" y="10048875"/>
          <a:ext cx="3295650" cy="1952625"/>
        </p:xfrm>
        <a:graphic>
          <a:graphicData uri="http://schemas.openxmlformats.org/drawingml/2006/chart">
            <c:chart xmlns:c="http://schemas.openxmlformats.org/drawingml/2006/chart" xmlns:r="http://schemas.openxmlformats.org/officeDocument/2006/relationships" r:id="rId15"/>
          </a:graphicData>
        </a:graphic>
      </p:graphicFrame>
      <p:sp>
        <p:nvSpPr>
          <p:cNvPr id="88" name="矩形 87"/>
          <p:cNvSpPr>
            <a:spLocks noGrp="1"/>
          </p:cNvSpPr>
          <p:nvPr/>
        </p:nvSpPr>
        <p:spPr>
          <a:xfrm>
            <a:off x="78009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89" name="矩形 88"/>
          <p:cNvSpPr>
            <a:spLocks noGrp="1"/>
          </p:cNvSpPr>
          <p:nvPr/>
        </p:nvSpPr>
        <p:spPr>
          <a:xfrm>
            <a:off x="86391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90" name="矩形 89"/>
          <p:cNvSpPr>
            <a:spLocks noGrp="1"/>
          </p:cNvSpPr>
          <p:nvPr/>
        </p:nvSpPr>
        <p:spPr>
          <a:xfrm>
            <a:off x="94773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91" name="矩形 90"/>
          <p:cNvSpPr>
            <a:spLocks noGrp="1"/>
          </p:cNvSpPr>
          <p:nvPr/>
        </p:nvSpPr>
        <p:spPr>
          <a:xfrm>
            <a:off x="10753725" y="9401175"/>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P/E, delivery, 12</a:t>
            </a:r>
            <a:endParaRPr sz="1350" b="0">
              <a:solidFill>
                <a:srgbClr val="24292D"/>
              </a:solidFill>
              <a:latin typeface="Arial" panose="020B0604020202020204"/>
              <a:ea typeface="Arial" panose="020B0604020202020204"/>
              <a:cs typeface="Arial" panose="020B0604020202020204"/>
            </a:endParaRPr>
          </a:p>
        </p:txBody>
      </p:sp>
      <p:sp>
        <p:nvSpPr>
          <p:cNvPr id="92" name="矩形 91"/>
          <p:cNvSpPr>
            <a:spLocks noGrp="1"/>
          </p:cNvSpPr>
          <p:nvPr/>
        </p:nvSpPr>
        <p:spPr>
          <a:xfrm>
            <a:off x="10753725" y="9725025"/>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Recovery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95" name="Chart"/>
          <p:cNvGraphicFramePr/>
          <p:nvPr/>
        </p:nvGraphicFramePr>
        <p:xfrm>
          <a:off x="10420350" y="10048875"/>
          <a:ext cx="3295650" cy="1952625"/>
        </p:xfrm>
        <a:graphic>
          <a:graphicData uri="http://schemas.openxmlformats.org/drawingml/2006/chart">
            <c:chart xmlns:c="http://schemas.openxmlformats.org/drawingml/2006/chart" xmlns:r="http://schemas.openxmlformats.org/officeDocument/2006/relationships" r:id="rId16"/>
          </a:graphicData>
        </a:graphic>
      </p:graphicFrame>
      <p:sp>
        <p:nvSpPr>
          <p:cNvPr id="94" name="矩形 93"/>
          <p:cNvSpPr>
            <a:spLocks noGrp="1"/>
          </p:cNvSpPr>
          <p:nvPr/>
        </p:nvSpPr>
        <p:spPr>
          <a:xfrm>
            <a:off x="112109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95" name="矩形 94"/>
          <p:cNvSpPr>
            <a:spLocks noGrp="1"/>
          </p:cNvSpPr>
          <p:nvPr/>
        </p:nvSpPr>
        <p:spPr>
          <a:xfrm>
            <a:off x="120491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96" name="矩形 95"/>
          <p:cNvSpPr>
            <a:spLocks noGrp="1"/>
          </p:cNvSpPr>
          <p:nvPr/>
        </p:nvSpPr>
        <p:spPr>
          <a:xfrm>
            <a:off x="128873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97" name="椭圆 96"/>
          <p:cNvSpPr>
            <a:spLocks noGrp="1"/>
          </p:cNvSpPr>
          <p:nvPr/>
        </p:nvSpPr>
        <p:spPr>
          <a:xfrm>
            <a:off x="4200525" y="12573000"/>
            <a:ext cx="114300" cy="114300"/>
          </a:xfrm>
          <a:prstGeom prst="ellipse">
            <a:avLst/>
          </a:prstGeom>
          <a:solidFill>
            <a:srgbClr val="637482"/>
          </a:solidFill>
          <a:ln w="9525">
            <a:solidFill>
              <a:srgbClr val="637482"/>
            </a:solidFill>
          </a:ln>
        </p:spPr>
      </p:sp>
      <p:sp>
        <p:nvSpPr>
          <p:cNvPr id="98" name="矩形 97"/>
          <p:cNvSpPr>
            <a:spLocks noGrp="1"/>
          </p:cNvSpPr>
          <p:nvPr/>
        </p:nvSpPr>
        <p:spPr>
          <a:xfrm>
            <a:off x="4429125" y="124777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99" name="椭圆 98"/>
          <p:cNvSpPr>
            <a:spLocks noGrp="1"/>
          </p:cNvSpPr>
          <p:nvPr/>
        </p:nvSpPr>
        <p:spPr>
          <a:xfrm>
            <a:off x="5267325" y="12573000"/>
            <a:ext cx="114300" cy="114300"/>
          </a:xfrm>
          <a:prstGeom prst="ellipse">
            <a:avLst/>
          </a:prstGeom>
          <a:solidFill>
            <a:srgbClr val="277F8A"/>
          </a:solidFill>
          <a:ln w="9525">
            <a:solidFill>
              <a:srgbClr val="277F8A"/>
            </a:solidFill>
          </a:ln>
        </p:spPr>
      </p:sp>
      <p:sp>
        <p:nvSpPr>
          <p:cNvPr id="100" name="矩形 99"/>
          <p:cNvSpPr>
            <a:spLocks noGrp="1"/>
          </p:cNvSpPr>
          <p:nvPr/>
        </p:nvSpPr>
        <p:spPr>
          <a:xfrm>
            <a:off x="5495925" y="124777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01" name="椭圆 100"/>
          <p:cNvSpPr>
            <a:spLocks noGrp="1"/>
          </p:cNvSpPr>
          <p:nvPr/>
        </p:nvSpPr>
        <p:spPr>
          <a:xfrm>
            <a:off x="6448425" y="12573000"/>
            <a:ext cx="114300" cy="114300"/>
          </a:xfrm>
          <a:prstGeom prst="ellipse">
            <a:avLst/>
          </a:prstGeom>
          <a:solidFill>
            <a:srgbClr val="BC7850"/>
          </a:solidFill>
          <a:ln w="9525">
            <a:solidFill>
              <a:srgbClr val="BC7850"/>
            </a:solidFill>
          </a:ln>
        </p:spPr>
      </p:sp>
      <p:sp>
        <p:nvSpPr>
          <p:cNvPr id="102" name="矩形 101"/>
          <p:cNvSpPr>
            <a:spLocks noGrp="1"/>
          </p:cNvSpPr>
          <p:nvPr/>
        </p:nvSpPr>
        <p:spPr>
          <a:xfrm>
            <a:off x="6677025" y="1247775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2" name="矩形 31"/>
          <p:cNvSpPr>
            <a:spLocks noGrp="1"/>
          </p:cNvSpPr>
          <p:nvPr/>
        </p:nvSpPr>
        <p:spPr>
          <a:xfrm>
            <a:off x="238125" y="1143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14300"/>
            <a:ext cx="35052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 discovery</a:t>
            </a:r>
            <a:endParaRPr sz="1500" b="0">
              <a:solidFill>
                <a:srgbClr val="24292D"/>
              </a:solidFill>
              <a:latin typeface="Arial" panose="020B0604020202020204"/>
              <a:ea typeface="Arial" panose="020B0604020202020204"/>
              <a:cs typeface="Arial" panose="020B0604020202020204"/>
            </a:endParaRPr>
          </a:p>
        </p:txBody>
      </p:sp>
      <p:graphicFrame>
        <p:nvGraphicFramePr>
          <p:cNvPr id="34" name="Chart"/>
          <p:cNvGraphicFramePr/>
          <p:nvPr/>
        </p:nvGraphicFramePr>
        <p:xfrm>
          <a:off x="428625" y="666750"/>
          <a:ext cx="6334125" cy="34766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121920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2867025"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451485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857250" y="4610100"/>
            <a:ext cx="590550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 improves over Opaque in 4/5 worlds</a:t>
            </a:r>
            <a:endParaRPr sz="135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7096125" y="1143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7477125" y="114300"/>
            <a:ext cx="383667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 optimization</a:t>
            </a:r>
            <a:endParaRPr sz="1500" b="0">
              <a:solidFill>
                <a:srgbClr val="24292D"/>
              </a:solidFill>
              <a:latin typeface="Arial" panose="020B0604020202020204"/>
              <a:ea typeface="Arial" panose="020B0604020202020204"/>
              <a:cs typeface="Arial" panose="020B0604020202020204"/>
            </a:endParaRPr>
          </a:p>
        </p:txBody>
      </p:sp>
      <p:graphicFrame>
        <p:nvGraphicFramePr>
          <p:cNvPr id="41" name="Chart"/>
          <p:cNvGraphicFramePr/>
          <p:nvPr/>
        </p:nvGraphicFramePr>
        <p:xfrm>
          <a:off x="7286625" y="666750"/>
          <a:ext cx="6334125" cy="3476625"/>
        </p:xfrm>
        <a:graphic>
          <a:graphicData uri="http://schemas.openxmlformats.org/drawingml/2006/chart">
            <c:chart xmlns:c="http://schemas.openxmlformats.org/drawingml/2006/chart" xmlns:r="http://schemas.openxmlformats.org/officeDocument/2006/relationships" r:id="rId2"/>
          </a:graphicData>
        </a:graphic>
      </p:graphicFrame>
      <p:sp>
        <p:nvSpPr>
          <p:cNvPr id="11" name="矩形 10"/>
          <p:cNvSpPr>
            <a:spLocks noGrp="1"/>
          </p:cNvSpPr>
          <p:nvPr/>
        </p:nvSpPr>
        <p:spPr>
          <a:xfrm>
            <a:off x="807720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9725025"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137285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715250" y="4610100"/>
            <a:ext cx="5810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 improves over Opaque in 4/5 worlds</a:t>
            </a:r>
            <a:endParaRPr sz="1350" b="0">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238125" y="538162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619125" y="5381625"/>
            <a:ext cx="328422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Equilibrium: parameter prior</a:t>
            </a:r>
            <a:endParaRPr sz="1500" b="0">
              <a:solidFill>
                <a:srgbClr val="24292D"/>
              </a:solidFill>
              <a:latin typeface="Arial" panose="020B0604020202020204"/>
              <a:ea typeface="Arial" panose="020B0604020202020204"/>
              <a:cs typeface="Arial" panose="020B0604020202020204"/>
            </a:endParaRPr>
          </a:p>
        </p:txBody>
      </p:sp>
      <p:graphicFrame>
        <p:nvGraphicFramePr>
          <p:cNvPr id="48" name="Chart"/>
          <p:cNvGraphicFramePr/>
          <p:nvPr/>
        </p:nvGraphicFramePr>
        <p:xfrm>
          <a:off x="428625" y="5857875"/>
          <a:ext cx="6381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8" name="矩形 17"/>
          <p:cNvSpPr>
            <a:spLocks noGrp="1"/>
          </p:cNvSpPr>
          <p:nvPr/>
        </p:nvSpPr>
        <p:spPr>
          <a:xfrm>
            <a:off x="172402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Other nine</a:t>
            </a:r>
            <a:endParaRPr sz="1350" b="0">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441007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Dilute three</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7096125" y="538162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d</a:t>
            </a:r>
            <a:endParaRPr sz="2025" b="1">
              <a:solidFill>
                <a:srgbClr val="24292D"/>
              </a:solidFill>
              <a:latin typeface="Arial" panose="020B0604020202020204"/>
              <a:ea typeface="Arial" panose="020B0604020202020204"/>
              <a:cs typeface="Arial" panose="020B0604020202020204"/>
            </a:endParaRPr>
          </a:p>
        </p:txBody>
      </p:sp>
      <p:sp>
        <p:nvSpPr>
          <p:cNvPr id="21" name="矩形 20"/>
          <p:cNvSpPr>
            <a:spLocks noGrp="1"/>
          </p:cNvSpPr>
          <p:nvPr/>
        </p:nvSpPr>
        <p:spPr>
          <a:xfrm>
            <a:off x="7477125" y="5381625"/>
            <a:ext cx="328422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Equilibrium: parameter prior</a:t>
            </a:r>
            <a:endParaRPr sz="1500" b="0">
              <a:solidFill>
                <a:srgbClr val="24292D"/>
              </a:solidFill>
              <a:latin typeface="Arial" panose="020B0604020202020204"/>
              <a:ea typeface="Arial" panose="020B0604020202020204"/>
              <a:cs typeface="Arial" panose="020B0604020202020204"/>
            </a:endParaRPr>
          </a:p>
        </p:txBody>
      </p:sp>
      <p:graphicFrame>
        <p:nvGraphicFramePr>
          <p:cNvPr id="53" name="Chart"/>
          <p:cNvGraphicFramePr/>
          <p:nvPr/>
        </p:nvGraphicFramePr>
        <p:xfrm>
          <a:off x="7286625" y="5857875"/>
          <a:ext cx="6381750" cy="3476625"/>
        </p:xfrm>
        <a:graphic>
          <a:graphicData uri="http://schemas.openxmlformats.org/drawingml/2006/chart">
            <c:chart xmlns:c="http://schemas.openxmlformats.org/drawingml/2006/chart" xmlns:r="http://schemas.openxmlformats.org/officeDocument/2006/relationships" r:id="rId4"/>
          </a:graphicData>
        </a:graphic>
      </p:graphicFrame>
      <p:sp>
        <p:nvSpPr>
          <p:cNvPr id="23" name="矩形 22"/>
          <p:cNvSpPr>
            <a:spLocks noGrp="1"/>
          </p:cNvSpPr>
          <p:nvPr/>
        </p:nvSpPr>
        <p:spPr>
          <a:xfrm>
            <a:off x="858202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Other nine</a:t>
            </a:r>
            <a:endParaRPr sz="1350" b="0">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126807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Dilute three</a:t>
            </a:r>
            <a:endParaRPr sz="1350" b="0">
              <a:solidFill>
                <a:srgbClr val="24292D"/>
              </a:solidFill>
              <a:latin typeface="Arial" panose="020B0604020202020204"/>
              <a:ea typeface="Arial" panose="020B0604020202020204"/>
              <a:cs typeface="Arial" panose="020B0604020202020204"/>
            </a:endParaRPr>
          </a:p>
        </p:txBody>
      </p:sp>
      <p:sp>
        <p:nvSpPr>
          <p:cNvPr id="25" name="椭圆 24"/>
          <p:cNvSpPr>
            <a:spLocks noGrp="1"/>
          </p:cNvSpPr>
          <p:nvPr/>
        </p:nvSpPr>
        <p:spPr>
          <a:xfrm>
            <a:off x="4200525" y="10001250"/>
            <a:ext cx="114300" cy="114300"/>
          </a:xfrm>
          <a:prstGeom prst="ellipse">
            <a:avLst/>
          </a:prstGeom>
          <a:solidFill>
            <a:srgbClr val="637482"/>
          </a:solidFill>
          <a:ln w="9525">
            <a:solidFill>
              <a:srgbClr val="637482"/>
            </a:solidFill>
          </a:ln>
        </p:spPr>
      </p:sp>
      <p:sp>
        <p:nvSpPr>
          <p:cNvPr id="26" name="矩形 25"/>
          <p:cNvSpPr>
            <a:spLocks noGrp="1"/>
          </p:cNvSpPr>
          <p:nvPr/>
        </p:nvSpPr>
        <p:spPr>
          <a:xfrm>
            <a:off x="4429125" y="99060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27" name="椭圆 26"/>
          <p:cNvSpPr>
            <a:spLocks noGrp="1"/>
          </p:cNvSpPr>
          <p:nvPr/>
        </p:nvSpPr>
        <p:spPr>
          <a:xfrm>
            <a:off x="5267325" y="10001250"/>
            <a:ext cx="114300" cy="114300"/>
          </a:xfrm>
          <a:prstGeom prst="ellipse">
            <a:avLst/>
          </a:prstGeom>
          <a:solidFill>
            <a:srgbClr val="277F8A"/>
          </a:solidFill>
          <a:ln w="9525">
            <a:solidFill>
              <a:srgbClr val="277F8A"/>
            </a:solidFill>
          </a:ln>
        </p:spPr>
      </p:sp>
      <p:sp>
        <p:nvSpPr>
          <p:cNvPr id="28" name="矩形 27"/>
          <p:cNvSpPr>
            <a:spLocks noGrp="1"/>
          </p:cNvSpPr>
          <p:nvPr/>
        </p:nvSpPr>
        <p:spPr>
          <a:xfrm>
            <a:off x="5495925" y="99060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29" name="椭圆 28"/>
          <p:cNvSpPr>
            <a:spLocks noGrp="1"/>
          </p:cNvSpPr>
          <p:nvPr/>
        </p:nvSpPr>
        <p:spPr>
          <a:xfrm>
            <a:off x="6448425" y="10001250"/>
            <a:ext cx="114300" cy="114300"/>
          </a:xfrm>
          <a:prstGeom prst="ellipse">
            <a:avLst/>
          </a:prstGeom>
          <a:solidFill>
            <a:srgbClr val="BC7850"/>
          </a:solidFill>
          <a:ln w="9525">
            <a:solidFill>
              <a:srgbClr val="BC7850"/>
            </a:solidFill>
          </a:ln>
        </p:spPr>
      </p:sp>
      <p:sp>
        <p:nvSpPr>
          <p:cNvPr id="30" name="矩形 29"/>
          <p:cNvSpPr>
            <a:spLocks noGrp="1"/>
          </p:cNvSpPr>
          <p:nvPr/>
        </p:nvSpPr>
        <p:spPr>
          <a:xfrm>
            <a:off x="6677025" y="99060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809625" y="10382250"/>
            <a:ext cx="121920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Points: five worlds per arm; short lines: means. EQ grouping is exploratory.</a:t>
            </a:r>
            <a:endParaRPr sz="1350" b="0">
              <a:solidFill>
                <a:srgbClr val="6A737B"/>
              </a:solidFill>
              <a:latin typeface="Arial" panose="020B0604020202020204"/>
              <a:ea typeface="Arial" panose="020B0604020202020204"/>
              <a:cs typeface="Arial" panose="020B0604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 name="Connector 1"/>
          <p:cNvCxnSpPr/>
          <p:nvPr/>
        </p:nvCxnSpPr>
        <p:spPr>
          <a:xfrm>
            <a:off x="4563070" y="53578"/>
            <a:ext cx="0" cy="8965406"/>
          </a:xfrm>
          <a:prstGeom prst="line">
            <a:avLst/>
          </a:prstGeom>
          <a:ln w="8036">
            <a:solidFill>
              <a:srgbClr val="B1B8BC"/>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0" y="53578"/>
            <a:ext cx="0" cy="8965406"/>
          </a:xfrm>
          <a:prstGeom prst="line">
            <a:avLst/>
          </a:prstGeom>
          <a:ln w="8036">
            <a:solidFill>
              <a:srgbClr val="B1B8BC"/>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3578" y="4518422"/>
            <a:ext cx="13608844" cy="0"/>
          </a:xfrm>
          <a:prstGeom prst="line">
            <a:avLst/>
          </a:prstGeom>
          <a:ln w="8036">
            <a:solidFill>
              <a:srgbClr val="B1B8B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25016" y="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a</a:t>
            </a:r>
          </a:p>
        </p:txBody>
      </p:sp>
      <p:sp>
        <p:nvSpPr>
          <p:cNvPr id="6" name="TextBox 5"/>
          <p:cNvSpPr txBox="1"/>
          <p:nvPr/>
        </p:nvSpPr>
        <p:spPr>
          <a:xfrm>
            <a:off x="848320" y="8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EC discovery score MAE</a:t>
            </a:r>
          </a:p>
        </p:txBody>
      </p:sp>
      <p:sp>
        <p:nvSpPr>
          <p:cNvPr id="7" name="TextBox 6"/>
          <p:cNvSpPr txBox="1"/>
          <p:nvPr/>
        </p:nvSpPr>
        <p:spPr>
          <a:xfrm>
            <a:off x="1464469" y="241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8" name="TextBox 7"/>
          <p:cNvSpPr txBox="1"/>
          <p:nvPr/>
        </p:nvSpPr>
        <p:spPr>
          <a:xfrm>
            <a:off x="1589484" y="446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0.1738   vs   0.1122</a:t>
            </a:r>
          </a:p>
        </p:txBody>
      </p:sp>
      <p:sp>
        <p:nvSpPr>
          <p:cNvPr id="9" name="TextBox 8"/>
          <p:cNvSpPr txBox="1"/>
          <p:nvPr/>
        </p:nvSpPr>
        <p:spPr>
          <a:xfrm>
            <a:off x="142875" y="607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10" name="TextBox 9"/>
          <p:cNvSpPr txBox="1"/>
          <p:nvPr/>
        </p:nvSpPr>
        <p:spPr>
          <a:xfrm>
            <a:off x="1044773" y="607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11" name="TextBox 10"/>
          <p:cNvSpPr txBox="1"/>
          <p:nvPr/>
        </p:nvSpPr>
        <p:spPr>
          <a:xfrm>
            <a:off x="3616523" y="642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12" name="Connector 11"/>
          <p:cNvCxnSpPr/>
          <p:nvPr/>
        </p:nvCxnSpPr>
        <p:spPr>
          <a:xfrm>
            <a:off x="4134445" y="732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4271962" y="684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4271962" y="732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21781" y="741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42875" y="946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17" name="TextBox 16"/>
          <p:cNvSpPr txBox="1"/>
          <p:nvPr/>
        </p:nvSpPr>
        <p:spPr>
          <a:xfrm>
            <a:off x="1044773" y="812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8" name="Oval 17"/>
          <p:cNvSpPr/>
          <p:nvPr/>
        </p:nvSpPr>
        <p:spPr>
          <a:xfrm>
            <a:off x="2864061" y="85903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4773" y="964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0" name="Oval 19"/>
          <p:cNvSpPr/>
          <p:nvPr/>
        </p:nvSpPr>
        <p:spPr>
          <a:xfrm>
            <a:off x="2915285" y="1010841"/>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4773" y="1116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2" name="Oval 21"/>
          <p:cNvSpPr/>
          <p:nvPr/>
        </p:nvSpPr>
        <p:spPr>
          <a:xfrm>
            <a:off x="3694033" y="1162645"/>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42875" y="1303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2875" y="1500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25" name="TextBox 24"/>
          <p:cNvSpPr txBox="1"/>
          <p:nvPr/>
        </p:nvSpPr>
        <p:spPr>
          <a:xfrm>
            <a:off x="1044773" y="1366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6" name="Oval 25"/>
          <p:cNvSpPr/>
          <p:nvPr/>
        </p:nvSpPr>
        <p:spPr>
          <a:xfrm>
            <a:off x="3380046" y="141267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773" y="1518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8" name="Oval 27"/>
          <p:cNvSpPr/>
          <p:nvPr/>
        </p:nvSpPr>
        <p:spPr>
          <a:xfrm>
            <a:off x="2887771" y="1564481"/>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4773" y="1669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0" name="Oval 29"/>
          <p:cNvSpPr/>
          <p:nvPr/>
        </p:nvSpPr>
        <p:spPr>
          <a:xfrm>
            <a:off x="3058635" y="171628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142875" y="1857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42875" y="2053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33" name="TextBox 32"/>
          <p:cNvSpPr txBox="1"/>
          <p:nvPr/>
        </p:nvSpPr>
        <p:spPr>
          <a:xfrm>
            <a:off x="1044773" y="1919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4" name="Oval 33"/>
          <p:cNvSpPr/>
          <p:nvPr/>
        </p:nvSpPr>
        <p:spPr>
          <a:xfrm>
            <a:off x="2323946" y="196631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4773" y="2071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6" name="Oval 35"/>
          <p:cNvSpPr/>
          <p:nvPr/>
        </p:nvSpPr>
        <p:spPr>
          <a:xfrm>
            <a:off x="3532689" y="211812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4773" y="2223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8" name="Oval 37"/>
          <p:cNvSpPr/>
          <p:nvPr/>
        </p:nvSpPr>
        <p:spPr>
          <a:xfrm>
            <a:off x="2720878" y="226992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142875" y="2411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42875" y="2607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41" name="TextBox 40"/>
          <p:cNvSpPr txBox="1"/>
          <p:nvPr/>
        </p:nvSpPr>
        <p:spPr>
          <a:xfrm>
            <a:off x="1044773" y="2473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42" name="Oval 41"/>
          <p:cNvSpPr/>
          <p:nvPr/>
        </p:nvSpPr>
        <p:spPr>
          <a:xfrm>
            <a:off x="3440337" y="251995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4773" y="2625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44" name="Oval 43"/>
          <p:cNvSpPr/>
          <p:nvPr/>
        </p:nvSpPr>
        <p:spPr>
          <a:xfrm>
            <a:off x="3598656" y="267176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4773" y="2777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46" name="Oval 45"/>
          <p:cNvSpPr/>
          <p:nvPr/>
        </p:nvSpPr>
        <p:spPr>
          <a:xfrm>
            <a:off x="3213698" y="282356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42875" y="2964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42875" y="3161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49" name="TextBox 48"/>
          <p:cNvSpPr txBox="1"/>
          <p:nvPr/>
        </p:nvSpPr>
        <p:spPr>
          <a:xfrm>
            <a:off x="1044773" y="3027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50" name="Oval 49"/>
          <p:cNvSpPr/>
          <p:nvPr/>
        </p:nvSpPr>
        <p:spPr>
          <a:xfrm>
            <a:off x="3554154" y="307359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4773" y="3178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52" name="Oval 51"/>
          <p:cNvSpPr/>
          <p:nvPr/>
        </p:nvSpPr>
        <p:spPr>
          <a:xfrm>
            <a:off x="2056313" y="3225403"/>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4773" y="3330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54" name="Oval 53"/>
          <p:cNvSpPr/>
          <p:nvPr/>
        </p:nvSpPr>
        <p:spPr>
          <a:xfrm>
            <a:off x="2562577" y="3377208"/>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142875" y="3518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42875" y="3661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57" name="Diamond 56"/>
          <p:cNvSpPr/>
          <p:nvPr/>
        </p:nvSpPr>
        <p:spPr>
          <a:xfrm>
            <a:off x="3024964" y="3687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1500188" y="3920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526977"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30373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cxnSp>
        <p:nvCxnSpPr>
          <p:cNvPr id="61" name="Connector 60"/>
          <p:cNvCxnSpPr/>
          <p:nvPr/>
        </p:nvCxnSpPr>
        <p:spPr>
          <a:xfrm>
            <a:off x="2174379"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951137"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63" name="Connector 62"/>
          <p:cNvCxnSpPr/>
          <p:nvPr/>
        </p:nvCxnSpPr>
        <p:spPr>
          <a:xfrm>
            <a:off x="2821781"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2598539"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65" name="Connector 64"/>
          <p:cNvCxnSpPr/>
          <p:nvPr/>
        </p:nvCxnSpPr>
        <p:spPr>
          <a:xfrm>
            <a:off x="3469184"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3245941"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67" name="Connector 66"/>
          <p:cNvCxnSpPr/>
          <p:nvPr/>
        </p:nvCxnSpPr>
        <p:spPr>
          <a:xfrm>
            <a:off x="4116586"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89334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sp>
        <p:nvSpPr>
          <p:cNvPr id="69" name="TextBox 68"/>
          <p:cNvSpPr txBox="1"/>
          <p:nvPr/>
        </p:nvSpPr>
        <p:spPr>
          <a:xfrm>
            <a:off x="1455539" y="4232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MAE (12 − 24)</a:t>
            </a:r>
          </a:p>
        </p:txBody>
      </p:sp>
      <p:sp>
        <p:nvSpPr>
          <p:cNvPr id="70" name="TextBox 69"/>
          <p:cNvSpPr txBox="1"/>
          <p:nvPr/>
        </p:nvSpPr>
        <p:spPr>
          <a:xfrm>
            <a:off x="4697016" y="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b</a:t>
            </a:r>
          </a:p>
        </p:txBody>
      </p:sp>
      <p:sp>
        <p:nvSpPr>
          <p:cNvPr id="71" name="TextBox 70"/>
          <p:cNvSpPr txBox="1"/>
          <p:nvPr/>
        </p:nvSpPr>
        <p:spPr>
          <a:xfrm>
            <a:off x="5420320" y="8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EC optimization score MAE</a:t>
            </a:r>
          </a:p>
        </p:txBody>
      </p:sp>
      <p:sp>
        <p:nvSpPr>
          <p:cNvPr id="72" name="TextBox 71"/>
          <p:cNvSpPr txBox="1"/>
          <p:nvPr/>
        </p:nvSpPr>
        <p:spPr>
          <a:xfrm>
            <a:off x="6036469" y="241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73" name="TextBox 72"/>
          <p:cNvSpPr txBox="1"/>
          <p:nvPr/>
        </p:nvSpPr>
        <p:spPr>
          <a:xfrm>
            <a:off x="6161484" y="446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0.1781   vs   0.1082</a:t>
            </a:r>
          </a:p>
        </p:txBody>
      </p:sp>
      <p:sp>
        <p:nvSpPr>
          <p:cNvPr id="74" name="TextBox 73"/>
          <p:cNvSpPr txBox="1"/>
          <p:nvPr/>
        </p:nvSpPr>
        <p:spPr>
          <a:xfrm>
            <a:off x="4714875" y="607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75" name="TextBox 74"/>
          <p:cNvSpPr txBox="1"/>
          <p:nvPr/>
        </p:nvSpPr>
        <p:spPr>
          <a:xfrm>
            <a:off x="5616773" y="607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76" name="TextBox 75"/>
          <p:cNvSpPr txBox="1"/>
          <p:nvPr/>
        </p:nvSpPr>
        <p:spPr>
          <a:xfrm>
            <a:off x="8188523" y="642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77" name="Connector 76"/>
          <p:cNvCxnSpPr/>
          <p:nvPr/>
        </p:nvCxnSpPr>
        <p:spPr>
          <a:xfrm>
            <a:off x="8706445" y="732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8843962" y="684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a:off x="8843962" y="732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393781" y="741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4714875" y="946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82" name="TextBox 81"/>
          <p:cNvSpPr txBox="1"/>
          <p:nvPr/>
        </p:nvSpPr>
        <p:spPr>
          <a:xfrm>
            <a:off x="5616773" y="812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83" name="Oval 82"/>
          <p:cNvSpPr/>
          <p:nvPr/>
        </p:nvSpPr>
        <p:spPr>
          <a:xfrm>
            <a:off x="7817708" y="85903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616773" y="964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85" name="Oval 84"/>
          <p:cNvSpPr/>
          <p:nvPr/>
        </p:nvSpPr>
        <p:spPr>
          <a:xfrm>
            <a:off x="6833584" y="101084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16773" y="1116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87" name="Oval 86"/>
          <p:cNvSpPr/>
          <p:nvPr/>
        </p:nvSpPr>
        <p:spPr>
          <a:xfrm>
            <a:off x="7248484" y="1162645"/>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Connector 87"/>
          <p:cNvCxnSpPr/>
          <p:nvPr/>
        </p:nvCxnSpPr>
        <p:spPr>
          <a:xfrm>
            <a:off x="4714875" y="1303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4714875" y="1500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90" name="TextBox 89"/>
          <p:cNvSpPr txBox="1"/>
          <p:nvPr/>
        </p:nvSpPr>
        <p:spPr>
          <a:xfrm>
            <a:off x="5616773" y="1366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91" name="Oval 90"/>
          <p:cNvSpPr/>
          <p:nvPr/>
        </p:nvSpPr>
        <p:spPr>
          <a:xfrm>
            <a:off x="7335446" y="141267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616773" y="1518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93" name="Oval 92"/>
          <p:cNvSpPr/>
          <p:nvPr/>
        </p:nvSpPr>
        <p:spPr>
          <a:xfrm>
            <a:off x="7517852" y="1564481"/>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16773" y="1669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95" name="Oval 94"/>
          <p:cNvSpPr/>
          <p:nvPr/>
        </p:nvSpPr>
        <p:spPr>
          <a:xfrm>
            <a:off x="7723618" y="171628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Connector 95"/>
          <p:cNvCxnSpPr/>
          <p:nvPr/>
        </p:nvCxnSpPr>
        <p:spPr>
          <a:xfrm>
            <a:off x="4714875" y="1857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4714875" y="2053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98" name="TextBox 97"/>
          <p:cNvSpPr txBox="1"/>
          <p:nvPr/>
        </p:nvSpPr>
        <p:spPr>
          <a:xfrm>
            <a:off x="5616773" y="1919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99" name="Oval 98"/>
          <p:cNvSpPr/>
          <p:nvPr/>
        </p:nvSpPr>
        <p:spPr>
          <a:xfrm>
            <a:off x="8057408" y="196631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616773" y="2071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01" name="Oval 100"/>
          <p:cNvSpPr/>
          <p:nvPr/>
        </p:nvSpPr>
        <p:spPr>
          <a:xfrm>
            <a:off x="8170271" y="211812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616773" y="2223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03" name="Oval 102"/>
          <p:cNvSpPr/>
          <p:nvPr/>
        </p:nvSpPr>
        <p:spPr>
          <a:xfrm>
            <a:off x="7491750" y="226992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Connector 103"/>
          <p:cNvCxnSpPr/>
          <p:nvPr/>
        </p:nvCxnSpPr>
        <p:spPr>
          <a:xfrm>
            <a:off x="4714875" y="2411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4714875" y="2607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106" name="TextBox 105"/>
          <p:cNvSpPr txBox="1"/>
          <p:nvPr/>
        </p:nvSpPr>
        <p:spPr>
          <a:xfrm>
            <a:off x="5616773" y="2473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07" name="Oval 106"/>
          <p:cNvSpPr/>
          <p:nvPr/>
        </p:nvSpPr>
        <p:spPr>
          <a:xfrm>
            <a:off x="7841711" y="251995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616773" y="2625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09" name="Oval 108"/>
          <p:cNvSpPr/>
          <p:nvPr/>
        </p:nvSpPr>
        <p:spPr>
          <a:xfrm>
            <a:off x="7630643" y="267176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616773" y="2777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11" name="Oval 110"/>
          <p:cNvSpPr/>
          <p:nvPr/>
        </p:nvSpPr>
        <p:spPr>
          <a:xfrm>
            <a:off x="7709363" y="282356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Connector 111"/>
          <p:cNvCxnSpPr/>
          <p:nvPr/>
        </p:nvCxnSpPr>
        <p:spPr>
          <a:xfrm>
            <a:off x="4714875" y="2964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4714875" y="3161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114" name="TextBox 113"/>
          <p:cNvSpPr txBox="1"/>
          <p:nvPr/>
        </p:nvSpPr>
        <p:spPr>
          <a:xfrm>
            <a:off x="5616773" y="3027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15" name="Oval 114"/>
          <p:cNvSpPr/>
          <p:nvPr/>
        </p:nvSpPr>
        <p:spPr>
          <a:xfrm>
            <a:off x="7548171" y="307359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5616773" y="3178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17" name="Oval 116"/>
          <p:cNvSpPr/>
          <p:nvPr/>
        </p:nvSpPr>
        <p:spPr>
          <a:xfrm>
            <a:off x="7866288" y="3225403"/>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616773" y="3330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19" name="Oval 118"/>
          <p:cNvSpPr/>
          <p:nvPr/>
        </p:nvSpPr>
        <p:spPr>
          <a:xfrm>
            <a:off x="8133235" y="337720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0" name="Connector 119"/>
          <p:cNvCxnSpPr/>
          <p:nvPr/>
        </p:nvCxnSpPr>
        <p:spPr>
          <a:xfrm>
            <a:off x="4714875" y="3518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714875" y="3661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122" name="Diamond 121"/>
          <p:cNvSpPr/>
          <p:nvPr/>
        </p:nvSpPr>
        <p:spPr>
          <a:xfrm>
            <a:off x="7633127" y="3687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3" name="Connector 122"/>
          <p:cNvCxnSpPr/>
          <p:nvPr/>
        </p:nvCxnSpPr>
        <p:spPr>
          <a:xfrm>
            <a:off x="6072188" y="3920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6098977"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587573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cxnSp>
        <p:nvCxnSpPr>
          <p:cNvPr id="126" name="Connector 125"/>
          <p:cNvCxnSpPr/>
          <p:nvPr/>
        </p:nvCxnSpPr>
        <p:spPr>
          <a:xfrm>
            <a:off x="6746379"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6523137"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128" name="Connector 127"/>
          <p:cNvCxnSpPr/>
          <p:nvPr/>
        </p:nvCxnSpPr>
        <p:spPr>
          <a:xfrm>
            <a:off x="7393781"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7170539"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130" name="Connector 129"/>
          <p:cNvCxnSpPr/>
          <p:nvPr/>
        </p:nvCxnSpPr>
        <p:spPr>
          <a:xfrm>
            <a:off x="8041184"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7817941"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132" name="Connector 131"/>
          <p:cNvCxnSpPr/>
          <p:nvPr/>
        </p:nvCxnSpPr>
        <p:spPr>
          <a:xfrm>
            <a:off x="8688586"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846534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sp>
        <p:nvSpPr>
          <p:cNvPr id="134" name="TextBox 133"/>
          <p:cNvSpPr txBox="1"/>
          <p:nvPr/>
        </p:nvSpPr>
        <p:spPr>
          <a:xfrm>
            <a:off x="6027539" y="4232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MAE (12 − 24)</a:t>
            </a:r>
          </a:p>
        </p:txBody>
      </p:sp>
      <p:sp>
        <p:nvSpPr>
          <p:cNvPr id="135" name="TextBox 134"/>
          <p:cNvSpPr txBox="1"/>
          <p:nvPr/>
        </p:nvSpPr>
        <p:spPr>
          <a:xfrm>
            <a:off x="9269016" y="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c</a:t>
            </a:r>
          </a:p>
        </p:txBody>
      </p:sp>
      <p:sp>
        <p:nvSpPr>
          <p:cNvPr id="136" name="TextBox 135"/>
          <p:cNvSpPr txBox="1"/>
          <p:nvPr/>
        </p:nvSpPr>
        <p:spPr>
          <a:xfrm>
            <a:off x="9992320" y="8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Partitioning organic-fraction MAE</a:t>
            </a:r>
          </a:p>
        </p:txBody>
      </p:sp>
      <p:sp>
        <p:nvSpPr>
          <p:cNvPr id="137" name="TextBox 136"/>
          <p:cNvSpPr txBox="1"/>
          <p:nvPr/>
        </p:nvSpPr>
        <p:spPr>
          <a:xfrm>
            <a:off x="10608469" y="241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138" name="TextBox 137"/>
          <p:cNvSpPr txBox="1"/>
          <p:nvPr/>
        </p:nvSpPr>
        <p:spPr>
          <a:xfrm>
            <a:off x="10733484" y="446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0.0829   vs   0.0238</a:t>
            </a:r>
          </a:p>
        </p:txBody>
      </p:sp>
      <p:sp>
        <p:nvSpPr>
          <p:cNvPr id="139" name="TextBox 138"/>
          <p:cNvSpPr txBox="1"/>
          <p:nvPr/>
        </p:nvSpPr>
        <p:spPr>
          <a:xfrm>
            <a:off x="9286875" y="607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140" name="TextBox 139"/>
          <p:cNvSpPr txBox="1"/>
          <p:nvPr/>
        </p:nvSpPr>
        <p:spPr>
          <a:xfrm>
            <a:off x="10188773" y="607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141" name="TextBox 140"/>
          <p:cNvSpPr txBox="1"/>
          <p:nvPr/>
        </p:nvSpPr>
        <p:spPr>
          <a:xfrm>
            <a:off x="12760523" y="642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142" name="Connector 141"/>
          <p:cNvCxnSpPr/>
          <p:nvPr/>
        </p:nvCxnSpPr>
        <p:spPr>
          <a:xfrm>
            <a:off x="13278445" y="732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flipV="1">
            <a:off x="13415962" y="684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13415962" y="732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1965781" y="741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146" name="TextBox 145"/>
          <p:cNvSpPr txBox="1"/>
          <p:nvPr/>
        </p:nvSpPr>
        <p:spPr>
          <a:xfrm>
            <a:off x="9286875" y="946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147" name="TextBox 146"/>
          <p:cNvSpPr txBox="1"/>
          <p:nvPr/>
        </p:nvSpPr>
        <p:spPr>
          <a:xfrm>
            <a:off x="10188773" y="812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48" name="Oval 147"/>
          <p:cNvSpPr/>
          <p:nvPr/>
        </p:nvSpPr>
        <p:spPr>
          <a:xfrm>
            <a:off x="12161068" y="85903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0188773" y="964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50" name="Oval 149"/>
          <p:cNvSpPr/>
          <p:nvPr/>
        </p:nvSpPr>
        <p:spPr>
          <a:xfrm>
            <a:off x="12321375" y="1010841"/>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188773" y="1116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52" name="Oval 151"/>
          <p:cNvSpPr/>
          <p:nvPr/>
        </p:nvSpPr>
        <p:spPr>
          <a:xfrm>
            <a:off x="12130925" y="1162645"/>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3" name="Connector 152"/>
          <p:cNvCxnSpPr/>
          <p:nvPr/>
        </p:nvCxnSpPr>
        <p:spPr>
          <a:xfrm>
            <a:off x="9286875" y="1303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9286875" y="1500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155" name="TextBox 154"/>
          <p:cNvSpPr txBox="1"/>
          <p:nvPr/>
        </p:nvSpPr>
        <p:spPr>
          <a:xfrm>
            <a:off x="10188773" y="1366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56" name="Oval 155"/>
          <p:cNvSpPr/>
          <p:nvPr/>
        </p:nvSpPr>
        <p:spPr>
          <a:xfrm>
            <a:off x="12586308" y="141267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0188773" y="1518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58" name="Oval 157"/>
          <p:cNvSpPr/>
          <p:nvPr/>
        </p:nvSpPr>
        <p:spPr>
          <a:xfrm>
            <a:off x="11921593" y="156448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0188773" y="1669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60" name="Oval 159"/>
          <p:cNvSpPr/>
          <p:nvPr/>
        </p:nvSpPr>
        <p:spPr>
          <a:xfrm>
            <a:off x="12650238" y="171628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1" name="Connector 160"/>
          <p:cNvCxnSpPr/>
          <p:nvPr/>
        </p:nvCxnSpPr>
        <p:spPr>
          <a:xfrm>
            <a:off x="9286875" y="1857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9286875" y="2053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163" name="TextBox 162"/>
          <p:cNvSpPr txBox="1"/>
          <p:nvPr/>
        </p:nvSpPr>
        <p:spPr>
          <a:xfrm>
            <a:off x="10188773" y="1919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64" name="Oval 163"/>
          <p:cNvSpPr/>
          <p:nvPr/>
        </p:nvSpPr>
        <p:spPr>
          <a:xfrm>
            <a:off x="12395612" y="196631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188773" y="2071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66" name="Oval 165"/>
          <p:cNvSpPr/>
          <p:nvPr/>
        </p:nvSpPr>
        <p:spPr>
          <a:xfrm>
            <a:off x="11944977" y="211812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0188773" y="2223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68" name="Oval 167"/>
          <p:cNvSpPr/>
          <p:nvPr/>
        </p:nvSpPr>
        <p:spPr>
          <a:xfrm>
            <a:off x="12438096" y="226992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9" name="Connector 168"/>
          <p:cNvCxnSpPr/>
          <p:nvPr/>
        </p:nvCxnSpPr>
        <p:spPr>
          <a:xfrm>
            <a:off x="9286875" y="2411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9286875" y="2607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171" name="TextBox 170"/>
          <p:cNvSpPr txBox="1"/>
          <p:nvPr/>
        </p:nvSpPr>
        <p:spPr>
          <a:xfrm>
            <a:off x="10188773" y="2473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72" name="Oval 171"/>
          <p:cNvSpPr/>
          <p:nvPr/>
        </p:nvSpPr>
        <p:spPr>
          <a:xfrm>
            <a:off x="13059514" y="251995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0188773" y="2625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74" name="Oval 173"/>
          <p:cNvSpPr/>
          <p:nvPr/>
        </p:nvSpPr>
        <p:spPr>
          <a:xfrm>
            <a:off x="13108505" y="267176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0188773" y="2777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76" name="Oval 175"/>
          <p:cNvSpPr/>
          <p:nvPr/>
        </p:nvSpPr>
        <p:spPr>
          <a:xfrm>
            <a:off x="12133751" y="282356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7" name="Connector 176"/>
          <p:cNvCxnSpPr/>
          <p:nvPr/>
        </p:nvCxnSpPr>
        <p:spPr>
          <a:xfrm>
            <a:off x="9286875" y="2964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9286875" y="3161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179" name="TextBox 178"/>
          <p:cNvSpPr txBox="1"/>
          <p:nvPr/>
        </p:nvSpPr>
        <p:spPr>
          <a:xfrm>
            <a:off x="10188773" y="3027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180" name="Oval 179"/>
          <p:cNvSpPr/>
          <p:nvPr/>
        </p:nvSpPr>
        <p:spPr>
          <a:xfrm>
            <a:off x="11975225" y="307359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0188773" y="3178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182" name="Oval 181"/>
          <p:cNvSpPr/>
          <p:nvPr/>
        </p:nvSpPr>
        <p:spPr>
          <a:xfrm>
            <a:off x="11710020" y="3225403"/>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0188773" y="3330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184" name="Oval 183"/>
          <p:cNvSpPr/>
          <p:nvPr/>
        </p:nvSpPr>
        <p:spPr>
          <a:xfrm>
            <a:off x="12181051" y="337720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5" name="Connector 184"/>
          <p:cNvCxnSpPr/>
          <p:nvPr/>
        </p:nvCxnSpPr>
        <p:spPr>
          <a:xfrm>
            <a:off x="9286875" y="3518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186" name="TextBox 185"/>
          <p:cNvSpPr txBox="1"/>
          <p:nvPr/>
        </p:nvSpPr>
        <p:spPr>
          <a:xfrm>
            <a:off x="9286875" y="3661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187" name="Diamond 186"/>
          <p:cNvSpPr/>
          <p:nvPr/>
        </p:nvSpPr>
        <p:spPr>
          <a:xfrm>
            <a:off x="12285975" y="3687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8" name="Connector 187"/>
          <p:cNvCxnSpPr/>
          <p:nvPr/>
        </p:nvCxnSpPr>
        <p:spPr>
          <a:xfrm>
            <a:off x="10644188" y="3920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10670977"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90" name="TextBox 189"/>
          <p:cNvSpPr txBox="1"/>
          <p:nvPr/>
        </p:nvSpPr>
        <p:spPr>
          <a:xfrm>
            <a:off x="1044773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-0.2</a:t>
            </a:r>
          </a:p>
        </p:txBody>
      </p:sp>
      <p:cxnSp>
        <p:nvCxnSpPr>
          <p:cNvPr id="191" name="Connector 190"/>
          <p:cNvCxnSpPr/>
          <p:nvPr/>
        </p:nvCxnSpPr>
        <p:spPr>
          <a:xfrm>
            <a:off x="11318379"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92" name="TextBox 191"/>
          <p:cNvSpPr txBox="1"/>
          <p:nvPr/>
        </p:nvSpPr>
        <p:spPr>
          <a:xfrm>
            <a:off x="11095137"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a:t>
            </a:r>
          </a:p>
        </p:txBody>
      </p:sp>
      <p:cxnSp>
        <p:nvCxnSpPr>
          <p:cNvPr id="193" name="Connector 192"/>
          <p:cNvCxnSpPr/>
          <p:nvPr/>
        </p:nvCxnSpPr>
        <p:spPr>
          <a:xfrm>
            <a:off x="11965781"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11742539"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195" name="Connector 194"/>
          <p:cNvCxnSpPr/>
          <p:nvPr/>
        </p:nvCxnSpPr>
        <p:spPr>
          <a:xfrm>
            <a:off x="12613184"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96" name="TextBox 195"/>
          <p:cNvSpPr txBox="1"/>
          <p:nvPr/>
        </p:nvSpPr>
        <p:spPr>
          <a:xfrm>
            <a:off x="12389941"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a:t>
            </a:r>
          </a:p>
        </p:txBody>
      </p:sp>
      <p:cxnSp>
        <p:nvCxnSpPr>
          <p:cNvPr id="197" name="Connector 196"/>
          <p:cNvCxnSpPr/>
          <p:nvPr/>
        </p:nvCxnSpPr>
        <p:spPr>
          <a:xfrm>
            <a:off x="13260586" y="3920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198" name="TextBox 197"/>
          <p:cNvSpPr txBox="1"/>
          <p:nvPr/>
        </p:nvSpPr>
        <p:spPr>
          <a:xfrm>
            <a:off x="13037344" y="4000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0.2</a:t>
            </a:r>
          </a:p>
        </p:txBody>
      </p:sp>
      <p:sp>
        <p:nvSpPr>
          <p:cNvPr id="199" name="TextBox 198"/>
          <p:cNvSpPr txBox="1"/>
          <p:nvPr/>
        </p:nvSpPr>
        <p:spPr>
          <a:xfrm>
            <a:off x="10599539" y="4232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MAE (12 − 24)</a:t>
            </a:r>
          </a:p>
        </p:txBody>
      </p:sp>
      <p:sp>
        <p:nvSpPr>
          <p:cNvPr id="200" name="TextBox 199"/>
          <p:cNvSpPr txBox="1"/>
          <p:nvPr/>
        </p:nvSpPr>
        <p:spPr>
          <a:xfrm>
            <a:off x="125016" y="457200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d</a:t>
            </a:r>
          </a:p>
        </p:txBody>
      </p:sp>
      <p:sp>
        <p:nvSpPr>
          <p:cNvPr id="201" name="TextBox 200"/>
          <p:cNvSpPr txBox="1"/>
          <p:nvPr/>
        </p:nvSpPr>
        <p:spPr>
          <a:xfrm>
            <a:off x="848320" y="4580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Crystallization recovery MAE</a:t>
            </a:r>
          </a:p>
        </p:txBody>
      </p:sp>
      <p:sp>
        <p:nvSpPr>
          <p:cNvPr id="202" name="TextBox 201"/>
          <p:cNvSpPr txBox="1"/>
          <p:nvPr/>
        </p:nvSpPr>
        <p:spPr>
          <a:xfrm>
            <a:off x="1464469" y="4813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203" name="TextBox 202"/>
          <p:cNvSpPr txBox="1"/>
          <p:nvPr/>
        </p:nvSpPr>
        <p:spPr>
          <a:xfrm>
            <a:off x="1589484" y="5018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0.1043   vs   0.0794</a:t>
            </a:r>
          </a:p>
        </p:txBody>
      </p:sp>
      <p:sp>
        <p:nvSpPr>
          <p:cNvPr id="204" name="TextBox 203"/>
          <p:cNvSpPr txBox="1"/>
          <p:nvPr/>
        </p:nvSpPr>
        <p:spPr>
          <a:xfrm>
            <a:off x="142875" y="5179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205" name="TextBox 204"/>
          <p:cNvSpPr txBox="1"/>
          <p:nvPr/>
        </p:nvSpPr>
        <p:spPr>
          <a:xfrm>
            <a:off x="1044773" y="5179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206" name="TextBox 205"/>
          <p:cNvSpPr txBox="1"/>
          <p:nvPr/>
        </p:nvSpPr>
        <p:spPr>
          <a:xfrm>
            <a:off x="3616523" y="5214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207" name="Connector 206"/>
          <p:cNvCxnSpPr/>
          <p:nvPr/>
        </p:nvCxnSpPr>
        <p:spPr>
          <a:xfrm>
            <a:off x="4134445" y="5304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H="1" flipV="1">
            <a:off x="4271962" y="5256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H="1">
            <a:off x="4271962" y="5304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2821781" y="5313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142875" y="5518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212" name="TextBox 211"/>
          <p:cNvSpPr txBox="1"/>
          <p:nvPr/>
        </p:nvSpPr>
        <p:spPr>
          <a:xfrm>
            <a:off x="1044773" y="5384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13" name="Oval 212"/>
          <p:cNvSpPr/>
          <p:nvPr/>
        </p:nvSpPr>
        <p:spPr>
          <a:xfrm>
            <a:off x="2534283" y="5431036"/>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1044773" y="5536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15" name="Oval 214"/>
          <p:cNvSpPr/>
          <p:nvPr/>
        </p:nvSpPr>
        <p:spPr>
          <a:xfrm>
            <a:off x="2748285" y="558284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1044773" y="5688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17" name="Oval 216"/>
          <p:cNvSpPr/>
          <p:nvPr/>
        </p:nvSpPr>
        <p:spPr>
          <a:xfrm>
            <a:off x="2602653" y="5734645"/>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8" name="Connector 217"/>
          <p:cNvCxnSpPr/>
          <p:nvPr/>
        </p:nvCxnSpPr>
        <p:spPr>
          <a:xfrm>
            <a:off x="142875" y="5875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142875" y="6072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220" name="TextBox 219"/>
          <p:cNvSpPr txBox="1"/>
          <p:nvPr/>
        </p:nvSpPr>
        <p:spPr>
          <a:xfrm>
            <a:off x="1044773" y="5938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cxnSp>
        <p:nvCxnSpPr>
          <p:cNvPr id="221" name="Connector 220"/>
          <p:cNvCxnSpPr/>
          <p:nvPr/>
        </p:nvCxnSpPr>
        <p:spPr>
          <a:xfrm>
            <a:off x="3926068" y="5979319"/>
            <a:ext cx="78582"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3926068" y="5979319"/>
            <a:ext cx="78582"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sp>
        <p:nvSpPr>
          <p:cNvPr id="223" name="TextBox 222"/>
          <p:cNvSpPr txBox="1"/>
          <p:nvPr/>
        </p:nvSpPr>
        <p:spPr>
          <a:xfrm>
            <a:off x="1044773" y="6090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24" name="Oval 223"/>
          <p:cNvSpPr/>
          <p:nvPr/>
        </p:nvSpPr>
        <p:spPr>
          <a:xfrm>
            <a:off x="2726972" y="613648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1044773" y="6241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26" name="Oval 225"/>
          <p:cNvSpPr/>
          <p:nvPr/>
        </p:nvSpPr>
        <p:spPr>
          <a:xfrm>
            <a:off x="3157154" y="628828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7" name="Connector 226"/>
          <p:cNvCxnSpPr/>
          <p:nvPr/>
        </p:nvCxnSpPr>
        <p:spPr>
          <a:xfrm>
            <a:off x="142875" y="6429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142875" y="6625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229" name="TextBox 228"/>
          <p:cNvSpPr txBox="1"/>
          <p:nvPr/>
        </p:nvSpPr>
        <p:spPr>
          <a:xfrm>
            <a:off x="1044773" y="6491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30" name="Oval 229"/>
          <p:cNvSpPr/>
          <p:nvPr/>
        </p:nvSpPr>
        <p:spPr>
          <a:xfrm>
            <a:off x="2677587" y="653831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044773" y="6643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32" name="Oval 231"/>
          <p:cNvSpPr/>
          <p:nvPr/>
        </p:nvSpPr>
        <p:spPr>
          <a:xfrm>
            <a:off x="2455213" y="6690122"/>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044773" y="6795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34" name="Oval 233"/>
          <p:cNvSpPr/>
          <p:nvPr/>
        </p:nvSpPr>
        <p:spPr>
          <a:xfrm>
            <a:off x="2763160" y="684192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Connector 234"/>
          <p:cNvCxnSpPr/>
          <p:nvPr/>
        </p:nvCxnSpPr>
        <p:spPr>
          <a:xfrm>
            <a:off x="142875" y="6983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36" name="TextBox 235"/>
          <p:cNvSpPr txBox="1"/>
          <p:nvPr/>
        </p:nvSpPr>
        <p:spPr>
          <a:xfrm>
            <a:off x="142875" y="7179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237" name="TextBox 236"/>
          <p:cNvSpPr txBox="1"/>
          <p:nvPr/>
        </p:nvSpPr>
        <p:spPr>
          <a:xfrm>
            <a:off x="1044773" y="7045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38" name="Oval 237"/>
          <p:cNvSpPr/>
          <p:nvPr/>
        </p:nvSpPr>
        <p:spPr>
          <a:xfrm>
            <a:off x="3089064" y="709195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1044773" y="7197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40" name="Oval 239"/>
          <p:cNvSpPr/>
          <p:nvPr/>
        </p:nvSpPr>
        <p:spPr>
          <a:xfrm>
            <a:off x="2810251" y="7243762"/>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1044773" y="7349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42" name="Oval 241"/>
          <p:cNvSpPr/>
          <p:nvPr/>
        </p:nvSpPr>
        <p:spPr>
          <a:xfrm>
            <a:off x="2806195" y="739556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3" name="Connector 242"/>
          <p:cNvCxnSpPr/>
          <p:nvPr/>
        </p:nvCxnSpPr>
        <p:spPr>
          <a:xfrm>
            <a:off x="142875" y="7536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44" name="TextBox 243"/>
          <p:cNvSpPr txBox="1"/>
          <p:nvPr/>
        </p:nvSpPr>
        <p:spPr>
          <a:xfrm>
            <a:off x="142875" y="7733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245" name="TextBox 244"/>
          <p:cNvSpPr txBox="1"/>
          <p:nvPr/>
        </p:nvSpPr>
        <p:spPr>
          <a:xfrm>
            <a:off x="1044773" y="7599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46" name="Oval 245"/>
          <p:cNvSpPr/>
          <p:nvPr/>
        </p:nvSpPr>
        <p:spPr>
          <a:xfrm>
            <a:off x="3263688" y="764559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044773" y="7750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48" name="Oval 247"/>
          <p:cNvSpPr/>
          <p:nvPr/>
        </p:nvSpPr>
        <p:spPr>
          <a:xfrm>
            <a:off x="3029307" y="7797403"/>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1044773" y="7902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50" name="Oval 249"/>
          <p:cNvSpPr/>
          <p:nvPr/>
        </p:nvSpPr>
        <p:spPr>
          <a:xfrm>
            <a:off x="2838725" y="794920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1" name="Connector 250"/>
          <p:cNvCxnSpPr/>
          <p:nvPr/>
        </p:nvCxnSpPr>
        <p:spPr>
          <a:xfrm>
            <a:off x="142875" y="8090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52" name="TextBox 251"/>
          <p:cNvSpPr txBox="1"/>
          <p:nvPr/>
        </p:nvSpPr>
        <p:spPr>
          <a:xfrm>
            <a:off x="142875" y="8233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253" name="Diamond 252"/>
          <p:cNvSpPr/>
          <p:nvPr/>
        </p:nvSpPr>
        <p:spPr>
          <a:xfrm>
            <a:off x="2867022" y="8259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4" name="Connector 253"/>
          <p:cNvCxnSpPr/>
          <p:nvPr/>
        </p:nvCxnSpPr>
        <p:spPr>
          <a:xfrm>
            <a:off x="1500188" y="8492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526977"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256" name="TextBox 255"/>
          <p:cNvSpPr txBox="1"/>
          <p:nvPr/>
        </p:nvSpPr>
        <p:spPr>
          <a:xfrm>
            <a:off x="130373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cxnSp>
        <p:nvCxnSpPr>
          <p:cNvPr id="257" name="Connector 256"/>
          <p:cNvCxnSpPr/>
          <p:nvPr/>
        </p:nvCxnSpPr>
        <p:spPr>
          <a:xfrm>
            <a:off x="2174379"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258" name="TextBox 257"/>
          <p:cNvSpPr txBox="1"/>
          <p:nvPr/>
        </p:nvSpPr>
        <p:spPr>
          <a:xfrm>
            <a:off x="1951137"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259" name="Connector 258"/>
          <p:cNvCxnSpPr/>
          <p:nvPr/>
        </p:nvCxnSpPr>
        <p:spPr>
          <a:xfrm>
            <a:off x="2821781"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260" name="TextBox 259"/>
          <p:cNvSpPr txBox="1"/>
          <p:nvPr/>
        </p:nvSpPr>
        <p:spPr>
          <a:xfrm>
            <a:off x="2598539"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261" name="Connector 260"/>
          <p:cNvCxnSpPr/>
          <p:nvPr/>
        </p:nvCxnSpPr>
        <p:spPr>
          <a:xfrm>
            <a:off x="3469184"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262" name="TextBox 261"/>
          <p:cNvSpPr txBox="1"/>
          <p:nvPr/>
        </p:nvSpPr>
        <p:spPr>
          <a:xfrm>
            <a:off x="3245941"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0.15</a:t>
            </a:r>
          </a:p>
        </p:txBody>
      </p:sp>
      <p:cxnSp>
        <p:nvCxnSpPr>
          <p:cNvPr id="263" name="Connector 262"/>
          <p:cNvCxnSpPr/>
          <p:nvPr/>
        </p:nvCxnSpPr>
        <p:spPr>
          <a:xfrm>
            <a:off x="4116586"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264" name="TextBox 263"/>
          <p:cNvSpPr txBox="1"/>
          <p:nvPr/>
        </p:nvSpPr>
        <p:spPr>
          <a:xfrm>
            <a:off x="389334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sp>
        <p:nvSpPr>
          <p:cNvPr id="265" name="TextBox 264"/>
          <p:cNvSpPr txBox="1"/>
          <p:nvPr/>
        </p:nvSpPr>
        <p:spPr>
          <a:xfrm>
            <a:off x="1455539" y="8804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MAE (12 − 24)</a:t>
            </a:r>
          </a:p>
        </p:txBody>
      </p:sp>
      <p:sp>
        <p:nvSpPr>
          <p:cNvPr id="266" name="TextBox 265"/>
          <p:cNvSpPr txBox="1"/>
          <p:nvPr/>
        </p:nvSpPr>
        <p:spPr>
          <a:xfrm>
            <a:off x="3607594" y="6116836"/>
            <a:ext cx="848320" cy="241102"/>
          </a:xfrm>
          <a:prstGeom prst="rect">
            <a:avLst/>
          </a:prstGeom>
          <a:noFill/>
        </p:spPr>
        <p:txBody>
          <a:bodyPr wrap="square" lIns="0" rIns="0" tIns="0" bIns="0" anchor="ctr">
            <a:noAutofit/>
          </a:bodyPr>
          <a:lstStyle/>
          <a:p>
            <a:pPr algn="l">
              <a:spcBef>
                <a:spcPts val="0"/>
              </a:spcBef>
              <a:spcAft>
                <a:spcPts val="0"/>
              </a:spcAft>
            </a:pPr>
            <a:r>
              <a:rPr sz="773" b="0" i="0">
                <a:solidFill>
                  <a:srgbClr val="000000"/>
                </a:solidFill>
                <a:latin typeface="Arial"/>
              </a:rPr>
              <a:t>Source-assay</a:t>
            </a:r>
          </a:p>
          <a:p>
            <a:pPr algn="l">
              <a:spcBef>
                <a:spcPts val="0"/>
              </a:spcBef>
              <a:spcAft>
                <a:spcPts val="0"/>
              </a:spcAft>
            </a:pPr>
            <a:r>
              <a:rPr sz="773" b="0" i="0">
                <a:solidFill>
                  <a:srgbClr val="000000"/>
                </a:solidFill>
                <a:latin typeface="Arial"/>
              </a:rPr>
              <a:t>shortfall</a:t>
            </a:r>
          </a:p>
        </p:txBody>
      </p:sp>
      <p:cxnSp>
        <p:nvCxnSpPr>
          <p:cNvPr id="267" name="Connector 266"/>
          <p:cNvCxnSpPr/>
          <p:nvPr/>
        </p:nvCxnSpPr>
        <p:spPr>
          <a:xfrm flipV="1">
            <a:off x="3795117" y="6072188"/>
            <a:ext cx="152383" cy="53578"/>
          </a:xfrm>
          <a:prstGeom prst="line">
            <a:avLst/>
          </a:prstGeom>
          <a:ln w="5804">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3947500" y="6018609"/>
            <a:ext cx="17859" cy="53579"/>
          </a:xfrm>
          <a:prstGeom prst="line">
            <a:avLst/>
          </a:prstGeom>
          <a:ln w="5804">
            <a:solidFill>
              <a:srgbClr val="000000"/>
            </a:solidFill>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4697016" y="457200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e</a:t>
            </a:r>
          </a:p>
        </p:txBody>
      </p:sp>
      <p:sp>
        <p:nvSpPr>
          <p:cNvPr id="270" name="TextBox 269"/>
          <p:cNvSpPr txBox="1"/>
          <p:nvPr/>
        </p:nvSpPr>
        <p:spPr>
          <a:xfrm>
            <a:off x="5420320" y="4580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Fines interval coverage</a:t>
            </a:r>
          </a:p>
        </p:txBody>
      </p:sp>
      <p:sp>
        <p:nvSpPr>
          <p:cNvPr id="271" name="TextBox 270"/>
          <p:cNvSpPr txBox="1"/>
          <p:nvPr/>
        </p:nvSpPr>
        <p:spPr>
          <a:xfrm>
            <a:off x="6036469" y="4813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272" name="TextBox 271"/>
          <p:cNvSpPr txBox="1"/>
          <p:nvPr/>
        </p:nvSpPr>
        <p:spPr>
          <a:xfrm>
            <a:off x="6161484" y="5018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35.6%   vs   43.9%</a:t>
            </a:r>
          </a:p>
        </p:txBody>
      </p:sp>
      <p:sp>
        <p:nvSpPr>
          <p:cNvPr id="273" name="TextBox 272"/>
          <p:cNvSpPr txBox="1"/>
          <p:nvPr/>
        </p:nvSpPr>
        <p:spPr>
          <a:xfrm>
            <a:off x="4714875" y="5179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274" name="TextBox 273"/>
          <p:cNvSpPr txBox="1"/>
          <p:nvPr/>
        </p:nvSpPr>
        <p:spPr>
          <a:xfrm>
            <a:off x="5616773" y="5179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275" name="TextBox 274"/>
          <p:cNvSpPr txBox="1"/>
          <p:nvPr/>
        </p:nvSpPr>
        <p:spPr>
          <a:xfrm>
            <a:off x="8188523" y="5214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276" name="Connector 275"/>
          <p:cNvCxnSpPr/>
          <p:nvPr/>
        </p:nvCxnSpPr>
        <p:spPr>
          <a:xfrm>
            <a:off x="8706445" y="5304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H="1" flipV="1">
            <a:off x="8843962" y="5256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H="1">
            <a:off x="8843962" y="5304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7393781" y="5313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280" name="TextBox 279"/>
          <p:cNvSpPr txBox="1"/>
          <p:nvPr/>
        </p:nvSpPr>
        <p:spPr>
          <a:xfrm>
            <a:off x="4714875" y="5518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281" name="TextBox 280"/>
          <p:cNvSpPr txBox="1"/>
          <p:nvPr/>
        </p:nvSpPr>
        <p:spPr>
          <a:xfrm>
            <a:off x="5616773" y="5384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82" name="Oval 281"/>
          <p:cNvSpPr/>
          <p:nvPr/>
        </p:nvSpPr>
        <p:spPr>
          <a:xfrm>
            <a:off x="7791450" y="543103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TextBox 282"/>
          <p:cNvSpPr txBox="1"/>
          <p:nvPr/>
        </p:nvSpPr>
        <p:spPr>
          <a:xfrm>
            <a:off x="5616773" y="5536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84" name="Oval 283"/>
          <p:cNvSpPr/>
          <p:nvPr/>
        </p:nvSpPr>
        <p:spPr>
          <a:xfrm>
            <a:off x="7359848" y="5582841"/>
            <a:ext cx="67866" cy="67866"/>
          </a:xfrm>
          <a:prstGeom prst="ellipse">
            <a:avLst/>
          </a:prstGeom>
          <a:solidFill>
            <a:srgbClr val="6A73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5616773" y="5688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86" name="Oval 285"/>
          <p:cNvSpPr/>
          <p:nvPr/>
        </p:nvSpPr>
        <p:spPr>
          <a:xfrm>
            <a:off x="7575649" y="5734645"/>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 name="Connector 286"/>
          <p:cNvCxnSpPr/>
          <p:nvPr/>
        </p:nvCxnSpPr>
        <p:spPr>
          <a:xfrm>
            <a:off x="4714875" y="5875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88" name="TextBox 287"/>
          <p:cNvSpPr txBox="1"/>
          <p:nvPr/>
        </p:nvSpPr>
        <p:spPr>
          <a:xfrm>
            <a:off x="4714875" y="6072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289" name="TextBox 288"/>
          <p:cNvSpPr txBox="1"/>
          <p:nvPr/>
        </p:nvSpPr>
        <p:spPr>
          <a:xfrm>
            <a:off x="5616773" y="5938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cxnSp>
        <p:nvCxnSpPr>
          <p:cNvPr id="290" name="Connector 289"/>
          <p:cNvCxnSpPr/>
          <p:nvPr/>
        </p:nvCxnSpPr>
        <p:spPr>
          <a:xfrm>
            <a:off x="8649295" y="5979319"/>
            <a:ext cx="78582"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V="1">
            <a:off x="8649295" y="5979319"/>
            <a:ext cx="78582"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5616773" y="6090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293" name="Oval 292"/>
          <p:cNvSpPr/>
          <p:nvPr/>
        </p:nvSpPr>
        <p:spPr>
          <a:xfrm>
            <a:off x="7144048" y="613648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5616773" y="6241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295" name="Oval 294"/>
          <p:cNvSpPr/>
          <p:nvPr/>
        </p:nvSpPr>
        <p:spPr>
          <a:xfrm>
            <a:off x="7359848" y="6288286"/>
            <a:ext cx="67866" cy="67866"/>
          </a:xfrm>
          <a:prstGeom prst="ellipse">
            <a:avLst/>
          </a:prstGeom>
          <a:solidFill>
            <a:srgbClr val="6A73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6" name="Connector 295"/>
          <p:cNvCxnSpPr/>
          <p:nvPr/>
        </p:nvCxnSpPr>
        <p:spPr>
          <a:xfrm>
            <a:off x="4714875" y="6429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4714875" y="6625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298" name="TextBox 297"/>
          <p:cNvSpPr txBox="1"/>
          <p:nvPr/>
        </p:nvSpPr>
        <p:spPr>
          <a:xfrm>
            <a:off x="5616773" y="6491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299" name="Oval 298"/>
          <p:cNvSpPr/>
          <p:nvPr/>
        </p:nvSpPr>
        <p:spPr>
          <a:xfrm>
            <a:off x="8438852" y="6538317"/>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extBox 299"/>
          <p:cNvSpPr txBox="1"/>
          <p:nvPr/>
        </p:nvSpPr>
        <p:spPr>
          <a:xfrm>
            <a:off x="5616773" y="6643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01" name="Oval 300"/>
          <p:cNvSpPr/>
          <p:nvPr/>
        </p:nvSpPr>
        <p:spPr>
          <a:xfrm>
            <a:off x="7144048" y="6690122"/>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5616773" y="6795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03" name="Oval 302"/>
          <p:cNvSpPr/>
          <p:nvPr/>
        </p:nvSpPr>
        <p:spPr>
          <a:xfrm>
            <a:off x="7359848" y="6841927"/>
            <a:ext cx="67866" cy="67866"/>
          </a:xfrm>
          <a:prstGeom prst="ellipse">
            <a:avLst/>
          </a:prstGeom>
          <a:solidFill>
            <a:srgbClr val="6A73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4" name="Connector 303"/>
          <p:cNvCxnSpPr/>
          <p:nvPr/>
        </p:nvCxnSpPr>
        <p:spPr>
          <a:xfrm>
            <a:off x="4714875" y="6983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4714875" y="7179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306" name="TextBox 305"/>
          <p:cNvSpPr txBox="1"/>
          <p:nvPr/>
        </p:nvSpPr>
        <p:spPr>
          <a:xfrm>
            <a:off x="5616773" y="7045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07" name="Oval 306"/>
          <p:cNvSpPr/>
          <p:nvPr/>
        </p:nvSpPr>
        <p:spPr>
          <a:xfrm>
            <a:off x="7575649" y="709195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extBox 307"/>
          <p:cNvSpPr txBox="1"/>
          <p:nvPr/>
        </p:nvSpPr>
        <p:spPr>
          <a:xfrm>
            <a:off x="5616773" y="7197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09" name="Oval 308"/>
          <p:cNvSpPr/>
          <p:nvPr/>
        </p:nvSpPr>
        <p:spPr>
          <a:xfrm>
            <a:off x="6928247" y="7243762"/>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extBox 309"/>
          <p:cNvSpPr txBox="1"/>
          <p:nvPr/>
        </p:nvSpPr>
        <p:spPr>
          <a:xfrm>
            <a:off x="5616773" y="7349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11" name="Oval 310"/>
          <p:cNvSpPr/>
          <p:nvPr/>
        </p:nvSpPr>
        <p:spPr>
          <a:xfrm>
            <a:off x="7359848" y="7395567"/>
            <a:ext cx="67866" cy="67866"/>
          </a:xfrm>
          <a:prstGeom prst="ellipse">
            <a:avLst/>
          </a:prstGeom>
          <a:solidFill>
            <a:srgbClr val="6A73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2" name="Connector 311"/>
          <p:cNvCxnSpPr/>
          <p:nvPr/>
        </p:nvCxnSpPr>
        <p:spPr>
          <a:xfrm>
            <a:off x="4714875" y="7536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13" name="TextBox 312"/>
          <p:cNvSpPr txBox="1"/>
          <p:nvPr/>
        </p:nvSpPr>
        <p:spPr>
          <a:xfrm>
            <a:off x="4714875" y="7733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314" name="TextBox 313"/>
          <p:cNvSpPr txBox="1"/>
          <p:nvPr/>
        </p:nvSpPr>
        <p:spPr>
          <a:xfrm>
            <a:off x="5616773" y="7599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15" name="Oval 314"/>
          <p:cNvSpPr/>
          <p:nvPr/>
        </p:nvSpPr>
        <p:spPr>
          <a:xfrm>
            <a:off x="7791450" y="764559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TextBox 315"/>
          <p:cNvSpPr txBox="1"/>
          <p:nvPr/>
        </p:nvSpPr>
        <p:spPr>
          <a:xfrm>
            <a:off x="5616773" y="7750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17" name="Oval 316"/>
          <p:cNvSpPr/>
          <p:nvPr/>
        </p:nvSpPr>
        <p:spPr>
          <a:xfrm>
            <a:off x="8223052" y="7797403"/>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TextBox 317"/>
          <p:cNvSpPr txBox="1"/>
          <p:nvPr/>
        </p:nvSpPr>
        <p:spPr>
          <a:xfrm>
            <a:off x="5616773" y="7902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19" name="Oval 318"/>
          <p:cNvSpPr/>
          <p:nvPr/>
        </p:nvSpPr>
        <p:spPr>
          <a:xfrm>
            <a:off x="6928247" y="7949208"/>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0" name="Connector 319"/>
          <p:cNvCxnSpPr/>
          <p:nvPr/>
        </p:nvCxnSpPr>
        <p:spPr>
          <a:xfrm>
            <a:off x="4714875" y="8090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21" name="TextBox 320"/>
          <p:cNvSpPr txBox="1"/>
          <p:nvPr/>
        </p:nvSpPr>
        <p:spPr>
          <a:xfrm>
            <a:off x="4714875" y="8233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322" name="Diamond 321"/>
          <p:cNvSpPr/>
          <p:nvPr/>
        </p:nvSpPr>
        <p:spPr>
          <a:xfrm>
            <a:off x="7547074" y="8259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3" name="Connector 322"/>
          <p:cNvCxnSpPr/>
          <p:nvPr/>
        </p:nvCxnSpPr>
        <p:spPr>
          <a:xfrm>
            <a:off x="6072188" y="8492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6098977"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25" name="TextBox 324"/>
          <p:cNvSpPr txBox="1"/>
          <p:nvPr/>
        </p:nvSpPr>
        <p:spPr>
          <a:xfrm>
            <a:off x="587573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-50</a:t>
            </a:r>
          </a:p>
        </p:txBody>
      </p:sp>
      <p:cxnSp>
        <p:nvCxnSpPr>
          <p:cNvPr id="326" name="Connector 325"/>
          <p:cNvCxnSpPr/>
          <p:nvPr/>
        </p:nvCxnSpPr>
        <p:spPr>
          <a:xfrm>
            <a:off x="6746379"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27" name="TextBox 326"/>
          <p:cNvSpPr txBox="1"/>
          <p:nvPr/>
        </p:nvSpPr>
        <p:spPr>
          <a:xfrm>
            <a:off x="6523137"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-25</a:t>
            </a:r>
          </a:p>
        </p:txBody>
      </p:sp>
      <p:cxnSp>
        <p:nvCxnSpPr>
          <p:cNvPr id="328" name="Connector 327"/>
          <p:cNvCxnSpPr/>
          <p:nvPr/>
        </p:nvCxnSpPr>
        <p:spPr>
          <a:xfrm>
            <a:off x="7393781"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29" name="TextBox 328"/>
          <p:cNvSpPr txBox="1"/>
          <p:nvPr/>
        </p:nvSpPr>
        <p:spPr>
          <a:xfrm>
            <a:off x="7170539"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330" name="Connector 329"/>
          <p:cNvCxnSpPr/>
          <p:nvPr/>
        </p:nvCxnSpPr>
        <p:spPr>
          <a:xfrm>
            <a:off x="8041184"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7817941"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25</a:t>
            </a:r>
          </a:p>
        </p:txBody>
      </p:sp>
      <p:cxnSp>
        <p:nvCxnSpPr>
          <p:cNvPr id="332" name="Connector 331"/>
          <p:cNvCxnSpPr/>
          <p:nvPr/>
        </p:nvCxnSpPr>
        <p:spPr>
          <a:xfrm>
            <a:off x="8688586"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846534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50</a:t>
            </a:r>
          </a:p>
        </p:txBody>
      </p:sp>
      <p:sp>
        <p:nvSpPr>
          <p:cNvPr id="334" name="TextBox 333"/>
          <p:cNvSpPr txBox="1"/>
          <p:nvPr/>
        </p:nvSpPr>
        <p:spPr>
          <a:xfrm>
            <a:off x="6027539" y="8804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coverage (24 − 12), pp</a:t>
            </a:r>
          </a:p>
        </p:txBody>
      </p:sp>
      <p:sp>
        <p:nvSpPr>
          <p:cNvPr id="335" name="TextBox 334"/>
          <p:cNvSpPr txBox="1"/>
          <p:nvPr/>
        </p:nvSpPr>
        <p:spPr>
          <a:xfrm>
            <a:off x="9269016" y="4572000"/>
            <a:ext cx="250031" cy="312539"/>
          </a:xfrm>
          <a:prstGeom prst="rect">
            <a:avLst/>
          </a:prstGeom>
          <a:noFill/>
        </p:spPr>
        <p:txBody>
          <a:bodyPr wrap="square" lIns="0" rIns="0" tIns="0" bIns="0" anchor="ctr">
            <a:noAutofit/>
          </a:bodyPr>
          <a:lstStyle/>
          <a:p>
            <a:pPr algn="l">
              <a:spcBef>
                <a:spcPts val="0"/>
              </a:spcBef>
              <a:spcAft>
                <a:spcPts val="0"/>
              </a:spcAft>
            </a:pPr>
            <a:r>
              <a:rPr sz="1968" b="1" i="0">
                <a:solidFill>
                  <a:srgbClr val="000000"/>
                </a:solidFill>
                <a:latin typeface="Arial"/>
              </a:rPr>
              <a:t>f</a:t>
            </a:r>
          </a:p>
        </p:txBody>
      </p:sp>
      <p:sp>
        <p:nvSpPr>
          <p:cNvPr id="336" name="TextBox 335"/>
          <p:cNvSpPr txBox="1"/>
          <p:nvPr/>
        </p:nvSpPr>
        <p:spPr>
          <a:xfrm>
            <a:off x="9992320" y="4580930"/>
            <a:ext cx="3687961" cy="232172"/>
          </a:xfrm>
          <a:prstGeom prst="rect">
            <a:avLst/>
          </a:prstGeom>
          <a:noFill/>
        </p:spPr>
        <p:txBody>
          <a:bodyPr wrap="square" lIns="0" rIns="0" tIns="0" bIns="0" anchor="ctr">
            <a:noAutofit/>
          </a:bodyPr>
          <a:lstStyle/>
          <a:p>
            <a:pPr algn="ctr">
              <a:spcBef>
                <a:spcPts val="0"/>
              </a:spcBef>
              <a:spcAft>
                <a:spcPts val="0"/>
              </a:spcAft>
            </a:pPr>
            <a:r>
              <a:rPr sz="1265" b="1" i="0">
                <a:solidFill>
                  <a:srgbClr val="000000"/>
                </a:solidFill>
                <a:latin typeface="Arial"/>
              </a:rPr>
              <a:t>Independently retested recovery</a:t>
            </a:r>
          </a:p>
        </p:txBody>
      </p:sp>
      <p:sp>
        <p:nvSpPr>
          <p:cNvPr id="337" name="TextBox 336"/>
          <p:cNvSpPr txBox="1"/>
          <p:nvPr/>
        </p:nvSpPr>
        <p:spPr>
          <a:xfrm>
            <a:off x="10608469" y="4813102"/>
            <a:ext cx="2732484" cy="178594"/>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12 vs 24 (mean)</a:t>
            </a:r>
          </a:p>
        </p:txBody>
      </p:sp>
      <p:sp>
        <p:nvSpPr>
          <p:cNvPr id="338" name="TextBox 337"/>
          <p:cNvSpPr txBox="1"/>
          <p:nvPr/>
        </p:nvSpPr>
        <p:spPr>
          <a:xfrm>
            <a:off x="10733484" y="5018484"/>
            <a:ext cx="2482453" cy="187523"/>
          </a:xfrm>
          <a:prstGeom prst="rect">
            <a:avLst/>
          </a:prstGeom>
          <a:noFill/>
        </p:spPr>
        <p:txBody>
          <a:bodyPr wrap="square" lIns="0" rIns="0" tIns="0" bIns="0" anchor="ctr">
            <a:noAutofit/>
          </a:bodyPr>
          <a:lstStyle/>
          <a:p>
            <a:pPr algn="ctr">
              <a:spcBef>
                <a:spcPts val="0"/>
              </a:spcBef>
              <a:spcAft>
                <a:spcPts val="0"/>
              </a:spcAft>
            </a:pPr>
            <a:r>
              <a:rPr sz="1125" b="0" i="0">
                <a:solidFill>
                  <a:srgbClr val="000000"/>
                </a:solidFill>
                <a:latin typeface="Arial"/>
              </a:rPr>
              <a:t>0.4205   vs   0.3994</a:t>
            </a:r>
          </a:p>
        </p:txBody>
      </p:sp>
      <p:sp>
        <p:nvSpPr>
          <p:cNvPr id="339" name="TextBox 338"/>
          <p:cNvSpPr txBox="1"/>
          <p:nvPr/>
        </p:nvSpPr>
        <p:spPr>
          <a:xfrm>
            <a:off x="9286875" y="5179219"/>
            <a:ext cx="830461"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a:t>
            </a:r>
          </a:p>
        </p:txBody>
      </p:sp>
      <p:sp>
        <p:nvSpPr>
          <p:cNvPr id="340" name="TextBox 339"/>
          <p:cNvSpPr txBox="1"/>
          <p:nvPr/>
        </p:nvSpPr>
        <p:spPr>
          <a:xfrm>
            <a:off x="10188773" y="5179219"/>
            <a:ext cx="1169789" cy="17859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Information arm</a:t>
            </a:r>
          </a:p>
        </p:txBody>
      </p:sp>
      <p:sp>
        <p:nvSpPr>
          <p:cNvPr id="341" name="TextBox 340"/>
          <p:cNvSpPr txBox="1"/>
          <p:nvPr/>
        </p:nvSpPr>
        <p:spPr>
          <a:xfrm>
            <a:off x="12760523" y="5214938"/>
            <a:ext cx="669727" cy="16966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Favors 24</a:t>
            </a:r>
          </a:p>
        </p:txBody>
      </p:sp>
      <p:cxnSp>
        <p:nvCxnSpPr>
          <p:cNvPr id="342" name="Connector 341"/>
          <p:cNvCxnSpPr/>
          <p:nvPr/>
        </p:nvCxnSpPr>
        <p:spPr>
          <a:xfrm>
            <a:off x="13278445" y="5304234"/>
            <a:ext cx="223243" cy="0"/>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H="1" flipV="1">
            <a:off x="13415962" y="5256609"/>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H="1">
            <a:off x="13415962" y="5304234"/>
            <a:ext cx="85726" cy="47625"/>
          </a:xfrm>
          <a:prstGeom prst="line">
            <a:avLst/>
          </a:prstGeom>
          <a:ln w="62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11965781" y="5313164"/>
            <a:ext cx="0" cy="3170039"/>
          </a:xfrm>
          <a:prstGeom prst="line">
            <a:avLst/>
          </a:prstGeom>
          <a:ln w="7143">
            <a:solidFill>
              <a:srgbClr val="000000"/>
            </a:solidFill>
          </a:ln>
        </p:spPr>
        <p:style>
          <a:lnRef idx="2">
            <a:schemeClr val="accent1"/>
          </a:lnRef>
          <a:fillRef idx="0">
            <a:schemeClr val="accent1"/>
          </a:fillRef>
          <a:effectRef idx="1">
            <a:schemeClr val="accent1"/>
          </a:effectRef>
          <a:fontRef idx="minor">
            <a:schemeClr val="tx1"/>
          </a:fontRef>
        </p:style>
      </p:cxnSp>
      <p:sp>
        <p:nvSpPr>
          <p:cNvPr id="346" name="TextBox 345"/>
          <p:cNvSpPr txBox="1"/>
          <p:nvPr/>
        </p:nvSpPr>
        <p:spPr>
          <a:xfrm>
            <a:off x="9286875" y="5518547"/>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1</a:t>
            </a:r>
          </a:p>
        </p:txBody>
      </p:sp>
      <p:sp>
        <p:nvSpPr>
          <p:cNvPr id="347" name="TextBox 346"/>
          <p:cNvSpPr txBox="1"/>
          <p:nvPr/>
        </p:nvSpPr>
        <p:spPr>
          <a:xfrm>
            <a:off x="10188773" y="538460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48" name="Oval 347"/>
          <p:cNvSpPr/>
          <p:nvPr/>
        </p:nvSpPr>
        <p:spPr>
          <a:xfrm>
            <a:off x="11968718" y="543103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TextBox 348"/>
          <p:cNvSpPr txBox="1"/>
          <p:nvPr/>
        </p:nvSpPr>
        <p:spPr>
          <a:xfrm>
            <a:off x="10188773" y="5536406"/>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50" name="Oval 349"/>
          <p:cNvSpPr/>
          <p:nvPr/>
        </p:nvSpPr>
        <p:spPr>
          <a:xfrm>
            <a:off x="12020802" y="5582841"/>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0188773" y="5688211"/>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52" name="Oval 351"/>
          <p:cNvSpPr/>
          <p:nvPr/>
        </p:nvSpPr>
        <p:spPr>
          <a:xfrm>
            <a:off x="12075756" y="5734645"/>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3" name="Connector 352"/>
          <p:cNvCxnSpPr/>
          <p:nvPr/>
        </p:nvCxnSpPr>
        <p:spPr>
          <a:xfrm>
            <a:off x="9286875" y="5875734"/>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54" name="TextBox 353"/>
          <p:cNvSpPr txBox="1"/>
          <p:nvPr/>
        </p:nvSpPr>
        <p:spPr>
          <a:xfrm>
            <a:off x="9286875" y="607218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2</a:t>
            </a:r>
          </a:p>
        </p:txBody>
      </p:sp>
      <p:sp>
        <p:nvSpPr>
          <p:cNvPr id="355" name="TextBox 354"/>
          <p:cNvSpPr txBox="1"/>
          <p:nvPr/>
        </p:nvSpPr>
        <p:spPr>
          <a:xfrm>
            <a:off x="10188773" y="593824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cxnSp>
        <p:nvCxnSpPr>
          <p:cNvPr id="356" name="Connector 355"/>
          <p:cNvCxnSpPr/>
          <p:nvPr/>
        </p:nvCxnSpPr>
        <p:spPr>
          <a:xfrm>
            <a:off x="13111973" y="5979319"/>
            <a:ext cx="78581"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flipV="1">
            <a:off x="13111973" y="5979319"/>
            <a:ext cx="78581" cy="78581"/>
          </a:xfrm>
          <a:prstGeom prst="line">
            <a:avLst/>
          </a:prstGeom>
          <a:ln w="19050">
            <a:solidFill>
              <a:srgbClr val="006366"/>
            </a:solidFill>
          </a:ln>
        </p:spPr>
        <p:style>
          <a:lnRef idx="2">
            <a:schemeClr val="accent1"/>
          </a:lnRef>
          <a:fillRef idx="0">
            <a:schemeClr val="accent1"/>
          </a:fillRef>
          <a:effectRef idx="1">
            <a:schemeClr val="accent1"/>
          </a:effectRef>
          <a:fontRef idx="minor">
            <a:schemeClr val="tx1"/>
          </a:fontRef>
        </p:style>
      </p:cxnSp>
      <p:sp>
        <p:nvSpPr>
          <p:cNvPr id="358" name="TextBox 357"/>
          <p:cNvSpPr txBox="1"/>
          <p:nvPr/>
        </p:nvSpPr>
        <p:spPr>
          <a:xfrm>
            <a:off x="10188773" y="6090047"/>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59" name="Oval 358"/>
          <p:cNvSpPr/>
          <p:nvPr/>
        </p:nvSpPr>
        <p:spPr>
          <a:xfrm>
            <a:off x="11575516" y="6136481"/>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TextBox 359"/>
          <p:cNvSpPr txBox="1"/>
          <p:nvPr/>
        </p:nvSpPr>
        <p:spPr>
          <a:xfrm>
            <a:off x="10188773" y="624185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61" name="Oval 360"/>
          <p:cNvSpPr/>
          <p:nvPr/>
        </p:nvSpPr>
        <p:spPr>
          <a:xfrm>
            <a:off x="13073477" y="6288286"/>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2" name="Connector 361"/>
          <p:cNvCxnSpPr/>
          <p:nvPr/>
        </p:nvCxnSpPr>
        <p:spPr>
          <a:xfrm>
            <a:off x="9286875" y="6429375"/>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63" name="TextBox 362"/>
          <p:cNvSpPr txBox="1"/>
          <p:nvPr/>
        </p:nvSpPr>
        <p:spPr>
          <a:xfrm>
            <a:off x="9286875" y="6625828"/>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3</a:t>
            </a:r>
          </a:p>
        </p:txBody>
      </p:sp>
      <p:sp>
        <p:nvSpPr>
          <p:cNvPr id="364" name="TextBox 363"/>
          <p:cNvSpPr txBox="1"/>
          <p:nvPr/>
        </p:nvSpPr>
        <p:spPr>
          <a:xfrm>
            <a:off x="10188773" y="649188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65" name="Oval 364"/>
          <p:cNvSpPr/>
          <p:nvPr/>
        </p:nvSpPr>
        <p:spPr>
          <a:xfrm>
            <a:off x="11811927" y="653831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TextBox 365"/>
          <p:cNvSpPr txBox="1"/>
          <p:nvPr/>
        </p:nvSpPr>
        <p:spPr>
          <a:xfrm>
            <a:off x="10188773" y="664368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67" name="Oval 366"/>
          <p:cNvSpPr/>
          <p:nvPr/>
        </p:nvSpPr>
        <p:spPr>
          <a:xfrm>
            <a:off x="11861331" y="6690122"/>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TextBox 367"/>
          <p:cNvSpPr txBox="1"/>
          <p:nvPr/>
        </p:nvSpPr>
        <p:spPr>
          <a:xfrm>
            <a:off x="10188773" y="6795492"/>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69" name="Oval 368"/>
          <p:cNvSpPr/>
          <p:nvPr/>
        </p:nvSpPr>
        <p:spPr>
          <a:xfrm>
            <a:off x="11452509" y="684192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0" name="Connector 369"/>
          <p:cNvCxnSpPr/>
          <p:nvPr/>
        </p:nvCxnSpPr>
        <p:spPr>
          <a:xfrm>
            <a:off x="9286875" y="698301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71" name="TextBox 370"/>
          <p:cNvSpPr txBox="1"/>
          <p:nvPr/>
        </p:nvSpPr>
        <p:spPr>
          <a:xfrm>
            <a:off x="9286875" y="717946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4</a:t>
            </a:r>
          </a:p>
        </p:txBody>
      </p:sp>
      <p:sp>
        <p:nvSpPr>
          <p:cNvPr id="372" name="TextBox 371"/>
          <p:cNvSpPr txBox="1"/>
          <p:nvPr/>
        </p:nvSpPr>
        <p:spPr>
          <a:xfrm>
            <a:off x="10188773" y="704552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73" name="Oval 372"/>
          <p:cNvSpPr/>
          <p:nvPr/>
        </p:nvSpPr>
        <p:spPr>
          <a:xfrm>
            <a:off x="10959957" y="7091958"/>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10188773" y="7197328"/>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75" name="Oval 374"/>
          <p:cNvSpPr/>
          <p:nvPr/>
        </p:nvSpPr>
        <p:spPr>
          <a:xfrm>
            <a:off x="11819958" y="7243762"/>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TextBox 375"/>
          <p:cNvSpPr txBox="1"/>
          <p:nvPr/>
        </p:nvSpPr>
        <p:spPr>
          <a:xfrm>
            <a:off x="10188773" y="734913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77" name="Oval 376"/>
          <p:cNvSpPr/>
          <p:nvPr/>
        </p:nvSpPr>
        <p:spPr>
          <a:xfrm>
            <a:off x="10985817" y="7395567"/>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8" name="Connector 377"/>
          <p:cNvCxnSpPr/>
          <p:nvPr/>
        </p:nvCxnSpPr>
        <p:spPr>
          <a:xfrm>
            <a:off x="9286875" y="7536656"/>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9286875" y="7733109"/>
            <a:ext cx="83046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World 5</a:t>
            </a:r>
          </a:p>
        </p:txBody>
      </p:sp>
      <p:sp>
        <p:nvSpPr>
          <p:cNvPr id="380" name="TextBox 379"/>
          <p:cNvSpPr txBox="1"/>
          <p:nvPr/>
        </p:nvSpPr>
        <p:spPr>
          <a:xfrm>
            <a:off x="10188773" y="7599164"/>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Opaque</a:t>
            </a:r>
          </a:p>
        </p:txBody>
      </p:sp>
      <p:sp>
        <p:nvSpPr>
          <p:cNvPr id="381" name="Oval 380"/>
          <p:cNvSpPr/>
          <p:nvPr/>
        </p:nvSpPr>
        <p:spPr>
          <a:xfrm>
            <a:off x="11477001" y="7645598"/>
            <a:ext cx="67866" cy="67866"/>
          </a:xfrm>
          <a:prstGeom prst="ellipse">
            <a:avLst/>
          </a:prstGeom>
          <a:solidFill>
            <a:srgbClr val="B03E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TextBox 381"/>
          <p:cNvSpPr txBox="1"/>
          <p:nvPr/>
        </p:nvSpPr>
        <p:spPr>
          <a:xfrm>
            <a:off x="10188773" y="7750969"/>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Aligned</a:t>
            </a:r>
          </a:p>
        </p:txBody>
      </p:sp>
      <p:sp>
        <p:nvSpPr>
          <p:cNvPr id="383" name="Oval 382"/>
          <p:cNvSpPr/>
          <p:nvPr/>
        </p:nvSpPr>
        <p:spPr>
          <a:xfrm>
            <a:off x="12098544" y="7797403"/>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TextBox 383"/>
          <p:cNvSpPr txBox="1"/>
          <p:nvPr/>
        </p:nvSpPr>
        <p:spPr>
          <a:xfrm>
            <a:off x="10188773" y="7902773"/>
            <a:ext cx="839391" cy="160734"/>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MisIndexed</a:t>
            </a:r>
          </a:p>
        </p:txBody>
      </p:sp>
      <p:sp>
        <p:nvSpPr>
          <p:cNvPr id="385" name="Oval 384"/>
          <p:cNvSpPr/>
          <p:nvPr/>
        </p:nvSpPr>
        <p:spPr>
          <a:xfrm>
            <a:off x="11994681" y="7949208"/>
            <a:ext cx="67866" cy="67866"/>
          </a:xfrm>
          <a:prstGeom prst="ellipse">
            <a:avLst/>
          </a:prstGeom>
          <a:solidFill>
            <a:srgbClr val="006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6" name="Connector 385"/>
          <p:cNvCxnSpPr/>
          <p:nvPr/>
        </p:nvCxnSpPr>
        <p:spPr>
          <a:xfrm>
            <a:off x="9286875" y="8090297"/>
            <a:ext cx="4259461" cy="0"/>
          </a:xfrm>
          <a:prstGeom prst="line">
            <a:avLst/>
          </a:prstGeom>
          <a:ln w="5804">
            <a:solidFill>
              <a:srgbClr val="B1B8BC"/>
            </a:solidFill>
            <a:prstDash val="dash"/>
          </a:ln>
        </p:spPr>
        <p:style>
          <a:lnRef idx="2">
            <a:schemeClr val="accent1"/>
          </a:lnRef>
          <a:fillRef idx="0">
            <a:schemeClr val="accent1"/>
          </a:fillRef>
          <a:effectRef idx="1">
            <a:schemeClr val="accent1"/>
          </a:effectRef>
          <a:fontRef idx="minor">
            <a:schemeClr val="tx1"/>
          </a:fontRef>
        </p:style>
      </p:cxnSp>
      <p:sp>
        <p:nvSpPr>
          <p:cNvPr id="387" name="TextBox 386"/>
          <p:cNvSpPr txBox="1"/>
          <p:nvPr/>
        </p:nvSpPr>
        <p:spPr>
          <a:xfrm>
            <a:off x="9286875" y="8233172"/>
            <a:ext cx="1000125" cy="196453"/>
          </a:xfrm>
          <a:prstGeom prst="rect">
            <a:avLst/>
          </a:prstGeom>
          <a:noFill/>
        </p:spPr>
        <p:txBody>
          <a:bodyPr wrap="square" lIns="0" rIns="0" tIns="0" bIns="0" anchor="ctr">
            <a:noAutofit/>
          </a:bodyPr>
          <a:lstStyle/>
          <a:p>
            <a:pPr algn="l">
              <a:spcBef>
                <a:spcPts val="0"/>
              </a:spcBef>
              <a:spcAft>
                <a:spcPts val="0"/>
              </a:spcAft>
            </a:pPr>
            <a:r>
              <a:rPr sz="914" b="0" i="0">
                <a:solidFill>
                  <a:srgbClr val="000000"/>
                </a:solidFill>
                <a:latin typeface="Arial"/>
              </a:rPr>
              <a:t>Mean (all 15)</a:t>
            </a:r>
          </a:p>
        </p:txBody>
      </p:sp>
      <p:sp>
        <p:nvSpPr>
          <p:cNvPr id="388" name="Diamond 387"/>
          <p:cNvSpPr/>
          <p:nvPr/>
        </p:nvSpPr>
        <p:spPr>
          <a:xfrm>
            <a:off x="11857647" y="8259961"/>
            <a:ext cx="125016" cy="125016"/>
          </a:xfrm>
          <a:prstGeom prst="diamond">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9" name="Connector 388"/>
          <p:cNvCxnSpPr/>
          <p:nvPr/>
        </p:nvCxnSpPr>
        <p:spPr>
          <a:xfrm>
            <a:off x="10644188" y="8492133"/>
            <a:ext cx="2830710" cy="0"/>
          </a:xfrm>
          <a:prstGeom prst="line">
            <a:avLst/>
          </a:prstGeom>
          <a:ln w="8036">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10670977"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91" name="TextBox 390"/>
          <p:cNvSpPr txBox="1"/>
          <p:nvPr/>
        </p:nvSpPr>
        <p:spPr>
          <a:xfrm>
            <a:off x="1044773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-0.6</a:t>
            </a:r>
          </a:p>
        </p:txBody>
      </p:sp>
      <p:cxnSp>
        <p:nvCxnSpPr>
          <p:cNvPr id="392" name="Connector 391"/>
          <p:cNvCxnSpPr/>
          <p:nvPr/>
        </p:nvCxnSpPr>
        <p:spPr>
          <a:xfrm>
            <a:off x="11318379"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1095137"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cxnSp>
        <p:nvCxnSpPr>
          <p:cNvPr id="394" name="Connector 393"/>
          <p:cNvCxnSpPr/>
          <p:nvPr/>
        </p:nvCxnSpPr>
        <p:spPr>
          <a:xfrm>
            <a:off x="11965781"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95" name="TextBox 394"/>
          <p:cNvSpPr txBox="1"/>
          <p:nvPr/>
        </p:nvSpPr>
        <p:spPr>
          <a:xfrm>
            <a:off x="11742539"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a:t>
            </a:r>
          </a:p>
        </p:txBody>
      </p:sp>
      <p:cxnSp>
        <p:nvCxnSpPr>
          <p:cNvPr id="396" name="Connector 395"/>
          <p:cNvCxnSpPr/>
          <p:nvPr/>
        </p:nvCxnSpPr>
        <p:spPr>
          <a:xfrm>
            <a:off x="12613184"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97" name="TextBox 396"/>
          <p:cNvSpPr txBox="1"/>
          <p:nvPr/>
        </p:nvSpPr>
        <p:spPr>
          <a:xfrm>
            <a:off x="12389941"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0.3</a:t>
            </a:r>
          </a:p>
        </p:txBody>
      </p:sp>
      <p:cxnSp>
        <p:nvCxnSpPr>
          <p:cNvPr id="398" name="Connector 397"/>
          <p:cNvCxnSpPr/>
          <p:nvPr/>
        </p:nvCxnSpPr>
        <p:spPr>
          <a:xfrm>
            <a:off x="13260586" y="8492133"/>
            <a:ext cx="0" cy="62508"/>
          </a:xfrm>
          <a:prstGeom prst="line">
            <a:avLst/>
          </a:prstGeom>
          <a:ln w="6697">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a:off x="13037344" y="8572500"/>
            <a:ext cx="446484" cy="178594"/>
          </a:xfrm>
          <a:prstGeom prst="rect">
            <a:avLst/>
          </a:prstGeom>
          <a:noFill/>
        </p:spPr>
        <p:txBody>
          <a:bodyPr wrap="square" lIns="0" rIns="0" tIns="0" bIns="0" anchor="ctr">
            <a:noAutofit/>
          </a:bodyPr>
          <a:lstStyle/>
          <a:p>
            <a:pPr algn="ctr">
              <a:spcBef>
                <a:spcPts val="0"/>
              </a:spcBef>
              <a:spcAft>
                <a:spcPts val="0"/>
              </a:spcAft>
            </a:pPr>
            <a:r>
              <a:rPr sz="843" b="0" i="0">
                <a:solidFill>
                  <a:srgbClr val="000000"/>
                </a:solidFill>
                <a:latin typeface="Arial"/>
              </a:rPr>
              <a:t>0.6</a:t>
            </a:r>
          </a:p>
        </p:txBody>
      </p:sp>
      <p:sp>
        <p:nvSpPr>
          <p:cNvPr id="400" name="TextBox 399"/>
          <p:cNvSpPr txBox="1"/>
          <p:nvPr/>
        </p:nvSpPr>
        <p:spPr>
          <a:xfrm>
            <a:off x="10599539" y="8804672"/>
            <a:ext cx="3062883" cy="205383"/>
          </a:xfrm>
          <a:prstGeom prst="rect">
            <a:avLst/>
          </a:prstGeom>
          <a:noFill/>
        </p:spPr>
        <p:txBody>
          <a:bodyPr wrap="square" lIns="0" rIns="0" tIns="0" bIns="0" anchor="ctr">
            <a:noAutofit/>
          </a:bodyPr>
          <a:lstStyle/>
          <a:p>
            <a:pPr algn="ctr">
              <a:spcBef>
                <a:spcPts val="0"/>
              </a:spcBef>
              <a:spcAft>
                <a:spcPts val="0"/>
              </a:spcAft>
            </a:pPr>
            <a:r>
              <a:rPr sz="914" b="0" i="0">
                <a:solidFill>
                  <a:srgbClr val="000000"/>
                </a:solidFill>
                <a:latin typeface="Arial"/>
              </a:rPr>
              <a:t>Paired difference in recovery (24 − 12)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S4-reference.png"/>
          <p:cNvPicPr>
            <a:picLocks noChangeAspect="1"/>
          </p:cNvPicPr>
          <p:nvPr/>
        </p:nvPicPr>
        <p:blipFill>
          <a:blip r:embed="rId9"/>
          <a:stretch>
            <a:fillRect/>
          </a:stretch>
        </p:blipFill>
        <p:spPr>
          <a:xfrm>
            <a:off x="0" y="0"/>
            <a:ext cx="13716000" cy="14422548"/>
          </a:xfrm>
          <a:prstGeom prst="rect">
            <a:avLst/>
          </a:prstGeom>
        </p:spPr>
      </p:pic>
      <p:sp>
        <p:nvSpPr>
          <p:cNvPr id="3" name="Rectangle 2"/>
          <p:cNvSpPr/>
          <p:nvPr/>
        </p:nvSpPr>
        <p:spPr>
          <a:xfrm>
            <a:off x="213086" y="2029923"/>
            <a:ext cx="1177580" cy="49346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3086" y="2029923"/>
            <a:ext cx="1177580" cy="493462"/>
          </a:xfrm>
          <a:prstGeom prst="rect">
            <a:avLst/>
          </a:prstGeom>
          <a:noFill/>
        </p:spPr>
        <p:txBody>
          <a:bodyPr wrap="square" lIns="0" rIns="0" tIns="0" bIns="0" anchor="ctr">
            <a:noAutofit/>
          </a:bodyPr>
          <a:lstStyle/>
          <a:p>
            <a:pPr algn="ctr">
              <a:spcBef>
                <a:spcPts val="0"/>
              </a:spcBef>
              <a:spcAft>
                <a:spcPts val="0"/>
              </a:spcAft>
            </a:pPr>
            <a:r>
              <a:rPr sz="1589" b="0" i="0">
                <a:solidFill>
                  <a:srgbClr val="3D424B"/>
                </a:solidFill>
                <a:latin typeface="Arial Narrow"/>
              </a:rPr>
              <a:t>First feasible</a:t>
            </a:r>
          </a:p>
          <a:p>
            <a:pPr algn="ctr">
              <a:spcBef>
                <a:spcPts val="0"/>
              </a:spcBef>
              <a:spcAft>
                <a:spcPts val="0"/>
              </a:spcAft>
            </a:pPr>
            <a:r>
              <a:rPr sz="1589" b="0" i="0">
                <a:solidFill>
                  <a:srgbClr val="3D424B"/>
                </a:solidFill>
                <a:latin typeface="Arial Narrow"/>
              </a:rPr>
              <a:t>batch</a:t>
            </a:r>
          </a:p>
        </p:txBody>
      </p:sp>
      <p:sp>
        <p:nvSpPr>
          <p:cNvPr id="5" name="Rectangle 4"/>
          <p:cNvSpPr/>
          <p:nvPr/>
        </p:nvSpPr>
        <p:spPr>
          <a:xfrm>
            <a:off x="8579509" y="2052353"/>
            <a:ext cx="2231794" cy="4261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79509" y="2052353"/>
            <a:ext cx="2231794" cy="426172"/>
          </a:xfrm>
          <a:prstGeom prst="rect">
            <a:avLst/>
          </a:prstGeom>
          <a:noFill/>
        </p:spPr>
        <p:txBody>
          <a:bodyPr wrap="square" lIns="0" rIns="0" tIns="0" bIns="0" anchor="ctr">
            <a:noAutofit/>
          </a:bodyPr>
          <a:lstStyle/>
          <a:p>
            <a:pPr algn="ctr">
              <a:spcBef>
                <a:spcPts val="0"/>
              </a:spcBef>
              <a:spcAft>
                <a:spcPts val="0"/>
              </a:spcAft>
            </a:pPr>
            <a:r>
              <a:rPr sz="1501" b="0" i="0">
                <a:solidFill>
                  <a:srgbClr val="3D424B"/>
                </a:solidFill>
                <a:latin typeface="Arial Narrow"/>
              </a:rPr>
              <a:t>B1–19 fail the fines limit</a:t>
            </a:r>
          </a:p>
        </p:txBody>
      </p:sp>
      <p:sp>
        <p:nvSpPr>
          <p:cNvPr id="7" name="Rectangle 6"/>
          <p:cNvSpPr/>
          <p:nvPr/>
        </p:nvSpPr>
        <p:spPr>
          <a:xfrm>
            <a:off x="10833733" y="2018708"/>
            <a:ext cx="1300945" cy="50467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33733" y="2018708"/>
            <a:ext cx="1300945" cy="504677"/>
          </a:xfrm>
          <a:prstGeom prst="rect">
            <a:avLst/>
          </a:prstGeom>
          <a:noFill/>
        </p:spPr>
        <p:txBody>
          <a:bodyPr wrap="square" lIns="0" rIns="0" tIns="0" bIns="0" anchor="ctr">
            <a:noAutofit/>
          </a:bodyPr>
          <a:lstStyle/>
          <a:p>
            <a:pPr algn="ctr">
              <a:spcBef>
                <a:spcPts val="0"/>
              </a:spcBef>
              <a:spcAft>
                <a:spcPts val="0"/>
              </a:spcAft>
            </a:pPr>
            <a:r>
              <a:rPr sz="1501" b="0" i="0">
                <a:solidFill>
                  <a:srgbClr val="3D424B"/>
                </a:solidFill>
                <a:latin typeface="Arial Narrow"/>
              </a:rPr>
              <a:t>B20 feasible</a:t>
            </a:r>
          </a:p>
          <a:p>
            <a:pPr algn="ctr">
              <a:spcBef>
                <a:spcPts val="0"/>
              </a:spcBef>
              <a:spcAft>
                <a:spcPts val="0"/>
              </a:spcAft>
            </a:pPr>
            <a:r>
              <a:rPr sz="1501" b="0" i="0">
                <a:solidFill>
                  <a:srgbClr val="3D424B"/>
                </a:solidFill>
                <a:latin typeface="Arial Narrow"/>
              </a:rPr>
              <a:t>B23 selected</a:t>
            </a:r>
          </a:p>
        </p:txBody>
      </p:sp>
      <p:sp>
        <p:nvSpPr>
          <p:cNvPr id="9" name="Rectangle 8"/>
          <p:cNvSpPr/>
          <p:nvPr/>
        </p:nvSpPr>
        <p:spPr>
          <a:xfrm>
            <a:off x="4474803" y="4284147"/>
            <a:ext cx="4934620" cy="53832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4803" y="4284147"/>
            <a:ext cx="4934620" cy="538322"/>
          </a:xfrm>
          <a:prstGeom prst="rect">
            <a:avLst/>
          </a:prstGeom>
          <a:noFill/>
        </p:spPr>
        <p:txBody>
          <a:bodyPr wrap="square" lIns="0" rIns="0" tIns="0" bIns="0" anchor="ctr">
            <a:noAutofit/>
          </a:bodyPr>
          <a:lstStyle/>
          <a:p>
            <a:pPr algn="ctr">
              <a:spcBef>
                <a:spcPts val="0"/>
              </a:spcBef>
              <a:spcAft>
                <a:spcPts val="0"/>
              </a:spcAft>
            </a:pPr>
            <a:r>
              <a:rPr sz="1766" b="0" i="0">
                <a:solidFill>
                  <a:srgbClr val="3D424B"/>
                </a:solidFill>
                <a:latin typeface="Arial Narrow"/>
              </a:rPr>
              <a:t>For this formulation, which option produces</a:t>
            </a:r>
          </a:p>
          <a:p>
            <a:pPr algn="ctr">
              <a:spcBef>
                <a:spcPts val="0"/>
              </a:spcBef>
              <a:spcAft>
                <a:spcPts val="0"/>
              </a:spcAft>
            </a:pPr>
            <a:r>
              <a:rPr sz="1766" b="0" i="0">
                <a:solidFill>
                  <a:srgbClr val="3D424B"/>
                </a:solidFill>
                <a:latin typeface="Arial Narrow"/>
              </a:rPr>
              <a:t>fewer fines?</a:t>
            </a:r>
          </a:p>
        </p:txBody>
      </p:sp>
      <p:sp>
        <p:nvSpPr>
          <p:cNvPr id="11" name="Rectangle 10"/>
          <p:cNvSpPr/>
          <p:nvPr/>
        </p:nvSpPr>
        <p:spPr>
          <a:xfrm>
            <a:off x="5125276" y="5843038"/>
            <a:ext cx="1514031" cy="639258"/>
          </a:xfrm>
          <a:prstGeom prst="rect">
            <a:avLst/>
          </a:prstGeom>
          <a:solidFill>
            <a:srgbClr val="DFE8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114061" y="6437436"/>
            <a:ext cx="1446740" cy="0"/>
          </a:xfrm>
          <a:prstGeom prst="line">
            <a:avLst/>
          </a:prstGeom>
          <a:ln w="11215">
            <a:solidFill>
              <a:srgbClr val="151D2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6475076" y="6389811"/>
            <a:ext cx="85725" cy="47625"/>
          </a:xfrm>
          <a:prstGeom prst="line">
            <a:avLst/>
          </a:prstGeom>
          <a:ln w="11215">
            <a:solidFill>
              <a:srgbClr val="151D2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475076" y="6437436"/>
            <a:ext cx="85725" cy="47625"/>
          </a:xfrm>
          <a:prstGeom prst="line">
            <a:avLst/>
          </a:prstGeom>
          <a:ln w="11215">
            <a:solidFill>
              <a:srgbClr val="151D2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58921" y="6100984"/>
            <a:ext cx="1289730" cy="0"/>
          </a:xfrm>
          <a:prstGeom prst="line">
            <a:avLst/>
          </a:prstGeom>
          <a:ln w="25794">
            <a:solidFill>
              <a:srgbClr val="215E8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315931" y="5786963"/>
            <a:ext cx="1357020" cy="235516"/>
          </a:xfrm>
          <a:prstGeom prst="rect">
            <a:avLst/>
          </a:prstGeom>
          <a:noFill/>
        </p:spPr>
        <p:txBody>
          <a:bodyPr wrap="square" lIns="0" rIns="0" tIns="0" bIns="0" anchor="ctr">
            <a:noAutofit/>
          </a:bodyPr>
          <a:lstStyle/>
          <a:p>
            <a:pPr algn="ctr">
              <a:spcBef>
                <a:spcPts val="0"/>
              </a:spcBef>
              <a:spcAft>
                <a:spcPts val="0"/>
              </a:spcAft>
            </a:pPr>
            <a:r>
              <a:rPr sz="1324" b="0" i="0">
                <a:solidFill>
                  <a:srgbClr val="215E85"/>
                </a:solidFill>
                <a:latin typeface="Arial Narrow"/>
              </a:rPr>
              <a:t>278.15 K · 2 h</a:t>
            </a:r>
          </a:p>
        </p:txBody>
      </p:sp>
      <p:sp>
        <p:nvSpPr>
          <p:cNvPr id="17" name="TextBox 16"/>
          <p:cNvSpPr txBox="1"/>
          <p:nvPr/>
        </p:nvSpPr>
        <p:spPr>
          <a:xfrm>
            <a:off x="7783241" y="5540232"/>
            <a:ext cx="1323375" cy="213086"/>
          </a:xfrm>
          <a:prstGeom prst="rect">
            <a:avLst/>
          </a:prstGeom>
          <a:noFill/>
        </p:spPr>
        <p:txBody>
          <a:bodyPr wrap="square" lIns="0" rIns="0" tIns="0" bIns="0" anchor="ctr">
            <a:noAutofit/>
          </a:bodyPr>
          <a:lstStyle/>
          <a:p>
            <a:pPr algn="ctr">
              <a:spcBef>
                <a:spcPts val="0"/>
              </a:spcBef>
              <a:spcAft>
                <a:spcPts val="0"/>
              </a:spcAft>
            </a:pPr>
            <a:r>
              <a:rPr sz="1236" b="0" i="0">
                <a:solidFill>
                  <a:srgbClr val="B74319"/>
                </a:solidFill>
                <a:latin typeface="Arial Narrow"/>
              </a:rPr>
              <a:t>toward 315 K</a:t>
            </a:r>
          </a:p>
        </p:txBody>
      </p:sp>
      <p:sp>
        <p:nvSpPr>
          <p:cNvPr id="18" name="Rectangle 17"/>
          <p:cNvSpPr/>
          <p:nvPr/>
        </p:nvSpPr>
        <p:spPr>
          <a:xfrm>
            <a:off x="10418777" y="6370146"/>
            <a:ext cx="1401881" cy="20187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18777" y="6370146"/>
            <a:ext cx="1401881" cy="201871"/>
          </a:xfrm>
          <a:prstGeom prst="rect">
            <a:avLst/>
          </a:prstGeom>
          <a:noFill/>
        </p:spPr>
        <p:txBody>
          <a:bodyPr wrap="square" lIns="0" rIns="0" tIns="0" bIns="0" anchor="ctr">
            <a:noAutofit/>
          </a:bodyPr>
          <a:lstStyle/>
          <a:p>
            <a:pPr algn="ctr">
              <a:spcBef>
                <a:spcPts val="0"/>
              </a:spcBef>
              <a:spcAft>
                <a:spcPts val="0"/>
              </a:spcAft>
            </a:pPr>
            <a:r>
              <a:rPr sz="1412" b="1" i="0">
                <a:solidFill>
                  <a:srgbClr val="396F98"/>
                </a:solidFill>
                <a:latin typeface="Arial Narrow"/>
              </a:rPr>
              <a:t>17% → 12%</a:t>
            </a:r>
          </a:p>
        </p:txBody>
      </p:sp>
      <p:sp>
        <p:nvSpPr>
          <p:cNvPr id="20" name="Rectangle 19"/>
          <p:cNvSpPr/>
          <p:nvPr/>
        </p:nvSpPr>
        <p:spPr>
          <a:xfrm>
            <a:off x="12101034" y="6370146"/>
            <a:ext cx="1379451" cy="20187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01034" y="6370146"/>
            <a:ext cx="1379451" cy="201871"/>
          </a:xfrm>
          <a:prstGeom prst="rect">
            <a:avLst/>
          </a:prstGeom>
          <a:noFill/>
        </p:spPr>
        <p:txBody>
          <a:bodyPr wrap="square" lIns="0" rIns="0" tIns="0" bIns="0" anchor="ctr">
            <a:noAutofit/>
          </a:bodyPr>
          <a:lstStyle/>
          <a:p>
            <a:pPr algn="ctr">
              <a:spcBef>
                <a:spcPts val="0"/>
              </a:spcBef>
              <a:spcAft>
                <a:spcPts val="0"/>
              </a:spcAft>
            </a:pPr>
            <a:r>
              <a:rPr sz="1412" b="1" i="0">
                <a:solidFill>
                  <a:srgbClr val="B74319"/>
                </a:solidFill>
                <a:latin typeface="Arial Narrow"/>
              </a:rPr>
              <a:t>49% → 35%</a:t>
            </a:r>
          </a:p>
        </p:txBody>
      </p:sp>
      <p:sp>
        <p:nvSpPr>
          <p:cNvPr id="22" name="Rectangle 21"/>
          <p:cNvSpPr/>
          <p:nvPr/>
        </p:nvSpPr>
        <p:spPr>
          <a:xfrm>
            <a:off x="5125276" y="7861747"/>
            <a:ext cx="3162643" cy="291591"/>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5276" y="7861747"/>
            <a:ext cx="3162643" cy="291591"/>
          </a:xfrm>
          <a:prstGeom prst="rect">
            <a:avLst/>
          </a:prstGeom>
          <a:noFill/>
        </p:spPr>
        <p:txBody>
          <a:bodyPr wrap="square" lIns="0" rIns="0" tIns="0" bIns="0" anchor="ctr">
            <a:noAutofit/>
          </a:bodyPr>
          <a:lstStyle/>
          <a:p>
            <a:pPr algn="ctr">
              <a:spcBef>
                <a:spcPts val="0"/>
              </a:spcBef>
              <a:spcAft>
                <a:spcPts val="0"/>
              </a:spcAft>
            </a:pPr>
            <a:r>
              <a:rPr sz="1677" b="1" i="0">
                <a:solidFill>
                  <a:srgbClr val="101010"/>
                </a:solidFill>
                <a:latin typeface="Arial Narrow"/>
              </a:rPr>
              <a:t>Agent review (K2)</a:t>
            </a:r>
          </a:p>
        </p:txBody>
      </p:sp>
      <p:sp>
        <p:nvSpPr>
          <p:cNvPr id="24" name="Rectangle 23"/>
          <p:cNvSpPr/>
          <p:nvPr/>
        </p:nvSpPr>
        <p:spPr>
          <a:xfrm>
            <a:off x="1592536" y="8680445"/>
            <a:ext cx="3140213" cy="8972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92536" y="8680445"/>
            <a:ext cx="3140213" cy="897204"/>
          </a:xfrm>
          <a:prstGeom prst="rect">
            <a:avLst/>
          </a:prstGeom>
          <a:noFill/>
        </p:spPr>
        <p:txBody>
          <a:bodyPr wrap="square" lIns="0" rIns="0" tIns="0" bIns="0" anchor="ctr">
            <a:noAutofit/>
          </a:bodyPr>
          <a:lstStyle/>
          <a:p>
            <a:pPr algn="l">
              <a:spcBef>
                <a:spcPts val="0"/>
              </a:spcBef>
              <a:spcAft>
                <a:spcPts val="0"/>
              </a:spcAft>
            </a:pPr>
            <a:r>
              <a:rPr sz="1589" b="0" i="0">
                <a:solidFill>
                  <a:srgbClr val="3D424B"/>
                </a:solidFill>
                <a:latin typeface="Arial Narrow"/>
              </a:rPr>
              <a:t>•  B1 first met the fines rule</a:t>
            </a:r>
          </a:p>
          <a:p>
            <a:pPr algn="l">
              <a:spcBef>
                <a:spcPts val="0"/>
              </a:spcBef>
              <a:spcAft>
                <a:spcPts val="0"/>
              </a:spcAft>
            </a:pPr>
            <a:r>
              <a:rPr sz="1589" b="0" i="0">
                <a:solidFill>
                  <a:srgbClr val="3D424B"/>
                </a:solidFill>
                <a:latin typeface="Arial Narrow"/>
              </a:rPr>
              <a:t>•  12 source batches completed</a:t>
            </a:r>
          </a:p>
          <a:p>
            <a:pPr algn="l">
              <a:spcBef>
                <a:spcPts val="0"/>
              </a:spcBef>
              <a:spcAft>
                <a:spcPts val="0"/>
              </a:spcAft>
            </a:pPr>
            <a:r>
              <a:rPr sz="1589" b="0" i="0">
                <a:solidFill>
                  <a:srgbClr val="3D424B"/>
                </a:solidFill>
                <a:latin typeface="Arial Narrow"/>
              </a:rPr>
              <a:t>•  Reheat–recool was untested</a:t>
            </a:r>
          </a:p>
        </p:txBody>
      </p:sp>
      <p:sp>
        <p:nvSpPr>
          <p:cNvPr id="26" name="Rectangle 25"/>
          <p:cNvSpPr/>
          <p:nvPr/>
        </p:nvSpPr>
        <p:spPr>
          <a:xfrm>
            <a:off x="1592536" y="10048680"/>
            <a:ext cx="3140213" cy="125608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92536" y="10048680"/>
            <a:ext cx="3140213" cy="1256085"/>
          </a:xfrm>
          <a:prstGeom prst="rect">
            <a:avLst/>
          </a:prstGeom>
          <a:noFill/>
        </p:spPr>
        <p:txBody>
          <a:bodyPr wrap="square" lIns="0" rIns="0" tIns="0" bIns="0" anchor="ctr">
            <a:noAutofit/>
          </a:bodyPr>
          <a:lstStyle/>
          <a:p>
            <a:pPr algn="l">
              <a:spcBef>
                <a:spcPts val="0"/>
              </a:spcBef>
              <a:spcAft>
                <a:spcPts val="0"/>
              </a:spcAft>
            </a:pPr>
            <a:r>
              <a:rPr sz="1589" b="0" i="0">
                <a:solidFill>
                  <a:srgbClr val="3D424B"/>
                </a:solidFill>
                <a:latin typeface="Arial Narrow"/>
              </a:rPr>
              <a:t>•  B1–19 failed the fines limit</a:t>
            </a:r>
          </a:p>
          <a:p>
            <a:pPr algn="l">
              <a:spcBef>
                <a:spcPts val="0"/>
              </a:spcBef>
              <a:spcAft>
                <a:spcPts val="0"/>
              </a:spcAft>
            </a:pPr>
            <a:r>
              <a:rPr sz="1589" b="0" i="0">
                <a:solidFill>
                  <a:srgbClr val="3D424B"/>
                </a:solidFill>
                <a:latin typeface="Arial Narrow"/>
              </a:rPr>
              <a:t>•  B20 first passed; B23 selected</a:t>
            </a:r>
          </a:p>
          <a:p>
            <a:pPr algn="l">
              <a:spcBef>
                <a:spcPts val="0"/>
              </a:spcBef>
              <a:spcAft>
                <a:spcPts val="0"/>
              </a:spcAft>
            </a:pPr>
            <a:r>
              <a:rPr sz="1589" b="0" i="0">
                <a:solidFill>
                  <a:srgbClr val="3D424B"/>
                </a:solidFill>
                <a:latin typeface="Arial Narrow"/>
              </a:rPr>
              <a:t>•  B8 showed no improvement</a:t>
            </a:r>
          </a:p>
        </p:txBody>
      </p:sp>
      <p:sp>
        <p:nvSpPr>
          <p:cNvPr id="28" name="Rectangle 27"/>
          <p:cNvSpPr/>
          <p:nvPr/>
        </p:nvSpPr>
        <p:spPr>
          <a:xfrm>
            <a:off x="6392576" y="8680445"/>
            <a:ext cx="2041138" cy="97570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2576" y="8680445"/>
            <a:ext cx="2041138" cy="975709"/>
          </a:xfrm>
          <a:prstGeom prst="rect">
            <a:avLst/>
          </a:prstGeom>
          <a:noFill/>
        </p:spPr>
        <p:txBody>
          <a:bodyPr wrap="square" lIns="0" rIns="0" tIns="0" bIns="0" anchor="ctr">
            <a:noAutofit/>
          </a:bodyPr>
          <a:lstStyle/>
          <a:p>
            <a:pPr algn="l">
              <a:spcBef>
                <a:spcPts val="0"/>
              </a:spcBef>
              <a:spcAft>
                <a:spcPts val="0"/>
              </a:spcAft>
            </a:pPr>
            <a:r>
              <a:rPr sz="1589" b="0" i="0">
                <a:solidFill>
                  <a:srgbClr val="3D424B"/>
                </a:solidFill>
                <a:latin typeface="Arial Narrow"/>
              </a:rPr>
              <a:t>Thermal cycling</a:t>
            </a:r>
          </a:p>
          <a:p>
            <a:pPr algn="l">
              <a:spcBef>
                <a:spcPts val="0"/>
              </a:spcBef>
              <a:spcAft>
                <a:spcPts val="0"/>
              </a:spcAft>
            </a:pPr>
            <a:r>
              <a:rPr sz="1589" b="0" i="0">
                <a:solidFill>
                  <a:srgbClr val="3D424B"/>
                </a:solidFill>
                <a:latin typeface="Arial Narrow"/>
              </a:rPr>
              <a:t>was untested; seed</a:t>
            </a:r>
          </a:p>
          <a:p>
            <a:pPr algn="l">
              <a:spcBef>
                <a:spcPts val="0"/>
              </a:spcBef>
              <a:spcAft>
                <a:spcPts val="0"/>
              </a:spcAft>
            </a:pPr>
            <a:r>
              <a:rPr sz="1589" b="0" i="0">
                <a:solidFill>
                  <a:srgbClr val="3D424B"/>
                </a:solidFill>
                <a:latin typeface="Arial Narrow"/>
              </a:rPr>
              <a:t>survival had been</a:t>
            </a:r>
          </a:p>
          <a:p>
            <a:pPr algn="l">
              <a:spcBef>
                <a:spcPts val="0"/>
              </a:spcBef>
              <a:spcAft>
                <a:spcPts val="0"/>
              </a:spcAft>
            </a:pPr>
            <a:r>
              <a:rPr sz="1589" b="0" i="0">
                <a:solidFill>
                  <a:srgbClr val="3D424B"/>
                </a:solidFill>
                <a:latin typeface="Arial Narrow"/>
              </a:rPr>
              <a:t>assumed.</a:t>
            </a:r>
          </a:p>
        </p:txBody>
      </p:sp>
      <p:sp>
        <p:nvSpPr>
          <p:cNvPr id="30" name="Rectangle 29"/>
          <p:cNvSpPr/>
          <p:nvPr/>
        </p:nvSpPr>
        <p:spPr>
          <a:xfrm>
            <a:off x="6392576" y="10104756"/>
            <a:ext cx="2041138" cy="125608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92576" y="10104756"/>
            <a:ext cx="2041138" cy="1256085"/>
          </a:xfrm>
          <a:prstGeom prst="rect">
            <a:avLst/>
          </a:prstGeom>
          <a:noFill/>
        </p:spPr>
        <p:txBody>
          <a:bodyPr wrap="square" lIns="0" rIns="0" tIns="0" bIns="0" anchor="ctr">
            <a:noAutofit/>
          </a:bodyPr>
          <a:lstStyle/>
          <a:p>
            <a:pPr algn="l">
              <a:spcBef>
                <a:spcPts val="0"/>
              </a:spcBef>
              <a:spcAft>
                <a:spcPts val="0"/>
              </a:spcAft>
            </a:pPr>
            <a:r>
              <a:rPr sz="1589" b="0" i="0">
                <a:solidFill>
                  <a:srgbClr val="3D424B"/>
                </a:solidFill>
                <a:latin typeface="Arial Narrow"/>
              </a:rPr>
              <a:t>B8 negative evidence</a:t>
            </a:r>
          </a:p>
          <a:p>
            <a:pPr algn="l">
              <a:spcBef>
                <a:spcPts val="0"/>
              </a:spcBef>
              <a:spcAft>
                <a:spcPts val="0"/>
              </a:spcAft>
            </a:pPr>
            <a:r>
              <a:rPr sz="1589" b="0" i="0">
                <a:solidFill>
                  <a:srgbClr val="3D424B"/>
                </a:solidFill>
                <a:latin typeface="Arial Narrow"/>
              </a:rPr>
              <a:t>was underused; even</a:t>
            </a:r>
          </a:p>
          <a:p>
            <a:pPr algn="l">
              <a:spcBef>
                <a:spcPts val="0"/>
              </a:spcBef>
              <a:spcAft>
                <a:spcPts val="0"/>
              </a:spcAft>
            </a:pPr>
            <a:r>
              <a:rPr sz="1589" b="0" i="0">
                <a:solidFill>
                  <a:srgbClr val="3D424B"/>
                </a:solidFill>
                <a:latin typeface="Arial Narrow"/>
              </a:rPr>
              <a:t>the predicted direction</a:t>
            </a:r>
          </a:p>
          <a:p>
            <a:pPr algn="l">
              <a:spcBef>
                <a:spcPts val="0"/>
              </a:spcBef>
              <a:spcAft>
                <a:spcPts val="0"/>
              </a:spcAft>
            </a:pPr>
            <a:r>
              <a:rPr sz="1589" b="0" i="0">
                <a:solidFill>
                  <a:srgbClr val="3D424B"/>
                </a:solidFill>
                <a:latin typeface="Arial Narrow"/>
              </a:rPr>
              <a:t>is uncertain.</a:t>
            </a:r>
          </a:p>
        </p:txBody>
      </p:sp>
      <p:sp>
        <p:nvSpPr>
          <p:cNvPr id="32" name="Rectangle 31"/>
          <p:cNvSpPr/>
          <p:nvPr/>
        </p:nvSpPr>
        <p:spPr>
          <a:xfrm>
            <a:off x="8837455" y="10250551"/>
            <a:ext cx="2915912" cy="25794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37455" y="10250551"/>
            <a:ext cx="2915912" cy="257946"/>
          </a:xfrm>
          <a:prstGeom prst="rect">
            <a:avLst/>
          </a:prstGeom>
          <a:noFill/>
        </p:spPr>
        <p:txBody>
          <a:bodyPr wrap="square" lIns="0" rIns="0" tIns="0" bIns="0" anchor="ctr">
            <a:noAutofit/>
          </a:bodyPr>
          <a:lstStyle/>
          <a:p>
            <a:pPr algn="ctr">
              <a:spcBef>
                <a:spcPts val="0"/>
              </a:spcBef>
              <a:spcAft>
                <a:spcPts val="0"/>
              </a:spcAft>
            </a:pPr>
            <a:r>
              <a:rPr sz="1412" b="0" i="0">
                <a:solidFill>
                  <a:srgbClr val="3D424B"/>
                </a:solidFill>
                <a:latin typeface="Arial Narrow"/>
              </a:rPr>
              <a:t>(B23: staged → direct cooling)</a:t>
            </a:r>
          </a:p>
        </p:txBody>
      </p:sp>
      <p:sp>
        <p:nvSpPr>
          <p:cNvPr id="34" name="Rectangle 33"/>
          <p:cNvSpPr/>
          <p:nvPr/>
        </p:nvSpPr>
        <p:spPr>
          <a:xfrm>
            <a:off x="3958911" y="12841226"/>
            <a:ext cx="6280425" cy="63925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58911" y="12841226"/>
            <a:ext cx="6280425" cy="639258"/>
          </a:xfrm>
          <a:prstGeom prst="rect">
            <a:avLst/>
          </a:prstGeom>
          <a:noFill/>
        </p:spPr>
        <p:txBody>
          <a:bodyPr wrap="square" lIns="0" rIns="0" tIns="0" bIns="0" anchor="ctr">
            <a:noAutofit/>
          </a:bodyPr>
          <a:lstStyle/>
          <a:p>
            <a:pPr algn="l">
              <a:spcBef>
                <a:spcPts val="0"/>
              </a:spcBef>
              <a:spcAft>
                <a:spcPts val="0"/>
              </a:spcAft>
            </a:pPr>
            <a:r>
              <a:rPr sz="1589" b="0" i="0">
                <a:solidFill>
                  <a:srgbClr val="3D424B"/>
                </a:solidFill>
                <a:latin typeface="Arial Narrow"/>
              </a:rPr>
              <a:t>Independent evaluation of H vs R, using the same formulation.</a:t>
            </a:r>
          </a:p>
          <a:p>
            <a:pPr algn="l">
              <a:spcBef>
                <a:spcPts val="0"/>
              </a:spcBef>
              <a:spcAft>
                <a:spcPts val="0"/>
              </a:spcAft>
            </a:pPr>
            <a:r>
              <a:rPr sz="1589" b="0" i="0">
                <a:solidFill>
                  <a:srgbClr val="3D424B"/>
                </a:solidFill>
                <a:latin typeface="Arial Narrow"/>
              </a:rPr>
              <a:t>Unavailable during the agents’ Q forecasts and K2 reviews.</a:t>
            </a:r>
          </a:p>
        </p:txBody>
      </p:sp>
      <p:sp>
        <p:nvSpPr>
          <p:cNvPr id="36" name="Rectangle 35"/>
          <p:cNvSpPr/>
          <p:nvPr/>
        </p:nvSpPr>
        <p:spPr>
          <a:xfrm>
            <a:off x="10474852" y="12762721"/>
            <a:ext cx="1558891" cy="269161"/>
          </a:xfrm>
          <a:prstGeom prst="rect">
            <a:avLst/>
          </a:prstGeom>
          <a:solidFill>
            <a:srgbClr val="FAF2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74852" y="12762721"/>
            <a:ext cx="1558891" cy="269161"/>
          </a:xfrm>
          <a:prstGeom prst="rect">
            <a:avLst/>
          </a:prstGeom>
          <a:noFill/>
        </p:spPr>
        <p:txBody>
          <a:bodyPr wrap="square" lIns="0" rIns="0" tIns="0" bIns="0" anchor="ctr">
            <a:noAutofit/>
          </a:bodyPr>
          <a:lstStyle/>
          <a:p>
            <a:pPr algn="ctr">
              <a:spcBef>
                <a:spcPts val="0"/>
              </a:spcBef>
              <a:spcAft>
                <a:spcPts val="0"/>
              </a:spcAft>
            </a:pPr>
            <a:r>
              <a:rPr sz="1501" b="1" i="1">
                <a:solidFill>
                  <a:srgbClr val="101010"/>
                </a:solidFill>
                <a:latin typeface="Arial Narrow"/>
              </a:rPr>
              <a:t>Fines reference</a:t>
            </a:r>
          </a:p>
        </p:txBody>
      </p:sp>
      <p:sp>
        <p:nvSpPr>
          <p:cNvPr id="38" name="Rectangle 37"/>
          <p:cNvSpPr/>
          <p:nvPr/>
        </p:nvSpPr>
        <p:spPr>
          <a:xfrm>
            <a:off x="10474852" y="13031882"/>
            <a:ext cx="1558891" cy="246731"/>
          </a:xfrm>
          <a:prstGeom prst="rect">
            <a:avLst/>
          </a:prstGeom>
          <a:solidFill>
            <a:srgbClr val="FAF2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74852" y="13031882"/>
            <a:ext cx="1558891" cy="246731"/>
          </a:xfrm>
          <a:prstGeom prst="rect">
            <a:avLst/>
          </a:prstGeom>
          <a:noFill/>
        </p:spPr>
        <p:txBody>
          <a:bodyPr wrap="square" lIns="0" rIns="0" tIns="0" bIns="0" anchor="ctr">
            <a:noAutofit/>
          </a:bodyPr>
          <a:lstStyle/>
          <a:p>
            <a:pPr algn="ctr">
              <a:spcBef>
                <a:spcPts val="0"/>
              </a:spcBef>
              <a:spcAft>
                <a:spcPts val="0"/>
              </a:spcAft>
            </a:pPr>
            <a:r>
              <a:rPr sz="1501" b="0" i="0">
                <a:solidFill>
                  <a:srgbClr val="101010"/>
                </a:solidFill>
                <a:latin typeface="Arial Narrow"/>
              </a:rPr>
              <a:t>(revealed here)</a:t>
            </a:r>
          </a:p>
        </p:txBody>
      </p:sp>
      <p:sp>
        <p:nvSpPr>
          <p:cNvPr id="40" name="Rectangle 39"/>
          <p:cNvSpPr/>
          <p:nvPr/>
        </p:nvSpPr>
        <p:spPr>
          <a:xfrm>
            <a:off x="12089818" y="12650571"/>
            <a:ext cx="1278515" cy="695333"/>
          </a:xfrm>
          <a:prstGeom prst="rect">
            <a:avLst/>
          </a:prstGeom>
          <a:solidFill>
            <a:srgbClr val="FAF2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2291689" y="13165902"/>
            <a:ext cx="213086" cy="168786"/>
          </a:xfrm>
          <a:prstGeom prst="rect">
            <a:avLst/>
          </a:prstGeom>
          <a:solidFill>
            <a:srgbClr val="427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807581" y="12852442"/>
            <a:ext cx="213086" cy="482247"/>
          </a:xfrm>
          <a:prstGeom prst="rect">
            <a:avLst/>
          </a:prstGeom>
          <a:solidFill>
            <a:srgbClr val="BF4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201969" y="12964031"/>
            <a:ext cx="414957" cy="179441"/>
          </a:xfrm>
          <a:prstGeom prst="rect">
            <a:avLst/>
          </a:prstGeom>
          <a:noFill/>
        </p:spPr>
        <p:txBody>
          <a:bodyPr wrap="square" lIns="0" rIns="0" tIns="0" bIns="0" anchor="ctr">
            <a:noAutofit/>
          </a:bodyPr>
          <a:lstStyle/>
          <a:p>
            <a:pPr algn="ctr">
              <a:spcBef>
                <a:spcPts val="0"/>
              </a:spcBef>
              <a:spcAft>
                <a:spcPts val="0"/>
              </a:spcAft>
            </a:pPr>
            <a:r>
              <a:rPr sz="1059" b="0" i="0">
                <a:solidFill>
                  <a:srgbClr val="101010"/>
                </a:solidFill>
                <a:latin typeface="Arial Narrow"/>
              </a:rPr>
              <a:t>35%</a:t>
            </a:r>
          </a:p>
        </p:txBody>
      </p:sp>
      <p:sp>
        <p:nvSpPr>
          <p:cNvPr id="44" name="TextBox 43"/>
          <p:cNvSpPr txBox="1"/>
          <p:nvPr/>
        </p:nvSpPr>
        <p:spPr>
          <a:xfrm>
            <a:off x="12706646" y="12650571"/>
            <a:ext cx="471032" cy="179441"/>
          </a:xfrm>
          <a:prstGeom prst="rect">
            <a:avLst/>
          </a:prstGeom>
          <a:noFill/>
        </p:spPr>
        <p:txBody>
          <a:bodyPr wrap="square" lIns="0" rIns="0" tIns="0" bIns="0" anchor="ctr">
            <a:noAutofit/>
          </a:bodyPr>
          <a:lstStyle/>
          <a:p>
            <a:pPr algn="ctr">
              <a:spcBef>
                <a:spcPts val="0"/>
              </a:spcBef>
              <a:spcAft>
                <a:spcPts val="0"/>
              </a:spcAft>
            </a:pPr>
            <a:r>
              <a:rPr sz="1059" b="0" i="0">
                <a:solidFill>
                  <a:srgbClr val="101010"/>
                </a:solidFill>
                <a:latin typeface="Arial Narrow"/>
              </a:rPr>
              <a:t>100%</a:t>
            </a:r>
          </a:p>
        </p:txBody>
      </p:sp>
      <p:cxnSp>
        <p:nvCxnSpPr>
          <p:cNvPr id="45" name="Connector 44"/>
          <p:cNvCxnSpPr/>
          <p:nvPr/>
        </p:nvCxnSpPr>
        <p:spPr>
          <a:xfrm>
            <a:off x="12112249" y="13334688"/>
            <a:ext cx="1054214" cy="0"/>
          </a:xfrm>
          <a:prstGeom prst="line">
            <a:avLst/>
          </a:prstGeom>
          <a:ln w="12336">
            <a:solidFill>
              <a:srgbClr val="263744"/>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11809442" y="13951516"/>
            <a:ext cx="1805622" cy="40374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矩形 18"/>
          <p:cNvSpPr>
            <a:spLocks noGrp="1"/>
          </p:cNvSpPr>
          <p:nvPr/>
        </p:nvSpPr>
        <p:spPr>
          <a:xfrm>
            <a:off x="238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52400"/>
            <a:ext cx="151638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Purification</a:t>
            </a:r>
            <a:endParaRPr sz="1500" b="0">
              <a:solidFill>
                <a:srgbClr val="24292D"/>
              </a:solidFill>
              <a:latin typeface="Arial" panose="020B0604020202020204"/>
              <a:ea typeface="Arial" panose="020B0604020202020204"/>
              <a:cs typeface="Arial" panose="020B0604020202020204"/>
            </a:endParaRPr>
          </a:p>
        </p:txBody>
      </p:sp>
      <p:graphicFrame>
        <p:nvGraphicFramePr>
          <p:cNvPr id="21" name="Chart"/>
          <p:cNvGraphicFramePr/>
          <p:nvPr/>
        </p:nvGraphicFramePr>
        <p:xfrm>
          <a:off x="285750" y="762000"/>
          <a:ext cx="4143375" cy="40481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476250" y="5067300"/>
            <a:ext cx="4000500"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Eligible: 0/5, 3/5, 0/5 (O, A, M)</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4810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5191125" y="152400"/>
            <a:ext cx="12954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Size index</a:t>
            </a:r>
            <a:endParaRPr sz="1500" b="0">
              <a:solidFill>
                <a:srgbClr val="24292D"/>
              </a:solidFill>
              <a:latin typeface="Arial" panose="020B0604020202020204"/>
              <a:ea typeface="Arial" panose="020B0604020202020204"/>
              <a:cs typeface="Arial" panose="020B0604020202020204"/>
            </a:endParaRPr>
          </a:p>
        </p:txBody>
      </p:sp>
      <p:graphicFrame>
        <p:nvGraphicFramePr>
          <p:cNvPr id="25" name="Chart"/>
          <p:cNvGraphicFramePr/>
          <p:nvPr/>
        </p:nvGraphicFramePr>
        <p:xfrm>
          <a:off x="4810125" y="762000"/>
          <a:ext cx="4238625" cy="4048125"/>
        </p:xfrm>
        <a:graphic>
          <a:graphicData uri="http://schemas.openxmlformats.org/drawingml/2006/chart">
            <c:chart xmlns:c="http://schemas.openxmlformats.org/drawingml/2006/chart" xmlns:r="http://schemas.openxmlformats.org/officeDocument/2006/relationships" r:id="rId2"/>
          </a:graphicData>
        </a:graphic>
      </p:graphicFrame>
      <p:sp>
        <p:nvSpPr>
          <p:cNvPr id="8" name="矩形 7"/>
          <p:cNvSpPr>
            <a:spLocks noGrp="1"/>
          </p:cNvSpPr>
          <p:nvPr/>
        </p:nvSpPr>
        <p:spPr>
          <a:xfrm>
            <a:off x="5429250" y="5067300"/>
            <a:ext cx="3762375"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4/30 lower agent error</a:t>
            </a:r>
            <a:endParaRPr sz="1350" b="0">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91916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9572625" y="152400"/>
            <a:ext cx="74295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Fines</a:t>
            </a:r>
            <a:endParaRPr sz="1500" b="0">
              <a:solidFill>
                <a:srgbClr val="24292D"/>
              </a:solidFill>
              <a:latin typeface="Arial" panose="020B0604020202020204"/>
              <a:ea typeface="Arial" panose="020B0604020202020204"/>
              <a:cs typeface="Arial" panose="020B0604020202020204"/>
            </a:endParaRPr>
          </a:p>
        </p:txBody>
      </p:sp>
      <p:graphicFrame>
        <p:nvGraphicFramePr>
          <p:cNvPr id="29" name="Chart"/>
          <p:cNvGraphicFramePr/>
          <p:nvPr/>
        </p:nvGraphicFramePr>
        <p:xfrm>
          <a:off x="9191625" y="762000"/>
          <a:ext cx="4238625" cy="4048125"/>
        </p:xfrm>
        <a:graphic>
          <a:graphicData uri="http://schemas.openxmlformats.org/drawingml/2006/chart">
            <c:chart xmlns:c="http://schemas.openxmlformats.org/drawingml/2006/chart" xmlns:r="http://schemas.openxmlformats.org/officeDocument/2006/relationships" r:id="rId3"/>
          </a:graphicData>
        </a:graphic>
      </p:graphicFrame>
      <p:sp>
        <p:nvSpPr>
          <p:cNvPr id="12" name="矩形 11"/>
          <p:cNvSpPr>
            <a:spLocks noGrp="1"/>
          </p:cNvSpPr>
          <p:nvPr/>
        </p:nvSpPr>
        <p:spPr>
          <a:xfrm>
            <a:off x="9810750" y="5067300"/>
            <a:ext cx="3714750"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21/30 lower agent error</a:t>
            </a:r>
            <a:endParaRPr sz="1350" b="0">
              <a:solidFill>
                <a:srgbClr val="24292D"/>
              </a:solidFill>
              <a:latin typeface="Arial" panose="020B0604020202020204"/>
              <a:ea typeface="Arial" panose="020B0604020202020204"/>
              <a:cs typeface="Arial" panose="020B0604020202020204"/>
            </a:endParaRPr>
          </a:p>
        </p:txBody>
      </p:sp>
      <p:sp>
        <p:nvSpPr>
          <p:cNvPr id="13" name="椭圆 12"/>
          <p:cNvSpPr>
            <a:spLocks noGrp="1"/>
          </p:cNvSpPr>
          <p:nvPr/>
        </p:nvSpPr>
        <p:spPr>
          <a:xfrm>
            <a:off x="4200525" y="5962650"/>
            <a:ext cx="114300" cy="114300"/>
          </a:xfrm>
          <a:prstGeom prst="ellipse">
            <a:avLst/>
          </a:prstGeom>
          <a:solidFill>
            <a:srgbClr val="637482"/>
          </a:solidFill>
          <a:ln w="9525">
            <a:solidFill>
              <a:srgbClr val="637482"/>
            </a:solidFill>
          </a:ln>
        </p:spPr>
      </p:sp>
      <p:sp>
        <p:nvSpPr>
          <p:cNvPr id="14" name="矩形 13"/>
          <p:cNvSpPr>
            <a:spLocks noGrp="1"/>
          </p:cNvSpPr>
          <p:nvPr/>
        </p:nvSpPr>
        <p:spPr>
          <a:xfrm>
            <a:off x="4429125" y="58674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5" name="椭圆 14"/>
          <p:cNvSpPr>
            <a:spLocks noGrp="1"/>
          </p:cNvSpPr>
          <p:nvPr/>
        </p:nvSpPr>
        <p:spPr>
          <a:xfrm>
            <a:off x="5267325" y="5962650"/>
            <a:ext cx="114300" cy="114300"/>
          </a:xfrm>
          <a:prstGeom prst="ellipse">
            <a:avLst/>
          </a:prstGeom>
          <a:solidFill>
            <a:srgbClr val="277F8A"/>
          </a:solidFill>
          <a:ln w="9525">
            <a:solidFill>
              <a:srgbClr val="277F8A"/>
            </a:solidFill>
          </a:ln>
        </p:spPr>
      </p:sp>
      <p:sp>
        <p:nvSpPr>
          <p:cNvPr id="16" name="矩形 15"/>
          <p:cNvSpPr>
            <a:spLocks noGrp="1"/>
          </p:cNvSpPr>
          <p:nvPr/>
        </p:nvSpPr>
        <p:spPr>
          <a:xfrm>
            <a:off x="5495925" y="58674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7" name="椭圆 16"/>
          <p:cNvSpPr>
            <a:spLocks noGrp="1"/>
          </p:cNvSpPr>
          <p:nvPr/>
        </p:nvSpPr>
        <p:spPr>
          <a:xfrm>
            <a:off x="6448425" y="5962650"/>
            <a:ext cx="114300" cy="114300"/>
          </a:xfrm>
          <a:prstGeom prst="ellipse">
            <a:avLst/>
          </a:prstGeom>
          <a:solidFill>
            <a:srgbClr val="BC7850"/>
          </a:solidFill>
          <a:ln w="9525">
            <a:solidFill>
              <a:srgbClr val="BC7850"/>
            </a:solidFill>
          </a:ln>
        </p:spPr>
      </p:sp>
      <p:sp>
        <p:nvSpPr>
          <p:cNvPr id="18" name="矩形 17"/>
          <p:cNvSpPr>
            <a:spLocks noGrp="1"/>
          </p:cNvSpPr>
          <p:nvPr/>
        </p:nvSpPr>
        <p:spPr>
          <a:xfrm>
            <a:off x="6677025" y="58674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8053</Words>
  <Application>WPS 演示</Application>
  <PresentationFormat>Converted Presentation</PresentationFormat>
  <Paragraphs>1052</Paragraphs>
  <Slides>11</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11</vt:i4>
      </vt:variant>
    </vt:vector>
  </HeadingPairs>
  <TitlesOfParts>
    <vt:vector size="16" baseType="lpstr">
      <vt:lpstr>Arial</vt:lpstr>
      <vt:lpstr>宋体</vt:lpstr>
      <vt:lpstr>Wingdings</vt:lpstr>
      <vt:lpstr>Arial</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邱江杰(2025311052)</cp:lastModifiedBy>
  <cp:revision>1</cp:revision>
  <dcterms:created xsi:type="dcterms:W3CDTF">2026-09-25T02:16:03Z</dcterms:created>
  <dcterms:modified xsi:type="dcterms:W3CDTF">2026-09-25T02:16:03Z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2052-12.1.0.28022</vt:lpwstr>
  </property>
</Properties>
</file>