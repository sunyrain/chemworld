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70" r:id="rId10"/>
  </p:sldIdLst>
  <p:sldSz cx="13716000" cy="11430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 panose="02020603050405020304"/>
        <a:ea typeface="Times New Roman" panose="02020603050405020304"/>
        <a:cs typeface="Times New Roman" panose="020206030504050203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1. Controlled experimental worlds. Source: FIgure1_2.pptx.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2. Complete twelve-batch research session. Source: output/pptx/chemworld-figure2-typography.pptx.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Goals, research paths and predictions. Source: D:\Projects\ChemWorld\paper\figures\venue-results\figure03-goals-paths-forecasts.svg.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4. Six outcomes under larger research envelopes. Source: output/pptx/chemworld-figures-final.pptx.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Equilibrium evidence and regime reversal. Source: D:\Projects\ChemWorld\paper\figures\venue-results\figure05-eq-coverage-reversal.svg.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Crystallization prediction and calibration. Source: D:\Projects\ChemWorld\paper\figures\venue-results\figure06-crystal-generalization.svg.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S4. Sealed predictions and subsequent reflection. Source: output/pptx/chemworld-figures-final.pptx.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4572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9144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3716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18288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2860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6pPr>
      <a:lvl7pPr marL="27432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7pPr>
      <a:lvl8pPr marL="32004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8pPr>
      <a:lvl9pPr marL="3657600" algn="l">
        <a:buNone/>
        <a:defRPr sz="18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4" Type="http://schemas.openxmlformats.org/officeDocument/2006/relationships/notesSlide" Target="../notesSlides/notesSlide1.xml"/><Relationship Id="rId53" Type="http://schemas.openxmlformats.org/officeDocument/2006/relationships/slideLayout" Target="../slideLayouts/slideLayout1.xml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2" name="矩形 181"/>
          <p:cNvSpPr>
            <a:spLocks noGrp="1"/>
          </p:cNvSpPr>
          <p:nvPr/>
        </p:nvSpPr>
        <p:spPr>
          <a:xfrm>
            <a:off x="495935" y="990600"/>
            <a:ext cx="26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2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 i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93115" y="1197610"/>
            <a:ext cx="3833495" cy="1160780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788535" y="1197610"/>
            <a:ext cx="4121150" cy="1160780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071610" y="1197610"/>
            <a:ext cx="4103370" cy="1160780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66775" y="1224915"/>
            <a:ext cx="2159635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Static benchmarks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41" name="图片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820" y="1539875"/>
            <a:ext cx="486410" cy="621030"/>
          </a:xfrm>
          <a:prstGeom prst="rect">
            <a:avLst/>
          </a:prstGeom>
        </p:spPr>
      </p:pic>
      <p:pic>
        <p:nvPicPr>
          <p:cNvPr id="242" name="图片 1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20" y="1518920"/>
            <a:ext cx="647700" cy="689610"/>
          </a:xfrm>
          <a:prstGeom prst="rect">
            <a:avLst/>
          </a:prstGeom>
        </p:spPr>
      </p:pic>
      <p:sp>
        <p:nvSpPr>
          <p:cNvPr id="8" name="右箭头 7"/>
          <p:cNvSpPr>
            <a:spLocks noGrp="1"/>
          </p:cNvSpPr>
          <p:nvPr/>
        </p:nvSpPr>
        <p:spPr>
          <a:xfrm>
            <a:off x="2187575" y="1800225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27735" y="2160270"/>
            <a:ext cx="1304925" cy="20701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Fixed dataset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90570" y="1584325"/>
            <a:ext cx="1668780" cy="4591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No persistent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experimental state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46320" y="1224915"/>
            <a:ext cx="2159635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Real laboratories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48" name="图片 196"/>
          <p:cNvPicPr>
            <a:picLocks noChangeAspect="1"/>
          </p:cNvPicPr>
          <p:nvPr/>
        </p:nvPicPr>
        <p:blipFill>
          <a:blip r:embed="rId3"/>
          <a:srcRect l="11619"/>
          <a:stretch>
            <a:fillRect/>
          </a:stretch>
        </p:blipFill>
        <p:spPr>
          <a:xfrm>
            <a:off x="6850380" y="1477010"/>
            <a:ext cx="556895" cy="61023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466330" y="1628775"/>
            <a:ext cx="1370965" cy="4406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Hidden laws and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unmatched worlds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74480" y="1224915"/>
            <a:ext cx="323977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Single-endpoint evaluation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366500" y="1598930"/>
            <a:ext cx="1800860" cy="4946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Task success ≠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scientific generalization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95935" y="2502535"/>
            <a:ext cx="26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2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 i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3115" y="2585720"/>
            <a:ext cx="12382500" cy="3104515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6625" y="2565400"/>
            <a:ext cx="2110105" cy="51308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2600" b="1" i="1">
                <a:solidFill>
                  <a:srgbClr val="FF5A1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800" b="1" i="1">
                <a:solidFill>
                  <a:srgbClr val="FF5A1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Chem</a:t>
            </a:r>
            <a:r>
              <a:rPr sz="2800">
                <a:solidFill>
                  <a:srgbClr val="173F7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World</a:t>
            </a:r>
            <a:endParaRPr sz="2800" b="1" i="1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728470" y="2691130"/>
            <a:ext cx="1124585" cy="38671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2600" b="1" i="1">
                <a:solidFill>
                  <a:srgbClr val="173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2600" b="1" i="1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9165" y="2994025"/>
            <a:ext cx="268224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 programmable chemical world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 autonomous scientific discovery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57" name="图片 2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15" y="3498215"/>
            <a:ext cx="593725" cy="593725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1584960" y="3588385"/>
            <a:ext cx="1151890" cy="414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Controllable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hidden laws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59" name="图片 2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60" y="4137025"/>
            <a:ext cx="560705" cy="51308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1584960" y="4218305"/>
            <a:ext cx="1204595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Virtual instruments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and resources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261" name="图片 2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185" y="4758055"/>
            <a:ext cx="541020" cy="62103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1584960" y="4884420"/>
            <a:ext cx="1124585" cy="414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Persistent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physical state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2682875" y="3498215"/>
            <a:ext cx="53975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2736850" y="3498215"/>
            <a:ext cx="0" cy="1835785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2682875" y="5334000"/>
            <a:ext cx="53975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397885" y="2826385"/>
            <a:ext cx="6069965" cy="40195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 </a:t>
            </a:r>
            <a:r>
              <a:rPr lang="en-US"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</a:t>
            </a: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epresentative </a:t>
            </a:r>
            <a:r>
              <a:rPr lang="en-US"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utonomous </a:t>
            </a:r>
            <a:r>
              <a:rPr lang="en-US"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ampaign in ChemWorld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1" name="梯形 70"/>
          <p:cNvSpPr>
            <a:spLocks noGrp="1"/>
          </p:cNvSpPr>
          <p:nvPr/>
        </p:nvSpPr>
        <p:spPr>
          <a:xfrm>
            <a:off x="2907665" y="4824095"/>
            <a:ext cx="6767195" cy="775335"/>
          </a:xfrm>
          <a:prstGeom prst="trapezoid">
            <a:avLst/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697730" y="5417820"/>
            <a:ext cx="1350010" cy="25654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r">
              <a:buNone/>
              <a:defRPr sz="12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Persistent state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147435" y="5426710"/>
            <a:ext cx="3346450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0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334155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(updated after every experiment)</a:t>
            </a:r>
            <a:endParaRPr sz="1400" b="0" i="0">
              <a:solidFill>
                <a:srgbClr val="334155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01" name="图片 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565" y="4779645"/>
            <a:ext cx="755650" cy="578485"/>
          </a:xfrm>
          <a:prstGeom prst="rect">
            <a:avLst/>
          </a:prstGeom>
        </p:spPr>
      </p:pic>
      <p:sp>
        <p:nvSpPr>
          <p:cNvPr id="75" name="矩形 74"/>
          <p:cNvSpPr>
            <a:spLocks noGrp="1"/>
          </p:cNvSpPr>
          <p:nvPr/>
        </p:nvSpPr>
        <p:spPr>
          <a:xfrm>
            <a:off x="3833495" y="4955540"/>
            <a:ext cx="1045210" cy="2349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Composition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5400040" y="4984750"/>
            <a:ext cx="494665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Phase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664325" y="4860925"/>
            <a:ext cx="1080135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Thermal 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history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630285" y="4865370"/>
            <a:ext cx="882015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Remaining 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material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881870" y="2691130"/>
            <a:ext cx="3176270" cy="1232535"/>
          </a:xfrm>
          <a:prstGeom prst="roundRect">
            <a:avLst>
              <a:gd name="adj" fmla="val 4380"/>
            </a:avLst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935845" y="275463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400" b="0" i="0">
                <a:solidFill>
                  <a:srgbClr val="114AE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Operational validation</a:t>
            </a:r>
            <a:endParaRPr sz="1400" b="1" i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11" name="图片 2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9525" y="2961640"/>
            <a:ext cx="638810" cy="638810"/>
          </a:xfrm>
          <a:prstGeom prst="rect">
            <a:avLst/>
          </a:prstGeom>
        </p:spPr>
      </p:pic>
      <p:pic>
        <p:nvPicPr>
          <p:cNvPr id="313" name="图片 2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9345" y="2943225"/>
            <a:ext cx="481965" cy="629920"/>
          </a:xfrm>
          <a:prstGeom prst="rect">
            <a:avLst/>
          </a:prstGeom>
        </p:spPr>
      </p:pic>
      <p:pic>
        <p:nvPicPr>
          <p:cNvPr id="315" name="图片 2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54230" y="2916555"/>
            <a:ext cx="654685" cy="683895"/>
          </a:xfrm>
          <a:prstGeom prst="rect">
            <a:avLst/>
          </a:prstGeom>
        </p:spPr>
      </p:pic>
      <p:sp>
        <p:nvSpPr>
          <p:cNvPr id="89" name="矩形 88"/>
          <p:cNvSpPr>
            <a:spLocks noGrp="1"/>
          </p:cNvSpPr>
          <p:nvPr/>
        </p:nvSpPr>
        <p:spPr>
          <a:xfrm>
            <a:off x="9894570" y="3627120"/>
            <a:ext cx="1234440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Sealed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recommendation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061700" y="3627120"/>
            <a:ext cx="919480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Independent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2118975" y="3627120"/>
            <a:ext cx="986155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Operational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achievement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9881870" y="4041140"/>
            <a:ext cx="3176270" cy="1379855"/>
          </a:xfrm>
          <a:prstGeom prst="roundRect">
            <a:avLst>
              <a:gd name="adj" fmla="val 3636"/>
            </a:avLst>
          </a:prstGeom>
          <a:solidFill>
            <a:srgbClr val="FFFCF7"/>
          </a:solidFill>
          <a:ln w="11430">
            <a:noFill/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9935845" y="4095115"/>
            <a:ext cx="3232150" cy="26098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4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Scientific understanding and prediction</a:t>
            </a:r>
            <a:endParaRPr sz="14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21" name="图片 2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8870" y="4329430"/>
            <a:ext cx="501015" cy="593725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10484485" y="4500245"/>
            <a:ext cx="21590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800" b="1" i="0">
                <a:solidFill>
                  <a:srgbClr val="173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3F7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</a:t>
            </a:r>
            <a:endParaRPr sz="1800" b="1" i="0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23" name="图片 2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9740" y="4358005"/>
            <a:ext cx="602615" cy="527050"/>
          </a:xfrm>
          <a:prstGeom prst="rect">
            <a:avLst/>
          </a:prstGeom>
        </p:spPr>
      </p:pic>
      <p:sp>
        <p:nvSpPr>
          <p:cNvPr id="97" name="矩形 96"/>
          <p:cNvSpPr>
            <a:spLocks noGrp="1"/>
          </p:cNvSpPr>
          <p:nvPr/>
        </p:nvSpPr>
        <p:spPr>
          <a:xfrm>
            <a:off x="11168380" y="4500245"/>
            <a:ext cx="21590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800" b="1" i="0">
                <a:solidFill>
                  <a:srgbClr val="173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3F7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</a:t>
            </a:r>
            <a:endParaRPr sz="1800" b="1" i="0">
              <a:solidFill>
                <a:srgbClr val="173F7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25" name="图片 2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6810" y="4319905"/>
            <a:ext cx="568960" cy="602615"/>
          </a:xfrm>
          <a:prstGeom prst="rect">
            <a:avLst/>
          </a:prstGeom>
        </p:spPr>
      </p:pic>
      <p:pic>
        <p:nvPicPr>
          <p:cNvPr id="327" name="图片 2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96420" y="4342130"/>
            <a:ext cx="989965" cy="567690"/>
          </a:xfrm>
          <a:prstGeom prst="rect">
            <a:avLst/>
          </a:prstGeom>
        </p:spPr>
      </p:pic>
      <p:sp>
        <p:nvSpPr>
          <p:cNvPr id="101" name="矩形 100"/>
          <p:cNvSpPr>
            <a:spLocks noGrp="1"/>
          </p:cNvSpPr>
          <p:nvPr/>
        </p:nvSpPr>
        <p:spPr>
          <a:xfrm>
            <a:off x="9917430" y="4959350"/>
            <a:ext cx="770255" cy="575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Scientific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account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(K1)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0610215" y="4959350"/>
            <a:ext cx="672465" cy="575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Unseen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conditions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(Q)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1276330" y="4959350"/>
            <a:ext cx="672465" cy="57594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Evidence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review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(K2)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1970385" y="4959350"/>
            <a:ext cx="1043940" cy="4406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/>
          <a:lstStyle/>
          <a:p>
            <a:pPr algn="ctr">
              <a:buNone/>
              <a:defRPr sz="8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   Uncertainty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9593580" y="4095115"/>
            <a:ext cx="107950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9701530" y="3294380"/>
            <a:ext cx="0" cy="1619885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793115" y="5859145"/>
            <a:ext cx="3941445" cy="123253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4878070" y="5859145"/>
            <a:ext cx="3941445" cy="123253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8963660" y="5859145"/>
            <a:ext cx="4211320" cy="123253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866775" y="587121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6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Controllability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40" name="图片 2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710" y="6066155"/>
            <a:ext cx="720090" cy="737870"/>
          </a:xfrm>
          <a:prstGeom prst="rect">
            <a:avLst/>
          </a:prstGeom>
        </p:spPr>
      </p:pic>
      <p:sp>
        <p:nvSpPr>
          <p:cNvPr id="114" name="矩形 113"/>
          <p:cNvSpPr>
            <a:spLocks noGrp="1"/>
          </p:cNvSpPr>
          <p:nvPr/>
        </p:nvSpPr>
        <p:spPr>
          <a:xfrm>
            <a:off x="1602740" y="6285865"/>
            <a:ext cx="1124585" cy="4051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Hidden laws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(physical world)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754630" y="6083935"/>
            <a:ext cx="0" cy="711200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pic>
        <p:nvPicPr>
          <p:cNvPr id="343" name="图片 29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1300" y="6122670"/>
            <a:ext cx="607695" cy="678815"/>
          </a:xfrm>
          <a:prstGeom prst="rect">
            <a:avLst/>
          </a:prstGeom>
        </p:spPr>
      </p:pic>
      <p:sp>
        <p:nvSpPr>
          <p:cNvPr id="117" name="矩形 116"/>
          <p:cNvSpPr>
            <a:spLocks noGrp="1"/>
          </p:cNvSpPr>
          <p:nvPr/>
        </p:nvSpPr>
        <p:spPr>
          <a:xfrm>
            <a:off x="3447415" y="6259195"/>
            <a:ext cx="1232535" cy="4051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Public information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(agent view)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680085" y="6849110"/>
            <a:ext cx="4166235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</a:t>
            </a:r>
            <a:r>
              <a:rPr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anipulate</a:t>
            </a:r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p</a:t>
            </a: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hysics and information independently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4941570" y="587121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6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Traceability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48" name="图片 30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45450" y="6123305"/>
            <a:ext cx="725170" cy="639445"/>
          </a:xfrm>
          <a:prstGeom prst="rect">
            <a:avLst/>
          </a:prstGeom>
        </p:spPr>
      </p:pic>
      <p:sp>
        <p:nvSpPr>
          <p:cNvPr id="122" name="矩形 121"/>
          <p:cNvSpPr>
            <a:spLocks noGrp="1"/>
          </p:cNvSpPr>
          <p:nvPr/>
        </p:nvSpPr>
        <p:spPr>
          <a:xfrm>
            <a:off x="4863465" y="6854190"/>
            <a:ext cx="3956050" cy="2374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Full research histories can be replayed and audited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9034780" y="5871210"/>
            <a:ext cx="224980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6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Separability</a:t>
            </a:r>
            <a:endParaRPr sz="16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51" name="图片 30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3720" y="6015990"/>
            <a:ext cx="506730" cy="666750"/>
          </a:xfrm>
          <a:prstGeom prst="rect">
            <a:avLst/>
          </a:prstGeom>
        </p:spPr>
      </p:pic>
      <p:pic>
        <p:nvPicPr>
          <p:cNvPr id="352" name="图片 30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33075" y="5970905"/>
            <a:ext cx="629920" cy="717550"/>
          </a:xfrm>
          <a:prstGeom prst="rect">
            <a:avLst/>
          </a:prstGeom>
        </p:spPr>
      </p:pic>
      <p:pic>
        <p:nvPicPr>
          <p:cNvPr id="353" name="图片 30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34495" y="6015990"/>
            <a:ext cx="944880" cy="628650"/>
          </a:xfrm>
          <a:prstGeom prst="rect">
            <a:avLst/>
          </a:prstGeom>
        </p:spPr>
      </p:pic>
      <p:sp>
        <p:nvSpPr>
          <p:cNvPr id="127" name="直接连接符 126"/>
          <p:cNvSpPr>
            <a:spLocks noGrp="1"/>
          </p:cNvSpPr>
          <p:nvPr/>
        </p:nvSpPr>
        <p:spPr>
          <a:xfrm>
            <a:off x="10331450" y="6075045"/>
            <a:ext cx="0" cy="67500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11609070" y="6075045"/>
            <a:ext cx="0" cy="67500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9197975" y="6558915"/>
            <a:ext cx="989965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(what was done)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10439400" y="6561455"/>
            <a:ext cx="1007745" cy="3778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(what will happen)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11735435" y="6561455"/>
            <a:ext cx="1124585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Uncertainty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(how certain)</a:t>
            </a:r>
            <a:endParaRPr sz="10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8918575" y="6890385"/>
            <a:ext cx="418655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Operation, prediction and uncertainty are evaluated separately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495935" y="7253605"/>
            <a:ext cx="26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20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 i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793115" y="7280910"/>
            <a:ext cx="6101080" cy="2294890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7056120" y="7280910"/>
            <a:ext cx="6118860" cy="2294890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927735" y="7352665"/>
            <a:ext cx="2519680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Controlled study design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890270" y="7730490"/>
            <a:ext cx="116967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2096135" y="7730490"/>
            <a:ext cx="116967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3265805" y="7730490"/>
            <a:ext cx="1304925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Mismatched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5004435" y="7658735"/>
            <a:ext cx="1313815" cy="1981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Research envelope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68" name="图片 3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5220" y="8245475"/>
            <a:ext cx="702945" cy="683895"/>
          </a:xfrm>
          <a:prstGeom prst="rect">
            <a:avLst/>
          </a:prstGeom>
        </p:spPr>
      </p:pic>
      <p:pic>
        <p:nvPicPr>
          <p:cNvPr id="369" name="图片 3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22830" y="8260715"/>
            <a:ext cx="755650" cy="653415"/>
          </a:xfrm>
          <a:prstGeom prst="rect">
            <a:avLst/>
          </a:prstGeom>
        </p:spPr>
      </p:pic>
      <p:pic>
        <p:nvPicPr>
          <p:cNvPr id="370" name="图片 3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10280" y="8251190"/>
            <a:ext cx="755650" cy="672465"/>
          </a:xfrm>
          <a:prstGeom prst="rect">
            <a:avLst/>
          </a:prstGeom>
        </p:spPr>
      </p:pic>
      <p:sp>
        <p:nvSpPr>
          <p:cNvPr id="150" name="直接连接符 149"/>
          <p:cNvSpPr>
            <a:spLocks noGrp="1"/>
          </p:cNvSpPr>
          <p:nvPr/>
        </p:nvSpPr>
        <p:spPr>
          <a:xfrm>
            <a:off x="1139825" y="9119870"/>
            <a:ext cx="0" cy="9017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1" name="直接连接符 150"/>
          <p:cNvSpPr>
            <a:spLocks noGrp="1"/>
          </p:cNvSpPr>
          <p:nvPr/>
        </p:nvSpPr>
        <p:spPr>
          <a:xfrm>
            <a:off x="1139825" y="9210040"/>
            <a:ext cx="3059430" cy="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2" name="直接连接符 151"/>
          <p:cNvSpPr>
            <a:spLocks noGrp="1"/>
          </p:cNvSpPr>
          <p:nvPr/>
        </p:nvSpPr>
        <p:spPr>
          <a:xfrm>
            <a:off x="4199255" y="9119870"/>
            <a:ext cx="0" cy="9017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3" name="矩形 152"/>
          <p:cNvSpPr>
            <a:spLocks noGrp="1"/>
          </p:cNvSpPr>
          <p:nvPr/>
        </p:nvSpPr>
        <p:spPr>
          <a:xfrm>
            <a:off x="1395730" y="9280525"/>
            <a:ext cx="2519680" cy="2260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Same world, different information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4635500" y="7604760"/>
            <a:ext cx="0" cy="1898650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pic>
        <p:nvPicPr>
          <p:cNvPr id="382" name="图片 3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80585" y="8108950"/>
            <a:ext cx="882015" cy="710565"/>
          </a:xfrm>
          <a:prstGeom prst="rect">
            <a:avLst/>
          </a:prstGeom>
        </p:spPr>
      </p:pic>
      <p:pic>
        <p:nvPicPr>
          <p:cNvPr id="383" name="图片 33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5305" y="7865745"/>
            <a:ext cx="1153160" cy="1016635"/>
          </a:xfrm>
          <a:prstGeom prst="rect">
            <a:avLst/>
          </a:prstGeom>
        </p:spPr>
      </p:pic>
      <p:sp>
        <p:nvSpPr>
          <p:cNvPr id="157" name="矩形 156"/>
          <p:cNvSpPr>
            <a:spLocks noGrp="1"/>
          </p:cNvSpPr>
          <p:nvPr/>
        </p:nvSpPr>
        <p:spPr>
          <a:xfrm>
            <a:off x="4841875" y="8873490"/>
            <a:ext cx="62992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batches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5993765" y="8873490"/>
            <a:ext cx="629920" cy="4394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batches</a:t>
            </a:r>
            <a:endParaRPr sz="14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7209155" y="7352665"/>
            <a:ext cx="1710055" cy="28702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800" b="1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Study scope</a:t>
            </a:r>
            <a:endParaRPr sz="1800" b="1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9034145" y="7361555"/>
            <a:ext cx="3970020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r">
              <a:buNone/>
              <a:defRPr sz="100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240</a:t>
            </a:r>
            <a:r>
              <a:rPr sz="120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autonomous campaigns  </a:t>
            </a:r>
            <a:r>
              <a:rPr lang="en-US" sz="120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&amp;</a:t>
            </a:r>
            <a:r>
              <a:rPr sz="120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</a:t>
            </a:r>
            <a:r>
              <a:rPr sz="1200" b="1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</a:t>
            </a:r>
            <a:r>
              <a:rPr sz="120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chemical system families</a:t>
            </a:r>
            <a:endParaRPr sz="120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8383270" y="7715885"/>
            <a:ext cx="0" cy="175450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>
            <a:off x="9598025" y="7715885"/>
            <a:ext cx="0" cy="175450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7294245" y="8525510"/>
            <a:ext cx="3545205" cy="0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pic>
        <p:nvPicPr>
          <p:cNvPr id="392" name="图片 34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19975" y="7691120"/>
            <a:ext cx="755650" cy="562610"/>
          </a:xfrm>
          <a:prstGeom prst="rect">
            <a:avLst/>
          </a:prstGeom>
        </p:spPr>
      </p:pic>
      <p:pic>
        <p:nvPicPr>
          <p:cNvPr id="393" name="图片 34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72220" y="7664450"/>
            <a:ext cx="356870" cy="638810"/>
          </a:xfrm>
          <a:prstGeom prst="rect">
            <a:avLst/>
          </a:prstGeom>
        </p:spPr>
      </p:pic>
      <p:pic>
        <p:nvPicPr>
          <p:cNvPr id="394" name="图片 34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67595" y="7625715"/>
            <a:ext cx="547370" cy="711200"/>
          </a:xfrm>
          <a:prstGeom prst="rect">
            <a:avLst/>
          </a:prstGeom>
        </p:spPr>
      </p:pic>
      <p:sp>
        <p:nvSpPr>
          <p:cNvPr id="168" name="矩形 167"/>
          <p:cNvSpPr>
            <a:spLocks noGrp="1"/>
          </p:cNvSpPr>
          <p:nvPr/>
        </p:nvSpPr>
        <p:spPr>
          <a:xfrm>
            <a:off x="7210425" y="8255635"/>
            <a:ext cx="1193800" cy="2159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8599170" y="8255635"/>
            <a:ext cx="908685" cy="24320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Partitioning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0" name="矩形 169"/>
          <p:cNvSpPr>
            <a:spLocks noGrp="1"/>
          </p:cNvSpPr>
          <p:nvPr/>
        </p:nvSpPr>
        <p:spPr>
          <a:xfrm>
            <a:off x="9678670" y="8255635"/>
            <a:ext cx="1097915" cy="378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Reaction / thermal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98" name="图片 35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74890" y="8517890"/>
            <a:ext cx="863600" cy="708025"/>
          </a:xfrm>
          <a:prstGeom prst="rect">
            <a:avLst/>
          </a:prstGeom>
        </p:spPr>
      </p:pic>
      <p:pic>
        <p:nvPicPr>
          <p:cNvPr id="399" name="图片 35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94090" y="8516620"/>
            <a:ext cx="859155" cy="706755"/>
          </a:xfrm>
          <a:prstGeom prst="rect">
            <a:avLst/>
          </a:prstGeom>
        </p:spPr>
      </p:pic>
      <p:pic>
        <p:nvPicPr>
          <p:cNvPr id="400" name="图片 353"/>
          <p:cNvPicPr>
            <a:picLocks noChangeAspect="1"/>
          </p:cNvPicPr>
          <p:nvPr/>
        </p:nvPicPr>
        <p:blipFill>
          <a:blip r:embed="rId31"/>
          <a:srcRect t="25000" r="46341" b="21739"/>
          <a:stretch>
            <a:fillRect/>
          </a:stretch>
        </p:blipFill>
        <p:spPr>
          <a:xfrm>
            <a:off x="10101580" y="8605520"/>
            <a:ext cx="291465" cy="648970"/>
          </a:xfrm>
          <a:prstGeom prst="rect">
            <a:avLst/>
          </a:prstGeom>
        </p:spPr>
      </p:pic>
      <p:sp>
        <p:nvSpPr>
          <p:cNvPr id="174" name="矩形 173"/>
          <p:cNvSpPr>
            <a:spLocks noGrp="1"/>
          </p:cNvSpPr>
          <p:nvPr/>
        </p:nvSpPr>
        <p:spPr>
          <a:xfrm>
            <a:off x="7374890" y="9254490"/>
            <a:ext cx="863600" cy="2247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Equilibrium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8517890" y="9254490"/>
            <a:ext cx="1080135" cy="2247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9850755" y="9278620"/>
            <a:ext cx="899795" cy="22479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11182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Purification</a:t>
            </a:r>
            <a:endParaRPr sz="1200" b="0" i="0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0965815" y="7661910"/>
            <a:ext cx="0" cy="185356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79" name="矩形 178"/>
          <p:cNvSpPr>
            <a:spLocks noGrp="1"/>
          </p:cNvSpPr>
          <p:nvPr/>
        </p:nvSpPr>
        <p:spPr>
          <a:xfrm>
            <a:off x="11411585" y="7658735"/>
            <a:ext cx="1286510" cy="40513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00" b="0" i="0">
                <a:solidFill>
                  <a:srgbClr val="47556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475569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Does the learned</a:t>
            </a:r>
            <a:endParaRPr sz="1000" b="0" i="0">
              <a:solidFill>
                <a:srgbClr val="475569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buNone/>
              <a:defRPr sz="1000" b="0" i="0">
                <a:solidFill>
                  <a:srgbClr val="47556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475569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relationship still apply?</a:t>
            </a:r>
            <a:endParaRPr sz="1000" b="0" i="0">
              <a:solidFill>
                <a:srgbClr val="475569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407" name="图片 36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285220" y="8044180"/>
            <a:ext cx="1557020" cy="884555"/>
          </a:xfrm>
          <a:prstGeom prst="rect">
            <a:avLst/>
          </a:prstGeom>
        </p:spPr>
      </p:pic>
      <p:pic>
        <p:nvPicPr>
          <p:cNvPr id="408" name="图片 36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23295" y="8961755"/>
            <a:ext cx="1844675" cy="436245"/>
          </a:xfrm>
          <a:prstGeom prst="rect">
            <a:avLst/>
          </a:prstGeom>
        </p:spPr>
      </p:pic>
      <p:pic>
        <p:nvPicPr>
          <p:cNvPr id="409" name="图片 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941570" y="1543685"/>
            <a:ext cx="658495" cy="774065"/>
          </a:xfrm>
          <a:prstGeom prst="rect">
            <a:avLst/>
          </a:prstGeom>
        </p:spPr>
      </p:pic>
      <p:pic>
        <p:nvPicPr>
          <p:cNvPr id="410" name="图片 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94960" y="1476375"/>
            <a:ext cx="707390" cy="841375"/>
          </a:xfrm>
          <a:prstGeom prst="rect">
            <a:avLst/>
          </a:prstGeom>
        </p:spPr>
      </p:pic>
      <p:pic>
        <p:nvPicPr>
          <p:cNvPr id="411" name="图片 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306560" y="1456055"/>
            <a:ext cx="737870" cy="902970"/>
          </a:xfrm>
          <a:prstGeom prst="rect">
            <a:avLst/>
          </a:prstGeom>
        </p:spPr>
      </p:pic>
      <p:sp>
        <p:nvSpPr>
          <p:cNvPr id="13" name="文本框 12"/>
          <p:cNvSpPr>
            <a:spLocks noGrp="1"/>
          </p:cNvSpPr>
          <p:nvPr/>
        </p:nvSpPr>
        <p:spPr>
          <a:xfrm>
            <a:off x="9351010" y="1626235"/>
            <a:ext cx="639445" cy="2870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</a:t>
            </a:r>
            <a:endParaRPr sz="1200" b="1">
              <a:solidFill>
                <a:srgbClr val="11182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10123170" y="182372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pic>
        <p:nvPicPr>
          <p:cNvPr id="414" name="图片 1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510790" y="1391920"/>
            <a:ext cx="775335" cy="903605"/>
          </a:xfrm>
          <a:prstGeom prst="rect">
            <a:avLst/>
          </a:prstGeom>
        </p:spPr>
      </p:pic>
      <p:pic>
        <p:nvPicPr>
          <p:cNvPr id="415" name="图片 2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74325" y="1454785"/>
            <a:ext cx="775335" cy="903605"/>
          </a:xfrm>
          <a:prstGeom prst="rect">
            <a:avLst/>
          </a:prstGeom>
        </p:spPr>
      </p:pic>
      <p:pic>
        <p:nvPicPr>
          <p:cNvPr id="6" name="图片 32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19825" y="1584325"/>
            <a:ext cx="674370" cy="7112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 rot="0">
            <a:off x="2830195" y="3465195"/>
            <a:ext cx="6844373" cy="1352131"/>
            <a:chOff x="4185" y="4200"/>
            <a:chExt cx="11409" cy="2254"/>
          </a:xfrm>
        </p:grpSpPr>
        <p:pic>
          <p:nvPicPr>
            <p:cNvPr id="268" name="图片 219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336" y="4645"/>
              <a:ext cx="928" cy="1020"/>
            </a:xfrm>
            <a:prstGeom prst="rect">
              <a:avLst/>
            </a:prstGeom>
          </p:spPr>
        </p:pic>
        <p:pic>
          <p:nvPicPr>
            <p:cNvPr id="269" name="图片 220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752" y="4508"/>
              <a:ext cx="1080" cy="1190"/>
            </a:xfrm>
            <a:prstGeom prst="rect">
              <a:avLst/>
            </a:prstGeom>
          </p:spPr>
        </p:pic>
        <p:pic>
          <p:nvPicPr>
            <p:cNvPr id="271" name="图片 222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9639" y="4200"/>
              <a:ext cx="1057" cy="1560"/>
            </a:xfrm>
            <a:prstGeom prst="rect">
              <a:avLst/>
            </a:prstGeom>
          </p:spPr>
        </p:pic>
        <p:pic>
          <p:nvPicPr>
            <p:cNvPr id="272" name="图片 2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1229" y="4543"/>
              <a:ext cx="1380" cy="1131"/>
            </a:xfrm>
            <a:prstGeom prst="rect">
              <a:avLst/>
            </a:prstGeom>
          </p:spPr>
        </p:pic>
        <p:pic>
          <p:nvPicPr>
            <p:cNvPr id="273" name="图片 224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3050" y="4653"/>
              <a:ext cx="900" cy="920"/>
            </a:xfrm>
            <a:prstGeom prst="rect">
              <a:avLst/>
            </a:prstGeom>
          </p:spPr>
        </p:pic>
        <p:pic>
          <p:nvPicPr>
            <p:cNvPr id="274" name="图片 225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4409" y="4645"/>
              <a:ext cx="884" cy="1005"/>
            </a:xfrm>
            <a:prstGeom prst="rect">
              <a:avLst/>
            </a:prstGeom>
          </p:spPr>
        </p:pic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4185" y="5665"/>
              <a:ext cx="1230" cy="6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Scientific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question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3" name="矩形 52"/>
            <p:cNvSpPr>
              <a:spLocks noGrp="1"/>
            </p:cNvSpPr>
            <p:nvPr/>
          </p:nvSpPr>
          <p:spPr>
            <a:xfrm>
              <a:off x="5707" y="5764"/>
              <a:ext cx="1125" cy="3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Agent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4" name="矩形 53"/>
            <p:cNvSpPr>
              <a:spLocks noGrp="1"/>
            </p:cNvSpPr>
            <p:nvPr/>
          </p:nvSpPr>
          <p:spPr>
            <a:xfrm>
              <a:off x="7155" y="5764"/>
              <a:ext cx="2175" cy="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Choose conditions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6" name="矩形 55"/>
            <p:cNvSpPr>
              <a:spLocks noGrp="1"/>
            </p:cNvSpPr>
            <p:nvPr/>
          </p:nvSpPr>
          <p:spPr>
            <a:xfrm>
              <a:off x="9265" y="5765"/>
              <a:ext cx="1965" cy="689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Reaction /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thermal process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7" name="矩形 56"/>
            <p:cNvSpPr>
              <a:spLocks noGrp="1"/>
            </p:cNvSpPr>
            <p:nvPr/>
          </p:nvSpPr>
          <p:spPr>
            <a:xfrm>
              <a:off x="11145" y="5764"/>
              <a:ext cx="1545" cy="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Measurement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59" name="矩形 58"/>
            <p:cNvSpPr>
              <a:spLocks noGrp="1"/>
            </p:cNvSpPr>
            <p:nvPr/>
          </p:nvSpPr>
          <p:spPr>
            <a:xfrm>
              <a:off x="12878" y="5775"/>
              <a:ext cx="1289" cy="349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Adaptation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sp>
          <p:nvSpPr>
            <p:cNvPr id="60" name="矩形 59"/>
            <p:cNvSpPr>
              <a:spLocks noGrp="1"/>
            </p:cNvSpPr>
            <p:nvPr/>
          </p:nvSpPr>
          <p:spPr>
            <a:xfrm>
              <a:off x="14050" y="5760"/>
              <a:ext cx="1544" cy="6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Autofit/>
            </a:bodyPr>
            <a:lstStyle/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Evidence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0" i="0">
                  <a:solidFill>
                    <a:srgbClr val="111827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accumulation</a:t>
              </a: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  <a:p>
              <a:pPr algn="ctr">
                <a:buNone/>
                <a:defRPr sz="1000" b="0" i="0">
                  <a:solidFill>
                    <a:srgbClr val="11182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endParaRPr sz="1200" b="0" i="0">
                <a:solidFill>
                  <a:srgbClr val="11182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endParaRPr>
            </a:p>
          </p:txBody>
        </p:sp>
        <p:cxnSp>
          <p:nvCxnSpPr>
            <p:cNvPr id="7" name="曲线连接符 6"/>
            <p:cNvCxnSpPr>
              <a:stCxn id="274" idx="0"/>
              <a:endCxn id="269" idx="0"/>
            </p:cNvCxnSpPr>
            <p:nvPr/>
          </p:nvCxnSpPr>
          <p:spPr>
            <a:xfrm rot="16200000" flipV="1">
              <a:off x="10503" y="297"/>
              <a:ext cx="137" cy="8559"/>
            </a:xfrm>
            <a:prstGeom prst="curvedConnector3">
              <a:avLst>
                <a:gd name="adj1" fmla="val 373723"/>
              </a:avLst>
            </a:prstGeom>
            <a:ln w="254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" name="右箭头 13"/>
          <p:cNvSpPr>
            <a:spLocks noGrp="1"/>
          </p:cNvSpPr>
          <p:nvPr/>
        </p:nvSpPr>
        <p:spPr>
          <a:xfrm>
            <a:off x="3500120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4418330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5876925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6736080" y="404114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8" name="右箭头 27"/>
          <p:cNvSpPr>
            <a:spLocks noGrp="1"/>
          </p:cNvSpPr>
          <p:nvPr/>
        </p:nvSpPr>
        <p:spPr>
          <a:xfrm>
            <a:off x="7853680" y="401447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30" name="右箭头 29"/>
          <p:cNvSpPr>
            <a:spLocks noGrp="1"/>
          </p:cNvSpPr>
          <p:nvPr/>
        </p:nvSpPr>
        <p:spPr>
          <a:xfrm>
            <a:off x="8711565" y="401447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2727325" y="4191000"/>
            <a:ext cx="53975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cxnSp>
        <p:nvCxnSpPr>
          <p:cNvPr id="41" name="直接箭头连接符 40"/>
          <p:cNvCxnSpPr/>
          <p:nvPr/>
        </p:nvCxnSpPr>
        <p:spPr>
          <a:xfrm>
            <a:off x="9701530" y="3294380"/>
            <a:ext cx="194310" cy="0"/>
          </a:xfrm>
          <a:prstGeom prst="straightConnector1">
            <a:avLst/>
          </a:prstGeom>
          <a:noFill/>
          <a:ln w="11430">
            <a:solidFill>
              <a:srgbClr val="173F72"/>
            </a:solidFill>
            <a:prstDash val="solid"/>
            <a:tailEnd type="triangle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9701530" y="4909820"/>
            <a:ext cx="194310" cy="0"/>
          </a:xfrm>
          <a:prstGeom prst="straightConnector1">
            <a:avLst/>
          </a:prstGeom>
          <a:noFill/>
          <a:ln w="11430">
            <a:solidFill>
              <a:srgbClr val="173F72"/>
            </a:solidFill>
            <a:prstDash val="solid"/>
            <a:tailEnd type="triangle"/>
          </a:ln>
        </p:spPr>
      </p:cxnSp>
      <p:cxnSp>
        <p:nvCxnSpPr>
          <p:cNvPr id="43" name="直接箭头连接符 42"/>
          <p:cNvCxnSpPr/>
          <p:nvPr/>
        </p:nvCxnSpPr>
        <p:spPr>
          <a:xfrm>
            <a:off x="1455420" y="8943975"/>
            <a:ext cx="0" cy="16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2709545" y="8943975"/>
            <a:ext cx="0" cy="16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879215" y="8943975"/>
            <a:ext cx="0" cy="16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682875" y="9210040"/>
            <a:ext cx="0" cy="70485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cxnSp>
      <p:sp>
        <p:nvSpPr>
          <p:cNvPr id="74" name="右箭头 73"/>
          <p:cNvSpPr>
            <a:spLocks noGrp="1"/>
          </p:cNvSpPr>
          <p:nvPr/>
        </p:nvSpPr>
        <p:spPr>
          <a:xfrm>
            <a:off x="10808335" y="319151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76" name="右箭头 75"/>
          <p:cNvSpPr>
            <a:spLocks noGrp="1"/>
          </p:cNvSpPr>
          <p:nvPr/>
        </p:nvSpPr>
        <p:spPr>
          <a:xfrm>
            <a:off x="11824335" y="3191510"/>
            <a:ext cx="269875" cy="15303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cxnSp>
        <p:nvCxnSpPr>
          <p:cNvPr id="80" name="直接箭头连接符 79"/>
          <p:cNvCxnSpPr/>
          <p:nvPr/>
        </p:nvCxnSpPr>
        <p:spPr>
          <a:xfrm>
            <a:off x="10411460" y="8898890"/>
            <a:ext cx="19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238115" y="3148330"/>
            <a:ext cx="2388870" cy="34988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en-US" altLang="zh-CN" sz="1400" i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Evidence-guided iteration</a:t>
            </a:r>
            <a:endParaRPr lang="en-US" altLang="zh-CN" sz="1400" i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1" name="图片 18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680585" y="3623310"/>
            <a:ext cx="1168400" cy="876935"/>
          </a:xfrm>
          <a:prstGeom prst="rect">
            <a:avLst/>
          </a:prstGeom>
        </p:spPr>
      </p:pic>
      <p:grpSp>
        <p:nvGrpSpPr>
          <p:cNvPr id="194" name="组合 193"/>
          <p:cNvGrpSpPr/>
          <p:nvPr/>
        </p:nvGrpSpPr>
        <p:grpSpPr>
          <a:xfrm rot="0">
            <a:off x="5021580" y="6176010"/>
            <a:ext cx="2955290" cy="578485"/>
            <a:chOff x="7799" y="8869"/>
            <a:chExt cx="4926" cy="964"/>
          </a:xfrm>
        </p:grpSpPr>
        <p:pic>
          <p:nvPicPr>
            <p:cNvPr id="184" name="图片 183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799" y="8897"/>
              <a:ext cx="935" cy="935"/>
            </a:xfrm>
            <a:prstGeom prst="rect">
              <a:avLst/>
            </a:prstGeom>
          </p:spPr>
        </p:pic>
        <p:pic>
          <p:nvPicPr>
            <p:cNvPr id="185" name="图片 184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9121" y="8897"/>
              <a:ext cx="937" cy="937"/>
            </a:xfrm>
            <a:prstGeom prst="rect">
              <a:avLst/>
            </a:prstGeom>
          </p:spPr>
        </p:pic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0445" y="8869"/>
              <a:ext cx="965" cy="965"/>
            </a:xfrm>
            <a:prstGeom prst="rect">
              <a:avLst/>
            </a:prstGeom>
          </p:spPr>
        </p:pic>
        <p:pic>
          <p:nvPicPr>
            <p:cNvPr id="190" name="图片 189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1797" y="8897"/>
              <a:ext cx="929" cy="929"/>
            </a:xfrm>
            <a:prstGeom prst="rect">
              <a:avLst/>
            </a:prstGeom>
          </p:spPr>
        </p:pic>
        <p:cxnSp>
          <p:nvCxnSpPr>
            <p:cNvPr id="191" name="直接箭头连接符 190"/>
            <p:cNvCxnSpPr/>
            <p:nvPr/>
          </p:nvCxnSpPr>
          <p:spPr>
            <a:xfrm>
              <a:off x="8789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/>
            <p:nvPr/>
          </p:nvCxnSpPr>
          <p:spPr>
            <a:xfrm>
              <a:off x="10066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3" name="直接箭头连接符 192"/>
            <p:cNvCxnSpPr/>
            <p:nvPr/>
          </p:nvCxnSpPr>
          <p:spPr>
            <a:xfrm>
              <a:off x="11445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98" name="图片 197"/>
          <p:cNvPicPr>
            <a:picLocks noChangeAspect="1"/>
          </p:cNvPicPr>
          <p:nvPr/>
        </p:nvPicPr>
        <p:blipFill>
          <a:blip r:embed="rId50"/>
          <a:srcRect l="26364" t="12566" r="24545" b="15821"/>
          <a:stretch>
            <a:fillRect/>
          </a:stretch>
        </p:blipFill>
        <p:spPr>
          <a:xfrm>
            <a:off x="4885690" y="4824730"/>
            <a:ext cx="431800" cy="504825"/>
          </a:xfrm>
          <a:prstGeom prst="rect">
            <a:avLst/>
          </a:prstGeom>
        </p:spPr>
      </p:pic>
      <p:pic>
        <p:nvPicPr>
          <p:cNvPr id="200" name="图片 19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680325" y="4744085"/>
            <a:ext cx="936625" cy="624205"/>
          </a:xfrm>
          <a:prstGeom prst="rect">
            <a:avLst/>
          </a:prstGeom>
        </p:spPr>
      </p:pic>
      <p:pic>
        <p:nvPicPr>
          <p:cNvPr id="201" name="图片 200"/>
          <p:cNvPicPr/>
          <p:nvPr/>
        </p:nvPicPr>
        <p:blipFill>
          <a:blip r:embed="rId52"/>
          <a:srcRect l="12309" t="12033" r="6741" b="11789"/>
          <a:stretch>
            <a:fillRect/>
          </a:stretch>
        </p:blipFill>
        <p:spPr>
          <a:xfrm>
            <a:off x="6069965" y="4782820"/>
            <a:ext cx="864235" cy="575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4" name="矩形 233"/>
          <p:cNvSpPr>
            <a:spLocks noGrp="1"/>
          </p:cNvSpPr>
          <p:nvPr/>
        </p:nvSpPr>
        <p:spPr>
          <a:xfrm>
            <a:off x="406400" y="1064260"/>
            <a:ext cx="12903835" cy="3321050"/>
          </a:xfrm>
          <a:prstGeom prst="rect">
            <a:avLst/>
          </a:prstGeom>
          <a:solidFill>
            <a:srgbClr val="FFFFFF"/>
          </a:solidFill>
          <a:ln w="10478">
            <a:solidFill>
              <a:srgbClr val="8295A2"/>
            </a:solidFill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42290" y="1127125"/>
            <a:ext cx="316865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49325" y="1127125"/>
            <a:ext cx="12125325" cy="353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Twelve-batch history: fines and recovery</a:t>
            </a:r>
            <a:endParaRPr sz="18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87375" y="2267585"/>
            <a:ext cx="1194435" cy="307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(%)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6570" y="3190240"/>
            <a:ext cx="1303020" cy="2622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(%)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835785" y="1851025"/>
            <a:ext cx="635" cy="859790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835785" y="2710815"/>
            <a:ext cx="10741025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835785" y="2919095"/>
            <a:ext cx="635" cy="89598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835785" y="3815080"/>
            <a:ext cx="10741025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781810" y="271081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83665" y="259778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781810" y="2297430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83665" y="2184400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781810" y="1883410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83665" y="1770380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781810" y="3815080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83665" y="3702050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1781810" y="351599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383665" y="340296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781810" y="321754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83665" y="310451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781810" y="2919095"/>
            <a:ext cx="54610" cy="635"/>
          </a:xfrm>
          <a:prstGeom prst="line">
            <a:avLst/>
          </a:prstGeom>
          <a:noFill/>
          <a:ln w="13335">
            <a:solidFill>
              <a:srgbClr val="27323A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83665" y="2806065"/>
            <a:ext cx="3530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835785" y="2297430"/>
            <a:ext cx="10732135" cy="635"/>
          </a:xfrm>
          <a:prstGeom prst="line">
            <a:avLst/>
          </a:prstGeom>
          <a:noFill/>
          <a:ln w="14288">
            <a:solidFill>
              <a:srgbClr val="88A9BA"/>
            </a:solidFill>
            <a:prstDash val="dash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202815" y="2226310"/>
            <a:ext cx="2416175" cy="41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596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596B78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Quality limit</a:t>
            </a:r>
            <a:r>
              <a:rPr lang="en-US" sz="1400" b="1">
                <a:solidFill>
                  <a:srgbClr val="596B78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</a:t>
            </a:r>
            <a:r>
              <a:rPr sz="1400" b="1">
                <a:solidFill>
                  <a:srgbClr val="596B78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(≤ 50%)</a:t>
            </a:r>
            <a:endParaRPr sz="1400" b="1">
              <a:solidFill>
                <a:srgbClr val="596B78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 flipV="1">
            <a:off x="2297430" y="1883410"/>
            <a:ext cx="891540" cy="2540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2297430" y="3359150"/>
            <a:ext cx="891540" cy="185420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3188970" y="1883410"/>
            <a:ext cx="891540" cy="444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188970" y="3544570"/>
            <a:ext cx="891540" cy="2540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 flipV="1">
            <a:off x="4081145" y="1883410"/>
            <a:ext cx="891540" cy="444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 flipV="1">
            <a:off x="4081145" y="3518535"/>
            <a:ext cx="891540" cy="2857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4972685" y="1883410"/>
            <a:ext cx="891540" cy="57658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 flipV="1">
            <a:off x="4972685" y="3336925"/>
            <a:ext cx="891540" cy="18161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5864225" y="2459990"/>
            <a:ext cx="891540" cy="762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 flipV="1">
            <a:off x="5864225" y="3303905"/>
            <a:ext cx="891540" cy="3302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6755765" y="2467610"/>
            <a:ext cx="891540" cy="3365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 flipV="1">
            <a:off x="6755765" y="3277235"/>
            <a:ext cx="891540" cy="2667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 flipV="1">
            <a:off x="7647940" y="2500630"/>
            <a:ext cx="891540" cy="63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 flipV="1">
            <a:off x="7647940" y="3270885"/>
            <a:ext cx="891540" cy="635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 flipV="1">
            <a:off x="8539480" y="2488565"/>
            <a:ext cx="891540" cy="1206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539480" y="3270885"/>
            <a:ext cx="891540" cy="1079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 flipV="1">
            <a:off x="9431020" y="2480310"/>
            <a:ext cx="891540" cy="825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 flipV="1">
            <a:off x="9431020" y="3280410"/>
            <a:ext cx="891540" cy="1270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 flipV="1">
            <a:off x="10322560" y="2110105"/>
            <a:ext cx="891540" cy="37020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0322560" y="3280410"/>
            <a:ext cx="891540" cy="1905"/>
          </a:xfrm>
          <a:prstGeom prst="line">
            <a:avLst/>
          </a:prstGeom>
          <a:noFill/>
          <a:ln w="20003">
            <a:solidFill>
              <a:srgbClr val="C85A3A"/>
            </a:solidFill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11214735" y="2110105"/>
            <a:ext cx="891540" cy="37782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11214735" y="3282315"/>
            <a:ext cx="891540" cy="5715"/>
          </a:xfrm>
          <a:prstGeom prst="line">
            <a:avLst/>
          </a:prstGeom>
          <a:noFill/>
          <a:ln w="20003">
            <a:solidFill>
              <a:srgbClr val="087F97"/>
            </a:solidFill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2243455" y="183134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2243455" y="330454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016760" y="160083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99.7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016760" y="3087370"/>
            <a:ext cx="561340" cy="217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38.1</a:t>
            </a:r>
            <a:endParaRPr sz="12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229743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11645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3134995" y="182943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3134995" y="348996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2908935" y="15982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100.0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908935" y="326834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22.6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318897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00799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1" name="椭圆 60"/>
          <p:cNvSpPr>
            <a:spLocks noGrp="1"/>
          </p:cNvSpPr>
          <p:nvPr/>
        </p:nvSpPr>
        <p:spPr>
          <a:xfrm>
            <a:off x="4026535" y="183324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4026535" y="349250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3800475" y="160274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99.5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800475" y="327088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22.4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408114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90017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7" name="椭圆 66"/>
          <p:cNvSpPr>
            <a:spLocks noGrp="1"/>
          </p:cNvSpPr>
          <p:nvPr/>
        </p:nvSpPr>
        <p:spPr>
          <a:xfrm>
            <a:off x="4918075" y="182943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4918075" y="346392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4692015" y="15982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100.0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692015" y="324231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24.8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497268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79171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3" name="椭圆 72"/>
          <p:cNvSpPr>
            <a:spLocks noGrp="1"/>
          </p:cNvSpPr>
          <p:nvPr/>
        </p:nvSpPr>
        <p:spPr>
          <a:xfrm>
            <a:off x="5810250" y="240601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74" name="椭圆 73"/>
          <p:cNvSpPr>
            <a:spLocks noGrp="1"/>
          </p:cNvSpPr>
          <p:nvPr/>
        </p:nvSpPr>
        <p:spPr>
          <a:xfrm>
            <a:off x="5810250" y="328295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5583555" y="217487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30.3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583555" y="306133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40.0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586422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68325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椭圆 78"/>
          <p:cNvSpPr>
            <a:spLocks noGrp="1"/>
          </p:cNvSpPr>
          <p:nvPr/>
        </p:nvSpPr>
        <p:spPr>
          <a:xfrm>
            <a:off x="6701790" y="241300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6701790" y="324929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75730" y="21824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29.4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475730" y="302768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42.8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675576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57479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7593330" y="244665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7593330" y="322262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7367270" y="221551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25.4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7367270" y="300101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45.0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764794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746696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1" name="椭圆 90"/>
          <p:cNvSpPr>
            <a:spLocks noGrp="1"/>
          </p:cNvSpPr>
          <p:nvPr/>
        </p:nvSpPr>
        <p:spPr>
          <a:xfrm>
            <a:off x="8484870" y="244602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2" name="椭圆 91"/>
          <p:cNvSpPr>
            <a:spLocks noGrp="1"/>
          </p:cNvSpPr>
          <p:nvPr/>
        </p:nvSpPr>
        <p:spPr>
          <a:xfrm>
            <a:off x="8484870" y="321627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8258810" y="221551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25.4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258810" y="299466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45.5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853948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835850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7" name="椭圆 96"/>
          <p:cNvSpPr>
            <a:spLocks noGrp="1"/>
          </p:cNvSpPr>
          <p:nvPr/>
        </p:nvSpPr>
        <p:spPr>
          <a:xfrm>
            <a:off x="9377045" y="243459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8" name="椭圆 97"/>
          <p:cNvSpPr>
            <a:spLocks noGrp="1"/>
          </p:cNvSpPr>
          <p:nvPr/>
        </p:nvSpPr>
        <p:spPr>
          <a:xfrm>
            <a:off x="9377045" y="322707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9150350" y="220345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26.9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9150350" y="300545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943102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925004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3" name="椭圆 102"/>
          <p:cNvSpPr>
            <a:spLocks noGrp="1"/>
          </p:cNvSpPr>
          <p:nvPr/>
        </p:nvSpPr>
        <p:spPr>
          <a:xfrm>
            <a:off x="10268585" y="242633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04" name="椭圆 103"/>
          <p:cNvSpPr>
            <a:spLocks noGrp="1"/>
          </p:cNvSpPr>
          <p:nvPr/>
        </p:nvSpPr>
        <p:spPr>
          <a:xfrm>
            <a:off x="10268585" y="322580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10042525" y="219519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27.8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10042525" y="300418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44.7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10322560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10141585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椭圆 108"/>
          <p:cNvSpPr>
            <a:spLocks noGrp="1"/>
          </p:cNvSpPr>
          <p:nvPr/>
        </p:nvSpPr>
        <p:spPr>
          <a:xfrm>
            <a:off x="11160125" y="2056130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110" name="椭圆 109"/>
          <p:cNvSpPr>
            <a:spLocks noGrp="1"/>
          </p:cNvSpPr>
          <p:nvPr/>
        </p:nvSpPr>
        <p:spPr>
          <a:xfrm>
            <a:off x="11160125" y="3227705"/>
            <a:ext cx="108585" cy="108585"/>
          </a:xfrm>
          <a:prstGeom prst="ellipse">
            <a:avLst/>
          </a:prstGeom>
          <a:solidFill>
            <a:srgbClr val="C85A3A"/>
          </a:solidFill>
          <a:ln w="9525">
            <a:solidFill>
              <a:srgbClr val="C85A3A"/>
            </a:solidFill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10934065" y="182562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72.6</a:t>
            </a:r>
            <a:endParaRPr sz="1400" b="0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10934065" y="300609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44.6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1121473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1103376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11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椭圆 114"/>
          <p:cNvSpPr>
            <a:spLocks noGrp="1"/>
          </p:cNvSpPr>
          <p:nvPr/>
        </p:nvSpPr>
        <p:spPr>
          <a:xfrm>
            <a:off x="12052300" y="2433955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12052300" y="3233420"/>
            <a:ext cx="108585" cy="108585"/>
          </a:xfrm>
          <a:prstGeom prst="ellipse">
            <a:avLst/>
          </a:prstGeom>
          <a:solidFill>
            <a:srgbClr val="087F97"/>
          </a:solidFill>
          <a:ln w="9525">
            <a:solidFill>
              <a:srgbClr val="087F97"/>
            </a:solidFill>
          </a:ln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11825605" y="2203450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26.9</a:t>
            </a:r>
            <a:endParaRPr sz="1400" b="0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11825605" y="3011805"/>
            <a:ext cx="56134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44.1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直接连接符 118"/>
          <p:cNvSpPr>
            <a:spLocks noGrp="1"/>
          </p:cNvSpPr>
          <p:nvPr/>
        </p:nvSpPr>
        <p:spPr>
          <a:xfrm>
            <a:off x="12106275" y="3815080"/>
            <a:ext cx="635" cy="63500"/>
          </a:xfrm>
          <a:prstGeom prst="line">
            <a:avLst/>
          </a:prstGeom>
          <a:noFill/>
          <a:ln w="9525">
            <a:solidFill>
              <a:srgbClr val="8295A2"/>
            </a:solidFill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11925300" y="3896360"/>
            <a:ext cx="361950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6369685" y="4104640"/>
            <a:ext cx="904875" cy="244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5113020" y="1459548"/>
            <a:ext cx="1502410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B5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first feasible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5864225" y="1887220"/>
            <a:ext cx="635" cy="24701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51470" y="1459548"/>
            <a:ext cx="1176655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selected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8539480" y="1887220"/>
            <a:ext cx="635" cy="28765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10563225" y="1138238"/>
            <a:ext cx="1303020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B11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72.6%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11214735" y="1570990"/>
            <a:ext cx="635" cy="21399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11518265" y="1459548"/>
            <a:ext cx="1176655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B12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repeat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12106275" y="1887220"/>
            <a:ext cx="635" cy="274955"/>
          </a:xfrm>
          <a:prstGeom prst="line">
            <a:avLst/>
          </a:prstGeom>
          <a:noFill/>
          <a:ln w="10478">
            <a:solidFill>
              <a:srgbClr val="27323A"/>
            </a:solidFill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406400" y="4475480"/>
            <a:ext cx="12903835" cy="2696845"/>
          </a:xfrm>
          <a:prstGeom prst="rect">
            <a:avLst/>
          </a:prstGeom>
          <a:solidFill>
            <a:srgbClr val="FFFFFF"/>
          </a:solidFill>
          <a:ln w="10478">
            <a:solidFill>
              <a:srgbClr val="8295A2"/>
            </a:solidFill>
          </a:ln>
        </p:spPr>
        <p:txBody>
          <a:bodyPr/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542290" y="4538980"/>
            <a:ext cx="316865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949325" y="4538980"/>
            <a:ext cx="12125325" cy="353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 8 (B8) experiment in full detail</a:t>
            </a:r>
            <a:endParaRPr sz="18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433705" y="4890770"/>
            <a:ext cx="1411605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Charge reagent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 S2 solvent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 C1 catalyst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1845310" y="4890770"/>
            <a:ext cx="1357630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Heat toward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355 K for 1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at 300 rpm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3202305" y="4890770"/>
            <a:ext cx="1357630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Controlled cool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toward 325 K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 2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4532630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Add 1 mg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seed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5727065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Cool toward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250 K for 4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6957695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Hold 4 h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at 100 rpm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8242300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Particle-size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check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9436735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Filter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10622280" y="4936490"/>
            <a:ext cx="135763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Terminate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11925300" y="4936490"/>
            <a:ext cx="126682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Final assay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76" name="图片 3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6050915"/>
            <a:ext cx="557530" cy="749300"/>
          </a:xfrm>
          <a:prstGeom prst="rect">
            <a:avLst/>
          </a:prstGeom>
        </p:spPr>
      </p:pic>
      <p:pic>
        <p:nvPicPr>
          <p:cNvPr id="377" name="图片 3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45" y="5684520"/>
            <a:ext cx="669925" cy="1115695"/>
          </a:xfrm>
          <a:prstGeom prst="rect">
            <a:avLst/>
          </a:prstGeom>
        </p:spPr>
      </p:pic>
      <p:pic>
        <p:nvPicPr>
          <p:cNvPr id="378" name="图片 3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935" y="5659755"/>
            <a:ext cx="674370" cy="1140460"/>
          </a:xfrm>
          <a:prstGeom prst="rect">
            <a:avLst/>
          </a:prstGeom>
        </p:spPr>
      </p:pic>
      <p:pic>
        <p:nvPicPr>
          <p:cNvPr id="379" name="图片 3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35" y="5624195"/>
            <a:ext cx="641350" cy="1176655"/>
          </a:xfrm>
          <a:prstGeom prst="rect">
            <a:avLst/>
          </a:prstGeom>
        </p:spPr>
      </p:pic>
      <p:pic>
        <p:nvPicPr>
          <p:cNvPr id="380" name="图片 3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855" y="5663565"/>
            <a:ext cx="653415" cy="1136650"/>
          </a:xfrm>
          <a:prstGeom prst="rect">
            <a:avLst/>
          </a:prstGeom>
        </p:spPr>
      </p:pic>
      <p:pic>
        <p:nvPicPr>
          <p:cNvPr id="381" name="图片 3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390" y="5972175"/>
            <a:ext cx="649605" cy="828040"/>
          </a:xfrm>
          <a:prstGeom prst="rect">
            <a:avLst/>
          </a:prstGeom>
        </p:spPr>
      </p:pic>
      <p:pic>
        <p:nvPicPr>
          <p:cNvPr id="382" name="图片 3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325" y="5961380"/>
            <a:ext cx="703580" cy="603250"/>
          </a:xfrm>
          <a:prstGeom prst="rect">
            <a:avLst/>
          </a:prstGeom>
        </p:spPr>
      </p:pic>
      <p:pic>
        <p:nvPicPr>
          <p:cNvPr id="383" name="图片 3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9485" y="5624195"/>
            <a:ext cx="532130" cy="1176655"/>
          </a:xfrm>
          <a:prstGeom prst="rect">
            <a:avLst/>
          </a:prstGeom>
        </p:spPr>
      </p:pic>
      <p:pic>
        <p:nvPicPr>
          <p:cNvPr id="384" name="图片 38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3280" y="6005830"/>
            <a:ext cx="594995" cy="594995"/>
          </a:xfrm>
          <a:prstGeom prst="rect">
            <a:avLst/>
          </a:prstGeom>
        </p:spPr>
      </p:pic>
      <p:pic>
        <p:nvPicPr>
          <p:cNvPr id="385" name="图片 3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2490" y="5695950"/>
            <a:ext cx="603250" cy="778510"/>
          </a:xfrm>
          <a:prstGeom prst="rect">
            <a:avLst/>
          </a:prstGeom>
        </p:spPr>
      </p:pic>
      <p:sp>
        <p:nvSpPr>
          <p:cNvPr id="153" name="矩形 152"/>
          <p:cNvSpPr>
            <a:spLocks noGrp="1"/>
          </p:cNvSpPr>
          <p:nvPr/>
        </p:nvSpPr>
        <p:spPr>
          <a:xfrm>
            <a:off x="8541385" y="6585268"/>
            <a:ext cx="760095" cy="4394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26.6%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11925300" y="6510020"/>
            <a:ext cx="1375410" cy="6527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45.5%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 98.2%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25.4%</a:t>
            </a:r>
            <a:endParaRPr sz="1400" b="0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5" name="直接连接符 154"/>
          <p:cNvSpPr>
            <a:spLocks noGrp="1"/>
          </p:cNvSpPr>
          <p:nvPr/>
        </p:nvSpPr>
        <p:spPr>
          <a:xfrm>
            <a:off x="1628140" y="6275705"/>
            <a:ext cx="40703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6" name="直接连接符 155"/>
          <p:cNvSpPr>
            <a:spLocks noGrp="1"/>
          </p:cNvSpPr>
          <p:nvPr/>
        </p:nvSpPr>
        <p:spPr>
          <a:xfrm>
            <a:off x="197167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7" name="直接连接符 156"/>
          <p:cNvSpPr>
            <a:spLocks noGrp="1"/>
          </p:cNvSpPr>
          <p:nvPr/>
        </p:nvSpPr>
        <p:spPr>
          <a:xfrm flipV="1">
            <a:off x="197167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8" name="直接连接符 157"/>
          <p:cNvSpPr>
            <a:spLocks noGrp="1"/>
          </p:cNvSpPr>
          <p:nvPr/>
        </p:nvSpPr>
        <p:spPr>
          <a:xfrm>
            <a:off x="3012440" y="6275705"/>
            <a:ext cx="38036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59" name="直接连接符 158"/>
          <p:cNvSpPr>
            <a:spLocks noGrp="1"/>
          </p:cNvSpPr>
          <p:nvPr/>
        </p:nvSpPr>
        <p:spPr>
          <a:xfrm>
            <a:off x="332930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0" name="直接连接符 159"/>
          <p:cNvSpPr>
            <a:spLocks noGrp="1"/>
          </p:cNvSpPr>
          <p:nvPr/>
        </p:nvSpPr>
        <p:spPr>
          <a:xfrm flipV="1">
            <a:off x="332930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1" name="直接连接符 160"/>
          <p:cNvSpPr>
            <a:spLocks noGrp="1"/>
          </p:cNvSpPr>
          <p:nvPr/>
        </p:nvSpPr>
        <p:spPr>
          <a:xfrm>
            <a:off x="4369435" y="6275705"/>
            <a:ext cx="35306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465899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 flipV="1">
            <a:off x="465899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5699760" y="6275705"/>
            <a:ext cx="21717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5" name="直接连接符 164"/>
          <p:cNvSpPr>
            <a:spLocks noGrp="1"/>
          </p:cNvSpPr>
          <p:nvPr/>
        </p:nvSpPr>
        <p:spPr>
          <a:xfrm>
            <a:off x="585343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6" name="直接连接符 165"/>
          <p:cNvSpPr>
            <a:spLocks noGrp="1"/>
          </p:cNvSpPr>
          <p:nvPr/>
        </p:nvSpPr>
        <p:spPr>
          <a:xfrm flipV="1">
            <a:off x="585343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7" name="直接连接符 166"/>
          <p:cNvSpPr>
            <a:spLocks noGrp="1"/>
          </p:cNvSpPr>
          <p:nvPr/>
        </p:nvSpPr>
        <p:spPr>
          <a:xfrm>
            <a:off x="6894195" y="6275705"/>
            <a:ext cx="25336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8" name="直接连接符 167"/>
          <p:cNvSpPr>
            <a:spLocks noGrp="1"/>
          </p:cNvSpPr>
          <p:nvPr/>
        </p:nvSpPr>
        <p:spPr>
          <a:xfrm>
            <a:off x="708406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69" name="直接连接符 168"/>
          <p:cNvSpPr>
            <a:spLocks noGrp="1"/>
          </p:cNvSpPr>
          <p:nvPr/>
        </p:nvSpPr>
        <p:spPr>
          <a:xfrm flipV="1">
            <a:off x="708406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0" name="直接连接符 169"/>
          <p:cNvSpPr>
            <a:spLocks noGrp="1"/>
          </p:cNvSpPr>
          <p:nvPr/>
        </p:nvSpPr>
        <p:spPr>
          <a:xfrm>
            <a:off x="8124825" y="6275705"/>
            <a:ext cx="30797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1" name="直接连接符 170"/>
          <p:cNvSpPr>
            <a:spLocks noGrp="1"/>
          </p:cNvSpPr>
          <p:nvPr/>
        </p:nvSpPr>
        <p:spPr>
          <a:xfrm>
            <a:off x="836930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2" name="直接连接符 171"/>
          <p:cNvSpPr>
            <a:spLocks noGrp="1"/>
          </p:cNvSpPr>
          <p:nvPr/>
        </p:nvSpPr>
        <p:spPr>
          <a:xfrm flipV="1">
            <a:off x="836930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3" name="直接连接符 172"/>
          <p:cNvSpPr>
            <a:spLocks noGrp="1"/>
          </p:cNvSpPr>
          <p:nvPr/>
        </p:nvSpPr>
        <p:spPr>
          <a:xfrm>
            <a:off x="9410065" y="6275705"/>
            <a:ext cx="21717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4" name="直接连接符 173"/>
          <p:cNvSpPr>
            <a:spLocks noGrp="1"/>
          </p:cNvSpPr>
          <p:nvPr/>
        </p:nvSpPr>
        <p:spPr>
          <a:xfrm>
            <a:off x="9563735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5" name="直接连接符 174"/>
          <p:cNvSpPr>
            <a:spLocks noGrp="1"/>
          </p:cNvSpPr>
          <p:nvPr/>
        </p:nvSpPr>
        <p:spPr>
          <a:xfrm flipV="1">
            <a:off x="9563735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6" name="直接连接符 175"/>
          <p:cNvSpPr>
            <a:spLocks noGrp="1"/>
          </p:cNvSpPr>
          <p:nvPr/>
        </p:nvSpPr>
        <p:spPr>
          <a:xfrm>
            <a:off x="10604500" y="6275705"/>
            <a:ext cx="208280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074928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8" name="直接连接符 177"/>
          <p:cNvSpPr>
            <a:spLocks noGrp="1"/>
          </p:cNvSpPr>
          <p:nvPr/>
        </p:nvSpPr>
        <p:spPr>
          <a:xfrm flipV="1">
            <a:off x="1074928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11789410" y="6275705"/>
            <a:ext cx="325755" cy="63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80" name="直接连接符 179"/>
          <p:cNvSpPr>
            <a:spLocks noGrp="1"/>
          </p:cNvSpPr>
          <p:nvPr/>
        </p:nvSpPr>
        <p:spPr>
          <a:xfrm>
            <a:off x="12052300" y="622998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81" name="直接连接符 180"/>
          <p:cNvSpPr>
            <a:spLocks noGrp="1"/>
          </p:cNvSpPr>
          <p:nvPr/>
        </p:nvSpPr>
        <p:spPr>
          <a:xfrm flipV="1">
            <a:off x="12052300" y="6275705"/>
            <a:ext cx="63500" cy="45085"/>
          </a:xfrm>
          <a:prstGeom prst="line">
            <a:avLst/>
          </a:prstGeom>
          <a:noFill/>
          <a:ln w="17145">
            <a:solidFill>
              <a:srgbClr val="111820"/>
            </a:solidFill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406400" y="7262495"/>
            <a:ext cx="12903835" cy="3103880"/>
          </a:xfrm>
          <a:prstGeom prst="rect">
            <a:avLst/>
          </a:prstGeom>
          <a:solidFill>
            <a:srgbClr val="FFFFFF"/>
          </a:solidFill>
          <a:ln w="10478">
            <a:solidFill>
              <a:srgbClr val="8295A2"/>
            </a:solidFill>
          </a:ln>
        </p:spPr>
      </p:sp>
      <p:sp>
        <p:nvSpPr>
          <p:cNvPr id="183" name="矩形 182"/>
          <p:cNvSpPr>
            <a:spLocks noGrp="1"/>
          </p:cNvSpPr>
          <p:nvPr/>
        </p:nvSpPr>
        <p:spPr>
          <a:xfrm>
            <a:off x="542290" y="7325995"/>
            <a:ext cx="316865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11182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1182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>
              <a:solidFill>
                <a:srgbClr val="11182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4" name="矩形 183"/>
          <p:cNvSpPr>
            <a:spLocks noGrp="1"/>
          </p:cNvSpPr>
          <p:nvPr/>
        </p:nvSpPr>
        <p:spPr>
          <a:xfrm>
            <a:off x="949325" y="7325995"/>
            <a:ext cx="12125325" cy="353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Key observations, questions, and next tests</a:t>
            </a:r>
            <a:endParaRPr sz="18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1374775" y="7660640"/>
            <a:ext cx="179197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6" name="矩形 185"/>
          <p:cNvSpPr>
            <a:spLocks noGrp="1"/>
          </p:cNvSpPr>
          <p:nvPr/>
        </p:nvSpPr>
        <p:spPr>
          <a:xfrm>
            <a:off x="4333240" y="7660640"/>
            <a:ext cx="228028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 question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7446010" y="7660640"/>
            <a:ext cx="258826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Next tested action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11292205" y="7660640"/>
            <a:ext cx="162877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Outcome</a:t>
            </a:r>
            <a:endParaRPr sz="14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9" name="直接连接符 188"/>
          <p:cNvSpPr>
            <a:spLocks noGrp="1"/>
          </p:cNvSpPr>
          <p:nvPr/>
        </p:nvSpPr>
        <p:spPr>
          <a:xfrm>
            <a:off x="568960" y="7941310"/>
            <a:ext cx="12568555" cy="635"/>
          </a:xfrm>
          <a:prstGeom prst="line">
            <a:avLst/>
          </a:prstGeom>
          <a:noFill/>
          <a:ln w="13335">
            <a:solidFill>
              <a:srgbClr val="8295A2"/>
            </a:solidFill>
          </a:ln>
        </p:spPr>
      </p:sp>
      <p:sp>
        <p:nvSpPr>
          <p:cNvPr id="190" name="直接连接符 189"/>
          <p:cNvSpPr>
            <a:spLocks noGrp="1"/>
          </p:cNvSpPr>
          <p:nvPr/>
        </p:nvSpPr>
        <p:spPr>
          <a:xfrm>
            <a:off x="568960" y="8701405"/>
            <a:ext cx="12568555" cy="635"/>
          </a:xfrm>
          <a:prstGeom prst="line">
            <a:avLst/>
          </a:prstGeom>
          <a:noFill/>
          <a:ln w="10478">
            <a:solidFill>
              <a:srgbClr val="8295A2"/>
            </a:solidFill>
          </a:ln>
        </p:spPr>
      </p:sp>
      <p:sp>
        <p:nvSpPr>
          <p:cNvPr id="191" name="直接连接符 190"/>
          <p:cNvSpPr>
            <a:spLocks noGrp="1"/>
          </p:cNvSpPr>
          <p:nvPr/>
        </p:nvSpPr>
        <p:spPr>
          <a:xfrm>
            <a:off x="568960" y="9488170"/>
            <a:ext cx="12568555" cy="635"/>
          </a:xfrm>
          <a:prstGeom prst="line">
            <a:avLst/>
          </a:prstGeom>
          <a:noFill/>
          <a:ln w="10478">
            <a:solidFill>
              <a:srgbClr val="8295A2"/>
            </a:solidFill>
          </a:ln>
        </p:spPr>
      </p:sp>
      <p:sp>
        <p:nvSpPr>
          <p:cNvPr id="192" name="矩形 191"/>
          <p:cNvSpPr>
            <a:spLocks noGrp="1"/>
          </p:cNvSpPr>
          <p:nvPr/>
        </p:nvSpPr>
        <p:spPr>
          <a:xfrm>
            <a:off x="723265" y="8067675"/>
            <a:ext cx="213550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B1–4: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99.5–100.0%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3" name="直接连接符 192"/>
          <p:cNvSpPr>
            <a:spLocks noGrp="1"/>
          </p:cNvSpPr>
          <p:nvPr/>
        </p:nvSpPr>
        <p:spPr>
          <a:xfrm>
            <a:off x="2976245" y="8312150"/>
            <a:ext cx="380365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194" name="直接连接符 193"/>
          <p:cNvSpPr>
            <a:spLocks noGrp="1"/>
          </p:cNvSpPr>
          <p:nvPr/>
        </p:nvSpPr>
        <p:spPr>
          <a:xfrm>
            <a:off x="3293110" y="826706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195" name="直接连接符 194"/>
          <p:cNvSpPr>
            <a:spLocks noGrp="1"/>
          </p:cNvSpPr>
          <p:nvPr/>
        </p:nvSpPr>
        <p:spPr>
          <a:xfrm flipV="1">
            <a:off x="3293110" y="83121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pic>
        <p:nvPicPr>
          <p:cNvPr id="429" name="图片 4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7932420"/>
            <a:ext cx="2314575" cy="742315"/>
          </a:xfrm>
          <a:prstGeom prst="rect">
            <a:avLst/>
          </a:prstGeom>
        </p:spPr>
      </p:pic>
      <p:sp>
        <p:nvSpPr>
          <p:cNvPr id="197" name="矩形 196"/>
          <p:cNvSpPr>
            <a:spLocks noGrp="1"/>
          </p:cNvSpPr>
          <p:nvPr/>
        </p:nvSpPr>
        <p:spPr>
          <a:xfrm>
            <a:off x="4677410" y="8059420"/>
            <a:ext cx="1366520" cy="443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Where are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forming?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8" name="直接连接符 197"/>
          <p:cNvSpPr>
            <a:spLocks noGrp="1"/>
          </p:cNvSpPr>
          <p:nvPr/>
        </p:nvSpPr>
        <p:spPr>
          <a:xfrm>
            <a:off x="6604635" y="8312150"/>
            <a:ext cx="35306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199" name="直接连接符 198"/>
          <p:cNvSpPr>
            <a:spLocks noGrp="1"/>
          </p:cNvSpPr>
          <p:nvPr/>
        </p:nvSpPr>
        <p:spPr>
          <a:xfrm>
            <a:off x="6894195" y="826706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0" name="直接连接符 199"/>
          <p:cNvSpPr>
            <a:spLocks noGrp="1"/>
          </p:cNvSpPr>
          <p:nvPr/>
        </p:nvSpPr>
        <p:spPr>
          <a:xfrm flipV="1">
            <a:off x="6894195" y="83121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1" name="矩形 200"/>
          <p:cNvSpPr>
            <a:spLocks noGrp="1"/>
          </p:cNvSpPr>
          <p:nvPr/>
        </p:nvSpPr>
        <p:spPr>
          <a:xfrm>
            <a:off x="7328535" y="8067675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B5: omit quench;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cool before seeding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2" name="直接连接符 201"/>
          <p:cNvSpPr>
            <a:spLocks noGrp="1"/>
          </p:cNvSpPr>
          <p:nvPr/>
        </p:nvSpPr>
        <p:spPr>
          <a:xfrm>
            <a:off x="9719310" y="8312150"/>
            <a:ext cx="36195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3" name="直接连接符 202"/>
          <p:cNvSpPr>
            <a:spLocks noGrp="1"/>
          </p:cNvSpPr>
          <p:nvPr/>
        </p:nvSpPr>
        <p:spPr>
          <a:xfrm>
            <a:off x="10017760" y="826706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4" name="直接连接符 203"/>
          <p:cNvSpPr>
            <a:spLocks noGrp="1"/>
          </p:cNvSpPr>
          <p:nvPr/>
        </p:nvSpPr>
        <p:spPr>
          <a:xfrm flipV="1">
            <a:off x="10017760" y="83121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5" name="矩形 204"/>
          <p:cNvSpPr>
            <a:spLocks noGrp="1"/>
          </p:cNvSpPr>
          <p:nvPr/>
        </p:nvSpPr>
        <p:spPr>
          <a:xfrm>
            <a:off x="10389235" y="8067675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30.3%;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first feasible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723265" y="8836660"/>
            <a:ext cx="213550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B5: feasible;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40.0%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7" name="直接连接符 206"/>
          <p:cNvSpPr>
            <a:spLocks noGrp="1"/>
          </p:cNvSpPr>
          <p:nvPr/>
        </p:nvSpPr>
        <p:spPr>
          <a:xfrm>
            <a:off x="2976245" y="9081135"/>
            <a:ext cx="380365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3293110" y="90360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09" name="直接连接符 208"/>
          <p:cNvSpPr>
            <a:spLocks noGrp="1"/>
          </p:cNvSpPr>
          <p:nvPr/>
        </p:nvSpPr>
        <p:spPr>
          <a:xfrm flipV="1">
            <a:off x="3293110" y="908113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pic>
        <p:nvPicPr>
          <p:cNvPr id="443" name="图片 4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8702040"/>
            <a:ext cx="2314575" cy="742315"/>
          </a:xfrm>
          <a:prstGeom prst="rect">
            <a:avLst/>
          </a:prstGeom>
        </p:spPr>
      </p:pic>
      <p:sp>
        <p:nvSpPr>
          <p:cNvPr id="211" name="矩形 210"/>
          <p:cNvSpPr>
            <a:spLocks noGrp="1"/>
          </p:cNvSpPr>
          <p:nvPr/>
        </p:nvSpPr>
        <p:spPr>
          <a:xfrm>
            <a:off x="4677410" y="8828405"/>
            <a:ext cx="1366520" cy="443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 colder endpoints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 recovery?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2" name="直接连接符 211"/>
          <p:cNvSpPr>
            <a:spLocks noGrp="1"/>
          </p:cNvSpPr>
          <p:nvPr/>
        </p:nvSpPr>
        <p:spPr>
          <a:xfrm>
            <a:off x="6604635" y="9081135"/>
            <a:ext cx="35306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3" name="直接连接符 212"/>
          <p:cNvSpPr>
            <a:spLocks noGrp="1"/>
          </p:cNvSpPr>
          <p:nvPr/>
        </p:nvSpPr>
        <p:spPr>
          <a:xfrm>
            <a:off x="6894195" y="90360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4" name="直接连接符 213"/>
          <p:cNvSpPr>
            <a:spLocks noGrp="1"/>
          </p:cNvSpPr>
          <p:nvPr/>
        </p:nvSpPr>
        <p:spPr>
          <a:xfrm flipV="1">
            <a:off x="6894195" y="908113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5" name="矩形 214"/>
          <p:cNvSpPr>
            <a:spLocks noGrp="1"/>
          </p:cNvSpPr>
          <p:nvPr/>
        </p:nvSpPr>
        <p:spPr>
          <a:xfrm>
            <a:off x="7328535" y="8836660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B6/B7: end at 265/250 K;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B8: seed 5 → 1 mg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6" name="直接连接符 215"/>
          <p:cNvSpPr>
            <a:spLocks noGrp="1"/>
          </p:cNvSpPr>
          <p:nvPr/>
        </p:nvSpPr>
        <p:spPr>
          <a:xfrm>
            <a:off x="9719310" y="9081135"/>
            <a:ext cx="36195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7" name="直接连接符 216"/>
          <p:cNvSpPr>
            <a:spLocks noGrp="1"/>
          </p:cNvSpPr>
          <p:nvPr/>
        </p:nvSpPr>
        <p:spPr>
          <a:xfrm>
            <a:off x="10017760" y="9036050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 flipV="1">
            <a:off x="10017760" y="908113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19" name="矩形 218"/>
          <p:cNvSpPr>
            <a:spLocks noGrp="1"/>
          </p:cNvSpPr>
          <p:nvPr/>
        </p:nvSpPr>
        <p:spPr>
          <a:xfrm>
            <a:off x="10389235" y="8836660"/>
            <a:ext cx="270573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42.8 → 45.0 → 45.5%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&lt; 30%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723265" y="9615170"/>
            <a:ext cx="2135505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 best so far;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B9–10 additional probes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2976245" y="9859645"/>
            <a:ext cx="380365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2" name="直接连接符 221"/>
          <p:cNvSpPr>
            <a:spLocks noGrp="1"/>
          </p:cNvSpPr>
          <p:nvPr/>
        </p:nvSpPr>
        <p:spPr>
          <a:xfrm>
            <a:off x="3293110" y="981392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3" name="直接连接符 222"/>
          <p:cNvSpPr>
            <a:spLocks noGrp="1"/>
          </p:cNvSpPr>
          <p:nvPr/>
        </p:nvSpPr>
        <p:spPr>
          <a:xfrm flipV="1">
            <a:off x="3293110" y="985964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pic>
        <p:nvPicPr>
          <p:cNvPr id="457" name="图片 4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0475" y="9603105"/>
            <a:ext cx="2314575" cy="742315"/>
          </a:xfrm>
          <a:prstGeom prst="rect">
            <a:avLst/>
          </a:prstGeom>
        </p:spPr>
      </p:pic>
      <p:sp>
        <p:nvSpPr>
          <p:cNvPr id="225" name="矩形 224"/>
          <p:cNvSpPr>
            <a:spLocks noGrp="1"/>
          </p:cNvSpPr>
          <p:nvPr/>
        </p:nvSpPr>
        <p:spPr>
          <a:xfrm>
            <a:off x="4677410" y="9678670"/>
            <a:ext cx="1366520" cy="443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Does higher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2732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2732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concentration help?</a:t>
            </a:r>
            <a:endParaRPr sz="1200" b="1">
              <a:solidFill>
                <a:srgbClr val="2732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6" name="直接连接符 225"/>
          <p:cNvSpPr>
            <a:spLocks noGrp="1"/>
          </p:cNvSpPr>
          <p:nvPr/>
        </p:nvSpPr>
        <p:spPr>
          <a:xfrm>
            <a:off x="6604635" y="9859645"/>
            <a:ext cx="35306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7" name="直接连接符 226"/>
          <p:cNvSpPr>
            <a:spLocks noGrp="1"/>
          </p:cNvSpPr>
          <p:nvPr/>
        </p:nvSpPr>
        <p:spPr>
          <a:xfrm>
            <a:off x="6894195" y="981392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8" name="直接连接符 227"/>
          <p:cNvSpPr>
            <a:spLocks noGrp="1"/>
          </p:cNvSpPr>
          <p:nvPr/>
        </p:nvSpPr>
        <p:spPr>
          <a:xfrm flipV="1">
            <a:off x="6894195" y="985964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29" name="矩形 228"/>
          <p:cNvSpPr>
            <a:spLocks noGrp="1"/>
          </p:cNvSpPr>
          <p:nvPr/>
        </p:nvSpPr>
        <p:spPr>
          <a:xfrm>
            <a:off x="7328535" y="9615170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087F9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087F9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B11: S2 0.080 → 0.040 L</a:t>
            </a:r>
            <a:endParaRPr sz="1600" b="1">
              <a:solidFill>
                <a:srgbClr val="087F9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9719310" y="9859645"/>
            <a:ext cx="361950" cy="63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>
            <a:off x="10017760" y="981392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32" name="直接连接符 231"/>
          <p:cNvSpPr>
            <a:spLocks noGrp="1"/>
          </p:cNvSpPr>
          <p:nvPr/>
        </p:nvSpPr>
        <p:spPr>
          <a:xfrm flipV="1">
            <a:off x="10017760" y="9859645"/>
            <a:ext cx="63500" cy="45085"/>
          </a:xfrm>
          <a:prstGeom prst="line">
            <a:avLst/>
          </a:prstGeom>
          <a:noFill/>
          <a:ln w="17145">
            <a:solidFill>
              <a:srgbClr val="27323A"/>
            </a:solidFill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10389235" y="9615170"/>
            <a:ext cx="2452370" cy="561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1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B11 fines 72.6%, rejected;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1">
                <a:solidFill>
                  <a:srgbClr val="C85A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C85A3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B12 repeats B8: 26.9%</a:t>
            </a:r>
            <a:endParaRPr sz="1600" b="1">
              <a:solidFill>
                <a:srgbClr val="C85A3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6" name="Figure 3 plot object 0"/>
          <p:cNvSpPr>
            <a:spLocks noGrp="1"/>
          </p:cNvSpPr>
          <p:nvPr/>
        </p:nvSpPr>
        <p:spPr>
          <a:xfrm>
            <a:off x="2263828" y="342900"/>
            <a:ext cx="9188344" cy="10744200"/>
          </a:xfrm>
          <a:custGeom>
            <a:avLst/>
            <a:gdLst/>
            <a:ahLst/>
            <a:cxnLst/>
            <a:pathLst>
              <a:path w="9188344" h="10744200">
                <a:moveTo>
                  <a:pt x="0" y="10744200"/>
                </a:moveTo>
                <a:lnTo>
                  <a:pt x="9188344" y="10744200"/>
                </a:lnTo>
                <a:lnTo>
                  <a:pt x="9188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2" name="Figure 3 plot object 1"/>
          <p:cNvSpPr>
            <a:spLocks noGrp="1"/>
          </p:cNvSpPr>
          <p:nvPr/>
        </p:nvSpPr>
        <p:spPr>
          <a:xfrm>
            <a:off x="3136721" y="880110"/>
            <a:ext cx="3537513" cy="2428189"/>
          </a:xfrm>
          <a:custGeom>
            <a:avLst/>
            <a:gdLst/>
            <a:ahLst/>
            <a:cxnLst/>
            <a:pathLst>
              <a:path w="3537513" h="2428189">
                <a:moveTo>
                  <a:pt x="0" y="2428189"/>
                </a:moveTo>
                <a:lnTo>
                  <a:pt x="3537513" y="2428189"/>
                </a:lnTo>
                <a:lnTo>
                  <a:pt x="35375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" name="Figure 3 plot object 2"/>
          <p:cNvSpPr>
            <a:spLocks noGrp="1"/>
          </p:cNvSpPr>
          <p:nvPr/>
        </p:nvSpPr>
        <p:spPr>
          <a:xfrm>
            <a:off x="3326230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4" name="−0.50"/>
          <p:cNvSpPr>
            <a:spLocks noGrp="1"/>
          </p:cNvSpPr>
          <p:nvPr/>
        </p:nvSpPr>
        <p:spPr>
          <a:xfrm>
            <a:off x="3144640" y="3387944"/>
            <a:ext cx="43433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−0.50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" name="Figure 3 plot object 4"/>
          <p:cNvSpPr>
            <a:spLocks noGrp="1"/>
          </p:cNvSpPr>
          <p:nvPr/>
        </p:nvSpPr>
        <p:spPr>
          <a:xfrm>
            <a:off x="4115853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6" name="−0.25"/>
          <p:cNvSpPr>
            <a:spLocks noGrp="1"/>
          </p:cNvSpPr>
          <p:nvPr/>
        </p:nvSpPr>
        <p:spPr>
          <a:xfrm>
            <a:off x="3934263" y="3387944"/>
            <a:ext cx="43433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−0.25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" name="Figure 3 plot object 6"/>
          <p:cNvSpPr>
            <a:spLocks noGrp="1"/>
          </p:cNvSpPr>
          <p:nvPr/>
        </p:nvSpPr>
        <p:spPr>
          <a:xfrm>
            <a:off x="4905477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" name="0.00"/>
          <p:cNvSpPr>
            <a:spLocks noGrp="1"/>
          </p:cNvSpPr>
          <p:nvPr/>
        </p:nvSpPr>
        <p:spPr>
          <a:xfrm>
            <a:off x="4767123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Figure 3 plot object 8"/>
          <p:cNvSpPr>
            <a:spLocks noGrp="1"/>
          </p:cNvSpPr>
          <p:nvPr/>
        </p:nvSpPr>
        <p:spPr>
          <a:xfrm>
            <a:off x="5695100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0" name="0.25"/>
          <p:cNvSpPr>
            <a:spLocks noGrp="1"/>
          </p:cNvSpPr>
          <p:nvPr/>
        </p:nvSpPr>
        <p:spPr>
          <a:xfrm>
            <a:off x="5555511" y="3387944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Figure 3 plot object 10"/>
          <p:cNvSpPr>
            <a:spLocks noGrp="1"/>
          </p:cNvSpPr>
          <p:nvPr/>
        </p:nvSpPr>
        <p:spPr>
          <a:xfrm>
            <a:off x="6484724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2" name="0.50"/>
          <p:cNvSpPr>
            <a:spLocks noGrp="1"/>
          </p:cNvSpPr>
          <p:nvPr/>
        </p:nvSpPr>
        <p:spPr>
          <a:xfrm>
            <a:off x="6345134" y="3387944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0.50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Retest score: Optimization - Discovery"/>
          <p:cNvSpPr>
            <a:spLocks noGrp="1"/>
          </p:cNvSpPr>
          <p:nvPr/>
        </p:nvSpPr>
        <p:spPr>
          <a:xfrm>
            <a:off x="3683635" y="3626485"/>
            <a:ext cx="291909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 score: Optimization - Discovery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" name="Figure 3 plot object 13"/>
          <p:cNvSpPr>
            <a:spLocks noGrp="1"/>
          </p:cNvSpPr>
          <p:nvPr/>
        </p:nvSpPr>
        <p:spPr>
          <a:xfrm>
            <a:off x="3087308" y="2993534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" name="−0.2"/>
          <p:cNvSpPr>
            <a:spLocks noGrp="1"/>
          </p:cNvSpPr>
          <p:nvPr/>
        </p:nvSpPr>
        <p:spPr>
          <a:xfrm>
            <a:off x="2746364" y="2913542"/>
            <a:ext cx="352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" name="Figure 3 plot object 15"/>
          <p:cNvSpPr>
            <a:spLocks noGrp="1"/>
          </p:cNvSpPr>
          <p:nvPr/>
        </p:nvSpPr>
        <p:spPr>
          <a:xfrm>
            <a:off x="3087308" y="2543869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" name="−0.1"/>
          <p:cNvSpPr>
            <a:spLocks noGrp="1"/>
          </p:cNvSpPr>
          <p:nvPr/>
        </p:nvSpPr>
        <p:spPr>
          <a:xfrm>
            <a:off x="2743893" y="2463877"/>
            <a:ext cx="35527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" name="Figure 3 plot object 17"/>
          <p:cNvSpPr>
            <a:spLocks noGrp="1"/>
          </p:cNvSpPr>
          <p:nvPr/>
        </p:nvSpPr>
        <p:spPr>
          <a:xfrm>
            <a:off x="3087308" y="209420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9" name="0.0"/>
          <p:cNvSpPr>
            <a:spLocks noGrp="1"/>
          </p:cNvSpPr>
          <p:nvPr/>
        </p:nvSpPr>
        <p:spPr>
          <a:xfrm>
            <a:off x="2830365" y="2014212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" name="Figure 3 plot object 19"/>
          <p:cNvSpPr>
            <a:spLocks noGrp="1"/>
          </p:cNvSpPr>
          <p:nvPr/>
        </p:nvSpPr>
        <p:spPr>
          <a:xfrm>
            <a:off x="3087308" y="1644540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1" name="0.1"/>
          <p:cNvSpPr>
            <a:spLocks noGrp="1"/>
          </p:cNvSpPr>
          <p:nvPr/>
        </p:nvSpPr>
        <p:spPr>
          <a:xfrm>
            <a:off x="2827894" y="1564548"/>
            <a:ext cx="2712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" name="Figure 3 plot object 21"/>
          <p:cNvSpPr>
            <a:spLocks noGrp="1"/>
          </p:cNvSpPr>
          <p:nvPr/>
        </p:nvSpPr>
        <p:spPr>
          <a:xfrm>
            <a:off x="3087308" y="119487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3" name="0.2"/>
          <p:cNvSpPr>
            <a:spLocks noGrp="1"/>
          </p:cNvSpPr>
          <p:nvPr/>
        </p:nvSpPr>
        <p:spPr>
          <a:xfrm>
            <a:off x="2830365" y="1114883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" name="Score MAE: Discovery - Optimization"/>
          <p:cNvSpPr>
            <a:spLocks noGrp="1"/>
          </p:cNvSpPr>
          <p:nvPr/>
        </p:nvSpPr>
        <p:spPr>
          <a:xfrm rot="-5400000">
            <a:off x="1386684" y="2249590"/>
            <a:ext cx="2433059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MAE: Discovery - Optimization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" name="Figure 3 plot object 24"/>
          <p:cNvSpPr>
            <a:spLocks noGrp="1"/>
          </p:cNvSpPr>
          <p:nvPr/>
        </p:nvSpPr>
        <p:spPr>
          <a:xfrm>
            <a:off x="4905477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26" name="Figure 3 plot object 25"/>
          <p:cNvSpPr>
            <a:spLocks noGrp="1"/>
          </p:cNvSpPr>
          <p:nvPr/>
        </p:nvSpPr>
        <p:spPr>
          <a:xfrm>
            <a:off x="3136721" y="2094205"/>
            <a:ext cx="3537513" cy="20"/>
          </a:xfrm>
          <a:custGeom>
            <a:avLst/>
            <a:gdLst/>
            <a:ahLst/>
            <a:cxnLst/>
            <a:pathLst>
              <a:path w="3537513" h="20">
                <a:moveTo>
                  <a:pt x="0" y="0"/>
                </a:moveTo>
                <a:lnTo>
                  <a:pt x="3537513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27" name="Figure 3 plot object 26"/>
          <p:cNvSpPr>
            <a:spLocks noGrp="1"/>
          </p:cNvSpPr>
          <p:nvPr/>
        </p:nvSpPr>
        <p:spPr>
          <a:xfrm>
            <a:off x="3231400" y="923822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0" name="Figure 3 plot object 29"/>
          <p:cNvSpPr>
            <a:spLocks noGrp="1"/>
          </p:cNvSpPr>
          <p:nvPr/>
        </p:nvSpPr>
        <p:spPr>
          <a:xfrm>
            <a:off x="6086995" y="923822"/>
            <a:ext cx="492558" cy="319438"/>
          </a:xfrm>
          <a:custGeom>
            <a:avLst/>
            <a:gdLst/>
            <a:ahLst/>
            <a:cxnLst/>
            <a:pathLst>
              <a:path w="492558" h="319438">
                <a:moveTo>
                  <a:pt x="0" y="319438"/>
                </a:moveTo>
                <a:lnTo>
                  <a:pt x="492558" y="319438"/>
                </a:lnTo>
                <a:lnTo>
                  <a:pt x="49255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3" name="Figure 3 plot object 32"/>
          <p:cNvSpPr>
            <a:spLocks noGrp="1"/>
          </p:cNvSpPr>
          <p:nvPr/>
        </p:nvSpPr>
        <p:spPr>
          <a:xfrm>
            <a:off x="3231400" y="2945149"/>
            <a:ext cx="485192" cy="319438"/>
          </a:xfrm>
          <a:custGeom>
            <a:avLst/>
            <a:gdLst/>
            <a:ahLst/>
            <a:cxnLst/>
            <a:pathLst>
              <a:path w="485192" h="319438">
                <a:moveTo>
                  <a:pt x="0" y="319438"/>
                </a:moveTo>
                <a:lnTo>
                  <a:pt x="485192" y="319438"/>
                </a:lnTo>
                <a:lnTo>
                  <a:pt x="485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6" name="Figure 3 plot object 35"/>
          <p:cNvSpPr>
            <a:spLocks noGrp="1"/>
          </p:cNvSpPr>
          <p:nvPr/>
        </p:nvSpPr>
        <p:spPr>
          <a:xfrm>
            <a:off x="5159815" y="2943453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9" name="Figure 3 plot object 38"/>
          <p:cNvSpPr>
            <a:spLocks noGrp="1"/>
          </p:cNvSpPr>
          <p:nvPr/>
        </p:nvSpPr>
        <p:spPr>
          <a:xfrm>
            <a:off x="3136721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40" name="Figure 3 plot object 39"/>
          <p:cNvSpPr>
            <a:spLocks noGrp="1"/>
          </p:cNvSpPr>
          <p:nvPr/>
        </p:nvSpPr>
        <p:spPr>
          <a:xfrm>
            <a:off x="3136721" y="3308299"/>
            <a:ext cx="3537513" cy="20"/>
          </a:xfrm>
          <a:custGeom>
            <a:avLst/>
            <a:gdLst/>
            <a:ahLst/>
            <a:cxnLst/>
            <a:pathLst>
              <a:path w="3537513" h="20">
                <a:moveTo>
                  <a:pt x="0" y="0"/>
                </a:moveTo>
                <a:lnTo>
                  <a:pt x="3537513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41" name="Figure 3 plot object 40"/>
          <p:cNvSpPr>
            <a:spLocks noGrp="1"/>
          </p:cNvSpPr>
          <p:nvPr/>
        </p:nvSpPr>
        <p:spPr>
          <a:xfrm>
            <a:off x="4978777" y="267983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2" name="Figure 3 plot object 41"/>
          <p:cNvSpPr>
            <a:spLocks noGrp="1"/>
          </p:cNvSpPr>
          <p:nvPr/>
        </p:nvSpPr>
        <p:spPr>
          <a:xfrm>
            <a:off x="5631518" y="228221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3" name="Figure 3 plot object 42"/>
          <p:cNvSpPr>
            <a:spLocks noGrp="1"/>
          </p:cNvSpPr>
          <p:nvPr/>
        </p:nvSpPr>
        <p:spPr>
          <a:xfrm>
            <a:off x="5675392" y="102971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4" name="Figure 3 plot object 43"/>
          <p:cNvSpPr>
            <a:spLocks noGrp="1"/>
          </p:cNvSpPr>
          <p:nvPr/>
        </p:nvSpPr>
        <p:spPr>
          <a:xfrm>
            <a:off x="5630782" y="167212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5" name="Figure 3 plot object 44"/>
          <p:cNvSpPr>
            <a:spLocks noGrp="1"/>
          </p:cNvSpPr>
          <p:nvPr/>
        </p:nvSpPr>
        <p:spPr>
          <a:xfrm>
            <a:off x="5056969" y="285825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6" name="Figure 3 plot object 45"/>
          <p:cNvSpPr>
            <a:spLocks noGrp="1"/>
          </p:cNvSpPr>
          <p:nvPr/>
        </p:nvSpPr>
        <p:spPr>
          <a:xfrm>
            <a:off x="5797770" y="164818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7" name="Figure 3 plot object 46"/>
          <p:cNvSpPr>
            <a:spLocks noGrp="1"/>
          </p:cNvSpPr>
          <p:nvPr/>
        </p:nvSpPr>
        <p:spPr>
          <a:xfrm>
            <a:off x="5254404" y="157491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8" name="Figure 3 plot object 47"/>
          <p:cNvSpPr>
            <a:spLocks noGrp="1"/>
          </p:cNvSpPr>
          <p:nvPr/>
        </p:nvSpPr>
        <p:spPr>
          <a:xfrm>
            <a:off x="5299953" y="175268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49" name="Figure 3 plot object 48"/>
          <p:cNvSpPr>
            <a:spLocks noGrp="1"/>
          </p:cNvSpPr>
          <p:nvPr/>
        </p:nvSpPr>
        <p:spPr>
          <a:xfrm>
            <a:off x="4905422" y="207269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0" name="Figure 3 plot object 49"/>
          <p:cNvSpPr>
            <a:spLocks noGrp="1"/>
          </p:cNvSpPr>
          <p:nvPr/>
        </p:nvSpPr>
        <p:spPr>
          <a:xfrm>
            <a:off x="6486829" y="267486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1" name="Figure 3 plot object 50"/>
          <p:cNvSpPr>
            <a:spLocks noGrp="1"/>
          </p:cNvSpPr>
          <p:nvPr/>
        </p:nvSpPr>
        <p:spPr>
          <a:xfrm>
            <a:off x="5980043" y="112510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2" name="Figure 3 plot object 51"/>
          <p:cNvSpPr>
            <a:spLocks noGrp="1"/>
          </p:cNvSpPr>
          <p:nvPr/>
        </p:nvSpPr>
        <p:spPr>
          <a:xfrm>
            <a:off x="5775559" y="180616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3" name="Figure 3 plot object 52"/>
          <p:cNvSpPr>
            <a:spLocks noGrp="1"/>
          </p:cNvSpPr>
          <p:nvPr/>
        </p:nvSpPr>
        <p:spPr>
          <a:xfrm>
            <a:off x="5258897" y="205638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4" name="Figure 3 plot object 53"/>
          <p:cNvSpPr>
            <a:spLocks noGrp="1"/>
          </p:cNvSpPr>
          <p:nvPr/>
        </p:nvSpPr>
        <p:spPr>
          <a:xfrm>
            <a:off x="5521758" y="199586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5" name="Figure 3 plot object 54"/>
          <p:cNvSpPr>
            <a:spLocks noGrp="1"/>
          </p:cNvSpPr>
          <p:nvPr/>
        </p:nvSpPr>
        <p:spPr>
          <a:xfrm>
            <a:off x="5632461" y="204860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6" name="Figure 3 plot object 55"/>
          <p:cNvSpPr>
            <a:spLocks noGrp="1"/>
          </p:cNvSpPr>
          <p:nvPr/>
        </p:nvSpPr>
        <p:spPr>
          <a:xfrm>
            <a:off x="5152687" y="198027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7" name="Figure 3 plot object 56"/>
          <p:cNvSpPr>
            <a:spLocks noGrp="1"/>
          </p:cNvSpPr>
          <p:nvPr/>
        </p:nvSpPr>
        <p:spPr>
          <a:xfrm>
            <a:off x="6292919" y="167749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8" name="Figure 3 plot object 57"/>
          <p:cNvSpPr>
            <a:spLocks noGrp="1"/>
          </p:cNvSpPr>
          <p:nvPr/>
        </p:nvSpPr>
        <p:spPr>
          <a:xfrm>
            <a:off x="5706621" y="224010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59" name="Figure 3 plot object 58"/>
          <p:cNvSpPr>
            <a:spLocks noGrp="1"/>
          </p:cNvSpPr>
          <p:nvPr/>
        </p:nvSpPr>
        <p:spPr>
          <a:xfrm>
            <a:off x="5575480" y="247112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0" name="Figure 3 plot object 59"/>
          <p:cNvSpPr>
            <a:spLocks noGrp="1"/>
          </p:cNvSpPr>
          <p:nvPr/>
        </p:nvSpPr>
        <p:spPr>
          <a:xfrm>
            <a:off x="6233095" y="118134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1" name="Figure 3 plot object 60"/>
          <p:cNvSpPr>
            <a:spLocks noGrp="1"/>
          </p:cNvSpPr>
          <p:nvPr/>
        </p:nvSpPr>
        <p:spPr>
          <a:xfrm>
            <a:off x="5811655" y="168364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2" name="Figure 3 plot object 61"/>
          <p:cNvSpPr>
            <a:spLocks noGrp="1"/>
          </p:cNvSpPr>
          <p:nvPr/>
        </p:nvSpPr>
        <p:spPr>
          <a:xfrm>
            <a:off x="4898920" y="274378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3" name="Figure 3 plot object 62"/>
          <p:cNvSpPr>
            <a:spLocks noGrp="1"/>
          </p:cNvSpPr>
          <p:nvPr/>
        </p:nvSpPr>
        <p:spPr>
          <a:xfrm>
            <a:off x="4994840" y="210460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4" name="Figure 3 plot object 63"/>
          <p:cNvSpPr>
            <a:spLocks noGrp="1"/>
          </p:cNvSpPr>
          <p:nvPr/>
        </p:nvSpPr>
        <p:spPr>
          <a:xfrm>
            <a:off x="5589379" y="200773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5" name="Figure 3 plot object 64"/>
          <p:cNvSpPr>
            <a:spLocks noGrp="1"/>
          </p:cNvSpPr>
          <p:nvPr/>
        </p:nvSpPr>
        <p:spPr>
          <a:xfrm>
            <a:off x="4233609" y="232811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6" name="Figure 3 plot object 65"/>
          <p:cNvSpPr>
            <a:spLocks noGrp="1"/>
          </p:cNvSpPr>
          <p:nvPr/>
        </p:nvSpPr>
        <p:spPr>
          <a:xfrm>
            <a:off x="5830359" y="212091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7" name="Figure 3 plot object 66"/>
          <p:cNvSpPr>
            <a:spLocks noGrp="1"/>
          </p:cNvSpPr>
          <p:nvPr/>
        </p:nvSpPr>
        <p:spPr>
          <a:xfrm>
            <a:off x="3994137" y="248148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8" name="Figure 3 plot object 67"/>
          <p:cNvSpPr>
            <a:spLocks noGrp="1"/>
          </p:cNvSpPr>
          <p:nvPr/>
        </p:nvSpPr>
        <p:spPr>
          <a:xfrm>
            <a:off x="4073514" y="256101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69" name="Figure 3 plot object 68"/>
          <p:cNvSpPr>
            <a:spLocks noGrp="1"/>
          </p:cNvSpPr>
          <p:nvPr/>
        </p:nvSpPr>
        <p:spPr>
          <a:xfrm>
            <a:off x="5259030" y="278744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70" name="Figure 3 plot object 69"/>
          <p:cNvSpPr>
            <a:spLocks noGrp="1"/>
          </p:cNvSpPr>
          <p:nvPr/>
        </p:nvSpPr>
        <p:spPr>
          <a:xfrm>
            <a:off x="4650151" y="174699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71" name="Figure 3 plot object 70"/>
          <p:cNvSpPr>
            <a:spLocks noGrp="1"/>
          </p:cNvSpPr>
          <p:nvPr/>
        </p:nvSpPr>
        <p:spPr>
          <a:xfrm>
            <a:off x="4941038" y="2642095"/>
            <a:ext cx="172306" cy="172306"/>
          </a:xfrm>
          <a:custGeom>
            <a:avLst/>
            <a:gdLst/>
            <a:ahLst/>
            <a:cxnLst/>
            <a:pathLst>
              <a:path w="172306" h="172306">
                <a:moveTo>
                  <a:pt x="86153" y="172306"/>
                </a:moveTo>
                <a:cubicBezTo>
                  <a:pt x="109001" y="172306"/>
                  <a:pt x="130917" y="163229"/>
                  <a:pt x="147073" y="147073"/>
                </a:cubicBezTo>
                <a:cubicBezTo>
                  <a:pt x="163229" y="130917"/>
                  <a:pt x="172306" y="109001"/>
                  <a:pt x="172306" y="86153"/>
                </a:cubicBezTo>
                <a:cubicBezTo>
                  <a:pt x="172306" y="63305"/>
                  <a:pt x="163229" y="41390"/>
                  <a:pt x="147073" y="25234"/>
                </a:cubicBezTo>
                <a:cubicBezTo>
                  <a:pt x="130917" y="9078"/>
                  <a:pt x="109001" y="0"/>
                  <a:pt x="86153" y="0"/>
                </a:cubicBezTo>
                <a:cubicBezTo>
                  <a:pt x="63305" y="0"/>
                  <a:pt x="41390" y="9078"/>
                  <a:pt x="25234" y="25234"/>
                </a:cubicBezTo>
                <a:cubicBezTo>
                  <a:pt x="9078" y="41390"/>
                  <a:pt x="0" y="63305"/>
                  <a:pt x="0" y="86153"/>
                </a:cubicBezTo>
                <a:cubicBezTo>
                  <a:pt x="0" y="109001"/>
                  <a:pt x="9078" y="130917"/>
                  <a:pt x="25234" y="147073"/>
                </a:cubicBezTo>
                <a:cubicBezTo>
                  <a:pt x="41390" y="163229"/>
                  <a:pt x="63305" y="172306"/>
                  <a:pt x="86153" y="172306"/>
                </a:cubicBezTo>
                <a:lnTo>
                  <a:pt x="86153" y="172306"/>
                </a:lnTo>
                <a:close/>
              </a:path>
            </a:pathLst>
          </a:custGeom>
          <a:noFill/>
          <a:ln w="15812">
            <a:solidFill>
              <a:srgbClr val="171717"/>
            </a:solidFill>
            <a:prstDash val="solid"/>
          </a:ln>
        </p:spPr>
      </p:sp>
      <p:sp>
        <p:nvSpPr>
          <p:cNvPr id="72" name="Figure 3 plot object 71"/>
          <p:cNvSpPr>
            <a:spLocks noGrp="1"/>
          </p:cNvSpPr>
          <p:nvPr/>
        </p:nvSpPr>
        <p:spPr>
          <a:xfrm>
            <a:off x="7914660" y="880110"/>
            <a:ext cx="3399687" cy="2428189"/>
          </a:xfrm>
          <a:custGeom>
            <a:avLst/>
            <a:gdLst/>
            <a:ahLst/>
            <a:cxnLst/>
            <a:pathLst>
              <a:path w="3399687" h="2428189">
                <a:moveTo>
                  <a:pt x="0" y="2428189"/>
                </a:moveTo>
                <a:lnTo>
                  <a:pt x="3399687" y="2428189"/>
                </a:lnTo>
                <a:lnTo>
                  <a:pt x="33996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73" name="Figure 3 plot object 72"/>
          <p:cNvSpPr>
            <a:spLocks noGrp="1"/>
          </p:cNvSpPr>
          <p:nvPr/>
        </p:nvSpPr>
        <p:spPr>
          <a:xfrm>
            <a:off x="8339621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74" name="−0.06"/>
          <p:cNvSpPr>
            <a:spLocks noGrp="1"/>
          </p:cNvSpPr>
          <p:nvPr/>
        </p:nvSpPr>
        <p:spPr>
          <a:xfrm>
            <a:off x="8159266" y="3387944"/>
            <a:ext cx="43186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−0.06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5" name="Figure 3 plot object 74"/>
          <p:cNvSpPr>
            <a:spLocks noGrp="1"/>
          </p:cNvSpPr>
          <p:nvPr/>
        </p:nvSpPr>
        <p:spPr>
          <a:xfrm>
            <a:off x="8977062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76" name="−0.03"/>
          <p:cNvSpPr>
            <a:spLocks noGrp="1"/>
          </p:cNvSpPr>
          <p:nvPr/>
        </p:nvSpPr>
        <p:spPr>
          <a:xfrm>
            <a:off x="8796707" y="3387944"/>
            <a:ext cx="43186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−0.03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Figure 3 plot object 76"/>
          <p:cNvSpPr>
            <a:spLocks noGrp="1"/>
          </p:cNvSpPr>
          <p:nvPr/>
        </p:nvSpPr>
        <p:spPr>
          <a:xfrm>
            <a:off x="9614503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78" name="0.00"/>
          <p:cNvSpPr>
            <a:spLocks noGrp="1"/>
          </p:cNvSpPr>
          <p:nvPr/>
        </p:nvSpPr>
        <p:spPr>
          <a:xfrm>
            <a:off x="9476149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Figure 3 plot object 78"/>
          <p:cNvSpPr>
            <a:spLocks noGrp="1"/>
          </p:cNvSpPr>
          <p:nvPr/>
        </p:nvSpPr>
        <p:spPr>
          <a:xfrm>
            <a:off x="10251945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0" name="0.03"/>
          <p:cNvSpPr>
            <a:spLocks noGrp="1"/>
          </p:cNvSpPr>
          <p:nvPr/>
        </p:nvSpPr>
        <p:spPr>
          <a:xfrm>
            <a:off x="10113590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Figure 3 plot object 80"/>
          <p:cNvSpPr>
            <a:spLocks noGrp="1"/>
          </p:cNvSpPr>
          <p:nvPr/>
        </p:nvSpPr>
        <p:spPr>
          <a:xfrm>
            <a:off x="10889386" y="3308299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2" name="0.06"/>
          <p:cNvSpPr>
            <a:spLocks noGrp="1"/>
          </p:cNvSpPr>
          <p:nvPr/>
        </p:nvSpPr>
        <p:spPr>
          <a:xfrm>
            <a:off x="10751032" y="3387944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Retest score: Optimization - Discovery"/>
          <p:cNvSpPr>
            <a:spLocks noGrp="1"/>
          </p:cNvSpPr>
          <p:nvPr/>
        </p:nvSpPr>
        <p:spPr>
          <a:xfrm>
            <a:off x="8405495" y="3626485"/>
            <a:ext cx="28721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 score: Optimization - Discovery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4" name="Figure 3 plot object 83"/>
          <p:cNvSpPr>
            <a:spLocks noGrp="1"/>
          </p:cNvSpPr>
          <p:nvPr/>
        </p:nvSpPr>
        <p:spPr>
          <a:xfrm>
            <a:off x="7865247" y="3197927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5" name="−0.2"/>
          <p:cNvSpPr>
            <a:spLocks noGrp="1"/>
          </p:cNvSpPr>
          <p:nvPr/>
        </p:nvSpPr>
        <p:spPr>
          <a:xfrm>
            <a:off x="7524303" y="3117935"/>
            <a:ext cx="352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6" name="Figure 3 plot object 85"/>
          <p:cNvSpPr>
            <a:spLocks noGrp="1"/>
          </p:cNvSpPr>
          <p:nvPr/>
        </p:nvSpPr>
        <p:spPr>
          <a:xfrm>
            <a:off x="7865247" y="264606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7" name="−0.1"/>
          <p:cNvSpPr>
            <a:spLocks noGrp="1"/>
          </p:cNvSpPr>
          <p:nvPr/>
        </p:nvSpPr>
        <p:spPr>
          <a:xfrm>
            <a:off x="7521832" y="2566074"/>
            <a:ext cx="35527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−0.1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8" name="Figure 3 plot object 87"/>
          <p:cNvSpPr>
            <a:spLocks noGrp="1"/>
          </p:cNvSpPr>
          <p:nvPr/>
        </p:nvSpPr>
        <p:spPr>
          <a:xfrm>
            <a:off x="7865247" y="209420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89" name="0.0"/>
          <p:cNvSpPr>
            <a:spLocks noGrp="1"/>
          </p:cNvSpPr>
          <p:nvPr/>
        </p:nvSpPr>
        <p:spPr>
          <a:xfrm>
            <a:off x="7608304" y="2014212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0" name="Figure 3 plot object 89"/>
          <p:cNvSpPr>
            <a:spLocks noGrp="1"/>
          </p:cNvSpPr>
          <p:nvPr/>
        </p:nvSpPr>
        <p:spPr>
          <a:xfrm>
            <a:off x="7865247" y="1542343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91" name="0.1"/>
          <p:cNvSpPr>
            <a:spLocks noGrp="1"/>
          </p:cNvSpPr>
          <p:nvPr/>
        </p:nvSpPr>
        <p:spPr>
          <a:xfrm>
            <a:off x="7605833" y="1462351"/>
            <a:ext cx="2712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2" name="Figure 3 plot object 91"/>
          <p:cNvSpPr>
            <a:spLocks noGrp="1"/>
          </p:cNvSpPr>
          <p:nvPr/>
        </p:nvSpPr>
        <p:spPr>
          <a:xfrm>
            <a:off x="7865247" y="990482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93" name="0.2"/>
          <p:cNvSpPr>
            <a:spLocks noGrp="1"/>
          </p:cNvSpPr>
          <p:nvPr/>
        </p:nvSpPr>
        <p:spPr>
          <a:xfrm>
            <a:off x="7608304" y="910490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4" name="Score MAE: Discovery - Optimization"/>
          <p:cNvSpPr>
            <a:spLocks noGrp="1"/>
          </p:cNvSpPr>
          <p:nvPr/>
        </p:nvSpPr>
        <p:spPr>
          <a:xfrm rot="-5400000">
            <a:off x="6164623" y="2249590"/>
            <a:ext cx="2433059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MAE: Discovery - Optimization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Figure 3 plot object 94"/>
          <p:cNvSpPr>
            <a:spLocks noGrp="1"/>
          </p:cNvSpPr>
          <p:nvPr/>
        </p:nvSpPr>
        <p:spPr>
          <a:xfrm>
            <a:off x="9614503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96" name="Figure 3 plot object 95"/>
          <p:cNvSpPr>
            <a:spLocks noGrp="1"/>
          </p:cNvSpPr>
          <p:nvPr/>
        </p:nvSpPr>
        <p:spPr>
          <a:xfrm>
            <a:off x="7914660" y="2094205"/>
            <a:ext cx="3399687" cy="20"/>
          </a:xfrm>
          <a:custGeom>
            <a:avLst/>
            <a:gdLst/>
            <a:ahLst/>
            <a:cxnLst/>
            <a:pathLst>
              <a:path w="3399687" h="20">
                <a:moveTo>
                  <a:pt x="0" y="0"/>
                </a:moveTo>
                <a:lnTo>
                  <a:pt x="3399687" y="0"/>
                </a:lnTo>
              </a:path>
            </a:pathLst>
          </a:custGeom>
          <a:noFill/>
          <a:ln w="12847">
            <a:solidFill>
              <a:srgbClr val="828282"/>
            </a:solidFill>
            <a:custDash>
              <a:ds d="300000" sp="300000"/>
            </a:custDash>
          </a:ln>
        </p:spPr>
      </p:sp>
      <p:sp>
        <p:nvSpPr>
          <p:cNvPr id="97" name="Figure 3 plot object 96"/>
          <p:cNvSpPr>
            <a:spLocks noGrp="1"/>
          </p:cNvSpPr>
          <p:nvPr/>
        </p:nvSpPr>
        <p:spPr>
          <a:xfrm>
            <a:off x="8004515" y="923822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0" name="Figure 3 plot object 99"/>
          <p:cNvSpPr>
            <a:spLocks noGrp="1"/>
          </p:cNvSpPr>
          <p:nvPr/>
        </p:nvSpPr>
        <p:spPr>
          <a:xfrm>
            <a:off x="10731933" y="923822"/>
            <a:ext cx="492558" cy="319438"/>
          </a:xfrm>
          <a:custGeom>
            <a:avLst/>
            <a:gdLst/>
            <a:ahLst/>
            <a:cxnLst/>
            <a:pathLst>
              <a:path w="492558" h="319438">
                <a:moveTo>
                  <a:pt x="0" y="319438"/>
                </a:moveTo>
                <a:lnTo>
                  <a:pt x="492558" y="319438"/>
                </a:lnTo>
                <a:lnTo>
                  <a:pt x="49255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3" name="Figure 3 plot object 102"/>
          <p:cNvSpPr>
            <a:spLocks noGrp="1"/>
          </p:cNvSpPr>
          <p:nvPr/>
        </p:nvSpPr>
        <p:spPr>
          <a:xfrm>
            <a:off x="8004515" y="2945149"/>
            <a:ext cx="485192" cy="319438"/>
          </a:xfrm>
          <a:custGeom>
            <a:avLst/>
            <a:gdLst/>
            <a:ahLst/>
            <a:cxnLst/>
            <a:pathLst>
              <a:path w="485192" h="319438">
                <a:moveTo>
                  <a:pt x="0" y="319438"/>
                </a:moveTo>
                <a:lnTo>
                  <a:pt x="485192" y="319438"/>
                </a:lnTo>
                <a:lnTo>
                  <a:pt x="485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6" name="Figure 3 plot object 105"/>
          <p:cNvSpPr>
            <a:spLocks noGrp="1"/>
          </p:cNvSpPr>
          <p:nvPr/>
        </p:nvSpPr>
        <p:spPr>
          <a:xfrm>
            <a:off x="9804752" y="2943453"/>
            <a:ext cx="1419739" cy="321134"/>
          </a:xfrm>
          <a:custGeom>
            <a:avLst/>
            <a:gdLst/>
            <a:ahLst/>
            <a:cxnLst/>
            <a:pathLst>
              <a:path w="1419739" h="321134">
                <a:moveTo>
                  <a:pt x="0" y="321134"/>
                </a:moveTo>
                <a:lnTo>
                  <a:pt x="1419739" y="321134"/>
                </a:lnTo>
                <a:lnTo>
                  <a:pt x="14197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09" name="Figure 3 plot object 108"/>
          <p:cNvSpPr>
            <a:spLocks noGrp="1"/>
          </p:cNvSpPr>
          <p:nvPr/>
        </p:nvSpPr>
        <p:spPr>
          <a:xfrm>
            <a:off x="7914660" y="880110"/>
            <a:ext cx="20" cy="2428189"/>
          </a:xfrm>
          <a:custGeom>
            <a:avLst/>
            <a:gdLst/>
            <a:ahLst/>
            <a:cxnLst/>
            <a:pathLst>
              <a:path w="20" h="2428189">
                <a:moveTo>
                  <a:pt x="0" y="242818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110" name="Figure 3 plot object 109"/>
          <p:cNvSpPr>
            <a:spLocks noGrp="1"/>
          </p:cNvSpPr>
          <p:nvPr/>
        </p:nvSpPr>
        <p:spPr>
          <a:xfrm>
            <a:off x="7914660" y="3308299"/>
            <a:ext cx="3399687" cy="20"/>
          </a:xfrm>
          <a:custGeom>
            <a:avLst/>
            <a:gdLst/>
            <a:ahLst/>
            <a:cxnLst/>
            <a:pathLst>
              <a:path w="3399687" h="20">
                <a:moveTo>
                  <a:pt x="0" y="0"/>
                </a:moveTo>
                <a:lnTo>
                  <a:pt x="3399687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111" name="Figure 3 plot object 110"/>
          <p:cNvSpPr>
            <a:spLocks noGrp="1"/>
          </p:cNvSpPr>
          <p:nvPr/>
        </p:nvSpPr>
        <p:spPr>
          <a:xfrm>
            <a:off x="10411298" y="244451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2" name="Figure 3 plot object 111"/>
          <p:cNvSpPr>
            <a:spLocks noGrp="1"/>
          </p:cNvSpPr>
          <p:nvPr/>
        </p:nvSpPr>
        <p:spPr>
          <a:xfrm>
            <a:off x="8534239" y="213316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3" name="Figure 3 plot object 112"/>
          <p:cNvSpPr>
            <a:spLocks noGrp="1"/>
          </p:cNvSpPr>
          <p:nvPr/>
        </p:nvSpPr>
        <p:spPr>
          <a:xfrm>
            <a:off x="9784630" y="177537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4" name="Figure 3 plot object 113"/>
          <p:cNvSpPr>
            <a:spLocks noGrp="1"/>
          </p:cNvSpPr>
          <p:nvPr/>
        </p:nvSpPr>
        <p:spPr>
          <a:xfrm>
            <a:off x="10858783" y="216610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5" name="Figure 3 plot object 114"/>
          <p:cNvSpPr>
            <a:spLocks noGrp="1"/>
          </p:cNvSpPr>
          <p:nvPr/>
        </p:nvSpPr>
        <p:spPr>
          <a:xfrm>
            <a:off x="9279809" y="192990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6" name="Figure 3 plot object 115"/>
          <p:cNvSpPr>
            <a:spLocks noGrp="1"/>
          </p:cNvSpPr>
          <p:nvPr/>
        </p:nvSpPr>
        <p:spPr>
          <a:xfrm>
            <a:off x="9856162" y="2407885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7" name="Figure 3 plot object 116"/>
          <p:cNvSpPr>
            <a:spLocks noGrp="1"/>
          </p:cNvSpPr>
          <p:nvPr/>
        </p:nvSpPr>
        <p:spPr>
          <a:xfrm>
            <a:off x="9426030" y="238046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8" name="Figure 3 plot object 117"/>
          <p:cNvSpPr>
            <a:spLocks noGrp="1"/>
          </p:cNvSpPr>
          <p:nvPr/>
        </p:nvSpPr>
        <p:spPr>
          <a:xfrm>
            <a:off x="8966899" y="242211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19" name="Figure 3 plot object 118"/>
          <p:cNvSpPr>
            <a:spLocks noGrp="1"/>
          </p:cNvSpPr>
          <p:nvPr/>
        </p:nvSpPr>
        <p:spPr>
          <a:xfrm>
            <a:off x="8944625" y="210189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0" name="Figure 3 plot object 119"/>
          <p:cNvSpPr>
            <a:spLocks noGrp="1"/>
          </p:cNvSpPr>
          <p:nvPr/>
        </p:nvSpPr>
        <p:spPr>
          <a:xfrm>
            <a:off x="9511738" y="227860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637482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1" name="Figure 3 plot object 120"/>
          <p:cNvSpPr>
            <a:spLocks noGrp="1"/>
          </p:cNvSpPr>
          <p:nvPr/>
        </p:nvSpPr>
        <p:spPr>
          <a:xfrm>
            <a:off x="9367428" y="225767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2" name="Figure 3 plot object 121"/>
          <p:cNvSpPr>
            <a:spLocks noGrp="1"/>
          </p:cNvSpPr>
          <p:nvPr/>
        </p:nvSpPr>
        <p:spPr>
          <a:xfrm>
            <a:off x="9180096" y="215321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3" name="Figure 3 plot object 122"/>
          <p:cNvSpPr>
            <a:spLocks noGrp="1"/>
          </p:cNvSpPr>
          <p:nvPr/>
        </p:nvSpPr>
        <p:spPr>
          <a:xfrm>
            <a:off x="8410669" y="2080107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4" name="Figure 3 plot object 123"/>
          <p:cNvSpPr>
            <a:spLocks noGrp="1"/>
          </p:cNvSpPr>
          <p:nvPr/>
        </p:nvSpPr>
        <p:spPr>
          <a:xfrm>
            <a:off x="10590100" y="2078840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5" name="Figure 3 plot object 124"/>
          <p:cNvSpPr>
            <a:spLocks noGrp="1"/>
          </p:cNvSpPr>
          <p:nvPr/>
        </p:nvSpPr>
        <p:spPr>
          <a:xfrm>
            <a:off x="9610681" y="174947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6" name="Figure 3 plot object 125"/>
          <p:cNvSpPr>
            <a:spLocks noGrp="1"/>
          </p:cNvSpPr>
          <p:nvPr/>
        </p:nvSpPr>
        <p:spPr>
          <a:xfrm>
            <a:off x="9304818" y="197691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7" name="Figure 3 plot object 126"/>
          <p:cNvSpPr>
            <a:spLocks noGrp="1"/>
          </p:cNvSpPr>
          <p:nvPr/>
        </p:nvSpPr>
        <p:spPr>
          <a:xfrm>
            <a:off x="8952336" y="197987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8" name="Figure 3 plot object 127"/>
          <p:cNvSpPr>
            <a:spLocks noGrp="1"/>
          </p:cNvSpPr>
          <p:nvPr/>
        </p:nvSpPr>
        <p:spPr>
          <a:xfrm>
            <a:off x="9871548" y="208770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29" name="Figure 3 plot object 128"/>
          <p:cNvSpPr>
            <a:spLocks noGrp="1"/>
          </p:cNvSpPr>
          <p:nvPr/>
        </p:nvSpPr>
        <p:spPr>
          <a:xfrm>
            <a:off x="9154455" y="3036954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0" name="Figure 3 plot object 129"/>
          <p:cNvSpPr>
            <a:spLocks noGrp="1"/>
          </p:cNvSpPr>
          <p:nvPr/>
        </p:nvSpPr>
        <p:spPr>
          <a:xfrm>
            <a:off x="9432734" y="220991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277F8A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1" name="Figure 3 plot object 130"/>
          <p:cNvSpPr>
            <a:spLocks noGrp="1"/>
          </p:cNvSpPr>
          <p:nvPr/>
        </p:nvSpPr>
        <p:spPr>
          <a:xfrm>
            <a:off x="8841841" y="233931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2" name="Figure 3 plot object 131"/>
          <p:cNvSpPr>
            <a:spLocks noGrp="1"/>
          </p:cNvSpPr>
          <p:nvPr/>
        </p:nvSpPr>
        <p:spPr>
          <a:xfrm>
            <a:off x="9013217" y="180574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3" name="Figure 3 plot object 132"/>
          <p:cNvSpPr>
            <a:spLocks noGrp="1"/>
          </p:cNvSpPr>
          <p:nvPr/>
        </p:nvSpPr>
        <p:spPr>
          <a:xfrm>
            <a:off x="8798331" y="205778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4" name="Figure 3 plot object 133"/>
          <p:cNvSpPr>
            <a:spLocks noGrp="1"/>
          </p:cNvSpPr>
          <p:nvPr/>
        </p:nvSpPr>
        <p:spPr>
          <a:xfrm>
            <a:off x="9117787" y="2215769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5" name="Figure 3 plot object 134"/>
          <p:cNvSpPr>
            <a:spLocks noGrp="1"/>
          </p:cNvSpPr>
          <p:nvPr/>
        </p:nvSpPr>
        <p:spPr>
          <a:xfrm>
            <a:off x="8975281" y="229897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6" name="Figure 3 plot object 135"/>
          <p:cNvSpPr>
            <a:spLocks noGrp="1"/>
          </p:cNvSpPr>
          <p:nvPr/>
        </p:nvSpPr>
        <p:spPr>
          <a:xfrm>
            <a:off x="10820191" y="2035323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7" name="Figure 3 plot object 136"/>
          <p:cNvSpPr>
            <a:spLocks noGrp="1"/>
          </p:cNvSpPr>
          <p:nvPr/>
        </p:nvSpPr>
        <p:spPr>
          <a:xfrm>
            <a:off x="8780904" y="2512608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8" name="Figure 3 plot object 137"/>
          <p:cNvSpPr>
            <a:spLocks noGrp="1"/>
          </p:cNvSpPr>
          <p:nvPr/>
        </p:nvSpPr>
        <p:spPr>
          <a:xfrm>
            <a:off x="9392565" y="2190562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39" name="Figure 3 plot object 138"/>
          <p:cNvSpPr>
            <a:spLocks noGrp="1"/>
          </p:cNvSpPr>
          <p:nvPr/>
        </p:nvSpPr>
        <p:spPr>
          <a:xfrm>
            <a:off x="9011465" y="2132256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40" name="Figure 3 plot object 139"/>
          <p:cNvSpPr>
            <a:spLocks noGrp="1"/>
          </p:cNvSpPr>
          <p:nvPr/>
        </p:nvSpPr>
        <p:spPr>
          <a:xfrm>
            <a:off x="10616754" y="1903951"/>
            <a:ext cx="96828" cy="96828"/>
          </a:xfrm>
          <a:custGeom>
            <a:avLst/>
            <a:gdLst/>
            <a:ahLst/>
            <a:cxnLst/>
            <a:pathLst>
              <a:path w="96828" h="96828">
                <a:moveTo>
                  <a:pt x="48414" y="96828"/>
                </a:moveTo>
                <a:cubicBezTo>
                  <a:pt x="61253" y="96828"/>
                  <a:pt x="73569" y="91727"/>
                  <a:pt x="82648" y="82648"/>
                </a:cubicBezTo>
                <a:cubicBezTo>
                  <a:pt x="91727" y="73569"/>
                  <a:pt x="96828" y="61253"/>
                  <a:pt x="96828" y="48414"/>
                </a:cubicBezTo>
                <a:cubicBezTo>
                  <a:pt x="96828" y="35574"/>
                  <a:pt x="91727" y="23259"/>
                  <a:pt x="82648" y="14180"/>
                </a:cubicBezTo>
                <a:cubicBezTo>
                  <a:pt x="73569" y="5101"/>
                  <a:pt x="61253" y="0"/>
                  <a:pt x="48414" y="0"/>
                </a:cubicBezTo>
                <a:cubicBezTo>
                  <a:pt x="35574" y="0"/>
                  <a:pt x="23259" y="5101"/>
                  <a:pt x="14180" y="14180"/>
                </a:cubicBezTo>
                <a:cubicBezTo>
                  <a:pt x="5101" y="23259"/>
                  <a:pt x="0" y="35574"/>
                  <a:pt x="0" y="48414"/>
                </a:cubicBezTo>
                <a:cubicBezTo>
                  <a:pt x="0" y="61253"/>
                  <a:pt x="5101" y="73569"/>
                  <a:pt x="14180" y="82648"/>
                </a:cubicBezTo>
                <a:cubicBezTo>
                  <a:pt x="23259" y="91727"/>
                  <a:pt x="35574" y="96828"/>
                  <a:pt x="48414" y="96828"/>
                </a:cubicBezTo>
                <a:close/>
              </a:path>
            </a:pathLst>
          </a:custGeom>
          <a:solidFill>
            <a:srgbClr val="BC7850"/>
          </a:solidFill>
          <a:ln w="8894">
            <a:solidFill>
              <a:srgbClr val="FFFFFF"/>
            </a:solidFill>
            <a:prstDash val="solid"/>
          </a:ln>
        </p:spPr>
      </p:sp>
      <p:sp>
        <p:nvSpPr>
          <p:cNvPr id="141" name="Figure 3 plot object 140"/>
          <p:cNvSpPr>
            <a:spLocks noGrp="1"/>
          </p:cNvSpPr>
          <p:nvPr/>
        </p:nvSpPr>
        <p:spPr>
          <a:xfrm>
            <a:off x="3136721" y="4751857"/>
            <a:ext cx="7212850" cy="1762049"/>
          </a:xfrm>
          <a:custGeom>
            <a:avLst/>
            <a:gdLst/>
            <a:ahLst/>
            <a:cxnLst/>
            <a:pathLst>
              <a:path w="7212850" h="1762049">
                <a:moveTo>
                  <a:pt x="0" y="1762049"/>
                </a:moveTo>
                <a:lnTo>
                  <a:pt x="7212850" y="1762049"/>
                </a:lnTo>
                <a:lnTo>
                  <a:pt x="7212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42" name="Figure 3 plot object 141"/>
          <p:cNvSpPr>
            <a:spLocks noGrp="1"/>
          </p:cNvSpPr>
          <p:nvPr/>
        </p:nvSpPr>
        <p:spPr>
          <a:xfrm>
            <a:off x="3366104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3" name="1"/>
          <p:cNvSpPr>
            <a:spLocks noGrp="1"/>
          </p:cNvSpPr>
          <p:nvPr/>
        </p:nvSpPr>
        <p:spPr>
          <a:xfrm>
            <a:off x="3325339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4" name="Figure 3 plot object 143"/>
          <p:cNvSpPr>
            <a:spLocks noGrp="1"/>
          </p:cNvSpPr>
          <p:nvPr/>
        </p:nvSpPr>
        <p:spPr>
          <a:xfrm>
            <a:off x="3875847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5" name="2"/>
          <p:cNvSpPr>
            <a:spLocks noGrp="1"/>
          </p:cNvSpPr>
          <p:nvPr/>
        </p:nvSpPr>
        <p:spPr>
          <a:xfrm>
            <a:off x="3836317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6" name="Figure 3 plot object 145"/>
          <p:cNvSpPr>
            <a:spLocks noGrp="1"/>
          </p:cNvSpPr>
          <p:nvPr/>
        </p:nvSpPr>
        <p:spPr>
          <a:xfrm>
            <a:off x="4385589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7" name="3"/>
          <p:cNvSpPr>
            <a:spLocks noGrp="1"/>
          </p:cNvSpPr>
          <p:nvPr/>
        </p:nvSpPr>
        <p:spPr>
          <a:xfrm>
            <a:off x="4346059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8" name="Figure 3 plot object 147"/>
          <p:cNvSpPr>
            <a:spLocks noGrp="1"/>
          </p:cNvSpPr>
          <p:nvPr/>
        </p:nvSpPr>
        <p:spPr>
          <a:xfrm>
            <a:off x="4895331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49" name="4"/>
          <p:cNvSpPr>
            <a:spLocks noGrp="1"/>
          </p:cNvSpPr>
          <p:nvPr/>
        </p:nvSpPr>
        <p:spPr>
          <a:xfrm>
            <a:off x="4854566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Figure 3 plot object 149"/>
          <p:cNvSpPr>
            <a:spLocks noGrp="1"/>
          </p:cNvSpPr>
          <p:nvPr/>
        </p:nvSpPr>
        <p:spPr>
          <a:xfrm>
            <a:off x="5405073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1" name="5"/>
          <p:cNvSpPr>
            <a:spLocks noGrp="1"/>
          </p:cNvSpPr>
          <p:nvPr/>
        </p:nvSpPr>
        <p:spPr>
          <a:xfrm>
            <a:off x="5364308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Figure 3 plot object 151"/>
          <p:cNvSpPr>
            <a:spLocks noGrp="1"/>
          </p:cNvSpPr>
          <p:nvPr/>
        </p:nvSpPr>
        <p:spPr>
          <a:xfrm>
            <a:off x="5914815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3" name="6"/>
          <p:cNvSpPr>
            <a:spLocks noGrp="1"/>
          </p:cNvSpPr>
          <p:nvPr/>
        </p:nvSpPr>
        <p:spPr>
          <a:xfrm>
            <a:off x="5875285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4" name="Figure 3 plot object 153"/>
          <p:cNvSpPr>
            <a:spLocks noGrp="1"/>
          </p:cNvSpPr>
          <p:nvPr/>
        </p:nvSpPr>
        <p:spPr>
          <a:xfrm>
            <a:off x="6424557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5" name="7"/>
          <p:cNvSpPr>
            <a:spLocks noGrp="1"/>
          </p:cNvSpPr>
          <p:nvPr/>
        </p:nvSpPr>
        <p:spPr>
          <a:xfrm>
            <a:off x="6383792" y="6593551"/>
            <a:ext cx="1526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6" name="Figure 3 plot object 155"/>
          <p:cNvSpPr>
            <a:spLocks noGrp="1"/>
          </p:cNvSpPr>
          <p:nvPr/>
        </p:nvSpPr>
        <p:spPr>
          <a:xfrm>
            <a:off x="6934299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7" name="8"/>
          <p:cNvSpPr>
            <a:spLocks noGrp="1"/>
          </p:cNvSpPr>
          <p:nvPr/>
        </p:nvSpPr>
        <p:spPr>
          <a:xfrm>
            <a:off x="6894769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Figure 3 plot object 157"/>
          <p:cNvSpPr>
            <a:spLocks noGrp="1"/>
          </p:cNvSpPr>
          <p:nvPr/>
        </p:nvSpPr>
        <p:spPr>
          <a:xfrm>
            <a:off x="7444041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59" name="9"/>
          <p:cNvSpPr>
            <a:spLocks noGrp="1"/>
          </p:cNvSpPr>
          <p:nvPr/>
        </p:nvSpPr>
        <p:spPr>
          <a:xfrm>
            <a:off x="7404511" y="6593551"/>
            <a:ext cx="15021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Figure 3 plot object 159"/>
          <p:cNvSpPr>
            <a:spLocks noGrp="1"/>
          </p:cNvSpPr>
          <p:nvPr/>
        </p:nvSpPr>
        <p:spPr>
          <a:xfrm>
            <a:off x="7953783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1" name="10"/>
          <p:cNvSpPr>
            <a:spLocks noGrp="1"/>
          </p:cNvSpPr>
          <p:nvPr/>
        </p:nvSpPr>
        <p:spPr>
          <a:xfrm>
            <a:off x="7873488" y="6593551"/>
            <a:ext cx="23174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2" name="Figure 3 plot object 161"/>
          <p:cNvSpPr>
            <a:spLocks noGrp="1"/>
          </p:cNvSpPr>
          <p:nvPr/>
        </p:nvSpPr>
        <p:spPr>
          <a:xfrm>
            <a:off x="8463525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3" name="11"/>
          <p:cNvSpPr>
            <a:spLocks noGrp="1"/>
          </p:cNvSpPr>
          <p:nvPr/>
        </p:nvSpPr>
        <p:spPr>
          <a:xfrm>
            <a:off x="8386936" y="6593551"/>
            <a:ext cx="22433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4" name="Figure 3 plot object 163"/>
          <p:cNvSpPr>
            <a:spLocks noGrp="1"/>
          </p:cNvSpPr>
          <p:nvPr/>
        </p:nvSpPr>
        <p:spPr>
          <a:xfrm>
            <a:off x="8973267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5" name="12"/>
          <p:cNvSpPr>
            <a:spLocks noGrp="1"/>
          </p:cNvSpPr>
          <p:nvPr/>
        </p:nvSpPr>
        <p:spPr>
          <a:xfrm>
            <a:off x="8892972" y="6593551"/>
            <a:ext cx="23174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6" name="Figure 3 plot object 165"/>
          <p:cNvSpPr>
            <a:spLocks noGrp="1"/>
          </p:cNvSpPr>
          <p:nvPr/>
        </p:nvSpPr>
        <p:spPr>
          <a:xfrm>
            <a:off x="9992751" y="6513906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7" name="Retest"/>
          <p:cNvSpPr>
            <a:spLocks noGrp="1"/>
          </p:cNvSpPr>
          <p:nvPr/>
        </p:nvSpPr>
        <p:spPr>
          <a:xfrm>
            <a:off x="9783985" y="6593551"/>
            <a:ext cx="488687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8" name="Figure 3 plot object 167"/>
          <p:cNvSpPr>
            <a:spLocks noGrp="1"/>
          </p:cNvSpPr>
          <p:nvPr/>
        </p:nvSpPr>
        <p:spPr>
          <a:xfrm>
            <a:off x="3087308" y="6428185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69" name="0.00"/>
          <p:cNvSpPr>
            <a:spLocks noGrp="1"/>
          </p:cNvSpPr>
          <p:nvPr/>
        </p:nvSpPr>
        <p:spPr>
          <a:xfrm>
            <a:off x="2751305" y="6348193"/>
            <a:ext cx="3478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0" name="Figure 3 plot object 169"/>
          <p:cNvSpPr>
            <a:spLocks noGrp="1"/>
          </p:cNvSpPr>
          <p:nvPr/>
        </p:nvSpPr>
        <p:spPr>
          <a:xfrm>
            <a:off x="3087308" y="595195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1" name="0.25"/>
          <p:cNvSpPr>
            <a:spLocks noGrp="1"/>
          </p:cNvSpPr>
          <p:nvPr/>
        </p:nvSpPr>
        <p:spPr>
          <a:xfrm>
            <a:off x="2748834" y="5871963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2" name="Figure 3 plot object 171"/>
          <p:cNvSpPr>
            <a:spLocks noGrp="1"/>
          </p:cNvSpPr>
          <p:nvPr/>
        </p:nvSpPr>
        <p:spPr>
          <a:xfrm>
            <a:off x="3087308" y="547572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3" name="0.50"/>
          <p:cNvSpPr>
            <a:spLocks noGrp="1"/>
          </p:cNvSpPr>
          <p:nvPr/>
        </p:nvSpPr>
        <p:spPr>
          <a:xfrm>
            <a:off x="2748834" y="5395734"/>
            <a:ext cx="3503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0.50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4" name="Figure 3 plot object 173"/>
          <p:cNvSpPr>
            <a:spLocks noGrp="1"/>
          </p:cNvSpPr>
          <p:nvPr/>
        </p:nvSpPr>
        <p:spPr>
          <a:xfrm>
            <a:off x="3087308" y="4999497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175" name="0.75"/>
          <p:cNvSpPr>
            <a:spLocks noGrp="1"/>
          </p:cNvSpPr>
          <p:nvPr/>
        </p:nvSpPr>
        <p:spPr>
          <a:xfrm>
            <a:off x="2746364" y="4919504"/>
            <a:ext cx="352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0.75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6" name="Observed score"/>
          <p:cNvSpPr>
            <a:spLocks noGrp="1"/>
          </p:cNvSpPr>
          <p:nvPr/>
        </p:nvSpPr>
        <p:spPr>
          <a:xfrm rot="-5400000">
            <a:off x="2068045" y="5501248"/>
            <a:ext cx="1081634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 score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7" name="Figure 3 plot object 176"/>
          <p:cNvSpPr>
            <a:spLocks noGrp="1"/>
          </p:cNvSpPr>
          <p:nvPr/>
        </p:nvSpPr>
        <p:spPr>
          <a:xfrm>
            <a:off x="3366104" y="5074439"/>
            <a:ext cx="5607163" cy="1353745"/>
          </a:xfrm>
          <a:custGeom>
            <a:avLst/>
            <a:gdLst/>
            <a:ahLst/>
            <a:cxnLst/>
            <a:pathLst>
              <a:path w="5607163" h="1353745">
                <a:moveTo>
                  <a:pt x="0" y="1353745"/>
                </a:moveTo>
                <a:lnTo>
                  <a:pt x="509742" y="1034615"/>
                </a:lnTo>
                <a:lnTo>
                  <a:pt x="1019484" y="1353745"/>
                </a:lnTo>
                <a:lnTo>
                  <a:pt x="1529226" y="1256779"/>
                </a:lnTo>
                <a:lnTo>
                  <a:pt x="2038968" y="384127"/>
                </a:lnTo>
                <a:lnTo>
                  <a:pt x="2548710" y="1269372"/>
                </a:lnTo>
                <a:lnTo>
                  <a:pt x="3058452" y="1295371"/>
                </a:lnTo>
                <a:lnTo>
                  <a:pt x="3568195" y="1353745"/>
                </a:lnTo>
                <a:lnTo>
                  <a:pt x="4077937" y="434591"/>
                </a:lnTo>
                <a:lnTo>
                  <a:pt x="4587679" y="666682"/>
                </a:lnTo>
                <a:lnTo>
                  <a:pt x="5097421" y="197571"/>
                </a:lnTo>
                <a:lnTo>
                  <a:pt x="5607163" y="0"/>
                </a:lnTo>
              </a:path>
            </a:pathLst>
          </a:custGeom>
          <a:noFill/>
          <a:ln w="18777">
            <a:solidFill>
              <a:srgbClr val="657C99"/>
            </a:solidFill>
            <a:prstDash val="solid"/>
          </a:ln>
        </p:spPr>
      </p:sp>
      <p:sp>
        <p:nvSpPr>
          <p:cNvPr id="178" name="Figure 3 plot object 177"/>
          <p:cNvSpPr>
            <a:spLocks noGrp="1"/>
          </p:cNvSpPr>
          <p:nvPr/>
        </p:nvSpPr>
        <p:spPr>
          <a:xfrm>
            <a:off x="3335469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79" name="Figure 3 plot object 178"/>
          <p:cNvSpPr>
            <a:spLocks noGrp="1"/>
          </p:cNvSpPr>
          <p:nvPr/>
        </p:nvSpPr>
        <p:spPr>
          <a:xfrm>
            <a:off x="3845211" y="607841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0" name="Figure 3 plot object 179"/>
          <p:cNvSpPr>
            <a:spLocks noGrp="1"/>
          </p:cNvSpPr>
          <p:nvPr/>
        </p:nvSpPr>
        <p:spPr>
          <a:xfrm>
            <a:off x="4354953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1" name="Figure 3 plot object 180"/>
          <p:cNvSpPr>
            <a:spLocks noGrp="1"/>
          </p:cNvSpPr>
          <p:nvPr/>
        </p:nvSpPr>
        <p:spPr>
          <a:xfrm>
            <a:off x="4864695" y="6300582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2" name="Figure 3 plot object 181"/>
          <p:cNvSpPr>
            <a:spLocks noGrp="1"/>
          </p:cNvSpPr>
          <p:nvPr/>
        </p:nvSpPr>
        <p:spPr>
          <a:xfrm>
            <a:off x="5374437" y="5427931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3" name="Figure 3 plot object 182"/>
          <p:cNvSpPr>
            <a:spLocks noGrp="1"/>
          </p:cNvSpPr>
          <p:nvPr/>
        </p:nvSpPr>
        <p:spPr>
          <a:xfrm>
            <a:off x="5884179" y="631317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4" name="Figure 3 plot object 183"/>
          <p:cNvSpPr>
            <a:spLocks noGrp="1"/>
          </p:cNvSpPr>
          <p:nvPr/>
        </p:nvSpPr>
        <p:spPr>
          <a:xfrm>
            <a:off x="6393921" y="633917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5" name="Figure 3 plot object 184"/>
          <p:cNvSpPr>
            <a:spLocks noGrp="1"/>
          </p:cNvSpPr>
          <p:nvPr/>
        </p:nvSpPr>
        <p:spPr>
          <a:xfrm>
            <a:off x="6903663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6" name="Figure 3 plot object 185"/>
          <p:cNvSpPr>
            <a:spLocks noGrp="1"/>
          </p:cNvSpPr>
          <p:nvPr/>
        </p:nvSpPr>
        <p:spPr>
          <a:xfrm>
            <a:off x="7413405" y="547839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7" name="Figure 3 plot object 186"/>
          <p:cNvSpPr>
            <a:spLocks noGrp="1"/>
          </p:cNvSpPr>
          <p:nvPr/>
        </p:nvSpPr>
        <p:spPr>
          <a:xfrm>
            <a:off x="7923148" y="571048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8" name="Figure 3 plot object 187"/>
          <p:cNvSpPr>
            <a:spLocks noGrp="1"/>
          </p:cNvSpPr>
          <p:nvPr/>
        </p:nvSpPr>
        <p:spPr>
          <a:xfrm>
            <a:off x="8432890" y="524137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89" name="Figure 3 plot object 188"/>
          <p:cNvSpPr>
            <a:spLocks noGrp="1"/>
          </p:cNvSpPr>
          <p:nvPr/>
        </p:nvSpPr>
        <p:spPr>
          <a:xfrm>
            <a:off x="8942632" y="5043804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190" name="Figure 3 plot object 189"/>
          <p:cNvSpPr>
            <a:spLocks noGrp="1"/>
          </p:cNvSpPr>
          <p:nvPr/>
        </p:nvSpPr>
        <p:spPr>
          <a:xfrm>
            <a:off x="8973267" y="5061242"/>
            <a:ext cx="1019484" cy="13198"/>
          </a:xfrm>
          <a:custGeom>
            <a:avLst/>
            <a:gdLst/>
            <a:ahLst/>
            <a:cxnLst/>
            <a:pathLst>
              <a:path w="1019484" h="13198">
                <a:moveTo>
                  <a:pt x="0" y="13198"/>
                </a:moveTo>
                <a:lnTo>
                  <a:pt x="1019484" y="0"/>
                </a:lnTo>
              </a:path>
            </a:pathLst>
          </a:custGeom>
          <a:noFill/>
          <a:ln w="15812">
            <a:solidFill>
              <a:srgbClr val="657C99"/>
            </a:solidFill>
            <a:custDash>
              <a:ds d="200000" sp="200000"/>
            </a:custDash>
          </a:ln>
        </p:spPr>
      </p:sp>
      <p:sp>
        <p:nvSpPr>
          <p:cNvPr id="191" name="Figure 3 plot object 190"/>
          <p:cNvSpPr>
            <a:spLocks noGrp="1"/>
          </p:cNvSpPr>
          <p:nvPr/>
        </p:nvSpPr>
        <p:spPr>
          <a:xfrm>
            <a:off x="3366104" y="5001032"/>
            <a:ext cx="5607163" cy="1427152"/>
          </a:xfrm>
          <a:custGeom>
            <a:avLst/>
            <a:gdLst/>
            <a:ahLst/>
            <a:cxnLst/>
            <a:pathLst>
              <a:path w="5607163" h="1427152">
                <a:moveTo>
                  <a:pt x="0" y="406681"/>
                </a:moveTo>
                <a:lnTo>
                  <a:pt x="509742" y="889729"/>
                </a:lnTo>
                <a:lnTo>
                  <a:pt x="1019484" y="141462"/>
                </a:lnTo>
                <a:lnTo>
                  <a:pt x="1529226" y="829547"/>
                </a:lnTo>
                <a:lnTo>
                  <a:pt x="2038968" y="1362752"/>
                </a:lnTo>
                <a:lnTo>
                  <a:pt x="2548710" y="1346302"/>
                </a:lnTo>
                <a:lnTo>
                  <a:pt x="3058452" y="340425"/>
                </a:lnTo>
                <a:lnTo>
                  <a:pt x="3568195" y="1427152"/>
                </a:lnTo>
                <a:lnTo>
                  <a:pt x="4077937" y="50398"/>
                </a:lnTo>
                <a:lnTo>
                  <a:pt x="4587679" y="32837"/>
                </a:lnTo>
                <a:lnTo>
                  <a:pt x="5097421" y="65545"/>
                </a:lnTo>
                <a:lnTo>
                  <a:pt x="5607163" y="0"/>
                </a:lnTo>
              </a:path>
            </a:pathLst>
          </a:custGeom>
          <a:noFill/>
          <a:ln w="18777">
            <a:solidFill>
              <a:srgbClr val="19847B"/>
            </a:solidFill>
            <a:prstDash val="solid"/>
          </a:ln>
        </p:spPr>
      </p:sp>
      <p:sp>
        <p:nvSpPr>
          <p:cNvPr id="192" name="Figure 3 plot object 191"/>
          <p:cNvSpPr>
            <a:spLocks noGrp="1"/>
          </p:cNvSpPr>
          <p:nvPr/>
        </p:nvSpPr>
        <p:spPr>
          <a:xfrm>
            <a:off x="3335469" y="5377078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3" name="Figure 3 plot object 192"/>
          <p:cNvSpPr>
            <a:spLocks noGrp="1"/>
          </p:cNvSpPr>
          <p:nvPr/>
        </p:nvSpPr>
        <p:spPr>
          <a:xfrm>
            <a:off x="3845211" y="586012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4" name="Figure 3 plot object 193"/>
          <p:cNvSpPr>
            <a:spLocks noGrp="1"/>
          </p:cNvSpPr>
          <p:nvPr/>
        </p:nvSpPr>
        <p:spPr>
          <a:xfrm>
            <a:off x="4354953" y="511185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5" name="Figure 3 plot object 194"/>
          <p:cNvSpPr>
            <a:spLocks noGrp="1"/>
          </p:cNvSpPr>
          <p:nvPr/>
        </p:nvSpPr>
        <p:spPr>
          <a:xfrm>
            <a:off x="4864695" y="5799943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6" name="Figure 3 plot object 195"/>
          <p:cNvSpPr>
            <a:spLocks noGrp="1"/>
          </p:cNvSpPr>
          <p:nvPr/>
        </p:nvSpPr>
        <p:spPr>
          <a:xfrm>
            <a:off x="5374437" y="6333148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7" name="Figure 3 plot object 196"/>
          <p:cNvSpPr>
            <a:spLocks noGrp="1"/>
          </p:cNvSpPr>
          <p:nvPr/>
        </p:nvSpPr>
        <p:spPr>
          <a:xfrm>
            <a:off x="5884179" y="631669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8" name="Figure 3 plot object 197"/>
          <p:cNvSpPr>
            <a:spLocks noGrp="1"/>
          </p:cNvSpPr>
          <p:nvPr/>
        </p:nvSpPr>
        <p:spPr>
          <a:xfrm>
            <a:off x="6393921" y="5310822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199" name="Figure 3 plot object 198"/>
          <p:cNvSpPr>
            <a:spLocks noGrp="1"/>
          </p:cNvSpPr>
          <p:nvPr/>
        </p:nvSpPr>
        <p:spPr>
          <a:xfrm>
            <a:off x="6903663" y="6397549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0" name="Figure 3 plot object 199"/>
          <p:cNvSpPr>
            <a:spLocks noGrp="1"/>
          </p:cNvSpPr>
          <p:nvPr/>
        </p:nvSpPr>
        <p:spPr>
          <a:xfrm>
            <a:off x="7413405" y="5020795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1" name="Figure 3 plot object 200"/>
          <p:cNvSpPr>
            <a:spLocks noGrp="1"/>
          </p:cNvSpPr>
          <p:nvPr/>
        </p:nvSpPr>
        <p:spPr>
          <a:xfrm>
            <a:off x="7923148" y="5003234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2" name="Figure 3 plot object 201"/>
          <p:cNvSpPr>
            <a:spLocks noGrp="1"/>
          </p:cNvSpPr>
          <p:nvPr/>
        </p:nvSpPr>
        <p:spPr>
          <a:xfrm>
            <a:off x="8432890" y="5035942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3" name="Figure 3 plot object 202"/>
          <p:cNvSpPr>
            <a:spLocks noGrp="1"/>
          </p:cNvSpPr>
          <p:nvPr/>
        </p:nvSpPr>
        <p:spPr>
          <a:xfrm>
            <a:off x="8942632" y="4970397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04" name="Figure 3 plot object 203"/>
          <p:cNvSpPr>
            <a:spLocks noGrp="1"/>
          </p:cNvSpPr>
          <p:nvPr/>
        </p:nvSpPr>
        <p:spPr>
          <a:xfrm>
            <a:off x="8973267" y="4987835"/>
            <a:ext cx="1019484" cy="13198"/>
          </a:xfrm>
          <a:custGeom>
            <a:avLst/>
            <a:gdLst/>
            <a:ahLst/>
            <a:cxnLst/>
            <a:pathLst>
              <a:path w="1019484" h="13198">
                <a:moveTo>
                  <a:pt x="0" y="13198"/>
                </a:moveTo>
                <a:lnTo>
                  <a:pt x="1019484" y="0"/>
                </a:lnTo>
              </a:path>
            </a:pathLst>
          </a:custGeom>
          <a:noFill/>
          <a:ln w="15812">
            <a:solidFill>
              <a:srgbClr val="19847B"/>
            </a:solidFill>
            <a:custDash>
              <a:ds d="200000" sp="200000"/>
            </a:custDash>
          </a:ln>
        </p:spPr>
      </p:sp>
      <p:sp>
        <p:nvSpPr>
          <p:cNvPr id="205" name="Figure 3 plot object 204"/>
          <p:cNvSpPr>
            <a:spLocks noGrp="1"/>
          </p:cNvSpPr>
          <p:nvPr/>
        </p:nvSpPr>
        <p:spPr>
          <a:xfrm>
            <a:off x="9381061" y="4751857"/>
            <a:ext cx="20" cy="1762049"/>
          </a:xfrm>
          <a:custGeom>
            <a:avLst/>
            <a:gdLst/>
            <a:ahLst/>
            <a:cxnLst/>
            <a:pathLst>
              <a:path w="20" h="1762049">
                <a:moveTo>
                  <a:pt x="0" y="176204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C0C0C0"/>
            </a:solidFill>
            <a:prstDash val="solid"/>
          </a:ln>
        </p:spPr>
      </p:sp>
      <p:sp>
        <p:nvSpPr>
          <p:cNvPr id="206" name="Figure 3 plot object 205"/>
          <p:cNvSpPr>
            <a:spLocks noGrp="1"/>
          </p:cNvSpPr>
          <p:nvPr/>
        </p:nvSpPr>
        <p:spPr>
          <a:xfrm>
            <a:off x="3187695" y="6989659"/>
            <a:ext cx="1886046" cy="20"/>
          </a:xfrm>
          <a:custGeom>
            <a:avLst/>
            <a:gdLst/>
            <a:ahLst/>
            <a:cxnLst/>
            <a:pathLst>
              <a:path w="1886046" h="20">
                <a:moveTo>
                  <a:pt x="0" y="0"/>
                </a:moveTo>
                <a:lnTo>
                  <a:pt x="1886046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07" name="Figure 3 plot object 206"/>
          <p:cNvSpPr>
            <a:spLocks noGrp="1"/>
          </p:cNvSpPr>
          <p:nvPr/>
        </p:nvSpPr>
        <p:spPr>
          <a:xfrm>
            <a:off x="5226663" y="6989659"/>
            <a:ext cx="1376304" cy="20"/>
          </a:xfrm>
          <a:custGeom>
            <a:avLst/>
            <a:gdLst/>
            <a:ahLst/>
            <a:cxnLst/>
            <a:pathLst>
              <a:path w="1376304" h="20">
                <a:moveTo>
                  <a:pt x="0" y="0"/>
                </a:moveTo>
                <a:lnTo>
                  <a:pt x="1376304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08" name="Figure 3 plot object 207"/>
          <p:cNvSpPr>
            <a:spLocks noGrp="1"/>
          </p:cNvSpPr>
          <p:nvPr/>
        </p:nvSpPr>
        <p:spPr>
          <a:xfrm>
            <a:off x="6755889" y="6989659"/>
            <a:ext cx="1376304" cy="20"/>
          </a:xfrm>
          <a:custGeom>
            <a:avLst/>
            <a:gdLst/>
            <a:ahLst/>
            <a:cxnLst/>
            <a:pathLst>
              <a:path w="1376304" h="20">
                <a:moveTo>
                  <a:pt x="0" y="0"/>
                </a:moveTo>
                <a:lnTo>
                  <a:pt x="1376304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09" name="Figure 3 plot object 208"/>
          <p:cNvSpPr>
            <a:spLocks noGrp="1"/>
          </p:cNvSpPr>
          <p:nvPr/>
        </p:nvSpPr>
        <p:spPr>
          <a:xfrm>
            <a:off x="8285115" y="6989659"/>
            <a:ext cx="866562" cy="20"/>
          </a:xfrm>
          <a:custGeom>
            <a:avLst/>
            <a:gdLst/>
            <a:ahLst/>
            <a:cxnLst/>
            <a:pathLst>
              <a:path w="866562" h="20">
                <a:moveTo>
                  <a:pt x="0" y="0"/>
                </a:moveTo>
                <a:lnTo>
                  <a:pt x="866562" y="0"/>
                </a:lnTo>
              </a:path>
            </a:pathLst>
          </a:custGeom>
          <a:noFill/>
          <a:ln w="31624">
            <a:solidFill>
              <a:srgbClr val="657C99"/>
            </a:solidFill>
            <a:prstDash val="solid"/>
          </a:ln>
        </p:spPr>
      </p:sp>
      <p:sp>
        <p:nvSpPr>
          <p:cNvPr id="210" name="Figure 3 plot object 209"/>
          <p:cNvSpPr>
            <a:spLocks noGrp="1"/>
          </p:cNvSpPr>
          <p:nvPr/>
        </p:nvSpPr>
        <p:spPr>
          <a:xfrm>
            <a:off x="3187695" y="7623997"/>
            <a:ext cx="1886046" cy="20"/>
          </a:xfrm>
          <a:custGeom>
            <a:avLst/>
            <a:gdLst/>
            <a:ahLst/>
            <a:cxnLst/>
            <a:pathLst>
              <a:path w="1886046" h="20">
                <a:moveTo>
                  <a:pt x="0" y="0"/>
                </a:moveTo>
                <a:lnTo>
                  <a:pt x="1886046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1" name="Figure 3 plot object 210"/>
          <p:cNvSpPr>
            <a:spLocks noGrp="1"/>
          </p:cNvSpPr>
          <p:nvPr/>
        </p:nvSpPr>
        <p:spPr>
          <a:xfrm>
            <a:off x="5226663" y="7623997"/>
            <a:ext cx="866562" cy="20"/>
          </a:xfrm>
          <a:custGeom>
            <a:avLst/>
            <a:gdLst/>
            <a:ahLst/>
            <a:cxnLst/>
            <a:pathLst>
              <a:path w="866562" h="20">
                <a:moveTo>
                  <a:pt x="0" y="0"/>
                </a:moveTo>
                <a:lnTo>
                  <a:pt x="866562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2" name="Figure 3 plot object 211"/>
          <p:cNvSpPr>
            <a:spLocks noGrp="1"/>
          </p:cNvSpPr>
          <p:nvPr/>
        </p:nvSpPr>
        <p:spPr>
          <a:xfrm>
            <a:off x="6246147" y="7623997"/>
            <a:ext cx="866562" cy="20"/>
          </a:xfrm>
          <a:custGeom>
            <a:avLst/>
            <a:gdLst/>
            <a:ahLst/>
            <a:cxnLst/>
            <a:pathLst>
              <a:path w="866562" h="20">
                <a:moveTo>
                  <a:pt x="0" y="0"/>
                </a:moveTo>
                <a:lnTo>
                  <a:pt x="866562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3" name="Figure 3 plot object 212"/>
          <p:cNvSpPr>
            <a:spLocks noGrp="1"/>
          </p:cNvSpPr>
          <p:nvPr/>
        </p:nvSpPr>
        <p:spPr>
          <a:xfrm>
            <a:off x="7265631" y="7623997"/>
            <a:ext cx="1886046" cy="20"/>
          </a:xfrm>
          <a:custGeom>
            <a:avLst/>
            <a:gdLst/>
            <a:ahLst/>
            <a:cxnLst/>
            <a:pathLst>
              <a:path w="1886046" h="20">
                <a:moveTo>
                  <a:pt x="0" y="0"/>
                </a:moveTo>
                <a:lnTo>
                  <a:pt x="1886046" y="0"/>
                </a:lnTo>
              </a:path>
            </a:pathLst>
          </a:custGeom>
          <a:noFill/>
          <a:ln w="31624">
            <a:solidFill>
              <a:srgbClr val="19847B"/>
            </a:solidFill>
            <a:prstDash val="solid"/>
          </a:ln>
        </p:spPr>
      </p:sp>
      <p:sp>
        <p:nvSpPr>
          <p:cNvPr id="214" name="Figure 3 plot object 213"/>
          <p:cNvSpPr>
            <a:spLocks noGrp="1"/>
          </p:cNvSpPr>
          <p:nvPr/>
        </p:nvSpPr>
        <p:spPr>
          <a:xfrm>
            <a:off x="3136721" y="4751857"/>
            <a:ext cx="20" cy="1762049"/>
          </a:xfrm>
          <a:custGeom>
            <a:avLst/>
            <a:gdLst/>
            <a:ahLst/>
            <a:cxnLst/>
            <a:pathLst>
              <a:path w="20" h="1762049">
                <a:moveTo>
                  <a:pt x="0" y="1762049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15" name="Figure 3 plot object 214"/>
          <p:cNvSpPr>
            <a:spLocks noGrp="1"/>
          </p:cNvSpPr>
          <p:nvPr/>
        </p:nvSpPr>
        <p:spPr>
          <a:xfrm>
            <a:off x="3136721" y="6513906"/>
            <a:ext cx="7212850" cy="20"/>
          </a:xfrm>
          <a:custGeom>
            <a:avLst/>
            <a:gdLst/>
            <a:ahLst/>
            <a:cxnLst/>
            <a:pathLst>
              <a:path w="7212850" h="20">
                <a:moveTo>
                  <a:pt x="0" y="0"/>
                </a:moveTo>
                <a:lnTo>
                  <a:pt x="721285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16" name="0.718"/>
          <p:cNvSpPr>
            <a:spLocks noGrp="1"/>
          </p:cNvSpPr>
          <p:nvPr/>
        </p:nvSpPr>
        <p:spPr>
          <a:xfrm>
            <a:off x="10131106" y="5127842"/>
            <a:ext cx="4150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0.718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7" name="0.756"/>
          <p:cNvSpPr>
            <a:spLocks noGrp="1"/>
          </p:cNvSpPr>
          <p:nvPr/>
        </p:nvSpPr>
        <p:spPr>
          <a:xfrm>
            <a:off x="10131106" y="4797491"/>
            <a:ext cx="4150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0.756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8" name="Both select batch 12"/>
          <p:cNvSpPr>
            <a:spLocks noGrp="1"/>
          </p:cNvSpPr>
          <p:nvPr/>
        </p:nvSpPr>
        <p:spPr>
          <a:xfrm>
            <a:off x="8868232" y="4483608"/>
            <a:ext cx="133413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Both select batch 12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9" name="Solvents"/>
          <p:cNvSpPr>
            <a:spLocks noGrp="1"/>
          </p:cNvSpPr>
          <p:nvPr/>
        </p:nvSpPr>
        <p:spPr>
          <a:xfrm>
            <a:off x="3873774" y="7050717"/>
            <a:ext cx="62547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Solvents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0" name="Potential"/>
          <p:cNvSpPr>
            <a:spLocks noGrp="1"/>
          </p:cNvSpPr>
          <p:nvPr/>
        </p:nvSpPr>
        <p:spPr>
          <a:xfrm>
            <a:off x="5654165" y="7050717"/>
            <a:ext cx="6451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Potential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1" name="Electrolytes"/>
          <p:cNvSpPr>
            <a:spLocks noGrp="1"/>
          </p:cNvSpPr>
          <p:nvPr/>
        </p:nvSpPr>
        <p:spPr>
          <a:xfrm>
            <a:off x="6758305" y="7050405"/>
            <a:ext cx="13735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Electrolytes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2" name="Duration /"/>
          <p:cNvSpPr>
            <a:spLocks noGrp="1"/>
          </p:cNvSpPr>
          <p:nvPr/>
        </p:nvSpPr>
        <p:spPr>
          <a:xfrm>
            <a:off x="8431355" y="7050717"/>
            <a:ext cx="7385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Duration /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3" name="current"/>
          <p:cNvSpPr>
            <a:spLocks noGrp="1"/>
          </p:cNvSpPr>
          <p:nvPr/>
        </p:nvSpPr>
        <p:spPr>
          <a:xfrm>
            <a:off x="8512341" y="7278164"/>
            <a:ext cx="51562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current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4" name="Material pairs"/>
          <p:cNvSpPr>
            <a:spLocks noGrp="1"/>
          </p:cNvSpPr>
          <p:nvPr/>
        </p:nvSpPr>
        <p:spPr>
          <a:xfrm>
            <a:off x="3728008" y="7685056"/>
            <a:ext cx="100457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Material pairs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5" name="Cross-pairs"/>
          <p:cNvSpPr>
            <a:spLocks noGrp="1"/>
          </p:cNvSpPr>
          <p:nvPr/>
        </p:nvSpPr>
        <p:spPr>
          <a:xfrm>
            <a:off x="5252403" y="7684770"/>
            <a:ext cx="82232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Cross-pairs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6" name="Potential"/>
          <p:cNvSpPr>
            <a:spLocks noGrp="1"/>
          </p:cNvSpPr>
          <p:nvPr/>
        </p:nvSpPr>
        <p:spPr>
          <a:xfrm>
            <a:off x="6418778" y="7685056"/>
            <a:ext cx="64516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Potential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7" name="Current / time / potential"/>
          <p:cNvSpPr>
            <a:spLocks noGrp="1"/>
          </p:cNvSpPr>
          <p:nvPr/>
        </p:nvSpPr>
        <p:spPr>
          <a:xfrm>
            <a:off x="7492177" y="7686670"/>
            <a:ext cx="177101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Current / time / potential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8" name="Independent"/>
          <p:cNvSpPr>
            <a:spLocks noGrp="1"/>
          </p:cNvSpPr>
          <p:nvPr/>
        </p:nvSpPr>
        <p:spPr>
          <a:xfrm>
            <a:off x="9624579" y="7073891"/>
            <a:ext cx="89090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05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50505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Independent</a:t>
            </a:r>
            <a:endParaRPr sz="1400" b="0" i="0">
              <a:solidFill>
                <a:srgbClr val="50505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9" name="recommendation"/>
          <p:cNvSpPr>
            <a:spLocks noGrp="1"/>
          </p:cNvSpPr>
          <p:nvPr/>
        </p:nvSpPr>
        <p:spPr>
          <a:xfrm>
            <a:off x="9499624" y="7302855"/>
            <a:ext cx="120713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05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50505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recommendation</a:t>
            </a:r>
            <a:endParaRPr sz="1400" b="0" i="0">
              <a:solidFill>
                <a:srgbClr val="50505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0" name="retests"/>
          <p:cNvSpPr>
            <a:spLocks noGrp="1"/>
          </p:cNvSpPr>
          <p:nvPr/>
        </p:nvSpPr>
        <p:spPr>
          <a:xfrm>
            <a:off x="9794062" y="7531819"/>
            <a:ext cx="46672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05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50505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retests</a:t>
            </a:r>
            <a:endParaRPr sz="1400" b="0" i="0">
              <a:solidFill>
                <a:srgbClr val="50505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1" name="Figure 3 plot object 230"/>
          <p:cNvSpPr>
            <a:spLocks noGrp="1"/>
          </p:cNvSpPr>
          <p:nvPr/>
        </p:nvSpPr>
        <p:spPr>
          <a:xfrm>
            <a:off x="9946399" y="5014889"/>
            <a:ext cx="92706" cy="92706"/>
          </a:xfrm>
          <a:custGeom>
            <a:avLst/>
            <a:gdLst/>
            <a:ahLst/>
            <a:cxnLst/>
            <a:pathLst>
              <a:path w="92706" h="92706">
                <a:moveTo>
                  <a:pt x="46353" y="92706"/>
                </a:moveTo>
                <a:cubicBezTo>
                  <a:pt x="58646" y="92706"/>
                  <a:pt x="70437" y="87822"/>
                  <a:pt x="79129" y="79129"/>
                </a:cubicBezTo>
                <a:cubicBezTo>
                  <a:pt x="87822" y="70437"/>
                  <a:pt x="92706" y="58646"/>
                  <a:pt x="92706" y="46353"/>
                </a:cubicBezTo>
                <a:cubicBezTo>
                  <a:pt x="92706" y="34060"/>
                  <a:pt x="87822" y="22269"/>
                  <a:pt x="79129" y="13576"/>
                </a:cubicBezTo>
                <a:cubicBezTo>
                  <a:pt x="70437" y="4884"/>
                  <a:pt x="58646" y="0"/>
                  <a:pt x="46353" y="0"/>
                </a:cubicBezTo>
                <a:cubicBezTo>
                  <a:pt x="34060" y="0"/>
                  <a:pt x="22269" y="4884"/>
                  <a:pt x="13576" y="13576"/>
                </a:cubicBezTo>
                <a:cubicBezTo>
                  <a:pt x="4884" y="22269"/>
                  <a:pt x="0" y="34060"/>
                  <a:pt x="0" y="46353"/>
                </a:cubicBezTo>
                <a:cubicBezTo>
                  <a:pt x="0" y="58646"/>
                  <a:pt x="4884" y="70437"/>
                  <a:pt x="13576" y="79129"/>
                </a:cubicBezTo>
                <a:cubicBezTo>
                  <a:pt x="22269" y="87822"/>
                  <a:pt x="34060" y="92706"/>
                  <a:pt x="46353" y="92706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232" name="Figure 3 plot object 231"/>
          <p:cNvSpPr>
            <a:spLocks noGrp="1"/>
          </p:cNvSpPr>
          <p:nvPr/>
        </p:nvSpPr>
        <p:spPr>
          <a:xfrm>
            <a:off x="9946399" y="4941482"/>
            <a:ext cx="92706" cy="92706"/>
          </a:xfrm>
          <a:custGeom>
            <a:avLst/>
            <a:gdLst/>
            <a:ahLst/>
            <a:cxnLst/>
            <a:pathLst>
              <a:path w="92706" h="92706">
                <a:moveTo>
                  <a:pt x="0" y="92706"/>
                </a:moveTo>
                <a:lnTo>
                  <a:pt x="92706" y="92706"/>
                </a:lnTo>
                <a:lnTo>
                  <a:pt x="92706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33" name="Figure 3 plot object 232"/>
          <p:cNvSpPr>
            <a:spLocks noGrp="1"/>
          </p:cNvSpPr>
          <p:nvPr/>
        </p:nvSpPr>
        <p:spPr>
          <a:xfrm>
            <a:off x="3192062" y="4601352"/>
            <a:ext cx="249038" cy="20"/>
          </a:xfrm>
          <a:custGeom>
            <a:avLst/>
            <a:gdLst/>
            <a:ahLst/>
            <a:cxnLst/>
            <a:pathLst>
              <a:path w="249038" h="20">
                <a:moveTo>
                  <a:pt x="0" y="0"/>
                </a:moveTo>
                <a:lnTo>
                  <a:pt x="124519" y="0"/>
                </a:lnTo>
                <a:lnTo>
                  <a:pt x="249038" y="0"/>
                </a:lnTo>
              </a:path>
            </a:pathLst>
          </a:custGeom>
          <a:noFill/>
          <a:ln w="18777">
            <a:solidFill>
              <a:srgbClr val="657C99"/>
            </a:solidFill>
            <a:prstDash val="solid"/>
          </a:ln>
        </p:spPr>
      </p:sp>
      <p:sp>
        <p:nvSpPr>
          <p:cNvPr id="234" name="Figure 3 plot object 233"/>
          <p:cNvSpPr>
            <a:spLocks noGrp="1"/>
          </p:cNvSpPr>
          <p:nvPr/>
        </p:nvSpPr>
        <p:spPr>
          <a:xfrm>
            <a:off x="3285946" y="457071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30636" y="61271"/>
                </a:moveTo>
                <a:cubicBezTo>
                  <a:pt x="38760" y="61271"/>
                  <a:pt x="46553" y="58043"/>
                  <a:pt x="52298" y="52298"/>
                </a:cubicBezTo>
                <a:cubicBezTo>
                  <a:pt x="58043" y="46553"/>
                  <a:pt x="61271" y="38760"/>
                  <a:pt x="61271" y="30636"/>
                </a:cubicBezTo>
                <a:cubicBezTo>
                  <a:pt x="61271" y="22511"/>
                  <a:pt x="58043" y="14718"/>
                  <a:pt x="52298" y="8973"/>
                </a:cubicBezTo>
                <a:cubicBezTo>
                  <a:pt x="46553" y="3228"/>
                  <a:pt x="38760" y="0"/>
                  <a:pt x="30636" y="0"/>
                </a:cubicBezTo>
                <a:cubicBezTo>
                  <a:pt x="22511" y="0"/>
                  <a:pt x="14718" y="3228"/>
                  <a:pt x="8973" y="8973"/>
                </a:cubicBezTo>
                <a:cubicBezTo>
                  <a:pt x="3228" y="14718"/>
                  <a:pt x="0" y="22511"/>
                  <a:pt x="0" y="30636"/>
                </a:cubicBezTo>
                <a:cubicBezTo>
                  <a:pt x="0" y="38760"/>
                  <a:pt x="3228" y="46553"/>
                  <a:pt x="8973" y="52298"/>
                </a:cubicBezTo>
                <a:cubicBezTo>
                  <a:pt x="14718" y="58043"/>
                  <a:pt x="22511" y="61271"/>
                  <a:pt x="30636" y="61271"/>
                </a:cubicBezTo>
                <a:close/>
              </a:path>
            </a:pathLst>
          </a:custGeom>
          <a:solidFill>
            <a:srgbClr val="657C99"/>
          </a:solidFill>
          <a:ln w="19765">
            <a:solidFill>
              <a:srgbClr val="657C99"/>
            </a:solidFill>
            <a:prstDash val="solid"/>
          </a:ln>
        </p:spPr>
      </p:sp>
      <p:sp>
        <p:nvSpPr>
          <p:cNvPr id="235" name="Discovery"/>
          <p:cNvSpPr>
            <a:spLocks noGrp="1"/>
          </p:cNvSpPr>
          <p:nvPr/>
        </p:nvSpPr>
        <p:spPr>
          <a:xfrm>
            <a:off x="3551783" y="4522490"/>
            <a:ext cx="67941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Discovery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6" name="Figure 3 plot object 235"/>
          <p:cNvSpPr>
            <a:spLocks noGrp="1"/>
          </p:cNvSpPr>
          <p:nvPr/>
        </p:nvSpPr>
        <p:spPr>
          <a:xfrm>
            <a:off x="4435803" y="4601352"/>
            <a:ext cx="249038" cy="20"/>
          </a:xfrm>
          <a:custGeom>
            <a:avLst/>
            <a:gdLst/>
            <a:ahLst/>
            <a:cxnLst/>
            <a:pathLst>
              <a:path w="249038" h="20">
                <a:moveTo>
                  <a:pt x="0" y="0"/>
                </a:moveTo>
                <a:lnTo>
                  <a:pt x="124519" y="0"/>
                </a:lnTo>
                <a:lnTo>
                  <a:pt x="249038" y="0"/>
                </a:lnTo>
              </a:path>
            </a:pathLst>
          </a:custGeom>
          <a:noFill/>
          <a:ln w="18777">
            <a:solidFill>
              <a:srgbClr val="19847B"/>
            </a:solidFill>
            <a:prstDash val="solid"/>
          </a:ln>
        </p:spPr>
      </p:sp>
      <p:sp>
        <p:nvSpPr>
          <p:cNvPr id="237" name="Figure 3 plot object 236"/>
          <p:cNvSpPr>
            <a:spLocks noGrp="1"/>
          </p:cNvSpPr>
          <p:nvPr/>
        </p:nvSpPr>
        <p:spPr>
          <a:xfrm>
            <a:off x="4529686" y="4570716"/>
            <a:ext cx="61271" cy="61271"/>
          </a:xfrm>
          <a:custGeom>
            <a:avLst/>
            <a:gdLst/>
            <a:ahLst/>
            <a:cxnLst/>
            <a:pathLst>
              <a:path w="61271" h="61271">
                <a:moveTo>
                  <a:pt x="0" y="61271"/>
                </a:moveTo>
                <a:lnTo>
                  <a:pt x="61271" y="61271"/>
                </a:lnTo>
                <a:lnTo>
                  <a:pt x="61271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238" name="Optimization"/>
          <p:cNvSpPr>
            <a:spLocks noGrp="1"/>
          </p:cNvSpPr>
          <p:nvPr/>
        </p:nvSpPr>
        <p:spPr>
          <a:xfrm>
            <a:off x="4795524" y="4522490"/>
            <a:ext cx="84742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Optimization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9" name="Figure 3 plot object 238"/>
          <p:cNvSpPr>
            <a:spLocks noGrp="1"/>
          </p:cNvSpPr>
          <p:nvPr/>
        </p:nvSpPr>
        <p:spPr>
          <a:xfrm>
            <a:off x="3136721" y="9114003"/>
            <a:ext cx="8177626" cy="1418234"/>
          </a:xfrm>
          <a:custGeom>
            <a:avLst/>
            <a:gdLst/>
            <a:ahLst/>
            <a:cxnLst/>
            <a:pathLst>
              <a:path w="8177626" h="1418234">
                <a:moveTo>
                  <a:pt x="0" y="1418234"/>
                </a:moveTo>
                <a:lnTo>
                  <a:pt x="8177626" y="1418234"/>
                </a:lnTo>
                <a:lnTo>
                  <a:pt x="8177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240" name="Figure 3 plot object 239"/>
          <p:cNvSpPr>
            <a:spLocks noGrp="1"/>
          </p:cNvSpPr>
          <p:nvPr/>
        </p:nvSpPr>
        <p:spPr>
          <a:xfrm>
            <a:off x="5288375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1" name="Figure 3 plot object 240"/>
          <p:cNvSpPr>
            <a:spLocks noGrp="1"/>
          </p:cNvSpPr>
          <p:nvPr/>
        </p:nvSpPr>
        <p:spPr>
          <a:xfrm>
            <a:off x="6628969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2" name="Figure 3 plot object 241"/>
          <p:cNvSpPr>
            <a:spLocks noGrp="1"/>
          </p:cNvSpPr>
          <p:nvPr/>
        </p:nvSpPr>
        <p:spPr>
          <a:xfrm>
            <a:off x="7969564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3" name="Figure 3 plot object 242"/>
          <p:cNvSpPr>
            <a:spLocks noGrp="1"/>
          </p:cNvSpPr>
          <p:nvPr/>
        </p:nvSpPr>
        <p:spPr>
          <a:xfrm>
            <a:off x="9310158" y="9114003"/>
            <a:ext cx="522832" cy="1418234"/>
          </a:xfrm>
          <a:custGeom>
            <a:avLst/>
            <a:gdLst/>
            <a:ahLst/>
            <a:cxnLst/>
            <a:pathLst>
              <a:path w="522832" h="1418234">
                <a:moveTo>
                  <a:pt x="0" y="1418234"/>
                </a:moveTo>
                <a:lnTo>
                  <a:pt x="522832" y="1418234"/>
                </a:lnTo>
                <a:lnTo>
                  <a:pt x="5228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F1ED"/>
          </a:solidFill>
          <a:ln w="19765">
            <a:solidFill>
              <a:srgbClr val="F2F1ED"/>
            </a:solidFill>
            <a:prstDash val="solid"/>
          </a:ln>
        </p:spPr>
      </p:sp>
      <p:sp>
        <p:nvSpPr>
          <p:cNvPr id="244" name="Figure 3 plot object 243"/>
          <p:cNvSpPr>
            <a:spLocks noGrp="1"/>
          </p:cNvSpPr>
          <p:nvPr/>
        </p:nvSpPr>
        <p:spPr>
          <a:xfrm>
            <a:off x="3538899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45" name="Q01"/>
          <p:cNvSpPr>
            <a:spLocks noGrp="1"/>
          </p:cNvSpPr>
          <p:nvPr/>
        </p:nvSpPr>
        <p:spPr>
          <a:xfrm>
            <a:off x="3404250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6" name="Figure 3 plot object 245"/>
          <p:cNvSpPr>
            <a:spLocks noGrp="1"/>
          </p:cNvSpPr>
          <p:nvPr/>
        </p:nvSpPr>
        <p:spPr>
          <a:xfrm>
            <a:off x="4209196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47" name="Q02"/>
          <p:cNvSpPr>
            <a:spLocks noGrp="1"/>
          </p:cNvSpPr>
          <p:nvPr/>
        </p:nvSpPr>
        <p:spPr>
          <a:xfrm>
            <a:off x="4075783" y="10611882"/>
            <a:ext cx="3379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8" name="Figure 3 plot object 247"/>
          <p:cNvSpPr>
            <a:spLocks noGrp="1"/>
          </p:cNvSpPr>
          <p:nvPr/>
        </p:nvSpPr>
        <p:spPr>
          <a:xfrm>
            <a:off x="4879493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49" name="Q03"/>
          <p:cNvSpPr>
            <a:spLocks noGrp="1"/>
          </p:cNvSpPr>
          <p:nvPr/>
        </p:nvSpPr>
        <p:spPr>
          <a:xfrm>
            <a:off x="4746080" y="10611882"/>
            <a:ext cx="3379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Q03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0" name="Figure 3 plot object 249"/>
          <p:cNvSpPr>
            <a:spLocks noGrp="1"/>
          </p:cNvSpPr>
          <p:nvPr/>
        </p:nvSpPr>
        <p:spPr>
          <a:xfrm>
            <a:off x="5549791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1" name="Q04"/>
          <p:cNvSpPr>
            <a:spLocks noGrp="1"/>
          </p:cNvSpPr>
          <p:nvPr/>
        </p:nvSpPr>
        <p:spPr>
          <a:xfrm>
            <a:off x="5413907" y="10611882"/>
            <a:ext cx="34292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Q04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2" name="Figure 3 plot object 251"/>
          <p:cNvSpPr>
            <a:spLocks noGrp="1"/>
          </p:cNvSpPr>
          <p:nvPr/>
        </p:nvSpPr>
        <p:spPr>
          <a:xfrm>
            <a:off x="6220088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3" name="Q05"/>
          <p:cNvSpPr>
            <a:spLocks noGrp="1"/>
          </p:cNvSpPr>
          <p:nvPr/>
        </p:nvSpPr>
        <p:spPr>
          <a:xfrm>
            <a:off x="6085440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Q05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4" name="Figure 3 plot object 253"/>
          <p:cNvSpPr>
            <a:spLocks noGrp="1"/>
          </p:cNvSpPr>
          <p:nvPr/>
        </p:nvSpPr>
        <p:spPr>
          <a:xfrm>
            <a:off x="6890385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5" name="Q06"/>
          <p:cNvSpPr>
            <a:spLocks noGrp="1"/>
          </p:cNvSpPr>
          <p:nvPr/>
        </p:nvSpPr>
        <p:spPr>
          <a:xfrm>
            <a:off x="6755737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Q06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6" name="Figure 3 plot object 255"/>
          <p:cNvSpPr>
            <a:spLocks noGrp="1"/>
          </p:cNvSpPr>
          <p:nvPr/>
        </p:nvSpPr>
        <p:spPr>
          <a:xfrm>
            <a:off x="7560682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7" name="Q07"/>
          <p:cNvSpPr>
            <a:spLocks noGrp="1"/>
          </p:cNvSpPr>
          <p:nvPr/>
        </p:nvSpPr>
        <p:spPr>
          <a:xfrm>
            <a:off x="7426034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Q07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8" name="Figure 3 plot object 257"/>
          <p:cNvSpPr>
            <a:spLocks noGrp="1"/>
          </p:cNvSpPr>
          <p:nvPr/>
        </p:nvSpPr>
        <p:spPr>
          <a:xfrm>
            <a:off x="8230980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59" name="Q08"/>
          <p:cNvSpPr>
            <a:spLocks noGrp="1"/>
          </p:cNvSpPr>
          <p:nvPr/>
        </p:nvSpPr>
        <p:spPr>
          <a:xfrm>
            <a:off x="8096331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Q08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0" name="Figure 3 plot object 259"/>
          <p:cNvSpPr>
            <a:spLocks noGrp="1"/>
          </p:cNvSpPr>
          <p:nvPr/>
        </p:nvSpPr>
        <p:spPr>
          <a:xfrm>
            <a:off x="8901277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1" name="Q09"/>
          <p:cNvSpPr>
            <a:spLocks noGrp="1"/>
          </p:cNvSpPr>
          <p:nvPr/>
        </p:nvSpPr>
        <p:spPr>
          <a:xfrm>
            <a:off x="8767864" y="10611882"/>
            <a:ext cx="3379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Q09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2" name="Figure 3 plot object 261"/>
          <p:cNvSpPr>
            <a:spLocks noGrp="1"/>
          </p:cNvSpPr>
          <p:nvPr/>
        </p:nvSpPr>
        <p:spPr>
          <a:xfrm>
            <a:off x="9571574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3" name="Q10"/>
          <p:cNvSpPr>
            <a:spLocks noGrp="1"/>
          </p:cNvSpPr>
          <p:nvPr/>
        </p:nvSpPr>
        <p:spPr>
          <a:xfrm>
            <a:off x="9435690" y="10611882"/>
            <a:ext cx="34292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Q10</a:t>
            </a:r>
            <a:endParaRPr sz="14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4" name="Figure 3 plot object 263"/>
          <p:cNvSpPr>
            <a:spLocks noGrp="1"/>
          </p:cNvSpPr>
          <p:nvPr/>
        </p:nvSpPr>
        <p:spPr>
          <a:xfrm>
            <a:off x="10241871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5" name="Q11"/>
          <p:cNvSpPr>
            <a:spLocks noGrp="1"/>
          </p:cNvSpPr>
          <p:nvPr/>
        </p:nvSpPr>
        <p:spPr>
          <a:xfrm>
            <a:off x="10110929" y="10611882"/>
            <a:ext cx="333039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Q11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6" name="Figure 3 plot object 265"/>
          <p:cNvSpPr>
            <a:spLocks noGrp="1"/>
          </p:cNvSpPr>
          <p:nvPr/>
        </p:nvSpPr>
        <p:spPr>
          <a:xfrm>
            <a:off x="10912169" y="10532237"/>
            <a:ext cx="20" cy="49412"/>
          </a:xfrm>
          <a:custGeom>
            <a:avLst/>
            <a:gdLst/>
            <a:ahLst/>
            <a:cxnLst/>
            <a:pathLst>
              <a:path w="20" h="49412">
                <a:moveTo>
                  <a:pt x="0" y="0"/>
                </a:moveTo>
                <a:lnTo>
                  <a:pt x="0" y="49412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7" name="Q12"/>
          <p:cNvSpPr>
            <a:spLocks noGrp="1"/>
          </p:cNvSpPr>
          <p:nvPr/>
        </p:nvSpPr>
        <p:spPr>
          <a:xfrm>
            <a:off x="10777520" y="10611882"/>
            <a:ext cx="3404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Q12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8" name="Figure 3 plot object 267"/>
          <p:cNvSpPr>
            <a:spLocks noGrp="1"/>
          </p:cNvSpPr>
          <p:nvPr/>
        </p:nvSpPr>
        <p:spPr>
          <a:xfrm>
            <a:off x="3087308" y="10488192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69" name="0.0"/>
          <p:cNvSpPr>
            <a:spLocks noGrp="1"/>
          </p:cNvSpPr>
          <p:nvPr/>
        </p:nvSpPr>
        <p:spPr>
          <a:xfrm>
            <a:off x="2830365" y="10408200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0" name="Figure 3 plot object 269"/>
          <p:cNvSpPr>
            <a:spLocks noGrp="1"/>
          </p:cNvSpPr>
          <p:nvPr/>
        </p:nvSpPr>
        <p:spPr>
          <a:xfrm>
            <a:off x="3087308" y="10135836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71" name="0.2"/>
          <p:cNvSpPr>
            <a:spLocks noGrp="1"/>
          </p:cNvSpPr>
          <p:nvPr/>
        </p:nvSpPr>
        <p:spPr>
          <a:xfrm>
            <a:off x="2830365" y="10055844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0.2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2" name="Figure 3 plot object 271"/>
          <p:cNvSpPr>
            <a:spLocks noGrp="1"/>
          </p:cNvSpPr>
          <p:nvPr/>
        </p:nvSpPr>
        <p:spPr>
          <a:xfrm>
            <a:off x="3087308" y="9783480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73" name="0.4"/>
          <p:cNvSpPr>
            <a:spLocks noGrp="1"/>
          </p:cNvSpPr>
          <p:nvPr/>
        </p:nvSpPr>
        <p:spPr>
          <a:xfrm>
            <a:off x="2827894" y="9703487"/>
            <a:ext cx="2712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0.4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4" name="Figure 3 plot object 273"/>
          <p:cNvSpPr>
            <a:spLocks noGrp="1"/>
          </p:cNvSpPr>
          <p:nvPr/>
        </p:nvSpPr>
        <p:spPr>
          <a:xfrm>
            <a:off x="3087308" y="9431123"/>
            <a:ext cx="49412" cy="20"/>
          </a:xfrm>
          <a:custGeom>
            <a:avLst/>
            <a:gdLst/>
            <a:ahLst/>
            <a:cxnLst/>
            <a:pathLst>
              <a:path w="49412" h="20">
                <a:moveTo>
                  <a:pt x="49412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1859">
            <a:solidFill>
              <a:srgbClr val="111111"/>
            </a:solidFill>
            <a:prstDash val="solid"/>
          </a:ln>
        </p:spPr>
      </p:sp>
      <p:sp>
        <p:nvSpPr>
          <p:cNvPr id="275" name="0.6"/>
          <p:cNvSpPr>
            <a:spLocks noGrp="1"/>
          </p:cNvSpPr>
          <p:nvPr/>
        </p:nvSpPr>
        <p:spPr>
          <a:xfrm>
            <a:off x="2830365" y="9351131"/>
            <a:ext cx="2688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0.6</a:t>
            </a:r>
            <a:endParaRPr sz="14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6" name="Score"/>
          <p:cNvSpPr>
            <a:spLocks noGrp="1"/>
          </p:cNvSpPr>
          <p:nvPr/>
        </p:nvSpPr>
        <p:spPr>
          <a:xfrm rot="-5400000">
            <a:off x="2464655" y="9691486"/>
            <a:ext cx="446687" cy="1921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7" name="Figure 3 plot object 276"/>
          <p:cNvSpPr>
            <a:spLocks noGrp="1"/>
          </p:cNvSpPr>
          <p:nvPr/>
        </p:nvSpPr>
        <p:spPr>
          <a:xfrm>
            <a:off x="3136721" y="9114003"/>
            <a:ext cx="20" cy="1418234"/>
          </a:xfrm>
          <a:custGeom>
            <a:avLst/>
            <a:gdLst/>
            <a:ahLst/>
            <a:cxnLst/>
            <a:pathLst>
              <a:path w="20" h="1418234">
                <a:moveTo>
                  <a:pt x="0" y="1418234"/>
                </a:moveTo>
                <a:lnTo>
                  <a:pt x="0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78" name="Figure 3 plot object 277"/>
          <p:cNvSpPr>
            <a:spLocks noGrp="1"/>
          </p:cNvSpPr>
          <p:nvPr/>
        </p:nvSpPr>
        <p:spPr>
          <a:xfrm>
            <a:off x="3136721" y="10532237"/>
            <a:ext cx="8177626" cy="20"/>
          </a:xfrm>
          <a:custGeom>
            <a:avLst/>
            <a:gdLst/>
            <a:ahLst/>
            <a:cxnLst/>
            <a:pathLst>
              <a:path w="8177626" h="20">
                <a:moveTo>
                  <a:pt x="0" y="0"/>
                </a:moveTo>
                <a:lnTo>
                  <a:pt x="8177626" y="0"/>
                </a:lnTo>
              </a:path>
            </a:pathLst>
          </a:custGeom>
          <a:noFill/>
          <a:ln w="11859">
            <a:solidFill>
              <a:srgbClr val="111111"/>
            </a:solidFill>
            <a:prstDash val="solid"/>
          </a:ln>
        </p:spPr>
      </p:sp>
      <p:sp>
        <p:nvSpPr>
          <p:cNvPr id="279" name="S0/E0"/>
          <p:cNvSpPr>
            <a:spLocks noGrp="1"/>
          </p:cNvSpPr>
          <p:nvPr/>
        </p:nvSpPr>
        <p:spPr>
          <a:xfrm>
            <a:off x="5371907" y="9106993"/>
            <a:ext cx="42099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S0/E0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0" name="S0/E1"/>
          <p:cNvSpPr>
            <a:spLocks noGrp="1"/>
          </p:cNvSpPr>
          <p:nvPr/>
        </p:nvSpPr>
        <p:spPr>
          <a:xfrm>
            <a:off x="6711266" y="9106993"/>
            <a:ext cx="4234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S0/E1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1" name="S0/E3"/>
          <p:cNvSpPr>
            <a:spLocks noGrp="1"/>
          </p:cNvSpPr>
          <p:nvPr/>
        </p:nvSpPr>
        <p:spPr>
          <a:xfrm>
            <a:off x="8053096" y="9106993"/>
            <a:ext cx="42099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S0/E3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2" name="S2/E0"/>
          <p:cNvSpPr>
            <a:spLocks noGrp="1"/>
          </p:cNvSpPr>
          <p:nvPr/>
        </p:nvSpPr>
        <p:spPr>
          <a:xfrm>
            <a:off x="9392455" y="9106993"/>
            <a:ext cx="423463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S2/E0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3" name="Figure 3 plot object 282"/>
          <p:cNvSpPr>
            <a:spLocks noGrp="1"/>
          </p:cNvSpPr>
          <p:nvPr/>
        </p:nvSpPr>
        <p:spPr>
          <a:xfrm>
            <a:off x="3478572" y="10171072"/>
            <a:ext cx="20" cy="317121"/>
          </a:xfrm>
          <a:custGeom>
            <a:avLst/>
            <a:gdLst/>
            <a:ahLst/>
            <a:cxnLst/>
            <a:pathLst>
              <a:path w="20" h="317121">
                <a:moveTo>
                  <a:pt x="0" y="317121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4" name="Figure 3 plot object 283"/>
          <p:cNvSpPr>
            <a:spLocks noGrp="1"/>
          </p:cNvSpPr>
          <p:nvPr/>
        </p:nvSpPr>
        <p:spPr>
          <a:xfrm>
            <a:off x="4148869" y="9642537"/>
            <a:ext cx="20" cy="775184"/>
          </a:xfrm>
          <a:custGeom>
            <a:avLst/>
            <a:gdLst/>
            <a:ahLst/>
            <a:cxnLst/>
            <a:pathLst>
              <a:path w="20" h="775184">
                <a:moveTo>
                  <a:pt x="0" y="775184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5" name="Figure 3 plot object 284"/>
          <p:cNvSpPr>
            <a:spLocks noGrp="1"/>
          </p:cNvSpPr>
          <p:nvPr/>
        </p:nvSpPr>
        <p:spPr>
          <a:xfrm>
            <a:off x="4819167" y="9713008"/>
            <a:ext cx="20" cy="634241"/>
          </a:xfrm>
          <a:custGeom>
            <a:avLst/>
            <a:gdLst/>
            <a:ahLst/>
            <a:cxnLst/>
            <a:pathLst>
              <a:path w="20" h="634241">
                <a:moveTo>
                  <a:pt x="0" y="634241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6" name="Figure 3 plot object 285"/>
          <p:cNvSpPr>
            <a:spLocks noGrp="1"/>
          </p:cNvSpPr>
          <p:nvPr/>
        </p:nvSpPr>
        <p:spPr>
          <a:xfrm>
            <a:off x="5489464" y="9290181"/>
            <a:ext cx="20" cy="440445"/>
          </a:xfrm>
          <a:custGeom>
            <a:avLst/>
            <a:gdLst/>
            <a:ahLst/>
            <a:cxnLst/>
            <a:pathLst>
              <a:path w="20" h="440445">
                <a:moveTo>
                  <a:pt x="0" y="440445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7" name="Figure 3 plot object 286"/>
          <p:cNvSpPr>
            <a:spLocks noGrp="1"/>
          </p:cNvSpPr>
          <p:nvPr/>
        </p:nvSpPr>
        <p:spPr>
          <a:xfrm>
            <a:off x="6159761" y="10047747"/>
            <a:ext cx="20" cy="440445"/>
          </a:xfrm>
          <a:custGeom>
            <a:avLst/>
            <a:gdLst/>
            <a:ahLst/>
            <a:cxnLst/>
            <a:pathLst>
              <a:path w="20" h="440445">
                <a:moveTo>
                  <a:pt x="0" y="440445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8" name="Figure 3 plot object 287"/>
          <p:cNvSpPr>
            <a:spLocks noGrp="1"/>
          </p:cNvSpPr>
          <p:nvPr/>
        </p:nvSpPr>
        <p:spPr>
          <a:xfrm>
            <a:off x="6830058" y="9977276"/>
            <a:ext cx="20" cy="510917"/>
          </a:xfrm>
          <a:custGeom>
            <a:avLst/>
            <a:gdLst/>
            <a:ahLst/>
            <a:cxnLst/>
            <a:pathLst>
              <a:path w="20" h="510917">
                <a:moveTo>
                  <a:pt x="0" y="510917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89" name="Figure 3 plot object 288"/>
          <p:cNvSpPr>
            <a:spLocks noGrp="1"/>
          </p:cNvSpPr>
          <p:nvPr/>
        </p:nvSpPr>
        <p:spPr>
          <a:xfrm>
            <a:off x="7500356" y="10082983"/>
            <a:ext cx="20" cy="405210"/>
          </a:xfrm>
          <a:custGeom>
            <a:avLst/>
            <a:gdLst/>
            <a:ahLst/>
            <a:cxnLst/>
            <a:pathLst>
              <a:path w="20" h="405210">
                <a:moveTo>
                  <a:pt x="0" y="405210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0" name="Figure 3 plot object 289"/>
          <p:cNvSpPr>
            <a:spLocks noGrp="1"/>
          </p:cNvSpPr>
          <p:nvPr/>
        </p:nvSpPr>
        <p:spPr>
          <a:xfrm>
            <a:off x="8170653" y="9994894"/>
            <a:ext cx="20" cy="493299"/>
          </a:xfrm>
          <a:custGeom>
            <a:avLst/>
            <a:gdLst/>
            <a:ahLst/>
            <a:cxnLst/>
            <a:pathLst>
              <a:path w="20" h="493299">
                <a:moveTo>
                  <a:pt x="0" y="493299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1" name="Figure 3 plot object 290"/>
          <p:cNvSpPr>
            <a:spLocks noGrp="1"/>
          </p:cNvSpPr>
          <p:nvPr/>
        </p:nvSpPr>
        <p:spPr>
          <a:xfrm>
            <a:off x="8840950" y="10118218"/>
            <a:ext cx="20" cy="369974"/>
          </a:xfrm>
          <a:custGeom>
            <a:avLst/>
            <a:gdLst/>
            <a:ahLst/>
            <a:cxnLst/>
            <a:pathLst>
              <a:path w="20" h="369974">
                <a:moveTo>
                  <a:pt x="0" y="369974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2" name="Figure 3 plot object 291"/>
          <p:cNvSpPr>
            <a:spLocks noGrp="1"/>
          </p:cNvSpPr>
          <p:nvPr/>
        </p:nvSpPr>
        <p:spPr>
          <a:xfrm>
            <a:off x="9511247" y="10065365"/>
            <a:ext cx="20" cy="422828"/>
          </a:xfrm>
          <a:custGeom>
            <a:avLst/>
            <a:gdLst/>
            <a:ahLst/>
            <a:cxnLst/>
            <a:pathLst>
              <a:path w="20" h="422828">
                <a:moveTo>
                  <a:pt x="0" y="422828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3" name="Figure 3 plot object 292"/>
          <p:cNvSpPr>
            <a:spLocks noGrp="1"/>
          </p:cNvSpPr>
          <p:nvPr/>
        </p:nvSpPr>
        <p:spPr>
          <a:xfrm>
            <a:off x="10181545" y="9853951"/>
            <a:ext cx="20" cy="563770"/>
          </a:xfrm>
          <a:custGeom>
            <a:avLst/>
            <a:gdLst/>
            <a:ahLst/>
            <a:cxnLst/>
            <a:pathLst>
              <a:path w="20" h="563770">
                <a:moveTo>
                  <a:pt x="0" y="563770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4" name="Figure 3 plot object 293"/>
          <p:cNvSpPr>
            <a:spLocks noGrp="1"/>
          </p:cNvSpPr>
          <p:nvPr/>
        </p:nvSpPr>
        <p:spPr>
          <a:xfrm>
            <a:off x="10851842" y="9290181"/>
            <a:ext cx="20" cy="510917"/>
          </a:xfrm>
          <a:custGeom>
            <a:avLst/>
            <a:gdLst/>
            <a:ahLst/>
            <a:cxnLst/>
            <a:pathLst>
              <a:path w="20" h="510917">
                <a:moveTo>
                  <a:pt x="0" y="510917"/>
                </a:moveTo>
                <a:lnTo>
                  <a:pt x="0" y="0"/>
                </a:lnTo>
              </a:path>
            </a:pathLst>
          </a:custGeom>
          <a:noFill/>
          <a:ln w="19765">
            <a:solidFill>
              <a:srgbClr val="19847B"/>
            </a:solidFill>
            <a:prstDash val="solid"/>
          </a:ln>
        </p:spPr>
      </p:sp>
      <p:sp>
        <p:nvSpPr>
          <p:cNvPr id="295" name="Figure 3 plot object 294"/>
          <p:cNvSpPr>
            <a:spLocks noGrp="1"/>
          </p:cNvSpPr>
          <p:nvPr/>
        </p:nvSpPr>
        <p:spPr>
          <a:xfrm>
            <a:off x="3439042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6" name="Figure 3 plot object 295"/>
          <p:cNvSpPr>
            <a:spLocks noGrp="1"/>
          </p:cNvSpPr>
          <p:nvPr/>
        </p:nvSpPr>
        <p:spPr>
          <a:xfrm>
            <a:off x="4109340" y="1041772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7" name="Figure 3 plot object 296"/>
          <p:cNvSpPr>
            <a:spLocks noGrp="1"/>
          </p:cNvSpPr>
          <p:nvPr/>
        </p:nvSpPr>
        <p:spPr>
          <a:xfrm>
            <a:off x="4779637" y="10347250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8" name="Figure 3 plot object 297"/>
          <p:cNvSpPr>
            <a:spLocks noGrp="1"/>
          </p:cNvSpPr>
          <p:nvPr/>
        </p:nvSpPr>
        <p:spPr>
          <a:xfrm>
            <a:off x="5449934" y="9730626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299" name="Figure 3 plot object 298"/>
          <p:cNvSpPr>
            <a:spLocks noGrp="1"/>
          </p:cNvSpPr>
          <p:nvPr/>
        </p:nvSpPr>
        <p:spPr>
          <a:xfrm>
            <a:off x="6120231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0" name="Figure 3 plot object 299"/>
          <p:cNvSpPr>
            <a:spLocks noGrp="1"/>
          </p:cNvSpPr>
          <p:nvPr/>
        </p:nvSpPr>
        <p:spPr>
          <a:xfrm>
            <a:off x="6790529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1" name="Figure 3 plot object 300"/>
          <p:cNvSpPr>
            <a:spLocks noGrp="1"/>
          </p:cNvSpPr>
          <p:nvPr/>
        </p:nvSpPr>
        <p:spPr>
          <a:xfrm>
            <a:off x="7460826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2" name="Figure 3 plot object 301"/>
          <p:cNvSpPr>
            <a:spLocks noGrp="1"/>
          </p:cNvSpPr>
          <p:nvPr/>
        </p:nvSpPr>
        <p:spPr>
          <a:xfrm>
            <a:off x="8131123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3" name="Figure 3 plot object 302"/>
          <p:cNvSpPr>
            <a:spLocks noGrp="1"/>
          </p:cNvSpPr>
          <p:nvPr/>
        </p:nvSpPr>
        <p:spPr>
          <a:xfrm>
            <a:off x="8801420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4" name="Figure 3 plot object 303"/>
          <p:cNvSpPr>
            <a:spLocks noGrp="1"/>
          </p:cNvSpPr>
          <p:nvPr/>
        </p:nvSpPr>
        <p:spPr>
          <a:xfrm>
            <a:off x="9471718" y="1048819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5" name="Figure 3 plot object 304"/>
          <p:cNvSpPr>
            <a:spLocks noGrp="1"/>
          </p:cNvSpPr>
          <p:nvPr/>
        </p:nvSpPr>
        <p:spPr>
          <a:xfrm>
            <a:off x="10142015" y="1041772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6" name="Figure 3 plot object 305"/>
          <p:cNvSpPr>
            <a:spLocks noGrp="1"/>
          </p:cNvSpPr>
          <p:nvPr/>
        </p:nvSpPr>
        <p:spPr>
          <a:xfrm>
            <a:off x="10812312" y="9801098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7" name="Figure 3 plot object 306"/>
          <p:cNvSpPr>
            <a:spLocks noGrp="1"/>
          </p:cNvSpPr>
          <p:nvPr/>
        </p:nvSpPr>
        <p:spPr>
          <a:xfrm>
            <a:off x="3439042" y="10171072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8" name="Figure 3 plot object 307"/>
          <p:cNvSpPr>
            <a:spLocks noGrp="1"/>
          </p:cNvSpPr>
          <p:nvPr/>
        </p:nvSpPr>
        <p:spPr>
          <a:xfrm>
            <a:off x="4109340" y="9642537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09" name="Figure 3 plot object 308"/>
          <p:cNvSpPr>
            <a:spLocks noGrp="1"/>
          </p:cNvSpPr>
          <p:nvPr/>
        </p:nvSpPr>
        <p:spPr>
          <a:xfrm>
            <a:off x="4779637" y="9713008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0" name="Figure 3 plot object 309"/>
          <p:cNvSpPr>
            <a:spLocks noGrp="1"/>
          </p:cNvSpPr>
          <p:nvPr/>
        </p:nvSpPr>
        <p:spPr>
          <a:xfrm>
            <a:off x="5449934" y="929018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1" name="Figure 3 plot object 310"/>
          <p:cNvSpPr>
            <a:spLocks noGrp="1"/>
          </p:cNvSpPr>
          <p:nvPr/>
        </p:nvSpPr>
        <p:spPr>
          <a:xfrm>
            <a:off x="6120231" y="10047747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2" name="Figure 3 plot object 311"/>
          <p:cNvSpPr>
            <a:spLocks noGrp="1"/>
          </p:cNvSpPr>
          <p:nvPr/>
        </p:nvSpPr>
        <p:spPr>
          <a:xfrm>
            <a:off x="6790529" y="9977276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3" name="Figure 3 plot object 312"/>
          <p:cNvSpPr>
            <a:spLocks noGrp="1"/>
          </p:cNvSpPr>
          <p:nvPr/>
        </p:nvSpPr>
        <p:spPr>
          <a:xfrm>
            <a:off x="7460826" y="10082983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4" name="Figure 3 plot object 313"/>
          <p:cNvSpPr>
            <a:spLocks noGrp="1"/>
          </p:cNvSpPr>
          <p:nvPr/>
        </p:nvSpPr>
        <p:spPr>
          <a:xfrm>
            <a:off x="8131123" y="9994894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5" name="Figure 3 plot object 314"/>
          <p:cNvSpPr>
            <a:spLocks noGrp="1"/>
          </p:cNvSpPr>
          <p:nvPr/>
        </p:nvSpPr>
        <p:spPr>
          <a:xfrm>
            <a:off x="8801420" y="10118218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6" name="Figure 3 plot object 315"/>
          <p:cNvSpPr>
            <a:spLocks noGrp="1"/>
          </p:cNvSpPr>
          <p:nvPr/>
        </p:nvSpPr>
        <p:spPr>
          <a:xfrm>
            <a:off x="9471718" y="10065365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7" name="Figure 3 plot object 316"/>
          <p:cNvSpPr>
            <a:spLocks noGrp="1"/>
          </p:cNvSpPr>
          <p:nvPr/>
        </p:nvSpPr>
        <p:spPr>
          <a:xfrm>
            <a:off x="10142015" y="985395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8" name="Figure 3 plot object 317"/>
          <p:cNvSpPr>
            <a:spLocks noGrp="1"/>
          </p:cNvSpPr>
          <p:nvPr/>
        </p:nvSpPr>
        <p:spPr>
          <a:xfrm>
            <a:off x="10812312" y="9290181"/>
            <a:ext cx="79060" cy="20"/>
          </a:xfrm>
          <a:custGeom>
            <a:avLst/>
            <a:gdLst/>
            <a:ahLst/>
            <a:cxnLst/>
            <a:pathLst>
              <a:path w="79060" h="20">
                <a:moveTo>
                  <a:pt x="79060" y="0"/>
                </a:moveTo>
                <a:lnTo>
                  <a:pt x="0" y="0"/>
                </a:lnTo>
              </a:path>
            </a:pathLst>
          </a:custGeom>
          <a:solidFill>
            <a:srgbClr val="19847B"/>
          </a:solidFill>
          <a:ln w="15812">
            <a:solidFill>
              <a:srgbClr val="19847B"/>
            </a:solidFill>
            <a:prstDash val="solid"/>
          </a:ln>
        </p:spPr>
      </p:sp>
      <p:sp>
        <p:nvSpPr>
          <p:cNvPr id="319" name="MAE 0.229; coverage 5/12"/>
          <p:cNvSpPr>
            <a:spLocks noGrp="1"/>
          </p:cNvSpPr>
          <p:nvPr/>
        </p:nvSpPr>
        <p:spPr>
          <a:xfrm>
            <a:off x="9738096" y="8812231"/>
            <a:ext cx="16732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MAE 0.229; coverage 5/12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20" name="Figure 3 plot object 319"/>
          <p:cNvSpPr>
            <a:spLocks noGrp="1"/>
          </p:cNvSpPr>
          <p:nvPr/>
        </p:nvSpPr>
        <p:spPr>
          <a:xfrm>
            <a:off x="3445960" y="10367491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1" name="Figure 3 plot object 320"/>
          <p:cNvSpPr>
            <a:spLocks noGrp="1"/>
          </p:cNvSpPr>
          <p:nvPr/>
        </p:nvSpPr>
        <p:spPr>
          <a:xfrm>
            <a:off x="4116257" y="10050371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2" name="Figure 3 plot object 321"/>
          <p:cNvSpPr>
            <a:spLocks noGrp="1"/>
          </p:cNvSpPr>
          <p:nvPr/>
        </p:nvSpPr>
        <p:spPr>
          <a:xfrm>
            <a:off x="4786555" y="10015135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3" name="Figure 3 plot object 322"/>
          <p:cNvSpPr>
            <a:spLocks noGrp="1"/>
          </p:cNvSpPr>
          <p:nvPr/>
        </p:nvSpPr>
        <p:spPr>
          <a:xfrm>
            <a:off x="5456852" y="9451365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4" name="Figure 3 plot object 323"/>
          <p:cNvSpPr>
            <a:spLocks noGrp="1"/>
          </p:cNvSpPr>
          <p:nvPr/>
        </p:nvSpPr>
        <p:spPr>
          <a:xfrm>
            <a:off x="6127149" y="10314638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5" name="Figure 3 plot object 324"/>
          <p:cNvSpPr>
            <a:spLocks noGrp="1"/>
          </p:cNvSpPr>
          <p:nvPr/>
        </p:nvSpPr>
        <p:spPr>
          <a:xfrm>
            <a:off x="6797446" y="10279402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6" name="Figure 3 plot object 325"/>
          <p:cNvSpPr>
            <a:spLocks noGrp="1"/>
          </p:cNvSpPr>
          <p:nvPr/>
        </p:nvSpPr>
        <p:spPr>
          <a:xfrm>
            <a:off x="7467744" y="10332256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7" name="Figure 3 plot object 326"/>
          <p:cNvSpPr>
            <a:spLocks noGrp="1"/>
          </p:cNvSpPr>
          <p:nvPr/>
        </p:nvSpPr>
        <p:spPr>
          <a:xfrm>
            <a:off x="8138041" y="10297020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8" name="Figure 3 plot object 327"/>
          <p:cNvSpPr>
            <a:spLocks noGrp="1"/>
          </p:cNvSpPr>
          <p:nvPr/>
        </p:nvSpPr>
        <p:spPr>
          <a:xfrm>
            <a:off x="8808338" y="10349873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29" name="Figure 3 plot object 328"/>
          <p:cNvSpPr>
            <a:spLocks noGrp="1"/>
          </p:cNvSpPr>
          <p:nvPr/>
        </p:nvSpPr>
        <p:spPr>
          <a:xfrm>
            <a:off x="9478635" y="10332256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30" name="Figure 3 plot object 329"/>
          <p:cNvSpPr>
            <a:spLocks noGrp="1"/>
          </p:cNvSpPr>
          <p:nvPr/>
        </p:nvSpPr>
        <p:spPr>
          <a:xfrm>
            <a:off x="10148933" y="10156077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31" name="Figure 3 plot object 330"/>
          <p:cNvSpPr>
            <a:spLocks noGrp="1"/>
          </p:cNvSpPr>
          <p:nvPr/>
        </p:nvSpPr>
        <p:spPr>
          <a:xfrm>
            <a:off x="10819230" y="9486600"/>
            <a:ext cx="65224" cy="65224"/>
          </a:xfrm>
          <a:custGeom>
            <a:avLst/>
            <a:gdLst/>
            <a:ahLst/>
            <a:cxnLst/>
            <a:pathLst>
              <a:path w="65224" h="65224">
                <a:moveTo>
                  <a:pt x="32612" y="65224"/>
                </a:moveTo>
                <a:cubicBezTo>
                  <a:pt x="41261" y="65224"/>
                  <a:pt x="49557" y="61788"/>
                  <a:pt x="55672" y="55672"/>
                </a:cubicBezTo>
                <a:cubicBezTo>
                  <a:pt x="61788" y="49557"/>
                  <a:pt x="65224" y="41261"/>
                  <a:pt x="65224" y="32612"/>
                </a:cubicBezTo>
                <a:cubicBezTo>
                  <a:pt x="65224" y="23963"/>
                  <a:pt x="61788" y="15667"/>
                  <a:pt x="55672" y="9552"/>
                </a:cubicBezTo>
                <a:cubicBezTo>
                  <a:pt x="49557" y="3436"/>
                  <a:pt x="41261" y="0"/>
                  <a:pt x="32612" y="0"/>
                </a:cubicBezTo>
                <a:cubicBezTo>
                  <a:pt x="23963" y="0"/>
                  <a:pt x="15667" y="3436"/>
                  <a:pt x="9552" y="9552"/>
                </a:cubicBezTo>
                <a:cubicBezTo>
                  <a:pt x="3436" y="15667"/>
                  <a:pt x="0" y="23963"/>
                  <a:pt x="0" y="32612"/>
                </a:cubicBezTo>
                <a:cubicBezTo>
                  <a:pt x="0" y="41261"/>
                  <a:pt x="3436" y="49557"/>
                  <a:pt x="9552" y="55672"/>
                </a:cubicBezTo>
                <a:cubicBezTo>
                  <a:pt x="15667" y="61788"/>
                  <a:pt x="23963" y="65224"/>
                  <a:pt x="32612" y="65224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32" name="Figure 3 plot object 331"/>
          <p:cNvSpPr>
            <a:spLocks noGrp="1"/>
          </p:cNvSpPr>
          <p:nvPr/>
        </p:nvSpPr>
        <p:spPr>
          <a:xfrm>
            <a:off x="3555538" y="10380264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3" name="Figure 3 plot object 332"/>
          <p:cNvSpPr>
            <a:spLocks noGrp="1"/>
          </p:cNvSpPr>
          <p:nvPr/>
        </p:nvSpPr>
        <p:spPr>
          <a:xfrm>
            <a:off x="4225835" y="9822074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4" name="Figure 3 plot object 333"/>
          <p:cNvSpPr>
            <a:spLocks noGrp="1"/>
          </p:cNvSpPr>
          <p:nvPr/>
        </p:nvSpPr>
        <p:spPr>
          <a:xfrm>
            <a:off x="4896132" y="9805348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5" name="Figure 3 plot object 334"/>
          <p:cNvSpPr>
            <a:spLocks noGrp="1"/>
          </p:cNvSpPr>
          <p:nvPr/>
        </p:nvSpPr>
        <p:spPr>
          <a:xfrm>
            <a:off x="5566430" y="9430040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6" name="Figure 3 plot object 335"/>
          <p:cNvSpPr>
            <a:spLocks noGrp="1"/>
          </p:cNvSpPr>
          <p:nvPr/>
        </p:nvSpPr>
        <p:spPr>
          <a:xfrm>
            <a:off x="6236727" y="9799404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7" name="Figure 3 plot object 336"/>
          <p:cNvSpPr>
            <a:spLocks noGrp="1"/>
          </p:cNvSpPr>
          <p:nvPr/>
        </p:nvSpPr>
        <p:spPr>
          <a:xfrm>
            <a:off x="6907024" y="9332109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8" name="Figure 3 plot object 337"/>
          <p:cNvSpPr>
            <a:spLocks noGrp="1"/>
          </p:cNvSpPr>
          <p:nvPr/>
        </p:nvSpPr>
        <p:spPr>
          <a:xfrm>
            <a:off x="7577321" y="9824960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39" name="Figure 3 plot object 338"/>
          <p:cNvSpPr>
            <a:spLocks noGrp="1"/>
          </p:cNvSpPr>
          <p:nvPr/>
        </p:nvSpPr>
        <p:spPr>
          <a:xfrm>
            <a:off x="8247619" y="9481233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0" name="Figure 3 plot object 339"/>
          <p:cNvSpPr>
            <a:spLocks noGrp="1"/>
          </p:cNvSpPr>
          <p:nvPr/>
        </p:nvSpPr>
        <p:spPr>
          <a:xfrm>
            <a:off x="8917916" y="9930011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1" name="Figure 3 plot object 340"/>
          <p:cNvSpPr>
            <a:spLocks noGrp="1"/>
          </p:cNvSpPr>
          <p:nvPr/>
        </p:nvSpPr>
        <p:spPr>
          <a:xfrm>
            <a:off x="9588213" y="9566819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2" name="Figure 3 plot object 341"/>
          <p:cNvSpPr>
            <a:spLocks noGrp="1"/>
          </p:cNvSpPr>
          <p:nvPr/>
        </p:nvSpPr>
        <p:spPr>
          <a:xfrm>
            <a:off x="10258510" y="9950755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3" name="Figure 3 plot object 342"/>
          <p:cNvSpPr>
            <a:spLocks noGrp="1"/>
          </p:cNvSpPr>
          <p:nvPr/>
        </p:nvSpPr>
        <p:spPr>
          <a:xfrm>
            <a:off x="10928808" y="9830196"/>
            <a:ext cx="100782" cy="100782"/>
          </a:xfrm>
          <a:custGeom>
            <a:avLst/>
            <a:gdLst/>
            <a:ahLst/>
            <a:cxnLst/>
            <a:pathLst>
              <a:path w="100782" h="100782">
                <a:moveTo>
                  <a:pt x="50391" y="100782"/>
                </a:moveTo>
                <a:lnTo>
                  <a:pt x="100782" y="50391"/>
                </a:lnTo>
                <a:lnTo>
                  <a:pt x="50391" y="0"/>
                </a:lnTo>
                <a:lnTo>
                  <a:pt x="0" y="50391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4" name="Figure 3 plot object 343"/>
          <p:cNvSpPr>
            <a:spLocks noGrp="1"/>
          </p:cNvSpPr>
          <p:nvPr/>
        </p:nvSpPr>
        <p:spPr>
          <a:xfrm>
            <a:off x="3108705" y="8900552"/>
            <a:ext cx="188162" cy="20"/>
          </a:xfrm>
          <a:custGeom>
            <a:avLst/>
            <a:gdLst/>
            <a:ahLst/>
            <a:cxnLst/>
            <a:pathLst>
              <a:path w="188162" h="20">
                <a:moveTo>
                  <a:pt x="0" y="0"/>
                </a:moveTo>
                <a:lnTo>
                  <a:pt x="94081" y="0"/>
                </a:lnTo>
                <a:lnTo>
                  <a:pt x="188162" y="0"/>
                </a:lnTo>
              </a:path>
            </a:pathLst>
          </a:custGeom>
          <a:noFill/>
          <a:ln w="29647">
            <a:solidFill>
              <a:srgbClr val="19847B"/>
            </a:solidFill>
            <a:prstDash val="solid"/>
          </a:ln>
        </p:spPr>
      </p:sp>
      <p:sp>
        <p:nvSpPr>
          <p:cNvPr id="345" name="Figure 3 plot object 344"/>
          <p:cNvSpPr>
            <a:spLocks noGrp="1"/>
          </p:cNvSpPr>
          <p:nvPr/>
        </p:nvSpPr>
        <p:spPr>
          <a:xfrm>
            <a:off x="3173138" y="8870905"/>
            <a:ext cx="59295" cy="59295"/>
          </a:xfrm>
          <a:custGeom>
            <a:avLst/>
            <a:gdLst/>
            <a:ahLst/>
            <a:cxnLst/>
            <a:pathLst>
              <a:path w="59295" h="59295">
                <a:moveTo>
                  <a:pt x="29647" y="59295"/>
                </a:moveTo>
                <a:cubicBezTo>
                  <a:pt x="37510" y="59295"/>
                  <a:pt x="45052" y="56171"/>
                  <a:pt x="50611" y="50611"/>
                </a:cubicBezTo>
                <a:cubicBezTo>
                  <a:pt x="56171" y="45052"/>
                  <a:pt x="59295" y="37510"/>
                  <a:pt x="59295" y="29647"/>
                </a:cubicBezTo>
                <a:cubicBezTo>
                  <a:pt x="59295" y="21785"/>
                  <a:pt x="56171" y="14243"/>
                  <a:pt x="50611" y="8684"/>
                </a:cubicBezTo>
                <a:cubicBezTo>
                  <a:pt x="45052" y="3124"/>
                  <a:pt x="37510" y="0"/>
                  <a:pt x="29647" y="0"/>
                </a:cubicBezTo>
                <a:cubicBezTo>
                  <a:pt x="21785" y="0"/>
                  <a:pt x="14243" y="3124"/>
                  <a:pt x="8684" y="8684"/>
                </a:cubicBezTo>
                <a:cubicBezTo>
                  <a:pt x="3124" y="14243"/>
                  <a:pt x="0" y="21785"/>
                  <a:pt x="0" y="29647"/>
                </a:cubicBezTo>
                <a:cubicBezTo>
                  <a:pt x="0" y="37510"/>
                  <a:pt x="3124" y="45052"/>
                  <a:pt x="8684" y="50611"/>
                </a:cubicBezTo>
                <a:cubicBezTo>
                  <a:pt x="14243" y="56171"/>
                  <a:pt x="21785" y="59295"/>
                  <a:pt x="29647" y="59295"/>
                </a:cubicBezTo>
                <a:close/>
              </a:path>
            </a:pathLst>
          </a:custGeom>
          <a:solidFill>
            <a:srgbClr val="19847B"/>
          </a:solidFill>
          <a:ln w="19765">
            <a:solidFill>
              <a:srgbClr val="19847B"/>
            </a:solidFill>
            <a:prstDash val="solid"/>
          </a:ln>
        </p:spPr>
      </p:sp>
      <p:sp>
        <p:nvSpPr>
          <p:cNvPr id="346" name="Forecast + 80% interval"/>
          <p:cNvSpPr>
            <a:spLocks noGrp="1"/>
          </p:cNvSpPr>
          <p:nvPr/>
        </p:nvSpPr>
        <p:spPr>
          <a:xfrm>
            <a:off x="3404388" y="8823943"/>
            <a:ext cx="147574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Forecast + 80% interval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7" name="Figure 3 plot object 346"/>
          <p:cNvSpPr>
            <a:spLocks noGrp="1"/>
          </p:cNvSpPr>
          <p:nvPr/>
        </p:nvSpPr>
        <p:spPr>
          <a:xfrm>
            <a:off x="5046803" y="8858624"/>
            <a:ext cx="83855" cy="83855"/>
          </a:xfrm>
          <a:custGeom>
            <a:avLst/>
            <a:gdLst/>
            <a:ahLst/>
            <a:cxnLst/>
            <a:pathLst>
              <a:path w="83855" h="83855">
                <a:moveTo>
                  <a:pt x="41928" y="83855"/>
                </a:moveTo>
                <a:lnTo>
                  <a:pt x="83855" y="41928"/>
                </a:lnTo>
                <a:lnTo>
                  <a:pt x="41928" y="0"/>
                </a:lnTo>
                <a:lnTo>
                  <a:pt x="0" y="41928"/>
                </a:lnTo>
                <a:close/>
              </a:path>
            </a:pathLst>
          </a:custGeom>
          <a:solidFill>
            <a:srgbClr val="AF542D"/>
          </a:solidFill>
          <a:ln w="19765">
            <a:solidFill>
              <a:srgbClr val="AF542D"/>
            </a:solidFill>
            <a:prstDash val="solid"/>
          </a:ln>
        </p:spPr>
      </p:sp>
      <p:sp>
        <p:nvSpPr>
          <p:cNvPr id="348" name="Withheld reference"/>
          <p:cNvSpPr>
            <a:spLocks noGrp="1"/>
          </p:cNvSpPr>
          <p:nvPr/>
        </p:nvSpPr>
        <p:spPr>
          <a:xfrm>
            <a:off x="5290332" y="8823943"/>
            <a:ext cx="119627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Withheld reference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9" name="a"/>
          <p:cNvSpPr>
            <a:spLocks noGrp="1"/>
          </p:cNvSpPr>
          <p:nvPr/>
        </p:nvSpPr>
        <p:spPr>
          <a:xfrm>
            <a:off x="2493536" y="431467"/>
            <a:ext cx="210002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0" name="Electrochemistry"/>
          <p:cNvSpPr>
            <a:spLocks noGrp="1"/>
          </p:cNvSpPr>
          <p:nvPr/>
        </p:nvSpPr>
        <p:spPr>
          <a:xfrm>
            <a:off x="2769187" y="439539"/>
            <a:ext cx="16846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1" name="b"/>
          <p:cNvSpPr>
            <a:spLocks noGrp="1"/>
          </p:cNvSpPr>
          <p:nvPr/>
        </p:nvSpPr>
        <p:spPr>
          <a:xfrm>
            <a:off x="7271475" y="431467"/>
            <a:ext cx="217414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2" name="Reaction processing"/>
          <p:cNvSpPr>
            <a:spLocks noGrp="1"/>
          </p:cNvSpPr>
          <p:nvPr/>
        </p:nvSpPr>
        <p:spPr>
          <a:xfrm>
            <a:off x="7547126" y="439539"/>
            <a:ext cx="195770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Reaction processing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3" name="c"/>
          <p:cNvSpPr>
            <a:spLocks noGrp="1"/>
          </p:cNvSpPr>
          <p:nvPr/>
        </p:nvSpPr>
        <p:spPr>
          <a:xfrm>
            <a:off x="2493536" y="4206516"/>
            <a:ext cx="207531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4" name="Two independent 12-batch research paths"/>
          <p:cNvSpPr>
            <a:spLocks noGrp="1"/>
          </p:cNvSpPr>
          <p:nvPr/>
        </p:nvSpPr>
        <p:spPr>
          <a:xfrm>
            <a:off x="2769187" y="4215059"/>
            <a:ext cx="407606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Two independent 12-batch research paths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5" name="d"/>
          <p:cNvSpPr>
            <a:spLocks noGrp="1"/>
          </p:cNvSpPr>
          <p:nvPr/>
        </p:nvSpPr>
        <p:spPr>
          <a:xfrm>
            <a:off x="2485281" y="8090938"/>
            <a:ext cx="21988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6" name="The optimization agent's subsequent predictions"/>
          <p:cNvSpPr>
            <a:spLocks noGrp="1"/>
          </p:cNvSpPr>
          <p:nvPr/>
        </p:nvSpPr>
        <p:spPr>
          <a:xfrm>
            <a:off x="2769187" y="8091391"/>
            <a:ext cx="47199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optimization agent's subsequent predictions</a:t>
            </a:r>
            <a:endParaRPr sz="1800" b="1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8" name="Later public Q rationale (condensed): poor cross-pairs suggest material incompatibility."/>
          <p:cNvSpPr>
            <a:spLocks noGrp="1"/>
          </p:cNvSpPr>
          <p:nvPr/>
        </p:nvSpPr>
        <p:spPr>
          <a:xfrm>
            <a:off x="2769187" y="8450319"/>
            <a:ext cx="622998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Later public Q rationale (condensed): poor cross-pairs suggest material incompatibility.</a:t>
            </a:r>
            <a:endParaRPr sz="14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9" name="Highlighted conditions: +0.8 V, 100 mA, 7,200 s. All queries use 0.012 mol in 0.025 L."/>
          <p:cNvSpPr>
            <a:spLocks noGrp="1"/>
          </p:cNvSpPr>
          <p:nvPr/>
        </p:nvSpPr>
        <p:spPr>
          <a:xfrm>
            <a:off x="3136721" y="10881333"/>
            <a:ext cx="533146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Highlighted conditions: +0.8 V, 100 mA, 7,200 s. All queries use 0.012 mol in 0.025 L.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0" name="Figure 3 plot object 359"/>
          <p:cNvSpPr>
            <a:spLocks noGrp="1"/>
          </p:cNvSpPr>
          <p:nvPr/>
        </p:nvSpPr>
        <p:spPr>
          <a:xfrm>
            <a:off x="8646454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637482"/>
          </a:solidFill>
          <a:ln w="19765">
            <a:solidFill>
              <a:srgbClr val="637482"/>
            </a:solidFill>
            <a:prstDash val="solid"/>
          </a:ln>
        </p:spPr>
      </p:sp>
      <p:sp>
        <p:nvSpPr>
          <p:cNvPr id="361" name="Opaque"/>
          <p:cNvSpPr>
            <a:spLocks noGrp="1"/>
          </p:cNvSpPr>
          <p:nvPr/>
        </p:nvSpPr>
        <p:spPr>
          <a:xfrm>
            <a:off x="8874146" y="3914843"/>
            <a:ext cx="54155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2" name="Figure 3 plot object 361"/>
          <p:cNvSpPr>
            <a:spLocks noGrp="1"/>
          </p:cNvSpPr>
          <p:nvPr/>
        </p:nvSpPr>
        <p:spPr>
          <a:xfrm>
            <a:off x="9595097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63" name="Aligned"/>
          <p:cNvSpPr>
            <a:spLocks noGrp="1"/>
          </p:cNvSpPr>
          <p:nvPr/>
        </p:nvSpPr>
        <p:spPr>
          <a:xfrm>
            <a:off x="9822788" y="3914843"/>
            <a:ext cx="51685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4" name="Figure 3 plot object 363"/>
          <p:cNvSpPr>
            <a:spLocks noGrp="1"/>
          </p:cNvSpPr>
          <p:nvPr/>
        </p:nvSpPr>
        <p:spPr>
          <a:xfrm>
            <a:off x="10513835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65" name="MisIndexed"/>
          <p:cNvSpPr>
            <a:spLocks noGrp="1"/>
          </p:cNvSpPr>
          <p:nvPr/>
        </p:nvSpPr>
        <p:spPr>
          <a:xfrm>
            <a:off x="10741525" y="3914843"/>
            <a:ext cx="75403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68" name="quadrant-prediction-only"/>
          <p:cNvSpPr>
            <a:spLocks noGrp="1"/>
          </p:cNvSpPr>
          <p:nvPr/>
        </p:nvSpPr>
        <p:spPr>
          <a:xfrm>
            <a:off x="3257550" y="904875"/>
            <a:ext cx="16573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prediction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9" name="quadrant-prediction-only-count"/>
          <p:cNvSpPr>
            <a:spLocks noGrp="1"/>
          </p:cNvSpPr>
          <p:nvPr/>
        </p:nvSpPr>
        <p:spPr>
          <a:xfrm>
            <a:off x="3257550" y="1066800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0" name="quadrant-better-both"/>
          <p:cNvSpPr>
            <a:spLocks noGrp="1"/>
          </p:cNvSpPr>
          <p:nvPr/>
        </p:nvSpPr>
        <p:spPr>
          <a:xfrm>
            <a:off x="5362575" y="723900"/>
            <a:ext cx="12668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1" name="quadrant-better-both-count"/>
          <p:cNvSpPr>
            <a:spLocks noGrp="1"/>
          </p:cNvSpPr>
          <p:nvPr/>
        </p:nvSpPr>
        <p:spPr>
          <a:xfrm>
            <a:off x="5915025" y="8858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2" name="quadrant-worse-both"/>
          <p:cNvSpPr>
            <a:spLocks noGrp="1"/>
          </p:cNvSpPr>
          <p:nvPr/>
        </p:nvSpPr>
        <p:spPr>
          <a:xfrm>
            <a:off x="3257550" y="2933700"/>
            <a:ext cx="13239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Worse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3" name="quadrant-worse-both-count"/>
          <p:cNvSpPr>
            <a:spLocks noGrp="1"/>
          </p:cNvSpPr>
          <p:nvPr/>
        </p:nvSpPr>
        <p:spPr>
          <a:xfrm>
            <a:off x="3257550" y="3095625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4" name="quadrant-retest-only"/>
          <p:cNvSpPr>
            <a:spLocks noGrp="1"/>
          </p:cNvSpPr>
          <p:nvPr/>
        </p:nvSpPr>
        <p:spPr>
          <a:xfrm>
            <a:off x="5248275" y="2933700"/>
            <a:ext cx="13811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retest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5" name="quadrant-retest-only-count"/>
          <p:cNvSpPr>
            <a:spLocks noGrp="1"/>
          </p:cNvSpPr>
          <p:nvPr/>
        </p:nvSpPr>
        <p:spPr>
          <a:xfrm>
            <a:off x="5915025" y="30956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6" name="quadrant-prediction-only"/>
          <p:cNvSpPr>
            <a:spLocks noGrp="1"/>
          </p:cNvSpPr>
          <p:nvPr/>
        </p:nvSpPr>
        <p:spPr>
          <a:xfrm>
            <a:off x="8039100" y="904875"/>
            <a:ext cx="16573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prediction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7" name="quadrant-prediction-only-count"/>
          <p:cNvSpPr>
            <a:spLocks noGrp="1"/>
          </p:cNvSpPr>
          <p:nvPr/>
        </p:nvSpPr>
        <p:spPr>
          <a:xfrm>
            <a:off x="8039100" y="1066800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8" name="quadrant-better-both"/>
          <p:cNvSpPr>
            <a:spLocks noGrp="1"/>
          </p:cNvSpPr>
          <p:nvPr/>
        </p:nvSpPr>
        <p:spPr>
          <a:xfrm>
            <a:off x="10010775" y="723900"/>
            <a:ext cx="12668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9" name="quadrant-better-both-count"/>
          <p:cNvSpPr>
            <a:spLocks noGrp="1"/>
          </p:cNvSpPr>
          <p:nvPr/>
        </p:nvSpPr>
        <p:spPr>
          <a:xfrm>
            <a:off x="10563225" y="8858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0" name="quadrant-worse-both"/>
          <p:cNvSpPr>
            <a:spLocks noGrp="1"/>
          </p:cNvSpPr>
          <p:nvPr/>
        </p:nvSpPr>
        <p:spPr>
          <a:xfrm>
            <a:off x="8039100" y="2933700"/>
            <a:ext cx="13239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Worse on both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1" name="quadrant-worse-both-count"/>
          <p:cNvSpPr>
            <a:spLocks noGrp="1"/>
          </p:cNvSpPr>
          <p:nvPr/>
        </p:nvSpPr>
        <p:spPr>
          <a:xfrm>
            <a:off x="8039100" y="3095625"/>
            <a:ext cx="70485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2" name="quadrant-retest-only"/>
          <p:cNvSpPr>
            <a:spLocks noGrp="1"/>
          </p:cNvSpPr>
          <p:nvPr/>
        </p:nvSpPr>
        <p:spPr>
          <a:xfrm>
            <a:off x="9896475" y="2933700"/>
            <a:ext cx="138112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Better retest only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3" name="quadrant-retest-only-count"/>
          <p:cNvSpPr>
            <a:spLocks noGrp="1"/>
          </p:cNvSpPr>
          <p:nvPr/>
        </p:nvSpPr>
        <p:spPr>
          <a:xfrm>
            <a:off x="10563225" y="3095625"/>
            <a:ext cx="7143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5/30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4" name="example-callout"/>
          <p:cNvSpPr>
            <a:spLocks noGrp="1"/>
          </p:cNvSpPr>
          <p:nvPr/>
        </p:nvSpPr>
        <p:spPr>
          <a:xfrm>
            <a:off x="3895725" y="2695575"/>
            <a:ext cx="105727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0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Example in c–d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5" name="example-leader"/>
          <p:cNvSpPr>
            <a:spLocks noGrp="1"/>
          </p:cNvSpPr>
          <p:nvPr/>
        </p:nvSpPr>
        <p:spPr>
          <a:xfrm>
            <a:off x="4819650" y="2733675"/>
            <a:ext cx="152400" cy="66675"/>
          </a:xfrm>
          <a:custGeom>
            <a:avLst/>
            <a:gdLst/>
            <a:ahLst/>
            <a:cxnLst/>
            <a:pathLst>
              <a:path w="152400" h="66675">
                <a:moveTo>
                  <a:pt x="0" y="66675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434343"/>
            </a:solidFill>
          </a:ln>
        </p:spPr>
      </p:sp>
      <p:sp>
        <p:nvSpPr>
          <p:cNvPr id="387" name="arm-legend-label"/>
          <p:cNvSpPr>
            <a:spLocks noGrp="1"/>
          </p:cNvSpPr>
          <p:nvPr/>
        </p:nvSpPr>
        <p:spPr>
          <a:xfrm>
            <a:off x="7773035" y="3910314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Information: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Figure 3 plot object 359"/>
          <p:cNvSpPr>
            <a:spLocks noGrp="1"/>
          </p:cNvSpPr>
          <p:nvPr/>
        </p:nvSpPr>
        <p:spPr>
          <a:xfrm>
            <a:off x="3889034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637482"/>
          </a:solidFill>
          <a:ln w="19765">
            <a:solidFill>
              <a:srgbClr val="637482"/>
            </a:solidFill>
            <a:prstDash val="solid"/>
          </a:ln>
        </p:spPr>
      </p:sp>
      <p:sp>
        <p:nvSpPr>
          <p:cNvPr id="29" name="Opaque"/>
          <p:cNvSpPr>
            <a:spLocks noGrp="1"/>
          </p:cNvSpPr>
          <p:nvPr/>
        </p:nvSpPr>
        <p:spPr>
          <a:xfrm>
            <a:off x="4116726" y="3914843"/>
            <a:ext cx="54155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1" name="Figure 3 plot object 361"/>
          <p:cNvSpPr>
            <a:spLocks noGrp="1"/>
          </p:cNvSpPr>
          <p:nvPr/>
        </p:nvSpPr>
        <p:spPr>
          <a:xfrm>
            <a:off x="4837677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2" name="Aligned"/>
          <p:cNvSpPr>
            <a:spLocks noGrp="1"/>
          </p:cNvSpPr>
          <p:nvPr/>
        </p:nvSpPr>
        <p:spPr>
          <a:xfrm>
            <a:off x="5065368" y="3914843"/>
            <a:ext cx="51685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4" name="Figure 3 plot object 363"/>
          <p:cNvSpPr>
            <a:spLocks noGrp="1"/>
          </p:cNvSpPr>
          <p:nvPr/>
        </p:nvSpPr>
        <p:spPr>
          <a:xfrm>
            <a:off x="5756415" y="3966034"/>
            <a:ext cx="79060" cy="79060"/>
          </a:xfrm>
          <a:custGeom>
            <a:avLst/>
            <a:gdLst/>
            <a:ahLst/>
            <a:cxnLst/>
            <a:pathLst>
              <a:path w="79060" h="79060">
                <a:moveTo>
                  <a:pt x="39530" y="79060"/>
                </a:moveTo>
                <a:cubicBezTo>
                  <a:pt x="50013" y="79060"/>
                  <a:pt x="60069" y="74894"/>
                  <a:pt x="67482" y="67482"/>
                </a:cubicBezTo>
                <a:cubicBezTo>
                  <a:pt x="74894" y="60069"/>
                  <a:pt x="79060" y="50013"/>
                  <a:pt x="79060" y="39530"/>
                </a:cubicBezTo>
                <a:cubicBezTo>
                  <a:pt x="79060" y="29046"/>
                  <a:pt x="74894" y="18991"/>
                  <a:pt x="67482" y="11578"/>
                </a:cubicBezTo>
                <a:cubicBezTo>
                  <a:pt x="60069" y="4165"/>
                  <a:pt x="50013" y="0"/>
                  <a:pt x="39530" y="0"/>
                </a:cubicBezTo>
                <a:cubicBezTo>
                  <a:pt x="29046" y="0"/>
                  <a:pt x="18991" y="4165"/>
                  <a:pt x="11578" y="11578"/>
                </a:cubicBezTo>
                <a:cubicBezTo>
                  <a:pt x="4165" y="18991"/>
                  <a:pt x="0" y="29046"/>
                  <a:pt x="0" y="39530"/>
                </a:cubicBezTo>
                <a:cubicBezTo>
                  <a:pt x="0" y="50013"/>
                  <a:pt x="4165" y="60069"/>
                  <a:pt x="11578" y="67482"/>
                </a:cubicBezTo>
                <a:cubicBezTo>
                  <a:pt x="18991" y="74894"/>
                  <a:pt x="29046" y="79060"/>
                  <a:pt x="39530" y="79060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5" name="MisIndexed"/>
          <p:cNvSpPr>
            <a:spLocks noGrp="1"/>
          </p:cNvSpPr>
          <p:nvPr/>
        </p:nvSpPr>
        <p:spPr>
          <a:xfrm>
            <a:off x="5984106" y="3914843"/>
            <a:ext cx="754031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1717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1717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200" b="0" i="0">
              <a:solidFill>
                <a:srgbClr val="1717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7" name="arm-legend-label"/>
          <p:cNvSpPr>
            <a:spLocks noGrp="1"/>
          </p:cNvSpPr>
          <p:nvPr/>
        </p:nvSpPr>
        <p:spPr>
          <a:xfrm>
            <a:off x="3015615" y="3910314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616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Information:</a:t>
            </a:r>
            <a:endParaRPr sz="1200" b="0">
              <a:solidFill>
                <a:srgbClr val="1616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" name="矩形 234"/>
          <p:cNvSpPr>
            <a:spLocks noGrp="1"/>
          </p:cNvSpPr>
          <p:nvPr/>
        </p:nvSpPr>
        <p:spPr>
          <a:xfrm>
            <a:off x="568960" y="1099820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95655" y="1127125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 Discovery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49325" y="1483042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582420" y="219710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501140" y="2115185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3084830" y="2115185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7569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5938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30605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0.1738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14295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0.1122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72230" y="2035175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11/15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72535" y="228600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559685" y="2893695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1538605" y="3196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894205" y="360426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2211070" y="306133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2421255" y="373951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261112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2642870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2679065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2869565" y="360426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3075305" y="3196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329628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3376295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349885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3527425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3586480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371348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9" name="菱形 28"/>
          <p:cNvSpPr>
            <a:spLocks noGrp="1"/>
          </p:cNvSpPr>
          <p:nvPr/>
        </p:nvSpPr>
        <p:spPr>
          <a:xfrm>
            <a:off x="2865120" y="346392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795655" y="426021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84074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657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255968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21615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427926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93509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7545" y="4640580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8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867275" y="1099820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93335" y="1127125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Electrochemistry Optimization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247640" y="1483042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Score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5880735" y="219710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5799455" y="2115185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7383145" y="2115185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374005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957695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328920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0.1781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912610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0.1082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69910" y="2035175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070850" y="228600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6858000" y="2893695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6109335" y="3196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6660515" y="360426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6776085" y="306133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698309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701802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7058025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7167880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7272020" y="360426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7291070" y="3196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0" name="椭圆 59"/>
          <p:cNvSpPr>
            <a:spLocks noGrp="1"/>
          </p:cNvSpPr>
          <p:nvPr/>
        </p:nvSpPr>
        <p:spPr>
          <a:xfrm>
            <a:off x="741616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7447915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748093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7734300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4" name="椭圆 63"/>
          <p:cNvSpPr>
            <a:spLocks noGrp="1"/>
          </p:cNvSpPr>
          <p:nvPr/>
        </p:nvSpPr>
        <p:spPr>
          <a:xfrm>
            <a:off x="7835265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5" name="椭圆 64"/>
          <p:cNvSpPr>
            <a:spLocks noGrp="1"/>
          </p:cNvSpPr>
          <p:nvPr/>
        </p:nvSpPr>
        <p:spPr>
          <a:xfrm>
            <a:off x="7884160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66" name="菱形 65"/>
          <p:cNvSpPr>
            <a:spLocks noGrp="1"/>
          </p:cNvSpPr>
          <p:nvPr/>
        </p:nvSpPr>
        <p:spPr>
          <a:xfrm>
            <a:off x="7267575" y="346392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5093335" y="426021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513905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479488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685800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651446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857758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823341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975860" y="4640580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8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165590" y="1099820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391650" y="1127125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Partitioning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9545320" y="1483042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Organic-fraction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8" name="直接连接符 77"/>
          <p:cNvSpPr>
            <a:spLocks noGrp="1"/>
          </p:cNvSpPr>
          <p:nvPr/>
        </p:nvSpPr>
        <p:spPr>
          <a:xfrm>
            <a:off x="10179050" y="219710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79" name="椭圆 78"/>
          <p:cNvSpPr>
            <a:spLocks noGrp="1"/>
          </p:cNvSpPr>
          <p:nvPr/>
        </p:nvSpPr>
        <p:spPr>
          <a:xfrm>
            <a:off x="10097770" y="2115185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11680825" y="2115185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67232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1256010" y="1779588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9627235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0.0829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1210290" y="234188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0.0238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2468225" y="2035175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13/15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2368530" y="2286000"/>
            <a:ext cx="82359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11156315" y="2893695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88" name="椭圆 87"/>
          <p:cNvSpPr>
            <a:spLocks noGrp="1"/>
          </p:cNvSpPr>
          <p:nvPr/>
        </p:nvSpPr>
        <p:spPr>
          <a:xfrm>
            <a:off x="10812145" y="3196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89" name="椭圆 88"/>
          <p:cNvSpPr>
            <a:spLocks noGrp="1"/>
          </p:cNvSpPr>
          <p:nvPr/>
        </p:nvSpPr>
        <p:spPr>
          <a:xfrm>
            <a:off x="11092815" y="360426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90" name="椭圆 89"/>
          <p:cNvSpPr>
            <a:spLocks noGrp="1"/>
          </p:cNvSpPr>
          <p:nvPr/>
        </p:nvSpPr>
        <p:spPr>
          <a:xfrm>
            <a:off x="11123930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1" name="椭圆 90"/>
          <p:cNvSpPr>
            <a:spLocks noGrp="1"/>
          </p:cNvSpPr>
          <p:nvPr/>
        </p:nvSpPr>
        <p:spPr>
          <a:xfrm>
            <a:off x="11163935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2" name="椭圆 91"/>
          <p:cNvSpPr>
            <a:spLocks noGrp="1"/>
          </p:cNvSpPr>
          <p:nvPr/>
        </p:nvSpPr>
        <p:spPr>
          <a:xfrm>
            <a:off x="1137094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3" name="椭圆 92"/>
          <p:cNvSpPr>
            <a:spLocks noGrp="1"/>
          </p:cNvSpPr>
          <p:nvPr/>
        </p:nvSpPr>
        <p:spPr>
          <a:xfrm>
            <a:off x="11374755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4" name="椭圆 93"/>
          <p:cNvSpPr>
            <a:spLocks noGrp="1"/>
          </p:cNvSpPr>
          <p:nvPr/>
        </p:nvSpPr>
        <p:spPr>
          <a:xfrm>
            <a:off x="11410950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5" name="椭圆 94"/>
          <p:cNvSpPr>
            <a:spLocks noGrp="1"/>
          </p:cNvSpPr>
          <p:nvPr/>
        </p:nvSpPr>
        <p:spPr>
          <a:xfrm>
            <a:off x="11436985" y="360426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6" name="椭圆 95"/>
          <p:cNvSpPr>
            <a:spLocks noGrp="1"/>
          </p:cNvSpPr>
          <p:nvPr/>
        </p:nvSpPr>
        <p:spPr>
          <a:xfrm>
            <a:off x="11623675" y="3196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7" name="椭圆 96"/>
          <p:cNvSpPr>
            <a:spLocks noGrp="1"/>
          </p:cNvSpPr>
          <p:nvPr/>
        </p:nvSpPr>
        <p:spPr>
          <a:xfrm>
            <a:off x="11722100" y="373951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8" name="椭圆 97"/>
          <p:cNvSpPr>
            <a:spLocks noGrp="1"/>
          </p:cNvSpPr>
          <p:nvPr/>
        </p:nvSpPr>
        <p:spPr>
          <a:xfrm>
            <a:off x="11778615" y="306133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197546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0" name="椭圆 99"/>
          <p:cNvSpPr>
            <a:spLocks noGrp="1"/>
          </p:cNvSpPr>
          <p:nvPr/>
        </p:nvSpPr>
        <p:spPr>
          <a:xfrm>
            <a:off x="12060555" y="387540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1" name="椭圆 100"/>
          <p:cNvSpPr>
            <a:spLocks noGrp="1"/>
          </p:cNvSpPr>
          <p:nvPr/>
        </p:nvSpPr>
        <p:spPr>
          <a:xfrm>
            <a:off x="12603480" y="333248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2" name="椭圆 101"/>
          <p:cNvSpPr>
            <a:spLocks noGrp="1"/>
          </p:cNvSpPr>
          <p:nvPr/>
        </p:nvSpPr>
        <p:spPr>
          <a:xfrm>
            <a:off x="12668885" y="346837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03" name="菱形 102"/>
          <p:cNvSpPr>
            <a:spLocks noGrp="1"/>
          </p:cNvSpPr>
          <p:nvPr/>
        </p:nvSpPr>
        <p:spPr>
          <a:xfrm>
            <a:off x="11432540" y="346392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9391650" y="426021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943673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9093200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-0.2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11156315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10812145" y="436880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12875260" y="426021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12531725" y="4368800"/>
            <a:ext cx="6604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+0.2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9274175" y="4640580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8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568960" y="5247005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795655" y="5274310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 Recovery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949325" y="5630228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MAE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1582420" y="634365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1501140" y="6262370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117" name="椭圆 116"/>
          <p:cNvSpPr>
            <a:spLocks noGrp="1"/>
          </p:cNvSpPr>
          <p:nvPr/>
        </p:nvSpPr>
        <p:spPr>
          <a:xfrm>
            <a:off x="3084830" y="6262370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107569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265938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1030605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0.1043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2614295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0.0794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3872230" y="6182360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3772535" y="643255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2559685" y="7040880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125" name="椭圆 124"/>
          <p:cNvSpPr>
            <a:spLocks noGrp="1"/>
          </p:cNvSpPr>
          <p:nvPr/>
        </p:nvSpPr>
        <p:spPr>
          <a:xfrm>
            <a:off x="2068195" y="734377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6" name="椭圆 125"/>
          <p:cNvSpPr>
            <a:spLocks noGrp="1"/>
          </p:cNvSpPr>
          <p:nvPr/>
        </p:nvSpPr>
        <p:spPr>
          <a:xfrm>
            <a:off x="2173605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7" name="椭圆 126"/>
          <p:cNvSpPr>
            <a:spLocks noGrp="1"/>
          </p:cNvSpPr>
          <p:nvPr/>
        </p:nvSpPr>
        <p:spPr>
          <a:xfrm>
            <a:off x="2264410" y="720788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8" name="椭圆 127"/>
          <p:cNvSpPr>
            <a:spLocks noGrp="1"/>
          </p:cNvSpPr>
          <p:nvPr/>
        </p:nvSpPr>
        <p:spPr>
          <a:xfrm>
            <a:off x="2363470" y="788670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29" name="椭圆 128"/>
          <p:cNvSpPr>
            <a:spLocks noGrp="1"/>
          </p:cNvSpPr>
          <p:nvPr/>
        </p:nvSpPr>
        <p:spPr>
          <a:xfrm>
            <a:off x="2429510" y="761492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30" name="椭圆 129"/>
          <p:cNvSpPr>
            <a:spLocks noGrp="1"/>
          </p:cNvSpPr>
          <p:nvPr/>
        </p:nvSpPr>
        <p:spPr>
          <a:xfrm>
            <a:off x="2457450" y="747966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31" name="椭圆 130"/>
          <p:cNvSpPr>
            <a:spLocks noGrp="1"/>
          </p:cNvSpPr>
          <p:nvPr/>
        </p:nvSpPr>
        <p:spPr>
          <a:xfrm>
            <a:off x="2477135" y="8022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32" name="椭圆 131"/>
          <p:cNvSpPr>
            <a:spLocks noGrp="1"/>
          </p:cNvSpPr>
          <p:nvPr/>
        </p:nvSpPr>
        <p:spPr>
          <a:xfrm>
            <a:off x="2534285" y="775081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3" name="椭圆 132"/>
          <p:cNvSpPr>
            <a:spLocks noGrp="1"/>
          </p:cNvSpPr>
          <p:nvPr/>
        </p:nvSpPr>
        <p:spPr>
          <a:xfrm>
            <a:off x="2540000" y="734377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4" name="椭圆 133"/>
          <p:cNvSpPr>
            <a:spLocks noGrp="1"/>
          </p:cNvSpPr>
          <p:nvPr/>
        </p:nvSpPr>
        <p:spPr>
          <a:xfrm>
            <a:off x="2577465" y="788670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5" name="椭圆 134"/>
          <p:cNvSpPr>
            <a:spLocks noGrp="1"/>
          </p:cNvSpPr>
          <p:nvPr/>
        </p:nvSpPr>
        <p:spPr>
          <a:xfrm>
            <a:off x="2830830" y="720788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6" name="椭圆 135"/>
          <p:cNvSpPr>
            <a:spLocks noGrp="1"/>
          </p:cNvSpPr>
          <p:nvPr/>
        </p:nvSpPr>
        <p:spPr>
          <a:xfrm>
            <a:off x="2910205" y="761492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7" name="椭圆 136"/>
          <p:cNvSpPr>
            <a:spLocks noGrp="1"/>
          </p:cNvSpPr>
          <p:nvPr/>
        </p:nvSpPr>
        <p:spPr>
          <a:xfrm>
            <a:off x="3000375" y="8022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8" name="椭圆 137"/>
          <p:cNvSpPr>
            <a:spLocks noGrp="1"/>
          </p:cNvSpPr>
          <p:nvPr/>
        </p:nvSpPr>
        <p:spPr>
          <a:xfrm>
            <a:off x="3141980" y="747966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4019550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40" name="直接连接符 139"/>
          <p:cNvSpPr>
            <a:spLocks noGrp="1"/>
          </p:cNvSpPr>
          <p:nvPr/>
        </p:nvSpPr>
        <p:spPr>
          <a:xfrm flipV="1">
            <a:off x="4019550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41" name="菱形 140"/>
          <p:cNvSpPr>
            <a:spLocks noGrp="1"/>
          </p:cNvSpPr>
          <p:nvPr/>
        </p:nvSpPr>
        <p:spPr>
          <a:xfrm>
            <a:off x="2529840" y="761047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142" name="直接连接符 141"/>
          <p:cNvSpPr>
            <a:spLocks noGrp="1"/>
          </p:cNvSpPr>
          <p:nvPr/>
        </p:nvSpPr>
        <p:spPr>
          <a:xfrm>
            <a:off x="795655" y="840676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84074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49657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255968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221615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7" name="直接连接符 146"/>
          <p:cNvSpPr>
            <a:spLocks noGrp="1"/>
          </p:cNvSpPr>
          <p:nvPr/>
        </p:nvSpPr>
        <p:spPr>
          <a:xfrm>
            <a:off x="427926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393509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+0.3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677545" y="8787765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error reduction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4867275" y="5247005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5036503" y="5274310"/>
            <a:ext cx="3778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 Fines interval coverage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5247640" y="5630228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coverage (%)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3" name="直接连接符 152"/>
          <p:cNvSpPr>
            <a:spLocks noGrp="1"/>
          </p:cNvSpPr>
          <p:nvPr/>
        </p:nvSpPr>
        <p:spPr>
          <a:xfrm>
            <a:off x="5880735" y="634365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154" name="椭圆 153"/>
          <p:cNvSpPr>
            <a:spLocks noGrp="1"/>
          </p:cNvSpPr>
          <p:nvPr/>
        </p:nvSpPr>
        <p:spPr>
          <a:xfrm>
            <a:off x="5799455" y="6262370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155" name="椭圆 154"/>
          <p:cNvSpPr>
            <a:spLocks noGrp="1"/>
          </p:cNvSpPr>
          <p:nvPr/>
        </p:nvSpPr>
        <p:spPr>
          <a:xfrm>
            <a:off x="7383145" y="6262370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5374005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6957695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5328920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35.6%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6912610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43.9%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8169910" y="6182360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8070850" y="6432550"/>
            <a:ext cx="83248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6858000" y="7040880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163" name="椭圆 162"/>
          <p:cNvSpPr>
            <a:spLocks noGrp="1"/>
          </p:cNvSpPr>
          <p:nvPr/>
        </p:nvSpPr>
        <p:spPr>
          <a:xfrm>
            <a:off x="6235065" y="734377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4" name="椭圆 163"/>
          <p:cNvSpPr>
            <a:spLocks noGrp="1"/>
          </p:cNvSpPr>
          <p:nvPr/>
        </p:nvSpPr>
        <p:spPr>
          <a:xfrm>
            <a:off x="6235065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5" name="椭圆 164"/>
          <p:cNvSpPr>
            <a:spLocks noGrp="1"/>
          </p:cNvSpPr>
          <p:nvPr/>
        </p:nvSpPr>
        <p:spPr>
          <a:xfrm>
            <a:off x="6521450" y="720788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6" name="椭圆 165"/>
          <p:cNvSpPr>
            <a:spLocks noGrp="1"/>
          </p:cNvSpPr>
          <p:nvPr/>
        </p:nvSpPr>
        <p:spPr>
          <a:xfrm>
            <a:off x="6521450" y="788670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167" name="椭圆 166"/>
          <p:cNvSpPr>
            <a:spLocks noGrp="1"/>
          </p:cNvSpPr>
          <p:nvPr/>
        </p:nvSpPr>
        <p:spPr>
          <a:xfrm>
            <a:off x="6808470" y="7614920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68" name="椭圆 167"/>
          <p:cNvSpPr>
            <a:spLocks noGrp="1"/>
          </p:cNvSpPr>
          <p:nvPr/>
        </p:nvSpPr>
        <p:spPr>
          <a:xfrm>
            <a:off x="6808470" y="7479665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69" name="椭圆 168"/>
          <p:cNvSpPr>
            <a:spLocks noGrp="1"/>
          </p:cNvSpPr>
          <p:nvPr/>
        </p:nvSpPr>
        <p:spPr>
          <a:xfrm>
            <a:off x="6808470" y="8022590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70" name="椭圆 169"/>
          <p:cNvSpPr>
            <a:spLocks noGrp="1"/>
          </p:cNvSpPr>
          <p:nvPr/>
        </p:nvSpPr>
        <p:spPr>
          <a:xfrm>
            <a:off x="6808470" y="7750810"/>
            <a:ext cx="99695" cy="99695"/>
          </a:xfrm>
          <a:prstGeom prst="ellipse">
            <a:avLst/>
          </a:prstGeom>
          <a:solidFill>
            <a:srgbClr val="6A737B"/>
          </a:solidFill>
          <a:ln w="9525">
            <a:solidFill>
              <a:srgbClr val="6A737B"/>
            </a:solidFill>
          </a:ln>
        </p:spPr>
      </p:sp>
      <p:sp>
        <p:nvSpPr>
          <p:cNvPr id="171" name="椭圆 170"/>
          <p:cNvSpPr>
            <a:spLocks noGrp="1"/>
          </p:cNvSpPr>
          <p:nvPr/>
        </p:nvSpPr>
        <p:spPr>
          <a:xfrm>
            <a:off x="7094855" y="734377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2" name="椭圆 171"/>
          <p:cNvSpPr>
            <a:spLocks noGrp="1"/>
          </p:cNvSpPr>
          <p:nvPr/>
        </p:nvSpPr>
        <p:spPr>
          <a:xfrm>
            <a:off x="7094855" y="788670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3" name="椭圆 172"/>
          <p:cNvSpPr>
            <a:spLocks noGrp="1"/>
          </p:cNvSpPr>
          <p:nvPr/>
        </p:nvSpPr>
        <p:spPr>
          <a:xfrm>
            <a:off x="7381240" y="720788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4" name="椭圆 173"/>
          <p:cNvSpPr>
            <a:spLocks noGrp="1"/>
          </p:cNvSpPr>
          <p:nvPr/>
        </p:nvSpPr>
        <p:spPr>
          <a:xfrm>
            <a:off x="7381240" y="761492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5" name="椭圆 174"/>
          <p:cNvSpPr>
            <a:spLocks noGrp="1"/>
          </p:cNvSpPr>
          <p:nvPr/>
        </p:nvSpPr>
        <p:spPr>
          <a:xfrm>
            <a:off x="7954645" y="8022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6" name="椭圆 175"/>
          <p:cNvSpPr>
            <a:spLocks noGrp="1"/>
          </p:cNvSpPr>
          <p:nvPr/>
        </p:nvSpPr>
        <p:spPr>
          <a:xfrm>
            <a:off x="8241030" y="747966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85185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78" name="直接连接符 177"/>
          <p:cNvSpPr>
            <a:spLocks noGrp="1"/>
          </p:cNvSpPr>
          <p:nvPr/>
        </p:nvSpPr>
        <p:spPr>
          <a:xfrm flipV="1">
            <a:off x="85185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179" name="菱形 178"/>
          <p:cNvSpPr>
            <a:spLocks noGrp="1"/>
          </p:cNvSpPr>
          <p:nvPr/>
        </p:nvSpPr>
        <p:spPr>
          <a:xfrm>
            <a:off x="6804025" y="761047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180" name="直接连接符 179"/>
          <p:cNvSpPr>
            <a:spLocks noGrp="1"/>
          </p:cNvSpPr>
          <p:nvPr/>
        </p:nvSpPr>
        <p:spPr>
          <a:xfrm>
            <a:off x="5093335" y="840676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181" name="直接连接符 180"/>
          <p:cNvSpPr>
            <a:spLocks noGrp="1"/>
          </p:cNvSpPr>
          <p:nvPr/>
        </p:nvSpPr>
        <p:spPr>
          <a:xfrm>
            <a:off x="513905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479488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-50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3" name="直接连接符 182"/>
          <p:cNvSpPr>
            <a:spLocks noGrp="1"/>
          </p:cNvSpPr>
          <p:nvPr/>
        </p:nvSpPr>
        <p:spPr>
          <a:xfrm>
            <a:off x="685800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84" name="矩形 183"/>
          <p:cNvSpPr>
            <a:spLocks noGrp="1"/>
          </p:cNvSpPr>
          <p:nvPr/>
        </p:nvSpPr>
        <p:spPr>
          <a:xfrm>
            <a:off x="651446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5" name="直接连接符 184"/>
          <p:cNvSpPr>
            <a:spLocks noGrp="1"/>
          </p:cNvSpPr>
          <p:nvPr/>
        </p:nvSpPr>
        <p:spPr>
          <a:xfrm>
            <a:off x="857758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186" name="矩形 185"/>
          <p:cNvSpPr>
            <a:spLocks noGrp="1"/>
          </p:cNvSpPr>
          <p:nvPr/>
        </p:nvSpPr>
        <p:spPr>
          <a:xfrm>
            <a:off x="823341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+50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4975860" y="8787765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Coverage gain (percentage points)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9165590" y="5247005"/>
            <a:ext cx="28956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</a:t>
            </a:r>
            <a:endParaRPr sz="20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9" name="矩形 188"/>
          <p:cNvSpPr>
            <a:spLocks noGrp="1"/>
          </p:cNvSpPr>
          <p:nvPr/>
        </p:nvSpPr>
        <p:spPr>
          <a:xfrm>
            <a:off x="9391650" y="5274310"/>
            <a:ext cx="366458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Crystallization Retested recovery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9545320" y="5630228"/>
            <a:ext cx="334835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Retested recovery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1" name="直接连接符 190"/>
          <p:cNvSpPr>
            <a:spLocks noGrp="1"/>
          </p:cNvSpPr>
          <p:nvPr/>
        </p:nvSpPr>
        <p:spPr>
          <a:xfrm>
            <a:off x="10179050" y="6343650"/>
            <a:ext cx="1583690" cy="635"/>
          </a:xfrm>
          <a:prstGeom prst="line">
            <a:avLst/>
          </a:prstGeom>
          <a:noFill/>
          <a:ln w="19050">
            <a:solidFill>
              <a:srgbClr val="D7DDE1"/>
            </a:solidFill>
          </a:ln>
        </p:spPr>
      </p:sp>
      <p:sp>
        <p:nvSpPr>
          <p:cNvPr id="192" name="椭圆 191"/>
          <p:cNvSpPr>
            <a:spLocks noGrp="1"/>
          </p:cNvSpPr>
          <p:nvPr/>
        </p:nvSpPr>
        <p:spPr>
          <a:xfrm>
            <a:off x="10097770" y="6262370"/>
            <a:ext cx="163195" cy="163195"/>
          </a:xfrm>
          <a:prstGeom prst="ellipse">
            <a:avLst/>
          </a:prstGeom>
          <a:solidFill>
            <a:srgbClr val="416B92"/>
          </a:solidFill>
          <a:ln w="9525">
            <a:solidFill>
              <a:srgbClr val="416B92"/>
            </a:solidFill>
          </a:ln>
        </p:spPr>
      </p:sp>
      <p:sp>
        <p:nvSpPr>
          <p:cNvPr id="193" name="椭圆 192"/>
          <p:cNvSpPr>
            <a:spLocks noGrp="1"/>
          </p:cNvSpPr>
          <p:nvPr/>
        </p:nvSpPr>
        <p:spPr>
          <a:xfrm>
            <a:off x="11680825" y="6262370"/>
            <a:ext cx="163195" cy="1631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194" name="矩形 193"/>
          <p:cNvSpPr>
            <a:spLocks noGrp="1"/>
          </p:cNvSpPr>
          <p:nvPr/>
        </p:nvSpPr>
        <p:spPr>
          <a:xfrm>
            <a:off x="967232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11256010" y="5926772"/>
            <a:ext cx="1013460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9627235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416B9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416B92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42.1%</a:t>
            </a:r>
            <a:endParaRPr sz="1600" b="0">
              <a:solidFill>
                <a:srgbClr val="416B92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11210290" y="6488430"/>
            <a:ext cx="110426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77F8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77F8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39.9%</a:t>
            </a:r>
            <a:endParaRPr sz="1600" b="0">
              <a:solidFill>
                <a:srgbClr val="277F8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12468225" y="6182360"/>
            <a:ext cx="63373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7/15</a:t>
            </a:r>
            <a:endParaRPr sz="1800" b="1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9" name="矩形 198"/>
          <p:cNvSpPr>
            <a:spLocks noGrp="1"/>
          </p:cNvSpPr>
          <p:nvPr/>
        </p:nvSpPr>
        <p:spPr>
          <a:xfrm>
            <a:off x="12368530" y="6432550"/>
            <a:ext cx="823595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6A737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6A737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improved</a:t>
            </a:r>
            <a:endParaRPr sz="1600" b="0">
              <a:solidFill>
                <a:srgbClr val="6A737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00" name="直接连接符 199"/>
          <p:cNvSpPr>
            <a:spLocks noGrp="1"/>
          </p:cNvSpPr>
          <p:nvPr/>
        </p:nvSpPr>
        <p:spPr>
          <a:xfrm>
            <a:off x="11156315" y="7040880"/>
            <a:ext cx="635" cy="1230630"/>
          </a:xfrm>
          <a:prstGeom prst="line">
            <a:avLst/>
          </a:prstGeom>
          <a:noFill/>
          <a:ln w="11430">
            <a:solidFill>
              <a:srgbClr val="6A737B"/>
            </a:solidFill>
          </a:ln>
        </p:spPr>
      </p:sp>
      <p:sp>
        <p:nvSpPr>
          <p:cNvPr id="201" name="椭圆 200"/>
          <p:cNvSpPr>
            <a:spLocks noGrp="1"/>
          </p:cNvSpPr>
          <p:nvPr/>
        </p:nvSpPr>
        <p:spPr>
          <a:xfrm>
            <a:off x="9815830" y="734377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2" name="椭圆 201"/>
          <p:cNvSpPr>
            <a:spLocks noGrp="1"/>
          </p:cNvSpPr>
          <p:nvPr/>
        </p:nvSpPr>
        <p:spPr>
          <a:xfrm>
            <a:off x="9850120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3" name="椭圆 202"/>
          <p:cNvSpPr>
            <a:spLocks noGrp="1"/>
          </p:cNvSpPr>
          <p:nvPr/>
        </p:nvSpPr>
        <p:spPr>
          <a:xfrm>
            <a:off x="10469880" y="720788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4" name="椭圆 203"/>
          <p:cNvSpPr>
            <a:spLocks noGrp="1"/>
          </p:cNvSpPr>
          <p:nvPr/>
        </p:nvSpPr>
        <p:spPr>
          <a:xfrm>
            <a:off x="10502265" y="788670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5" name="椭圆 204"/>
          <p:cNvSpPr>
            <a:spLocks noGrp="1"/>
          </p:cNvSpPr>
          <p:nvPr/>
        </p:nvSpPr>
        <p:spPr>
          <a:xfrm>
            <a:off x="10633075" y="761492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6" name="椭圆 205"/>
          <p:cNvSpPr>
            <a:spLocks noGrp="1"/>
          </p:cNvSpPr>
          <p:nvPr/>
        </p:nvSpPr>
        <p:spPr>
          <a:xfrm>
            <a:off x="10947400" y="7479665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7" name="椭圆 206"/>
          <p:cNvSpPr>
            <a:spLocks noGrp="1"/>
          </p:cNvSpPr>
          <p:nvPr/>
        </p:nvSpPr>
        <p:spPr>
          <a:xfrm>
            <a:off x="10957560" y="802259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8" name="椭圆 207"/>
          <p:cNvSpPr>
            <a:spLocks noGrp="1"/>
          </p:cNvSpPr>
          <p:nvPr/>
        </p:nvSpPr>
        <p:spPr>
          <a:xfrm>
            <a:off x="11012805" y="7750810"/>
            <a:ext cx="99695" cy="9969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09" name="椭圆 208"/>
          <p:cNvSpPr>
            <a:spLocks noGrp="1"/>
          </p:cNvSpPr>
          <p:nvPr/>
        </p:nvSpPr>
        <p:spPr>
          <a:xfrm>
            <a:off x="11155045" y="734377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0" name="椭圆 209"/>
          <p:cNvSpPr>
            <a:spLocks noGrp="1"/>
          </p:cNvSpPr>
          <p:nvPr/>
        </p:nvSpPr>
        <p:spPr>
          <a:xfrm>
            <a:off x="11189970" y="788670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1" name="椭圆 210"/>
          <p:cNvSpPr>
            <a:spLocks noGrp="1"/>
          </p:cNvSpPr>
          <p:nvPr/>
        </p:nvSpPr>
        <p:spPr>
          <a:xfrm>
            <a:off x="11224260" y="720788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2" name="椭圆 211"/>
          <p:cNvSpPr>
            <a:spLocks noGrp="1"/>
          </p:cNvSpPr>
          <p:nvPr/>
        </p:nvSpPr>
        <p:spPr>
          <a:xfrm>
            <a:off x="11297285" y="761492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3" name="椭圆 212"/>
          <p:cNvSpPr>
            <a:spLocks noGrp="1"/>
          </p:cNvSpPr>
          <p:nvPr/>
        </p:nvSpPr>
        <p:spPr>
          <a:xfrm>
            <a:off x="11327765" y="8022590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4" name="椭圆 213"/>
          <p:cNvSpPr>
            <a:spLocks noGrp="1"/>
          </p:cNvSpPr>
          <p:nvPr/>
        </p:nvSpPr>
        <p:spPr>
          <a:xfrm>
            <a:off x="12622530" y="7479665"/>
            <a:ext cx="99695" cy="9969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15" name="直接连接符 214"/>
          <p:cNvSpPr>
            <a:spLocks noGrp="1"/>
          </p:cNvSpPr>
          <p:nvPr/>
        </p:nvSpPr>
        <p:spPr>
          <a:xfrm>
            <a:off x="126714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16" name="直接连接符 215"/>
          <p:cNvSpPr>
            <a:spLocks noGrp="1"/>
          </p:cNvSpPr>
          <p:nvPr/>
        </p:nvSpPr>
        <p:spPr>
          <a:xfrm flipV="1">
            <a:off x="12671425" y="7606030"/>
            <a:ext cx="117475" cy="117475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17" name="菱形 216"/>
          <p:cNvSpPr>
            <a:spLocks noGrp="1"/>
          </p:cNvSpPr>
          <p:nvPr/>
        </p:nvSpPr>
        <p:spPr>
          <a:xfrm>
            <a:off x="11008360" y="761047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>
            <a:off x="9391650" y="8406765"/>
            <a:ext cx="3529330" cy="635"/>
          </a:xfrm>
          <a:prstGeom prst="line">
            <a:avLst/>
          </a:prstGeom>
          <a:noFill/>
          <a:ln w="12383">
            <a:solidFill>
              <a:srgbClr val="24292D"/>
            </a:solidFill>
          </a:ln>
        </p:spPr>
      </p:sp>
      <p:sp>
        <p:nvSpPr>
          <p:cNvPr id="219" name="直接连接符 218"/>
          <p:cNvSpPr>
            <a:spLocks noGrp="1"/>
          </p:cNvSpPr>
          <p:nvPr/>
        </p:nvSpPr>
        <p:spPr>
          <a:xfrm>
            <a:off x="943673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9093200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-0.6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11156315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222" name="矩形 221"/>
          <p:cNvSpPr>
            <a:spLocks noGrp="1"/>
          </p:cNvSpPr>
          <p:nvPr/>
        </p:nvSpPr>
        <p:spPr>
          <a:xfrm>
            <a:off x="10812145" y="8515350"/>
            <a:ext cx="687705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3" name="直接连接符 222"/>
          <p:cNvSpPr>
            <a:spLocks noGrp="1"/>
          </p:cNvSpPr>
          <p:nvPr/>
        </p:nvSpPr>
        <p:spPr>
          <a:xfrm>
            <a:off x="12875260" y="8406765"/>
            <a:ext cx="635" cy="72390"/>
          </a:xfrm>
          <a:prstGeom prst="line">
            <a:avLst/>
          </a:prstGeom>
          <a:noFill/>
          <a:ln w="9525">
            <a:solidFill>
              <a:srgbClr val="24292D"/>
            </a:solidFill>
          </a:ln>
        </p:spPr>
      </p:sp>
      <p:sp>
        <p:nvSpPr>
          <p:cNvPr id="224" name="矩形 223"/>
          <p:cNvSpPr>
            <a:spLocks noGrp="1"/>
          </p:cNvSpPr>
          <p:nvPr/>
        </p:nvSpPr>
        <p:spPr>
          <a:xfrm>
            <a:off x="12531725" y="8515350"/>
            <a:ext cx="660400" cy="2533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+0.6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9274175" y="8787765"/>
            <a:ext cx="3764280" cy="344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 gain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6" name="椭圆 225"/>
          <p:cNvSpPr>
            <a:spLocks noGrp="1"/>
          </p:cNvSpPr>
          <p:nvPr/>
        </p:nvSpPr>
        <p:spPr>
          <a:xfrm>
            <a:off x="1772920" y="9539605"/>
            <a:ext cx="108585" cy="108585"/>
          </a:xfrm>
          <a:prstGeom prst="ellipse">
            <a:avLst/>
          </a:prstGeom>
          <a:solidFill>
            <a:srgbClr val="277F8A"/>
          </a:solidFill>
          <a:ln w="9525">
            <a:solidFill>
              <a:srgbClr val="277F8A"/>
            </a:solidFill>
          </a:ln>
        </p:spPr>
      </p:sp>
      <p:sp>
        <p:nvSpPr>
          <p:cNvPr id="227" name="矩形 226"/>
          <p:cNvSpPr>
            <a:spLocks noGrp="1"/>
          </p:cNvSpPr>
          <p:nvPr/>
        </p:nvSpPr>
        <p:spPr>
          <a:xfrm>
            <a:off x="1998980" y="9457690"/>
            <a:ext cx="1311910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Favorable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8" name="椭圆 227"/>
          <p:cNvSpPr>
            <a:spLocks noGrp="1"/>
          </p:cNvSpPr>
          <p:nvPr/>
        </p:nvSpPr>
        <p:spPr>
          <a:xfrm>
            <a:off x="4098290" y="9539605"/>
            <a:ext cx="108585" cy="108585"/>
          </a:xfrm>
          <a:prstGeom prst="ellipse">
            <a:avLst/>
          </a:prstGeom>
          <a:solidFill>
            <a:srgbClr val="A35F42"/>
          </a:solidFill>
          <a:ln w="9525">
            <a:solidFill>
              <a:srgbClr val="A35F42"/>
            </a:solidFill>
          </a:ln>
        </p:spPr>
      </p:sp>
      <p:sp>
        <p:nvSpPr>
          <p:cNvPr id="229" name="矩形 228"/>
          <p:cNvSpPr>
            <a:spLocks noGrp="1"/>
          </p:cNvSpPr>
          <p:nvPr/>
        </p:nvSpPr>
        <p:spPr>
          <a:xfrm>
            <a:off x="4324350" y="9457690"/>
            <a:ext cx="1447800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Unfavorable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6668135" y="9530080"/>
            <a:ext cx="127000" cy="127000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 flipV="1">
            <a:off x="6668135" y="9530080"/>
            <a:ext cx="127000" cy="127000"/>
          </a:xfrm>
          <a:prstGeom prst="line">
            <a:avLst/>
          </a:prstGeom>
          <a:noFill/>
          <a:ln w="19050">
            <a:solidFill>
              <a:srgbClr val="6A737B"/>
            </a:solidFill>
          </a:ln>
        </p:spPr>
      </p:sp>
      <p:sp>
        <p:nvSpPr>
          <p:cNvPr id="232" name="矩形 231"/>
          <p:cNvSpPr>
            <a:spLocks noGrp="1"/>
          </p:cNvSpPr>
          <p:nvPr/>
        </p:nvSpPr>
        <p:spPr>
          <a:xfrm>
            <a:off x="6930390" y="9457690"/>
            <a:ext cx="2216785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Source-assay shortfall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3" name="菱形 232"/>
          <p:cNvSpPr>
            <a:spLocks noGrp="1"/>
          </p:cNvSpPr>
          <p:nvPr/>
        </p:nvSpPr>
        <p:spPr>
          <a:xfrm>
            <a:off x="10368915" y="9539605"/>
            <a:ext cx="108585" cy="108585"/>
          </a:xfrm>
          <a:prstGeom prst="diamond">
            <a:avLst/>
          </a:prstGeom>
          <a:solidFill>
            <a:srgbClr val="24292D"/>
          </a:solidFill>
          <a:ln w="9525">
            <a:solidFill>
              <a:srgbClr val="24292D"/>
            </a:solidFill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10577195" y="9457690"/>
            <a:ext cx="2035810" cy="280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00" b="0">
                <a:solidFill>
                  <a:srgbClr val="2429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24292D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Median (n = 15)</a:t>
            </a:r>
            <a:endParaRPr sz="1600" b="0">
              <a:solidFill>
                <a:srgbClr val="24292D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5" name="Figure 5 plot object 0"/>
          <p:cNvSpPr>
            <a:spLocks noGrp="1"/>
          </p:cNvSpPr>
          <p:nvPr/>
        </p:nvSpPr>
        <p:spPr>
          <a:xfrm>
            <a:off x="342900" y="1657350"/>
            <a:ext cx="13030200" cy="8115300"/>
          </a:xfrm>
          <a:custGeom>
            <a:avLst/>
            <a:gdLst/>
            <a:ahLst/>
            <a:cxnLst/>
            <a:pathLst>
              <a:path w="13030200" h="8115300">
                <a:moveTo>
                  <a:pt x="0" y="8115300"/>
                </a:moveTo>
                <a:lnTo>
                  <a:pt x="13030200" y="8115300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noFill/>
            <a:prstDash val="solid"/>
          </a:ln>
        </p:spPr>
      </p:sp>
      <p:sp>
        <p:nvSpPr>
          <p:cNvPr id="2" name="Figure 5 plot object 1"/>
          <p:cNvSpPr>
            <a:spLocks noGrp="1"/>
          </p:cNvSpPr>
          <p:nvPr/>
        </p:nvSpPr>
        <p:spPr>
          <a:xfrm>
            <a:off x="1320165" y="2225421"/>
            <a:ext cx="5212080" cy="2962085"/>
          </a:xfrm>
          <a:custGeom>
            <a:avLst/>
            <a:gdLst/>
            <a:ahLst/>
            <a:cxnLst/>
            <a:pathLst>
              <a:path w="5212080" h="2962085">
                <a:moveTo>
                  <a:pt x="0" y="2962085"/>
                </a:moveTo>
                <a:lnTo>
                  <a:pt x="5212080" y="2962085"/>
                </a:lnTo>
                <a:lnTo>
                  <a:pt x="52120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noFill/>
            <a:prstDash val="solid"/>
          </a:ln>
        </p:spPr>
      </p:sp>
      <p:sp>
        <p:nvSpPr>
          <p:cNvPr id="3" name="Figure 5 plot object 2"/>
          <p:cNvSpPr>
            <a:spLocks noGrp="1"/>
          </p:cNvSpPr>
          <p:nvPr/>
        </p:nvSpPr>
        <p:spPr>
          <a:xfrm>
            <a:off x="1320165" y="2225421"/>
            <a:ext cx="1345869" cy="2962085"/>
          </a:xfrm>
          <a:custGeom>
            <a:avLst/>
            <a:gdLst/>
            <a:ahLst/>
            <a:cxnLst/>
            <a:pathLst>
              <a:path w="1345869" h="2962085">
                <a:moveTo>
                  <a:pt x="0" y="2962085"/>
                </a:moveTo>
                <a:lnTo>
                  <a:pt x="1345869" y="2962085"/>
                </a:lnTo>
                <a:lnTo>
                  <a:pt x="1345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0F2F3"/>
          </a:solidFill>
          <a:ln w="15875">
            <a:solidFill>
              <a:srgbClr val="F0F2F3"/>
            </a:solidFill>
            <a:prstDash val="solid"/>
          </a:ln>
        </p:spPr>
      </p:sp>
      <p:sp>
        <p:nvSpPr>
          <p:cNvPr id="4" name="Figure 5 plot object 3"/>
          <p:cNvSpPr>
            <a:spLocks noGrp="1"/>
          </p:cNvSpPr>
          <p:nvPr/>
        </p:nvSpPr>
        <p:spPr>
          <a:xfrm>
            <a:off x="1410782" y="5187506"/>
            <a:ext cx="16" cy="47625"/>
          </a:xfrm>
          <a:custGeom>
            <a:avLst/>
            <a:gdLst/>
            <a:ahLst/>
            <a:cxnLst/>
            <a:pathLst>
              <a:path w="16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5" name="1"/>
          <p:cNvSpPr>
            <a:spLocks noGrp="1"/>
          </p:cNvSpPr>
          <p:nvPr/>
        </p:nvSpPr>
        <p:spPr>
          <a:xfrm>
            <a:off x="1237903" y="5294122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0"/>
          <p:cNvSpPr>
            <a:spLocks noGrp="1"/>
          </p:cNvSpPr>
          <p:nvPr/>
        </p:nvSpPr>
        <p:spPr>
          <a:xfrm>
            <a:off x="1335021" y="5294122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−"/>
          <p:cNvSpPr>
            <a:spLocks noGrp="1"/>
          </p:cNvSpPr>
          <p:nvPr/>
        </p:nvSpPr>
        <p:spPr>
          <a:xfrm>
            <a:off x="1435182" y="5220616"/>
            <a:ext cx="132556" cy="1650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−</a:t>
            </a:r>
            <a:endParaRPr sz="10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5"/>
          <p:cNvSpPr>
            <a:spLocks noGrp="1"/>
          </p:cNvSpPr>
          <p:nvPr/>
        </p:nvSpPr>
        <p:spPr>
          <a:xfrm>
            <a:off x="1506567" y="5220616"/>
            <a:ext cx="128588" cy="1650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10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Figure 5 plot object 8"/>
          <p:cNvSpPr>
            <a:spLocks noGrp="1"/>
          </p:cNvSpPr>
          <p:nvPr/>
        </p:nvSpPr>
        <p:spPr>
          <a:xfrm>
            <a:off x="3280912" y="5187506"/>
            <a:ext cx="16" cy="47625"/>
          </a:xfrm>
          <a:custGeom>
            <a:avLst/>
            <a:gdLst/>
            <a:ahLst/>
            <a:cxnLst/>
            <a:pathLst>
              <a:path w="16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0" name="1"/>
          <p:cNvSpPr>
            <a:spLocks noGrp="1"/>
          </p:cNvSpPr>
          <p:nvPr/>
        </p:nvSpPr>
        <p:spPr>
          <a:xfrm>
            <a:off x="3108033" y="5297431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0"/>
          <p:cNvSpPr>
            <a:spLocks noGrp="1"/>
          </p:cNvSpPr>
          <p:nvPr/>
        </p:nvSpPr>
        <p:spPr>
          <a:xfrm>
            <a:off x="3205151" y="5297431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−"/>
          <p:cNvSpPr>
            <a:spLocks noGrp="1"/>
          </p:cNvSpPr>
          <p:nvPr/>
        </p:nvSpPr>
        <p:spPr>
          <a:xfrm>
            <a:off x="3305312" y="5223925"/>
            <a:ext cx="132556" cy="1650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−</a:t>
            </a:r>
            <a:endParaRPr sz="10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3"/>
          <p:cNvSpPr>
            <a:spLocks noGrp="1"/>
          </p:cNvSpPr>
          <p:nvPr/>
        </p:nvSpPr>
        <p:spPr>
          <a:xfrm>
            <a:off x="3376696" y="5223925"/>
            <a:ext cx="128588" cy="1650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0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Figure 5 plot object 13"/>
          <p:cNvSpPr>
            <a:spLocks noGrp="1"/>
          </p:cNvSpPr>
          <p:nvPr/>
        </p:nvSpPr>
        <p:spPr>
          <a:xfrm>
            <a:off x="5151041" y="5187506"/>
            <a:ext cx="16" cy="47625"/>
          </a:xfrm>
          <a:custGeom>
            <a:avLst/>
            <a:gdLst/>
            <a:ahLst/>
            <a:cxnLst/>
            <a:pathLst>
              <a:path w="16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5" name="1"/>
          <p:cNvSpPr>
            <a:spLocks noGrp="1"/>
          </p:cNvSpPr>
          <p:nvPr/>
        </p:nvSpPr>
        <p:spPr>
          <a:xfrm>
            <a:off x="4978162" y="5297431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0"/>
          <p:cNvSpPr>
            <a:spLocks noGrp="1"/>
          </p:cNvSpPr>
          <p:nvPr/>
        </p:nvSpPr>
        <p:spPr>
          <a:xfrm>
            <a:off x="5075280" y="5297431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−"/>
          <p:cNvSpPr>
            <a:spLocks noGrp="1"/>
          </p:cNvSpPr>
          <p:nvPr/>
        </p:nvSpPr>
        <p:spPr>
          <a:xfrm>
            <a:off x="5175441" y="5223925"/>
            <a:ext cx="132556" cy="1650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−</a:t>
            </a:r>
            <a:endParaRPr sz="10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1"/>
          <p:cNvSpPr>
            <a:spLocks noGrp="1"/>
          </p:cNvSpPr>
          <p:nvPr/>
        </p:nvSpPr>
        <p:spPr>
          <a:xfrm>
            <a:off x="5246826" y="5223925"/>
            <a:ext cx="130572" cy="1650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0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Figure 5 plot object 18"/>
          <p:cNvSpPr>
            <a:spLocks noGrp="1"/>
          </p:cNvSpPr>
          <p:nvPr/>
        </p:nvSpPr>
        <p:spPr>
          <a:xfrm>
            <a:off x="6086106" y="5187506"/>
            <a:ext cx="16" cy="47625"/>
          </a:xfrm>
          <a:custGeom>
            <a:avLst/>
            <a:gdLst/>
            <a:ahLst/>
            <a:cxnLst/>
            <a:pathLst>
              <a:path w="16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20" name="1"/>
          <p:cNvSpPr>
            <a:spLocks noGrp="1"/>
          </p:cNvSpPr>
          <p:nvPr/>
        </p:nvSpPr>
        <p:spPr>
          <a:xfrm>
            <a:off x="6037489" y="5255031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Figure 5 plot object 20"/>
          <p:cNvSpPr>
            <a:spLocks noGrp="1"/>
          </p:cNvSpPr>
          <p:nvPr/>
        </p:nvSpPr>
        <p:spPr>
          <a:xfrm>
            <a:off x="1320165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2" name="Figure 5 plot object 21"/>
          <p:cNvSpPr>
            <a:spLocks noGrp="1"/>
          </p:cNvSpPr>
          <p:nvPr/>
        </p:nvSpPr>
        <p:spPr>
          <a:xfrm>
            <a:off x="1367996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3" name="Figure 5 plot object 22"/>
          <p:cNvSpPr>
            <a:spLocks noGrp="1"/>
          </p:cNvSpPr>
          <p:nvPr/>
        </p:nvSpPr>
        <p:spPr>
          <a:xfrm>
            <a:off x="1692265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4" name="Figure 5 plot object 23"/>
          <p:cNvSpPr>
            <a:spLocks noGrp="1"/>
          </p:cNvSpPr>
          <p:nvPr/>
        </p:nvSpPr>
        <p:spPr>
          <a:xfrm>
            <a:off x="1856921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5" name="Figure 5 plot object 24"/>
          <p:cNvSpPr>
            <a:spLocks noGrp="1"/>
          </p:cNvSpPr>
          <p:nvPr/>
        </p:nvSpPr>
        <p:spPr>
          <a:xfrm>
            <a:off x="1973747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6" name="Figure 5 plot object 25"/>
          <p:cNvSpPr>
            <a:spLocks noGrp="1"/>
          </p:cNvSpPr>
          <p:nvPr/>
        </p:nvSpPr>
        <p:spPr>
          <a:xfrm>
            <a:off x="206436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7" name="Figure 5 plot object 26"/>
          <p:cNvSpPr>
            <a:spLocks noGrp="1"/>
          </p:cNvSpPr>
          <p:nvPr/>
        </p:nvSpPr>
        <p:spPr>
          <a:xfrm>
            <a:off x="213840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8" name="Figure 5 plot object 27"/>
          <p:cNvSpPr>
            <a:spLocks noGrp="1"/>
          </p:cNvSpPr>
          <p:nvPr/>
        </p:nvSpPr>
        <p:spPr>
          <a:xfrm>
            <a:off x="220100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29" name="Figure 5 plot object 28"/>
          <p:cNvSpPr>
            <a:spLocks noGrp="1"/>
          </p:cNvSpPr>
          <p:nvPr/>
        </p:nvSpPr>
        <p:spPr>
          <a:xfrm>
            <a:off x="2255230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0" name="Figure 5 plot object 29"/>
          <p:cNvSpPr>
            <a:spLocks noGrp="1"/>
          </p:cNvSpPr>
          <p:nvPr/>
        </p:nvSpPr>
        <p:spPr>
          <a:xfrm>
            <a:off x="2303061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1" name="Figure 5 plot object 30"/>
          <p:cNvSpPr>
            <a:spLocks noGrp="1"/>
          </p:cNvSpPr>
          <p:nvPr/>
        </p:nvSpPr>
        <p:spPr>
          <a:xfrm>
            <a:off x="2627329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2" name="Figure 5 plot object 31"/>
          <p:cNvSpPr>
            <a:spLocks noGrp="1"/>
          </p:cNvSpPr>
          <p:nvPr/>
        </p:nvSpPr>
        <p:spPr>
          <a:xfrm>
            <a:off x="2791986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3" name="Figure 5 plot object 32"/>
          <p:cNvSpPr>
            <a:spLocks noGrp="1"/>
          </p:cNvSpPr>
          <p:nvPr/>
        </p:nvSpPr>
        <p:spPr>
          <a:xfrm>
            <a:off x="2908812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4" name="Figure 5 plot object 33"/>
          <p:cNvSpPr>
            <a:spLocks noGrp="1"/>
          </p:cNvSpPr>
          <p:nvPr/>
        </p:nvSpPr>
        <p:spPr>
          <a:xfrm>
            <a:off x="2999429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5" name="Figure 5 plot object 34"/>
          <p:cNvSpPr>
            <a:spLocks noGrp="1"/>
          </p:cNvSpPr>
          <p:nvPr/>
        </p:nvSpPr>
        <p:spPr>
          <a:xfrm>
            <a:off x="3073469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6" name="Figure 5 plot object 35"/>
          <p:cNvSpPr>
            <a:spLocks noGrp="1"/>
          </p:cNvSpPr>
          <p:nvPr/>
        </p:nvSpPr>
        <p:spPr>
          <a:xfrm>
            <a:off x="3136068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7" name="Figure 5 plot object 36"/>
          <p:cNvSpPr>
            <a:spLocks noGrp="1"/>
          </p:cNvSpPr>
          <p:nvPr/>
        </p:nvSpPr>
        <p:spPr>
          <a:xfrm>
            <a:off x="319029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8" name="Figure 5 plot object 37"/>
          <p:cNvSpPr>
            <a:spLocks noGrp="1"/>
          </p:cNvSpPr>
          <p:nvPr/>
        </p:nvSpPr>
        <p:spPr>
          <a:xfrm>
            <a:off x="3238125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39" name="Figure 5 plot object 38"/>
          <p:cNvSpPr>
            <a:spLocks noGrp="1"/>
          </p:cNvSpPr>
          <p:nvPr/>
        </p:nvSpPr>
        <p:spPr>
          <a:xfrm>
            <a:off x="356239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0" name="Figure 5 plot object 39"/>
          <p:cNvSpPr>
            <a:spLocks noGrp="1"/>
          </p:cNvSpPr>
          <p:nvPr/>
        </p:nvSpPr>
        <p:spPr>
          <a:xfrm>
            <a:off x="3727051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1" name="Figure 5 plot object 40"/>
          <p:cNvSpPr>
            <a:spLocks noGrp="1"/>
          </p:cNvSpPr>
          <p:nvPr/>
        </p:nvSpPr>
        <p:spPr>
          <a:xfrm>
            <a:off x="3843877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2" name="Figure 5 plot object 41"/>
          <p:cNvSpPr>
            <a:spLocks noGrp="1"/>
          </p:cNvSpPr>
          <p:nvPr/>
        </p:nvSpPr>
        <p:spPr>
          <a:xfrm>
            <a:off x="393449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3" name="Figure 5 plot object 42"/>
          <p:cNvSpPr>
            <a:spLocks noGrp="1"/>
          </p:cNvSpPr>
          <p:nvPr/>
        </p:nvSpPr>
        <p:spPr>
          <a:xfrm>
            <a:off x="4008533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4" name="Figure 5 plot object 43"/>
          <p:cNvSpPr>
            <a:spLocks noGrp="1"/>
          </p:cNvSpPr>
          <p:nvPr/>
        </p:nvSpPr>
        <p:spPr>
          <a:xfrm>
            <a:off x="4071133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5" name="Figure 5 plot object 44"/>
          <p:cNvSpPr>
            <a:spLocks noGrp="1"/>
          </p:cNvSpPr>
          <p:nvPr/>
        </p:nvSpPr>
        <p:spPr>
          <a:xfrm>
            <a:off x="4125359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6" name="Figure 5 plot object 45"/>
          <p:cNvSpPr>
            <a:spLocks noGrp="1"/>
          </p:cNvSpPr>
          <p:nvPr/>
        </p:nvSpPr>
        <p:spPr>
          <a:xfrm>
            <a:off x="4173190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7" name="Figure 5 plot object 46"/>
          <p:cNvSpPr>
            <a:spLocks noGrp="1"/>
          </p:cNvSpPr>
          <p:nvPr/>
        </p:nvSpPr>
        <p:spPr>
          <a:xfrm>
            <a:off x="4497459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8" name="Figure 5 plot object 47"/>
          <p:cNvSpPr>
            <a:spLocks noGrp="1"/>
          </p:cNvSpPr>
          <p:nvPr/>
        </p:nvSpPr>
        <p:spPr>
          <a:xfrm>
            <a:off x="4662116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49" name="Figure 5 plot object 48"/>
          <p:cNvSpPr>
            <a:spLocks noGrp="1"/>
          </p:cNvSpPr>
          <p:nvPr/>
        </p:nvSpPr>
        <p:spPr>
          <a:xfrm>
            <a:off x="4778941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0" name="Figure 5 plot object 49"/>
          <p:cNvSpPr>
            <a:spLocks noGrp="1"/>
          </p:cNvSpPr>
          <p:nvPr/>
        </p:nvSpPr>
        <p:spPr>
          <a:xfrm>
            <a:off x="4869558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1" name="Figure 5 plot object 50"/>
          <p:cNvSpPr>
            <a:spLocks noGrp="1"/>
          </p:cNvSpPr>
          <p:nvPr/>
        </p:nvSpPr>
        <p:spPr>
          <a:xfrm>
            <a:off x="4943598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2" name="Figure 5 plot object 51"/>
          <p:cNvSpPr>
            <a:spLocks noGrp="1"/>
          </p:cNvSpPr>
          <p:nvPr/>
        </p:nvSpPr>
        <p:spPr>
          <a:xfrm>
            <a:off x="5006198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3" name="Figure 5 plot object 52"/>
          <p:cNvSpPr>
            <a:spLocks noGrp="1"/>
          </p:cNvSpPr>
          <p:nvPr/>
        </p:nvSpPr>
        <p:spPr>
          <a:xfrm>
            <a:off x="506042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4" name="Figure 5 plot object 53"/>
          <p:cNvSpPr>
            <a:spLocks noGrp="1"/>
          </p:cNvSpPr>
          <p:nvPr/>
        </p:nvSpPr>
        <p:spPr>
          <a:xfrm>
            <a:off x="5108255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5" name="Figure 5 plot object 54"/>
          <p:cNvSpPr>
            <a:spLocks noGrp="1"/>
          </p:cNvSpPr>
          <p:nvPr/>
        </p:nvSpPr>
        <p:spPr>
          <a:xfrm>
            <a:off x="5432524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6" name="Figure 5 plot object 55"/>
          <p:cNvSpPr>
            <a:spLocks noGrp="1"/>
          </p:cNvSpPr>
          <p:nvPr/>
        </p:nvSpPr>
        <p:spPr>
          <a:xfrm>
            <a:off x="5597180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7" name="Figure 5 plot object 56"/>
          <p:cNvSpPr>
            <a:spLocks noGrp="1"/>
          </p:cNvSpPr>
          <p:nvPr/>
        </p:nvSpPr>
        <p:spPr>
          <a:xfrm>
            <a:off x="5714006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8" name="Figure 5 plot object 57"/>
          <p:cNvSpPr>
            <a:spLocks noGrp="1"/>
          </p:cNvSpPr>
          <p:nvPr/>
        </p:nvSpPr>
        <p:spPr>
          <a:xfrm>
            <a:off x="5804623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59" name="Figure 5 plot object 58"/>
          <p:cNvSpPr>
            <a:spLocks noGrp="1"/>
          </p:cNvSpPr>
          <p:nvPr/>
        </p:nvSpPr>
        <p:spPr>
          <a:xfrm>
            <a:off x="5878663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60" name="Figure 5 plot object 59"/>
          <p:cNvSpPr>
            <a:spLocks noGrp="1"/>
          </p:cNvSpPr>
          <p:nvPr/>
        </p:nvSpPr>
        <p:spPr>
          <a:xfrm>
            <a:off x="5941262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61" name="Figure 5 plot object 60"/>
          <p:cNvSpPr>
            <a:spLocks noGrp="1"/>
          </p:cNvSpPr>
          <p:nvPr/>
        </p:nvSpPr>
        <p:spPr>
          <a:xfrm>
            <a:off x="5995489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62" name="Figure 5 plot object 61"/>
          <p:cNvSpPr>
            <a:spLocks noGrp="1"/>
          </p:cNvSpPr>
          <p:nvPr/>
        </p:nvSpPr>
        <p:spPr>
          <a:xfrm>
            <a:off x="6043320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63" name="Figure 5 plot object 62"/>
          <p:cNvSpPr>
            <a:spLocks noGrp="1"/>
          </p:cNvSpPr>
          <p:nvPr/>
        </p:nvSpPr>
        <p:spPr>
          <a:xfrm>
            <a:off x="6367588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64" name="Figure 5 plot object 63"/>
          <p:cNvSpPr>
            <a:spLocks noGrp="1"/>
          </p:cNvSpPr>
          <p:nvPr/>
        </p:nvSpPr>
        <p:spPr>
          <a:xfrm>
            <a:off x="6532245" y="5187506"/>
            <a:ext cx="16" cy="31750"/>
          </a:xfrm>
          <a:custGeom>
            <a:avLst/>
            <a:gdLst/>
            <a:ahLst/>
            <a:cxnLst/>
            <a:pathLst>
              <a:path w="16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solidFill>
            <a:srgbClr val="202326"/>
          </a:solidFill>
          <a:ln w="9525">
            <a:solidFill>
              <a:srgbClr val="202326"/>
            </a:solidFill>
            <a:prstDash val="solid"/>
          </a:ln>
        </p:spPr>
      </p:sp>
      <p:sp>
        <p:nvSpPr>
          <p:cNvPr id="65" name="N"/>
          <p:cNvSpPr>
            <a:spLocks noGrp="1"/>
          </p:cNvSpPr>
          <p:nvPr/>
        </p:nvSpPr>
        <p:spPr>
          <a:xfrm>
            <a:off x="1943100" y="5607050"/>
            <a:ext cx="3937000" cy="241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Nominal concentration (mol L⁻¹; log scale)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2" name="Figure 5 plot object 101"/>
          <p:cNvSpPr>
            <a:spLocks noGrp="1"/>
          </p:cNvSpPr>
          <p:nvPr/>
        </p:nvSpPr>
        <p:spPr>
          <a:xfrm>
            <a:off x="1320165" y="5187506"/>
            <a:ext cx="5212080" cy="16"/>
          </a:xfrm>
          <a:custGeom>
            <a:avLst/>
            <a:gdLst/>
            <a:ahLst/>
            <a:cxnLst/>
            <a:pathLst>
              <a:path w="5212080" h="16">
                <a:moveTo>
                  <a:pt x="0" y="0"/>
                </a:moveTo>
                <a:lnTo>
                  <a:pt x="5212080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03" name="Figure 5 plot object 102"/>
          <p:cNvSpPr>
            <a:spLocks noGrp="1"/>
          </p:cNvSpPr>
          <p:nvPr/>
        </p:nvSpPr>
        <p:spPr>
          <a:xfrm>
            <a:off x="1272540" y="5187506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04" name="0"/>
          <p:cNvSpPr>
            <a:spLocks noGrp="1"/>
          </p:cNvSpPr>
          <p:nvPr/>
        </p:nvSpPr>
        <p:spPr>
          <a:xfrm>
            <a:off x="1119743" y="5089347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5" name="Figure 5 plot object 104"/>
          <p:cNvSpPr>
            <a:spLocks noGrp="1"/>
          </p:cNvSpPr>
          <p:nvPr/>
        </p:nvSpPr>
        <p:spPr>
          <a:xfrm>
            <a:off x="1320165" y="4490544"/>
            <a:ext cx="5212080" cy="16"/>
          </a:xfrm>
          <a:custGeom>
            <a:avLst/>
            <a:gdLst/>
            <a:ahLst/>
            <a:cxnLst/>
            <a:pathLst>
              <a:path w="5212080" h="16">
                <a:moveTo>
                  <a:pt x="0" y="0"/>
                </a:moveTo>
                <a:lnTo>
                  <a:pt x="5212080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06" name="Figure 5 plot object 105"/>
          <p:cNvSpPr>
            <a:spLocks noGrp="1"/>
          </p:cNvSpPr>
          <p:nvPr/>
        </p:nvSpPr>
        <p:spPr>
          <a:xfrm>
            <a:off x="1272540" y="4490544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07" name="20"/>
          <p:cNvSpPr>
            <a:spLocks noGrp="1"/>
          </p:cNvSpPr>
          <p:nvPr/>
        </p:nvSpPr>
        <p:spPr>
          <a:xfrm>
            <a:off x="1022509" y="4392386"/>
            <a:ext cx="28178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8" name="Figure 5 plot object 107"/>
          <p:cNvSpPr>
            <a:spLocks noGrp="1"/>
          </p:cNvSpPr>
          <p:nvPr/>
        </p:nvSpPr>
        <p:spPr>
          <a:xfrm>
            <a:off x="1320165" y="3793583"/>
            <a:ext cx="5212080" cy="16"/>
          </a:xfrm>
          <a:custGeom>
            <a:avLst/>
            <a:gdLst/>
            <a:ahLst/>
            <a:cxnLst/>
            <a:pathLst>
              <a:path w="5212080" h="16">
                <a:moveTo>
                  <a:pt x="0" y="0"/>
                </a:moveTo>
                <a:lnTo>
                  <a:pt x="5212080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09" name="Figure 5 plot object 108"/>
          <p:cNvSpPr>
            <a:spLocks noGrp="1"/>
          </p:cNvSpPr>
          <p:nvPr/>
        </p:nvSpPr>
        <p:spPr>
          <a:xfrm>
            <a:off x="1272540" y="3793583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10" name="40"/>
          <p:cNvSpPr>
            <a:spLocks noGrp="1"/>
          </p:cNvSpPr>
          <p:nvPr/>
        </p:nvSpPr>
        <p:spPr>
          <a:xfrm>
            <a:off x="1020524" y="3695425"/>
            <a:ext cx="283766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1" name="Figure 5 plot object 110"/>
          <p:cNvSpPr>
            <a:spLocks noGrp="1"/>
          </p:cNvSpPr>
          <p:nvPr/>
        </p:nvSpPr>
        <p:spPr>
          <a:xfrm>
            <a:off x="1320165" y="3096622"/>
            <a:ext cx="5212080" cy="16"/>
          </a:xfrm>
          <a:custGeom>
            <a:avLst/>
            <a:gdLst/>
            <a:ahLst/>
            <a:cxnLst/>
            <a:pathLst>
              <a:path w="5212080" h="16">
                <a:moveTo>
                  <a:pt x="0" y="0"/>
                </a:moveTo>
                <a:lnTo>
                  <a:pt x="5212080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12" name="Figure 5 plot object 111"/>
          <p:cNvSpPr>
            <a:spLocks noGrp="1"/>
          </p:cNvSpPr>
          <p:nvPr/>
        </p:nvSpPr>
        <p:spPr>
          <a:xfrm>
            <a:off x="1272540" y="3096622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13" name="60"/>
          <p:cNvSpPr>
            <a:spLocks noGrp="1"/>
          </p:cNvSpPr>
          <p:nvPr/>
        </p:nvSpPr>
        <p:spPr>
          <a:xfrm>
            <a:off x="1022509" y="2998464"/>
            <a:ext cx="28178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Figure 5 plot object 113"/>
          <p:cNvSpPr>
            <a:spLocks noGrp="1"/>
          </p:cNvSpPr>
          <p:nvPr/>
        </p:nvSpPr>
        <p:spPr>
          <a:xfrm>
            <a:off x="1320165" y="2399661"/>
            <a:ext cx="5212080" cy="16"/>
          </a:xfrm>
          <a:custGeom>
            <a:avLst/>
            <a:gdLst/>
            <a:ahLst/>
            <a:cxnLst/>
            <a:pathLst>
              <a:path w="5212080" h="16">
                <a:moveTo>
                  <a:pt x="0" y="0"/>
                </a:moveTo>
                <a:lnTo>
                  <a:pt x="5212080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115" name="Figure 5 plot object 114"/>
          <p:cNvSpPr>
            <a:spLocks noGrp="1"/>
          </p:cNvSpPr>
          <p:nvPr/>
        </p:nvSpPr>
        <p:spPr>
          <a:xfrm>
            <a:off x="1272540" y="2399661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116" name="80"/>
          <p:cNvSpPr>
            <a:spLocks noGrp="1"/>
          </p:cNvSpPr>
          <p:nvPr/>
        </p:nvSpPr>
        <p:spPr>
          <a:xfrm>
            <a:off x="1020524" y="2301503"/>
            <a:ext cx="283766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7" name="Dissociation (%)"/>
          <p:cNvSpPr>
            <a:spLocks noGrp="1"/>
          </p:cNvSpPr>
          <p:nvPr/>
        </p:nvSpPr>
        <p:spPr>
          <a:xfrm rot="-5400000">
            <a:off x="206030" y="3544935"/>
            <a:ext cx="134739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Dissociation (%)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Figure 5 plot object 117"/>
          <p:cNvSpPr>
            <a:spLocks noGrp="1"/>
          </p:cNvSpPr>
          <p:nvPr/>
        </p:nvSpPr>
        <p:spPr>
          <a:xfrm>
            <a:off x="1320165" y="2225421"/>
            <a:ext cx="16" cy="2962085"/>
          </a:xfrm>
          <a:custGeom>
            <a:avLst/>
            <a:gdLst/>
            <a:ahLst/>
            <a:cxnLst/>
            <a:pathLst>
              <a:path w="16" h="2962085">
                <a:moveTo>
                  <a:pt x="0" y="2962085"/>
                </a:moveTo>
                <a:lnTo>
                  <a:pt x="0" y="0"/>
                </a:ln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119" name="Figure 5 plot object 118"/>
          <p:cNvSpPr>
            <a:spLocks noGrp="1"/>
          </p:cNvSpPr>
          <p:nvPr/>
        </p:nvSpPr>
        <p:spPr>
          <a:xfrm>
            <a:off x="1320165" y="5187506"/>
            <a:ext cx="5212080" cy="16"/>
          </a:xfrm>
          <a:custGeom>
            <a:avLst/>
            <a:gdLst/>
            <a:ahLst/>
            <a:cxnLst/>
            <a:pathLst>
              <a:path w="5212080" h="16">
                <a:moveTo>
                  <a:pt x="0" y="0"/>
                </a:moveTo>
                <a:lnTo>
                  <a:pt x="5212080" y="0"/>
                </a:ln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120" name="a"/>
          <p:cNvSpPr>
            <a:spLocks noGrp="1"/>
          </p:cNvSpPr>
          <p:nvPr/>
        </p:nvSpPr>
        <p:spPr>
          <a:xfrm>
            <a:off x="694715" y="1932294"/>
            <a:ext cx="252016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endParaRPr sz="2000" b="1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1" name="Figure 5 plot object 120"/>
          <p:cNvSpPr>
            <a:spLocks noGrp="1"/>
          </p:cNvSpPr>
          <p:nvPr/>
        </p:nvSpPr>
        <p:spPr>
          <a:xfrm>
            <a:off x="5119291" y="494043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2" name="Figure 5 plot object 121"/>
          <p:cNvSpPr>
            <a:spLocks noGrp="1"/>
          </p:cNvSpPr>
          <p:nvPr/>
        </p:nvSpPr>
        <p:spPr>
          <a:xfrm>
            <a:off x="4954634" y="489294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3" name="Figure 5 plot object 122"/>
          <p:cNvSpPr>
            <a:spLocks noGrp="1"/>
          </p:cNvSpPr>
          <p:nvPr/>
        </p:nvSpPr>
        <p:spPr>
          <a:xfrm>
            <a:off x="4837808" y="486519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4" name="Figure 5 plot object 123"/>
          <p:cNvSpPr>
            <a:spLocks noGrp="1"/>
          </p:cNvSpPr>
          <p:nvPr/>
        </p:nvSpPr>
        <p:spPr>
          <a:xfrm>
            <a:off x="5565430" y="491339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5" name="Figure 5 plot object 124"/>
          <p:cNvSpPr>
            <a:spLocks noGrp="1"/>
          </p:cNvSpPr>
          <p:nvPr/>
        </p:nvSpPr>
        <p:spPr>
          <a:xfrm>
            <a:off x="5400774" y="488690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6" name="Figure 5 plot object 125"/>
          <p:cNvSpPr>
            <a:spLocks noGrp="1"/>
          </p:cNvSpPr>
          <p:nvPr/>
        </p:nvSpPr>
        <p:spPr>
          <a:xfrm>
            <a:off x="5283948" y="491126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7" name="Figure 5 plot object 126"/>
          <p:cNvSpPr>
            <a:spLocks noGrp="1"/>
          </p:cNvSpPr>
          <p:nvPr/>
        </p:nvSpPr>
        <p:spPr>
          <a:xfrm>
            <a:off x="5846913" y="491527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8" name="Figure 5 plot object 127"/>
          <p:cNvSpPr>
            <a:spLocks noGrp="1"/>
          </p:cNvSpPr>
          <p:nvPr/>
        </p:nvSpPr>
        <p:spPr>
          <a:xfrm>
            <a:off x="5682256" y="491182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29" name="Figure 5 plot object 128"/>
          <p:cNvSpPr>
            <a:spLocks noGrp="1"/>
          </p:cNvSpPr>
          <p:nvPr/>
        </p:nvSpPr>
        <p:spPr>
          <a:xfrm>
            <a:off x="5565430" y="492221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0" name="Figure 5 plot object 129"/>
          <p:cNvSpPr>
            <a:spLocks noGrp="1"/>
          </p:cNvSpPr>
          <p:nvPr/>
        </p:nvSpPr>
        <p:spPr>
          <a:xfrm>
            <a:off x="6054356" y="492226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1" name="Figure 5 plot object 130"/>
          <p:cNvSpPr>
            <a:spLocks noGrp="1"/>
          </p:cNvSpPr>
          <p:nvPr/>
        </p:nvSpPr>
        <p:spPr>
          <a:xfrm>
            <a:off x="5889699" y="488040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2" name="Figure 5 plot object 131"/>
          <p:cNvSpPr>
            <a:spLocks noGrp="1"/>
          </p:cNvSpPr>
          <p:nvPr/>
        </p:nvSpPr>
        <p:spPr>
          <a:xfrm>
            <a:off x="5772873" y="493162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3" name="Figure 5 plot object 132"/>
          <p:cNvSpPr>
            <a:spLocks noGrp="1"/>
          </p:cNvSpPr>
          <p:nvPr/>
        </p:nvSpPr>
        <p:spPr>
          <a:xfrm>
            <a:off x="4880595" y="487699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4" name="Figure 5 plot object 133"/>
          <p:cNvSpPr>
            <a:spLocks noGrp="1"/>
          </p:cNvSpPr>
          <p:nvPr/>
        </p:nvSpPr>
        <p:spPr>
          <a:xfrm>
            <a:off x="4434455" y="483413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5" name="Figure 5 plot object 134"/>
          <p:cNvSpPr>
            <a:spLocks noGrp="1"/>
          </p:cNvSpPr>
          <p:nvPr/>
        </p:nvSpPr>
        <p:spPr>
          <a:xfrm>
            <a:off x="5119291" y="490603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6" name="Figure 5 plot object 135"/>
          <p:cNvSpPr>
            <a:spLocks noGrp="1"/>
          </p:cNvSpPr>
          <p:nvPr/>
        </p:nvSpPr>
        <p:spPr>
          <a:xfrm>
            <a:off x="5400774" y="488784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7" name="Figure 5 plot object 136"/>
          <p:cNvSpPr>
            <a:spLocks noGrp="1"/>
          </p:cNvSpPr>
          <p:nvPr/>
        </p:nvSpPr>
        <p:spPr>
          <a:xfrm>
            <a:off x="5565430" y="490981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8" name="Figure 5 plot object 137"/>
          <p:cNvSpPr>
            <a:spLocks noGrp="1"/>
          </p:cNvSpPr>
          <p:nvPr/>
        </p:nvSpPr>
        <p:spPr>
          <a:xfrm>
            <a:off x="5682256" y="489602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39" name="Figure 5 plot object 138"/>
          <p:cNvSpPr>
            <a:spLocks noGrp="1"/>
          </p:cNvSpPr>
          <p:nvPr/>
        </p:nvSpPr>
        <p:spPr>
          <a:xfrm>
            <a:off x="5772873" y="491181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0" name="Figure 5 plot object 139"/>
          <p:cNvSpPr>
            <a:spLocks noGrp="1"/>
          </p:cNvSpPr>
          <p:nvPr/>
        </p:nvSpPr>
        <p:spPr>
          <a:xfrm>
            <a:off x="5846913" y="489955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1" name="Figure 5 plot object 140"/>
          <p:cNvSpPr>
            <a:spLocks noGrp="1"/>
          </p:cNvSpPr>
          <p:nvPr/>
        </p:nvSpPr>
        <p:spPr>
          <a:xfrm>
            <a:off x="5909512" y="492855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2" name="Figure 5 plot object 141"/>
          <p:cNvSpPr>
            <a:spLocks noGrp="1"/>
          </p:cNvSpPr>
          <p:nvPr/>
        </p:nvSpPr>
        <p:spPr>
          <a:xfrm>
            <a:off x="5963739" y="490299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3" name="Figure 5 plot object 142"/>
          <p:cNvSpPr>
            <a:spLocks noGrp="1"/>
          </p:cNvSpPr>
          <p:nvPr/>
        </p:nvSpPr>
        <p:spPr>
          <a:xfrm>
            <a:off x="5772873" y="493958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4" name="Figure 5 plot object 143"/>
          <p:cNvSpPr>
            <a:spLocks noGrp="1"/>
          </p:cNvSpPr>
          <p:nvPr/>
        </p:nvSpPr>
        <p:spPr>
          <a:xfrm>
            <a:off x="6054356" y="491752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5" name="Figure 5 plot object 144"/>
          <p:cNvSpPr>
            <a:spLocks noGrp="1"/>
          </p:cNvSpPr>
          <p:nvPr/>
        </p:nvSpPr>
        <p:spPr>
          <a:xfrm>
            <a:off x="4880595" y="487815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6" name="Figure 5 plot object 145"/>
          <p:cNvSpPr>
            <a:spLocks noGrp="1"/>
          </p:cNvSpPr>
          <p:nvPr/>
        </p:nvSpPr>
        <p:spPr>
          <a:xfrm>
            <a:off x="4434455" y="483355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7" name="Figure 5 plot object 146"/>
          <p:cNvSpPr>
            <a:spLocks noGrp="1"/>
          </p:cNvSpPr>
          <p:nvPr/>
        </p:nvSpPr>
        <p:spPr>
          <a:xfrm>
            <a:off x="5491391" y="490530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8" name="Figure 5 plot object 147"/>
          <p:cNvSpPr>
            <a:spLocks noGrp="1"/>
          </p:cNvSpPr>
          <p:nvPr/>
        </p:nvSpPr>
        <p:spPr>
          <a:xfrm>
            <a:off x="5045251" y="490581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49" name="Figure 5 plot object 148"/>
          <p:cNvSpPr>
            <a:spLocks noGrp="1"/>
          </p:cNvSpPr>
          <p:nvPr/>
        </p:nvSpPr>
        <p:spPr>
          <a:xfrm>
            <a:off x="5772873" y="488766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0" name="Figure 5 plot object 149"/>
          <p:cNvSpPr>
            <a:spLocks noGrp="1"/>
          </p:cNvSpPr>
          <p:nvPr/>
        </p:nvSpPr>
        <p:spPr>
          <a:xfrm>
            <a:off x="5326734" y="491030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1" name="Figure 5 plot object 150"/>
          <p:cNvSpPr>
            <a:spLocks noGrp="1"/>
          </p:cNvSpPr>
          <p:nvPr/>
        </p:nvSpPr>
        <p:spPr>
          <a:xfrm>
            <a:off x="5772873" y="494271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2" name="Figure 5 plot object 151"/>
          <p:cNvSpPr>
            <a:spLocks noGrp="1"/>
          </p:cNvSpPr>
          <p:nvPr/>
        </p:nvSpPr>
        <p:spPr>
          <a:xfrm>
            <a:off x="5772873" y="491566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3" name="Figure 5 plot object 152"/>
          <p:cNvSpPr>
            <a:spLocks noGrp="1"/>
          </p:cNvSpPr>
          <p:nvPr/>
        </p:nvSpPr>
        <p:spPr>
          <a:xfrm>
            <a:off x="5772873" y="488040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4" name="Figure 5 plot object 153"/>
          <p:cNvSpPr>
            <a:spLocks noGrp="1"/>
          </p:cNvSpPr>
          <p:nvPr/>
        </p:nvSpPr>
        <p:spPr>
          <a:xfrm>
            <a:off x="6054356" y="491512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5" name="Figure 5 plot object 154"/>
          <p:cNvSpPr>
            <a:spLocks noGrp="1"/>
          </p:cNvSpPr>
          <p:nvPr/>
        </p:nvSpPr>
        <p:spPr>
          <a:xfrm>
            <a:off x="6054356" y="491529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6" name="Figure 5 plot object 155"/>
          <p:cNvSpPr>
            <a:spLocks noGrp="1"/>
          </p:cNvSpPr>
          <p:nvPr/>
        </p:nvSpPr>
        <p:spPr>
          <a:xfrm>
            <a:off x="6335838" y="489577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7" name="Figure 5 plot object 156"/>
          <p:cNvSpPr>
            <a:spLocks noGrp="1"/>
          </p:cNvSpPr>
          <p:nvPr/>
        </p:nvSpPr>
        <p:spPr>
          <a:xfrm>
            <a:off x="5119291" y="488372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8" name="Figure 5 plot object 157"/>
          <p:cNvSpPr>
            <a:spLocks noGrp="1"/>
          </p:cNvSpPr>
          <p:nvPr/>
        </p:nvSpPr>
        <p:spPr>
          <a:xfrm>
            <a:off x="5119291" y="491473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59" name="Figure 5 plot object 158"/>
          <p:cNvSpPr>
            <a:spLocks noGrp="1"/>
          </p:cNvSpPr>
          <p:nvPr/>
        </p:nvSpPr>
        <p:spPr>
          <a:xfrm>
            <a:off x="5400774" y="491017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0" name="Figure 5 plot object 159"/>
          <p:cNvSpPr>
            <a:spLocks noGrp="1"/>
          </p:cNvSpPr>
          <p:nvPr/>
        </p:nvSpPr>
        <p:spPr>
          <a:xfrm>
            <a:off x="5400774" y="492326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1" name="Figure 5 plot object 160"/>
          <p:cNvSpPr>
            <a:spLocks noGrp="1"/>
          </p:cNvSpPr>
          <p:nvPr/>
        </p:nvSpPr>
        <p:spPr>
          <a:xfrm>
            <a:off x="5565430" y="490576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2" name="Figure 5 plot object 161"/>
          <p:cNvSpPr>
            <a:spLocks noGrp="1"/>
          </p:cNvSpPr>
          <p:nvPr/>
        </p:nvSpPr>
        <p:spPr>
          <a:xfrm>
            <a:off x="5565430" y="491443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3" name="Figure 5 plot object 162"/>
          <p:cNvSpPr>
            <a:spLocks noGrp="1"/>
          </p:cNvSpPr>
          <p:nvPr/>
        </p:nvSpPr>
        <p:spPr>
          <a:xfrm>
            <a:off x="5682256" y="485700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4" name="Figure 5 plot object 163"/>
          <p:cNvSpPr>
            <a:spLocks noGrp="1"/>
          </p:cNvSpPr>
          <p:nvPr/>
        </p:nvSpPr>
        <p:spPr>
          <a:xfrm>
            <a:off x="5682256" y="491793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5" name="Figure 5 plot object 164"/>
          <p:cNvSpPr>
            <a:spLocks noGrp="1"/>
          </p:cNvSpPr>
          <p:nvPr/>
        </p:nvSpPr>
        <p:spPr>
          <a:xfrm>
            <a:off x="5119291" y="493025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6" name="Figure 5 plot object 165"/>
          <p:cNvSpPr>
            <a:spLocks noGrp="1"/>
          </p:cNvSpPr>
          <p:nvPr/>
        </p:nvSpPr>
        <p:spPr>
          <a:xfrm>
            <a:off x="5400774" y="491137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7" name="Figure 5 plot object 166"/>
          <p:cNvSpPr>
            <a:spLocks noGrp="1"/>
          </p:cNvSpPr>
          <p:nvPr/>
        </p:nvSpPr>
        <p:spPr>
          <a:xfrm>
            <a:off x="5565430" y="491597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8" name="Figure 5 plot object 167"/>
          <p:cNvSpPr>
            <a:spLocks noGrp="1"/>
          </p:cNvSpPr>
          <p:nvPr/>
        </p:nvSpPr>
        <p:spPr>
          <a:xfrm>
            <a:off x="5682256" y="494074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69" name="Figure 5 plot object 168"/>
          <p:cNvSpPr>
            <a:spLocks noGrp="1"/>
          </p:cNvSpPr>
          <p:nvPr/>
        </p:nvSpPr>
        <p:spPr>
          <a:xfrm>
            <a:off x="4880595" y="491994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0" name="Figure 5 plot object 169"/>
          <p:cNvSpPr>
            <a:spLocks noGrp="1"/>
          </p:cNvSpPr>
          <p:nvPr/>
        </p:nvSpPr>
        <p:spPr>
          <a:xfrm>
            <a:off x="4599112" y="489114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1" name="Figure 5 plot object 170"/>
          <p:cNvSpPr>
            <a:spLocks noGrp="1"/>
          </p:cNvSpPr>
          <p:nvPr/>
        </p:nvSpPr>
        <p:spPr>
          <a:xfrm>
            <a:off x="4434455" y="488056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2" name="Figure 5 plot object 171"/>
          <p:cNvSpPr>
            <a:spLocks noGrp="1"/>
          </p:cNvSpPr>
          <p:nvPr/>
        </p:nvSpPr>
        <p:spPr>
          <a:xfrm>
            <a:off x="5608216" y="488186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3" name="Figure 5 plot object 172"/>
          <p:cNvSpPr>
            <a:spLocks noGrp="1"/>
          </p:cNvSpPr>
          <p:nvPr/>
        </p:nvSpPr>
        <p:spPr>
          <a:xfrm>
            <a:off x="5326734" y="489064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4" name="Figure 5 plot object 173"/>
          <p:cNvSpPr>
            <a:spLocks noGrp="1"/>
          </p:cNvSpPr>
          <p:nvPr/>
        </p:nvSpPr>
        <p:spPr>
          <a:xfrm>
            <a:off x="5162077" y="491562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5" name="Figure 5 plot object 174"/>
          <p:cNvSpPr>
            <a:spLocks noGrp="1"/>
          </p:cNvSpPr>
          <p:nvPr/>
        </p:nvSpPr>
        <p:spPr>
          <a:xfrm>
            <a:off x="5980316" y="491425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6" name="Figure 5 plot object 175"/>
          <p:cNvSpPr>
            <a:spLocks noGrp="1"/>
          </p:cNvSpPr>
          <p:nvPr/>
        </p:nvSpPr>
        <p:spPr>
          <a:xfrm>
            <a:off x="5698834" y="494236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7" name="Figure 5 plot object 176"/>
          <p:cNvSpPr>
            <a:spLocks noGrp="1"/>
          </p:cNvSpPr>
          <p:nvPr/>
        </p:nvSpPr>
        <p:spPr>
          <a:xfrm>
            <a:off x="5534177" y="491027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8" name="Figure 5 plot object 177"/>
          <p:cNvSpPr>
            <a:spLocks noGrp="1"/>
          </p:cNvSpPr>
          <p:nvPr/>
        </p:nvSpPr>
        <p:spPr>
          <a:xfrm>
            <a:off x="6261799" y="487503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79" name="Figure 5 plot object 178"/>
          <p:cNvSpPr>
            <a:spLocks noGrp="1"/>
          </p:cNvSpPr>
          <p:nvPr/>
        </p:nvSpPr>
        <p:spPr>
          <a:xfrm>
            <a:off x="5980316" y="491419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0" name="Figure 5 plot object 179"/>
          <p:cNvSpPr>
            <a:spLocks noGrp="1"/>
          </p:cNvSpPr>
          <p:nvPr/>
        </p:nvSpPr>
        <p:spPr>
          <a:xfrm>
            <a:off x="5815659" y="492972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1" name="Figure 5 plot object 180"/>
          <p:cNvSpPr>
            <a:spLocks noGrp="1"/>
          </p:cNvSpPr>
          <p:nvPr/>
        </p:nvSpPr>
        <p:spPr>
          <a:xfrm>
            <a:off x="4434455" y="487778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2" name="Figure 5 plot object 181"/>
          <p:cNvSpPr>
            <a:spLocks noGrp="1"/>
          </p:cNvSpPr>
          <p:nvPr/>
        </p:nvSpPr>
        <p:spPr>
          <a:xfrm>
            <a:off x="4434455" y="488844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3" name="Figure 5 plot object 182"/>
          <p:cNvSpPr>
            <a:spLocks noGrp="1"/>
          </p:cNvSpPr>
          <p:nvPr/>
        </p:nvSpPr>
        <p:spPr>
          <a:xfrm>
            <a:off x="4997421" y="491971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4" name="Figure 5 plot object 183"/>
          <p:cNvSpPr>
            <a:spLocks noGrp="1"/>
          </p:cNvSpPr>
          <p:nvPr/>
        </p:nvSpPr>
        <p:spPr>
          <a:xfrm>
            <a:off x="5443560" y="492752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5" name="Figure 5 plot object 184"/>
          <p:cNvSpPr>
            <a:spLocks noGrp="1"/>
          </p:cNvSpPr>
          <p:nvPr/>
        </p:nvSpPr>
        <p:spPr>
          <a:xfrm>
            <a:off x="5725042" y="490378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6" name="Figure 5 plot object 185"/>
          <p:cNvSpPr>
            <a:spLocks noGrp="1"/>
          </p:cNvSpPr>
          <p:nvPr/>
        </p:nvSpPr>
        <p:spPr>
          <a:xfrm>
            <a:off x="5932485" y="489900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7" name="Figure 5 plot object 186"/>
          <p:cNvSpPr>
            <a:spLocks noGrp="1"/>
          </p:cNvSpPr>
          <p:nvPr/>
        </p:nvSpPr>
        <p:spPr>
          <a:xfrm>
            <a:off x="5162077" y="493867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8" name="Figure 5 plot object 187"/>
          <p:cNvSpPr>
            <a:spLocks noGrp="1"/>
          </p:cNvSpPr>
          <p:nvPr/>
        </p:nvSpPr>
        <p:spPr>
          <a:xfrm>
            <a:off x="5162077" y="489120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89" name="Figure 5 plot object 188"/>
          <p:cNvSpPr>
            <a:spLocks noGrp="1"/>
          </p:cNvSpPr>
          <p:nvPr/>
        </p:nvSpPr>
        <p:spPr>
          <a:xfrm>
            <a:off x="5608216" y="491472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0" name="Figure 5 plot object 189"/>
          <p:cNvSpPr>
            <a:spLocks noGrp="1"/>
          </p:cNvSpPr>
          <p:nvPr/>
        </p:nvSpPr>
        <p:spPr>
          <a:xfrm>
            <a:off x="5608216" y="491183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1" name="Figure 5 plot object 190"/>
          <p:cNvSpPr>
            <a:spLocks noGrp="1"/>
          </p:cNvSpPr>
          <p:nvPr/>
        </p:nvSpPr>
        <p:spPr>
          <a:xfrm>
            <a:off x="5889699" y="488404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2" name="Figure 5 plot object 191"/>
          <p:cNvSpPr>
            <a:spLocks noGrp="1"/>
          </p:cNvSpPr>
          <p:nvPr/>
        </p:nvSpPr>
        <p:spPr>
          <a:xfrm>
            <a:off x="5889699" y="490886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3" name="Figure 5 plot object 192"/>
          <p:cNvSpPr>
            <a:spLocks noGrp="1"/>
          </p:cNvSpPr>
          <p:nvPr/>
        </p:nvSpPr>
        <p:spPr>
          <a:xfrm>
            <a:off x="5326734" y="491481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4" name="Figure 5 plot object 193"/>
          <p:cNvSpPr>
            <a:spLocks noGrp="1"/>
          </p:cNvSpPr>
          <p:nvPr/>
        </p:nvSpPr>
        <p:spPr>
          <a:xfrm>
            <a:off x="5698834" y="491997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5" name="Figure 5 plot object 194"/>
          <p:cNvSpPr>
            <a:spLocks noGrp="1"/>
          </p:cNvSpPr>
          <p:nvPr/>
        </p:nvSpPr>
        <p:spPr>
          <a:xfrm>
            <a:off x="5937530" y="489587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6" name="Figure 5 plot object 195"/>
          <p:cNvSpPr>
            <a:spLocks noGrp="1"/>
          </p:cNvSpPr>
          <p:nvPr/>
        </p:nvSpPr>
        <p:spPr>
          <a:xfrm>
            <a:off x="6116955" y="490875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7" name="Figure 5 plot object 196"/>
          <p:cNvSpPr>
            <a:spLocks noGrp="1"/>
          </p:cNvSpPr>
          <p:nvPr/>
        </p:nvSpPr>
        <p:spPr>
          <a:xfrm>
            <a:off x="5119291" y="494870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8" name="Figure 5 plot object 197"/>
          <p:cNvSpPr>
            <a:spLocks noGrp="1"/>
          </p:cNvSpPr>
          <p:nvPr/>
        </p:nvSpPr>
        <p:spPr>
          <a:xfrm>
            <a:off x="5491391" y="490935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199" name="Figure 5 plot object 198"/>
          <p:cNvSpPr>
            <a:spLocks noGrp="1"/>
          </p:cNvSpPr>
          <p:nvPr/>
        </p:nvSpPr>
        <p:spPr>
          <a:xfrm>
            <a:off x="5730087" y="494029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0" name="Figure 5 plot object 199"/>
          <p:cNvSpPr>
            <a:spLocks noGrp="1"/>
          </p:cNvSpPr>
          <p:nvPr/>
        </p:nvSpPr>
        <p:spPr>
          <a:xfrm>
            <a:off x="5909512" y="490583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1" name="Figure 5 plot object 200"/>
          <p:cNvSpPr>
            <a:spLocks noGrp="1"/>
          </p:cNvSpPr>
          <p:nvPr/>
        </p:nvSpPr>
        <p:spPr>
          <a:xfrm>
            <a:off x="4928426" y="491241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2" name="Figure 5 plot object 201"/>
          <p:cNvSpPr>
            <a:spLocks noGrp="1"/>
          </p:cNvSpPr>
          <p:nvPr/>
        </p:nvSpPr>
        <p:spPr>
          <a:xfrm>
            <a:off x="5300525" y="488977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3" name="Figure 5 plot object 202"/>
          <p:cNvSpPr>
            <a:spLocks noGrp="1"/>
          </p:cNvSpPr>
          <p:nvPr/>
        </p:nvSpPr>
        <p:spPr>
          <a:xfrm>
            <a:off x="5539222" y="490594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4" name="Figure 5 plot object 203"/>
          <p:cNvSpPr>
            <a:spLocks noGrp="1"/>
          </p:cNvSpPr>
          <p:nvPr/>
        </p:nvSpPr>
        <p:spPr>
          <a:xfrm>
            <a:off x="5718647" y="486941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5" name="Figure 5 plot object 204"/>
          <p:cNvSpPr>
            <a:spLocks noGrp="1"/>
          </p:cNvSpPr>
          <p:nvPr/>
        </p:nvSpPr>
        <p:spPr>
          <a:xfrm>
            <a:off x="4434455" y="487621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6" name="Figure 5 plot object 205"/>
          <p:cNvSpPr>
            <a:spLocks noGrp="1"/>
          </p:cNvSpPr>
          <p:nvPr/>
        </p:nvSpPr>
        <p:spPr>
          <a:xfrm>
            <a:off x="4880595" y="488826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7" name="Figure 5 plot object 206"/>
          <p:cNvSpPr>
            <a:spLocks noGrp="1"/>
          </p:cNvSpPr>
          <p:nvPr/>
        </p:nvSpPr>
        <p:spPr>
          <a:xfrm>
            <a:off x="4837808" y="488965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8" name="Figure 5 plot object 207"/>
          <p:cNvSpPr>
            <a:spLocks noGrp="1"/>
          </p:cNvSpPr>
          <p:nvPr/>
        </p:nvSpPr>
        <p:spPr>
          <a:xfrm>
            <a:off x="5119291" y="492449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09" name="Figure 5 plot object 208"/>
          <p:cNvSpPr>
            <a:spLocks noGrp="1"/>
          </p:cNvSpPr>
          <p:nvPr/>
        </p:nvSpPr>
        <p:spPr>
          <a:xfrm>
            <a:off x="5400774" y="492812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0" name="Figure 5 plot object 209"/>
          <p:cNvSpPr>
            <a:spLocks noGrp="1"/>
          </p:cNvSpPr>
          <p:nvPr/>
        </p:nvSpPr>
        <p:spPr>
          <a:xfrm>
            <a:off x="5682256" y="493493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1" name="Figure 5 plot object 210"/>
          <p:cNvSpPr>
            <a:spLocks noGrp="1"/>
          </p:cNvSpPr>
          <p:nvPr/>
        </p:nvSpPr>
        <p:spPr>
          <a:xfrm>
            <a:off x="5846913" y="493354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2" name="Figure 5 plot object 211"/>
          <p:cNvSpPr>
            <a:spLocks noGrp="1"/>
          </p:cNvSpPr>
          <p:nvPr/>
        </p:nvSpPr>
        <p:spPr>
          <a:xfrm>
            <a:off x="6054356" y="493129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3" name="Figure 5 plot object 212"/>
          <p:cNvSpPr>
            <a:spLocks noGrp="1"/>
          </p:cNvSpPr>
          <p:nvPr/>
        </p:nvSpPr>
        <p:spPr>
          <a:xfrm>
            <a:off x="5400774" y="489491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4" name="Figure 5 plot object 213"/>
          <p:cNvSpPr>
            <a:spLocks noGrp="1"/>
          </p:cNvSpPr>
          <p:nvPr/>
        </p:nvSpPr>
        <p:spPr>
          <a:xfrm>
            <a:off x="5400774" y="488028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5" name="Figure 5 plot object 214"/>
          <p:cNvSpPr>
            <a:spLocks noGrp="1"/>
          </p:cNvSpPr>
          <p:nvPr/>
        </p:nvSpPr>
        <p:spPr>
          <a:xfrm>
            <a:off x="5565430" y="490529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6" name="Figure 5 plot object 215"/>
          <p:cNvSpPr>
            <a:spLocks noGrp="1"/>
          </p:cNvSpPr>
          <p:nvPr/>
        </p:nvSpPr>
        <p:spPr>
          <a:xfrm>
            <a:off x="5772873" y="489171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7" name="Figure 5 plot object 216"/>
          <p:cNvSpPr>
            <a:spLocks noGrp="1"/>
          </p:cNvSpPr>
          <p:nvPr/>
        </p:nvSpPr>
        <p:spPr>
          <a:xfrm>
            <a:off x="4880595" y="491667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8" name="Figure 5 plot object 217"/>
          <p:cNvSpPr>
            <a:spLocks noGrp="1"/>
          </p:cNvSpPr>
          <p:nvPr/>
        </p:nvSpPr>
        <p:spPr>
          <a:xfrm>
            <a:off x="4434455" y="489760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19" name="Figure 5 plot object 218"/>
          <p:cNvSpPr>
            <a:spLocks noGrp="1"/>
          </p:cNvSpPr>
          <p:nvPr/>
        </p:nvSpPr>
        <p:spPr>
          <a:xfrm>
            <a:off x="4880595" y="493560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0" name="Figure 5 plot object 219"/>
          <p:cNvSpPr>
            <a:spLocks noGrp="1"/>
          </p:cNvSpPr>
          <p:nvPr/>
        </p:nvSpPr>
        <p:spPr>
          <a:xfrm>
            <a:off x="4837808" y="490093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1" name="Figure 5 plot object 220"/>
          <p:cNvSpPr>
            <a:spLocks noGrp="1"/>
          </p:cNvSpPr>
          <p:nvPr/>
        </p:nvSpPr>
        <p:spPr>
          <a:xfrm>
            <a:off x="5283948" y="487913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2" name="Figure 5 plot object 221"/>
          <p:cNvSpPr>
            <a:spLocks noGrp="1"/>
          </p:cNvSpPr>
          <p:nvPr/>
        </p:nvSpPr>
        <p:spPr>
          <a:xfrm>
            <a:off x="5565430" y="490044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3" name="Figure 5 plot object 222"/>
          <p:cNvSpPr>
            <a:spLocks noGrp="1"/>
          </p:cNvSpPr>
          <p:nvPr/>
        </p:nvSpPr>
        <p:spPr>
          <a:xfrm>
            <a:off x="5772873" y="488484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4" name="Figure 5 plot object 223"/>
          <p:cNvSpPr>
            <a:spLocks noGrp="1"/>
          </p:cNvSpPr>
          <p:nvPr/>
        </p:nvSpPr>
        <p:spPr>
          <a:xfrm>
            <a:off x="6054356" y="488368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5" name="Figure 5 plot object 224"/>
          <p:cNvSpPr>
            <a:spLocks noGrp="1"/>
          </p:cNvSpPr>
          <p:nvPr/>
        </p:nvSpPr>
        <p:spPr>
          <a:xfrm>
            <a:off x="6335838" y="488178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6" name="Figure 5 plot object 225"/>
          <p:cNvSpPr>
            <a:spLocks noGrp="1"/>
          </p:cNvSpPr>
          <p:nvPr/>
        </p:nvSpPr>
        <p:spPr>
          <a:xfrm>
            <a:off x="5772873" y="494119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7" name="Figure 5 plot object 226"/>
          <p:cNvSpPr>
            <a:spLocks noGrp="1"/>
          </p:cNvSpPr>
          <p:nvPr/>
        </p:nvSpPr>
        <p:spPr>
          <a:xfrm>
            <a:off x="5772873" y="491787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8" name="Figure 5 plot object 227"/>
          <p:cNvSpPr>
            <a:spLocks noGrp="1"/>
          </p:cNvSpPr>
          <p:nvPr/>
        </p:nvSpPr>
        <p:spPr>
          <a:xfrm>
            <a:off x="5772873" y="490697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29" name="Figure 5 plot object 228"/>
          <p:cNvSpPr>
            <a:spLocks noGrp="1"/>
          </p:cNvSpPr>
          <p:nvPr/>
        </p:nvSpPr>
        <p:spPr>
          <a:xfrm>
            <a:off x="5119291" y="489234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0" name="Figure 5 plot object 229"/>
          <p:cNvSpPr>
            <a:spLocks noGrp="1"/>
          </p:cNvSpPr>
          <p:nvPr/>
        </p:nvSpPr>
        <p:spPr>
          <a:xfrm>
            <a:off x="5565430" y="490828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1" name="Figure 5 plot object 230"/>
          <p:cNvSpPr>
            <a:spLocks noGrp="1"/>
          </p:cNvSpPr>
          <p:nvPr/>
        </p:nvSpPr>
        <p:spPr>
          <a:xfrm>
            <a:off x="5846913" y="492094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2" name="Figure 5 plot object 231"/>
          <p:cNvSpPr>
            <a:spLocks noGrp="1"/>
          </p:cNvSpPr>
          <p:nvPr/>
        </p:nvSpPr>
        <p:spPr>
          <a:xfrm>
            <a:off x="5963739" y="491900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3" name="Figure 5 plot object 232"/>
          <p:cNvSpPr>
            <a:spLocks noGrp="1"/>
          </p:cNvSpPr>
          <p:nvPr/>
        </p:nvSpPr>
        <p:spPr>
          <a:xfrm>
            <a:off x="4954634" y="488002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4" name="Figure 5 plot object 233"/>
          <p:cNvSpPr>
            <a:spLocks noGrp="1"/>
          </p:cNvSpPr>
          <p:nvPr/>
        </p:nvSpPr>
        <p:spPr>
          <a:xfrm>
            <a:off x="5400774" y="493998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5" name="Figure 5 plot object 234"/>
          <p:cNvSpPr>
            <a:spLocks noGrp="1"/>
          </p:cNvSpPr>
          <p:nvPr/>
        </p:nvSpPr>
        <p:spPr>
          <a:xfrm>
            <a:off x="5682256" y="491368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6" name="Figure 5 plot object 235"/>
          <p:cNvSpPr>
            <a:spLocks noGrp="1"/>
          </p:cNvSpPr>
          <p:nvPr/>
        </p:nvSpPr>
        <p:spPr>
          <a:xfrm>
            <a:off x="5799082" y="490930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7" name="Figure 5 plot object 236"/>
          <p:cNvSpPr>
            <a:spLocks noGrp="1"/>
          </p:cNvSpPr>
          <p:nvPr/>
        </p:nvSpPr>
        <p:spPr>
          <a:xfrm>
            <a:off x="4837808" y="490036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8" name="Figure 5 plot object 237"/>
          <p:cNvSpPr>
            <a:spLocks noGrp="1"/>
          </p:cNvSpPr>
          <p:nvPr/>
        </p:nvSpPr>
        <p:spPr>
          <a:xfrm>
            <a:off x="5283948" y="492415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39" name="Figure 5 plot object 238"/>
          <p:cNvSpPr>
            <a:spLocks noGrp="1"/>
          </p:cNvSpPr>
          <p:nvPr/>
        </p:nvSpPr>
        <p:spPr>
          <a:xfrm>
            <a:off x="5565430" y="488769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0" name="Figure 5 plot object 239"/>
          <p:cNvSpPr>
            <a:spLocks noGrp="1"/>
          </p:cNvSpPr>
          <p:nvPr/>
        </p:nvSpPr>
        <p:spPr>
          <a:xfrm>
            <a:off x="5682256" y="489663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1" name="Figure 5 plot object 240"/>
          <p:cNvSpPr>
            <a:spLocks noGrp="1"/>
          </p:cNvSpPr>
          <p:nvPr/>
        </p:nvSpPr>
        <p:spPr>
          <a:xfrm>
            <a:off x="4880595" y="487225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2" name="Figure 5 plot object 241"/>
          <p:cNvSpPr>
            <a:spLocks noGrp="1"/>
          </p:cNvSpPr>
          <p:nvPr/>
        </p:nvSpPr>
        <p:spPr>
          <a:xfrm>
            <a:off x="4434455" y="489369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3" name="Figure 5 plot object 242"/>
          <p:cNvSpPr>
            <a:spLocks noGrp="1"/>
          </p:cNvSpPr>
          <p:nvPr/>
        </p:nvSpPr>
        <p:spPr>
          <a:xfrm>
            <a:off x="5534177" y="491413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4" name="Figure 5 plot object 243"/>
          <p:cNvSpPr>
            <a:spLocks noGrp="1"/>
          </p:cNvSpPr>
          <p:nvPr/>
        </p:nvSpPr>
        <p:spPr>
          <a:xfrm>
            <a:off x="5088038" y="495303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5" name="Figure 5 plot object 244"/>
          <p:cNvSpPr>
            <a:spLocks noGrp="1"/>
          </p:cNvSpPr>
          <p:nvPr/>
        </p:nvSpPr>
        <p:spPr>
          <a:xfrm>
            <a:off x="5980316" y="490579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6" name="Figure 5 plot object 245"/>
          <p:cNvSpPr>
            <a:spLocks noGrp="1"/>
          </p:cNvSpPr>
          <p:nvPr/>
        </p:nvSpPr>
        <p:spPr>
          <a:xfrm>
            <a:off x="5534177" y="490116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7" name="Figure 5 plot object 246"/>
          <p:cNvSpPr>
            <a:spLocks noGrp="1"/>
          </p:cNvSpPr>
          <p:nvPr/>
        </p:nvSpPr>
        <p:spPr>
          <a:xfrm>
            <a:off x="6054356" y="487541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8" name="Figure 5 plot object 247"/>
          <p:cNvSpPr>
            <a:spLocks noGrp="1"/>
          </p:cNvSpPr>
          <p:nvPr/>
        </p:nvSpPr>
        <p:spPr>
          <a:xfrm>
            <a:off x="5698834" y="492024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49" name="Figure 5 plot object 248"/>
          <p:cNvSpPr>
            <a:spLocks noGrp="1"/>
          </p:cNvSpPr>
          <p:nvPr/>
        </p:nvSpPr>
        <p:spPr>
          <a:xfrm>
            <a:off x="5772873" y="489587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0" name="Figure 5 plot object 249"/>
          <p:cNvSpPr>
            <a:spLocks noGrp="1"/>
          </p:cNvSpPr>
          <p:nvPr/>
        </p:nvSpPr>
        <p:spPr>
          <a:xfrm>
            <a:off x="5209908" y="490144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1" name="Figure 5 plot object 250"/>
          <p:cNvSpPr>
            <a:spLocks noGrp="1"/>
          </p:cNvSpPr>
          <p:nvPr/>
        </p:nvSpPr>
        <p:spPr>
          <a:xfrm>
            <a:off x="6054356" y="489917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2" name="Figure 5 plot object 251"/>
          <p:cNvSpPr>
            <a:spLocks noGrp="1"/>
          </p:cNvSpPr>
          <p:nvPr/>
        </p:nvSpPr>
        <p:spPr>
          <a:xfrm>
            <a:off x="5772873" y="491816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3" name="Figure 5 plot object 252"/>
          <p:cNvSpPr>
            <a:spLocks noGrp="1"/>
          </p:cNvSpPr>
          <p:nvPr/>
        </p:nvSpPr>
        <p:spPr>
          <a:xfrm>
            <a:off x="4434455" y="486924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4" name="Figure 5 plot object 253"/>
          <p:cNvSpPr>
            <a:spLocks noGrp="1"/>
          </p:cNvSpPr>
          <p:nvPr/>
        </p:nvSpPr>
        <p:spPr>
          <a:xfrm>
            <a:off x="4434455" y="488384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5" name="Figure 5 plot object 254"/>
          <p:cNvSpPr>
            <a:spLocks noGrp="1"/>
          </p:cNvSpPr>
          <p:nvPr/>
        </p:nvSpPr>
        <p:spPr>
          <a:xfrm>
            <a:off x="4954634" y="490700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6" name="Figure 5 plot object 255"/>
          <p:cNvSpPr>
            <a:spLocks noGrp="1"/>
          </p:cNvSpPr>
          <p:nvPr/>
        </p:nvSpPr>
        <p:spPr>
          <a:xfrm>
            <a:off x="5400774" y="491738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7" name="Figure 5 plot object 256"/>
          <p:cNvSpPr>
            <a:spLocks noGrp="1"/>
          </p:cNvSpPr>
          <p:nvPr/>
        </p:nvSpPr>
        <p:spPr>
          <a:xfrm>
            <a:off x="5682256" y="491152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8" name="Figure 5 plot object 257"/>
          <p:cNvSpPr>
            <a:spLocks noGrp="1"/>
          </p:cNvSpPr>
          <p:nvPr/>
        </p:nvSpPr>
        <p:spPr>
          <a:xfrm>
            <a:off x="5846913" y="490306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59" name="Figure 5 plot object 258"/>
          <p:cNvSpPr>
            <a:spLocks noGrp="1"/>
          </p:cNvSpPr>
          <p:nvPr/>
        </p:nvSpPr>
        <p:spPr>
          <a:xfrm>
            <a:off x="5119291" y="491004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0" name="Figure 5 plot object 259"/>
          <p:cNvSpPr>
            <a:spLocks noGrp="1"/>
          </p:cNvSpPr>
          <p:nvPr/>
        </p:nvSpPr>
        <p:spPr>
          <a:xfrm>
            <a:off x="5400774" y="493126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1" name="Figure 5 plot object 260"/>
          <p:cNvSpPr>
            <a:spLocks noGrp="1"/>
          </p:cNvSpPr>
          <p:nvPr/>
        </p:nvSpPr>
        <p:spPr>
          <a:xfrm>
            <a:off x="5565430" y="488714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2" name="Figure 5 plot object 261"/>
          <p:cNvSpPr>
            <a:spLocks noGrp="1"/>
          </p:cNvSpPr>
          <p:nvPr/>
        </p:nvSpPr>
        <p:spPr>
          <a:xfrm>
            <a:off x="5682256" y="495319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3" name="Figure 5 plot object 262"/>
          <p:cNvSpPr>
            <a:spLocks noGrp="1"/>
          </p:cNvSpPr>
          <p:nvPr/>
        </p:nvSpPr>
        <p:spPr>
          <a:xfrm>
            <a:off x="5846913" y="488713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4" name="Figure 5 plot object 263"/>
          <p:cNvSpPr>
            <a:spLocks noGrp="1"/>
          </p:cNvSpPr>
          <p:nvPr/>
        </p:nvSpPr>
        <p:spPr>
          <a:xfrm>
            <a:off x="5889699" y="492229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5" name="Figure 5 plot object 264"/>
          <p:cNvSpPr>
            <a:spLocks noGrp="1"/>
          </p:cNvSpPr>
          <p:nvPr/>
        </p:nvSpPr>
        <p:spPr>
          <a:xfrm>
            <a:off x="5236117" y="495533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6" name="Figure 5 plot object 265"/>
          <p:cNvSpPr>
            <a:spLocks noGrp="1"/>
          </p:cNvSpPr>
          <p:nvPr/>
        </p:nvSpPr>
        <p:spPr>
          <a:xfrm>
            <a:off x="4954634" y="496440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7" name="Figure 5 plot object 266"/>
          <p:cNvSpPr>
            <a:spLocks noGrp="1"/>
          </p:cNvSpPr>
          <p:nvPr/>
        </p:nvSpPr>
        <p:spPr>
          <a:xfrm>
            <a:off x="4789978" y="491434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8" name="Figure 5 plot object 267"/>
          <p:cNvSpPr>
            <a:spLocks noGrp="1"/>
          </p:cNvSpPr>
          <p:nvPr/>
        </p:nvSpPr>
        <p:spPr>
          <a:xfrm>
            <a:off x="5682256" y="491901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69" name="Figure 5 plot object 268"/>
          <p:cNvSpPr>
            <a:spLocks noGrp="1"/>
          </p:cNvSpPr>
          <p:nvPr/>
        </p:nvSpPr>
        <p:spPr>
          <a:xfrm>
            <a:off x="5400774" y="492438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0" name="Figure 5 plot object 269"/>
          <p:cNvSpPr>
            <a:spLocks noGrp="1"/>
          </p:cNvSpPr>
          <p:nvPr/>
        </p:nvSpPr>
        <p:spPr>
          <a:xfrm>
            <a:off x="5236117" y="495183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1" name="Figure 5 plot object 270"/>
          <p:cNvSpPr>
            <a:spLocks noGrp="1"/>
          </p:cNvSpPr>
          <p:nvPr/>
        </p:nvSpPr>
        <p:spPr>
          <a:xfrm>
            <a:off x="5963739" y="489510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2" name="Figure 5 plot object 271"/>
          <p:cNvSpPr>
            <a:spLocks noGrp="1"/>
          </p:cNvSpPr>
          <p:nvPr/>
        </p:nvSpPr>
        <p:spPr>
          <a:xfrm>
            <a:off x="5682256" y="492785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3" name="Figure 5 plot object 272"/>
          <p:cNvSpPr>
            <a:spLocks noGrp="1"/>
          </p:cNvSpPr>
          <p:nvPr/>
        </p:nvSpPr>
        <p:spPr>
          <a:xfrm>
            <a:off x="5517599" y="491320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4" name="Figure 5 plot object 273"/>
          <p:cNvSpPr>
            <a:spLocks noGrp="1"/>
          </p:cNvSpPr>
          <p:nvPr/>
        </p:nvSpPr>
        <p:spPr>
          <a:xfrm>
            <a:off x="6171182" y="493188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5" name="Figure 5 plot object 274"/>
          <p:cNvSpPr>
            <a:spLocks noGrp="1"/>
          </p:cNvSpPr>
          <p:nvPr/>
        </p:nvSpPr>
        <p:spPr>
          <a:xfrm>
            <a:off x="5889699" y="494107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6" name="Figure 5 plot object 275"/>
          <p:cNvSpPr>
            <a:spLocks noGrp="1"/>
          </p:cNvSpPr>
          <p:nvPr/>
        </p:nvSpPr>
        <p:spPr>
          <a:xfrm>
            <a:off x="5725042" y="491208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7" name="Figure 5 plot object 276"/>
          <p:cNvSpPr>
            <a:spLocks noGrp="1"/>
          </p:cNvSpPr>
          <p:nvPr/>
        </p:nvSpPr>
        <p:spPr>
          <a:xfrm>
            <a:off x="4673152" y="491004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8" name="Figure 5 plot object 277"/>
          <p:cNvSpPr>
            <a:spLocks noGrp="1"/>
          </p:cNvSpPr>
          <p:nvPr/>
        </p:nvSpPr>
        <p:spPr>
          <a:xfrm>
            <a:off x="5045251" y="4877211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79" name="Figure 5 plot object 278"/>
          <p:cNvSpPr>
            <a:spLocks noGrp="1"/>
          </p:cNvSpPr>
          <p:nvPr/>
        </p:nvSpPr>
        <p:spPr>
          <a:xfrm>
            <a:off x="5326734" y="493132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0" name="Figure 5 plot object 279"/>
          <p:cNvSpPr>
            <a:spLocks noGrp="1"/>
          </p:cNvSpPr>
          <p:nvPr/>
        </p:nvSpPr>
        <p:spPr>
          <a:xfrm>
            <a:off x="5608216" y="488546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1" name="Figure 5 plot object 280"/>
          <p:cNvSpPr>
            <a:spLocks noGrp="1"/>
          </p:cNvSpPr>
          <p:nvPr/>
        </p:nvSpPr>
        <p:spPr>
          <a:xfrm>
            <a:off x="5772873" y="492768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2" name="Figure 5 plot object 281"/>
          <p:cNvSpPr>
            <a:spLocks noGrp="1"/>
          </p:cNvSpPr>
          <p:nvPr/>
        </p:nvSpPr>
        <p:spPr>
          <a:xfrm>
            <a:off x="5889699" y="489788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3" name="Figure 5 plot object 282"/>
          <p:cNvSpPr>
            <a:spLocks noGrp="1"/>
          </p:cNvSpPr>
          <p:nvPr/>
        </p:nvSpPr>
        <p:spPr>
          <a:xfrm>
            <a:off x="5491391" y="492440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4" name="Figure 5 plot object 283"/>
          <p:cNvSpPr>
            <a:spLocks noGrp="1"/>
          </p:cNvSpPr>
          <p:nvPr/>
        </p:nvSpPr>
        <p:spPr>
          <a:xfrm>
            <a:off x="5491391" y="487793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5" name="Figure 5 plot object 284"/>
          <p:cNvSpPr>
            <a:spLocks noGrp="1"/>
          </p:cNvSpPr>
          <p:nvPr/>
        </p:nvSpPr>
        <p:spPr>
          <a:xfrm>
            <a:off x="5491391" y="491027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6" name="Figure 5 plot object 285"/>
          <p:cNvSpPr>
            <a:spLocks noGrp="1"/>
          </p:cNvSpPr>
          <p:nvPr/>
        </p:nvSpPr>
        <p:spPr>
          <a:xfrm>
            <a:off x="5582008" y="491820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7" name="Figure 5 plot object 286"/>
          <p:cNvSpPr>
            <a:spLocks noGrp="1"/>
          </p:cNvSpPr>
          <p:nvPr/>
        </p:nvSpPr>
        <p:spPr>
          <a:xfrm>
            <a:off x="5772873" y="490990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8" name="Figure 5 plot object 287"/>
          <p:cNvSpPr>
            <a:spLocks noGrp="1"/>
          </p:cNvSpPr>
          <p:nvPr/>
        </p:nvSpPr>
        <p:spPr>
          <a:xfrm>
            <a:off x="5976235" y="4888489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89" name="Figure 5 plot object 288"/>
          <p:cNvSpPr>
            <a:spLocks noGrp="1"/>
          </p:cNvSpPr>
          <p:nvPr/>
        </p:nvSpPr>
        <p:spPr>
          <a:xfrm>
            <a:off x="4434455" y="4923656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0" name="Figure 5 plot object 289"/>
          <p:cNvSpPr>
            <a:spLocks noGrp="1"/>
          </p:cNvSpPr>
          <p:nvPr/>
        </p:nvSpPr>
        <p:spPr>
          <a:xfrm>
            <a:off x="4434455" y="489251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1" name="Figure 5 plot object 290"/>
          <p:cNvSpPr>
            <a:spLocks noGrp="1"/>
          </p:cNvSpPr>
          <p:nvPr/>
        </p:nvSpPr>
        <p:spPr>
          <a:xfrm>
            <a:off x="5326734" y="4924918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2" name="Figure 5 plot object 291"/>
          <p:cNvSpPr>
            <a:spLocks noGrp="1"/>
          </p:cNvSpPr>
          <p:nvPr/>
        </p:nvSpPr>
        <p:spPr>
          <a:xfrm>
            <a:off x="4880595" y="4892565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3" name="Figure 5 plot object 292"/>
          <p:cNvSpPr>
            <a:spLocks noGrp="1"/>
          </p:cNvSpPr>
          <p:nvPr/>
        </p:nvSpPr>
        <p:spPr>
          <a:xfrm>
            <a:off x="5772873" y="489890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4" name="Figure 5 plot object 293"/>
          <p:cNvSpPr>
            <a:spLocks noGrp="1"/>
          </p:cNvSpPr>
          <p:nvPr/>
        </p:nvSpPr>
        <p:spPr>
          <a:xfrm>
            <a:off x="5326734" y="492642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5" name="Figure 5 plot object 294"/>
          <p:cNvSpPr>
            <a:spLocks noGrp="1"/>
          </p:cNvSpPr>
          <p:nvPr/>
        </p:nvSpPr>
        <p:spPr>
          <a:xfrm>
            <a:off x="5772873" y="4897662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6" name="Figure 5 plot object 295"/>
          <p:cNvSpPr>
            <a:spLocks noGrp="1"/>
          </p:cNvSpPr>
          <p:nvPr/>
        </p:nvSpPr>
        <p:spPr>
          <a:xfrm>
            <a:off x="5491391" y="4895963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7" name="Figure 5 plot object 296"/>
          <p:cNvSpPr>
            <a:spLocks noGrp="1"/>
          </p:cNvSpPr>
          <p:nvPr/>
        </p:nvSpPr>
        <p:spPr>
          <a:xfrm>
            <a:off x="5980316" y="490555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8" name="Figure 5 plot object 297"/>
          <p:cNvSpPr>
            <a:spLocks noGrp="1"/>
          </p:cNvSpPr>
          <p:nvPr/>
        </p:nvSpPr>
        <p:spPr>
          <a:xfrm>
            <a:off x="5698834" y="4897550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299" name="Figure 5 plot object 298"/>
          <p:cNvSpPr>
            <a:spLocks noGrp="1"/>
          </p:cNvSpPr>
          <p:nvPr/>
        </p:nvSpPr>
        <p:spPr>
          <a:xfrm>
            <a:off x="5772873" y="4884204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300" name="Figure 5 plot object 299"/>
          <p:cNvSpPr>
            <a:spLocks noGrp="1"/>
          </p:cNvSpPr>
          <p:nvPr/>
        </p:nvSpPr>
        <p:spPr>
          <a:xfrm>
            <a:off x="5772873" y="4924877"/>
            <a:ext cx="63500" cy="63500"/>
          </a:xfrm>
          <a:custGeom>
            <a:avLst/>
            <a:gdLst/>
            <a:ahLst/>
            <a:cxnLst/>
            <a:pathLst>
              <a:path w="63500" h="63500">
                <a:moveTo>
                  <a:pt x="31750" y="63500"/>
                </a:moveTo>
                <a:cubicBezTo>
                  <a:pt x="40170" y="63500"/>
                  <a:pt x="48247" y="60155"/>
                  <a:pt x="54201" y="54201"/>
                </a:cubicBezTo>
                <a:cubicBezTo>
                  <a:pt x="60155" y="48247"/>
                  <a:pt x="63500" y="40170"/>
                  <a:pt x="63500" y="31750"/>
                </a:cubicBezTo>
                <a:cubicBezTo>
                  <a:pt x="63500" y="23330"/>
                  <a:pt x="60155" y="15253"/>
                  <a:pt x="54201" y="9299"/>
                </a:cubicBezTo>
                <a:cubicBezTo>
                  <a:pt x="48247" y="3345"/>
                  <a:pt x="40170" y="0"/>
                  <a:pt x="31750" y="0"/>
                </a:cubicBezTo>
                <a:cubicBezTo>
                  <a:pt x="23330" y="0"/>
                  <a:pt x="15253" y="3345"/>
                  <a:pt x="9299" y="9299"/>
                </a:cubicBezTo>
                <a:cubicBezTo>
                  <a:pt x="3345" y="15253"/>
                  <a:pt x="0" y="23330"/>
                  <a:pt x="0" y="31750"/>
                </a:cubicBezTo>
                <a:cubicBezTo>
                  <a:pt x="0" y="40170"/>
                  <a:pt x="3345" y="48247"/>
                  <a:pt x="9299" y="54201"/>
                </a:cubicBezTo>
                <a:cubicBezTo>
                  <a:pt x="15253" y="60155"/>
                  <a:pt x="23330" y="63500"/>
                  <a:pt x="31750" y="63500"/>
                </a:cubicBezTo>
                <a:close/>
              </a:path>
            </a:pathLst>
          </a:custGeom>
          <a:solidFill>
            <a:srgbClr val="8D9AA3">
              <a:alpha val="65000"/>
            </a:srgbClr>
          </a:solidFill>
          <a:ln w="15875">
            <a:noFill/>
            <a:prstDash val="solid"/>
          </a:ln>
        </p:spPr>
      </p:sp>
      <p:sp>
        <p:nvSpPr>
          <p:cNvPr id="301" name="Dilute tests"/>
          <p:cNvSpPr>
            <a:spLocks noGrp="1"/>
          </p:cNvSpPr>
          <p:nvPr/>
        </p:nvSpPr>
        <p:spPr>
          <a:xfrm>
            <a:off x="1616569" y="2288459"/>
            <a:ext cx="87114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Dilute tests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2" name="Figure 5 plot object 301"/>
          <p:cNvSpPr>
            <a:spLocks noGrp="1"/>
          </p:cNvSpPr>
          <p:nvPr/>
        </p:nvSpPr>
        <p:spPr>
          <a:xfrm>
            <a:off x="4510744" y="4231014"/>
            <a:ext cx="476735" cy="652103"/>
          </a:xfrm>
          <a:custGeom>
            <a:avLst/>
            <a:gdLst/>
            <a:ahLst/>
            <a:cxnLst/>
            <a:pathLst>
              <a:path w="476735" h="652103">
                <a:moveTo>
                  <a:pt x="0" y="0"/>
                </a:moveTo>
                <a:quadBezTo>
                  <a:pt x="238367" y="326051"/>
                  <a:pt x="476735" y="652103"/>
                </a:quadBez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303" name="Observed plateau"/>
          <p:cNvSpPr>
            <a:spLocks noGrp="1"/>
          </p:cNvSpPr>
          <p:nvPr/>
        </p:nvSpPr>
        <p:spPr>
          <a:xfrm>
            <a:off x="3727051" y="3828106"/>
            <a:ext cx="133548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Observed plateau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4" name="5.5-9.2%"/>
          <p:cNvSpPr>
            <a:spLocks noGrp="1"/>
          </p:cNvSpPr>
          <p:nvPr/>
        </p:nvSpPr>
        <p:spPr>
          <a:xfrm>
            <a:off x="3727051" y="4059514"/>
            <a:ext cx="71239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5.5-9.2%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5" name="Figure 5 plot object 304"/>
          <p:cNvSpPr>
            <a:spLocks noGrp="1"/>
          </p:cNvSpPr>
          <p:nvPr/>
        </p:nvSpPr>
        <p:spPr>
          <a:xfrm>
            <a:off x="2408838" y="386699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06" name="Figure 5 plot object 305"/>
          <p:cNvSpPr>
            <a:spLocks noGrp="1"/>
          </p:cNvSpPr>
          <p:nvPr/>
        </p:nvSpPr>
        <p:spPr>
          <a:xfrm>
            <a:off x="1473773" y="2638432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07" name="Figure 5 plot object 306"/>
          <p:cNvSpPr>
            <a:spLocks noGrp="1"/>
          </p:cNvSpPr>
          <p:nvPr/>
        </p:nvSpPr>
        <p:spPr>
          <a:xfrm>
            <a:off x="2499455" y="396725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08" name="Figure 5 plot object 307"/>
          <p:cNvSpPr>
            <a:spLocks noGrp="1"/>
          </p:cNvSpPr>
          <p:nvPr/>
        </p:nvSpPr>
        <p:spPr>
          <a:xfrm>
            <a:off x="4326798" y="4833392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09" name="Figure 5 plot object 308"/>
          <p:cNvSpPr>
            <a:spLocks noGrp="1"/>
          </p:cNvSpPr>
          <p:nvPr/>
        </p:nvSpPr>
        <p:spPr>
          <a:xfrm>
            <a:off x="4326798" y="483450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0" name="Figure 5 plot object 309"/>
          <p:cNvSpPr>
            <a:spLocks noGrp="1"/>
          </p:cNvSpPr>
          <p:nvPr/>
        </p:nvSpPr>
        <p:spPr>
          <a:xfrm>
            <a:off x="3434520" y="4629342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1" name="Figure 5 plot object 310"/>
          <p:cNvSpPr>
            <a:spLocks noGrp="1"/>
          </p:cNvSpPr>
          <p:nvPr/>
        </p:nvSpPr>
        <p:spPr>
          <a:xfrm>
            <a:off x="5023167" y="489071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2" name="Figure 5 plot object 311"/>
          <p:cNvSpPr>
            <a:spLocks noGrp="1"/>
          </p:cNvSpPr>
          <p:nvPr/>
        </p:nvSpPr>
        <p:spPr>
          <a:xfrm>
            <a:off x="5023167" y="487638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3" name="Figure 5 plot object 312"/>
          <p:cNvSpPr>
            <a:spLocks noGrp="1"/>
          </p:cNvSpPr>
          <p:nvPr/>
        </p:nvSpPr>
        <p:spPr>
          <a:xfrm>
            <a:off x="5023167" y="4873059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4" name="Figure 5 plot object 313"/>
          <p:cNvSpPr>
            <a:spLocks noGrp="1"/>
          </p:cNvSpPr>
          <p:nvPr/>
        </p:nvSpPr>
        <p:spPr/>
      </p:sp>
      <p:sp>
        <p:nvSpPr>
          <p:cNvPr id="315" name="Figure 5 plot object 314"/>
          <p:cNvSpPr>
            <a:spLocks noGrp="1"/>
          </p:cNvSpPr>
          <p:nvPr/>
        </p:nvSpPr>
        <p:spPr>
          <a:xfrm>
            <a:off x="5776997" y="489519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6" name="Figure 5 plot object 315"/>
          <p:cNvSpPr>
            <a:spLocks noGrp="1"/>
          </p:cNvSpPr>
          <p:nvPr/>
        </p:nvSpPr>
        <p:spPr>
          <a:xfrm>
            <a:off x="5223158" y="488371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7" name="Figure 5 plot object 316"/>
          <p:cNvSpPr>
            <a:spLocks noGrp="1"/>
          </p:cNvSpPr>
          <p:nvPr/>
        </p:nvSpPr>
        <p:spPr>
          <a:xfrm>
            <a:off x="2408838" y="4050595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8" name="Figure 5 plot object 317"/>
          <p:cNvSpPr>
            <a:spLocks noGrp="1"/>
          </p:cNvSpPr>
          <p:nvPr/>
        </p:nvSpPr>
        <p:spPr>
          <a:xfrm>
            <a:off x="1473773" y="285240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19" name="Figure 5 plot object 318"/>
          <p:cNvSpPr>
            <a:spLocks noGrp="1"/>
          </p:cNvSpPr>
          <p:nvPr/>
        </p:nvSpPr>
        <p:spPr>
          <a:xfrm>
            <a:off x="2499455" y="4131093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0" name="Figure 5 plot object 319"/>
          <p:cNvSpPr>
            <a:spLocks noGrp="1"/>
          </p:cNvSpPr>
          <p:nvPr/>
        </p:nvSpPr>
        <p:spPr>
          <a:xfrm>
            <a:off x="4326798" y="485814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1" name="Figure 5 plot object 320"/>
          <p:cNvSpPr>
            <a:spLocks noGrp="1"/>
          </p:cNvSpPr>
          <p:nvPr/>
        </p:nvSpPr>
        <p:spPr>
          <a:xfrm>
            <a:off x="4326798" y="485203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2" name="Figure 5 plot object 321"/>
          <p:cNvSpPr>
            <a:spLocks noGrp="1"/>
          </p:cNvSpPr>
          <p:nvPr/>
        </p:nvSpPr>
        <p:spPr>
          <a:xfrm>
            <a:off x="3434520" y="468461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3" name="Figure 5 plot object 322"/>
          <p:cNvSpPr>
            <a:spLocks noGrp="1"/>
          </p:cNvSpPr>
          <p:nvPr/>
        </p:nvSpPr>
        <p:spPr>
          <a:xfrm>
            <a:off x="5023167" y="487970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4" name="Figure 5 plot object 323"/>
          <p:cNvSpPr>
            <a:spLocks noGrp="1"/>
          </p:cNvSpPr>
          <p:nvPr/>
        </p:nvSpPr>
        <p:spPr>
          <a:xfrm>
            <a:off x="5023167" y="4887737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5" name="Figure 5 plot object 324"/>
          <p:cNvSpPr>
            <a:spLocks noGrp="1"/>
          </p:cNvSpPr>
          <p:nvPr/>
        </p:nvSpPr>
        <p:spPr>
          <a:xfrm>
            <a:off x="5023167" y="488789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6" name="Figure 5 plot object 325"/>
          <p:cNvSpPr>
            <a:spLocks noGrp="1"/>
          </p:cNvSpPr>
          <p:nvPr/>
        </p:nvSpPr>
        <p:spPr/>
      </p:sp>
      <p:sp>
        <p:nvSpPr>
          <p:cNvPr id="327" name="Figure 5 plot object 326"/>
          <p:cNvSpPr>
            <a:spLocks noGrp="1"/>
          </p:cNvSpPr>
          <p:nvPr/>
        </p:nvSpPr>
        <p:spPr>
          <a:xfrm>
            <a:off x="5776997" y="4899119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8" name="Figure 5 plot object 327"/>
          <p:cNvSpPr>
            <a:spLocks noGrp="1"/>
          </p:cNvSpPr>
          <p:nvPr/>
        </p:nvSpPr>
        <p:spPr>
          <a:xfrm>
            <a:off x="5223158" y="488665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29" name="Figure 5 plot object 328"/>
          <p:cNvSpPr>
            <a:spLocks noGrp="1"/>
          </p:cNvSpPr>
          <p:nvPr/>
        </p:nvSpPr>
        <p:spPr>
          <a:xfrm>
            <a:off x="2408838" y="418939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0" name="Figure 5 plot object 329"/>
          <p:cNvSpPr>
            <a:spLocks noGrp="1"/>
          </p:cNvSpPr>
          <p:nvPr/>
        </p:nvSpPr>
        <p:spPr>
          <a:xfrm>
            <a:off x="1473773" y="3113600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1" name="Figure 5 plot object 330"/>
          <p:cNvSpPr>
            <a:spLocks noGrp="1"/>
          </p:cNvSpPr>
          <p:nvPr/>
        </p:nvSpPr>
        <p:spPr>
          <a:xfrm>
            <a:off x="2499455" y="428138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2" name="Figure 5 plot object 331"/>
          <p:cNvSpPr>
            <a:spLocks noGrp="1"/>
          </p:cNvSpPr>
          <p:nvPr/>
        </p:nvSpPr>
        <p:spPr>
          <a:xfrm>
            <a:off x="4326798" y="4872125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3" name="Figure 5 plot object 332"/>
          <p:cNvSpPr>
            <a:spLocks noGrp="1"/>
          </p:cNvSpPr>
          <p:nvPr/>
        </p:nvSpPr>
        <p:spPr>
          <a:xfrm>
            <a:off x="4326798" y="486053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4" name="Figure 5 plot object 333"/>
          <p:cNvSpPr>
            <a:spLocks noGrp="1"/>
          </p:cNvSpPr>
          <p:nvPr/>
        </p:nvSpPr>
        <p:spPr>
          <a:xfrm>
            <a:off x="3434520" y="4733103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5" name="Figure 5 plot object 334"/>
          <p:cNvSpPr>
            <a:spLocks noGrp="1"/>
          </p:cNvSpPr>
          <p:nvPr/>
        </p:nvSpPr>
        <p:spPr>
          <a:xfrm>
            <a:off x="5023167" y="4880285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6" name="Figure 5 plot object 335"/>
          <p:cNvSpPr>
            <a:spLocks noGrp="1"/>
          </p:cNvSpPr>
          <p:nvPr/>
        </p:nvSpPr>
        <p:spPr>
          <a:xfrm>
            <a:off x="5023167" y="487545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7" name="Figure 5 plot object 336"/>
          <p:cNvSpPr>
            <a:spLocks noGrp="1"/>
          </p:cNvSpPr>
          <p:nvPr/>
        </p:nvSpPr>
        <p:spPr>
          <a:xfrm>
            <a:off x="5023167" y="4893357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38" name="Figure 5 plot object 337"/>
          <p:cNvSpPr>
            <a:spLocks noGrp="1"/>
          </p:cNvSpPr>
          <p:nvPr/>
        </p:nvSpPr>
        <p:spPr/>
      </p:sp>
      <p:sp>
        <p:nvSpPr>
          <p:cNvPr id="339" name="Figure 5 plot object 338"/>
          <p:cNvSpPr>
            <a:spLocks noGrp="1"/>
          </p:cNvSpPr>
          <p:nvPr/>
        </p:nvSpPr>
        <p:spPr>
          <a:xfrm>
            <a:off x="5776997" y="4877350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0" name="Figure 5 plot object 339"/>
          <p:cNvSpPr>
            <a:spLocks noGrp="1"/>
          </p:cNvSpPr>
          <p:nvPr/>
        </p:nvSpPr>
        <p:spPr>
          <a:xfrm>
            <a:off x="5223158" y="488515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1" name="Figure 5 plot object 340"/>
          <p:cNvSpPr>
            <a:spLocks noGrp="1"/>
          </p:cNvSpPr>
          <p:nvPr/>
        </p:nvSpPr>
        <p:spPr>
          <a:xfrm>
            <a:off x="2408838" y="433624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2" name="Figure 5 plot object 341"/>
          <p:cNvSpPr>
            <a:spLocks noGrp="1"/>
          </p:cNvSpPr>
          <p:nvPr/>
        </p:nvSpPr>
        <p:spPr>
          <a:xfrm>
            <a:off x="1473773" y="333095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3" name="Figure 5 plot object 342"/>
          <p:cNvSpPr>
            <a:spLocks noGrp="1"/>
          </p:cNvSpPr>
          <p:nvPr/>
        </p:nvSpPr>
        <p:spPr>
          <a:xfrm>
            <a:off x="2499455" y="440081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4" name="Figure 5 plot object 343"/>
          <p:cNvSpPr>
            <a:spLocks noGrp="1"/>
          </p:cNvSpPr>
          <p:nvPr/>
        </p:nvSpPr>
        <p:spPr>
          <a:xfrm>
            <a:off x="4326798" y="4866583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5" name="Figure 5 plot object 344"/>
          <p:cNvSpPr>
            <a:spLocks noGrp="1"/>
          </p:cNvSpPr>
          <p:nvPr/>
        </p:nvSpPr>
        <p:spPr>
          <a:xfrm>
            <a:off x="4326798" y="4852082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6" name="Figure 5 plot object 345"/>
          <p:cNvSpPr>
            <a:spLocks noGrp="1"/>
          </p:cNvSpPr>
          <p:nvPr/>
        </p:nvSpPr>
        <p:spPr>
          <a:xfrm>
            <a:off x="3434520" y="4762412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7" name="Figure 5 plot object 346"/>
          <p:cNvSpPr>
            <a:spLocks noGrp="1"/>
          </p:cNvSpPr>
          <p:nvPr/>
        </p:nvSpPr>
        <p:spPr>
          <a:xfrm>
            <a:off x="5023167" y="489456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8" name="Figure 5 plot object 347"/>
          <p:cNvSpPr>
            <a:spLocks noGrp="1"/>
          </p:cNvSpPr>
          <p:nvPr/>
        </p:nvSpPr>
        <p:spPr>
          <a:xfrm>
            <a:off x="5023167" y="4906547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49" name="Figure 5 plot object 348"/>
          <p:cNvSpPr>
            <a:spLocks noGrp="1"/>
          </p:cNvSpPr>
          <p:nvPr/>
        </p:nvSpPr>
        <p:spPr>
          <a:xfrm>
            <a:off x="5023167" y="489631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0" name="Figure 5 plot object 349"/>
          <p:cNvSpPr>
            <a:spLocks noGrp="1"/>
          </p:cNvSpPr>
          <p:nvPr/>
        </p:nvSpPr>
        <p:spPr/>
      </p:sp>
      <p:sp>
        <p:nvSpPr>
          <p:cNvPr id="351" name="Figure 5 plot object 350"/>
          <p:cNvSpPr>
            <a:spLocks noGrp="1"/>
          </p:cNvSpPr>
          <p:nvPr/>
        </p:nvSpPr>
        <p:spPr>
          <a:xfrm>
            <a:off x="5776997" y="4896729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2" name="Figure 5 plot object 351"/>
          <p:cNvSpPr>
            <a:spLocks noGrp="1"/>
          </p:cNvSpPr>
          <p:nvPr/>
        </p:nvSpPr>
        <p:spPr>
          <a:xfrm>
            <a:off x="5223158" y="4886854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3" name="Figure 5 plot object 352"/>
          <p:cNvSpPr>
            <a:spLocks noGrp="1"/>
          </p:cNvSpPr>
          <p:nvPr/>
        </p:nvSpPr>
        <p:spPr>
          <a:xfrm>
            <a:off x="2408838" y="444765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4" name="Figure 5 plot object 353"/>
          <p:cNvSpPr>
            <a:spLocks noGrp="1"/>
          </p:cNvSpPr>
          <p:nvPr/>
        </p:nvSpPr>
        <p:spPr>
          <a:xfrm>
            <a:off x="1473773" y="3572597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5" name="Figure 5 plot object 354"/>
          <p:cNvSpPr>
            <a:spLocks noGrp="1"/>
          </p:cNvSpPr>
          <p:nvPr/>
        </p:nvSpPr>
        <p:spPr>
          <a:xfrm>
            <a:off x="2499455" y="4510449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6" name="Figure 5 plot object 355"/>
          <p:cNvSpPr>
            <a:spLocks noGrp="1"/>
          </p:cNvSpPr>
          <p:nvPr/>
        </p:nvSpPr>
        <p:spPr>
          <a:xfrm>
            <a:off x="4326798" y="487578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7" name="Figure 5 plot object 356"/>
          <p:cNvSpPr>
            <a:spLocks noGrp="1"/>
          </p:cNvSpPr>
          <p:nvPr/>
        </p:nvSpPr>
        <p:spPr>
          <a:xfrm>
            <a:off x="4326798" y="4872270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8" name="Figure 5 plot object 357"/>
          <p:cNvSpPr>
            <a:spLocks noGrp="1"/>
          </p:cNvSpPr>
          <p:nvPr/>
        </p:nvSpPr>
        <p:spPr>
          <a:xfrm>
            <a:off x="3434520" y="4802109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59" name="Figure 5 plot object 358"/>
          <p:cNvSpPr>
            <a:spLocks noGrp="1"/>
          </p:cNvSpPr>
          <p:nvPr/>
        </p:nvSpPr>
        <p:spPr>
          <a:xfrm>
            <a:off x="5023167" y="4873966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60" name="Figure 5 plot object 359"/>
          <p:cNvSpPr>
            <a:spLocks noGrp="1"/>
          </p:cNvSpPr>
          <p:nvPr/>
        </p:nvSpPr>
        <p:spPr>
          <a:xfrm>
            <a:off x="5023167" y="4886541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61" name="Figure 5 plot object 360"/>
          <p:cNvSpPr>
            <a:spLocks noGrp="1"/>
          </p:cNvSpPr>
          <p:nvPr/>
        </p:nvSpPr>
        <p:spPr>
          <a:xfrm>
            <a:off x="5023167" y="4888932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62" name="Figure 5 plot object 361"/>
          <p:cNvSpPr>
            <a:spLocks noGrp="1"/>
          </p:cNvSpPr>
          <p:nvPr/>
        </p:nvSpPr>
        <p:spPr/>
      </p:sp>
      <p:sp>
        <p:nvSpPr>
          <p:cNvPr id="363" name="Figure 5 plot object 362"/>
          <p:cNvSpPr>
            <a:spLocks noGrp="1"/>
          </p:cNvSpPr>
          <p:nvPr/>
        </p:nvSpPr>
        <p:spPr>
          <a:xfrm>
            <a:off x="5776997" y="4883875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64" name="Figure 5 plot object 363"/>
          <p:cNvSpPr>
            <a:spLocks noGrp="1"/>
          </p:cNvSpPr>
          <p:nvPr/>
        </p:nvSpPr>
        <p:spPr>
          <a:xfrm>
            <a:off x="5223158" y="4894308"/>
            <a:ext cx="107669" cy="107669"/>
          </a:xfrm>
          <a:custGeom>
            <a:avLst/>
            <a:gdLst/>
            <a:ahLst/>
            <a:cxnLst/>
            <a:pathLst>
              <a:path w="107669" h="107669">
                <a:moveTo>
                  <a:pt x="53835" y="107669"/>
                </a:moveTo>
                <a:lnTo>
                  <a:pt x="107669" y="53835"/>
                </a:lnTo>
                <a:lnTo>
                  <a:pt x="53835" y="0"/>
                </a:lnTo>
                <a:lnTo>
                  <a:pt x="0" y="53835"/>
                </a:lnTo>
                <a:close/>
              </a:path>
            </a:pathLst>
          </a:custGeom>
          <a:noFill/>
          <a:ln w="12700">
            <a:solidFill>
              <a:srgbClr val="202326"/>
            </a:solidFill>
            <a:prstDash val="solid"/>
          </a:ln>
        </p:spPr>
      </p:sp>
      <p:sp>
        <p:nvSpPr>
          <p:cNvPr id="365" name="Figure 5 plot object 364"/>
          <p:cNvSpPr>
            <a:spLocks noGrp="1"/>
          </p:cNvSpPr>
          <p:nvPr/>
        </p:nvSpPr>
        <p:spPr>
          <a:xfrm>
            <a:off x="4431432" y="2384553"/>
            <a:ext cx="79375" cy="79375"/>
          </a:xfrm>
          <a:custGeom>
            <a:avLst/>
            <a:gdLst/>
            <a:ahLst/>
            <a:cxnLst/>
            <a:pathLst>
              <a:path w="79375" h="79375">
                <a:moveTo>
                  <a:pt x="39688" y="79375"/>
                </a:moveTo>
                <a:cubicBezTo>
                  <a:pt x="50213" y="79375"/>
                  <a:pt x="60308" y="75193"/>
                  <a:pt x="67751" y="67751"/>
                </a:cubicBezTo>
                <a:cubicBezTo>
                  <a:pt x="75193" y="60308"/>
                  <a:pt x="79375" y="50213"/>
                  <a:pt x="79375" y="39688"/>
                </a:cubicBezTo>
                <a:cubicBezTo>
                  <a:pt x="79375" y="29162"/>
                  <a:pt x="75193" y="19067"/>
                  <a:pt x="67751" y="11624"/>
                </a:cubicBezTo>
                <a:cubicBezTo>
                  <a:pt x="60308" y="4182"/>
                  <a:pt x="50213" y="0"/>
                  <a:pt x="39688" y="0"/>
                </a:cubicBezTo>
                <a:cubicBezTo>
                  <a:pt x="29162" y="0"/>
                  <a:pt x="19067" y="4182"/>
                  <a:pt x="11624" y="11624"/>
                </a:cubicBezTo>
                <a:cubicBezTo>
                  <a:pt x="4182" y="19067"/>
                  <a:pt x="0" y="29162"/>
                  <a:pt x="0" y="39688"/>
                </a:cubicBezTo>
                <a:cubicBezTo>
                  <a:pt x="0" y="50213"/>
                  <a:pt x="4182" y="60308"/>
                  <a:pt x="11624" y="67751"/>
                </a:cubicBezTo>
                <a:cubicBezTo>
                  <a:pt x="19067" y="75193"/>
                  <a:pt x="29162" y="79375"/>
                  <a:pt x="39688" y="79375"/>
                </a:cubicBezTo>
                <a:close/>
              </a:path>
            </a:pathLst>
          </a:custGeom>
          <a:solidFill>
            <a:srgbClr val="8D9AA3"/>
          </a:solidFill>
          <a:ln w="15875">
            <a:solidFill>
              <a:srgbClr val="8D9AA3"/>
            </a:solidFill>
            <a:prstDash val="solid"/>
          </a:ln>
        </p:spPr>
      </p:sp>
      <p:sp>
        <p:nvSpPr>
          <p:cNvPr id="366" name="Source assays (180)"/>
          <p:cNvSpPr>
            <a:spLocks noGrp="1"/>
          </p:cNvSpPr>
          <p:nvPr/>
        </p:nvSpPr>
        <p:spPr>
          <a:xfrm>
            <a:off x="4688924" y="2335563"/>
            <a:ext cx="152908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Source assays (180)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7" name="Figure 5 plot object 366"/>
          <p:cNvSpPr>
            <a:spLocks noGrp="1"/>
          </p:cNvSpPr>
          <p:nvPr/>
        </p:nvSpPr>
        <p:spPr>
          <a:xfrm>
            <a:off x="4414993" y="2591899"/>
            <a:ext cx="112253" cy="112253"/>
          </a:xfrm>
          <a:custGeom>
            <a:avLst/>
            <a:gdLst/>
            <a:ahLst/>
            <a:cxnLst/>
            <a:pathLst>
              <a:path w="112253" h="112253">
                <a:moveTo>
                  <a:pt x="56127" y="112253"/>
                </a:moveTo>
                <a:lnTo>
                  <a:pt x="112253" y="56127"/>
                </a:lnTo>
                <a:lnTo>
                  <a:pt x="56127" y="0"/>
                </a:lnTo>
                <a:lnTo>
                  <a:pt x="0" y="56127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202326"/>
            </a:solidFill>
            <a:prstDash val="solid"/>
          </a:ln>
        </p:spPr>
      </p:sp>
      <p:sp>
        <p:nvSpPr>
          <p:cNvPr id="368" name="Withheld references (60)"/>
          <p:cNvSpPr>
            <a:spLocks noGrp="1"/>
          </p:cNvSpPr>
          <p:nvPr/>
        </p:nvSpPr>
        <p:spPr>
          <a:xfrm>
            <a:off x="4688924" y="2559348"/>
            <a:ext cx="182372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Withheld references (60)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9" name="Figure 5 plot object 368"/>
          <p:cNvSpPr>
            <a:spLocks noGrp="1"/>
          </p:cNvSpPr>
          <p:nvPr/>
        </p:nvSpPr>
        <p:spPr>
          <a:xfrm>
            <a:off x="8291322" y="2225421"/>
            <a:ext cx="4625721" cy="2962085"/>
          </a:xfrm>
          <a:custGeom>
            <a:avLst/>
            <a:gdLst/>
            <a:ahLst/>
            <a:cxnLst/>
            <a:pathLst>
              <a:path w="4625721" h="2962085">
                <a:moveTo>
                  <a:pt x="0" y="2962085"/>
                </a:moveTo>
                <a:lnTo>
                  <a:pt x="4625721" y="2962085"/>
                </a:lnTo>
                <a:lnTo>
                  <a:pt x="4625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noFill/>
            <a:prstDash val="solid"/>
          </a:ln>
        </p:spPr>
      </p:sp>
      <p:sp>
        <p:nvSpPr>
          <p:cNvPr id="370" name="Figure 5 plot object 369"/>
          <p:cNvSpPr>
            <a:spLocks noGrp="1"/>
          </p:cNvSpPr>
          <p:nvPr/>
        </p:nvSpPr>
        <p:spPr>
          <a:xfrm>
            <a:off x="9481435" y="5187506"/>
            <a:ext cx="16" cy="47625"/>
          </a:xfrm>
          <a:custGeom>
            <a:avLst/>
            <a:gdLst/>
            <a:ahLst/>
            <a:cxnLst/>
            <a:pathLst>
              <a:path w="16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371" name="Other nine"/>
          <p:cNvSpPr>
            <a:spLocks noGrp="1"/>
          </p:cNvSpPr>
          <p:nvPr/>
        </p:nvSpPr>
        <p:spPr>
          <a:xfrm>
            <a:off x="9072653" y="5255031"/>
            <a:ext cx="904875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Other nine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2" name="Figure 5 plot object 371"/>
          <p:cNvSpPr>
            <a:spLocks noGrp="1"/>
          </p:cNvSpPr>
          <p:nvPr/>
        </p:nvSpPr>
        <p:spPr>
          <a:xfrm>
            <a:off x="11726930" y="5187506"/>
            <a:ext cx="16" cy="47625"/>
          </a:xfrm>
          <a:custGeom>
            <a:avLst/>
            <a:gdLst/>
            <a:ahLst/>
            <a:cxnLst/>
            <a:pathLst>
              <a:path w="16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373" name="Dilute three"/>
          <p:cNvSpPr>
            <a:spLocks noGrp="1"/>
          </p:cNvSpPr>
          <p:nvPr/>
        </p:nvSpPr>
        <p:spPr>
          <a:xfrm>
            <a:off x="11277469" y="5255031"/>
            <a:ext cx="986234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Dilute three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4" name="Figure 5 plot object 373"/>
          <p:cNvSpPr>
            <a:spLocks noGrp="1"/>
          </p:cNvSpPr>
          <p:nvPr/>
        </p:nvSpPr>
        <p:spPr>
          <a:xfrm>
            <a:off x="8291322" y="4982180"/>
            <a:ext cx="4625721" cy="16"/>
          </a:xfrm>
          <a:custGeom>
            <a:avLst/>
            <a:gdLst/>
            <a:ahLst/>
            <a:cxnLst/>
            <a:pathLst>
              <a:path w="4625721" h="16">
                <a:moveTo>
                  <a:pt x="0" y="0"/>
                </a:moveTo>
                <a:lnTo>
                  <a:pt x="4625721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375" name="Figure 5 plot object 374"/>
          <p:cNvSpPr>
            <a:spLocks noGrp="1"/>
          </p:cNvSpPr>
          <p:nvPr/>
        </p:nvSpPr>
        <p:spPr>
          <a:xfrm>
            <a:off x="8243697" y="4982180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376" name="0.002"/>
          <p:cNvSpPr>
            <a:spLocks noGrp="1"/>
          </p:cNvSpPr>
          <p:nvPr/>
        </p:nvSpPr>
        <p:spPr>
          <a:xfrm>
            <a:off x="7749588" y="4884022"/>
            <a:ext cx="525859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0.002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7" name="Figure 5 plot object 376"/>
          <p:cNvSpPr>
            <a:spLocks noGrp="1"/>
          </p:cNvSpPr>
          <p:nvPr/>
        </p:nvSpPr>
        <p:spPr>
          <a:xfrm>
            <a:off x="8291322" y="4215070"/>
            <a:ext cx="4625721" cy="16"/>
          </a:xfrm>
          <a:custGeom>
            <a:avLst/>
            <a:gdLst/>
            <a:ahLst/>
            <a:cxnLst/>
            <a:pathLst>
              <a:path w="4625721" h="16">
                <a:moveTo>
                  <a:pt x="0" y="0"/>
                </a:moveTo>
                <a:lnTo>
                  <a:pt x="4625721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378" name="Figure 5 plot object 377"/>
          <p:cNvSpPr>
            <a:spLocks noGrp="1"/>
          </p:cNvSpPr>
          <p:nvPr/>
        </p:nvSpPr>
        <p:spPr>
          <a:xfrm>
            <a:off x="8243697" y="4215070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379" name="0.01"/>
          <p:cNvSpPr>
            <a:spLocks noGrp="1"/>
          </p:cNvSpPr>
          <p:nvPr/>
        </p:nvSpPr>
        <p:spPr>
          <a:xfrm>
            <a:off x="7846822" y="4116912"/>
            <a:ext cx="428625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0.01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0" name="Figure 5 plot object 379"/>
          <p:cNvSpPr>
            <a:spLocks noGrp="1"/>
          </p:cNvSpPr>
          <p:nvPr/>
        </p:nvSpPr>
        <p:spPr>
          <a:xfrm>
            <a:off x="8291322" y="3447959"/>
            <a:ext cx="4625721" cy="16"/>
          </a:xfrm>
          <a:custGeom>
            <a:avLst/>
            <a:gdLst/>
            <a:ahLst/>
            <a:cxnLst/>
            <a:pathLst>
              <a:path w="4625721" h="16">
                <a:moveTo>
                  <a:pt x="0" y="0"/>
                </a:moveTo>
                <a:lnTo>
                  <a:pt x="4625721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381" name="Figure 5 plot object 380"/>
          <p:cNvSpPr>
            <a:spLocks noGrp="1"/>
          </p:cNvSpPr>
          <p:nvPr/>
        </p:nvSpPr>
        <p:spPr>
          <a:xfrm>
            <a:off x="8243697" y="3447959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382" name="0.05"/>
          <p:cNvSpPr>
            <a:spLocks noGrp="1"/>
          </p:cNvSpPr>
          <p:nvPr/>
        </p:nvSpPr>
        <p:spPr>
          <a:xfrm>
            <a:off x="7848806" y="3349801"/>
            <a:ext cx="42664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0.05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3" name="Figure 5 plot object 382"/>
          <p:cNvSpPr>
            <a:spLocks noGrp="1"/>
          </p:cNvSpPr>
          <p:nvPr/>
        </p:nvSpPr>
        <p:spPr>
          <a:xfrm>
            <a:off x="8291322" y="2787206"/>
            <a:ext cx="4625721" cy="16"/>
          </a:xfrm>
          <a:custGeom>
            <a:avLst/>
            <a:gdLst/>
            <a:ahLst/>
            <a:cxnLst/>
            <a:pathLst>
              <a:path w="4625721" h="16">
                <a:moveTo>
                  <a:pt x="0" y="0"/>
                </a:moveTo>
                <a:lnTo>
                  <a:pt x="4625721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384" name="Figure 5 plot object 383"/>
          <p:cNvSpPr>
            <a:spLocks noGrp="1"/>
          </p:cNvSpPr>
          <p:nvPr/>
        </p:nvSpPr>
        <p:spPr>
          <a:xfrm>
            <a:off x="8243697" y="2787206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385" name="0.2"/>
          <p:cNvSpPr>
            <a:spLocks noGrp="1"/>
          </p:cNvSpPr>
          <p:nvPr/>
        </p:nvSpPr>
        <p:spPr>
          <a:xfrm>
            <a:off x="7944056" y="2689048"/>
            <a:ext cx="33139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6" name="Macro MAE (log scale)"/>
          <p:cNvSpPr>
            <a:spLocks noGrp="1"/>
          </p:cNvSpPr>
          <p:nvPr/>
        </p:nvSpPr>
        <p:spPr>
          <a:xfrm rot="-5400000">
            <a:off x="6681451" y="3544935"/>
            <a:ext cx="1853406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Macro MAE (log scale)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7" name="Figure 5 plot object 386"/>
          <p:cNvSpPr>
            <a:spLocks noGrp="1"/>
          </p:cNvSpPr>
          <p:nvPr/>
        </p:nvSpPr>
        <p:spPr>
          <a:xfrm>
            <a:off x="8291322" y="2225421"/>
            <a:ext cx="16" cy="2962085"/>
          </a:xfrm>
          <a:custGeom>
            <a:avLst/>
            <a:gdLst/>
            <a:ahLst/>
            <a:cxnLst/>
            <a:pathLst>
              <a:path w="16" h="2962085">
                <a:moveTo>
                  <a:pt x="0" y="2962085"/>
                </a:moveTo>
                <a:lnTo>
                  <a:pt x="0" y="0"/>
                </a:ln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388" name="Figure 5 plot object 387"/>
          <p:cNvSpPr>
            <a:spLocks noGrp="1"/>
          </p:cNvSpPr>
          <p:nvPr/>
        </p:nvSpPr>
        <p:spPr>
          <a:xfrm>
            <a:off x="8291322" y="5187506"/>
            <a:ext cx="4625721" cy="16"/>
          </a:xfrm>
          <a:custGeom>
            <a:avLst/>
            <a:gdLst/>
            <a:ahLst/>
            <a:cxnLst/>
            <a:pathLst>
              <a:path w="4625721" h="16">
                <a:moveTo>
                  <a:pt x="0" y="0"/>
                </a:moveTo>
                <a:lnTo>
                  <a:pt x="4625721" y="0"/>
                </a:ln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389" name="b"/>
          <p:cNvSpPr>
            <a:spLocks noGrp="1"/>
          </p:cNvSpPr>
          <p:nvPr/>
        </p:nvSpPr>
        <p:spPr>
          <a:xfrm>
            <a:off x="7597464" y="1932294"/>
            <a:ext cx="265906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endParaRPr sz="2000" b="1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0" name="Figure 5 plot object 389"/>
          <p:cNvSpPr>
            <a:spLocks noGrp="1"/>
          </p:cNvSpPr>
          <p:nvPr/>
        </p:nvSpPr>
        <p:spPr>
          <a:xfrm>
            <a:off x="8791987" y="4473720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391" name="Figure 5 plot object 390"/>
          <p:cNvSpPr>
            <a:spLocks noGrp="1"/>
          </p:cNvSpPr>
          <p:nvPr/>
        </p:nvSpPr>
        <p:spPr>
          <a:xfrm>
            <a:off x="8845879" y="4144187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392" name="Figure 5 plot object 391"/>
          <p:cNvSpPr>
            <a:spLocks noGrp="1"/>
          </p:cNvSpPr>
          <p:nvPr/>
        </p:nvSpPr>
        <p:spPr>
          <a:xfrm>
            <a:off x="8899771" y="4176511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393" name="Figure 5 plot object 392"/>
          <p:cNvSpPr>
            <a:spLocks noGrp="1"/>
          </p:cNvSpPr>
          <p:nvPr/>
        </p:nvSpPr>
        <p:spPr>
          <a:xfrm>
            <a:off x="8953663" y="3965644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394" name="Figure 5 plot object 393"/>
          <p:cNvSpPr>
            <a:spLocks noGrp="1"/>
          </p:cNvSpPr>
          <p:nvPr/>
        </p:nvSpPr>
        <p:spPr>
          <a:xfrm>
            <a:off x="9007555" y="4216301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395" name="Figure 5 plot object 394"/>
          <p:cNvSpPr>
            <a:spLocks noGrp="1"/>
          </p:cNvSpPr>
          <p:nvPr/>
        </p:nvSpPr>
        <p:spPr>
          <a:xfrm>
            <a:off x="9330906" y="4500722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396" name="Figure 5 plot object 395"/>
          <p:cNvSpPr>
            <a:spLocks noGrp="1"/>
          </p:cNvSpPr>
          <p:nvPr/>
        </p:nvSpPr>
        <p:spPr>
          <a:xfrm>
            <a:off x="9384798" y="4477982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397" name="Figure 5 plot object 396"/>
          <p:cNvSpPr>
            <a:spLocks noGrp="1"/>
          </p:cNvSpPr>
          <p:nvPr/>
        </p:nvSpPr>
        <p:spPr>
          <a:xfrm>
            <a:off x="9438690" y="4555284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398" name="Figure 5 plot object 397"/>
          <p:cNvSpPr>
            <a:spLocks noGrp="1"/>
          </p:cNvSpPr>
          <p:nvPr/>
        </p:nvSpPr>
        <p:spPr>
          <a:xfrm>
            <a:off x="9492582" y="4539334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399" name="Figure 5 plot object 398"/>
          <p:cNvSpPr>
            <a:spLocks noGrp="1"/>
          </p:cNvSpPr>
          <p:nvPr/>
        </p:nvSpPr>
        <p:spPr>
          <a:xfrm>
            <a:off x="9546474" y="4628305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400" name="Figure 5 plot object 399"/>
          <p:cNvSpPr>
            <a:spLocks noGrp="1"/>
          </p:cNvSpPr>
          <p:nvPr/>
        </p:nvSpPr>
        <p:spPr>
          <a:xfrm>
            <a:off x="9869825" y="4450818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01" name="Figure 5 plot object 400"/>
          <p:cNvSpPr>
            <a:spLocks noGrp="1"/>
          </p:cNvSpPr>
          <p:nvPr/>
        </p:nvSpPr>
        <p:spPr>
          <a:xfrm>
            <a:off x="9923717" y="4402844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02" name="Figure 5 plot object 401"/>
          <p:cNvSpPr>
            <a:spLocks noGrp="1"/>
          </p:cNvSpPr>
          <p:nvPr/>
        </p:nvSpPr>
        <p:spPr>
          <a:xfrm>
            <a:off x="9977609" y="4991870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03" name="Figure 5 plot object 402"/>
          <p:cNvSpPr>
            <a:spLocks noGrp="1"/>
          </p:cNvSpPr>
          <p:nvPr/>
        </p:nvSpPr>
        <p:spPr>
          <a:xfrm>
            <a:off x="10031501" y="4564511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04" name="Figure 5 plot object 403"/>
          <p:cNvSpPr>
            <a:spLocks noGrp="1"/>
          </p:cNvSpPr>
          <p:nvPr/>
        </p:nvSpPr>
        <p:spPr>
          <a:xfrm>
            <a:off x="10085393" y="4606045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05" name="Aligned / Opaque"/>
          <p:cNvSpPr>
            <a:spLocks noGrp="1"/>
          </p:cNvSpPr>
          <p:nvPr/>
        </p:nvSpPr>
        <p:spPr>
          <a:xfrm>
            <a:off x="8868064" y="2266070"/>
            <a:ext cx="13077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Aligned / Opaque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06" name="0.46×"/>
          <p:cNvSpPr>
            <a:spLocks noGrp="1"/>
          </p:cNvSpPr>
          <p:nvPr/>
        </p:nvSpPr>
        <p:spPr>
          <a:xfrm>
            <a:off x="9280604" y="2499339"/>
            <a:ext cx="4822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0.46×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07" name="Figure 5 plot object 406"/>
          <p:cNvSpPr>
            <a:spLocks noGrp="1"/>
          </p:cNvSpPr>
          <p:nvPr/>
        </p:nvSpPr>
        <p:spPr>
          <a:xfrm>
            <a:off x="11037483" y="3519880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408" name="Figure 5 plot object 407"/>
          <p:cNvSpPr>
            <a:spLocks noGrp="1"/>
          </p:cNvSpPr>
          <p:nvPr/>
        </p:nvSpPr>
        <p:spPr>
          <a:xfrm>
            <a:off x="11091375" y="4006012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409" name="Figure 5 plot object 408"/>
          <p:cNvSpPr>
            <a:spLocks noGrp="1"/>
          </p:cNvSpPr>
          <p:nvPr/>
        </p:nvSpPr>
        <p:spPr>
          <a:xfrm>
            <a:off x="11145267" y="4088124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410" name="Figure 5 plot object 409"/>
          <p:cNvSpPr>
            <a:spLocks noGrp="1"/>
          </p:cNvSpPr>
          <p:nvPr/>
        </p:nvSpPr>
        <p:spPr>
          <a:xfrm>
            <a:off x="11199159" y="4140759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411" name="Figure 5 plot object 410"/>
          <p:cNvSpPr>
            <a:spLocks noGrp="1"/>
          </p:cNvSpPr>
          <p:nvPr/>
        </p:nvSpPr>
        <p:spPr>
          <a:xfrm>
            <a:off x="11253050" y="3961623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637482"/>
            </a:solidFill>
            <a:prstDash val="solid"/>
          </a:ln>
        </p:spPr>
      </p:sp>
      <p:sp>
        <p:nvSpPr>
          <p:cNvPr id="412" name="Figure 5 plot object 411"/>
          <p:cNvSpPr>
            <a:spLocks noGrp="1"/>
          </p:cNvSpPr>
          <p:nvPr/>
        </p:nvSpPr>
        <p:spPr>
          <a:xfrm>
            <a:off x="11576402" y="2770087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413" name="Figure 5 plot object 412"/>
          <p:cNvSpPr>
            <a:spLocks noGrp="1"/>
          </p:cNvSpPr>
          <p:nvPr/>
        </p:nvSpPr>
        <p:spPr>
          <a:xfrm>
            <a:off x="11630294" y="2787627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414" name="Figure 5 plot object 413"/>
          <p:cNvSpPr>
            <a:spLocks noGrp="1"/>
          </p:cNvSpPr>
          <p:nvPr/>
        </p:nvSpPr>
        <p:spPr>
          <a:xfrm>
            <a:off x="11684186" y="2882984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415" name="Figure 5 plot object 414"/>
          <p:cNvSpPr>
            <a:spLocks noGrp="1"/>
          </p:cNvSpPr>
          <p:nvPr/>
        </p:nvSpPr>
        <p:spPr>
          <a:xfrm>
            <a:off x="11738077" y="2910073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416" name="Figure 5 plot object 415"/>
          <p:cNvSpPr>
            <a:spLocks noGrp="1"/>
          </p:cNvSpPr>
          <p:nvPr/>
        </p:nvSpPr>
        <p:spPr>
          <a:xfrm>
            <a:off x="11791969" y="2949595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277F8A"/>
            </a:solidFill>
            <a:prstDash val="solid"/>
          </a:ln>
        </p:spPr>
      </p:sp>
      <p:sp>
        <p:nvSpPr>
          <p:cNvPr id="417" name="Figure 5 plot object 416"/>
          <p:cNvSpPr>
            <a:spLocks noGrp="1"/>
          </p:cNvSpPr>
          <p:nvPr/>
        </p:nvSpPr>
        <p:spPr>
          <a:xfrm>
            <a:off x="12115321" y="2769956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18" name="Figure 5 plot object 417"/>
          <p:cNvSpPr>
            <a:spLocks noGrp="1"/>
          </p:cNvSpPr>
          <p:nvPr/>
        </p:nvSpPr>
        <p:spPr>
          <a:xfrm>
            <a:off x="12169213" y="2773433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19" name="Figure 5 plot object 418"/>
          <p:cNvSpPr>
            <a:spLocks noGrp="1"/>
          </p:cNvSpPr>
          <p:nvPr/>
        </p:nvSpPr>
        <p:spPr>
          <a:xfrm>
            <a:off x="12223105" y="3226271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20" name="Figure 5 plot object 419"/>
          <p:cNvSpPr>
            <a:spLocks noGrp="1"/>
          </p:cNvSpPr>
          <p:nvPr/>
        </p:nvSpPr>
        <p:spPr>
          <a:xfrm>
            <a:off x="12276996" y="2910785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21" name="Figure 5 plot object 420"/>
          <p:cNvSpPr>
            <a:spLocks noGrp="1"/>
          </p:cNvSpPr>
          <p:nvPr/>
        </p:nvSpPr>
        <p:spPr>
          <a:xfrm>
            <a:off x="12330888" y="2956486"/>
            <a:ext cx="85489" cy="85489"/>
          </a:xfrm>
          <a:custGeom>
            <a:avLst/>
            <a:gdLst/>
            <a:ahLst/>
            <a:cxnLst/>
            <a:pathLst>
              <a:path w="85489" h="85489">
                <a:moveTo>
                  <a:pt x="42745" y="85489"/>
                </a:moveTo>
                <a:cubicBezTo>
                  <a:pt x="54081" y="85489"/>
                  <a:pt x="64954" y="80986"/>
                  <a:pt x="72970" y="72970"/>
                </a:cubicBezTo>
                <a:cubicBezTo>
                  <a:pt x="80986" y="64954"/>
                  <a:pt x="85489" y="54081"/>
                  <a:pt x="85489" y="42745"/>
                </a:cubicBezTo>
                <a:cubicBezTo>
                  <a:pt x="85489" y="31409"/>
                  <a:pt x="80986" y="20535"/>
                  <a:pt x="72970" y="12520"/>
                </a:cubicBezTo>
                <a:cubicBezTo>
                  <a:pt x="64954" y="4504"/>
                  <a:pt x="54081" y="0"/>
                  <a:pt x="42745" y="0"/>
                </a:cubicBezTo>
                <a:cubicBezTo>
                  <a:pt x="31409" y="0"/>
                  <a:pt x="20535" y="4504"/>
                  <a:pt x="12520" y="12520"/>
                </a:cubicBezTo>
                <a:cubicBezTo>
                  <a:pt x="4504" y="20535"/>
                  <a:pt x="0" y="31409"/>
                  <a:pt x="0" y="42745"/>
                </a:cubicBezTo>
                <a:cubicBezTo>
                  <a:pt x="0" y="54081"/>
                  <a:pt x="4504" y="64954"/>
                  <a:pt x="12520" y="72970"/>
                </a:cubicBezTo>
                <a:cubicBezTo>
                  <a:pt x="20535" y="80986"/>
                  <a:pt x="31409" y="85489"/>
                  <a:pt x="42745" y="85489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BC7850"/>
            </a:solidFill>
            <a:prstDash val="solid"/>
          </a:ln>
        </p:spPr>
      </p:sp>
      <p:sp>
        <p:nvSpPr>
          <p:cNvPr id="422" name="Aligned / Opaque"/>
          <p:cNvSpPr>
            <a:spLocks noGrp="1"/>
          </p:cNvSpPr>
          <p:nvPr/>
        </p:nvSpPr>
        <p:spPr>
          <a:xfrm>
            <a:off x="11113560" y="2266070"/>
            <a:ext cx="13077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Aligned / Opaque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3" name="8.65×"/>
          <p:cNvSpPr>
            <a:spLocks noGrp="1"/>
          </p:cNvSpPr>
          <p:nvPr/>
        </p:nvSpPr>
        <p:spPr>
          <a:xfrm>
            <a:off x="11526099" y="2499339"/>
            <a:ext cx="48220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8.65×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4" name="Figure 5 plot object 423"/>
          <p:cNvSpPr>
            <a:spLocks noGrp="1"/>
          </p:cNvSpPr>
          <p:nvPr/>
        </p:nvSpPr>
        <p:spPr>
          <a:xfrm>
            <a:off x="8751649" y="4211449"/>
            <a:ext cx="381734" cy="16"/>
          </a:xfrm>
          <a:custGeom>
            <a:avLst/>
            <a:gdLst/>
            <a:ahLst/>
            <a:cxnLst/>
            <a:pathLst>
              <a:path w="381734" h="16">
                <a:moveTo>
                  <a:pt x="0" y="0"/>
                </a:moveTo>
                <a:lnTo>
                  <a:pt x="381734" y="0"/>
                </a:lnTo>
              </a:path>
            </a:pathLst>
          </a:custGeom>
          <a:noFill/>
          <a:ln w="42863">
            <a:solidFill>
              <a:srgbClr val="637482"/>
            </a:solidFill>
            <a:prstDash val="solid"/>
          </a:ln>
        </p:spPr>
      </p:sp>
      <p:sp>
        <p:nvSpPr>
          <p:cNvPr id="425" name="Figure 5 plot object 424"/>
          <p:cNvSpPr>
            <a:spLocks noGrp="1"/>
          </p:cNvSpPr>
          <p:nvPr/>
        </p:nvSpPr>
        <p:spPr>
          <a:xfrm>
            <a:off x="9290568" y="4580313"/>
            <a:ext cx="381734" cy="16"/>
          </a:xfrm>
          <a:custGeom>
            <a:avLst/>
            <a:gdLst/>
            <a:ahLst/>
            <a:cxnLst/>
            <a:pathLst>
              <a:path w="381734" h="16">
                <a:moveTo>
                  <a:pt x="0" y="0"/>
                </a:moveTo>
                <a:lnTo>
                  <a:pt x="381734" y="0"/>
                </a:lnTo>
              </a:path>
            </a:pathLst>
          </a:custGeom>
          <a:noFill/>
          <a:ln w="42863">
            <a:solidFill>
              <a:srgbClr val="277F8A"/>
            </a:solidFill>
            <a:prstDash val="solid"/>
          </a:ln>
        </p:spPr>
      </p:sp>
      <p:sp>
        <p:nvSpPr>
          <p:cNvPr id="426" name="Figure 5 plot object 425"/>
          <p:cNvSpPr>
            <a:spLocks noGrp="1"/>
          </p:cNvSpPr>
          <p:nvPr/>
        </p:nvSpPr>
        <p:spPr>
          <a:xfrm>
            <a:off x="9829487" y="4607477"/>
            <a:ext cx="381734" cy="16"/>
          </a:xfrm>
          <a:custGeom>
            <a:avLst/>
            <a:gdLst/>
            <a:ahLst/>
            <a:cxnLst/>
            <a:pathLst>
              <a:path w="381734" h="16">
                <a:moveTo>
                  <a:pt x="0" y="0"/>
                </a:moveTo>
                <a:lnTo>
                  <a:pt x="381734" y="0"/>
                </a:lnTo>
              </a:path>
            </a:pathLst>
          </a:custGeom>
          <a:noFill/>
          <a:ln w="42863">
            <a:solidFill>
              <a:srgbClr val="BC7850"/>
            </a:solidFill>
            <a:prstDash val="solid"/>
          </a:ln>
        </p:spPr>
      </p:sp>
      <p:sp>
        <p:nvSpPr>
          <p:cNvPr id="427" name="Figure 5 plot object 426"/>
          <p:cNvSpPr>
            <a:spLocks noGrp="1"/>
          </p:cNvSpPr>
          <p:nvPr/>
        </p:nvSpPr>
        <p:spPr>
          <a:xfrm>
            <a:off x="10997144" y="3926198"/>
            <a:ext cx="381734" cy="16"/>
          </a:xfrm>
          <a:custGeom>
            <a:avLst/>
            <a:gdLst/>
            <a:ahLst/>
            <a:cxnLst/>
            <a:pathLst>
              <a:path w="381734" h="16">
                <a:moveTo>
                  <a:pt x="0" y="0"/>
                </a:moveTo>
                <a:lnTo>
                  <a:pt x="381734" y="0"/>
                </a:lnTo>
              </a:path>
            </a:pathLst>
          </a:custGeom>
          <a:noFill/>
          <a:ln w="42863">
            <a:solidFill>
              <a:srgbClr val="637482"/>
            </a:solidFill>
            <a:prstDash val="solid"/>
          </a:ln>
        </p:spPr>
      </p:sp>
      <p:sp>
        <p:nvSpPr>
          <p:cNvPr id="428" name="Figure 5 plot object 427"/>
          <p:cNvSpPr>
            <a:spLocks noGrp="1"/>
          </p:cNvSpPr>
          <p:nvPr/>
        </p:nvSpPr>
        <p:spPr>
          <a:xfrm>
            <a:off x="11536063" y="2897680"/>
            <a:ext cx="381734" cy="16"/>
          </a:xfrm>
          <a:custGeom>
            <a:avLst/>
            <a:gdLst/>
            <a:ahLst/>
            <a:cxnLst/>
            <a:pathLst>
              <a:path w="381734" h="16">
                <a:moveTo>
                  <a:pt x="0" y="0"/>
                </a:moveTo>
                <a:lnTo>
                  <a:pt x="381734" y="0"/>
                </a:lnTo>
              </a:path>
            </a:pathLst>
          </a:custGeom>
          <a:noFill/>
          <a:ln w="42863">
            <a:solidFill>
              <a:srgbClr val="277F8A"/>
            </a:solidFill>
            <a:prstDash val="solid"/>
          </a:ln>
        </p:spPr>
      </p:sp>
      <p:sp>
        <p:nvSpPr>
          <p:cNvPr id="429" name="Figure 5 plot object 428"/>
          <p:cNvSpPr>
            <a:spLocks noGrp="1"/>
          </p:cNvSpPr>
          <p:nvPr/>
        </p:nvSpPr>
        <p:spPr>
          <a:xfrm>
            <a:off x="12074982" y="2943888"/>
            <a:ext cx="381734" cy="16"/>
          </a:xfrm>
          <a:custGeom>
            <a:avLst/>
            <a:gdLst/>
            <a:ahLst/>
            <a:cxnLst/>
            <a:pathLst>
              <a:path w="381734" h="16">
                <a:moveTo>
                  <a:pt x="0" y="0"/>
                </a:moveTo>
                <a:lnTo>
                  <a:pt x="381734" y="0"/>
                </a:lnTo>
              </a:path>
            </a:pathLst>
          </a:custGeom>
          <a:noFill/>
          <a:ln w="42863">
            <a:solidFill>
              <a:srgbClr val="BC7850"/>
            </a:solidFill>
            <a:prstDash val="solid"/>
          </a:ln>
        </p:spPr>
      </p:sp>
      <p:sp>
        <p:nvSpPr>
          <p:cNvPr id="430" name="Figure 5 plot object 429"/>
          <p:cNvSpPr>
            <a:spLocks noGrp="1"/>
          </p:cNvSpPr>
          <p:nvPr/>
        </p:nvSpPr>
        <p:spPr>
          <a:xfrm>
            <a:off x="1320165" y="6445377"/>
            <a:ext cx="11596878" cy="2556320"/>
          </a:xfrm>
          <a:custGeom>
            <a:avLst/>
            <a:gdLst/>
            <a:ahLst/>
            <a:cxnLst/>
            <a:pathLst>
              <a:path w="11596878" h="2556320">
                <a:moveTo>
                  <a:pt x="0" y="2556320"/>
                </a:moveTo>
                <a:lnTo>
                  <a:pt x="11596878" y="2556320"/>
                </a:lnTo>
                <a:lnTo>
                  <a:pt x="115968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noFill/>
            <a:prstDash val="solid"/>
          </a:ln>
        </p:spPr>
      </p:sp>
      <p:sp>
        <p:nvSpPr>
          <p:cNvPr id="431" name="Figure 5 plot object 430"/>
          <p:cNvSpPr>
            <a:spLocks noGrp="1"/>
          </p:cNvSpPr>
          <p:nvPr/>
        </p:nvSpPr>
        <p:spPr>
          <a:xfrm>
            <a:off x="1320165" y="8730029"/>
            <a:ext cx="11596878" cy="110327"/>
          </a:xfrm>
          <a:custGeom>
            <a:avLst/>
            <a:gdLst/>
            <a:ahLst/>
            <a:cxnLst/>
            <a:pathLst>
              <a:path w="11596878" h="110327">
                <a:moveTo>
                  <a:pt x="0" y="110327"/>
                </a:moveTo>
                <a:lnTo>
                  <a:pt x="11596878" y="110327"/>
                </a:lnTo>
                <a:lnTo>
                  <a:pt x="115968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EDEF"/>
          </a:solidFill>
          <a:ln w="15875">
            <a:solidFill>
              <a:srgbClr val="E9EDEF"/>
            </a:solidFill>
            <a:prstDash val="solid"/>
          </a:ln>
        </p:spPr>
      </p:sp>
      <p:sp>
        <p:nvSpPr>
          <p:cNvPr id="432" name="World 1"/>
          <p:cNvSpPr>
            <a:spLocks noGrp="1"/>
          </p:cNvSpPr>
          <p:nvPr/>
        </p:nvSpPr>
        <p:spPr>
          <a:xfrm>
            <a:off x="2195734" y="9093035"/>
            <a:ext cx="686594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World 1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3" name="World 2"/>
          <p:cNvSpPr>
            <a:spLocks noGrp="1"/>
          </p:cNvSpPr>
          <p:nvPr/>
        </p:nvSpPr>
        <p:spPr>
          <a:xfrm>
            <a:off x="4413110" y="9093035"/>
            <a:ext cx="686594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World 2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4" name="World 3"/>
          <p:cNvSpPr>
            <a:spLocks noGrp="1"/>
          </p:cNvSpPr>
          <p:nvPr/>
        </p:nvSpPr>
        <p:spPr>
          <a:xfrm>
            <a:off x="6630486" y="9093035"/>
            <a:ext cx="686594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World 3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5" name="World 4"/>
          <p:cNvSpPr>
            <a:spLocks noGrp="1"/>
          </p:cNvSpPr>
          <p:nvPr/>
        </p:nvSpPr>
        <p:spPr>
          <a:xfrm>
            <a:off x="8846870" y="9093035"/>
            <a:ext cx="688578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World 4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6" name="World 5"/>
          <p:cNvSpPr>
            <a:spLocks noGrp="1"/>
          </p:cNvSpPr>
          <p:nvPr/>
        </p:nvSpPr>
        <p:spPr>
          <a:xfrm>
            <a:off x="11066231" y="9093035"/>
            <a:ext cx="684609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World 5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7" name="Figure 5 plot object 436"/>
          <p:cNvSpPr>
            <a:spLocks noGrp="1"/>
          </p:cNvSpPr>
          <p:nvPr/>
        </p:nvSpPr>
        <p:spPr>
          <a:xfrm>
            <a:off x="1320165" y="9001696"/>
            <a:ext cx="11596878" cy="16"/>
          </a:xfrm>
          <a:custGeom>
            <a:avLst/>
            <a:gdLst/>
            <a:ahLst/>
            <a:cxnLst/>
            <a:pathLst>
              <a:path w="11596878" h="16">
                <a:moveTo>
                  <a:pt x="0" y="0"/>
                </a:moveTo>
                <a:lnTo>
                  <a:pt x="11596878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438" name="Figure 5 plot object 437"/>
          <p:cNvSpPr>
            <a:spLocks noGrp="1"/>
          </p:cNvSpPr>
          <p:nvPr/>
        </p:nvSpPr>
        <p:spPr>
          <a:xfrm>
            <a:off x="1272540" y="9001696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439" name="0"/>
          <p:cNvSpPr>
            <a:spLocks noGrp="1"/>
          </p:cNvSpPr>
          <p:nvPr/>
        </p:nvSpPr>
        <p:spPr>
          <a:xfrm>
            <a:off x="1119743" y="8903538"/>
            <a:ext cx="184547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40" name="Figure 5 plot object 439"/>
          <p:cNvSpPr>
            <a:spLocks noGrp="1"/>
          </p:cNvSpPr>
          <p:nvPr/>
        </p:nvSpPr>
        <p:spPr>
          <a:xfrm>
            <a:off x="1320165" y="8414037"/>
            <a:ext cx="11596878" cy="16"/>
          </a:xfrm>
          <a:custGeom>
            <a:avLst/>
            <a:gdLst/>
            <a:ahLst/>
            <a:cxnLst/>
            <a:pathLst>
              <a:path w="11596878" h="16">
                <a:moveTo>
                  <a:pt x="0" y="0"/>
                </a:moveTo>
                <a:lnTo>
                  <a:pt x="11596878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441" name="Figure 5 plot object 440"/>
          <p:cNvSpPr>
            <a:spLocks noGrp="1"/>
          </p:cNvSpPr>
          <p:nvPr/>
        </p:nvSpPr>
        <p:spPr>
          <a:xfrm>
            <a:off x="1272540" y="8414037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442" name="20"/>
          <p:cNvSpPr>
            <a:spLocks noGrp="1"/>
          </p:cNvSpPr>
          <p:nvPr/>
        </p:nvSpPr>
        <p:spPr>
          <a:xfrm>
            <a:off x="1022509" y="8315878"/>
            <a:ext cx="28178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43" name="Figure 5 plot object 442"/>
          <p:cNvSpPr>
            <a:spLocks noGrp="1"/>
          </p:cNvSpPr>
          <p:nvPr/>
        </p:nvSpPr>
        <p:spPr>
          <a:xfrm>
            <a:off x="1320165" y="7826377"/>
            <a:ext cx="11596878" cy="16"/>
          </a:xfrm>
          <a:custGeom>
            <a:avLst/>
            <a:gdLst/>
            <a:ahLst/>
            <a:cxnLst/>
            <a:pathLst>
              <a:path w="11596878" h="16">
                <a:moveTo>
                  <a:pt x="0" y="0"/>
                </a:moveTo>
                <a:lnTo>
                  <a:pt x="11596878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444" name="Figure 5 plot object 443"/>
          <p:cNvSpPr>
            <a:spLocks noGrp="1"/>
          </p:cNvSpPr>
          <p:nvPr/>
        </p:nvSpPr>
        <p:spPr>
          <a:xfrm>
            <a:off x="1272540" y="7826377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445" name="40"/>
          <p:cNvSpPr>
            <a:spLocks noGrp="1"/>
          </p:cNvSpPr>
          <p:nvPr/>
        </p:nvSpPr>
        <p:spPr>
          <a:xfrm>
            <a:off x="1020524" y="7728219"/>
            <a:ext cx="283766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46" name="Figure 5 plot object 445"/>
          <p:cNvSpPr>
            <a:spLocks noGrp="1"/>
          </p:cNvSpPr>
          <p:nvPr/>
        </p:nvSpPr>
        <p:spPr>
          <a:xfrm>
            <a:off x="1320165" y="7238718"/>
            <a:ext cx="11596878" cy="16"/>
          </a:xfrm>
          <a:custGeom>
            <a:avLst/>
            <a:gdLst/>
            <a:ahLst/>
            <a:cxnLst/>
            <a:pathLst>
              <a:path w="11596878" h="16">
                <a:moveTo>
                  <a:pt x="0" y="0"/>
                </a:moveTo>
                <a:lnTo>
                  <a:pt x="11596878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447" name="Figure 5 plot object 446"/>
          <p:cNvSpPr>
            <a:spLocks noGrp="1"/>
          </p:cNvSpPr>
          <p:nvPr/>
        </p:nvSpPr>
        <p:spPr>
          <a:xfrm>
            <a:off x="1272540" y="7238718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448" name="60"/>
          <p:cNvSpPr>
            <a:spLocks noGrp="1"/>
          </p:cNvSpPr>
          <p:nvPr/>
        </p:nvSpPr>
        <p:spPr>
          <a:xfrm>
            <a:off x="1022509" y="7140559"/>
            <a:ext cx="28178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49" name="Figure 5 plot object 448"/>
          <p:cNvSpPr>
            <a:spLocks noGrp="1"/>
          </p:cNvSpPr>
          <p:nvPr/>
        </p:nvSpPr>
        <p:spPr>
          <a:xfrm>
            <a:off x="1320165" y="6651058"/>
            <a:ext cx="11596878" cy="16"/>
          </a:xfrm>
          <a:custGeom>
            <a:avLst/>
            <a:gdLst/>
            <a:ahLst/>
            <a:cxnLst/>
            <a:pathLst>
              <a:path w="11596878" h="16">
                <a:moveTo>
                  <a:pt x="0" y="0"/>
                </a:moveTo>
                <a:lnTo>
                  <a:pt x="11596878" y="0"/>
                </a:lnTo>
              </a:path>
            </a:pathLst>
          </a:cu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450" name="Figure 5 plot object 449"/>
          <p:cNvSpPr>
            <a:spLocks noGrp="1"/>
          </p:cNvSpPr>
          <p:nvPr/>
        </p:nvSpPr>
        <p:spPr>
          <a:xfrm>
            <a:off x="1272540" y="6651058"/>
            <a:ext cx="47625" cy="16"/>
          </a:xfrm>
          <a:custGeom>
            <a:avLst/>
            <a:gdLst/>
            <a:ahLst/>
            <a:cxnLst/>
            <a:pathLst>
              <a:path w="47625" h="16">
                <a:moveTo>
                  <a:pt x="47625" y="0"/>
                </a:moveTo>
                <a:lnTo>
                  <a:pt x="0" y="0"/>
                </a:lnTo>
              </a:path>
            </a:pathLst>
          </a:custGeom>
          <a:solidFill>
            <a:srgbClr val="202326"/>
          </a:solidFill>
          <a:ln w="11113">
            <a:solidFill>
              <a:srgbClr val="202326"/>
            </a:solidFill>
            <a:prstDash val="solid"/>
          </a:ln>
        </p:spPr>
      </p:sp>
      <p:sp>
        <p:nvSpPr>
          <p:cNvPr id="451" name="80"/>
          <p:cNvSpPr>
            <a:spLocks noGrp="1"/>
          </p:cNvSpPr>
          <p:nvPr/>
        </p:nvSpPr>
        <p:spPr>
          <a:xfrm>
            <a:off x="1020524" y="6552900"/>
            <a:ext cx="283766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2" name="Dissociation (%)"/>
          <p:cNvSpPr>
            <a:spLocks noGrp="1"/>
          </p:cNvSpPr>
          <p:nvPr/>
        </p:nvSpPr>
        <p:spPr>
          <a:xfrm rot="-5400000">
            <a:off x="206030" y="7562009"/>
            <a:ext cx="1347391" cy="235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Dissociation (%)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3" name="Figure 5 plot object 452"/>
          <p:cNvSpPr>
            <a:spLocks noGrp="1"/>
          </p:cNvSpPr>
          <p:nvPr/>
        </p:nvSpPr>
        <p:spPr>
          <a:xfrm>
            <a:off x="1320165" y="6445377"/>
            <a:ext cx="16" cy="2556320"/>
          </a:xfrm>
          <a:custGeom>
            <a:avLst/>
            <a:gdLst/>
            <a:ahLst/>
            <a:cxnLst/>
            <a:pathLst>
              <a:path w="16" h="2556320">
                <a:moveTo>
                  <a:pt x="0" y="2556320"/>
                </a:moveTo>
                <a:lnTo>
                  <a:pt x="0" y="0"/>
                </a:ln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454" name="Figure 5 plot object 453"/>
          <p:cNvSpPr>
            <a:spLocks noGrp="1"/>
          </p:cNvSpPr>
          <p:nvPr/>
        </p:nvSpPr>
        <p:spPr>
          <a:xfrm>
            <a:off x="1320165" y="9001696"/>
            <a:ext cx="11596878" cy="16"/>
          </a:xfrm>
          <a:custGeom>
            <a:avLst/>
            <a:gdLst/>
            <a:ahLst/>
            <a:cxnLst/>
            <a:pathLst>
              <a:path w="11596878" h="16">
                <a:moveTo>
                  <a:pt x="0" y="0"/>
                </a:moveTo>
                <a:lnTo>
                  <a:pt x="11596878" y="0"/>
                </a:lnTo>
              </a:path>
            </a:pathLst>
          </a:custGeom>
          <a:noFill/>
          <a:ln w="11113">
            <a:solidFill>
              <a:srgbClr val="8C969C"/>
            </a:solidFill>
            <a:prstDash val="solid"/>
          </a:ln>
        </p:spPr>
      </p:sp>
      <p:sp>
        <p:nvSpPr>
          <p:cNvPr id="455" name="c"/>
          <p:cNvSpPr>
            <a:spLocks noGrp="1"/>
          </p:cNvSpPr>
          <p:nvPr/>
        </p:nvSpPr>
        <p:spPr>
          <a:xfrm>
            <a:off x="693934" y="6162394"/>
            <a:ext cx="252016" cy="3214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2000" b="1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6" name="Figure 5 plot object 455"/>
          <p:cNvSpPr>
            <a:spLocks noGrp="1"/>
          </p:cNvSpPr>
          <p:nvPr/>
        </p:nvSpPr>
        <p:spPr>
          <a:xfrm>
            <a:off x="1701554" y="6897775"/>
            <a:ext cx="376954" cy="2103921"/>
          </a:xfrm>
          <a:custGeom>
            <a:avLst/>
            <a:gdLst/>
            <a:ahLst/>
            <a:cxnLst/>
            <a:pathLst>
              <a:path w="376954" h="2103921">
                <a:moveTo>
                  <a:pt x="0" y="2103921"/>
                </a:moveTo>
                <a:lnTo>
                  <a:pt x="376954" y="2103921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8CD"/>
          </a:solidFill>
          <a:ln w="15875">
            <a:noFill/>
            <a:prstDash val="solid"/>
          </a:ln>
        </p:spPr>
      </p:sp>
      <p:sp>
        <p:nvSpPr>
          <p:cNvPr id="457" name="Figure 5 plot object 456"/>
          <p:cNvSpPr>
            <a:spLocks noGrp="1"/>
          </p:cNvSpPr>
          <p:nvPr/>
        </p:nvSpPr>
        <p:spPr>
          <a:xfrm>
            <a:off x="3918930" y="7078194"/>
            <a:ext cx="376954" cy="1923502"/>
          </a:xfrm>
          <a:custGeom>
            <a:avLst/>
            <a:gdLst/>
            <a:ahLst/>
            <a:cxnLst/>
            <a:pathLst>
              <a:path w="376954" h="1923502">
                <a:moveTo>
                  <a:pt x="0" y="1923502"/>
                </a:moveTo>
                <a:lnTo>
                  <a:pt x="376954" y="1923502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8CD"/>
          </a:solidFill>
          <a:ln w="15875">
            <a:noFill/>
            <a:prstDash val="solid"/>
          </a:ln>
        </p:spPr>
      </p:sp>
      <p:sp>
        <p:nvSpPr>
          <p:cNvPr id="458" name="Figure 5 plot object 457"/>
          <p:cNvSpPr>
            <a:spLocks noGrp="1"/>
          </p:cNvSpPr>
          <p:nvPr/>
        </p:nvSpPr>
        <p:spPr>
          <a:xfrm>
            <a:off x="6136306" y="7298424"/>
            <a:ext cx="376954" cy="1703272"/>
          </a:xfrm>
          <a:custGeom>
            <a:avLst/>
            <a:gdLst/>
            <a:ahLst/>
            <a:cxnLst/>
            <a:pathLst>
              <a:path w="376954" h="1703272">
                <a:moveTo>
                  <a:pt x="0" y="1703272"/>
                </a:moveTo>
                <a:lnTo>
                  <a:pt x="376954" y="1703272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8CD"/>
          </a:solidFill>
          <a:ln w="15875">
            <a:noFill/>
            <a:prstDash val="solid"/>
          </a:ln>
        </p:spPr>
      </p:sp>
      <p:sp>
        <p:nvSpPr>
          <p:cNvPr id="459" name="Figure 5 plot object 458"/>
          <p:cNvSpPr>
            <a:spLocks noGrp="1"/>
          </p:cNvSpPr>
          <p:nvPr/>
        </p:nvSpPr>
        <p:spPr>
          <a:xfrm>
            <a:off x="8353683" y="7481694"/>
            <a:ext cx="376954" cy="1520003"/>
          </a:xfrm>
          <a:custGeom>
            <a:avLst/>
            <a:gdLst/>
            <a:ahLst/>
            <a:cxnLst/>
            <a:pathLst>
              <a:path w="376954" h="1520003">
                <a:moveTo>
                  <a:pt x="0" y="1520003"/>
                </a:moveTo>
                <a:lnTo>
                  <a:pt x="376954" y="1520003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8CD"/>
          </a:solidFill>
          <a:ln w="15875">
            <a:noFill/>
            <a:prstDash val="solid"/>
          </a:ln>
        </p:spPr>
      </p:sp>
      <p:sp>
        <p:nvSpPr>
          <p:cNvPr id="460" name="Figure 5 plot object 459"/>
          <p:cNvSpPr>
            <a:spLocks noGrp="1"/>
          </p:cNvSpPr>
          <p:nvPr/>
        </p:nvSpPr>
        <p:spPr>
          <a:xfrm>
            <a:off x="10571059" y="7685439"/>
            <a:ext cx="376954" cy="1316257"/>
          </a:xfrm>
          <a:custGeom>
            <a:avLst/>
            <a:gdLst/>
            <a:ahLst/>
            <a:cxnLst/>
            <a:pathLst>
              <a:path w="376954" h="1316257">
                <a:moveTo>
                  <a:pt x="0" y="1316257"/>
                </a:moveTo>
                <a:lnTo>
                  <a:pt x="376954" y="1316257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C8CD"/>
          </a:solidFill>
          <a:ln w="15875">
            <a:noFill/>
            <a:prstDash val="solid"/>
          </a:ln>
        </p:spPr>
      </p:sp>
      <p:sp>
        <p:nvSpPr>
          <p:cNvPr id="461" name="71.6"/>
          <p:cNvSpPr>
            <a:spLocks noGrp="1"/>
          </p:cNvSpPr>
          <p:nvPr/>
        </p:nvSpPr>
        <p:spPr>
          <a:xfrm>
            <a:off x="1743187" y="6681429"/>
            <a:ext cx="369094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71.6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2" name="65.5"/>
          <p:cNvSpPr>
            <a:spLocks noGrp="1"/>
          </p:cNvSpPr>
          <p:nvPr/>
        </p:nvSpPr>
        <p:spPr>
          <a:xfrm>
            <a:off x="3961555" y="6861848"/>
            <a:ext cx="367109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65.5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3" name="58.0"/>
          <p:cNvSpPr>
            <a:spLocks noGrp="1"/>
          </p:cNvSpPr>
          <p:nvPr/>
        </p:nvSpPr>
        <p:spPr>
          <a:xfrm>
            <a:off x="6177940" y="7082078"/>
            <a:ext cx="369094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58.0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4" name="51.7"/>
          <p:cNvSpPr>
            <a:spLocks noGrp="1"/>
          </p:cNvSpPr>
          <p:nvPr/>
        </p:nvSpPr>
        <p:spPr>
          <a:xfrm>
            <a:off x="8395316" y="7265348"/>
            <a:ext cx="369094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51.7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5" name="44.8"/>
          <p:cNvSpPr>
            <a:spLocks noGrp="1"/>
          </p:cNvSpPr>
          <p:nvPr/>
        </p:nvSpPr>
        <p:spPr>
          <a:xfrm>
            <a:off x="10613684" y="7469093"/>
            <a:ext cx="367109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44.8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6" name="Figure 5 plot object 465"/>
          <p:cNvSpPr>
            <a:spLocks noGrp="1"/>
          </p:cNvSpPr>
          <p:nvPr/>
        </p:nvSpPr>
        <p:spPr>
          <a:xfrm>
            <a:off x="2105116" y="6947826"/>
            <a:ext cx="376954" cy="2053870"/>
          </a:xfrm>
          <a:custGeom>
            <a:avLst/>
            <a:gdLst/>
            <a:ahLst/>
            <a:cxnLst/>
            <a:pathLst>
              <a:path w="376954" h="2053870">
                <a:moveTo>
                  <a:pt x="0" y="2053870"/>
                </a:moveTo>
                <a:lnTo>
                  <a:pt x="376954" y="2053870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5875">
            <a:noFill/>
            <a:prstDash val="solid"/>
          </a:ln>
        </p:spPr>
      </p:sp>
      <p:sp>
        <p:nvSpPr>
          <p:cNvPr id="467" name="Figure 5 plot object 466"/>
          <p:cNvSpPr>
            <a:spLocks noGrp="1"/>
          </p:cNvSpPr>
          <p:nvPr/>
        </p:nvSpPr>
        <p:spPr>
          <a:xfrm>
            <a:off x="4322492" y="7153507"/>
            <a:ext cx="376954" cy="1848190"/>
          </a:xfrm>
          <a:custGeom>
            <a:avLst/>
            <a:gdLst/>
            <a:ahLst/>
            <a:cxnLst/>
            <a:pathLst>
              <a:path w="376954" h="1848190">
                <a:moveTo>
                  <a:pt x="0" y="1848190"/>
                </a:moveTo>
                <a:lnTo>
                  <a:pt x="376954" y="1848190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5875">
            <a:noFill/>
            <a:prstDash val="solid"/>
          </a:ln>
        </p:spPr>
      </p:sp>
      <p:sp>
        <p:nvSpPr>
          <p:cNvPr id="468" name="Figure 5 plot object 467"/>
          <p:cNvSpPr>
            <a:spLocks noGrp="1"/>
          </p:cNvSpPr>
          <p:nvPr/>
        </p:nvSpPr>
        <p:spPr>
          <a:xfrm>
            <a:off x="6539869" y="7347435"/>
            <a:ext cx="376954" cy="1654262"/>
          </a:xfrm>
          <a:custGeom>
            <a:avLst/>
            <a:gdLst/>
            <a:ahLst/>
            <a:cxnLst/>
            <a:pathLst>
              <a:path w="376954" h="1654262">
                <a:moveTo>
                  <a:pt x="0" y="1654262"/>
                </a:moveTo>
                <a:lnTo>
                  <a:pt x="376954" y="1654262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5875">
            <a:noFill/>
            <a:prstDash val="solid"/>
          </a:ln>
        </p:spPr>
      </p:sp>
      <p:sp>
        <p:nvSpPr>
          <p:cNvPr id="469" name="Figure 5 plot object 468"/>
          <p:cNvSpPr>
            <a:spLocks noGrp="1"/>
          </p:cNvSpPr>
          <p:nvPr/>
        </p:nvSpPr>
        <p:spPr>
          <a:xfrm>
            <a:off x="8757245" y="7473781"/>
            <a:ext cx="376954" cy="1527915"/>
          </a:xfrm>
          <a:custGeom>
            <a:avLst/>
            <a:gdLst/>
            <a:ahLst/>
            <a:cxnLst/>
            <a:pathLst>
              <a:path w="376954" h="1527915">
                <a:moveTo>
                  <a:pt x="0" y="1527915"/>
                </a:moveTo>
                <a:lnTo>
                  <a:pt x="376954" y="1527915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5875">
            <a:noFill/>
            <a:prstDash val="solid"/>
          </a:ln>
        </p:spPr>
      </p:sp>
      <p:sp>
        <p:nvSpPr>
          <p:cNvPr id="470" name="Figure 5 plot object 469"/>
          <p:cNvSpPr>
            <a:spLocks noGrp="1"/>
          </p:cNvSpPr>
          <p:nvPr/>
        </p:nvSpPr>
        <p:spPr>
          <a:xfrm>
            <a:off x="10974621" y="7788179"/>
            <a:ext cx="376954" cy="1213517"/>
          </a:xfrm>
          <a:custGeom>
            <a:avLst/>
            <a:gdLst/>
            <a:ahLst/>
            <a:cxnLst/>
            <a:pathLst>
              <a:path w="376954" h="1213517">
                <a:moveTo>
                  <a:pt x="0" y="1213517"/>
                </a:moveTo>
                <a:lnTo>
                  <a:pt x="376954" y="1213517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5875">
            <a:noFill/>
            <a:prstDash val="solid"/>
          </a:ln>
        </p:spPr>
      </p:sp>
      <p:sp>
        <p:nvSpPr>
          <p:cNvPr id="471" name="69.9"/>
          <p:cNvSpPr>
            <a:spLocks noGrp="1"/>
          </p:cNvSpPr>
          <p:nvPr/>
        </p:nvSpPr>
        <p:spPr>
          <a:xfrm>
            <a:off x="2147742" y="6731480"/>
            <a:ext cx="367109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69.9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2" name="62.9"/>
          <p:cNvSpPr>
            <a:spLocks noGrp="1"/>
          </p:cNvSpPr>
          <p:nvPr/>
        </p:nvSpPr>
        <p:spPr>
          <a:xfrm>
            <a:off x="4365118" y="6937160"/>
            <a:ext cx="367109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62.9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3" name="56.3"/>
          <p:cNvSpPr>
            <a:spLocks noGrp="1"/>
          </p:cNvSpPr>
          <p:nvPr/>
        </p:nvSpPr>
        <p:spPr>
          <a:xfrm>
            <a:off x="6583486" y="7131088"/>
            <a:ext cx="365125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56.3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4" name="52.0"/>
          <p:cNvSpPr>
            <a:spLocks noGrp="1"/>
          </p:cNvSpPr>
          <p:nvPr/>
        </p:nvSpPr>
        <p:spPr>
          <a:xfrm>
            <a:off x="8798878" y="7257435"/>
            <a:ext cx="369094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52.0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5" name="41.3"/>
          <p:cNvSpPr>
            <a:spLocks noGrp="1"/>
          </p:cNvSpPr>
          <p:nvPr/>
        </p:nvSpPr>
        <p:spPr>
          <a:xfrm>
            <a:off x="11017247" y="7571833"/>
            <a:ext cx="367109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41.3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6" name="Figure 5 plot object 475"/>
          <p:cNvSpPr>
            <a:spLocks noGrp="1"/>
          </p:cNvSpPr>
          <p:nvPr/>
        </p:nvSpPr>
        <p:spPr>
          <a:xfrm>
            <a:off x="2508679" y="8696113"/>
            <a:ext cx="376954" cy="305583"/>
          </a:xfrm>
          <a:custGeom>
            <a:avLst/>
            <a:gdLst/>
            <a:ahLst/>
            <a:cxnLst/>
            <a:pathLst>
              <a:path w="376954" h="305583">
                <a:moveTo>
                  <a:pt x="0" y="305583"/>
                </a:moveTo>
                <a:lnTo>
                  <a:pt x="376954" y="305583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5875">
            <a:noFill/>
            <a:prstDash val="solid"/>
          </a:ln>
        </p:spPr>
      </p:sp>
      <p:sp>
        <p:nvSpPr>
          <p:cNvPr id="477" name="Figure 5 plot object 476"/>
          <p:cNvSpPr>
            <a:spLocks noGrp="1"/>
          </p:cNvSpPr>
          <p:nvPr/>
        </p:nvSpPr>
        <p:spPr>
          <a:xfrm>
            <a:off x="4726055" y="8765457"/>
            <a:ext cx="376954" cy="236239"/>
          </a:xfrm>
          <a:custGeom>
            <a:avLst/>
            <a:gdLst/>
            <a:ahLst/>
            <a:cxnLst/>
            <a:pathLst>
              <a:path w="376954" h="236239">
                <a:moveTo>
                  <a:pt x="0" y="236239"/>
                </a:moveTo>
                <a:lnTo>
                  <a:pt x="376954" y="236239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5875">
            <a:noFill/>
            <a:prstDash val="solid"/>
          </a:ln>
        </p:spPr>
      </p:sp>
      <p:sp>
        <p:nvSpPr>
          <p:cNvPr id="478" name="Figure 5 plot object 477"/>
          <p:cNvSpPr>
            <a:spLocks noGrp="1"/>
          </p:cNvSpPr>
          <p:nvPr/>
        </p:nvSpPr>
        <p:spPr>
          <a:xfrm>
            <a:off x="6943431" y="8678484"/>
            <a:ext cx="376954" cy="323213"/>
          </a:xfrm>
          <a:custGeom>
            <a:avLst/>
            <a:gdLst/>
            <a:ahLst/>
            <a:cxnLst/>
            <a:pathLst>
              <a:path w="376954" h="323213">
                <a:moveTo>
                  <a:pt x="0" y="323213"/>
                </a:moveTo>
                <a:lnTo>
                  <a:pt x="376954" y="323213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5875">
            <a:noFill/>
            <a:prstDash val="solid"/>
          </a:ln>
        </p:spPr>
      </p:sp>
      <p:sp>
        <p:nvSpPr>
          <p:cNvPr id="479" name="Figure 5 plot object 478"/>
          <p:cNvSpPr>
            <a:spLocks noGrp="1"/>
          </p:cNvSpPr>
          <p:nvPr/>
        </p:nvSpPr>
        <p:spPr>
          <a:xfrm>
            <a:off x="9160808" y="8788964"/>
            <a:ext cx="376954" cy="212733"/>
          </a:xfrm>
          <a:custGeom>
            <a:avLst/>
            <a:gdLst/>
            <a:ahLst/>
            <a:cxnLst/>
            <a:pathLst>
              <a:path w="376954" h="212733">
                <a:moveTo>
                  <a:pt x="0" y="212733"/>
                </a:moveTo>
                <a:lnTo>
                  <a:pt x="376954" y="212733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5875">
            <a:noFill/>
            <a:prstDash val="solid"/>
          </a:ln>
        </p:spPr>
      </p:sp>
      <p:sp>
        <p:nvSpPr>
          <p:cNvPr id="480" name="Figure 5 plot object 479"/>
          <p:cNvSpPr>
            <a:spLocks noGrp="1"/>
          </p:cNvSpPr>
          <p:nvPr/>
        </p:nvSpPr>
        <p:spPr>
          <a:xfrm>
            <a:off x="11378184" y="8769571"/>
            <a:ext cx="376954" cy="232126"/>
          </a:xfrm>
          <a:custGeom>
            <a:avLst/>
            <a:gdLst/>
            <a:ahLst/>
            <a:cxnLst/>
            <a:pathLst>
              <a:path w="376954" h="232126">
                <a:moveTo>
                  <a:pt x="0" y="232126"/>
                </a:moveTo>
                <a:lnTo>
                  <a:pt x="376954" y="232126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5875">
            <a:noFill/>
            <a:prstDash val="solid"/>
          </a:ln>
        </p:spPr>
      </p:sp>
      <p:sp>
        <p:nvSpPr>
          <p:cNvPr id="481" name="10.4"/>
          <p:cNvSpPr>
            <a:spLocks noGrp="1"/>
          </p:cNvSpPr>
          <p:nvPr/>
        </p:nvSpPr>
        <p:spPr>
          <a:xfrm>
            <a:off x="2549320" y="8479767"/>
            <a:ext cx="371078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10.4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2" name="8.0"/>
          <p:cNvSpPr>
            <a:spLocks noGrp="1"/>
          </p:cNvSpPr>
          <p:nvPr/>
        </p:nvSpPr>
        <p:spPr>
          <a:xfrm>
            <a:off x="4809360" y="8549111"/>
            <a:ext cx="285750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8.0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3" name="11.0"/>
          <p:cNvSpPr>
            <a:spLocks noGrp="1"/>
          </p:cNvSpPr>
          <p:nvPr/>
        </p:nvSpPr>
        <p:spPr>
          <a:xfrm>
            <a:off x="6989033" y="8462137"/>
            <a:ext cx="361156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11.0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7.2"/>
          <p:cNvSpPr>
            <a:spLocks noGrp="1"/>
          </p:cNvSpPr>
          <p:nvPr/>
        </p:nvSpPr>
        <p:spPr>
          <a:xfrm>
            <a:off x="9245105" y="8572617"/>
            <a:ext cx="283766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7.2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5" name="7.9"/>
          <p:cNvSpPr>
            <a:spLocks noGrp="1"/>
          </p:cNvSpPr>
          <p:nvPr/>
        </p:nvSpPr>
        <p:spPr>
          <a:xfrm>
            <a:off x="11462481" y="8553224"/>
            <a:ext cx="283766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7.9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6" name="Figure 5 plot object 485"/>
          <p:cNvSpPr>
            <a:spLocks noGrp="1"/>
          </p:cNvSpPr>
          <p:nvPr/>
        </p:nvSpPr>
        <p:spPr>
          <a:xfrm>
            <a:off x="2912241" y="8680702"/>
            <a:ext cx="376954" cy="320994"/>
          </a:xfrm>
          <a:custGeom>
            <a:avLst/>
            <a:gdLst/>
            <a:ahLst/>
            <a:cxnLst/>
            <a:pathLst>
              <a:path w="376954" h="320994">
                <a:moveTo>
                  <a:pt x="0" y="320994"/>
                </a:moveTo>
                <a:lnTo>
                  <a:pt x="376954" y="320994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5875">
            <a:noFill/>
            <a:prstDash val="solid"/>
          </a:ln>
        </p:spPr>
      </p:sp>
      <p:sp>
        <p:nvSpPr>
          <p:cNvPr id="487" name="Figure 5 plot object 486"/>
          <p:cNvSpPr>
            <a:spLocks noGrp="1"/>
          </p:cNvSpPr>
          <p:nvPr/>
        </p:nvSpPr>
        <p:spPr>
          <a:xfrm>
            <a:off x="5129617" y="8764870"/>
            <a:ext cx="376954" cy="236827"/>
          </a:xfrm>
          <a:custGeom>
            <a:avLst/>
            <a:gdLst/>
            <a:ahLst/>
            <a:cxnLst/>
            <a:pathLst>
              <a:path w="376954" h="236827">
                <a:moveTo>
                  <a:pt x="0" y="236827"/>
                </a:moveTo>
                <a:lnTo>
                  <a:pt x="376954" y="236827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5875">
            <a:noFill/>
            <a:prstDash val="solid"/>
          </a:ln>
        </p:spPr>
      </p:sp>
      <p:sp>
        <p:nvSpPr>
          <p:cNvPr id="488" name="Figure 5 plot object 487"/>
          <p:cNvSpPr>
            <a:spLocks noGrp="1"/>
          </p:cNvSpPr>
          <p:nvPr/>
        </p:nvSpPr>
        <p:spPr>
          <a:xfrm>
            <a:off x="7346994" y="7650079"/>
            <a:ext cx="376954" cy="1351617"/>
          </a:xfrm>
          <a:custGeom>
            <a:avLst/>
            <a:gdLst/>
            <a:ahLst/>
            <a:cxnLst/>
            <a:pathLst>
              <a:path w="376954" h="1351617">
                <a:moveTo>
                  <a:pt x="0" y="1351617"/>
                </a:moveTo>
                <a:lnTo>
                  <a:pt x="376954" y="1351617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5875">
            <a:noFill/>
            <a:prstDash val="solid"/>
          </a:ln>
        </p:spPr>
      </p:sp>
      <p:sp>
        <p:nvSpPr>
          <p:cNvPr id="489" name="Figure 5 plot object 488"/>
          <p:cNvSpPr>
            <a:spLocks noGrp="1"/>
          </p:cNvSpPr>
          <p:nvPr/>
        </p:nvSpPr>
        <p:spPr>
          <a:xfrm>
            <a:off x="9564370" y="8719032"/>
            <a:ext cx="376954" cy="282664"/>
          </a:xfrm>
          <a:custGeom>
            <a:avLst/>
            <a:gdLst/>
            <a:ahLst/>
            <a:cxnLst/>
            <a:pathLst>
              <a:path w="376954" h="282664">
                <a:moveTo>
                  <a:pt x="0" y="282664"/>
                </a:moveTo>
                <a:lnTo>
                  <a:pt x="376954" y="282664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5875">
            <a:noFill/>
            <a:prstDash val="solid"/>
          </a:ln>
        </p:spPr>
      </p:sp>
      <p:sp>
        <p:nvSpPr>
          <p:cNvPr id="490" name="Figure 5 plot object 489"/>
          <p:cNvSpPr>
            <a:spLocks noGrp="1"/>
          </p:cNvSpPr>
          <p:nvPr/>
        </p:nvSpPr>
        <p:spPr>
          <a:xfrm>
            <a:off x="11781746" y="8801598"/>
            <a:ext cx="376954" cy="200098"/>
          </a:xfrm>
          <a:custGeom>
            <a:avLst/>
            <a:gdLst/>
            <a:ahLst/>
            <a:cxnLst/>
            <a:pathLst>
              <a:path w="376954" h="200098">
                <a:moveTo>
                  <a:pt x="0" y="200098"/>
                </a:moveTo>
                <a:lnTo>
                  <a:pt x="376954" y="200098"/>
                </a:lnTo>
                <a:lnTo>
                  <a:pt x="37695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5875">
            <a:noFill/>
            <a:prstDash val="solid"/>
          </a:ln>
        </p:spPr>
      </p:sp>
      <p:sp>
        <p:nvSpPr>
          <p:cNvPr id="491" name="10.9"/>
          <p:cNvSpPr>
            <a:spLocks noGrp="1"/>
          </p:cNvSpPr>
          <p:nvPr/>
        </p:nvSpPr>
        <p:spPr>
          <a:xfrm>
            <a:off x="2952882" y="8464356"/>
            <a:ext cx="371078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10.9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2" name="8.1"/>
          <p:cNvSpPr>
            <a:spLocks noGrp="1"/>
          </p:cNvSpPr>
          <p:nvPr/>
        </p:nvSpPr>
        <p:spPr>
          <a:xfrm>
            <a:off x="5212923" y="8548523"/>
            <a:ext cx="285750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8.1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3" name="46.0"/>
          <p:cNvSpPr>
            <a:spLocks noGrp="1"/>
          </p:cNvSpPr>
          <p:nvPr/>
        </p:nvSpPr>
        <p:spPr>
          <a:xfrm>
            <a:off x="7388627" y="7433733"/>
            <a:ext cx="369094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46.0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4" name="9.6"/>
          <p:cNvSpPr>
            <a:spLocks noGrp="1"/>
          </p:cNvSpPr>
          <p:nvPr/>
        </p:nvSpPr>
        <p:spPr>
          <a:xfrm>
            <a:off x="9648667" y="8502686"/>
            <a:ext cx="283766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9.6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5" name="6.8"/>
          <p:cNvSpPr>
            <a:spLocks noGrp="1"/>
          </p:cNvSpPr>
          <p:nvPr/>
        </p:nvSpPr>
        <p:spPr>
          <a:xfrm>
            <a:off x="11866044" y="8585252"/>
            <a:ext cx="283766" cy="203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6.8</a:t>
            </a:r>
            <a:endParaRPr sz="12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6" name="Most dilute test: 13.3 µM"/>
          <p:cNvSpPr>
            <a:spLocks noGrp="1"/>
          </p:cNvSpPr>
          <p:nvPr/>
        </p:nvSpPr>
        <p:spPr>
          <a:xfrm>
            <a:off x="11170793" y="6209856"/>
            <a:ext cx="182943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Most dilute test: 13.3 µM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7" name="Figure 5 plot object 496"/>
          <p:cNvSpPr>
            <a:spLocks noGrp="1"/>
          </p:cNvSpPr>
          <p:nvPr/>
        </p:nvSpPr>
        <p:spPr>
          <a:xfrm>
            <a:off x="4290203" y="6024454"/>
            <a:ext cx="183356" cy="16"/>
          </a:xfrm>
          <a:custGeom>
            <a:avLst/>
            <a:gdLst/>
            <a:ahLst/>
            <a:cxnLst/>
            <a:pathLst>
              <a:path w="183356" h="16">
                <a:moveTo>
                  <a:pt x="0" y="0"/>
                </a:moveTo>
                <a:lnTo>
                  <a:pt x="91678" y="0"/>
                </a:lnTo>
                <a:lnTo>
                  <a:pt x="183356" y="0"/>
                </a:lnTo>
              </a:path>
            </a:pathLst>
          </a:custGeom>
          <a:noFill/>
          <a:ln w="79375">
            <a:solidFill>
              <a:srgbClr val="637482"/>
            </a:solidFill>
            <a:prstDash val="solid"/>
          </a:ln>
        </p:spPr>
      </p:sp>
      <p:sp>
        <p:nvSpPr>
          <p:cNvPr id="498" name="Opaque"/>
          <p:cNvSpPr>
            <a:spLocks noGrp="1"/>
          </p:cNvSpPr>
          <p:nvPr/>
        </p:nvSpPr>
        <p:spPr>
          <a:xfrm>
            <a:off x="4606909" y="5929442"/>
            <a:ext cx="676672" cy="2250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Opaque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9" name="Figure 5 plot object 498"/>
          <p:cNvSpPr>
            <a:spLocks noGrp="1"/>
          </p:cNvSpPr>
          <p:nvPr/>
        </p:nvSpPr>
        <p:spPr>
          <a:xfrm>
            <a:off x="5616749" y="6024454"/>
            <a:ext cx="183356" cy="16"/>
          </a:xfrm>
          <a:custGeom>
            <a:avLst/>
            <a:gdLst/>
            <a:ahLst/>
            <a:cxnLst/>
            <a:pathLst>
              <a:path w="183356" h="16">
                <a:moveTo>
                  <a:pt x="0" y="0"/>
                </a:moveTo>
                <a:lnTo>
                  <a:pt x="91678" y="0"/>
                </a:lnTo>
                <a:lnTo>
                  <a:pt x="183356" y="0"/>
                </a:lnTo>
              </a:path>
            </a:pathLst>
          </a:custGeom>
          <a:noFill/>
          <a:ln w="79375">
            <a:solidFill>
              <a:srgbClr val="277F8A"/>
            </a:solidFill>
            <a:prstDash val="solid"/>
          </a:ln>
        </p:spPr>
      </p:sp>
      <p:sp>
        <p:nvSpPr>
          <p:cNvPr id="500" name="Aligned"/>
          <p:cNvSpPr>
            <a:spLocks noGrp="1"/>
          </p:cNvSpPr>
          <p:nvPr/>
        </p:nvSpPr>
        <p:spPr>
          <a:xfrm>
            <a:off x="5933455" y="5929442"/>
            <a:ext cx="642938" cy="2250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Aligned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1" name="Figure 5 plot object 500"/>
          <p:cNvSpPr>
            <a:spLocks noGrp="1"/>
          </p:cNvSpPr>
          <p:nvPr/>
        </p:nvSpPr>
        <p:spPr>
          <a:xfrm>
            <a:off x="6906207" y="6024454"/>
            <a:ext cx="183356" cy="16"/>
          </a:xfrm>
          <a:custGeom>
            <a:avLst/>
            <a:gdLst/>
            <a:ahLst/>
            <a:cxnLst/>
            <a:pathLst>
              <a:path w="183356" h="16">
                <a:moveTo>
                  <a:pt x="0" y="0"/>
                </a:moveTo>
                <a:lnTo>
                  <a:pt x="91678" y="0"/>
                </a:lnTo>
                <a:lnTo>
                  <a:pt x="183356" y="0"/>
                </a:lnTo>
              </a:path>
            </a:pathLst>
          </a:custGeom>
          <a:noFill/>
          <a:ln w="79375">
            <a:solidFill>
              <a:srgbClr val="BC7850"/>
            </a:solidFill>
            <a:prstDash val="solid"/>
          </a:ln>
        </p:spPr>
      </p:sp>
      <p:sp>
        <p:nvSpPr>
          <p:cNvPr id="502" name="MisIndexed"/>
          <p:cNvSpPr>
            <a:spLocks noGrp="1"/>
          </p:cNvSpPr>
          <p:nvPr/>
        </p:nvSpPr>
        <p:spPr>
          <a:xfrm>
            <a:off x="7222913" y="5929442"/>
            <a:ext cx="938609" cy="2250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MisIndexed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3" name="Figure 5 plot object 502"/>
          <p:cNvSpPr>
            <a:spLocks noGrp="1"/>
          </p:cNvSpPr>
          <p:nvPr/>
        </p:nvSpPr>
        <p:spPr>
          <a:xfrm>
            <a:off x="8491978" y="6024454"/>
            <a:ext cx="183356" cy="16"/>
          </a:xfrm>
          <a:custGeom>
            <a:avLst/>
            <a:gdLst/>
            <a:ahLst/>
            <a:cxnLst/>
            <a:pathLst>
              <a:path w="183356" h="16">
                <a:moveTo>
                  <a:pt x="0" y="0"/>
                </a:moveTo>
                <a:lnTo>
                  <a:pt x="91678" y="0"/>
                </a:lnTo>
                <a:lnTo>
                  <a:pt x="183356" y="0"/>
                </a:lnTo>
              </a:path>
            </a:pathLst>
          </a:custGeom>
          <a:noFill/>
          <a:ln w="79375">
            <a:solidFill>
              <a:srgbClr val="BFC8CD"/>
            </a:solidFill>
            <a:prstDash val="solid"/>
          </a:ln>
        </p:spPr>
      </p:sp>
      <p:sp>
        <p:nvSpPr>
          <p:cNvPr id="504" name="Withheld reference"/>
          <p:cNvSpPr>
            <a:spLocks noGrp="1"/>
          </p:cNvSpPr>
          <p:nvPr/>
        </p:nvSpPr>
        <p:spPr>
          <a:xfrm>
            <a:off x="8808684" y="5929442"/>
            <a:ext cx="1488281" cy="2250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20232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Withheld reference</a:t>
            </a:r>
            <a:endParaRPr sz="1400" b="0" i="0">
              <a:solidFill>
                <a:srgbClr val="20232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5" name="Figure 6 plot object 0"/>
          <p:cNvSpPr>
            <a:spLocks noGrp="1"/>
          </p:cNvSpPr>
          <p:nvPr/>
        </p:nvSpPr>
        <p:spPr>
          <a:xfrm>
            <a:off x="342900" y="769925"/>
            <a:ext cx="13030200" cy="9890151"/>
          </a:xfrm>
          <a:custGeom>
            <a:avLst/>
            <a:gdLst/>
            <a:ahLst/>
            <a:cxnLst/>
            <a:pathLst>
              <a:path w="13030200" h="9890151">
                <a:moveTo>
                  <a:pt x="0" y="9890151"/>
                </a:moveTo>
                <a:lnTo>
                  <a:pt x="13030200" y="9890151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2" name="Figure 6 plot object 1"/>
          <p:cNvSpPr>
            <a:spLocks noGrp="1"/>
          </p:cNvSpPr>
          <p:nvPr/>
        </p:nvSpPr>
        <p:spPr>
          <a:xfrm>
            <a:off x="2814806" y="1757284"/>
            <a:ext cx="3884111" cy="3131813"/>
          </a:xfrm>
          <a:custGeom>
            <a:avLst/>
            <a:gdLst/>
            <a:ahLst/>
            <a:cxnLst/>
            <a:pathLst>
              <a:path w="3884111" h="3131813">
                <a:moveTo>
                  <a:pt x="0" y="3131813"/>
                </a:moveTo>
                <a:lnTo>
                  <a:pt x="3884111" y="3131813"/>
                </a:lnTo>
                <a:lnTo>
                  <a:pt x="38841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3" name="Figure 6 plot object 2"/>
          <p:cNvSpPr>
            <a:spLocks noGrp="1"/>
          </p:cNvSpPr>
          <p:nvPr/>
        </p:nvSpPr>
        <p:spPr>
          <a:xfrm>
            <a:off x="2814806" y="1979424"/>
            <a:ext cx="3827168" cy="356881"/>
          </a:xfrm>
          <a:custGeom>
            <a:avLst/>
            <a:gdLst/>
            <a:ahLst/>
            <a:cxnLst/>
            <a:pathLst>
              <a:path w="3827168" h="356881">
                <a:moveTo>
                  <a:pt x="0" y="356881"/>
                </a:moveTo>
                <a:lnTo>
                  <a:pt x="3827168" y="356881"/>
                </a:lnTo>
                <a:lnTo>
                  <a:pt x="3827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92A0AA"/>
          </a:solidFill>
          <a:ln w="25572">
            <a:noFill/>
            <a:prstDash val="solid"/>
          </a:ln>
        </p:spPr>
      </p:sp>
      <p:sp>
        <p:nvSpPr>
          <p:cNvPr id="4" name="Figure 6 plot object 3"/>
          <p:cNvSpPr>
            <a:spLocks noGrp="1"/>
          </p:cNvSpPr>
          <p:nvPr/>
        </p:nvSpPr>
        <p:spPr>
          <a:xfrm>
            <a:off x="2814806" y="2707752"/>
            <a:ext cx="3826164" cy="356881"/>
          </a:xfrm>
          <a:custGeom>
            <a:avLst/>
            <a:gdLst/>
            <a:ahLst/>
            <a:cxnLst/>
            <a:pathLst>
              <a:path w="3826164" h="356881">
                <a:moveTo>
                  <a:pt x="0" y="356881"/>
                </a:moveTo>
                <a:lnTo>
                  <a:pt x="3826164" y="356881"/>
                </a:lnTo>
                <a:lnTo>
                  <a:pt x="38261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DD5DA"/>
          </a:solidFill>
          <a:ln w="25572">
            <a:noFill/>
            <a:prstDash val="solid"/>
          </a:ln>
        </p:spPr>
      </p:sp>
      <p:sp>
        <p:nvSpPr>
          <p:cNvPr id="5" name="Figure 6 plot object 4"/>
          <p:cNvSpPr>
            <a:spLocks noGrp="1"/>
          </p:cNvSpPr>
          <p:nvPr/>
        </p:nvSpPr>
        <p:spPr>
          <a:xfrm>
            <a:off x="2814806" y="3618163"/>
            <a:ext cx="3633349" cy="356881"/>
          </a:xfrm>
          <a:custGeom>
            <a:avLst/>
            <a:gdLst/>
            <a:ahLst/>
            <a:cxnLst/>
            <a:pathLst>
              <a:path w="3633349" h="356881">
                <a:moveTo>
                  <a:pt x="0" y="356881"/>
                </a:moveTo>
                <a:lnTo>
                  <a:pt x="3633349" y="356881"/>
                </a:lnTo>
                <a:lnTo>
                  <a:pt x="3633349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6" name="Figure 6 plot object 5"/>
          <p:cNvSpPr>
            <a:spLocks noGrp="1"/>
          </p:cNvSpPr>
          <p:nvPr/>
        </p:nvSpPr>
        <p:spPr>
          <a:xfrm>
            <a:off x="2814806" y="4346492"/>
            <a:ext cx="3685763" cy="356881"/>
          </a:xfrm>
          <a:custGeom>
            <a:avLst/>
            <a:gdLst/>
            <a:ahLst/>
            <a:cxnLst/>
            <a:pathLst>
              <a:path w="3685763" h="356881">
                <a:moveTo>
                  <a:pt x="0" y="356881"/>
                </a:moveTo>
                <a:lnTo>
                  <a:pt x="3685763" y="356881"/>
                </a:lnTo>
                <a:lnTo>
                  <a:pt x="368576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7" name="Figure 6 plot object 6"/>
          <p:cNvSpPr>
            <a:spLocks noGrp="1"/>
          </p:cNvSpPr>
          <p:nvPr/>
        </p:nvSpPr>
        <p:spPr>
          <a:xfrm>
            <a:off x="2814806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" name="0"/>
          <p:cNvSpPr>
            <a:spLocks noGrp="1"/>
          </p:cNvSpPr>
          <p:nvPr/>
        </p:nvSpPr>
        <p:spPr>
          <a:xfrm>
            <a:off x="2757269" y="5128607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Figure 6 plot object 8"/>
          <p:cNvSpPr>
            <a:spLocks noGrp="1"/>
          </p:cNvSpPr>
          <p:nvPr/>
        </p:nvSpPr>
        <p:spPr>
          <a:xfrm>
            <a:off x="3785833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0" name="25"/>
          <p:cNvSpPr>
            <a:spLocks noGrp="1"/>
          </p:cNvSpPr>
          <p:nvPr/>
        </p:nvSpPr>
        <p:spPr>
          <a:xfrm>
            <a:off x="3673957" y="5128607"/>
            <a:ext cx="32603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" name="Figure 6 plot object 10"/>
          <p:cNvSpPr>
            <a:spLocks noGrp="1"/>
          </p:cNvSpPr>
          <p:nvPr/>
        </p:nvSpPr>
        <p:spPr>
          <a:xfrm>
            <a:off x="4756861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2" name="50"/>
          <p:cNvSpPr>
            <a:spLocks noGrp="1"/>
          </p:cNvSpPr>
          <p:nvPr/>
        </p:nvSpPr>
        <p:spPr>
          <a:xfrm>
            <a:off x="4643387" y="5128607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" name="Figure 6 plot object 12"/>
          <p:cNvSpPr>
            <a:spLocks noGrp="1"/>
          </p:cNvSpPr>
          <p:nvPr/>
        </p:nvSpPr>
        <p:spPr>
          <a:xfrm>
            <a:off x="5727889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4" name="75"/>
          <p:cNvSpPr>
            <a:spLocks noGrp="1"/>
          </p:cNvSpPr>
          <p:nvPr/>
        </p:nvSpPr>
        <p:spPr>
          <a:xfrm>
            <a:off x="5616013" y="5128607"/>
            <a:ext cx="32603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Figure 6 plot object 14"/>
          <p:cNvSpPr>
            <a:spLocks noGrp="1"/>
          </p:cNvSpPr>
          <p:nvPr/>
        </p:nvSpPr>
        <p:spPr>
          <a:xfrm>
            <a:off x="6698917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6" name="100"/>
          <p:cNvSpPr>
            <a:spLocks noGrp="1"/>
          </p:cNvSpPr>
          <p:nvPr/>
        </p:nvSpPr>
        <p:spPr>
          <a:xfrm>
            <a:off x="6526308" y="5128607"/>
            <a:ext cx="44750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" name="Mean crystal purity (%)"/>
          <p:cNvSpPr>
            <a:spLocks noGrp="1"/>
          </p:cNvSpPr>
          <p:nvPr/>
        </p:nvSpPr>
        <p:spPr>
          <a:xfrm>
            <a:off x="3711619" y="5420476"/>
            <a:ext cx="22180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Mean crystal purity (%)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" name="Figure 6 plot object 17"/>
          <p:cNvSpPr>
            <a:spLocks noGrp="1"/>
          </p:cNvSpPr>
          <p:nvPr/>
        </p:nvSpPr>
        <p:spPr>
          <a:xfrm>
            <a:off x="2814806" y="1757284"/>
            <a:ext cx="26" cy="3131813"/>
          </a:xfrm>
          <a:custGeom>
            <a:avLst/>
            <a:gdLst/>
            <a:ahLst/>
            <a:cxnLst/>
            <a:pathLst>
              <a:path w="26" h="3131813">
                <a:moveTo>
                  <a:pt x="0" y="3131813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19" name="Figure 6 plot object 18"/>
          <p:cNvSpPr>
            <a:spLocks noGrp="1"/>
          </p:cNvSpPr>
          <p:nvPr/>
        </p:nvSpPr>
        <p:spPr>
          <a:xfrm>
            <a:off x="2814806" y="4889097"/>
            <a:ext cx="3884111" cy="26"/>
          </a:xfrm>
          <a:custGeom>
            <a:avLst/>
            <a:gdLst/>
            <a:ahLst/>
            <a:cxnLst/>
            <a:pathLst>
              <a:path w="3884111" h="26">
                <a:moveTo>
                  <a:pt x="0" y="0"/>
                </a:moveTo>
                <a:lnTo>
                  <a:pt x="3884111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20" name="Research observations"/>
          <p:cNvSpPr>
            <a:spLocks noGrp="1"/>
          </p:cNvSpPr>
          <p:nvPr/>
        </p:nvSpPr>
        <p:spPr>
          <a:xfrm>
            <a:off x="510516" y="1890736"/>
            <a:ext cx="221996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Research observations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1" name="30 campaigns"/>
          <p:cNvSpPr>
            <a:spLocks noGrp="1"/>
          </p:cNvSpPr>
          <p:nvPr/>
        </p:nvSpPr>
        <p:spPr>
          <a:xfrm>
            <a:off x="1329065" y="2151951"/>
            <a:ext cx="138087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2" name="98.53%"/>
          <p:cNvSpPr>
            <a:spLocks noGrp="1"/>
          </p:cNvSpPr>
          <p:nvPr/>
        </p:nvSpPr>
        <p:spPr>
          <a:xfrm>
            <a:off x="5867463" y="2022542"/>
            <a:ext cx="79911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98.53%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3" name="Blind-test reference"/>
          <p:cNvSpPr>
            <a:spLocks noGrp="1"/>
          </p:cNvSpPr>
          <p:nvPr/>
        </p:nvSpPr>
        <p:spPr>
          <a:xfrm>
            <a:off x="828947" y="2619065"/>
            <a:ext cx="188341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Blind-test reference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4" name="30 campaigns"/>
          <p:cNvSpPr>
            <a:spLocks noGrp="1"/>
          </p:cNvSpPr>
          <p:nvPr/>
        </p:nvSpPr>
        <p:spPr>
          <a:xfrm>
            <a:off x="1329065" y="2880280"/>
            <a:ext cx="138087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5" name="98.51%"/>
          <p:cNvSpPr>
            <a:spLocks noGrp="1"/>
          </p:cNvSpPr>
          <p:nvPr/>
        </p:nvSpPr>
        <p:spPr>
          <a:xfrm>
            <a:off x="5866459" y="2750871"/>
            <a:ext cx="79911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98.51%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6" name="Agent: 12 batches"/>
          <p:cNvSpPr>
            <a:spLocks noGrp="1"/>
          </p:cNvSpPr>
          <p:nvPr/>
        </p:nvSpPr>
        <p:spPr>
          <a:xfrm>
            <a:off x="953609" y="3528581"/>
            <a:ext cx="174846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Agent: 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7" name="15 campaigns"/>
          <p:cNvSpPr>
            <a:spLocks noGrp="1"/>
          </p:cNvSpPr>
          <p:nvPr/>
        </p:nvSpPr>
        <p:spPr>
          <a:xfrm>
            <a:off x="1329065" y="3792193"/>
            <a:ext cx="137767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15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8" name="93.54%"/>
          <p:cNvSpPr>
            <a:spLocks noGrp="1"/>
          </p:cNvSpPr>
          <p:nvPr/>
        </p:nvSpPr>
        <p:spPr>
          <a:xfrm>
            <a:off x="5673644" y="3661282"/>
            <a:ext cx="79911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93.54%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29" name="Agent: 24 batches"/>
          <p:cNvSpPr>
            <a:spLocks noGrp="1"/>
          </p:cNvSpPr>
          <p:nvPr/>
        </p:nvSpPr>
        <p:spPr>
          <a:xfrm>
            <a:off x="953609" y="4256909"/>
            <a:ext cx="174846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Agent: 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0" name="15 campaigns"/>
          <p:cNvSpPr>
            <a:spLocks noGrp="1"/>
          </p:cNvSpPr>
          <p:nvPr/>
        </p:nvSpPr>
        <p:spPr>
          <a:xfrm>
            <a:off x="1329065" y="4520521"/>
            <a:ext cx="137767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15 campaigns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1" name="94.89%"/>
          <p:cNvSpPr>
            <a:spLocks noGrp="1"/>
          </p:cNvSpPr>
          <p:nvPr/>
        </p:nvSpPr>
        <p:spPr>
          <a:xfrm>
            <a:off x="5722862" y="4389610"/>
            <a:ext cx="802311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94.89%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2" name="Figure 6 plot object 31"/>
          <p:cNvSpPr>
            <a:spLocks noGrp="1"/>
          </p:cNvSpPr>
          <p:nvPr/>
        </p:nvSpPr>
        <p:spPr>
          <a:xfrm>
            <a:off x="9429725" y="1757284"/>
            <a:ext cx="3645497" cy="3131813"/>
          </a:xfrm>
          <a:custGeom>
            <a:avLst/>
            <a:gdLst/>
            <a:ahLst/>
            <a:cxnLst/>
            <a:pathLst>
              <a:path w="3645497" h="3131813">
                <a:moveTo>
                  <a:pt x="0" y="3131813"/>
                </a:moveTo>
                <a:lnTo>
                  <a:pt x="3645497" y="3131813"/>
                </a:lnTo>
                <a:lnTo>
                  <a:pt x="36454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33" name="Figure 6 plot object 32"/>
          <p:cNvSpPr>
            <a:spLocks noGrp="1"/>
          </p:cNvSpPr>
          <p:nvPr/>
        </p:nvSpPr>
        <p:spPr>
          <a:xfrm>
            <a:off x="9429725" y="2095956"/>
            <a:ext cx="3159431" cy="342314"/>
          </a:xfrm>
          <a:custGeom>
            <a:avLst/>
            <a:gdLst/>
            <a:ahLst/>
            <a:cxnLst/>
            <a:pathLst>
              <a:path w="3159431" h="342314">
                <a:moveTo>
                  <a:pt x="0" y="342314"/>
                </a:moveTo>
                <a:lnTo>
                  <a:pt x="3159431" y="342314"/>
                </a:lnTo>
                <a:lnTo>
                  <a:pt x="3159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4" name="Figure 6 plot object 33"/>
          <p:cNvSpPr>
            <a:spLocks noGrp="1"/>
          </p:cNvSpPr>
          <p:nvPr/>
        </p:nvSpPr>
        <p:spPr>
          <a:xfrm>
            <a:off x="9429725" y="2824285"/>
            <a:ext cx="2551848" cy="342314"/>
          </a:xfrm>
          <a:custGeom>
            <a:avLst/>
            <a:gdLst/>
            <a:ahLst/>
            <a:cxnLst/>
            <a:pathLst>
              <a:path w="2551848" h="342314">
                <a:moveTo>
                  <a:pt x="0" y="342314"/>
                </a:moveTo>
                <a:lnTo>
                  <a:pt x="2551848" y="342314"/>
                </a:lnTo>
                <a:lnTo>
                  <a:pt x="2551848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5" name="Figure 6 plot object 34"/>
          <p:cNvSpPr>
            <a:spLocks noGrp="1"/>
          </p:cNvSpPr>
          <p:nvPr/>
        </p:nvSpPr>
        <p:spPr>
          <a:xfrm>
            <a:off x="9429725" y="3552614"/>
            <a:ext cx="486066" cy="342314"/>
          </a:xfrm>
          <a:custGeom>
            <a:avLst/>
            <a:gdLst/>
            <a:ahLst/>
            <a:cxnLst/>
            <a:pathLst>
              <a:path w="486066" h="342314">
                <a:moveTo>
                  <a:pt x="0" y="342314"/>
                </a:moveTo>
                <a:lnTo>
                  <a:pt x="486066" y="342314"/>
                </a:lnTo>
                <a:lnTo>
                  <a:pt x="48606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6" name="Figure 6 plot object 35"/>
          <p:cNvSpPr>
            <a:spLocks noGrp="1"/>
          </p:cNvSpPr>
          <p:nvPr/>
        </p:nvSpPr>
        <p:spPr>
          <a:xfrm>
            <a:off x="9429725" y="4280942"/>
            <a:ext cx="26" cy="342314"/>
          </a:xfrm>
          <a:custGeom>
            <a:avLst/>
            <a:gdLst/>
            <a:ahLst/>
            <a:cxnLst/>
            <a:pathLst>
              <a:path w="26" h="342314">
                <a:moveTo>
                  <a:pt x="0" y="342314"/>
                </a:moveTo>
                <a:lnTo>
                  <a:pt x="0" y="3423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7F89"/>
          </a:solidFill>
          <a:ln w="25572">
            <a:noFill/>
            <a:prstDash val="solid"/>
          </a:ln>
        </p:spPr>
      </p:sp>
      <p:sp>
        <p:nvSpPr>
          <p:cNvPr id="37" name="Figure 6 plot object 36"/>
          <p:cNvSpPr>
            <a:spLocks noGrp="1"/>
          </p:cNvSpPr>
          <p:nvPr/>
        </p:nvSpPr>
        <p:spPr>
          <a:xfrm>
            <a:off x="9429725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38" name="0"/>
          <p:cNvSpPr>
            <a:spLocks noGrp="1"/>
          </p:cNvSpPr>
          <p:nvPr/>
        </p:nvSpPr>
        <p:spPr>
          <a:xfrm>
            <a:off x="9372189" y="5128607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9" name="Figure 6 plot object 38"/>
          <p:cNvSpPr>
            <a:spLocks noGrp="1"/>
          </p:cNvSpPr>
          <p:nvPr/>
        </p:nvSpPr>
        <p:spPr>
          <a:xfrm>
            <a:off x="10644891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0" name="10"/>
          <p:cNvSpPr>
            <a:spLocks noGrp="1"/>
          </p:cNvSpPr>
          <p:nvPr/>
        </p:nvSpPr>
        <p:spPr>
          <a:xfrm>
            <a:off x="10529818" y="5128607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1" name="Figure 6 plot object 40"/>
          <p:cNvSpPr>
            <a:spLocks noGrp="1"/>
          </p:cNvSpPr>
          <p:nvPr/>
        </p:nvSpPr>
        <p:spPr>
          <a:xfrm>
            <a:off x="11860056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2" name="20"/>
          <p:cNvSpPr>
            <a:spLocks noGrp="1"/>
          </p:cNvSpPr>
          <p:nvPr/>
        </p:nvSpPr>
        <p:spPr>
          <a:xfrm>
            <a:off x="11746582" y="5128607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3" name="Figure 6 plot object 42"/>
          <p:cNvSpPr>
            <a:spLocks noGrp="1"/>
          </p:cNvSpPr>
          <p:nvPr/>
        </p:nvSpPr>
        <p:spPr>
          <a:xfrm>
            <a:off x="13075222" y="4889097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4" name="30"/>
          <p:cNvSpPr>
            <a:spLocks noGrp="1"/>
          </p:cNvSpPr>
          <p:nvPr/>
        </p:nvSpPr>
        <p:spPr>
          <a:xfrm>
            <a:off x="12960150" y="5128607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5" name="Campaigns (of 30)"/>
          <p:cNvSpPr>
            <a:spLocks noGrp="1"/>
          </p:cNvSpPr>
          <p:nvPr/>
        </p:nvSpPr>
        <p:spPr>
          <a:xfrm>
            <a:off x="10410207" y="5420476"/>
            <a:ext cx="178682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Campaigns (of 30)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6" name="Figure 6 plot object 45"/>
          <p:cNvSpPr>
            <a:spLocks noGrp="1"/>
          </p:cNvSpPr>
          <p:nvPr/>
        </p:nvSpPr>
        <p:spPr>
          <a:xfrm>
            <a:off x="9327439" y="2267114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7" name="Recovery"/>
          <p:cNvSpPr>
            <a:spLocks noGrp="1"/>
          </p:cNvSpPr>
          <p:nvPr/>
        </p:nvSpPr>
        <p:spPr>
          <a:xfrm>
            <a:off x="8288590" y="2152121"/>
            <a:ext cx="96213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8" name="Figure 6 plot object 47"/>
          <p:cNvSpPr>
            <a:spLocks noGrp="1"/>
          </p:cNvSpPr>
          <p:nvPr/>
        </p:nvSpPr>
        <p:spPr>
          <a:xfrm>
            <a:off x="9327439" y="2995442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49" name="Fines fraction"/>
          <p:cNvSpPr>
            <a:spLocks noGrp="1"/>
          </p:cNvSpPr>
          <p:nvPr/>
        </p:nvSpPr>
        <p:spPr>
          <a:xfrm>
            <a:off x="7927390" y="2880450"/>
            <a:ext cx="132333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fraction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0" name="Figure 6 plot object 49"/>
          <p:cNvSpPr>
            <a:spLocks noGrp="1"/>
          </p:cNvSpPr>
          <p:nvPr/>
        </p:nvSpPr>
        <p:spPr>
          <a:xfrm>
            <a:off x="9327439" y="3723771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51" name="Particle size index"/>
          <p:cNvSpPr>
            <a:spLocks noGrp="1"/>
          </p:cNvSpPr>
          <p:nvPr/>
        </p:nvSpPr>
        <p:spPr>
          <a:xfrm>
            <a:off x="7508654" y="3608778"/>
            <a:ext cx="174207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Particle size index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2" name="Figure 6 plot object 51"/>
          <p:cNvSpPr>
            <a:spLocks noGrp="1"/>
          </p:cNvSpPr>
          <p:nvPr/>
        </p:nvSpPr>
        <p:spPr>
          <a:xfrm>
            <a:off x="9327439" y="4452100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53" name="Purity"/>
          <p:cNvSpPr>
            <a:spLocks noGrp="1"/>
          </p:cNvSpPr>
          <p:nvPr/>
        </p:nvSpPr>
        <p:spPr>
          <a:xfrm>
            <a:off x="8624218" y="4337107"/>
            <a:ext cx="62650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4" name="Figure 6 plot object 53"/>
          <p:cNvSpPr>
            <a:spLocks noGrp="1"/>
          </p:cNvSpPr>
          <p:nvPr/>
        </p:nvSpPr>
        <p:spPr>
          <a:xfrm>
            <a:off x="9429725" y="1757284"/>
            <a:ext cx="26" cy="3131813"/>
          </a:xfrm>
          <a:custGeom>
            <a:avLst/>
            <a:gdLst/>
            <a:ahLst/>
            <a:cxnLst/>
            <a:pathLst>
              <a:path w="26" h="3131813">
                <a:moveTo>
                  <a:pt x="0" y="3131813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55" name="Figure 6 plot object 54"/>
          <p:cNvSpPr>
            <a:spLocks noGrp="1"/>
          </p:cNvSpPr>
          <p:nvPr/>
        </p:nvSpPr>
        <p:spPr>
          <a:xfrm>
            <a:off x="9429725" y="4889097"/>
            <a:ext cx="3645497" cy="26"/>
          </a:xfrm>
          <a:custGeom>
            <a:avLst/>
            <a:gdLst/>
            <a:ahLst/>
            <a:cxnLst/>
            <a:pathLst>
              <a:path w="3645497" h="26">
                <a:moveTo>
                  <a:pt x="0" y="0"/>
                </a:moveTo>
                <a:lnTo>
                  <a:pt x="3645497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56" name="26/30"/>
          <p:cNvSpPr>
            <a:spLocks noGrp="1"/>
          </p:cNvSpPr>
          <p:nvPr/>
        </p:nvSpPr>
        <p:spPr>
          <a:xfrm>
            <a:off x="12004813" y="2131792"/>
            <a:ext cx="61372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26/30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7" name="21/30"/>
          <p:cNvSpPr>
            <a:spLocks noGrp="1"/>
          </p:cNvSpPr>
          <p:nvPr/>
        </p:nvSpPr>
        <p:spPr>
          <a:xfrm>
            <a:off x="11394033" y="2860120"/>
            <a:ext cx="61691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21/30</a:t>
            </a:r>
            <a:endParaRPr sz="1800" b="0" i="0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8" name="4/30"/>
          <p:cNvSpPr>
            <a:spLocks noGrp="1"/>
          </p:cNvSpPr>
          <p:nvPr/>
        </p:nvSpPr>
        <p:spPr>
          <a:xfrm>
            <a:off x="9988701" y="3588449"/>
            <a:ext cx="50504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4/30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9" name="0/30"/>
          <p:cNvSpPr>
            <a:spLocks noGrp="1"/>
          </p:cNvSpPr>
          <p:nvPr/>
        </p:nvSpPr>
        <p:spPr>
          <a:xfrm>
            <a:off x="9502635" y="4316778"/>
            <a:ext cx="50504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0/30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0" name="Figure 6 plot object 59"/>
          <p:cNvSpPr>
            <a:spLocks noGrp="1"/>
          </p:cNvSpPr>
          <p:nvPr/>
        </p:nvSpPr>
        <p:spPr>
          <a:xfrm>
            <a:off x="1330094" y="6788069"/>
            <a:ext cx="5368823" cy="2803718"/>
          </a:xfrm>
          <a:custGeom>
            <a:avLst/>
            <a:gdLst/>
            <a:ahLst/>
            <a:cxnLst/>
            <a:pathLst>
              <a:path w="5368823" h="2803718">
                <a:moveTo>
                  <a:pt x="0" y="2803718"/>
                </a:moveTo>
                <a:lnTo>
                  <a:pt x="5368823" y="2803718"/>
                </a:lnTo>
                <a:lnTo>
                  <a:pt x="53688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61" name="Figure 6 plot object 60"/>
          <p:cNvSpPr>
            <a:spLocks noGrp="1"/>
          </p:cNvSpPr>
          <p:nvPr/>
        </p:nvSpPr>
        <p:spPr>
          <a:xfrm>
            <a:off x="1574132" y="7157695"/>
            <a:ext cx="230224" cy="2434093"/>
          </a:xfrm>
          <a:custGeom>
            <a:avLst/>
            <a:gdLst/>
            <a:ahLst/>
            <a:cxnLst/>
            <a:pathLst>
              <a:path w="230224" h="2434093">
                <a:moveTo>
                  <a:pt x="0" y="2434093"/>
                </a:moveTo>
                <a:lnTo>
                  <a:pt x="230224" y="2434093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2" name="Figure 6 plot object 61"/>
          <p:cNvSpPr>
            <a:spLocks noGrp="1"/>
          </p:cNvSpPr>
          <p:nvPr/>
        </p:nvSpPr>
        <p:spPr>
          <a:xfrm>
            <a:off x="2725251" y="8233560"/>
            <a:ext cx="230224" cy="1358228"/>
          </a:xfrm>
          <a:custGeom>
            <a:avLst/>
            <a:gdLst/>
            <a:ahLst/>
            <a:cxnLst/>
            <a:pathLst>
              <a:path w="230224" h="1358228">
                <a:moveTo>
                  <a:pt x="0" y="1358228"/>
                </a:moveTo>
                <a:lnTo>
                  <a:pt x="230224" y="1358228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3" name="Figure 6 plot object 62"/>
          <p:cNvSpPr>
            <a:spLocks noGrp="1"/>
          </p:cNvSpPr>
          <p:nvPr/>
        </p:nvSpPr>
        <p:spPr>
          <a:xfrm>
            <a:off x="4567043" y="9449834"/>
            <a:ext cx="230224" cy="141954"/>
          </a:xfrm>
          <a:custGeom>
            <a:avLst/>
            <a:gdLst/>
            <a:ahLst/>
            <a:cxnLst/>
            <a:pathLst>
              <a:path w="230224" h="141954">
                <a:moveTo>
                  <a:pt x="0" y="141954"/>
                </a:moveTo>
                <a:lnTo>
                  <a:pt x="230224" y="141954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4" name="Figure 6 plot object 63"/>
          <p:cNvSpPr>
            <a:spLocks noGrp="1"/>
          </p:cNvSpPr>
          <p:nvPr/>
        </p:nvSpPr>
        <p:spPr>
          <a:xfrm>
            <a:off x="5718163" y="9297272"/>
            <a:ext cx="230224" cy="294516"/>
          </a:xfrm>
          <a:custGeom>
            <a:avLst/>
            <a:gdLst/>
            <a:ahLst/>
            <a:cxnLst/>
            <a:pathLst>
              <a:path w="230224" h="294516">
                <a:moveTo>
                  <a:pt x="0" y="294516"/>
                </a:moveTo>
                <a:lnTo>
                  <a:pt x="230224" y="29451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65" name="Figure 6 plot object 64"/>
          <p:cNvSpPr>
            <a:spLocks noGrp="1"/>
          </p:cNvSpPr>
          <p:nvPr/>
        </p:nvSpPr>
        <p:spPr>
          <a:xfrm>
            <a:off x="1827378" y="8688771"/>
            <a:ext cx="230224" cy="903016"/>
          </a:xfrm>
          <a:custGeom>
            <a:avLst/>
            <a:gdLst/>
            <a:ahLst/>
            <a:cxnLst/>
            <a:pathLst>
              <a:path w="230224" h="903016">
                <a:moveTo>
                  <a:pt x="0" y="903016"/>
                </a:moveTo>
                <a:lnTo>
                  <a:pt x="230224" y="90301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6" name="Figure 6 plot object 65"/>
          <p:cNvSpPr>
            <a:spLocks noGrp="1"/>
          </p:cNvSpPr>
          <p:nvPr/>
        </p:nvSpPr>
        <p:spPr>
          <a:xfrm>
            <a:off x="2978498" y="8571833"/>
            <a:ext cx="230224" cy="1019955"/>
          </a:xfrm>
          <a:custGeom>
            <a:avLst/>
            <a:gdLst/>
            <a:ahLst/>
            <a:cxnLst/>
            <a:pathLst>
              <a:path w="230224" h="1019955">
                <a:moveTo>
                  <a:pt x="0" y="1019955"/>
                </a:moveTo>
                <a:lnTo>
                  <a:pt x="230224" y="1019955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7" name="Figure 6 plot object 66"/>
          <p:cNvSpPr>
            <a:spLocks noGrp="1"/>
          </p:cNvSpPr>
          <p:nvPr/>
        </p:nvSpPr>
        <p:spPr>
          <a:xfrm>
            <a:off x="4820289" y="8850668"/>
            <a:ext cx="230224" cy="741119"/>
          </a:xfrm>
          <a:custGeom>
            <a:avLst/>
            <a:gdLst/>
            <a:ahLst/>
            <a:cxnLst/>
            <a:pathLst>
              <a:path w="230224" h="741119">
                <a:moveTo>
                  <a:pt x="0" y="741119"/>
                </a:moveTo>
                <a:lnTo>
                  <a:pt x="230224" y="741119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8" name="Figure 6 plot object 67"/>
          <p:cNvSpPr>
            <a:spLocks noGrp="1"/>
          </p:cNvSpPr>
          <p:nvPr/>
        </p:nvSpPr>
        <p:spPr>
          <a:xfrm>
            <a:off x="5971409" y="8997716"/>
            <a:ext cx="230224" cy="594071"/>
          </a:xfrm>
          <a:custGeom>
            <a:avLst/>
            <a:gdLst/>
            <a:ahLst/>
            <a:cxnLst/>
            <a:pathLst>
              <a:path w="230224" h="594071">
                <a:moveTo>
                  <a:pt x="0" y="594071"/>
                </a:moveTo>
                <a:lnTo>
                  <a:pt x="230224" y="594071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69" name="Figure 6 plot object 68"/>
          <p:cNvSpPr>
            <a:spLocks noGrp="1"/>
          </p:cNvSpPr>
          <p:nvPr/>
        </p:nvSpPr>
        <p:spPr>
          <a:xfrm>
            <a:off x="2080624" y="8261072"/>
            <a:ext cx="230224" cy="1330716"/>
          </a:xfrm>
          <a:custGeom>
            <a:avLst/>
            <a:gdLst/>
            <a:ahLst/>
            <a:cxnLst/>
            <a:pathLst>
              <a:path w="230224" h="1330716">
                <a:moveTo>
                  <a:pt x="0" y="1330716"/>
                </a:moveTo>
                <a:lnTo>
                  <a:pt x="230224" y="133071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0" name="Figure 6 plot object 69"/>
          <p:cNvSpPr>
            <a:spLocks noGrp="1"/>
          </p:cNvSpPr>
          <p:nvPr/>
        </p:nvSpPr>
        <p:spPr>
          <a:xfrm>
            <a:off x="3231744" y="8419082"/>
            <a:ext cx="230224" cy="1172706"/>
          </a:xfrm>
          <a:custGeom>
            <a:avLst/>
            <a:gdLst/>
            <a:ahLst/>
            <a:cxnLst/>
            <a:pathLst>
              <a:path w="230224" h="1172706">
                <a:moveTo>
                  <a:pt x="0" y="1172706"/>
                </a:moveTo>
                <a:lnTo>
                  <a:pt x="230224" y="1172706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1" name="Figure 6 plot object 70"/>
          <p:cNvSpPr>
            <a:spLocks noGrp="1"/>
          </p:cNvSpPr>
          <p:nvPr/>
        </p:nvSpPr>
        <p:spPr>
          <a:xfrm>
            <a:off x="5073536" y="8224762"/>
            <a:ext cx="230224" cy="1367025"/>
          </a:xfrm>
          <a:custGeom>
            <a:avLst/>
            <a:gdLst/>
            <a:ahLst/>
            <a:cxnLst/>
            <a:pathLst>
              <a:path w="230224" h="1367025">
                <a:moveTo>
                  <a:pt x="0" y="1367025"/>
                </a:moveTo>
                <a:lnTo>
                  <a:pt x="230224" y="1367025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2" name="Figure 6 plot object 71"/>
          <p:cNvSpPr>
            <a:spLocks noGrp="1"/>
          </p:cNvSpPr>
          <p:nvPr/>
        </p:nvSpPr>
        <p:spPr>
          <a:xfrm>
            <a:off x="6224655" y="8834223"/>
            <a:ext cx="230224" cy="757564"/>
          </a:xfrm>
          <a:custGeom>
            <a:avLst/>
            <a:gdLst/>
            <a:ahLst/>
            <a:cxnLst/>
            <a:pathLst>
              <a:path w="230224" h="757564">
                <a:moveTo>
                  <a:pt x="0" y="757564"/>
                </a:moveTo>
                <a:lnTo>
                  <a:pt x="230224" y="757564"/>
                </a:lnTo>
                <a:lnTo>
                  <a:pt x="230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73" name="Figure 6 plot object 72"/>
          <p:cNvSpPr>
            <a:spLocks noGrp="1"/>
          </p:cNvSpPr>
          <p:nvPr/>
        </p:nvSpPr>
        <p:spPr>
          <a:xfrm>
            <a:off x="1942490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74" name="12 batches"/>
          <p:cNvSpPr>
            <a:spLocks noGrp="1"/>
          </p:cNvSpPr>
          <p:nvPr/>
        </p:nvSpPr>
        <p:spPr>
          <a:xfrm>
            <a:off x="1472611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5" name="Figure 6 plot object 74"/>
          <p:cNvSpPr>
            <a:spLocks noGrp="1"/>
          </p:cNvSpPr>
          <p:nvPr/>
        </p:nvSpPr>
        <p:spPr>
          <a:xfrm>
            <a:off x="3093610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76" name="24 batches"/>
          <p:cNvSpPr>
            <a:spLocks noGrp="1"/>
          </p:cNvSpPr>
          <p:nvPr/>
        </p:nvSpPr>
        <p:spPr>
          <a:xfrm>
            <a:off x="2623730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7" name="Figure 6 plot object 76"/>
          <p:cNvSpPr>
            <a:spLocks noGrp="1"/>
          </p:cNvSpPr>
          <p:nvPr/>
        </p:nvSpPr>
        <p:spPr>
          <a:xfrm>
            <a:off x="4935401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78" name="12 batches"/>
          <p:cNvSpPr>
            <a:spLocks noGrp="1"/>
          </p:cNvSpPr>
          <p:nvPr/>
        </p:nvSpPr>
        <p:spPr>
          <a:xfrm>
            <a:off x="4465522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Figure 6 plot object 78"/>
          <p:cNvSpPr>
            <a:spLocks noGrp="1"/>
          </p:cNvSpPr>
          <p:nvPr/>
        </p:nvSpPr>
        <p:spPr>
          <a:xfrm>
            <a:off x="6086521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0" name="24 batches"/>
          <p:cNvSpPr>
            <a:spLocks noGrp="1"/>
          </p:cNvSpPr>
          <p:nvPr/>
        </p:nvSpPr>
        <p:spPr>
          <a:xfrm>
            <a:off x="5616642" y="9833909"/>
            <a:ext cx="103565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Figure 6 plot object 80"/>
          <p:cNvSpPr>
            <a:spLocks noGrp="1"/>
          </p:cNvSpPr>
          <p:nvPr/>
        </p:nvSpPr>
        <p:spPr>
          <a:xfrm>
            <a:off x="1227808" y="959178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2" name="0"/>
          <p:cNvSpPr>
            <a:spLocks noGrp="1"/>
          </p:cNvSpPr>
          <p:nvPr/>
        </p:nvSpPr>
        <p:spPr>
          <a:xfrm>
            <a:off x="933733" y="9476795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3" name="Figure 6 plot object 82"/>
          <p:cNvSpPr>
            <a:spLocks noGrp="1"/>
          </p:cNvSpPr>
          <p:nvPr/>
        </p:nvSpPr>
        <p:spPr>
          <a:xfrm>
            <a:off x="1227808" y="884611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4" name="5"/>
          <p:cNvSpPr>
            <a:spLocks noGrp="1"/>
          </p:cNvSpPr>
          <p:nvPr/>
        </p:nvSpPr>
        <p:spPr>
          <a:xfrm>
            <a:off x="936930" y="8731126"/>
            <a:ext cx="21416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Figure 6 plot object 84"/>
          <p:cNvSpPr>
            <a:spLocks noGrp="1"/>
          </p:cNvSpPr>
          <p:nvPr/>
        </p:nvSpPr>
        <p:spPr>
          <a:xfrm>
            <a:off x="1227808" y="810044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6" name="10"/>
          <p:cNvSpPr>
            <a:spLocks noGrp="1"/>
          </p:cNvSpPr>
          <p:nvPr/>
        </p:nvSpPr>
        <p:spPr>
          <a:xfrm>
            <a:off x="818661" y="7985455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7" name="Figure 6 plot object 86"/>
          <p:cNvSpPr>
            <a:spLocks noGrp="1"/>
          </p:cNvSpPr>
          <p:nvPr/>
        </p:nvSpPr>
        <p:spPr>
          <a:xfrm>
            <a:off x="1227808" y="735477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88" name="15"/>
          <p:cNvSpPr>
            <a:spLocks noGrp="1"/>
          </p:cNvSpPr>
          <p:nvPr/>
        </p:nvSpPr>
        <p:spPr>
          <a:xfrm>
            <a:off x="821857" y="7239786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15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9" name="Prediction MAE (percentage points)"/>
          <p:cNvSpPr>
            <a:spLocks noGrp="1"/>
          </p:cNvSpPr>
          <p:nvPr/>
        </p:nvSpPr>
        <p:spPr>
          <a:xfrm rot="-5400000">
            <a:off x="-1029947" y="8000698"/>
            <a:ext cx="3311531" cy="276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 MAE (percentage points)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0" name="Figure 6 plot object 89"/>
          <p:cNvSpPr>
            <a:spLocks noGrp="1"/>
          </p:cNvSpPr>
          <p:nvPr/>
        </p:nvSpPr>
        <p:spPr>
          <a:xfrm>
            <a:off x="1330094" y="6788069"/>
            <a:ext cx="26" cy="2803718"/>
          </a:xfrm>
          <a:custGeom>
            <a:avLst/>
            <a:gdLst/>
            <a:ahLst/>
            <a:cxnLst/>
            <a:pathLst>
              <a:path w="26" h="2803718">
                <a:moveTo>
                  <a:pt x="0" y="2803718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91" name="Figure 6 plot object 90"/>
          <p:cNvSpPr>
            <a:spLocks noGrp="1"/>
          </p:cNvSpPr>
          <p:nvPr/>
        </p:nvSpPr>
        <p:spPr>
          <a:xfrm>
            <a:off x="1330094" y="9591788"/>
            <a:ext cx="5368823" cy="26"/>
          </a:xfrm>
          <a:custGeom>
            <a:avLst/>
            <a:gdLst/>
            <a:ahLst/>
            <a:cxnLst/>
            <a:pathLst>
              <a:path w="5368823" h="26">
                <a:moveTo>
                  <a:pt x="0" y="0"/>
                </a:moveTo>
                <a:lnTo>
                  <a:pt x="5368823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92" name="16.3"/>
          <p:cNvSpPr>
            <a:spLocks noGrp="1"/>
          </p:cNvSpPr>
          <p:nvPr/>
        </p:nvSpPr>
        <p:spPr>
          <a:xfrm>
            <a:off x="1503849" y="6840846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16.3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3" name="9.1"/>
          <p:cNvSpPr>
            <a:spLocks noGrp="1"/>
          </p:cNvSpPr>
          <p:nvPr/>
        </p:nvSpPr>
        <p:spPr>
          <a:xfrm>
            <a:off x="2707710" y="7916711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9.1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4" name="1.0"/>
          <p:cNvSpPr>
            <a:spLocks noGrp="1"/>
          </p:cNvSpPr>
          <p:nvPr/>
        </p:nvSpPr>
        <p:spPr>
          <a:xfrm>
            <a:off x="4549502" y="9132985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2.0"/>
          <p:cNvSpPr>
            <a:spLocks noGrp="1"/>
          </p:cNvSpPr>
          <p:nvPr/>
        </p:nvSpPr>
        <p:spPr>
          <a:xfrm>
            <a:off x="5699023" y="8980423"/>
            <a:ext cx="36439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6" name="6.1"/>
          <p:cNvSpPr>
            <a:spLocks noGrp="1"/>
          </p:cNvSpPr>
          <p:nvPr/>
        </p:nvSpPr>
        <p:spPr>
          <a:xfrm>
            <a:off x="1809837" y="837192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6.1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7" name="6.8"/>
          <p:cNvSpPr>
            <a:spLocks noGrp="1"/>
          </p:cNvSpPr>
          <p:nvPr/>
        </p:nvSpPr>
        <p:spPr>
          <a:xfrm>
            <a:off x="2960957" y="833118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6.8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8" name="5.0"/>
          <p:cNvSpPr>
            <a:spLocks noGrp="1"/>
          </p:cNvSpPr>
          <p:nvPr/>
        </p:nvSpPr>
        <p:spPr>
          <a:xfrm>
            <a:off x="4802748" y="8533818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9" name="4.0"/>
          <p:cNvSpPr>
            <a:spLocks noGrp="1"/>
          </p:cNvSpPr>
          <p:nvPr/>
        </p:nvSpPr>
        <p:spPr>
          <a:xfrm>
            <a:off x="5953868" y="8680867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0" name="8.9"/>
          <p:cNvSpPr>
            <a:spLocks noGrp="1"/>
          </p:cNvSpPr>
          <p:nvPr/>
        </p:nvSpPr>
        <p:spPr>
          <a:xfrm>
            <a:off x="2063083" y="794422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8.9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1" name="7.9"/>
          <p:cNvSpPr>
            <a:spLocks noGrp="1"/>
          </p:cNvSpPr>
          <p:nvPr/>
        </p:nvSpPr>
        <p:spPr>
          <a:xfrm>
            <a:off x="3214203" y="8026033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7.9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2" name="9.2"/>
          <p:cNvSpPr>
            <a:spLocks noGrp="1"/>
          </p:cNvSpPr>
          <p:nvPr/>
        </p:nvSpPr>
        <p:spPr>
          <a:xfrm>
            <a:off x="5054396" y="7907913"/>
            <a:ext cx="36439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9.2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3" name="5.1"/>
          <p:cNvSpPr>
            <a:spLocks noGrp="1"/>
          </p:cNvSpPr>
          <p:nvPr/>
        </p:nvSpPr>
        <p:spPr>
          <a:xfrm>
            <a:off x="6207114" y="8364974"/>
            <a:ext cx="361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5.1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4" name="Recovery"/>
          <p:cNvSpPr>
            <a:spLocks noGrp="1"/>
          </p:cNvSpPr>
          <p:nvPr/>
        </p:nvSpPr>
        <p:spPr>
          <a:xfrm>
            <a:off x="2088126" y="10244696"/>
            <a:ext cx="96213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Recovery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5" name="Purity"/>
          <p:cNvSpPr>
            <a:spLocks noGrp="1"/>
          </p:cNvSpPr>
          <p:nvPr/>
        </p:nvSpPr>
        <p:spPr>
          <a:xfrm>
            <a:off x="5248852" y="10244696"/>
            <a:ext cx="62650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6" name="Figure 6 plot object 105"/>
          <p:cNvSpPr>
            <a:spLocks noGrp="1"/>
          </p:cNvSpPr>
          <p:nvPr/>
        </p:nvSpPr>
        <p:spPr>
          <a:xfrm>
            <a:off x="8435499" y="6788069"/>
            <a:ext cx="4639723" cy="2803718"/>
          </a:xfrm>
          <a:custGeom>
            <a:avLst/>
            <a:gdLst/>
            <a:ahLst/>
            <a:cxnLst/>
            <a:pathLst>
              <a:path w="4639723" h="2803718">
                <a:moveTo>
                  <a:pt x="0" y="2803718"/>
                </a:moveTo>
                <a:lnTo>
                  <a:pt x="4639723" y="2803718"/>
                </a:lnTo>
                <a:lnTo>
                  <a:pt x="4639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07" name="Figure 6 plot object 106"/>
          <p:cNvSpPr>
            <a:spLocks noGrp="1"/>
          </p:cNvSpPr>
          <p:nvPr/>
        </p:nvSpPr>
        <p:spPr>
          <a:xfrm>
            <a:off x="9469406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08" name="12 batches"/>
          <p:cNvSpPr>
            <a:spLocks noGrp="1"/>
          </p:cNvSpPr>
          <p:nvPr/>
        </p:nvSpPr>
        <p:spPr>
          <a:xfrm>
            <a:off x="8970759" y="9831299"/>
            <a:ext cx="109958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Figure 6 plot object 108"/>
          <p:cNvSpPr>
            <a:spLocks noGrp="1"/>
          </p:cNvSpPr>
          <p:nvPr/>
        </p:nvSpPr>
        <p:spPr>
          <a:xfrm>
            <a:off x="12041315" y="9591788"/>
            <a:ext cx="26" cy="102287"/>
          </a:xfrm>
          <a:custGeom>
            <a:avLst/>
            <a:gdLst/>
            <a:ahLst/>
            <a:cxnLst/>
            <a:pathLst>
              <a:path w="26" h="102287">
                <a:moveTo>
                  <a:pt x="0" y="0"/>
                </a:moveTo>
                <a:lnTo>
                  <a:pt x="0" y="102287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0" name="24 batches"/>
          <p:cNvSpPr>
            <a:spLocks noGrp="1"/>
          </p:cNvSpPr>
          <p:nvPr/>
        </p:nvSpPr>
        <p:spPr>
          <a:xfrm>
            <a:off x="11542667" y="9831299"/>
            <a:ext cx="109958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1" name="Figure 6 plot object 110"/>
          <p:cNvSpPr>
            <a:spLocks noGrp="1"/>
          </p:cNvSpPr>
          <p:nvPr/>
        </p:nvSpPr>
        <p:spPr>
          <a:xfrm>
            <a:off x="8333212" y="9591788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2" name="0"/>
          <p:cNvSpPr>
            <a:spLocks noGrp="1"/>
          </p:cNvSpPr>
          <p:nvPr/>
        </p:nvSpPr>
        <p:spPr>
          <a:xfrm>
            <a:off x="8039138" y="9476795"/>
            <a:ext cx="21735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3" name="Figure 6 plot object 112"/>
          <p:cNvSpPr>
            <a:spLocks noGrp="1"/>
          </p:cNvSpPr>
          <p:nvPr/>
        </p:nvSpPr>
        <p:spPr>
          <a:xfrm>
            <a:off x="8333212" y="9082021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4" name="20"/>
          <p:cNvSpPr>
            <a:spLocks noGrp="1"/>
          </p:cNvSpPr>
          <p:nvPr/>
        </p:nvSpPr>
        <p:spPr>
          <a:xfrm>
            <a:off x="7927262" y="8967028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5" name="Figure 6 plot object 114"/>
          <p:cNvSpPr>
            <a:spLocks noGrp="1"/>
          </p:cNvSpPr>
          <p:nvPr/>
        </p:nvSpPr>
        <p:spPr>
          <a:xfrm>
            <a:off x="8333212" y="8572254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6" name="40"/>
          <p:cNvSpPr>
            <a:spLocks noGrp="1"/>
          </p:cNvSpPr>
          <p:nvPr/>
        </p:nvSpPr>
        <p:spPr>
          <a:xfrm>
            <a:off x="7924066" y="8457261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7" name="Figure 6 plot object 116"/>
          <p:cNvSpPr>
            <a:spLocks noGrp="1"/>
          </p:cNvSpPr>
          <p:nvPr/>
        </p:nvSpPr>
        <p:spPr>
          <a:xfrm>
            <a:off x="8333212" y="8062487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18" name="60"/>
          <p:cNvSpPr>
            <a:spLocks noGrp="1"/>
          </p:cNvSpPr>
          <p:nvPr/>
        </p:nvSpPr>
        <p:spPr>
          <a:xfrm>
            <a:off x="7927262" y="7947494"/>
            <a:ext cx="32923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9" name="Figure 6 plot object 118"/>
          <p:cNvSpPr>
            <a:spLocks noGrp="1"/>
          </p:cNvSpPr>
          <p:nvPr/>
        </p:nvSpPr>
        <p:spPr>
          <a:xfrm>
            <a:off x="8333212" y="7552720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20" name="80"/>
          <p:cNvSpPr>
            <a:spLocks noGrp="1"/>
          </p:cNvSpPr>
          <p:nvPr/>
        </p:nvSpPr>
        <p:spPr>
          <a:xfrm>
            <a:off x="7924066" y="7437727"/>
            <a:ext cx="33243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80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Figure 6 plot object 120"/>
          <p:cNvSpPr>
            <a:spLocks noGrp="1"/>
          </p:cNvSpPr>
          <p:nvPr/>
        </p:nvSpPr>
        <p:spPr>
          <a:xfrm>
            <a:off x="8333212" y="7042953"/>
            <a:ext cx="102287" cy="26"/>
          </a:xfrm>
          <a:custGeom>
            <a:avLst/>
            <a:gdLst/>
            <a:ahLst/>
            <a:cxnLst/>
            <a:pathLst>
              <a:path w="102287" h="26">
                <a:moveTo>
                  <a:pt x="102287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23014">
            <a:solidFill>
              <a:srgbClr val="111111"/>
            </a:solidFill>
            <a:prstDash val="solid"/>
          </a:ln>
        </p:spPr>
      </p:sp>
      <p:sp>
        <p:nvSpPr>
          <p:cNvPr id="122" name="100"/>
          <p:cNvSpPr>
            <a:spLocks noGrp="1"/>
          </p:cNvSpPr>
          <p:nvPr/>
        </p:nvSpPr>
        <p:spPr>
          <a:xfrm>
            <a:off x="7808993" y="6927960"/>
            <a:ext cx="447504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3" name="Purity interval coverage (%)"/>
          <p:cNvSpPr>
            <a:spLocks noGrp="1"/>
          </p:cNvSpPr>
          <p:nvPr/>
        </p:nvSpPr>
        <p:spPr>
          <a:xfrm rot="-5400000">
            <a:off x="6313306" y="8000698"/>
            <a:ext cx="2608310" cy="276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 interval coverage (%)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4" name="Figure 6 plot object 123"/>
          <p:cNvSpPr>
            <a:spLocks noGrp="1"/>
          </p:cNvSpPr>
          <p:nvPr/>
        </p:nvSpPr>
        <p:spPr>
          <a:xfrm>
            <a:off x="8435499" y="6788069"/>
            <a:ext cx="26" cy="2803718"/>
          </a:xfrm>
          <a:custGeom>
            <a:avLst/>
            <a:gdLst/>
            <a:ahLst/>
            <a:cxnLst/>
            <a:pathLst>
              <a:path w="26" h="2803718">
                <a:moveTo>
                  <a:pt x="0" y="2803718"/>
                </a:moveTo>
                <a:lnTo>
                  <a:pt x="0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125" name="Figure 6 plot object 124"/>
          <p:cNvSpPr>
            <a:spLocks noGrp="1"/>
          </p:cNvSpPr>
          <p:nvPr/>
        </p:nvSpPr>
        <p:spPr>
          <a:xfrm>
            <a:off x="8435499" y="9591788"/>
            <a:ext cx="4639723" cy="26"/>
          </a:xfrm>
          <a:custGeom>
            <a:avLst/>
            <a:gdLst/>
            <a:ahLst/>
            <a:cxnLst/>
            <a:pathLst>
              <a:path w="4639723" h="26">
                <a:moveTo>
                  <a:pt x="0" y="0"/>
                </a:moveTo>
                <a:lnTo>
                  <a:pt x="4639723" y="0"/>
                </a:lnTo>
              </a:path>
            </a:pathLst>
          </a:custGeom>
          <a:noFill/>
          <a:ln w="23014">
            <a:solidFill>
              <a:srgbClr val="111111"/>
            </a:solidFill>
            <a:prstDash val="solid"/>
          </a:ln>
        </p:spPr>
      </p:sp>
      <p:sp>
        <p:nvSpPr>
          <p:cNvPr id="126" name="Figure 6 plot object 125"/>
          <p:cNvSpPr>
            <a:spLocks noGrp="1"/>
          </p:cNvSpPr>
          <p:nvPr/>
        </p:nvSpPr>
        <p:spPr>
          <a:xfrm>
            <a:off x="8646395" y="7085433"/>
            <a:ext cx="514382" cy="2506354"/>
          </a:xfrm>
          <a:custGeom>
            <a:avLst/>
            <a:gdLst/>
            <a:ahLst/>
            <a:cxnLst/>
            <a:pathLst>
              <a:path w="514382" h="2506354">
                <a:moveTo>
                  <a:pt x="0" y="2506354"/>
                </a:moveTo>
                <a:lnTo>
                  <a:pt x="514382" y="2506354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127" name="Figure 6 plot object 126"/>
          <p:cNvSpPr>
            <a:spLocks noGrp="1"/>
          </p:cNvSpPr>
          <p:nvPr/>
        </p:nvSpPr>
        <p:spPr>
          <a:xfrm>
            <a:off x="11218304" y="7170394"/>
            <a:ext cx="514382" cy="2421393"/>
          </a:xfrm>
          <a:custGeom>
            <a:avLst/>
            <a:gdLst/>
            <a:ahLst/>
            <a:cxnLst/>
            <a:pathLst>
              <a:path w="514382" h="2421393">
                <a:moveTo>
                  <a:pt x="0" y="2421393"/>
                </a:moveTo>
                <a:lnTo>
                  <a:pt x="514382" y="2421393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noFill/>
            <a:prstDash val="solid"/>
          </a:ln>
        </p:spPr>
      </p:sp>
      <p:sp>
        <p:nvSpPr>
          <p:cNvPr id="128" name="Figure 6 plot object 127"/>
          <p:cNvSpPr>
            <a:spLocks noGrp="1"/>
          </p:cNvSpPr>
          <p:nvPr/>
        </p:nvSpPr>
        <p:spPr>
          <a:xfrm>
            <a:off x="9212215" y="8062487"/>
            <a:ext cx="514382" cy="1529301"/>
          </a:xfrm>
          <a:custGeom>
            <a:avLst/>
            <a:gdLst/>
            <a:ahLst/>
            <a:cxnLst/>
            <a:pathLst>
              <a:path w="514382" h="1529301">
                <a:moveTo>
                  <a:pt x="0" y="1529301"/>
                </a:moveTo>
                <a:lnTo>
                  <a:pt x="514382" y="1529301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129" name="Figure 6 plot object 128"/>
          <p:cNvSpPr>
            <a:spLocks noGrp="1"/>
          </p:cNvSpPr>
          <p:nvPr/>
        </p:nvSpPr>
        <p:spPr>
          <a:xfrm>
            <a:off x="11784124" y="7722642"/>
            <a:ext cx="514382" cy="1869146"/>
          </a:xfrm>
          <a:custGeom>
            <a:avLst/>
            <a:gdLst/>
            <a:ahLst/>
            <a:cxnLst/>
            <a:pathLst>
              <a:path w="514382" h="1869146">
                <a:moveTo>
                  <a:pt x="0" y="1869146"/>
                </a:moveTo>
                <a:lnTo>
                  <a:pt x="514382" y="1869146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noFill/>
            <a:prstDash val="solid"/>
          </a:ln>
        </p:spPr>
      </p:sp>
      <p:sp>
        <p:nvSpPr>
          <p:cNvPr id="130" name="Figure 6 plot object 129"/>
          <p:cNvSpPr>
            <a:spLocks noGrp="1"/>
          </p:cNvSpPr>
          <p:nvPr/>
        </p:nvSpPr>
        <p:spPr>
          <a:xfrm>
            <a:off x="9778035" y="8997059"/>
            <a:ext cx="514382" cy="594728"/>
          </a:xfrm>
          <a:custGeom>
            <a:avLst/>
            <a:gdLst/>
            <a:ahLst/>
            <a:cxnLst/>
            <a:pathLst>
              <a:path w="514382" h="594728">
                <a:moveTo>
                  <a:pt x="0" y="594728"/>
                </a:moveTo>
                <a:lnTo>
                  <a:pt x="514382" y="594728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131" name="Figure 6 plot object 130"/>
          <p:cNvSpPr>
            <a:spLocks noGrp="1"/>
          </p:cNvSpPr>
          <p:nvPr/>
        </p:nvSpPr>
        <p:spPr>
          <a:xfrm>
            <a:off x="12349944" y="8189928"/>
            <a:ext cx="514382" cy="1401859"/>
          </a:xfrm>
          <a:custGeom>
            <a:avLst/>
            <a:gdLst/>
            <a:ahLst/>
            <a:cxnLst/>
            <a:pathLst>
              <a:path w="514382" h="1401859">
                <a:moveTo>
                  <a:pt x="0" y="1401859"/>
                </a:moveTo>
                <a:lnTo>
                  <a:pt x="514382" y="1401859"/>
                </a:lnTo>
                <a:lnTo>
                  <a:pt x="51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noFill/>
            <a:prstDash val="solid"/>
          </a:ln>
        </p:spPr>
      </p:sp>
      <p:sp>
        <p:nvSpPr>
          <p:cNvPr id="132" name="Figure 6 plot object 131"/>
          <p:cNvSpPr>
            <a:spLocks noGrp="1"/>
          </p:cNvSpPr>
          <p:nvPr/>
        </p:nvSpPr>
        <p:spPr>
          <a:xfrm>
            <a:off x="8435499" y="7552720"/>
            <a:ext cx="4639723" cy="26"/>
          </a:xfrm>
          <a:custGeom>
            <a:avLst/>
            <a:gdLst/>
            <a:ahLst/>
            <a:cxnLst/>
            <a:pathLst>
              <a:path w="4639723" h="26">
                <a:moveTo>
                  <a:pt x="0" y="0"/>
                </a:moveTo>
                <a:lnTo>
                  <a:pt x="4639723" y="0"/>
                </a:lnTo>
              </a:path>
            </a:pathLst>
          </a:custGeom>
          <a:noFill/>
          <a:ln w="25572">
            <a:solidFill>
              <a:srgbClr val="111111"/>
            </a:solidFill>
            <a:custDash>
              <a:ds d="400000" sp="300000"/>
            </a:custDash>
          </a:ln>
        </p:spPr>
      </p:sp>
      <p:sp>
        <p:nvSpPr>
          <p:cNvPr id="133" name="Figure 6 plot object 132"/>
          <p:cNvSpPr>
            <a:spLocks noGrp="1"/>
          </p:cNvSpPr>
          <p:nvPr/>
        </p:nvSpPr>
        <p:spPr>
          <a:xfrm>
            <a:off x="8703543" y="6794326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34" name="98.3"/>
          <p:cNvSpPr>
            <a:spLocks noGrp="1"/>
          </p:cNvSpPr>
          <p:nvPr/>
        </p:nvSpPr>
        <p:spPr>
          <a:xfrm>
            <a:off x="8718192" y="6768584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98.3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5" name="Figure 6 plot object 134"/>
          <p:cNvSpPr>
            <a:spLocks noGrp="1"/>
          </p:cNvSpPr>
          <p:nvPr/>
        </p:nvSpPr>
        <p:spPr>
          <a:xfrm>
            <a:off x="11275452" y="6879287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36" name="95.0"/>
          <p:cNvSpPr>
            <a:spLocks noGrp="1"/>
          </p:cNvSpPr>
          <p:nvPr/>
        </p:nvSpPr>
        <p:spPr>
          <a:xfrm>
            <a:off x="11290100" y="6853546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95.0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7" name="Figure 6 plot object 136"/>
          <p:cNvSpPr>
            <a:spLocks noGrp="1"/>
          </p:cNvSpPr>
          <p:nvPr/>
        </p:nvSpPr>
        <p:spPr>
          <a:xfrm>
            <a:off x="9269363" y="7771379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38" name="60.0"/>
          <p:cNvSpPr>
            <a:spLocks noGrp="1"/>
          </p:cNvSpPr>
          <p:nvPr/>
        </p:nvSpPr>
        <p:spPr>
          <a:xfrm>
            <a:off x="9284012" y="7745638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60.0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39" name="Figure 6 plot object 138"/>
          <p:cNvSpPr>
            <a:spLocks noGrp="1"/>
          </p:cNvSpPr>
          <p:nvPr/>
        </p:nvSpPr>
        <p:spPr>
          <a:xfrm>
            <a:off x="11841271" y="7431535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40" name="73.3"/>
          <p:cNvSpPr>
            <a:spLocks noGrp="1"/>
          </p:cNvSpPr>
          <p:nvPr/>
        </p:nvSpPr>
        <p:spPr>
          <a:xfrm>
            <a:off x="11855920" y="7405793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73.3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1" name="Figure 6 plot object 140"/>
          <p:cNvSpPr>
            <a:spLocks noGrp="1"/>
          </p:cNvSpPr>
          <p:nvPr/>
        </p:nvSpPr>
        <p:spPr>
          <a:xfrm>
            <a:off x="9835183" y="8705952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42" name="23.3"/>
          <p:cNvSpPr>
            <a:spLocks noGrp="1"/>
          </p:cNvSpPr>
          <p:nvPr/>
        </p:nvSpPr>
        <p:spPr>
          <a:xfrm>
            <a:off x="9848233" y="8680211"/>
            <a:ext cx="46987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23.3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3" name="Figure 6 plot object 142"/>
          <p:cNvSpPr>
            <a:spLocks noGrp="1"/>
          </p:cNvSpPr>
          <p:nvPr/>
        </p:nvSpPr>
        <p:spPr>
          <a:xfrm>
            <a:off x="12407091" y="7898821"/>
            <a:ext cx="400087" cy="202246"/>
          </a:xfrm>
          <a:custGeom>
            <a:avLst/>
            <a:gdLst/>
            <a:ahLst/>
            <a:cxnLst/>
            <a:pathLst>
              <a:path w="400087" h="202246">
                <a:moveTo>
                  <a:pt x="0" y="202246"/>
                </a:moveTo>
                <a:lnTo>
                  <a:pt x="400087" y="202246"/>
                </a:lnTo>
                <a:lnTo>
                  <a:pt x="4000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72">
            <a:noFill/>
            <a:prstDash val="solid"/>
          </a:ln>
        </p:spPr>
      </p:sp>
      <p:sp>
        <p:nvSpPr>
          <p:cNvPr id="144" name="55.0"/>
          <p:cNvSpPr>
            <a:spLocks noGrp="1"/>
          </p:cNvSpPr>
          <p:nvPr/>
        </p:nvSpPr>
        <p:spPr>
          <a:xfrm>
            <a:off x="12421740" y="7873079"/>
            <a:ext cx="4666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55.0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5" name="a"/>
          <p:cNvSpPr>
            <a:spLocks noGrp="1"/>
          </p:cNvSpPr>
          <p:nvPr/>
        </p:nvSpPr>
        <p:spPr>
          <a:xfrm>
            <a:off x="680533" y="897902"/>
            <a:ext cx="290878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6" name="Observed and predicted purity"/>
          <p:cNvSpPr>
            <a:spLocks noGrp="1"/>
          </p:cNvSpPr>
          <p:nvPr/>
        </p:nvSpPr>
        <p:spPr>
          <a:xfrm>
            <a:off x="1038454" y="944954"/>
            <a:ext cx="3100565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 and predicted purity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7" name="b"/>
          <p:cNvSpPr>
            <a:spLocks noGrp="1"/>
          </p:cNvSpPr>
          <p:nvPr/>
        </p:nvSpPr>
        <p:spPr>
          <a:xfrm>
            <a:off x="7388247" y="897902"/>
            <a:ext cx="306860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8" name="Lower MAE than the source-mean baseline"/>
          <p:cNvSpPr>
            <a:spLocks noGrp="1"/>
          </p:cNvSpPr>
          <p:nvPr/>
        </p:nvSpPr>
        <p:spPr>
          <a:xfrm>
            <a:off x="7746169" y="944954"/>
            <a:ext cx="4414309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Lower MAE than the source-mean baseline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9" name="c"/>
          <p:cNvSpPr>
            <a:spLocks noGrp="1"/>
          </p:cNvSpPr>
          <p:nvPr/>
        </p:nvSpPr>
        <p:spPr>
          <a:xfrm>
            <a:off x="680533" y="5660246"/>
            <a:ext cx="290878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Information effects differ across responses"/>
          <p:cNvSpPr>
            <a:spLocks noGrp="1"/>
          </p:cNvSpPr>
          <p:nvPr/>
        </p:nvSpPr>
        <p:spPr>
          <a:xfrm>
            <a:off x="1038454" y="5707298"/>
            <a:ext cx="4343987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Information effects differ across responses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1" name="d"/>
          <p:cNvSpPr>
            <a:spLocks noGrp="1"/>
          </p:cNvSpPr>
          <p:nvPr/>
        </p:nvSpPr>
        <p:spPr>
          <a:xfrm>
            <a:off x="7388247" y="5660246"/>
            <a:ext cx="306860" cy="3711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Purity intervals can miss the reference"/>
          <p:cNvSpPr>
            <a:spLocks noGrp="1"/>
          </p:cNvSpPr>
          <p:nvPr/>
        </p:nvSpPr>
        <p:spPr>
          <a:xfrm>
            <a:off x="7746169" y="5707298"/>
            <a:ext cx="3918858" cy="3020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Purity intervals can miss the reference</a:t>
            </a:r>
            <a:endParaRPr sz="1800" b="1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3" name="Figure 6 plot object 152"/>
          <p:cNvSpPr>
            <a:spLocks noGrp="1"/>
          </p:cNvSpPr>
          <p:nvPr/>
        </p:nvSpPr>
        <p:spPr>
          <a:xfrm>
            <a:off x="1222570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solidFill>
              <a:srgbClr val="637482"/>
            </a:solidFill>
            <a:prstDash val="solid"/>
          </a:ln>
        </p:spPr>
      </p:sp>
      <p:sp>
        <p:nvSpPr>
          <p:cNvPr id="154" name="Opaque"/>
          <p:cNvSpPr>
            <a:spLocks noGrp="1"/>
          </p:cNvSpPr>
          <p:nvPr/>
        </p:nvSpPr>
        <p:spPr>
          <a:xfrm>
            <a:off x="1611260" y="6195515"/>
            <a:ext cx="8278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5" name="Figure 6 plot object 154"/>
          <p:cNvSpPr>
            <a:spLocks noGrp="1"/>
          </p:cNvSpPr>
          <p:nvPr/>
        </p:nvSpPr>
        <p:spPr>
          <a:xfrm>
            <a:off x="2707421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solidFill>
              <a:srgbClr val="277F8A"/>
            </a:solidFill>
            <a:prstDash val="solid"/>
          </a:ln>
        </p:spPr>
      </p:sp>
      <p:sp>
        <p:nvSpPr>
          <p:cNvPr id="156" name="Aligned"/>
          <p:cNvSpPr>
            <a:spLocks noGrp="1"/>
          </p:cNvSpPr>
          <p:nvPr/>
        </p:nvSpPr>
        <p:spPr>
          <a:xfrm>
            <a:off x="3096111" y="6195515"/>
            <a:ext cx="7799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7" name="Figure 6 plot object 156"/>
          <p:cNvSpPr>
            <a:spLocks noGrp="1"/>
          </p:cNvSpPr>
          <p:nvPr/>
        </p:nvSpPr>
        <p:spPr>
          <a:xfrm>
            <a:off x="4146754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solidFill>
              <a:srgbClr val="BC7850"/>
            </a:solidFill>
            <a:prstDash val="solid"/>
          </a:ln>
        </p:spPr>
      </p:sp>
      <p:sp>
        <p:nvSpPr>
          <p:cNvPr id="158" name="MisIndexed"/>
          <p:cNvSpPr>
            <a:spLocks noGrp="1"/>
          </p:cNvSpPr>
          <p:nvPr/>
        </p:nvSpPr>
        <p:spPr>
          <a:xfrm>
            <a:off x="4535444" y="6195515"/>
            <a:ext cx="11411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Figure 6 plot object 158"/>
          <p:cNvSpPr>
            <a:spLocks noGrp="1"/>
          </p:cNvSpPr>
          <p:nvPr/>
        </p:nvSpPr>
        <p:spPr>
          <a:xfrm>
            <a:off x="7930285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25572">
            <a:solidFill>
              <a:srgbClr val="637482"/>
            </a:solidFill>
            <a:prstDash val="solid"/>
          </a:ln>
        </p:spPr>
      </p:sp>
      <p:sp>
        <p:nvSpPr>
          <p:cNvPr id="160" name="Opaque"/>
          <p:cNvSpPr>
            <a:spLocks noGrp="1"/>
          </p:cNvSpPr>
          <p:nvPr/>
        </p:nvSpPr>
        <p:spPr>
          <a:xfrm>
            <a:off x="8318974" y="6195515"/>
            <a:ext cx="827883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Opaque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1" name="Figure 6 plot object 160"/>
          <p:cNvSpPr>
            <a:spLocks noGrp="1"/>
          </p:cNvSpPr>
          <p:nvPr/>
        </p:nvSpPr>
        <p:spPr>
          <a:xfrm>
            <a:off x="9415135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25572">
            <a:solidFill>
              <a:srgbClr val="277F8A"/>
            </a:solidFill>
            <a:prstDash val="solid"/>
          </a:ln>
        </p:spPr>
      </p:sp>
      <p:sp>
        <p:nvSpPr>
          <p:cNvPr id="162" name="Aligned"/>
          <p:cNvSpPr>
            <a:spLocks noGrp="1"/>
          </p:cNvSpPr>
          <p:nvPr/>
        </p:nvSpPr>
        <p:spPr>
          <a:xfrm>
            <a:off x="9803825" y="6195515"/>
            <a:ext cx="7799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Aligned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3" name="Figure 6 plot object 162"/>
          <p:cNvSpPr>
            <a:spLocks noGrp="1"/>
          </p:cNvSpPr>
          <p:nvPr/>
        </p:nvSpPr>
        <p:spPr>
          <a:xfrm>
            <a:off x="10854469" y="6240521"/>
            <a:ext cx="225031" cy="143201"/>
          </a:xfrm>
          <a:custGeom>
            <a:avLst/>
            <a:gdLst/>
            <a:ahLst/>
            <a:cxnLst/>
            <a:pathLst>
              <a:path w="225031" h="143201">
                <a:moveTo>
                  <a:pt x="0" y="143201"/>
                </a:moveTo>
                <a:lnTo>
                  <a:pt x="225031" y="143201"/>
                </a:lnTo>
                <a:lnTo>
                  <a:pt x="22503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25572">
            <a:solidFill>
              <a:srgbClr val="BC7850"/>
            </a:solidFill>
            <a:prstDash val="solid"/>
          </a:ln>
        </p:spPr>
      </p:sp>
      <p:sp>
        <p:nvSpPr>
          <p:cNvPr id="164" name="MisIndexed"/>
          <p:cNvSpPr>
            <a:spLocks noGrp="1"/>
          </p:cNvSpPr>
          <p:nvPr/>
        </p:nvSpPr>
        <p:spPr>
          <a:xfrm>
            <a:off x="11243158" y="6195515"/>
            <a:ext cx="114113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11111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MisIndexed</a:t>
            </a:r>
            <a:endParaRPr sz="1800" b="0" i="0">
              <a:solidFill>
                <a:srgbClr val="11111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6" name="section-rule-1"/>
          <p:cNvSpPr/>
          <p:nvPr/>
        </p:nvSpPr>
        <p:spPr>
          <a:xfrm>
            <a:off x="1698126" y="429548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2" name="panel-letter-A-2"/>
          <p:cNvSpPr/>
          <p:nvPr/>
        </p:nvSpPr>
        <p:spPr>
          <a:xfrm>
            <a:off x="1698126" y="490201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panel-title-A-3"/>
          <p:cNvSpPr/>
          <p:nvPr/>
        </p:nvSpPr>
        <p:spPr>
          <a:xfrm>
            <a:off x="2062047" y="516195"/>
            <a:ext cx="2508885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Source research histories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" name="12-session-bar-5"/>
          <p:cNvSpPr/>
          <p:nvPr/>
        </p:nvSpPr>
        <p:spPr>
          <a:xfrm>
            <a:off x="1698126" y="854122"/>
            <a:ext cx="4895597" cy="320597"/>
          </a:xfrm>
          <a:prstGeom prst="rect">
            <a:avLst/>
          </a:prstGeom>
          <a:gradFill>
            <a:gsLst>
              <a:gs pos="0">
                <a:srgbClr val="4B81A1"/>
              </a:gs>
              <a:gs pos="100000">
                <a:srgbClr val="3F7497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6" name="24-session-bar-6"/>
          <p:cNvSpPr/>
          <p:nvPr/>
        </p:nvSpPr>
        <p:spPr>
          <a:xfrm>
            <a:off x="6966309" y="854122"/>
            <a:ext cx="5060228" cy="320597"/>
          </a:xfrm>
          <a:prstGeom prst="rect">
            <a:avLst/>
          </a:prstGeom>
          <a:gradFill>
            <a:gsLst>
              <a:gs pos="0">
                <a:srgbClr val="1C6B70"/>
              </a:gs>
              <a:gs pos="100000">
                <a:srgbClr val="1D6061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7" name="12-session-title-7"/>
          <p:cNvSpPr/>
          <p:nvPr/>
        </p:nvSpPr>
        <p:spPr>
          <a:xfrm>
            <a:off x="1776109" y="888782"/>
            <a:ext cx="4739632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12-batch session (W05/Aligned)</a:t>
            </a:r>
            <a:endParaRPr sz="18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" name="24-session-title-8"/>
          <p:cNvSpPr/>
          <p:nvPr/>
        </p:nvSpPr>
        <p:spPr>
          <a:xfrm>
            <a:off x="7035627" y="888782"/>
            <a:ext cx="4921592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24-batch session (W05/Aligned)</a:t>
            </a:r>
            <a:endParaRPr sz="18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" name="session-divider-9"/>
          <p:cNvSpPr/>
          <p:nvPr/>
        </p:nvSpPr>
        <p:spPr>
          <a:xfrm>
            <a:off x="6801678" y="845457"/>
            <a:ext cx="87" cy="1594318"/>
          </a:xfrm>
          <a:custGeom>
            <a:avLst/>
            <a:gdLst/>
            <a:ahLst/>
            <a:cxnLst/>
            <a:pathLst>
              <a:path w="87" h="1594318">
                <a:moveTo>
                  <a:pt x="0" y="0"/>
                </a:moveTo>
                <a:lnTo>
                  <a:pt x="0" y="1594318"/>
                </a:lnTo>
              </a:path>
            </a:pathLst>
          </a:custGeom>
          <a:noFill/>
          <a:ln w="10398">
            <a:solidFill>
              <a:srgbClr val="9EADB8"/>
            </a:solidFill>
            <a:prstDash val="dash"/>
          </a:ln>
        </p:spPr>
      </p:sp>
      <p:sp>
        <p:nvSpPr>
          <p:cNvPr id="10" name="research-timeline-10"/>
          <p:cNvSpPr/>
          <p:nvPr/>
        </p:nvSpPr>
        <p:spPr>
          <a:xfrm>
            <a:off x="1732785" y="1694605"/>
            <a:ext cx="1654972" cy="87"/>
          </a:xfrm>
          <a:custGeom>
            <a:avLst/>
            <a:gdLst/>
            <a:ahLst/>
            <a:cxnLst/>
            <a:pathLst>
              <a:path w="1654972" h="87">
                <a:moveTo>
                  <a:pt x="0" y="0"/>
                </a:moveTo>
                <a:lnTo>
                  <a:pt x="1654972" y="0"/>
                </a:lnTo>
              </a:path>
            </a:pathLst>
          </a:custGeom>
          <a:noFill/>
          <a:ln w="12997">
            <a:solidFill>
              <a:srgbClr val="42799A"/>
            </a:solidFill>
            <a:prstDash val="solid"/>
          </a:ln>
        </p:spPr>
      </p:sp>
      <p:sp>
        <p:nvSpPr>
          <p:cNvPr id="11" name="research-timeline-11"/>
          <p:cNvSpPr/>
          <p:nvPr/>
        </p:nvSpPr>
        <p:spPr>
          <a:xfrm>
            <a:off x="3968297" y="1694605"/>
            <a:ext cx="1213068" cy="87"/>
          </a:xfrm>
          <a:custGeom>
            <a:avLst/>
            <a:gdLst/>
            <a:ahLst/>
            <a:cxnLst/>
            <a:pathLst>
              <a:path w="1213068" h="87">
                <a:moveTo>
                  <a:pt x="0" y="0"/>
                </a:moveTo>
                <a:lnTo>
                  <a:pt x="1213068" y="0"/>
                </a:lnTo>
              </a:path>
            </a:pathLst>
          </a:custGeom>
          <a:noFill/>
          <a:ln w="12997">
            <a:solidFill>
              <a:srgbClr val="42799A"/>
            </a:solidFill>
            <a:prstDash val="solid"/>
          </a:ln>
        </p:spPr>
      </p:sp>
      <p:sp>
        <p:nvSpPr>
          <p:cNvPr id="12" name="batch-marker-12"/>
          <p:cNvSpPr/>
          <p:nvPr/>
        </p:nvSpPr>
        <p:spPr>
          <a:xfrm>
            <a:off x="2022189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3" name="batch-marker-13"/>
          <p:cNvSpPr/>
          <p:nvPr/>
        </p:nvSpPr>
        <p:spPr>
          <a:xfrm>
            <a:off x="2429433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4" name="batch-marker-14"/>
          <p:cNvSpPr/>
          <p:nvPr/>
        </p:nvSpPr>
        <p:spPr>
          <a:xfrm>
            <a:off x="2836678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5" name="batch-marker-15"/>
          <p:cNvSpPr/>
          <p:nvPr/>
        </p:nvSpPr>
        <p:spPr>
          <a:xfrm>
            <a:off x="3243922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6" name="batch-marker-16"/>
          <p:cNvSpPr/>
          <p:nvPr/>
        </p:nvSpPr>
        <p:spPr>
          <a:xfrm>
            <a:off x="3963098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7" name="batch-marker-17"/>
          <p:cNvSpPr/>
          <p:nvPr/>
        </p:nvSpPr>
        <p:spPr>
          <a:xfrm>
            <a:off x="4353013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8" name="batch-marker-18"/>
          <p:cNvSpPr/>
          <p:nvPr/>
        </p:nvSpPr>
        <p:spPr>
          <a:xfrm>
            <a:off x="4734263" y="1620088"/>
            <a:ext cx="149034" cy="149034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19" name="omitted-batch-dot-19"/>
          <p:cNvSpPr/>
          <p:nvPr/>
        </p:nvSpPr>
        <p:spPr>
          <a:xfrm>
            <a:off x="3606110" y="1679008"/>
            <a:ext cx="31193" cy="31193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20" name="omitted-batch-dot-20"/>
          <p:cNvSpPr/>
          <p:nvPr/>
        </p:nvSpPr>
        <p:spPr>
          <a:xfrm>
            <a:off x="3692757" y="1679008"/>
            <a:ext cx="31193" cy="31193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21" name="omitted-batch-dot-21"/>
          <p:cNvSpPr/>
          <p:nvPr/>
        </p:nvSpPr>
        <p:spPr>
          <a:xfrm>
            <a:off x="3779405" y="1679008"/>
            <a:ext cx="31193" cy="31193"/>
          </a:xfrm>
          <a:prstGeom prst="ellipse">
            <a:avLst/>
          </a:prstGeom>
          <a:solidFill>
            <a:srgbClr val="42799A"/>
          </a:solidFill>
          <a:ln w="0">
            <a:noFill/>
            <a:prstDash val="solid"/>
          </a:ln>
        </p:spPr>
      </p:sp>
      <p:sp>
        <p:nvSpPr>
          <p:cNvPr id="22" name="research-timeline-22"/>
          <p:cNvSpPr/>
          <p:nvPr/>
        </p:nvSpPr>
        <p:spPr>
          <a:xfrm>
            <a:off x="6983639" y="1694605"/>
            <a:ext cx="1447017" cy="87"/>
          </a:xfrm>
          <a:custGeom>
            <a:avLst/>
            <a:gdLst/>
            <a:ahLst/>
            <a:cxnLst/>
            <a:pathLst>
              <a:path w="1447017" h="87">
                <a:moveTo>
                  <a:pt x="0" y="0"/>
                </a:moveTo>
                <a:lnTo>
                  <a:pt x="1447017" y="0"/>
                </a:lnTo>
              </a:path>
            </a:pathLst>
          </a:custGeom>
          <a:noFill/>
          <a:ln w="12997">
            <a:solidFill>
              <a:srgbClr val="206A6D"/>
            </a:solidFill>
            <a:prstDash val="solid"/>
          </a:ln>
        </p:spPr>
      </p:sp>
      <p:sp>
        <p:nvSpPr>
          <p:cNvPr id="23" name="research-timeline-23"/>
          <p:cNvSpPr/>
          <p:nvPr/>
        </p:nvSpPr>
        <p:spPr>
          <a:xfrm>
            <a:off x="8950542" y="1694605"/>
            <a:ext cx="1836932" cy="87"/>
          </a:xfrm>
          <a:custGeom>
            <a:avLst/>
            <a:gdLst/>
            <a:ahLst/>
            <a:cxnLst/>
            <a:pathLst>
              <a:path w="1836932" h="87">
                <a:moveTo>
                  <a:pt x="0" y="0"/>
                </a:moveTo>
                <a:lnTo>
                  <a:pt x="1836932" y="0"/>
                </a:lnTo>
              </a:path>
            </a:pathLst>
          </a:custGeom>
          <a:noFill/>
          <a:ln w="12997">
            <a:solidFill>
              <a:srgbClr val="206A6D"/>
            </a:solidFill>
            <a:prstDash val="solid"/>
          </a:ln>
        </p:spPr>
      </p:sp>
      <p:sp>
        <p:nvSpPr>
          <p:cNvPr id="24" name="batch-marker-24"/>
          <p:cNvSpPr/>
          <p:nvPr/>
        </p:nvSpPr>
        <p:spPr>
          <a:xfrm>
            <a:off x="7273042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5" name="batch-marker-25"/>
          <p:cNvSpPr/>
          <p:nvPr/>
        </p:nvSpPr>
        <p:spPr>
          <a:xfrm>
            <a:off x="7610968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6" name="batch-marker-26"/>
          <p:cNvSpPr/>
          <p:nvPr/>
        </p:nvSpPr>
        <p:spPr>
          <a:xfrm>
            <a:off x="7948895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7" name="batch-marker-27"/>
          <p:cNvSpPr/>
          <p:nvPr/>
        </p:nvSpPr>
        <p:spPr>
          <a:xfrm>
            <a:off x="8286821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8" name="batch-marker-28"/>
          <p:cNvSpPr/>
          <p:nvPr/>
        </p:nvSpPr>
        <p:spPr>
          <a:xfrm>
            <a:off x="8945344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29" name="batch-marker-29"/>
          <p:cNvSpPr/>
          <p:nvPr/>
        </p:nvSpPr>
        <p:spPr>
          <a:xfrm>
            <a:off x="9283270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0" name="batch-marker-30"/>
          <p:cNvSpPr/>
          <p:nvPr/>
        </p:nvSpPr>
        <p:spPr>
          <a:xfrm>
            <a:off x="9595202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1" name="batch-marker-31"/>
          <p:cNvSpPr/>
          <p:nvPr/>
        </p:nvSpPr>
        <p:spPr>
          <a:xfrm>
            <a:off x="9863810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2" name="batch-marker-32"/>
          <p:cNvSpPr/>
          <p:nvPr/>
        </p:nvSpPr>
        <p:spPr>
          <a:xfrm>
            <a:off x="10141082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3" name="batch-marker-33"/>
          <p:cNvSpPr/>
          <p:nvPr/>
        </p:nvSpPr>
        <p:spPr>
          <a:xfrm>
            <a:off x="10418355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4" name="batch-marker-34"/>
          <p:cNvSpPr/>
          <p:nvPr/>
        </p:nvSpPr>
        <p:spPr>
          <a:xfrm>
            <a:off x="10643639" y="1620088"/>
            <a:ext cx="149034" cy="149034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5" name="omitted-batch-dot-35"/>
          <p:cNvSpPr/>
          <p:nvPr/>
        </p:nvSpPr>
        <p:spPr>
          <a:xfrm>
            <a:off x="8649008" y="1679008"/>
            <a:ext cx="31193" cy="31193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6" name="omitted-batch-dot-36"/>
          <p:cNvSpPr/>
          <p:nvPr/>
        </p:nvSpPr>
        <p:spPr>
          <a:xfrm>
            <a:off x="8735656" y="1679008"/>
            <a:ext cx="31193" cy="31193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7" name="omitted-batch-dot-37"/>
          <p:cNvSpPr/>
          <p:nvPr/>
        </p:nvSpPr>
        <p:spPr>
          <a:xfrm>
            <a:off x="8822304" y="1679008"/>
            <a:ext cx="31193" cy="31193"/>
          </a:xfrm>
          <a:prstGeom prst="ellipse">
            <a:avLst/>
          </a:prstGeom>
          <a:solidFill>
            <a:srgbClr val="206A6D"/>
          </a:solidFill>
          <a:ln w="0">
            <a:noFill/>
            <a:prstDash val="solid"/>
          </a:ln>
        </p:spPr>
      </p:sp>
      <p:sp>
        <p:nvSpPr>
          <p:cNvPr id="38" name="batch-label-B1-38"/>
          <p:cNvSpPr/>
          <p:nvPr/>
        </p:nvSpPr>
        <p:spPr>
          <a:xfrm>
            <a:off x="1914746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9" name="batch-label-tick-39"/>
          <p:cNvSpPr/>
          <p:nvPr/>
        </p:nvSpPr>
        <p:spPr>
          <a:xfrm>
            <a:off x="2096706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0" name="batch-label-B12-40"/>
          <p:cNvSpPr/>
          <p:nvPr/>
        </p:nvSpPr>
        <p:spPr>
          <a:xfrm>
            <a:off x="4626820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B12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1" name="batch-label-tick-41"/>
          <p:cNvSpPr/>
          <p:nvPr/>
        </p:nvSpPr>
        <p:spPr>
          <a:xfrm>
            <a:off x="4808780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2" name="batch-label-B1-42"/>
          <p:cNvSpPr/>
          <p:nvPr/>
        </p:nvSpPr>
        <p:spPr>
          <a:xfrm>
            <a:off x="7165599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3" name="batch-label-tick-43"/>
          <p:cNvSpPr/>
          <p:nvPr/>
        </p:nvSpPr>
        <p:spPr>
          <a:xfrm>
            <a:off x="7347559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4" name="batch-label-B20-44"/>
          <p:cNvSpPr/>
          <p:nvPr/>
        </p:nvSpPr>
        <p:spPr>
          <a:xfrm>
            <a:off x="9487759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B20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5" name="batch-label-tick-45"/>
          <p:cNvSpPr/>
          <p:nvPr/>
        </p:nvSpPr>
        <p:spPr>
          <a:xfrm>
            <a:off x="9669719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6" name="batch-label-B23-46"/>
          <p:cNvSpPr/>
          <p:nvPr/>
        </p:nvSpPr>
        <p:spPr>
          <a:xfrm>
            <a:off x="10033639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B23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7" name="batch-label-tick-47"/>
          <p:cNvSpPr/>
          <p:nvPr/>
        </p:nvSpPr>
        <p:spPr>
          <a:xfrm>
            <a:off x="10215600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48" name="batch-label-B24-48"/>
          <p:cNvSpPr/>
          <p:nvPr/>
        </p:nvSpPr>
        <p:spPr>
          <a:xfrm>
            <a:off x="10536196" y="1322019"/>
            <a:ext cx="363921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B24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9" name="batch-label-tick-49"/>
          <p:cNvSpPr/>
          <p:nvPr/>
        </p:nvSpPr>
        <p:spPr>
          <a:xfrm>
            <a:off x="10718156" y="1529974"/>
            <a:ext cx="87" cy="86648"/>
          </a:xfrm>
          <a:custGeom>
            <a:avLst/>
            <a:gdLst/>
            <a:ahLst/>
            <a:cxnLst/>
            <a:pathLst>
              <a:path w="87" h="86648">
                <a:moveTo>
                  <a:pt x="0" y="0"/>
                </a:moveTo>
                <a:lnTo>
                  <a:pt x="0" y="86648"/>
                </a:lnTo>
              </a:path>
            </a:pathLst>
          </a:custGeom>
          <a:noFill/>
          <a:ln w="8665">
            <a:solidFill>
              <a:srgbClr val="69747B"/>
            </a:solidFill>
            <a:prstDash val="solid"/>
          </a:ln>
        </p:spPr>
      </p:sp>
      <p:sp>
        <p:nvSpPr>
          <p:cNvPr id="50" name="12-first-feasible-50"/>
          <p:cNvSpPr/>
          <p:nvPr/>
        </p:nvSpPr>
        <p:spPr>
          <a:xfrm>
            <a:off x="1715456" y="1945883"/>
            <a:ext cx="953125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First feasible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batch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1" name="12-refined-51"/>
          <p:cNvSpPr/>
          <p:nvPr/>
        </p:nvSpPr>
        <p:spPr>
          <a:xfrm>
            <a:off x="4384206" y="1945883"/>
            <a:ext cx="892472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Refined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conditions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2" name="24-initial-52"/>
          <p:cNvSpPr/>
          <p:nvPr/>
        </p:nvSpPr>
        <p:spPr>
          <a:xfrm>
            <a:off x="6948980" y="1945883"/>
            <a:ext cx="909801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Initial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exploration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3" name="24-failure-range-53"/>
          <p:cNvSpPr/>
          <p:nvPr/>
        </p:nvSpPr>
        <p:spPr>
          <a:xfrm>
            <a:off x="8032805" y="1946437"/>
            <a:ext cx="1800860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B1–19 fail the fines limit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4" name="24-first-selected-54"/>
          <p:cNvSpPr/>
          <p:nvPr/>
        </p:nvSpPr>
        <p:spPr>
          <a:xfrm>
            <a:off x="9981651" y="1937218"/>
            <a:ext cx="935796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B20 feasible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B23 selected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5" name="budget-box-55"/>
          <p:cNvSpPr/>
          <p:nvPr/>
        </p:nvSpPr>
        <p:spPr>
          <a:xfrm>
            <a:off x="5432425" y="1278890"/>
            <a:ext cx="1091565" cy="1056640"/>
          </a:xfrm>
          <a:prstGeom prst="rect">
            <a:avLst/>
          </a:prstGeom>
          <a:gradFill>
            <a:gsLst>
              <a:gs pos="0">
                <a:srgbClr val="EEF1F4"/>
              </a:gs>
              <a:gs pos="100000">
                <a:srgbClr val="E5EBF1"/>
              </a:gs>
            </a:gsLst>
            <a:lin ang="1800000"/>
          </a:gradFill>
          <a:ln w="8665">
            <a:solidFill>
              <a:srgbClr val="E7ECEF"/>
            </a:solidFill>
            <a:prstDash val="solid"/>
          </a:ln>
        </p:spPr>
      </p:sp>
      <p:sp>
        <p:nvSpPr>
          <p:cNvPr id="56" name="budget-total-56"/>
          <p:cNvSpPr/>
          <p:nvPr/>
        </p:nvSpPr>
        <p:spPr>
          <a:xfrm>
            <a:off x="5475968" y="1382673"/>
            <a:ext cx="100511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 batches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7" name="budget-independent-57"/>
          <p:cNvSpPr/>
          <p:nvPr/>
        </p:nvSpPr>
        <p:spPr>
          <a:xfrm>
            <a:off x="5458638" y="1615433"/>
            <a:ext cx="1039773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total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(independent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58" name="budget-box-58"/>
          <p:cNvSpPr/>
          <p:nvPr/>
        </p:nvSpPr>
        <p:spPr>
          <a:xfrm>
            <a:off x="11021695" y="1278890"/>
            <a:ext cx="1005205" cy="1056640"/>
          </a:xfrm>
          <a:prstGeom prst="rect">
            <a:avLst/>
          </a:prstGeom>
          <a:gradFill>
            <a:gsLst>
              <a:gs pos="0">
                <a:srgbClr val="EEF1F4"/>
              </a:gs>
              <a:gs pos="100000">
                <a:srgbClr val="E1EBE9"/>
              </a:gs>
            </a:gsLst>
            <a:lin ang="1800000"/>
          </a:gradFill>
          <a:ln w="8665">
            <a:solidFill>
              <a:srgbClr val="E7ECEF"/>
            </a:solidFill>
            <a:prstDash val="solid"/>
          </a:ln>
        </p:spPr>
      </p:sp>
      <p:sp>
        <p:nvSpPr>
          <p:cNvPr id="59" name="budget-total-59"/>
          <p:cNvSpPr/>
          <p:nvPr/>
        </p:nvSpPr>
        <p:spPr>
          <a:xfrm>
            <a:off x="11064747" y="1382673"/>
            <a:ext cx="918466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 batches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0" name="budget-independent-60"/>
          <p:cNvSpPr/>
          <p:nvPr/>
        </p:nvSpPr>
        <p:spPr>
          <a:xfrm>
            <a:off x="11034395" y="1615433"/>
            <a:ext cx="979170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total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(independent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1" name="section-rule-61"/>
          <p:cNvSpPr/>
          <p:nvPr/>
        </p:nvSpPr>
        <p:spPr>
          <a:xfrm>
            <a:off x="1698126" y="2595741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62" name="panel-letter-B-62"/>
          <p:cNvSpPr/>
          <p:nvPr/>
        </p:nvSpPr>
        <p:spPr>
          <a:xfrm>
            <a:off x="1698126" y="2656395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3" name="panel-title-B-63"/>
          <p:cNvSpPr/>
          <p:nvPr/>
        </p:nvSpPr>
        <p:spPr>
          <a:xfrm>
            <a:off x="2062047" y="2682389"/>
            <a:ext cx="3418205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Withheld thermal comparison task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5" name="common-header-65"/>
          <p:cNvSpPr/>
          <p:nvPr/>
        </p:nvSpPr>
        <p:spPr>
          <a:xfrm>
            <a:off x="1698126" y="3176281"/>
            <a:ext cx="2634091" cy="580540"/>
          </a:xfrm>
          <a:prstGeom prst="roundRect">
            <a:avLst>
              <a:gd name="adj" fmla="val 11940"/>
            </a:avLst>
          </a:prstGeom>
          <a:gradFill>
            <a:gsLst>
              <a:gs pos="0">
                <a:srgbClr val="EAF0F4"/>
              </a:gs>
              <a:gs pos="100000">
                <a:srgbClr val="DFE6EE"/>
              </a:gs>
            </a:gsLst>
            <a:lin ang="1800000"/>
          </a:gradFill>
          <a:ln w="8665">
            <a:solidFill>
              <a:srgbClr val="E6EBF0"/>
            </a:solidFill>
            <a:prstDash val="solid"/>
          </a:ln>
        </p:spPr>
      </p:sp>
      <p:sp>
        <p:nvSpPr>
          <p:cNvPr id="66" name="common-recipe-title-66"/>
          <p:cNvSpPr/>
          <p:nvPr/>
        </p:nvSpPr>
        <p:spPr>
          <a:xfrm>
            <a:off x="1776109" y="3280258"/>
            <a:ext cx="2478125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Common preceding recipe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7" name="common-recipe-subtitle-67"/>
          <p:cNvSpPr/>
          <p:nvPr/>
        </p:nvSpPr>
        <p:spPr>
          <a:xfrm>
            <a:off x="1776109" y="3547678"/>
            <a:ext cx="2478125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(from source research)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68" name="common-recipe-box-68"/>
          <p:cNvSpPr/>
          <p:nvPr/>
        </p:nvSpPr>
        <p:spPr>
          <a:xfrm>
            <a:off x="1698126" y="3843469"/>
            <a:ext cx="2634091" cy="1637642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997">
            <a:solidFill>
              <a:srgbClr val="CAD4DD"/>
            </a:solidFill>
            <a:prstDash val="solid"/>
          </a:ln>
        </p:spPr>
      </p:sp>
      <p:pic>
        <p:nvPicPr>
          <p:cNvPr id="264" name="Original beaker illustration"/>
          <p:cNvPicPr>
            <a:picLocks noChangeAspect="1"/>
          </p:cNvPicPr>
          <p:nvPr/>
        </p:nvPicPr>
        <p:blipFill>
          <a:blip r:embed="rId1"/>
          <a:srcRect l="2453" t="33359" r="91169" b="57154"/>
          <a:stretch>
            <a:fillRect/>
          </a:stretch>
        </p:blipFill>
        <p:spPr>
          <a:xfrm>
            <a:off x="1819433" y="4060088"/>
            <a:ext cx="675852" cy="1057102"/>
          </a:xfrm>
          <a:prstGeom prst="rect">
            <a:avLst/>
          </a:prstGeom>
        </p:spPr>
      </p:pic>
      <p:sp>
        <p:nvSpPr>
          <p:cNvPr id="70" name="same-system-69"/>
          <p:cNvSpPr/>
          <p:nvPr/>
        </p:nvSpPr>
        <p:spPr>
          <a:xfrm>
            <a:off x="2599263" y="4161629"/>
            <a:ext cx="156832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Same system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1" name="same-formulation-70"/>
          <p:cNvSpPr/>
          <p:nvPr/>
        </p:nvSpPr>
        <p:spPr>
          <a:xfrm>
            <a:off x="2599263" y="4404242"/>
            <a:ext cx="1680966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Same base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 formulation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2" name="same-processing-71"/>
          <p:cNvSpPr/>
          <p:nvPr/>
        </p:nvSpPr>
        <p:spPr>
          <a:xfrm>
            <a:off x="2599263" y="4850056"/>
            <a:ext cx="1706961" cy="444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Same processing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   (up to thermal step)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3" name="common-to-question-72"/>
          <p:cNvSpPr/>
          <p:nvPr/>
        </p:nvSpPr>
        <p:spPr>
          <a:xfrm>
            <a:off x="4462189" y="4588639"/>
            <a:ext cx="363921" cy="87"/>
          </a:xfrm>
          <a:custGeom>
            <a:avLst/>
            <a:gdLst/>
            <a:ahLst/>
            <a:cxnLst/>
            <a:pathLst>
              <a:path w="363921" h="87">
                <a:moveTo>
                  <a:pt x="0" y="0"/>
                </a:moveTo>
                <a:lnTo>
                  <a:pt x="363921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74" name="common-to-question-73"/>
          <p:cNvSpPr/>
          <p:nvPr/>
        </p:nvSpPr>
        <p:spPr>
          <a:xfrm>
            <a:off x="4733407" y="4588639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0"/>
                </a:moveTo>
                <a:lnTo>
                  <a:pt x="0" y="4709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75" name="common-to-question-74"/>
          <p:cNvSpPr/>
          <p:nvPr/>
        </p:nvSpPr>
        <p:spPr>
          <a:xfrm>
            <a:off x="4733407" y="4541550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47090"/>
                </a:moveTo>
                <a:lnTo>
                  <a:pt x="0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76" name="withheld-question-frame-75"/>
          <p:cNvSpPr/>
          <p:nvPr/>
        </p:nvSpPr>
        <p:spPr>
          <a:xfrm>
            <a:off x="4930087" y="3054974"/>
            <a:ext cx="4003126" cy="2582103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0398">
            <a:solidFill>
              <a:srgbClr val="68737C"/>
            </a:solidFill>
            <a:prstDash val="dash"/>
          </a:ln>
        </p:spPr>
      </p:sp>
      <p:sp>
        <p:nvSpPr>
          <p:cNvPr id="77" name="withheld-question-header-76"/>
          <p:cNvSpPr/>
          <p:nvPr/>
        </p:nvSpPr>
        <p:spPr>
          <a:xfrm>
            <a:off x="4938752" y="3063639"/>
            <a:ext cx="3985796" cy="571875"/>
          </a:xfrm>
          <a:prstGeom prst="rect">
            <a:avLst/>
          </a:prstGeom>
          <a:gradFill>
            <a:gsLst>
              <a:gs pos="0">
                <a:srgbClr val="FCF2E0"/>
              </a:gs>
              <a:gs pos="100000">
                <a:srgbClr val="FBEDD8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78" name="thermal-question-title-77"/>
          <p:cNvSpPr/>
          <p:nvPr/>
        </p:nvSpPr>
        <p:spPr>
          <a:xfrm>
            <a:off x="5042729" y="3150287"/>
            <a:ext cx="3760512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Withheld thermal question Q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79" name="thermal-question-time-78"/>
          <p:cNvSpPr/>
          <p:nvPr/>
        </p:nvSpPr>
        <p:spPr>
          <a:xfrm>
            <a:off x="5025400" y="3375571"/>
            <a:ext cx="3795171" cy="225284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(revealed to both agents at prediction time)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0" name="thermal-question-79"/>
          <p:cNvSpPr/>
          <p:nvPr/>
        </p:nvSpPr>
        <p:spPr>
          <a:xfrm>
            <a:off x="5042729" y="3696168"/>
            <a:ext cx="3751847" cy="5003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For this formulation, which option produces</a:t>
            </a:r>
            <a:endParaRPr sz="16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fewer fines?</a:t>
            </a:r>
            <a:endParaRPr sz="16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1" name="option-H-box-80"/>
          <p:cNvSpPr/>
          <p:nvPr/>
        </p:nvSpPr>
        <p:spPr>
          <a:xfrm>
            <a:off x="5042535" y="4164330"/>
            <a:ext cx="1871345" cy="137541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E8EEF2"/>
              </a:gs>
              <a:gs pos="100000">
                <a:srgbClr val="DAE4EB"/>
              </a:gs>
            </a:gsLst>
            <a:lin ang="1800000"/>
          </a:gradFill>
          <a:ln w="0">
            <a:noFill/>
            <a:prstDash val="solid"/>
          </a:ln>
        </p:spPr>
      </p:sp>
      <p:sp>
        <p:nvSpPr>
          <p:cNvPr id="82" name="option-R-box-81"/>
          <p:cNvSpPr/>
          <p:nvPr/>
        </p:nvSpPr>
        <p:spPr>
          <a:xfrm>
            <a:off x="6983730" y="4164330"/>
            <a:ext cx="1837055" cy="137668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F9ECE6"/>
              </a:gs>
              <a:gs pos="100000">
                <a:srgbClr val="F4E5DD"/>
              </a:gs>
            </a:gsLst>
            <a:lin ang="1800000"/>
          </a:gradFill>
          <a:ln w="0">
            <a:noFill/>
            <a:prstDash val="solid"/>
          </a:ln>
        </p:spPr>
      </p:sp>
      <p:sp>
        <p:nvSpPr>
          <p:cNvPr id="83" name="option-H-label-82"/>
          <p:cNvSpPr/>
          <p:nvPr/>
        </p:nvSpPr>
        <p:spPr>
          <a:xfrm>
            <a:off x="5077388" y="4233384"/>
            <a:ext cx="1802273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27608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276083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H</a:t>
            </a:r>
            <a:endParaRPr sz="1400" b="1">
              <a:solidFill>
                <a:srgbClr val="276083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4" name="option-H-copy-83"/>
          <p:cNvSpPr/>
          <p:nvPr/>
        </p:nvSpPr>
        <p:spPr>
          <a:xfrm>
            <a:off x="5112047" y="4432673"/>
            <a:ext cx="1715625" cy="4394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indent="0" algn="ctr" fontAlgn="auto">
              <a:lnSpc>
                <a:spcPct val="100000"/>
              </a:lnSpc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Hold at temperature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indent="0" algn="ctr" fontAlgn="auto">
              <a:lnSpc>
                <a:spcPct val="100000"/>
              </a:lnSpc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(no further change)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5" name="option-R-label-84"/>
          <p:cNvSpPr/>
          <p:nvPr/>
        </p:nvSpPr>
        <p:spPr>
          <a:xfrm>
            <a:off x="7018298" y="4233384"/>
            <a:ext cx="176761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R</a:t>
            </a:r>
            <a:endParaRPr sz="14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6" name="option-R-copy-85"/>
          <p:cNvSpPr/>
          <p:nvPr/>
        </p:nvSpPr>
        <p:spPr>
          <a:xfrm>
            <a:off x="7026963" y="4441338"/>
            <a:ext cx="1741620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Reheat then recool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87" name="H-y-axis-86"/>
          <p:cNvSpPr/>
          <p:nvPr/>
        </p:nvSpPr>
        <p:spPr>
          <a:xfrm>
            <a:off x="5510627" y="4848583"/>
            <a:ext cx="87" cy="467898"/>
          </a:xfrm>
          <a:custGeom>
            <a:avLst/>
            <a:gdLst/>
            <a:ahLst/>
            <a:cxnLst/>
            <a:pathLst>
              <a:path w="87" h="467898">
                <a:moveTo>
                  <a:pt x="0" y="467898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88" name="H-y-axis-87"/>
          <p:cNvSpPr/>
          <p:nvPr/>
        </p:nvSpPr>
        <p:spPr>
          <a:xfrm>
            <a:off x="5510627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0" y="0"/>
                </a:moveTo>
                <a:lnTo>
                  <a:pt x="23545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89" name="H-y-axis-88"/>
          <p:cNvSpPr/>
          <p:nvPr/>
        </p:nvSpPr>
        <p:spPr>
          <a:xfrm>
            <a:off x="5487082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23545" y="0"/>
                </a:moveTo>
                <a:lnTo>
                  <a:pt x="0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0" name="H-x-axis-89"/>
          <p:cNvSpPr/>
          <p:nvPr/>
        </p:nvSpPr>
        <p:spPr>
          <a:xfrm>
            <a:off x="5510627" y="5316480"/>
            <a:ext cx="1135085" cy="87"/>
          </a:xfrm>
          <a:custGeom>
            <a:avLst/>
            <a:gdLst/>
            <a:ahLst/>
            <a:cxnLst/>
            <a:pathLst>
              <a:path w="1135085" h="87">
                <a:moveTo>
                  <a:pt x="0" y="0"/>
                </a:moveTo>
                <a:lnTo>
                  <a:pt x="1135085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1" name="H-x-axis-90"/>
          <p:cNvSpPr/>
          <p:nvPr/>
        </p:nvSpPr>
        <p:spPr>
          <a:xfrm>
            <a:off x="6599361" y="5316480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0"/>
                </a:moveTo>
                <a:lnTo>
                  <a:pt x="0" y="23545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2" name="H-x-axis-91"/>
          <p:cNvSpPr/>
          <p:nvPr/>
        </p:nvSpPr>
        <p:spPr>
          <a:xfrm>
            <a:off x="6599361" y="5292936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23545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3" name="hold-profile-92"/>
          <p:cNvSpPr/>
          <p:nvPr/>
        </p:nvSpPr>
        <p:spPr>
          <a:xfrm>
            <a:off x="5545286" y="5056537"/>
            <a:ext cx="996449" cy="87"/>
          </a:xfrm>
          <a:custGeom>
            <a:avLst/>
            <a:gdLst/>
            <a:ahLst/>
            <a:cxnLst/>
            <a:pathLst>
              <a:path w="996449" h="87">
                <a:moveTo>
                  <a:pt x="0" y="0"/>
                </a:moveTo>
                <a:lnTo>
                  <a:pt x="996449" y="0"/>
                </a:lnTo>
              </a:path>
            </a:pathLst>
          </a:custGeom>
          <a:noFill/>
          <a:ln w="21662">
            <a:solidFill>
              <a:srgbClr val="215E85"/>
            </a:solidFill>
            <a:prstDash val="solid"/>
          </a:ln>
        </p:spPr>
      </p:sp>
      <p:sp>
        <p:nvSpPr>
          <p:cNvPr id="94" name="H-temperature-93"/>
          <p:cNvSpPr/>
          <p:nvPr/>
        </p:nvSpPr>
        <p:spPr>
          <a:xfrm>
            <a:off x="5523083" y="4885679"/>
            <a:ext cx="1039773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215E8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215E85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278.15 K · 2 h</a:t>
            </a:r>
            <a:endParaRPr sz="1200" b="0">
              <a:solidFill>
                <a:srgbClr val="215E85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5" name="H-T-94"/>
          <p:cNvSpPr/>
          <p:nvPr/>
        </p:nvSpPr>
        <p:spPr>
          <a:xfrm>
            <a:off x="5328667" y="5004549"/>
            <a:ext cx="155966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6" name="H-t-95"/>
          <p:cNvSpPr/>
          <p:nvPr/>
        </p:nvSpPr>
        <p:spPr>
          <a:xfrm>
            <a:off x="5995854" y="5359804"/>
            <a:ext cx="138636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97" name="R-y-axis-96"/>
          <p:cNvSpPr/>
          <p:nvPr/>
        </p:nvSpPr>
        <p:spPr>
          <a:xfrm>
            <a:off x="7425542" y="4848583"/>
            <a:ext cx="87" cy="467898"/>
          </a:xfrm>
          <a:custGeom>
            <a:avLst/>
            <a:gdLst/>
            <a:ahLst/>
            <a:cxnLst/>
            <a:pathLst>
              <a:path w="87" h="467898">
                <a:moveTo>
                  <a:pt x="0" y="467898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8" name="R-y-axis-97"/>
          <p:cNvSpPr/>
          <p:nvPr/>
        </p:nvSpPr>
        <p:spPr>
          <a:xfrm>
            <a:off x="7425542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0" y="0"/>
                </a:moveTo>
                <a:lnTo>
                  <a:pt x="23545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99" name="R-y-axis-98"/>
          <p:cNvSpPr/>
          <p:nvPr/>
        </p:nvSpPr>
        <p:spPr>
          <a:xfrm>
            <a:off x="7401997" y="4848583"/>
            <a:ext cx="23545" cy="46351"/>
          </a:xfrm>
          <a:custGeom>
            <a:avLst/>
            <a:gdLst/>
            <a:ahLst/>
            <a:cxnLst/>
            <a:pathLst>
              <a:path w="23545" h="46351">
                <a:moveTo>
                  <a:pt x="23545" y="0"/>
                </a:moveTo>
                <a:lnTo>
                  <a:pt x="0" y="46351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0" name="R-x-axis-99"/>
          <p:cNvSpPr/>
          <p:nvPr/>
        </p:nvSpPr>
        <p:spPr>
          <a:xfrm>
            <a:off x="7425542" y="5316480"/>
            <a:ext cx="1126421" cy="87"/>
          </a:xfrm>
          <a:custGeom>
            <a:avLst/>
            <a:gdLst/>
            <a:ahLst/>
            <a:cxnLst/>
            <a:pathLst>
              <a:path w="1126421" h="87">
                <a:moveTo>
                  <a:pt x="0" y="0"/>
                </a:moveTo>
                <a:lnTo>
                  <a:pt x="1126421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1" name="R-x-axis-100"/>
          <p:cNvSpPr/>
          <p:nvPr/>
        </p:nvSpPr>
        <p:spPr>
          <a:xfrm>
            <a:off x="8505611" y="5316480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0"/>
                </a:moveTo>
                <a:lnTo>
                  <a:pt x="0" y="23545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2" name="R-x-axis-101"/>
          <p:cNvSpPr/>
          <p:nvPr/>
        </p:nvSpPr>
        <p:spPr>
          <a:xfrm>
            <a:off x="8505611" y="5292936"/>
            <a:ext cx="46351" cy="23545"/>
          </a:xfrm>
          <a:custGeom>
            <a:avLst/>
            <a:gdLst/>
            <a:ahLst/>
            <a:cxnLst/>
            <a:pathLst>
              <a:path w="46351" h="23545">
                <a:moveTo>
                  <a:pt x="46351" y="23545"/>
                </a:moveTo>
                <a:lnTo>
                  <a:pt x="0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03" name="reheat-recool-profile-102"/>
          <p:cNvSpPr/>
          <p:nvPr/>
        </p:nvSpPr>
        <p:spPr>
          <a:xfrm>
            <a:off x="7451537" y="5238497"/>
            <a:ext cx="86648" cy="87"/>
          </a:xfrm>
          <a:custGeom>
            <a:avLst/>
            <a:gdLst/>
            <a:ahLst/>
            <a:cxnLst/>
            <a:pathLst>
              <a:path w="86648" h="87">
                <a:moveTo>
                  <a:pt x="0" y="0"/>
                </a:moveTo>
                <a:lnTo>
                  <a:pt x="86648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4" name="reheat-recool-profile-103"/>
          <p:cNvSpPr/>
          <p:nvPr/>
        </p:nvSpPr>
        <p:spPr>
          <a:xfrm>
            <a:off x="7538184" y="4857247"/>
            <a:ext cx="277273" cy="381250"/>
          </a:xfrm>
          <a:custGeom>
            <a:avLst/>
            <a:gdLst/>
            <a:ahLst/>
            <a:cxnLst/>
            <a:pathLst>
              <a:path w="277273" h="381250">
                <a:moveTo>
                  <a:pt x="0" y="381250"/>
                </a:moveTo>
                <a:lnTo>
                  <a:pt x="277273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5" name="reheat-recool-profile-104"/>
          <p:cNvSpPr/>
          <p:nvPr/>
        </p:nvSpPr>
        <p:spPr>
          <a:xfrm>
            <a:off x="7815457" y="4857247"/>
            <a:ext cx="268608" cy="87"/>
          </a:xfrm>
          <a:custGeom>
            <a:avLst/>
            <a:gdLst/>
            <a:ahLst/>
            <a:cxnLst/>
            <a:pathLst>
              <a:path w="268608" h="87">
                <a:moveTo>
                  <a:pt x="0" y="0"/>
                </a:moveTo>
                <a:lnTo>
                  <a:pt x="268608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6" name="reheat-recool-profile-105"/>
          <p:cNvSpPr/>
          <p:nvPr/>
        </p:nvSpPr>
        <p:spPr>
          <a:xfrm>
            <a:off x="8084065" y="4857247"/>
            <a:ext cx="225284" cy="303267"/>
          </a:xfrm>
          <a:custGeom>
            <a:avLst/>
            <a:gdLst/>
            <a:ahLst/>
            <a:cxnLst/>
            <a:pathLst>
              <a:path w="225284" h="303267">
                <a:moveTo>
                  <a:pt x="0" y="0"/>
                </a:moveTo>
                <a:lnTo>
                  <a:pt x="225284" y="303267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7" name="reheat-recool-profile-106"/>
          <p:cNvSpPr/>
          <p:nvPr/>
        </p:nvSpPr>
        <p:spPr>
          <a:xfrm>
            <a:off x="8309349" y="5160515"/>
            <a:ext cx="207955" cy="87"/>
          </a:xfrm>
          <a:custGeom>
            <a:avLst/>
            <a:gdLst/>
            <a:ahLst/>
            <a:cxnLst/>
            <a:pathLst>
              <a:path w="207955" h="87">
                <a:moveTo>
                  <a:pt x="0" y="0"/>
                </a:moveTo>
                <a:lnTo>
                  <a:pt x="207955" y="0"/>
                </a:lnTo>
              </a:path>
            </a:pathLst>
          </a:custGeom>
          <a:noFill/>
          <a:ln w="21662">
            <a:solidFill>
              <a:srgbClr val="B94E2C"/>
            </a:solidFill>
            <a:prstDash val="solid"/>
          </a:ln>
        </p:spPr>
      </p:sp>
      <p:sp>
        <p:nvSpPr>
          <p:cNvPr id="108" name="R-temperature-107"/>
          <p:cNvSpPr/>
          <p:nvPr/>
        </p:nvSpPr>
        <p:spPr>
          <a:xfrm>
            <a:off x="7633497" y="4640628"/>
            <a:ext cx="944460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toward 315 K</a:t>
            </a:r>
            <a:endParaRPr sz="1200" b="0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09" name="R-T-108"/>
          <p:cNvSpPr/>
          <p:nvPr/>
        </p:nvSpPr>
        <p:spPr>
          <a:xfrm>
            <a:off x="7252247" y="5004549"/>
            <a:ext cx="155966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0" name="R-t-109"/>
          <p:cNvSpPr/>
          <p:nvPr/>
        </p:nvSpPr>
        <p:spPr>
          <a:xfrm>
            <a:off x="7919434" y="5359804"/>
            <a:ext cx="138636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1" name="question-to-forecast-110"/>
          <p:cNvSpPr/>
          <p:nvPr/>
        </p:nvSpPr>
        <p:spPr>
          <a:xfrm>
            <a:off x="9071849" y="4588639"/>
            <a:ext cx="346591" cy="87"/>
          </a:xfrm>
          <a:custGeom>
            <a:avLst/>
            <a:gdLst/>
            <a:ahLst/>
            <a:cxnLst/>
            <a:pathLst>
              <a:path w="346591" h="87">
                <a:moveTo>
                  <a:pt x="0" y="0"/>
                </a:moveTo>
                <a:lnTo>
                  <a:pt x="346591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112" name="question-to-forecast-111"/>
          <p:cNvSpPr/>
          <p:nvPr/>
        </p:nvSpPr>
        <p:spPr>
          <a:xfrm>
            <a:off x="9325737" y="4588639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0"/>
                </a:moveTo>
                <a:lnTo>
                  <a:pt x="0" y="4709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113" name="question-to-forecast-112"/>
          <p:cNvSpPr/>
          <p:nvPr/>
        </p:nvSpPr>
        <p:spPr>
          <a:xfrm>
            <a:off x="9325737" y="4541550"/>
            <a:ext cx="92703" cy="47090"/>
          </a:xfrm>
          <a:custGeom>
            <a:avLst/>
            <a:gdLst/>
            <a:ahLst/>
            <a:cxnLst/>
            <a:pathLst>
              <a:path w="92703" h="47090">
                <a:moveTo>
                  <a:pt x="92703" y="47090"/>
                </a:moveTo>
                <a:lnTo>
                  <a:pt x="0" y="0"/>
                </a:lnTo>
              </a:path>
            </a:pathLst>
          </a:custGeom>
          <a:noFill/>
          <a:ln w="36392">
            <a:solidFill>
              <a:srgbClr val="2C3B45"/>
            </a:solidFill>
            <a:prstDash val="solid"/>
          </a:ln>
        </p:spPr>
      </p:sp>
      <p:sp>
        <p:nvSpPr>
          <p:cNvPr id="114" name="sealed-header-113"/>
          <p:cNvSpPr/>
          <p:nvPr/>
        </p:nvSpPr>
        <p:spPr>
          <a:xfrm>
            <a:off x="9548412" y="3176281"/>
            <a:ext cx="2478125" cy="511222"/>
          </a:xfrm>
          <a:prstGeom prst="roundRect">
            <a:avLst>
              <a:gd name="adj" fmla="val 13559"/>
            </a:avLst>
          </a:prstGeom>
          <a:gradFill>
            <a:gsLst>
              <a:gs pos="0">
                <a:srgbClr val="EAF0F4"/>
              </a:gs>
              <a:gs pos="100000">
                <a:srgbClr val="DFE6EE"/>
              </a:gs>
            </a:gsLst>
            <a:lin ang="1800000"/>
          </a:gradFill>
          <a:ln w="0">
            <a:noFill/>
            <a:prstDash val="solid"/>
          </a:ln>
        </p:spPr>
      </p:sp>
      <p:sp>
        <p:nvSpPr>
          <p:cNvPr id="115" name="sealed-title-114"/>
          <p:cNvSpPr/>
          <p:nvPr/>
        </p:nvSpPr>
        <p:spPr>
          <a:xfrm>
            <a:off x="9609065" y="3254264"/>
            <a:ext cx="2356819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Sealed predictions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6" name="sealed-subtitle-115"/>
          <p:cNvSpPr/>
          <p:nvPr/>
        </p:nvSpPr>
        <p:spPr>
          <a:xfrm>
            <a:off x="9609065" y="3513019"/>
            <a:ext cx="2356819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(from each session)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17" name="sealed-12-116"/>
          <p:cNvSpPr/>
          <p:nvPr/>
        </p:nvSpPr>
        <p:spPr>
          <a:xfrm>
            <a:off x="9539747" y="3765486"/>
            <a:ext cx="1247728" cy="171562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997">
            <a:solidFill>
              <a:srgbClr val="42799A"/>
            </a:solidFill>
            <a:prstDash val="solid"/>
          </a:ln>
        </p:spPr>
      </p:sp>
      <p:sp>
        <p:nvSpPr>
          <p:cNvPr id="118" name="sealed-agent-12-117"/>
          <p:cNvSpPr/>
          <p:nvPr/>
        </p:nvSpPr>
        <p:spPr>
          <a:xfrm>
            <a:off x="9574406" y="3878128"/>
            <a:ext cx="1178409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12-batch agent</a:t>
            </a:r>
            <a:endParaRPr sz="1400" b="0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</a:t>
            </a:r>
            <a:endParaRPr sz="1400" b="1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(sealed)</a:t>
            </a:r>
            <a:endParaRPr sz="1400" b="1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14" name="Original sealed document 12"/>
          <p:cNvPicPr>
            <a:picLocks noChangeAspect="1"/>
          </p:cNvPicPr>
          <p:nvPr/>
        </p:nvPicPr>
        <p:blipFill>
          <a:blip r:embed="rId1"/>
          <a:srcRect l="77923" t="38336" r="14554" b="55832"/>
          <a:stretch>
            <a:fillRect/>
          </a:stretch>
        </p:blipFill>
        <p:spPr>
          <a:xfrm>
            <a:off x="9817020" y="4614634"/>
            <a:ext cx="797159" cy="649858"/>
          </a:xfrm>
          <a:prstGeom prst="rect">
            <a:avLst/>
          </a:prstGeom>
        </p:spPr>
      </p:pic>
      <p:sp>
        <p:nvSpPr>
          <p:cNvPr id="120" name="sealed-values-12-118"/>
          <p:cNvSpPr/>
          <p:nvPr/>
        </p:nvSpPr>
        <p:spPr>
          <a:xfrm>
            <a:off x="9574406" y="5281821"/>
            <a:ext cx="1178409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42799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42799A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17% → 12%</a:t>
            </a:r>
            <a:endParaRPr sz="1200" b="1">
              <a:solidFill>
                <a:srgbClr val="42799A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1" name="sealed-24-119"/>
          <p:cNvSpPr/>
          <p:nvPr/>
        </p:nvSpPr>
        <p:spPr>
          <a:xfrm>
            <a:off x="10856793" y="3765486"/>
            <a:ext cx="1169745" cy="17156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997">
            <a:solidFill>
              <a:srgbClr val="B94E2C"/>
            </a:solidFill>
            <a:prstDash val="solid"/>
          </a:ln>
        </p:spPr>
      </p:sp>
      <p:sp>
        <p:nvSpPr>
          <p:cNvPr id="122" name="sealed-agent-24-120"/>
          <p:cNvSpPr/>
          <p:nvPr/>
        </p:nvSpPr>
        <p:spPr>
          <a:xfrm>
            <a:off x="10876515" y="3878128"/>
            <a:ext cx="1130300" cy="6527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24-batch agent</a:t>
            </a:r>
            <a:endParaRPr sz="1400" b="0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prediction</a:t>
            </a:r>
            <a:endParaRPr sz="14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4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(sealed)</a:t>
            </a:r>
            <a:endParaRPr sz="14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18" name="Original sealed document 24"/>
          <p:cNvPicPr>
            <a:picLocks noChangeAspect="1"/>
          </p:cNvPicPr>
          <p:nvPr/>
        </p:nvPicPr>
        <p:blipFill>
          <a:blip r:embed="rId1"/>
          <a:srcRect l="89697" t="38336" r="2780" b="55832"/>
          <a:stretch>
            <a:fillRect/>
          </a:stretch>
        </p:blipFill>
        <p:spPr>
          <a:xfrm>
            <a:off x="11064747" y="4614634"/>
            <a:ext cx="797159" cy="649858"/>
          </a:xfrm>
          <a:prstGeom prst="rect">
            <a:avLst/>
          </a:prstGeom>
        </p:spPr>
      </p:pic>
      <p:sp>
        <p:nvSpPr>
          <p:cNvPr id="124" name="sealed-values-24-121"/>
          <p:cNvSpPr/>
          <p:nvPr/>
        </p:nvSpPr>
        <p:spPr>
          <a:xfrm>
            <a:off x="10891452" y="5281821"/>
            <a:ext cx="1100426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B94E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B94E2C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49% → 35%</a:t>
            </a:r>
            <a:endParaRPr sz="1200" b="1">
              <a:solidFill>
                <a:srgbClr val="B94E2C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5" name="section-rule-122"/>
          <p:cNvSpPr/>
          <p:nvPr/>
        </p:nvSpPr>
        <p:spPr>
          <a:xfrm>
            <a:off x="1698126" y="5879691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126" name="panel-letter-C-123"/>
          <p:cNvSpPr/>
          <p:nvPr/>
        </p:nvSpPr>
        <p:spPr>
          <a:xfrm>
            <a:off x="1698126" y="5940344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7" name="panel-title-C-124"/>
          <p:cNvSpPr/>
          <p:nvPr/>
        </p:nvSpPr>
        <p:spPr>
          <a:xfrm>
            <a:off x="2062047" y="5966339"/>
            <a:ext cx="6160655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Post-prediction reflection (K2) and proposed next test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29" name="table-header-126"/>
          <p:cNvSpPr/>
          <p:nvPr/>
        </p:nvSpPr>
        <p:spPr>
          <a:xfrm>
            <a:off x="1698126" y="6356253"/>
            <a:ext cx="10328411" cy="545881"/>
          </a:xfrm>
          <a:prstGeom prst="rect">
            <a:avLst/>
          </a:prstGeom>
          <a:solidFill>
            <a:srgbClr val="F1F3F5"/>
          </a:solidFill>
          <a:ln w="8665">
            <a:noFill/>
            <a:prstDash val="solid"/>
          </a:ln>
        </p:spPr>
      </p:sp>
      <p:sp>
        <p:nvSpPr>
          <p:cNvPr id="130" name="12-row-color-127"/>
          <p:cNvSpPr/>
          <p:nvPr/>
        </p:nvSpPr>
        <p:spPr>
          <a:xfrm>
            <a:off x="1698126" y="6902134"/>
            <a:ext cx="953125" cy="1022443"/>
          </a:xfrm>
          <a:prstGeom prst="rect">
            <a:avLst/>
          </a:prstGeom>
          <a:gradFill>
            <a:gsLst>
              <a:gs pos="0">
                <a:srgbClr val="4B81A1"/>
              </a:gs>
              <a:gs pos="100000">
                <a:srgbClr val="3F7497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131" name="24-row-color-128"/>
          <p:cNvSpPr/>
          <p:nvPr/>
        </p:nvSpPr>
        <p:spPr>
          <a:xfrm>
            <a:off x="1698126" y="7924578"/>
            <a:ext cx="953125" cy="1369034"/>
          </a:xfrm>
          <a:prstGeom prst="rect">
            <a:avLst/>
          </a:prstGeom>
          <a:gradFill>
            <a:gsLst>
              <a:gs pos="0">
                <a:srgbClr val="1C6B70"/>
              </a:gs>
              <a:gs pos="100000">
                <a:srgbClr val="1D6061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132" name="table-column-129"/>
          <p:cNvSpPr/>
          <p:nvPr/>
        </p:nvSpPr>
        <p:spPr>
          <a:xfrm>
            <a:off x="1698126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3" name="table-column-130"/>
          <p:cNvSpPr/>
          <p:nvPr/>
        </p:nvSpPr>
        <p:spPr>
          <a:xfrm>
            <a:off x="2651252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4" name="table-column-131"/>
          <p:cNvSpPr/>
          <p:nvPr/>
        </p:nvSpPr>
        <p:spPr>
          <a:xfrm>
            <a:off x="5302673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5" name="table-column-132"/>
          <p:cNvSpPr/>
          <p:nvPr/>
        </p:nvSpPr>
        <p:spPr>
          <a:xfrm>
            <a:off x="8188042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6" name="table-column-133"/>
          <p:cNvSpPr/>
          <p:nvPr/>
        </p:nvSpPr>
        <p:spPr>
          <a:xfrm>
            <a:off x="10752816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7" name="table-column-134"/>
          <p:cNvSpPr/>
          <p:nvPr/>
        </p:nvSpPr>
        <p:spPr>
          <a:xfrm>
            <a:off x="12026537" y="6356253"/>
            <a:ext cx="87" cy="2937358"/>
          </a:xfrm>
          <a:custGeom>
            <a:avLst/>
            <a:gdLst/>
            <a:ahLst/>
            <a:cxnLst/>
            <a:pathLst>
              <a:path w="87" h="2937358">
                <a:moveTo>
                  <a:pt x="0" y="0"/>
                </a:moveTo>
                <a:lnTo>
                  <a:pt x="0" y="2937358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8" name="table-row-135"/>
          <p:cNvSpPr/>
          <p:nvPr/>
        </p:nvSpPr>
        <p:spPr>
          <a:xfrm>
            <a:off x="1698126" y="6356253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39" name="table-row-136"/>
          <p:cNvSpPr/>
          <p:nvPr/>
        </p:nvSpPr>
        <p:spPr>
          <a:xfrm>
            <a:off x="1698126" y="6902134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40" name="table-row-137"/>
          <p:cNvSpPr/>
          <p:nvPr/>
        </p:nvSpPr>
        <p:spPr>
          <a:xfrm>
            <a:off x="1698126" y="7924578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41" name="table-row-138"/>
          <p:cNvSpPr/>
          <p:nvPr/>
        </p:nvSpPr>
        <p:spPr>
          <a:xfrm>
            <a:off x="1698126" y="9293612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8665">
            <a:solidFill>
              <a:srgbClr val="8F969E"/>
            </a:solidFill>
            <a:prstDash val="solid"/>
          </a:ln>
        </p:spPr>
      </p:sp>
      <p:sp>
        <p:nvSpPr>
          <p:cNvPr id="142" name="table-session-139"/>
          <p:cNvSpPr/>
          <p:nvPr/>
        </p:nvSpPr>
        <p:spPr>
          <a:xfrm>
            <a:off x="1750115" y="6520884"/>
            <a:ext cx="849148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3" name="table-evidence-140"/>
          <p:cNvSpPr/>
          <p:nvPr/>
        </p:nvSpPr>
        <p:spPr>
          <a:xfrm>
            <a:off x="2729235" y="6506851"/>
            <a:ext cx="2495455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Observed evidence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5" name="table-review-142"/>
          <p:cNvSpPr/>
          <p:nvPr/>
        </p:nvSpPr>
        <p:spPr>
          <a:xfrm>
            <a:off x="5380655" y="6506851"/>
            <a:ext cx="2729404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Agent review (K2)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7" name="table-proposed-144"/>
          <p:cNvSpPr/>
          <p:nvPr/>
        </p:nvSpPr>
        <p:spPr>
          <a:xfrm>
            <a:off x="8257361" y="6506851"/>
            <a:ext cx="2426137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Proposed next test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49" name="table-status-146"/>
          <p:cNvSpPr/>
          <p:nvPr/>
        </p:nvSpPr>
        <p:spPr>
          <a:xfrm>
            <a:off x="10796139" y="6520884"/>
            <a:ext cx="1178409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Status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0" name="table12-147"/>
          <p:cNvSpPr/>
          <p:nvPr/>
        </p:nvSpPr>
        <p:spPr>
          <a:xfrm>
            <a:off x="1750115" y="7214066"/>
            <a:ext cx="849148" cy="5003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12-batch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1" name="table24-148"/>
          <p:cNvSpPr/>
          <p:nvPr/>
        </p:nvSpPr>
        <p:spPr>
          <a:xfrm>
            <a:off x="1750115" y="8444464"/>
            <a:ext cx="849148" cy="5003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24-batch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session</a:t>
            </a:r>
            <a:endParaRPr sz="1600" b="1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2" name="12-observed-149"/>
          <p:cNvSpPr/>
          <p:nvPr/>
        </p:nvSpPr>
        <p:spPr>
          <a:xfrm>
            <a:off x="2781223" y="7136083"/>
            <a:ext cx="2452131" cy="693182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B1 first met the fines rule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12 source batches completed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Reheat–recool was untested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3" name="24-observed-150"/>
          <p:cNvSpPr/>
          <p:nvPr/>
        </p:nvSpPr>
        <p:spPr>
          <a:xfrm>
            <a:off x="2781223" y="8357816"/>
            <a:ext cx="2452131" cy="727841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B1–19 failed the fines limit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B20 first passed; B23 selected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•  B8 showed no improvement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pic>
        <p:nvPicPr>
          <p:cNvPr id="349" name="Original 12-batch thinking agent"/>
          <p:cNvPicPr>
            <a:picLocks noChangeAspect="1"/>
          </p:cNvPicPr>
          <p:nvPr/>
        </p:nvPicPr>
        <p:blipFill>
          <a:blip r:embed="rId1"/>
          <a:srcRect l="36549" t="59487" r="54211" b="32504"/>
          <a:stretch>
            <a:fillRect/>
          </a:stretch>
        </p:blipFill>
        <p:spPr>
          <a:xfrm>
            <a:off x="5432644" y="6971452"/>
            <a:ext cx="979119" cy="892472"/>
          </a:xfrm>
          <a:prstGeom prst="rect">
            <a:avLst/>
          </a:prstGeom>
        </p:spPr>
      </p:pic>
      <p:pic>
        <p:nvPicPr>
          <p:cNvPr id="350" name="Original 24-batch thinking agent"/>
          <p:cNvPicPr>
            <a:picLocks noChangeAspect="1"/>
          </p:cNvPicPr>
          <p:nvPr/>
        </p:nvPicPr>
        <p:blipFill>
          <a:blip r:embed="rId1"/>
          <a:srcRect l="36549" t="69673" r="54211" b="20451"/>
          <a:stretch>
            <a:fillRect/>
          </a:stretch>
        </p:blipFill>
        <p:spPr>
          <a:xfrm>
            <a:off x="5432644" y="8106538"/>
            <a:ext cx="979119" cy="1100426"/>
          </a:xfrm>
          <a:prstGeom prst="rect">
            <a:avLst/>
          </a:prstGeom>
        </p:spPr>
      </p:pic>
      <p:sp>
        <p:nvSpPr>
          <p:cNvPr id="156" name="12-reflection-151"/>
          <p:cNvSpPr/>
          <p:nvPr/>
        </p:nvSpPr>
        <p:spPr>
          <a:xfrm>
            <a:off x="6507076" y="7003860"/>
            <a:ext cx="1602983" cy="8661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Thermal cycling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was untested; seed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survival had been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assumed.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7" name="24-reflection-152"/>
          <p:cNvSpPr/>
          <p:nvPr/>
        </p:nvSpPr>
        <p:spPr>
          <a:xfrm>
            <a:off x="6507076" y="8305828"/>
            <a:ext cx="1663700" cy="8661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B8 negative evidence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was underused; even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predicted direction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is uncertain.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8" name="no-test-dash-153"/>
          <p:cNvSpPr/>
          <p:nvPr/>
        </p:nvSpPr>
        <p:spPr>
          <a:xfrm>
            <a:off x="8300684" y="7101424"/>
            <a:ext cx="2348154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747A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747A8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–</a:t>
            </a:r>
            <a:endParaRPr sz="1800" b="1">
              <a:solidFill>
                <a:srgbClr val="747A8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9" name="no-test-154"/>
          <p:cNvSpPr/>
          <p:nvPr/>
        </p:nvSpPr>
        <p:spPr>
          <a:xfrm>
            <a:off x="8292020" y="7378697"/>
            <a:ext cx="2374148" cy="225284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666C7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666C7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(no specific test proposed)</a:t>
            </a:r>
            <a:endParaRPr sz="1400" b="0">
              <a:solidFill>
                <a:srgbClr val="666C74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0" name="not-proposed-155"/>
          <p:cNvSpPr/>
          <p:nvPr/>
        </p:nvSpPr>
        <p:spPr>
          <a:xfrm>
            <a:off x="10804804" y="7378697"/>
            <a:ext cx="1169745" cy="225284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0">
                <a:solidFill>
                  <a:srgbClr val="666C7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666C7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Not proposed</a:t>
            </a:r>
            <a:endParaRPr sz="1400" b="0">
              <a:solidFill>
                <a:srgbClr val="666C74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1" name="cooling-substitution-156"/>
          <p:cNvSpPr/>
          <p:nvPr/>
        </p:nvSpPr>
        <p:spPr>
          <a:xfrm>
            <a:off x="8318014" y="8045884"/>
            <a:ext cx="2348154" cy="1143750"/>
          </a:xfrm>
          <a:prstGeom prst="rect">
            <a:avLst/>
          </a:prstGeom>
          <a:solidFill>
            <a:srgbClr val="FFFFFF"/>
          </a:solidFill>
          <a:ln w="8665">
            <a:solidFill>
              <a:srgbClr val="9CAEB7"/>
            </a:solidFill>
            <a:prstDash val="dash"/>
          </a:ln>
        </p:spPr>
      </p:sp>
      <p:sp>
        <p:nvSpPr>
          <p:cNvPr id="162" name="cooling-substitution-title-157"/>
          <p:cNvSpPr/>
          <p:nvPr/>
        </p:nvSpPr>
        <p:spPr>
          <a:xfrm>
            <a:off x="8361338" y="8106538"/>
            <a:ext cx="2261506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Cooling-only substitution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3" name="cooling-substitution-which-158"/>
          <p:cNvSpPr/>
          <p:nvPr/>
        </p:nvSpPr>
        <p:spPr>
          <a:xfrm>
            <a:off x="8352673" y="8323157"/>
            <a:ext cx="2278836" cy="19929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(B23: staged → direct cooling)</a:t>
            </a:r>
            <a:endParaRPr sz="12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4" name="cooling-y-axis-159"/>
          <p:cNvSpPr/>
          <p:nvPr/>
        </p:nvSpPr>
        <p:spPr>
          <a:xfrm>
            <a:off x="9045855" y="8539777"/>
            <a:ext cx="87" cy="476563"/>
          </a:xfrm>
          <a:custGeom>
            <a:avLst/>
            <a:gdLst/>
            <a:ahLst/>
            <a:cxnLst/>
            <a:pathLst>
              <a:path w="87" h="476563">
                <a:moveTo>
                  <a:pt x="0" y="476563"/>
                </a:moveTo>
                <a:lnTo>
                  <a:pt x="0" y="0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5" name="cooling-y-axis-160"/>
          <p:cNvSpPr/>
          <p:nvPr/>
        </p:nvSpPr>
        <p:spPr>
          <a:xfrm>
            <a:off x="9045855" y="8539777"/>
            <a:ext cx="19621" cy="38626"/>
          </a:xfrm>
          <a:custGeom>
            <a:avLst/>
            <a:gdLst/>
            <a:ahLst/>
            <a:cxnLst/>
            <a:pathLst>
              <a:path w="19621" h="38626">
                <a:moveTo>
                  <a:pt x="0" y="0"/>
                </a:moveTo>
                <a:lnTo>
                  <a:pt x="19621" y="38626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6" name="cooling-y-axis-161"/>
          <p:cNvSpPr/>
          <p:nvPr/>
        </p:nvSpPr>
        <p:spPr>
          <a:xfrm>
            <a:off x="9026234" y="8539777"/>
            <a:ext cx="19621" cy="38626"/>
          </a:xfrm>
          <a:custGeom>
            <a:avLst/>
            <a:gdLst/>
            <a:ahLst/>
            <a:cxnLst/>
            <a:pathLst>
              <a:path w="19621" h="38626">
                <a:moveTo>
                  <a:pt x="19621" y="0"/>
                </a:moveTo>
                <a:lnTo>
                  <a:pt x="0" y="38626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7" name="cooling-x-axis-162"/>
          <p:cNvSpPr/>
          <p:nvPr/>
        </p:nvSpPr>
        <p:spPr>
          <a:xfrm>
            <a:off x="9045855" y="9016339"/>
            <a:ext cx="1013779" cy="87"/>
          </a:xfrm>
          <a:custGeom>
            <a:avLst/>
            <a:gdLst/>
            <a:ahLst/>
            <a:cxnLst/>
            <a:pathLst>
              <a:path w="1013779" h="87">
                <a:moveTo>
                  <a:pt x="0" y="0"/>
                </a:moveTo>
                <a:lnTo>
                  <a:pt x="1013779" y="0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8" name="cooling-x-axis-163"/>
          <p:cNvSpPr/>
          <p:nvPr/>
        </p:nvSpPr>
        <p:spPr>
          <a:xfrm>
            <a:off x="10021007" y="9016339"/>
            <a:ext cx="38626" cy="19621"/>
          </a:xfrm>
          <a:custGeom>
            <a:avLst/>
            <a:gdLst/>
            <a:ahLst/>
            <a:cxnLst/>
            <a:pathLst>
              <a:path w="38626" h="19621">
                <a:moveTo>
                  <a:pt x="38626" y="0"/>
                </a:moveTo>
                <a:lnTo>
                  <a:pt x="0" y="19621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69" name="cooling-x-axis-164"/>
          <p:cNvSpPr/>
          <p:nvPr/>
        </p:nvSpPr>
        <p:spPr>
          <a:xfrm>
            <a:off x="10021007" y="8996718"/>
            <a:ext cx="38626" cy="19621"/>
          </a:xfrm>
          <a:custGeom>
            <a:avLst/>
            <a:gdLst/>
            <a:ahLst/>
            <a:cxnLst/>
            <a:pathLst>
              <a:path w="38626" h="19621">
                <a:moveTo>
                  <a:pt x="38626" y="19621"/>
                </a:moveTo>
                <a:lnTo>
                  <a:pt x="0" y="0"/>
                </a:lnTo>
              </a:path>
            </a:pathLst>
          </a:custGeom>
          <a:noFill/>
          <a:ln w="9531">
            <a:solidFill>
              <a:srgbClr val="304B57"/>
            </a:solidFill>
            <a:prstDash val="solid"/>
          </a:ln>
        </p:spPr>
      </p:sp>
      <p:sp>
        <p:nvSpPr>
          <p:cNvPr id="170" name="direct-cooling-profile-165"/>
          <p:cNvSpPr/>
          <p:nvPr/>
        </p:nvSpPr>
        <p:spPr>
          <a:xfrm>
            <a:off x="9201821" y="8583100"/>
            <a:ext cx="294602" cy="285938"/>
          </a:xfrm>
          <a:custGeom>
            <a:avLst/>
            <a:gdLst/>
            <a:ahLst/>
            <a:cxnLst/>
            <a:pathLst>
              <a:path w="294602" h="285938">
                <a:moveTo>
                  <a:pt x="0" y="0"/>
                </a:moveTo>
                <a:lnTo>
                  <a:pt x="294602" y="285938"/>
                </a:lnTo>
              </a:path>
            </a:pathLst>
          </a:custGeom>
          <a:noFill/>
          <a:ln w="21662">
            <a:solidFill>
              <a:srgbClr val="477D8D"/>
            </a:solidFill>
            <a:prstDash val="solid"/>
          </a:ln>
        </p:spPr>
      </p:sp>
      <p:sp>
        <p:nvSpPr>
          <p:cNvPr id="171" name="direct-cooling-profile-166"/>
          <p:cNvSpPr/>
          <p:nvPr/>
        </p:nvSpPr>
        <p:spPr>
          <a:xfrm>
            <a:off x="9496423" y="8869038"/>
            <a:ext cx="485227" cy="87"/>
          </a:xfrm>
          <a:custGeom>
            <a:avLst/>
            <a:gdLst/>
            <a:ahLst/>
            <a:cxnLst/>
            <a:pathLst>
              <a:path w="485227" h="87">
                <a:moveTo>
                  <a:pt x="0" y="0"/>
                </a:moveTo>
                <a:lnTo>
                  <a:pt x="485227" y="0"/>
                </a:lnTo>
              </a:path>
            </a:pathLst>
          </a:custGeom>
          <a:noFill/>
          <a:ln w="21662">
            <a:solidFill>
              <a:srgbClr val="477D8D"/>
            </a:solidFill>
            <a:prstDash val="solid"/>
          </a:ln>
        </p:spPr>
      </p:sp>
      <p:sp>
        <p:nvSpPr>
          <p:cNvPr id="172" name="cooling-T-167"/>
          <p:cNvSpPr/>
          <p:nvPr/>
        </p:nvSpPr>
        <p:spPr>
          <a:xfrm>
            <a:off x="8872560" y="8583100"/>
            <a:ext cx="138636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04B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04B5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04B5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3" name="cooling-t-168"/>
          <p:cNvSpPr/>
          <p:nvPr/>
        </p:nvSpPr>
        <p:spPr>
          <a:xfrm>
            <a:off x="9505088" y="9042333"/>
            <a:ext cx="129972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304B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304B5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</a:t>
            </a:r>
            <a:endParaRPr sz="1200" b="0">
              <a:solidFill>
                <a:srgbClr val="304B5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4" name="unexecuted-status-169"/>
          <p:cNvSpPr/>
          <p:nvPr/>
        </p:nvSpPr>
        <p:spPr>
          <a:xfrm>
            <a:off x="10839463" y="8097873"/>
            <a:ext cx="1109091" cy="1057102"/>
          </a:xfrm>
          <a:prstGeom prst="rect">
            <a:avLst/>
          </a:prstGeom>
          <a:gradFill>
            <a:gsLst>
              <a:gs pos="0">
                <a:srgbClr val="F1F3F5"/>
              </a:gs>
              <a:gs pos="100000">
                <a:srgbClr val="DFE3E7"/>
              </a:gs>
            </a:gsLst>
            <a:lin ang="1800000"/>
          </a:gradFill>
          <a:ln w="8665">
            <a:solidFill>
              <a:srgbClr val="9CA5AE"/>
            </a:solidFill>
            <a:prstDash val="dash"/>
          </a:ln>
        </p:spPr>
      </p:sp>
      <p:sp>
        <p:nvSpPr>
          <p:cNvPr id="175" name="unexecuted-status-text-170"/>
          <p:cNvSpPr/>
          <p:nvPr/>
        </p:nvSpPr>
        <p:spPr>
          <a:xfrm>
            <a:off x="10882787" y="8403968"/>
            <a:ext cx="1022443" cy="5613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Proposed</a:t>
            </a:r>
            <a:endParaRPr sz="12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but not</a:t>
            </a:r>
            <a:endParaRPr sz="12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executed</a:t>
            </a:r>
            <a:endParaRPr sz="12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6" name="section-rule-171"/>
          <p:cNvSpPr/>
          <p:nvPr/>
        </p:nvSpPr>
        <p:spPr>
          <a:xfrm>
            <a:off x="1698126" y="9579549"/>
            <a:ext cx="10328411" cy="87"/>
          </a:xfrm>
          <a:custGeom>
            <a:avLst/>
            <a:gdLst/>
            <a:ahLst/>
            <a:cxnLst/>
            <a:pathLst>
              <a:path w="10328411" h="87">
                <a:moveTo>
                  <a:pt x="0" y="0"/>
                </a:moveTo>
                <a:lnTo>
                  <a:pt x="10328411" y="0"/>
                </a:lnTo>
              </a:path>
            </a:pathLst>
          </a:custGeom>
          <a:noFill/>
          <a:ln w="17330">
            <a:solidFill>
              <a:srgbClr val="181B1E"/>
            </a:solidFill>
            <a:prstDash val="solid"/>
          </a:ln>
        </p:spPr>
      </p:sp>
      <p:sp>
        <p:nvSpPr>
          <p:cNvPr id="177" name="panel-letter-D-172"/>
          <p:cNvSpPr/>
          <p:nvPr/>
        </p:nvSpPr>
        <p:spPr>
          <a:xfrm>
            <a:off x="1698126" y="9640203"/>
            <a:ext cx="268608" cy="3175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D</a:t>
            </a:r>
            <a:endParaRPr sz="20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78" name="panel-title-D-173"/>
          <p:cNvSpPr/>
          <p:nvPr/>
        </p:nvSpPr>
        <p:spPr>
          <a:xfrm>
            <a:off x="2062047" y="9666197"/>
            <a:ext cx="5207529" cy="28702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Evaluator reference for the withheld question</a:t>
            </a:r>
            <a:endParaRPr sz="18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0" name="reference-box-175"/>
          <p:cNvSpPr/>
          <p:nvPr/>
        </p:nvSpPr>
        <p:spPr>
          <a:xfrm>
            <a:off x="1698126" y="10021453"/>
            <a:ext cx="10328411" cy="1013779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9531">
            <a:solidFill>
              <a:srgbClr val="8EA7B5"/>
            </a:solidFill>
            <a:prstDash val="solid"/>
          </a:ln>
        </p:spPr>
      </p:sp>
      <p:pic>
        <p:nvPicPr>
          <p:cNvPr id="376" name="Original evaluator document"/>
          <p:cNvPicPr>
            <a:picLocks noChangeAspect="1"/>
          </p:cNvPicPr>
          <p:nvPr/>
        </p:nvPicPr>
        <p:blipFill>
          <a:blip r:embed="rId1"/>
          <a:srcRect l="3516" t="88647" r="91333" b="5288"/>
          <a:stretch>
            <a:fillRect/>
          </a:stretch>
        </p:blipFill>
        <p:spPr>
          <a:xfrm>
            <a:off x="1932075" y="10220743"/>
            <a:ext cx="545881" cy="675852"/>
          </a:xfrm>
          <a:prstGeom prst="rect">
            <a:avLst/>
          </a:prstGeom>
        </p:spPr>
      </p:pic>
      <p:sp>
        <p:nvSpPr>
          <p:cNvPr id="182" name="reference-document-title-176"/>
          <p:cNvSpPr/>
          <p:nvPr/>
        </p:nvSpPr>
        <p:spPr>
          <a:xfrm>
            <a:off x="2677246" y="10350714"/>
            <a:ext cx="1793608" cy="25654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Evaluator reference</a:t>
            </a:r>
            <a:endParaRPr sz="16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3" name="reference-document-description-177"/>
          <p:cNvSpPr/>
          <p:nvPr/>
        </p:nvSpPr>
        <p:spPr>
          <a:xfrm>
            <a:off x="2677246" y="10618134"/>
            <a:ext cx="1793608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(for thermal question Q)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4" name="reference-divider-178"/>
          <p:cNvSpPr/>
          <p:nvPr/>
        </p:nvSpPr>
        <p:spPr>
          <a:xfrm>
            <a:off x="4490621" y="10203413"/>
            <a:ext cx="87" cy="693182"/>
          </a:xfrm>
          <a:custGeom>
            <a:avLst/>
            <a:gdLst/>
            <a:ahLst/>
            <a:cxnLst/>
            <a:pathLst>
              <a:path w="87" h="693182">
                <a:moveTo>
                  <a:pt x="0" y="0"/>
                </a:moveTo>
                <a:lnTo>
                  <a:pt x="0" y="693182"/>
                </a:lnTo>
              </a:path>
            </a:pathLst>
          </a:custGeom>
          <a:noFill/>
          <a:ln w="12997">
            <a:solidFill>
              <a:srgbClr val="8BA0AF"/>
            </a:solidFill>
            <a:prstDash val="solid"/>
          </a:ln>
        </p:spPr>
      </p:sp>
      <p:sp>
        <p:nvSpPr>
          <p:cNvPr id="185" name="reference-disclosure-179"/>
          <p:cNvSpPr/>
          <p:nvPr/>
        </p:nvSpPr>
        <p:spPr>
          <a:xfrm>
            <a:off x="4618155" y="10350714"/>
            <a:ext cx="4860938" cy="537216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Independent evaluation of H vs R, using the same formulation.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  <a:p>
            <a:pPr algn="l">
              <a:defRPr sz="1400" b="0">
                <a:solidFill>
                  <a:srgbClr val="3D424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3D424B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Unavailable during the agents’ Q forecasts and K2 reviews.</a:t>
            </a:r>
            <a:endParaRPr sz="1400" b="0">
              <a:solidFill>
                <a:srgbClr val="3D424B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6" name="reference-chart-box-180"/>
          <p:cNvSpPr/>
          <p:nvPr/>
        </p:nvSpPr>
        <p:spPr>
          <a:xfrm>
            <a:off x="9609065" y="10108101"/>
            <a:ext cx="2322160" cy="823154"/>
          </a:xfrm>
          <a:prstGeom prst="rect">
            <a:avLst/>
          </a:prstGeom>
          <a:gradFill>
            <a:gsLst>
              <a:gs pos="0">
                <a:srgbClr val="FCF6EB"/>
              </a:gs>
              <a:gs pos="100000">
                <a:srgbClr val="FAEFDC"/>
              </a:gs>
            </a:gsLst>
            <a:lin ang="1800000"/>
          </a:gradFill>
          <a:ln w="8665">
            <a:noFill/>
            <a:prstDash val="solid"/>
          </a:ln>
        </p:spPr>
      </p:sp>
      <p:sp>
        <p:nvSpPr>
          <p:cNvPr id="187" name="reference-chart-title-181"/>
          <p:cNvSpPr/>
          <p:nvPr/>
        </p:nvSpPr>
        <p:spPr>
          <a:xfrm>
            <a:off x="9678384" y="10255402"/>
            <a:ext cx="120440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1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Fines reference</a:t>
            </a:r>
            <a:endParaRPr sz="1400" b="1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8" name="reference-chart-subtitle-182"/>
          <p:cNvSpPr/>
          <p:nvPr/>
        </p:nvSpPr>
        <p:spPr>
          <a:xfrm>
            <a:off x="9678384" y="10454692"/>
            <a:ext cx="1204404" cy="22606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(revealed here)</a:t>
            </a:r>
            <a:endParaRPr sz="14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89" name="fines-reference-H-183"/>
          <p:cNvSpPr/>
          <p:nvPr/>
        </p:nvSpPr>
        <p:spPr>
          <a:xfrm>
            <a:off x="11056083" y="10549571"/>
            <a:ext cx="164631" cy="130405"/>
          </a:xfrm>
          <a:prstGeom prst="rect">
            <a:avLst/>
          </a:prstGeom>
          <a:solidFill>
            <a:srgbClr val="42799A"/>
          </a:solidFill>
          <a:ln w="8665">
            <a:noFill/>
            <a:prstDash val="solid"/>
          </a:ln>
        </p:spPr>
      </p:sp>
      <p:sp>
        <p:nvSpPr>
          <p:cNvPr id="190" name="fines-reference-R-184"/>
          <p:cNvSpPr/>
          <p:nvPr/>
        </p:nvSpPr>
        <p:spPr>
          <a:xfrm>
            <a:off x="11454662" y="10307390"/>
            <a:ext cx="164631" cy="372585"/>
          </a:xfrm>
          <a:prstGeom prst="rect">
            <a:avLst/>
          </a:prstGeom>
          <a:solidFill>
            <a:srgbClr val="B94E2C"/>
          </a:solidFill>
          <a:ln w="8665">
            <a:noFill/>
            <a:prstDash val="solid"/>
          </a:ln>
        </p:spPr>
      </p:sp>
      <p:sp>
        <p:nvSpPr>
          <p:cNvPr id="191" name="reference-bar-baseline-185"/>
          <p:cNvSpPr/>
          <p:nvPr/>
        </p:nvSpPr>
        <p:spPr>
          <a:xfrm>
            <a:off x="10917446" y="10679976"/>
            <a:ext cx="814489" cy="87"/>
          </a:xfrm>
          <a:custGeom>
            <a:avLst/>
            <a:gdLst/>
            <a:ahLst/>
            <a:cxnLst/>
            <a:pathLst>
              <a:path w="814489" h="87">
                <a:moveTo>
                  <a:pt x="0" y="0"/>
                </a:moveTo>
                <a:lnTo>
                  <a:pt x="814489" y="0"/>
                </a:lnTo>
              </a:path>
            </a:pathLst>
          </a:custGeom>
          <a:noFill/>
          <a:ln w="10398">
            <a:solidFill>
              <a:srgbClr val="181B1E"/>
            </a:solidFill>
            <a:prstDash val="solid"/>
          </a:ln>
        </p:spPr>
      </p:sp>
      <p:sp>
        <p:nvSpPr>
          <p:cNvPr id="192" name="reference-H-value-186"/>
          <p:cNvSpPr/>
          <p:nvPr/>
        </p:nvSpPr>
        <p:spPr>
          <a:xfrm>
            <a:off x="10978100" y="10384940"/>
            <a:ext cx="320597" cy="1651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35%</a:t>
            </a:r>
            <a:endParaRPr sz="10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3" name="reference-R-value-187"/>
          <p:cNvSpPr/>
          <p:nvPr/>
        </p:nvSpPr>
        <p:spPr>
          <a:xfrm>
            <a:off x="11368015" y="10142760"/>
            <a:ext cx="363921" cy="16510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100%</a:t>
            </a:r>
            <a:endParaRPr sz="10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4" name="reference-H-option-188"/>
          <p:cNvSpPr/>
          <p:nvPr/>
        </p:nvSpPr>
        <p:spPr>
          <a:xfrm>
            <a:off x="10767299" y="10731964"/>
            <a:ext cx="589205" cy="190625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H</a:t>
            </a:r>
            <a:endParaRPr sz="12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95" name="reference-R-option-189"/>
          <p:cNvSpPr/>
          <p:nvPr/>
        </p:nvSpPr>
        <p:spPr>
          <a:xfrm>
            <a:off x="11444809" y="10731964"/>
            <a:ext cx="575945" cy="195580"/>
          </a:xfrm>
          <a:prstGeom prst="rect">
            <a:avLst/>
          </a:prstGeom>
          <a:noFill/>
          <a:ln w="8665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00" b="0">
                <a:solidFill>
                  <a:srgbClr val="181B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81B1E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Option R</a:t>
            </a:r>
            <a:endParaRPr sz="1200" b="0">
              <a:solidFill>
                <a:srgbClr val="181B1E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7226</Words>
  <Application>WPS 演示</Application>
  <PresentationFormat>Converted Presentation</PresentationFormat>
  <Paragraphs>1269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Times New Roman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邱江杰(2025311052)</cp:lastModifiedBy>
  <cp:revision>9</cp:revision>
  <dcterms:created xsi:type="dcterms:W3CDTF">2026-09-26T08:15:00Z</dcterms:created>
  <dcterms:modified xsi:type="dcterms:W3CDTF">2026-09-26T10:52:32Z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D2E98FC89FAC4FDA8ED28F321230427C_12</vt:lpwstr>
  </property>
  <property fmtid="{D5CDD505-2E9C-101B-9397-08002B2CF9AE}" pid="3" name="KSOProductBuildVer">
    <vt:lpwstr>2052-12.1.0.28022</vt:lpwstr>
  </property>
</Properties>
</file>