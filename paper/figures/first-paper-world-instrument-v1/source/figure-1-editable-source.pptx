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8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5724"/>
    <a:srgbClr val="FEF2D0"/>
    <a:srgbClr val="20324A"/>
    <a:srgbClr val="FFFFED"/>
    <a:srgbClr val="EEEEEE"/>
    <a:srgbClr val="FEFDE4"/>
    <a:srgbClr val="FEF9F5"/>
    <a:srgbClr val="F8FEDA"/>
    <a:srgbClr val="FEFDB6"/>
    <a:srgbClr val="FEFF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5" Type="http://schemas.openxmlformats.org/officeDocument/2006/relationships/notesSlide" Target="../notesSlides/notesSlide1.xml"/><Relationship Id="rId24" Type="http://schemas.openxmlformats.org/officeDocument/2006/relationships/slideLayout" Target="../slideLayouts/slideLayout2.xml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830" y="45720"/>
            <a:ext cx="5871845" cy="3200400"/>
          </a:xfrm>
          <a:prstGeom prst="rect">
            <a:avLst/>
          </a:prstGeom>
          <a:solidFill>
            <a:srgbClr val="F3F7FB"/>
          </a:solidFill>
          <a:ln w="10160">
            <a:solidFill>
              <a:schemeClr val="tx1"/>
            </a:solidFill>
            <a:miter lim="800000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962015" y="45720"/>
            <a:ext cx="6190615" cy="3197860"/>
          </a:xfrm>
          <a:prstGeom prst="rect">
            <a:avLst/>
          </a:prstGeom>
          <a:solidFill>
            <a:srgbClr val="F8FCF7"/>
          </a:solidFill>
          <a:ln w="10160">
            <a:solidFill>
              <a:srgbClr val="20324A"/>
            </a:solidFill>
            <a:prstDash val="solid"/>
            <a:miter lim="800000"/>
          </a:ln>
        </p:spPr>
      </p:sp>
      <p:sp>
        <p:nvSpPr>
          <p:cNvPr id="8" name="Text 6"/>
          <p:cNvSpPr/>
          <p:nvPr/>
        </p:nvSpPr>
        <p:spPr>
          <a:xfrm>
            <a:off x="6052820" y="118745"/>
            <a:ext cx="5687695" cy="2559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B. World Compiler</a:t>
            </a:r>
            <a:endParaRPr lang="en-US" sz="1400" b="1" dirty="0">
              <a:solidFill>
                <a:srgbClr val="111827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382385" y="393065"/>
            <a:ext cx="5493385" cy="2292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11827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Composes components into an executable world with a public contract and private mechanisms</a:t>
            </a:r>
            <a:endParaRPr lang="en-US" sz="1000" i="1" dirty="0">
              <a:solidFill>
                <a:srgbClr val="111827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8735" y="3328670"/>
            <a:ext cx="5870575" cy="3401695"/>
          </a:xfrm>
          <a:prstGeom prst="rect">
            <a:avLst/>
          </a:prstGeom>
          <a:solidFill>
            <a:srgbClr val="FEF2D0">
              <a:alpha val="15000"/>
            </a:srgbClr>
          </a:solidFill>
          <a:ln w="10160">
            <a:solidFill>
              <a:srgbClr val="20324A"/>
            </a:solidFill>
            <a:prstDash val="solid"/>
            <a:miter lim="800000"/>
          </a:ln>
        </p:spPr>
      </p:sp>
      <p:sp>
        <p:nvSpPr>
          <p:cNvPr id="13" name="Text 11"/>
          <p:cNvSpPr/>
          <p:nvPr/>
        </p:nvSpPr>
        <p:spPr>
          <a:xfrm>
            <a:off x="457200" y="3785870"/>
            <a:ext cx="5276215" cy="20129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11827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Typed action → validated execution → commit or rollback → observations &amp; record</a:t>
            </a:r>
            <a:endParaRPr lang="en-US" sz="1000" i="1" dirty="0">
              <a:solidFill>
                <a:srgbClr val="111827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62015" y="3328670"/>
            <a:ext cx="6177280" cy="3401695"/>
          </a:xfrm>
          <a:prstGeom prst="rect">
            <a:avLst/>
          </a:prstGeom>
          <a:solidFill>
            <a:srgbClr val="FEF9F5"/>
          </a:solidFill>
          <a:ln w="10160">
            <a:solidFill>
              <a:srgbClr val="20324A"/>
            </a:solidFill>
            <a:prstDash val="solid"/>
            <a:miter lim="800000"/>
          </a:ln>
        </p:spPr>
      </p:sp>
      <p:sp>
        <p:nvSpPr>
          <p:cNvPr id="16" name="Text 14"/>
          <p:cNvSpPr/>
          <p:nvPr/>
        </p:nvSpPr>
        <p:spPr>
          <a:xfrm>
            <a:off x="6052820" y="3401695"/>
            <a:ext cx="5632450" cy="2559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D. Deterministic Replay &amp; Controlled Forks</a:t>
            </a:r>
            <a:endParaRPr lang="en-US" sz="1400" b="1" dirty="0">
              <a:solidFill>
                <a:srgbClr val="111827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29845" y="4271645"/>
            <a:ext cx="622300" cy="26543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11827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Typed Action</a:t>
            </a:r>
            <a:endParaRPr lang="en-US" sz="700" b="1" dirty="0"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  <a:p>
            <a:pPr marL="0" indent="0" algn="ctr">
              <a:buNone/>
            </a:pPr>
            <a:r>
              <a:rPr lang="en-US" sz="700" b="1" dirty="0">
                <a:solidFill>
                  <a:srgbClr val="111827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from Agent</a:t>
            </a:r>
            <a:endParaRPr lang="en-US" sz="700" b="1" dirty="0">
              <a:solidFill>
                <a:srgbClr val="111827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29845" y="4555490"/>
            <a:ext cx="58547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-120"/>
              </a:rPr>
              <a:t>a</a:t>
            </a:r>
            <a:r>
              <a:rPr lang="en-US" sz="800" i="1" baseline="-25000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-120"/>
              </a:rPr>
              <a:t>t</a:t>
            </a:r>
            <a:endParaRPr lang="en-US" sz="800" i="1" baseline="-25000" dirty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-120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756920" y="4144010"/>
            <a:ext cx="729615" cy="950595"/>
          </a:xfrm>
          <a:prstGeom prst="roundRect">
            <a:avLst>
              <a:gd name="adj" fmla="val 5405"/>
            </a:avLst>
          </a:prstGeom>
          <a:solidFill>
            <a:srgbClr val="F3F7FC"/>
          </a:solidFill>
          <a:ln w="10160">
            <a:solidFill>
              <a:srgbClr val="6F95C7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93115" y="4217035"/>
            <a:ext cx="621665" cy="16446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Preflight</a:t>
            </a:r>
            <a:endParaRPr lang="en-US" sz="800" b="1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87" name="Text 85"/>
          <p:cNvSpPr/>
          <p:nvPr/>
        </p:nvSpPr>
        <p:spPr>
          <a:xfrm>
            <a:off x="793115" y="4418330"/>
            <a:ext cx="621665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-120"/>
              </a:rPr>
              <a:t>P</a:t>
            </a:r>
            <a:endParaRPr lang="en-US" sz="850" i="1" dirty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-120"/>
            </a:endParaRPr>
          </a:p>
        </p:txBody>
      </p:sp>
      <p:sp>
        <p:nvSpPr>
          <p:cNvPr id="88" name="Text 86"/>
          <p:cNvSpPr/>
          <p:nvPr/>
        </p:nvSpPr>
        <p:spPr>
          <a:xfrm>
            <a:off x="789940" y="4683125"/>
            <a:ext cx="69405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Schema, compatibility,</a:t>
            </a:r>
            <a:endParaRPr lang="en-US" sz="900" dirty="0">
              <a:ea typeface="微软雅黑" panose="020B0503020204020204" charset="-122"/>
              <a:cs typeface="+mn-lt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resources</a:t>
            </a:r>
            <a:endParaRPr lang="en-US" sz="900" dirty="0">
              <a:solidFill>
                <a:srgbClr val="111827"/>
              </a:solidFill>
              <a:ea typeface="微软雅黑" panose="020B0503020204020204" charset="-122"/>
              <a:cs typeface="+mn-lt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541655" y="4625975"/>
            <a:ext cx="183515" cy="635"/>
          </a:xfrm>
          <a:prstGeom prst="line">
            <a:avLst/>
          </a:prstGeom>
          <a:noFill/>
          <a:ln w="10160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90" name="Shape 88"/>
          <p:cNvSpPr/>
          <p:nvPr/>
        </p:nvSpPr>
        <p:spPr>
          <a:xfrm>
            <a:off x="1748155" y="4144010"/>
            <a:ext cx="829310" cy="950595"/>
          </a:xfrm>
          <a:prstGeom prst="roundRect">
            <a:avLst>
              <a:gd name="adj" fmla="val 5128"/>
            </a:avLst>
          </a:prstGeom>
          <a:solidFill>
            <a:srgbClr val="FFF7E8"/>
          </a:solidFill>
          <a:ln w="10160">
            <a:solidFill>
              <a:srgbClr val="D7A13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792605" y="4144645"/>
            <a:ext cx="762000" cy="3016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Runtime</a:t>
            </a:r>
            <a:endParaRPr lang="en-US" sz="800" b="1" dirty="0"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Precondition</a:t>
            </a:r>
            <a:endParaRPr lang="en-US" sz="800" b="1" dirty="0">
              <a:solidFill>
                <a:srgbClr val="111827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92" name="Text 90"/>
          <p:cNvSpPr/>
          <p:nvPr/>
        </p:nvSpPr>
        <p:spPr>
          <a:xfrm>
            <a:off x="1851660" y="4505325"/>
            <a:ext cx="63119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i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-120"/>
              </a:rPr>
              <a:t>C</a:t>
            </a:r>
            <a:r>
              <a:rPr lang="en-US" sz="730" i="1" baseline="-25000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-120"/>
              </a:rPr>
              <a:t>pre</a:t>
            </a:r>
            <a:endParaRPr lang="en-US" sz="730" i="1" dirty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-120"/>
            </a:endParaRPr>
          </a:p>
        </p:txBody>
      </p:sp>
      <p:sp>
        <p:nvSpPr>
          <p:cNvPr id="93" name="Text 91"/>
          <p:cNvSpPr/>
          <p:nvPr/>
        </p:nvSpPr>
        <p:spPr>
          <a:xfrm>
            <a:off x="1792605" y="4728845"/>
            <a:ext cx="748030" cy="28321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Context-dependent</a:t>
            </a:r>
            <a:endParaRPr lang="en-US" sz="900" dirty="0">
              <a:ea typeface="微软雅黑" panose="020B0503020204020204" charset="-122"/>
              <a:cs typeface="+mn-lt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checks</a:t>
            </a:r>
            <a:endParaRPr lang="en-US" sz="900" dirty="0">
              <a:solidFill>
                <a:srgbClr val="111827"/>
              </a:solidFill>
              <a:ea typeface="微软雅黑" panose="020B0503020204020204" charset="-122"/>
              <a:cs typeface="+mn-lt"/>
            </a:endParaRPr>
          </a:p>
        </p:txBody>
      </p:sp>
      <p:sp>
        <p:nvSpPr>
          <p:cNvPr id="94" name="Shape 92"/>
          <p:cNvSpPr/>
          <p:nvPr/>
        </p:nvSpPr>
        <p:spPr>
          <a:xfrm>
            <a:off x="2879090" y="4144010"/>
            <a:ext cx="803275" cy="974090"/>
          </a:xfrm>
          <a:prstGeom prst="roundRect">
            <a:avLst>
              <a:gd name="adj" fmla="val 4651"/>
            </a:avLst>
          </a:prstGeom>
          <a:solidFill>
            <a:srgbClr val="F0F8F0"/>
          </a:solidFill>
          <a:ln w="10160">
            <a:solidFill>
              <a:srgbClr val="4A9C5E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847340" y="4208145"/>
            <a:ext cx="868680" cy="2374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Execute World Dynamics</a:t>
            </a:r>
            <a:endParaRPr lang="en-US" sz="800" b="1" dirty="0">
              <a:solidFill>
                <a:srgbClr val="111827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96" name="Text 94"/>
          <p:cNvSpPr/>
          <p:nvPr/>
        </p:nvSpPr>
        <p:spPr>
          <a:xfrm>
            <a:off x="2945765" y="4537075"/>
            <a:ext cx="69469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i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-120"/>
              </a:rPr>
              <a:t>F</a:t>
            </a:r>
            <a:r>
              <a:rPr lang="en-US" sz="770" i="1" baseline="-25000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-120"/>
              </a:rPr>
              <a:t>θ</a:t>
            </a:r>
            <a:endParaRPr lang="en-US" sz="770" i="1" baseline="-25000" dirty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-120"/>
            </a:endParaRPr>
          </a:p>
        </p:txBody>
      </p:sp>
      <p:sp>
        <p:nvSpPr>
          <p:cNvPr id="97" name="Text 95"/>
          <p:cNvSpPr/>
          <p:nvPr/>
        </p:nvSpPr>
        <p:spPr>
          <a:xfrm>
            <a:off x="2923540" y="4750435"/>
            <a:ext cx="716915" cy="2616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Generate candidate</a:t>
            </a:r>
            <a:endParaRPr lang="en-US" sz="900" dirty="0">
              <a:solidFill>
                <a:srgbClr val="111827"/>
              </a:solidFill>
              <a:ea typeface="微软雅黑" panose="020B0503020204020204" charset="-122"/>
              <a:cs typeface="+mn-lt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3890010" y="4144645"/>
            <a:ext cx="817880" cy="974090"/>
          </a:xfrm>
          <a:prstGeom prst="roundRect">
            <a:avLst>
              <a:gd name="adj" fmla="val 4762"/>
            </a:avLst>
          </a:prstGeom>
          <a:solidFill>
            <a:srgbClr val="FFF7F1"/>
          </a:solidFill>
          <a:ln w="10160">
            <a:solidFill>
              <a:srgbClr val="DD875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890010" y="4189730"/>
            <a:ext cx="849630" cy="2374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Post-Execution</a:t>
            </a:r>
            <a:endParaRPr lang="en-US" sz="800" b="1" dirty="0"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Validation</a:t>
            </a:r>
            <a:endParaRPr lang="en-US" sz="800" b="1" dirty="0">
              <a:solidFill>
                <a:srgbClr val="111827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100" name="Text 98"/>
          <p:cNvSpPr/>
          <p:nvPr/>
        </p:nvSpPr>
        <p:spPr>
          <a:xfrm>
            <a:off x="3942080" y="4505325"/>
            <a:ext cx="74803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i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-120"/>
              </a:rPr>
              <a:t>C</a:t>
            </a:r>
            <a:r>
              <a:rPr lang="en-US" sz="720" i="1" baseline="-25000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-120"/>
              </a:rPr>
              <a:t>post</a:t>
            </a:r>
            <a:endParaRPr lang="en-US" sz="720" i="1" dirty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-120"/>
            </a:endParaRPr>
          </a:p>
        </p:txBody>
      </p:sp>
      <p:sp>
        <p:nvSpPr>
          <p:cNvPr id="101" name="Text 99"/>
          <p:cNvSpPr/>
          <p:nvPr/>
        </p:nvSpPr>
        <p:spPr>
          <a:xfrm>
            <a:off x="3889375" y="4706620"/>
            <a:ext cx="850265" cy="3473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State integrity, solver</a:t>
            </a:r>
            <a:endParaRPr lang="en-US" sz="800" dirty="0">
              <a:ea typeface="微软雅黑" panose="020B0503020204020204" charset="-122"/>
              <a:cs typeface="+mn-lt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invariants</a:t>
            </a:r>
            <a:endParaRPr lang="en-US" sz="800" dirty="0">
              <a:solidFill>
                <a:srgbClr val="111827"/>
              </a:solidFill>
              <a:ea typeface="微软雅黑" panose="020B0503020204020204" charset="-122"/>
              <a:cs typeface="+mn-lt"/>
            </a:endParaRPr>
          </a:p>
        </p:txBody>
      </p:sp>
      <p:sp>
        <p:nvSpPr>
          <p:cNvPr id="102" name="Shape 100"/>
          <p:cNvSpPr/>
          <p:nvPr/>
        </p:nvSpPr>
        <p:spPr>
          <a:xfrm>
            <a:off x="5095875" y="4142740"/>
            <a:ext cx="725170" cy="14300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868E99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137150" y="4283710"/>
            <a:ext cx="636270" cy="2654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11827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Observations</a:t>
            </a:r>
            <a:endParaRPr lang="en-US" sz="750" b="1" dirty="0"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  <a:p>
            <a:pPr marL="0" indent="0" algn="ctr">
              <a:buNone/>
            </a:pPr>
            <a:r>
              <a:rPr lang="en-US" sz="750" b="1" dirty="0">
                <a:solidFill>
                  <a:srgbClr val="111827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&amp; Record</a:t>
            </a:r>
            <a:endParaRPr lang="en-US" sz="750" b="1" dirty="0">
              <a:solidFill>
                <a:srgbClr val="111827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104" name="Text 102"/>
          <p:cNvSpPr/>
          <p:nvPr/>
        </p:nvSpPr>
        <p:spPr>
          <a:xfrm>
            <a:off x="5178425" y="4658995"/>
            <a:ext cx="548640" cy="74993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Public o</a:t>
            </a:r>
            <a:r>
              <a:rPr lang="en-US" sz="780" baseline="-250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t+1</a:t>
            </a:r>
            <a:endParaRPr lang="en-US" sz="780" dirty="0">
              <a:ea typeface="微软雅黑" panose="020B0503020204020204" charset="-122"/>
              <a:cs typeface="+mn-lt"/>
            </a:endParaRPr>
          </a:p>
          <a:p>
            <a:pPr marL="0" indent="0" algn="ctr">
              <a:buNone/>
            </a:pPr>
            <a:r>
              <a:rPr lang="en-US" sz="78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to agent</a:t>
            </a:r>
            <a:endParaRPr lang="en-US" sz="780" dirty="0">
              <a:ea typeface="微软雅黑" panose="020B0503020204020204" charset="-122"/>
              <a:cs typeface="+mn-lt"/>
            </a:endParaRPr>
          </a:p>
          <a:p>
            <a:pPr marL="0" indent="0" algn="ctr">
              <a:buNone/>
            </a:pPr>
            <a:endParaRPr lang="en-US" sz="780" dirty="0">
              <a:ea typeface="微软雅黑" panose="020B0503020204020204" charset="-122"/>
              <a:cs typeface="+mn-lt"/>
            </a:endParaRPr>
          </a:p>
          <a:p>
            <a:pPr marL="0" indent="0" algn="ctr">
              <a:buNone/>
            </a:pPr>
            <a:r>
              <a:rPr lang="en-US" sz="78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+</a:t>
            </a:r>
            <a:endParaRPr lang="en-US" sz="780" dirty="0">
              <a:ea typeface="微软雅黑" panose="020B0503020204020204" charset="-122"/>
              <a:cs typeface="+mn-lt"/>
            </a:endParaRPr>
          </a:p>
          <a:p>
            <a:pPr marL="0" indent="0" algn="ctr">
              <a:buNone/>
            </a:pPr>
            <a:endParaRPr lang="en-US" sz="780" dirty="0">
              <a:ea typeface="微软雅黑" panose="020B0503020204020204" charset="-122"/>
              <a:cs typeface="+mn-lt"/>
            </a:endParaRPr>
          </a:p>
          <a:p>
            <a:pPr marL="0" indent="0" algn="ctr">
              <a:buNone/>
            </a:pPr>
            <a:r>
              <a:rPr lang="en-US" sz="78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Evaluator record</a:t>
            </a:r>
            <a:endParaRPr lang="en-US" sz="780" dirty="0">
              <a:ea typeface="微软雅黑" panose="020B0503020204020204" charset="-122"/>
              <a:cs typeface="+mn-lt"/>
            </a:endParaRPr>
          </a:p>
          <a:p>
            <a:pPr marL="0" indent="0" algn="ctr">
              <a:buNone/>
            </a:pPr>
            <a:r>
              <a:rPr lang="en-US" sz="78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(privileged)</a:t>
            </a:r>
            <a:endParaRPr lang="en-US" sz="780" dirty="0">
              <a:solidFill>
                <a:srgbClr val="111827"/>
              </a:solidFill>
              <a:ea typeface="微软雅黑" panose="020B0503020204020204" charset="-122"/>
              <a:cs typeface="+mn-lt"/>
            </a:endParaRPr>
          </a:p>
        </p:txBody>
      </p:sp>
      <p:sp>
        <p:nvSpPr>
          <p:cNvPr id="105" name="Shape 103"/>
          <p:cNvSpPr/>
          <p:nvPr/>
        </p:nvSpPr>
        <p:spPr>
          <a:xfrm>
            <a:off x="1486535" y="4624070"/>
            <a:ext cx="261620" cy="635"/>
          </a:xfrm>
          <a:prstGeom prst="line">
            <a:avLst/>
          </a:prstGeom>
          <a:noFill/>
          <a:ln w="11430">
            <a:solidFill>
              <a:srgbClr val="16803B"/>
            </a:solidFill>
            <a:prstDash val="solid"/>
            <a:tailEnd type="triangle"/>
          </a:ln>
        </p:spPr>
      </p:sp>
      <p:sp>
        <p:nvSpPr>
          <p:cNvPr id="106" name="Text 104"/>
          <p:cNvSpPr/>
          <p:nvPr/>
        </p:nvSpPr>
        <p:spPr>
          <a:xfrm>
            <a:off x="1486535" y="4445635"/>
            <a:ext cx="255905" cy="1460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16803B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-120"/>
              </a:rPr>
              <a:t>P = 1</a:t>
            </a:r>
            <a:endParaRPr lang="en-US" sz="630" b="1" dirty="0">
              <a:solidFill>
                <a:srgbClr val="16803B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-120"/>
            </a:endParaRPr>
          </a:p>
        </p:txBody>
      </p:sp>
      <p:sp>
        <p:nvSpPr>
          <p:cNvPr id="107" name="Shape 105"/>
          <p:cNvSpPr/>
          <p:nvPr/>
        </p:nvSpPr>
        <p:spPr>
          <a:xfrm>
            <a:off x="2577465" y="4625340"/>
            <a:ext cx="301625" cy="635"/>
          </a:xfrm>
          <a:prstGeom prst="line">
            <a:avLst/>
          </a:prstGeom>
          <a:noFill/>
          <a:ln w="11430">
            <a:solidFill>
              <a:srgbClr val="16803B"/>
            </a:solidFill>
            <a:prstDash val="solid"/>
            <a:tailEnd type="triangle"/>
          </a:ln>
        </p:spPr>
      </p:sp>
      <p:sp>
        <p:nvSpPr>
          <p:cNvPr id="108" name="Text 106"/>
          <p:cNvSpPr/>
          <p:nvPr/>
        </p:nvSpPr>
        <p:spPr>
          <a:xfrm>
            <a:off x="2567940" y="4445635"/>
            <a:ext cx="247015" cy="16065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10" b="1" dirty="0">
                <a:solidFill>
                  <a:srgbClr val="16803B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-120"/>
              </a:rPr>
              <a:t>Pass</a:t>
            </a:r>
            <a:endParaRPr lang="en-US" sz="610" b="1" dirty="0">
              <a:solidFill>
                <a:srgbClr val="16803B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-120"/>
            </a:endParaRPr>
          </a:p>
        </p:txBody>
      </p:sp>
      <p:sp>
        <p:nvSpPr>
          <p:cNvPr id="109" name="Shape 107"/>
          <p:cNvSpPr/>
          <p:nvPr/>
        </p:nvSpPr>
        <p:spPr>
          <a:xfrm>
            <a:off x="3682365" y="4610100"/>
            <a:ext cx="184150" cy="635"/>
          </a:xfrm>
          <a:prstGeom prst="line">
            <a:avLst/>
          </a:prstGeom>
          <a:noFill/>
          <a:ln w="11430">
            <a:solidFill>
              <a:srgbClr val="16803B"/>
            </a:solidFill>
            <a:prstDash val="solid"/>
            <a:tailEnd type="triangle"/>
          </a:ln>
        </p:spPr>
      </p:sp>
      <p:sp>
        <p:nvSpPr>
          <p:cNvPr id="110" name="Shape 108"/>
          <p:cNvSpPr/>
          <p:nvPr/>
        </p:nvSpPr>
        <p:spPr>
          <a:xfrm>
            <a:off x="4708525" y="4609465"/>
            <a:ext cx="384810" cy="1270"/>
          </a:xfrm>
          <a:prstGeom prst="line">
            <a:avLst/>
          </a:prstGeom>
          <a:noFill/>
          <a:ln w="11430">
            <a:solidFill>
              <a:srgbClr val="16803B"/>
            </a:solidFill>
            <a:prstDash val="solid"/>
            <a:tailEnd type="triangle"/>
          </a:ln>
        </p:spPr>
      </p:sp>
      <p:sp>
        <p:nvSpPr>
          <p:cNvPr id="111" name="Text 109"/>
          <p:cNvSpPr/>
          <p:nvPr/>
        </p:nvSpPr>
        <p:spPr>
          <a:xfrm>
            <a:off x="4657090" y="4295140"/>
            <a:ext cx="438785" cy="3111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6803B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-120"/>
              </a:rPr>
              <a:t>Pass</a:t>
            </a:r>
            <a:endParaRPr lang="en-US" sz="65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sz="650" b="1" dirty="0">
                <a:solidFill>
                  <a:srgbClr val="16803B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-120"/>
              </a:rPr>
              <a:t>(C = 1)</a:t>
            </a:r>
            <a:endParaRPr lang="en-US" sz="65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Shape 110"/>
          <p:cNvSpPr/>
          <p:nvPr/>
        </p:nvSpPr>
        <p:spPr>
          <a:xfrm>
            <a:off x="1158875" y="5102225"/>
            <a:ext cx="1270" cy="666115"/>
          </a:xfrm>
          <a:prstGeom prst="line">
            <a:avLst/>
          </a:prstGeom>
          <a:noFill/>
          <a:ln w="11430">
            <a:solidFill>
              <a:srgbClr val="D52525"/>
            </a:solidFill>
            <a:prstDash val="solid"/>
            <a:tailEnd type="triangle"/>
          </a:ln>
        </p:spPr>
      </p:sp>
      <p:sp>
        <p:nvSpPr>
          <p:cNvPr id="113" name="Text 111"/>
          <p:cNvSpPr/>
          <p:nvPr/>
        </p:nvSpPr>
        <p:spPr>
          <a:xfrm>
            <a:off x="680720" y="5313045"/>
            <a:ext cx="457200" cy="16446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52525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-120"/>
              </a:rPr>
              <a:t>P = 0</a:t>
            </a:r>
            <a:endParaRPr lang="en-US" sz="900" b="1" dirty="0">
              <a:solidFill>
                <a:srgbClr val="D52525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-120"/>
            </a:endParaRPr>
          </a:p>
        </p:txBody>
      </p:sp>
      <p:sp>
        <p:nvSpPr>
          <p:cNvPr id="114" name="Shape 112"/>
          <p:cNvSpPr/>
          <p:nvPr/>
        </p:nvSpPr>
        <p:spPr>
          <a:xfrm>
            <a:off x="615315" y="5780405"/>
            <a:ext cx="1216660" cy="760730"/>
          </a:xfrm>
          <a:prstGeom prst="roundRect">
            <a:avLst>
              <a:gd name="adj" fmla="val 5479"/>
            </a:avLst>
          </a:prstGeom>
          <a:solidFill>
            <a:srgbClr val="FDF2F2"/>
          </a:solidFill>
          <a:ln w="10160">
            <a:solidFill>
              <a:srgbClr val="D94C4C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75310" y="5844540"/>
            <a:ext cx="1308100" cy="1873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Preflight Reject</a:t>
            </a:r>
            <a:endParaRPr lang="en-US" sz="1000" b="1" dirty="0">
              <a:solidFill>
                <a:srgbClr val="111827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116" name="Text 114"/>
          <p:cNvSpPr/>
          <p:nvPr/>
        </p:nvSpPr>
        <p:spPr>
          <a:xfrm>
            <a:off x="593725" y="6045200"/>
            <a:ext cx="1257935" cy="3644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No execution</a:t>
            </a:r>
            <a:endParaRPr lang="en-US" sz="900" dirty="0">
              <a:ea typeface="微软雅黑" panose="020B0503020204020204" charset="-122"/>
              <a:cs typeface="+mn-lt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State unchanged</a:t>
            </a:r>
            <a:endParaRPr lang="en-US" sz="900" dirty="0">
              <a:ea typeface="微软雅黑" panose="020B0503020204020204" charset="-122"/>
              <a:cs typeface="+mn-lt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Charge attempt cost</a:t>
            </a:r>
            <a:endParaRPr lang="en-US" sz="900" dirty="0">
              <a:solidFill>
                <a:srgbClr val="111827"/>
              </a:solidFill>
              <a:ea typeface="微软雅黑" panose="020B0503020204020204" charset="-122"/>
              <a:cs typeface="+mn-lt"/>
            </a:endParaRPr>
          </a:p>
        </p:txBody>
      </p:sp>
      <p:sp>
        <p:nvSpPr>
          <p:cNvPr id="117" name="Shape 115"/>
          <p:cNvSpPr/>
          <p:nvPr/>
        </p:nvSpPr>
        <p:spPr>
          <a:xfrm>
            <a:off x="2305050" y="5139055"/>
            <a:ext cx="635" cy="438785"/>
          </a:xfrm>
          <a:prstGeom prst="line">
            <a:avLst/>
          </a:prstGeom>
          <a:noFill/>
          <a:ln w="10160">
            <a:solidFill>
              <a:srgbClr val="D52525"/>
            </a:solidFill>
            <a:prstDash val="solid"/>
            <a:tailEnd type="triangle"/>
          </a:ln>
        </p:spPr>
      </p:sp>
      <p:sp>
        <p:nvSpPr>
          <p:cNvPr id="118" name="Text 116"/>
          <p:cNvSpPr/>
          <p:nvPr/>
        </p:nvSpPr>
        <p:spPr>
          <a:xfrm>
            <a:off x="1985010" y="5258435"/>
            <a:ext cx="255905" cy="1460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D52525"/>
                </a:solidFill>
                <a:latin typeface="微软雅黑" charset="0"/>
                <a:ea typeface="微软雅黑" charset="0"/>
                <a:cs typeface="+mn-lt"/>
              </a:rPr>
              <a:t>Fail</a:t>
            </a:r>
            <a:endParaRPr lang="en-US" sz="800" dirty="0">
              <a:solidFill>
                <a:srgbClr val="D52525"/>
              </a:solidFill>
              <a:latin typeface="微软雅黑" charset="0"/>
              <a:ea typeface="微软雅黑" charset="0"/>
              <a:cs typeface="+mn-lt"/>
            </a:endParaRPr>
          </a:p>
        </p:txBody>
      </p:sp>
      <p:sp>
        <p:nvSpPr>
          <p:cNvPr id="119" name="Shape 117"/>
          <p:cNvSpPr/>
          <p:nvPr/>
        </p:nvSpPr>
        <p:spPr>
          <a:xfrm>
            <a:off x="4289425" y="5139055"/>
            <a:ext cx="635" cy="438785"/>
          </a:xfrm>
          <a:prstGeom prst="line">
            <a:avLst/>
          </a:prstGeom>
          <a:noFill/>
          <a:ln w="10160">
            <a:solidFill>
              <a:srgbClr val="D52525"/>
            </a:solidFill>
            <a:prstDash val="solid"/>
            <a:tailEnd type="triangle"/>
          </a:ln>
        </p:spPr>
      </p:sp>
      <p:sp>
        <p:nvSpPr>
          <p:cNvPr id="120" name="Text 118"/>
          <p:cNvSpPr/>
          <p:nvPr/>
        </p:nvSpPr>
        <p:spPr>
          <a:xfrm>
            <a:off x="4371975" y="5267325"/>
            <a:ext cx="255905" cy="1460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D52525"/>
                </a:solidFill>
                <a:latin typeface="微软雅黑" charset="0"/>
                <a:ea typeface="微软雅黑" charset="0"/>
                <a:cs typeface="+mn-lt"/>
              </a:rPr>
              <a:t>Fail</a:t>
            </a:r>
            <a:endParaRPr lang="en-US" sz="800" dirty="0">
              <a:solidFill>
                <a:srgbClr val="D52525"/>
              </a:solidFill>
              <a:latin typeface="微软雅黑" charset="0"/>
              <a:ea typeface="微软雅黑" charset="0"/>
              <a:cs typeface="+mn-lt"/>
            </a:endParaRPr>
          </a:p>
        </p:txBody>
      </p:sp>
      <p:sp>
        <p:nvSpPr>
          <p:cNvPr id="121" name="Shape 119"/>
          <p:cNvSpPr/>
          <p:nvPr/>
        </p:nvSpPr>
        <p:spPr>
          <a:xfrm>
            <a:off x="2305050" y="5577840"/>
            <a:ext cx="1984375" cy="635"/>
          </a:xfrm>
          <a:prstGeom prst="line">
            <a:avLst/>
          </a:prstGeom>
          <a:noFill/>
          <a:ln w="10160">
            <a:solidFill>
              <a:srgbClr val="D52525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3283585" y="5577840"/>
            <a:ext cx="635" cy="191770"/>
          </a:xfrm>
          <a:prstGeom prst="line">
            <a:avLst/>
          </a:prstGeom>
          <a:noFill/>
          <a:ln w="11430">
            <a:solidFill>
              <a:srgbClr val="D52525"/>
            </a:solidFill>
            <a:prstDash val="solid"/>
            <a:tailEnd type="triangle"/>
          </a:ln>
        </p:spPr>
      </p:sp>
      <p:sp>
        <p:nvSpPr>
          <p:cNvPr id="123" name="Shape 121"/>
          <p:cNvSpPr/>
          <p:nvPr/>
        </p:nvSpPr>
        <p:spPr>
          <a:xfrm>
            <a:off x="2154555" y="5780405"/>
            <a:ext cx="2553970" cy="756285"/>
          </a:xfrm>
          <a:prstGeom prst="roundRect">
            <a:avLst>
              <a:gd name="adj" fmla="val 6061"/>
            </a:avLst>
          </a:prstGeom>
          <a:solidFill>
            <a:srgbClr val="FDF2F2"/>
          </a:solidFill>
          <a:ln w="10160">
            <a:solidFill>
              <a:srgbClr val="D94C4C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2103755" y="5826125"/>
            <a:ext cx="2553335" cy="22923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Rollback  (C = 0)</a:t>
            </a:r>
            <a:endParaRPr lang="en-US" sz="1000" b="1" dirty="0">
              <a:solidFill>
                <a:srgbClr val="111827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125" name="Text 123"/>
          <p:cNvSpPr/>
          <p:nvPr/>
        </p:nvSpPr>
        <p:spPr>
          <a:xfrm>
            <a:off x="2058670" y="6031865"/>
            <a:ext cx="2762250" cy="46101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Discard candidate, restore committed </a:t>
            </a:r>
            <a:endParaRPr lang="en-US" sz="900" dirty="0">
              <a:solidFill>
                <a:srgbClr val="111827"/>
              </a:solidFill>
              <a:ea typeface="微软雅黑" panose="020B0503020204020204" charset="-122"/>
              <a:cs typeface="+mn-lt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state st and RNG, discard resource changes, </a:t>
            </a:r>
            <a:endParaRPr lang="en-US" sz="900" dirty="0">
              <a:solidFill>
                <a:srgbClr val="111827"/>
              </a:solidFill>
              <a:ea typeface="微软雅黑" panose="020B0503020204020204" charset="-122"/>
              <a:cs typeface="+mn-lt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charge attempt cost, write receipt</a:t>
            </a:r>
            <a:endParaRPr lang="en-US" sz="900" dirty="0">
              <a:solidFill>
                <a:srgbClr val="111827"/>
              </a:solidFill>
              <a:ea typeface="微软雅黑" panose="020B0503020204020204" charset="-122"/>
              <a:cs typeface="+mn-lt"/>
            </a:endParaRPr>
          </a:p>
        </p:txBody>
      </p:sp>
      <p:sp>
        <p:nvSpPr>
          <p:cNvPr id="126" name="Shape 124"/>
          <p:cNvSpPr/>
          <p:nvPr/>
        </p:nvSpPr>
        <p:spPr>
          <a:xfrm>
            <a:off x="4707255" y="5979795"/>
            <a:ext cx="81915" cy="2540"/>
          </a:xfrm>
          <a:prstGeom prst="line">
            <a:avLst/>
          </a:prstGeom>
          <a:noFill/>
          <a:ln w="8890">
            <a:solidFill>
              <a:srgbClr val="111827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788535" y="5295900"/>
            <a:ext cx="1270" cy="685800"/>
          </a:xfrm>
          <a:prstGeom prst="line">
            <a:avLst/>
          </a:prstGeom>
          <a:noFill/>
          <a:ln w="8890">
            <a:solidFill>
              <a:srgbClr val="111827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785360" y="5294630"/>
            <a:ext cx="327660" cy="2540"/>
          </a:xfrm>
          <a:prstGeom prst="line">
            <a:avLst/>
          </a:prstGeom>
          <a:noFill/>
          <a:ln w="10160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130" name="Shape 128"/>
          <p:cNvSpPr/>
          <p:nvPr/>
        </p:nvSpPr>
        <p:spPr>
          <a:xfrm>
            <a:off x="4874260" y="6209030"/>
            <a:ext cx="237490" cy="635"/>
          </a:xfrm>
          <a:prstGeom prst="line">
            <a:avLst/>
          </a:prstGeom>
          <a:noFill/>
          <a:ln w="10160">
            <a:solidFill>
              <a:srgbClr val="16803B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5177790" y="6134735"/>
            <a:ext cx="712470" cy="1600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Success path</a:t>
            </a:r>
            <a:endParaRPr lang="en-US" sz="800" dirty="0">
              <a:solidFill>
                <a:srgbClr val="111827"/>
              </a:solidFill>
              <a:ea typeface="微软雅黑" panose="020B0503020204020204" charset="-122"/>
              <a:cs typeface="+mn-lt"/>
            </a:endParaRPr>
          </a:p>
        </p:txBody>
      </p:sp>
      <p:sp>
        <p:nvSpPr>
          <p:cNvPr id="132" name="Shape 130"/>
          <p:cNvSpPr/>
          <p:nvPr/>
        </p:nvSpPr>
        <p:spPr>
          <a:xfrm>
            <a:off x="4874260" y="6382385"/>
            <a:ext cx="237490" cy="635"/>
          </a:xfrm>
          <a:prstGeom prst="line">
            <a:avLst/>
          </a:prstGeom>
          <a:noFill/>
          <a:ln w="10160">
            <a:solidFill>
              <a:srgbClr val="D52525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177790" y="6308725"/>
            <a:ext cx="712470" cy="1600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Failure path</a:t>
            </a:r>
            <a:endParaRPr lang="en-US" sz="800" dirty="0">
              <a:solidFill>
                <a:srgbClr val="111827"/>
              </a:solidFill>
              <a:ea typeface="微软雅黑" panose="020B0503020204020204" charset="-122"/>
              <a:cs typeface="+mn-lt"/>
            </a:endParaRPr>
          </a:p>
        </p:txBody>
      </p:sp>
      <p:sp>
        <p:nvSpPr>
          <p:cNvPr id="134" name="Shape 132"/>
          <p:cNvSpPr/>
          <p:nvPr/>
        </p:nvSpPr>
        <p:spPr>
          <a:xfrm>
            <a:off x="9089390" y="3785870"/>
            <a:ext cx="635" cy="2697480"/>
          </a:xfrm>
          <a:prstGeom prst="line">
            <a:avLst/>
          </a:prstGeom>
          <a:noFill/>
          <a:ln w="7620">
            <a:solidFill>
              <a:srgbClr val="D1D5DB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6473825" y="3694430"/>
            <a:ext cx="2148840" cy="20129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Deterministic Replay</a:t>
            </a:r>
            <a:endParaRPr lang="en-US" sz="1200" dirty="0">
              <a:solidFill>
                <a:srgbClr val="111827"/>
              </a:solidFill>
              <a:ea typeface="微软雅黑" panose="020B0503020204020204" charset="-122"/>
              <a:cs typeface="+mn-lt"/>
            </a:endParaRPr>
          </a:p>
        </p:txBody>
      </p:sp>
      <p:sp>
        <p:nvSpPr>
          <p:cNvPr id="136" name="Text 134"/>
          <p:cNvSpPr/>
          <p:nvPr/>
        </p:nvSpPr>
        <p:spPr>
          <a:xfrm>
            <a:off x="5909310" y="3792220"/>
            <a:ext cx="3362325" cy="34734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Reconstruct and replay exactly the same trajectory</a:t>
            </a:r>
            <a:endParaRPr lang="en-US" sz="900" dirty="0">
              <a:solidFill>
                <a:srgbClr val="111827"/>
              </a:solidFill>
              <a:ea typeface="微软雅黑" panose="020B0503020204020204" charset="-122"/>
              <a:cs typeface="+mn-lt"/>
            </a:endParaRPr>
          </a:p>
        </p:txBody>
      </p:sp>
      <p:sp>
        <p:nvSpPr>
          <p:cNvPr id="137" name="Text 135"/>
          <p:cNvSpPr/>
          <p:nvPr/>
        </p:nvSpPr>
        <p:spPr>
          <a:xfrm>
            <a:off x="9472930" y="3675380"/>
            <a:ext cx="2359025" cy="20129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Controlled Forks (Counterfactuals)</a:t>
            </a:r>
            <a:endParaRPr lang="en-US" sz="1200" dirty="0">
              <a:solidFill>
                <a:srgbClr val="111827"/>
              </a:solidFill>
              <a:ea typeface="微软雅黑" panose="020B0503020204020204" charset="-122"/>
              <a:cs typeface="+mn-lt"/>
            </a:endParaRPr>
          </a:p>
        </p:txBody>
      </p:sp>
      <p:sp>
        <p:nvSpPr>
          <p:cNvPr id="138" name="Text 136"/>
          <p:cNvSpPr/>
          <p:nvPr/>
        </p:nvSpPr>
        <p:spPr>
          <a:xfrm>
            <a:off x="9558020" y="3842385"/>
            <a:ext cx="2176145" cy="34734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Same public contract and actions;</a:t>
            </a:r>
            <a:endParaRPr lang="en-US" sz="900" dirty="0">
              <a:ea typeface="微软雅黑" panose="020B0503020204020204" charset="-122"/>
              <a:cs typeface="+mn-lt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change one private law parameter</a:t>
            </a:r>
            <a:endParaRPr lang="en-US" sz="900" dirty="0">
              <a:solidFill>
                <a:srgbClr val="111827"/>
              </a:solidFill>
              <a:ea typeface="微软雅黑" panose="020B0503020204020204" charset="-122"/>
              <a:cs typeface="+mn-lt"/>
            </a:endParaRPr>
          </a:p>
        </p:txBody>
      </p:sp>
      <p:sp>
        <p:nvSpPr>
          <p:cNvPr id="139" name="Shape 137"/>
          <p:cNvSpPr/>
          <p:nvPr/>
        </p:nvSpPr>
        <p:spPr>
          <a:xfrm>
            <a:off x="6226810" y="4189730"/>
            <a:ext cx="850265" cy="450215"/>
          </a:xfrm>
          <a:prstGeom prst="roundRect">
            <a:avLst>
              <a:gd name="adj" fmla="val 9259"/>
            </a:avLst>
          </a:prstGeom>
          <a:solidFill>
            <a:srgbClr val="F3F7FC"/>
          </a:solidFill>
          <a:ln w="8890">
            <a:solidFill>
              <a:srgbClr val="6F95C7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6263640" y="4217035"/>
            <a:ext cx="777240" cy="43878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Original Run</a:t>
            </a:r>
            <a:endParaRPr lang="en-US" sz="800" dirty="0">
              <a:ea typeface="微软雅黑" panose="020B0503020204020204" charset="-122"/>
              <a:cs typeface="+mn-lt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World W, </a:t>
            </a:r>
            <a:endParaRPr lang="en-US" sz="800" dirty="0">
              <a:solidFill>
                <a:srgbClr val="111827"/>
              </a:solidFill>
              <a:ea typeface="微软雅黑" panose="020B0503020204020204" charset="-122"/>
              <a:cs typeface="+mn-lt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seed ζ</a:t>
            </a:r>
            <a:r>
              <a:rPr lang="en-US" sz="800" baseline="-250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， </a:t>
            </a: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actions </a:t>
            </a:r>
            <a:endParaRPr lang="en-US" sz="800" baseline="-25000" dirty="0">
              <a:solidFill>
                <a:srgbClr val="111827"/>
              </a:solidFill>
              <a:ea typeface="微软雅黑" panose="020B0503020204020204" charset="-122"/>
              <a:cs typeface="+mn-lt"/>
            </a:endParaRPr>
          </a:p>
        </p:txBody>
      </p:sp>
      <p:sp>
        <p:nvSpPr>
          <p:cNvPr id="141" name="Shape 139"/>
          <p:cNvSpPr/>
          <p:nvPr/>
        </p:nvSpPr>
        <p:spPr>
          <a:xfrm>
            <a:off x="7969250" y="4189730"/>
            <a:ext cx="850265" cy="447040"/>
          </a:xfrm>
          <a:prstGeom prst="roundRect">
            <a:avLst>
              <a:gd name="adj" fmla="val 9259"/>
            </a:avLst>
          </a:prstGeom>
          <a:solidFill>
            <a:srgbClr val="F3F7FC"/>
          </a:solidFill>
          <a:ln w="8890">
            <a:solidFill>
              <a:srgbClr val="6F95C7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8005445" y="4217035"/>
            <a:ext cx="777240" cy="43878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Replay Run</a:t>
            </a:r>
            <a:endParaRPr lang="en-US" sz="800" dirty="0">
              <a:ea typeface="微软雅黑" panose="020B0503020204020204" charset="-122"/>
              <a:cs typeface="+mn-lt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Same W and ζ</a:t>
            </a:r>
            <a:endParaRPr lang="en-US" sz="800" dirty="0">
              <a:ea typeface="微软雅黑" panose="020B0503020204020204" charset="-122"/>
              <a:cs typeface="+mn-lt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Same actions</a:t>
            </a:r>
            <a:endParaRPr lang="en-US" sz="800" dirty="0">
              <a:solidFill>
                <a:srgbClr val="111827"/>
              </a:solidFill>
              <a:ea typeface="微软雅黑" panose="020B0503020204020204" charset="-122"/>
              <a:cs typeface="+mn-lt"/>
            </a:endParaRPr>
          </a:p>
        </p:txBody>
      </p:sp>
      <p:sp>
        <p:nvSpPr>
          <p:cNvPr id="143" name="Text 141"/>
          <p:cNvSpPr/>
          <p:nvPr/>
        </p:nvSpPr>
        <p:spPr>
          <a:xfrm>
            <a:off x="7134860" y="4143375"/>
            <a:ext cx="756285" cy="3111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Reconstruct</a:t>
            </a:r>
            <a:endParaRPr lang="en-US" sz="800" dirty="0">
              <a:ea typeface="微软雅黑" panose="020B0503020204020204" charset="-122"/>
              <a:cs typeface="+mn-lt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world</a:t>
            </a:r>
            <a:endParaRPr lang="en-US" sz="800" dirty="0">
              <a:solidFill>
                <a:srgbClr val="111827"/>
              </a:solidFill>
              <a:ea typeface="微软雅黑" panose="020B0503020204020204" charset="-122"/>
              <a:cs typeface="+mn-lt"/>
            </a:endParaRPr>
          </a:p>
        </p:txBody>
      </p:sp>
      <p:sp>
        <p:nvSpPr>
          <p:cNvPr id="144" name="Shape 142"/>
          <p:cNvSpPr/>
          <p:nvPr/>
        </p:nvSpPr>
        <p:spPr>
          <a:xfrm>
            <a:off x="7134860" y="4454525"/>
            <a:ext cx="777240" cy="635"/>
          </a:xfrm>
          <a:prstGeom prst="line">
            <a:avLst/>
          </a:prstGeom>
          <a:noFill/>
          <a:ln w="8890">
            <a:solidFill>
              <a:srgbClr val="8A9098"/>
            </a:solidFill>
            <a:prstDash val="dash"/>
            <a:tailEnd type="triangle"/>
          </a:ln>
        </p:spPr>
      </p:sp>
      <p:sp>
        <p:nvSpPr>
          <p:cNvPr id="145" name="Shape 143"/>
          <p:cNvSpPr/>
          <p:nvPr/>
        </p:nvSpPr>
        <p:spPr>
          <a:xfrm>
            <a:off x="6226810" y="4765675"/>
            <a:ext cx="850265" cy="319405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 w="8890">
            <a:solidFill>
              <a:srgbClr val="AAB7C6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6263640" y="4793615"/>
            <a:ext cx="777240" cy="3016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State Trajectory</a:t>
            </a:r>
            <a:endParaRPr lang="en-US" sz="800" dirty="0">
              <a:ea typeface="微软雅黑" panose="020B0503020204020204" charset="-122"/>
              <a:cs typeface="+mn-lt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s</a:t>
            </a:r>
            <a:r>
              <a:rPr lang="en-US" sz="800" baseline="-250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0</a:t>
            </a: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, s</a:t>
            </a:r>
            <a:r>
              <a:rPr lang="en-US" sz="800" baseline="-250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1</a:t>
            </a: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, …, s</a:t>
            </a:r>
            <a:r>
              <a:rPr lang="en-US" sz="800" baseline="-250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T</a:t>
            </a:r>
            <a:endParaRPr lang="en-US" sz="800" baseline="-25000" dirty="0">
              <a:solidFill>
                <a:srgbClr val="111827"/>
              </a:solidFill>
              <a:ea typeface="微软雅黑" panose="020B0503020204020204" charset="-122"/>
              <a:cs typeface="+mn-lt"/>
            </a:endParaRPr>
          </a:p>
        </p:txBody>
      </p:sp>
      <p:sp>
        <p:nvSpPr>
          <p:cNvPr id="147" name="Shape 145"/>
          <p:cNvSpPr/>
          <p:nvPr/>
        </p:nvSpPr>
        <p:spPr>
          <a:xfrm>
            <a:off x="7969250" y="4765675"/>
            <a:ext cx="850265" cy="320040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 w="8890">
            <a:solidFill>
              <a:srgbClr val="AAB7C6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8005445" y="4793615"/>
            <a:ext cx="777240" cy="3016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State Trajectory</a:t>
            </a:r>
            <a:endParaRPr lang="en-US" sz="800" dirty="0">
              <a:ea typeface="微软雅黑" panose="020B0503020204020204" charset="-122"/>
              <a:cs typeface="+mn-lt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s′</a:t>
            </a:r>
            <a:r>
              <a:rPr lang="en-US" sz="800" baseline="-250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0</a:t>
            </a: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, s</a:t>
            </a: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  <a:sym typeface="+mn-ea"/>
              </a:rPr>
              <a:t>′</a:t>
            </a:r>
            <a:r>
              <a:rPr lang="en-US" sz="800" baseline="-250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1</a:t>
            </a: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, …, s′</a:t>
            </a:r>
            <a:r>
              <a:rPr lang="en-US" sz="800" baseline="-250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T</a:t>
            </a:r>
            <a:endParaRPr lang="en-US" sz="800" baseline="-25000" dirty="0">
              <a:solidFill>
                <a:srgbClr val="111827"/>
              </a:solidFill>
              <a:ea typeface="微软雅黑" panose="020B0503020204020204" charset="-122"/>
              <a:cs typeface="+mn-lt"/>
            </a:endParaRPr>
          </a:p>
        </p:txBody>
      </p:sp>
      <p:sp>
        <p:nvSpPr>
          <p:cNvPr id="149" name="Shape 147"/>
          <p:cNvSpPr/>
          <p:nvPr/>
        </p:nvSpPr>
        <p:spPr>
          <a:xfrm>
            <a:off x="6652260" y="4646930"/>
            <a:ext cx="635" cy="109855"/>
          </a:xfrm>
          <a:prstGeom prst="line">
            <a:avLst/>
          </a:prstGeom>
          <a:noFill/>
          <a:ln w="6985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150" name="Shape 148"/>
          <p:cNvSpPr/>
          <p:nvPr/>
        </p:nvSpPr>
        <p:spPr>
          <a:xfrm>
            <a:off x="8394065" y="4646930"/>
            <a:ext cx="635" cy="109855"/>
          </a:xfrm>
          <a:prstGeom prst="line">
            <a:avLst/>
          </a:prstGeom>
          <a:noFill/>
          <a:ln w="6985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151" name="Text 149"/>
          <p:cNvSpPr/>
          <p:nvPr/>
        </p:nvSpPr>
        <p:spPr>
          <a:xfrm>
            <a:off x="7443470" y="4847590"/>
            <a:ext cx="14605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-120"/>
              </a:rPr>
              <a:t>=</a:t>
            </a:r>
            <a:endParaRPr lang="en-US" sz="1200" b="1" dirty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-120"/>
            </a:endParaRPr>
          </a:p>
        </p:txBody>
      </p:sp>
      <p:sp>
        <p:nvSpPr>
          <p:cNvPr id="152" name="Shape 150"/>
          <p:cNvSpPr/>
          <p:nvPr/>
        </p:nvSpPr>
        <p:spPr>
          <a:xfrm>
            <a:off x="6226810" y="5204460"/>
            <a:ext cx="850265" cy="320040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 w="8890">
            <a:solidFill>
              <a:srgbClr val="AAB7C6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6263640" y="5231765"/>
            <a:ext cx="777240" cy="3016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Observations</a:t>
            </a:r>
            <a:endParaRPr lang="en-US" sz="800" dirty="0">
              <a:ea typeface="微软雅黑" panose="020B0503020204020204" charset="-122"/>
              <a:cs typeface="+mn-lt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o</a:t>
            </a:r>
            <a:r>
              <a:rPr lang="en-US" sz="800" baseline="-250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0</a:t>
            </a: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, o</a:t>
            </a:r>
            <a:r>
              <a:rPr lang="en-US" sz="800" baseline="-250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1</a:t>
            </a: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, …, o</a:t>
            </a:r>
            <a:r>
              <a:rPr lang="en-US" sz="800" baseline="-250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T</a:t>
            </a:r>
            <a:endParaRPr lang="en-US" sz="800" baseline="-25000" dirty="0">
              <a:solidFill>
                <a:srgbClr val="111827"/>
              </a:solidFill>
              <a:ea typeface="微软雅黑" panose="020B0503020204020204" charset="-122"/>
              <a:cs typeface="+mn-lt"/>
            </a:endParaRPr>
          </a:p>
        </p:txBody>
      </p:sp>
      <p:sp>
        <p:nvSpPr>
          <p:cNvPr id="154" name="Shape 152"/>
          <p:cNvSpPr/>
          <p:nvPr/>
        </p:nvSpPr>
        <p:spPr>
          <a:xfrm>
            <a:off x="7969250" y="5204460"/>
            <a:ext cx="850265" cy="320040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 w="8890">
            <a:solidFill>
              <a:srgbClr val="AAB7C6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8005445" y="5231765"/>
            <a:ext cx="777240" cy="3016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Observations</a:t>
            </a:r>
            <a:endParaRPr lang="en-US" sz="800" dirty="0">
              <a:ea typeface="微软雅黑" panose="020B0503020204020204" charset="-122"/>
              <a:cs typeface="+mn-lt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o′</a:t>
            </a:r>
            <a:r>
              <a:rPr lang="en-US" sz="800" baseline="-250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0</a:t>
            </a: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, o′</a:t>
            </a:r>
            <a:r>
              <a:rPr lang="en-US" sz="800" baseline="-250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1</a:t>
            </a: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, …, o′</a:t>
            </a:r>
            <a:r>
              <a:rPr lang="en-US" sz="800" baseline="-250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T</a:t>
            </a:r>
            <a:endParaRPr lang="en-US" sz="800" baseline="-25000" dirty="0">
              <a:solidFill>
                <a:srgbClr val="111827"/>
              </a:solidFill>
              <a:ea typeface="微软雅黑" panose="020B0503020204020204" charset="-122"/>
              <a:cs typeface="+mn-lt"/>
            </a:endParaRPr>
          </a:p>
        </p:txBody>
      </p:sp>
      <p:sp>
        <p:nvSpPr>
          <p:cNvPr id="156" name="Shape 154"/>
          <p:cNvSpPr/>
          <p:nvPr/>
        </p:nvSpPr>
        <p:spPr>
          <a:xfrm>
            <a:off x="6652260" y="5085715"/>
            <a:ext cx="635" cy="109855"/>
          </a:xfrm>
          <a:prstGeom prst="line">
            <a:avLst/>
          </a:prstGeom>
          <a:noFill/>
          <a:ln w="6985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157" name="Shape 155"/>
          <p:cNvSpPr/>
          <p:nvPr/>
        </p:nvSpPr>
        <p:spPr>
          <a:xfrm>
            <a:off x="8394065" y="5085715"/>
            <a:ext cx="635" cy="109855"/>
          </a:xfrm>
          <a:prstGeom prst="line">
            <a:avLst/>
          </a:prstGeom>
          <a:noFill/>
          <a:ln w="6985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158" name="Text 156"/>
          <p:cNvSpPr/>
          <p:nvPr/>
        </p:nvSpPr>
        <p:spPr>
          <a:xfrm>
            <a:off x="7443470" y="5286375"/>
            <a:ext cx="14605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-120"/>
              </a:rPr>
              <a:t>=</a:t>
            </a:r>
            <a:endParaRPr lang="en-US" sz="1200" b="1" dirty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-120"/>
            </a:endParaRPr>
          </a:p>
        </p:txBody>
      </p:sp>
      <p:sp>
        <p:nvSpPr>
          <p:cNvPr id="159" name="Shape 157"/>
          <p:cNvSpPr/>
          <p:nvPr/>
        </p:nvSpPr>
        <p:spPr>
          <a:xfrm>
            <a:off x="6226810" y="5634355"/>
            <a:ext cx="850265" cy="400685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 w="8890">
            <a:solidFill>
              <a:srgbClr val="AAB7C6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6263640" y="568960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Records &amp; Ledgers</a:t>
            </a:r>
            <a:endParaRPr lang="en-US" sz="800" dirty="0">
              <a:ea typeface="微软雅黑" panose="020B0503020204020204" charset="-122"/>
              <a:cs typeface="+mn-lt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(identical)</a:t>
            </a:r>
            <a:endParaRPr lang="en-US" sz="800" dirty="0">
              <a:solidFill>
                <a:srgbClr val="111827"/>
              </a:solidFill>
              <a:ea typeface="微软雅黑" panose="020B0503020204020204" charset="-122"/>
              <a:cs typeface="+mn-lt"/>
            </a:endParaRPr>
          </a:p>
        </p:txBody>
      </p:sp>
      <p:sp>
        <p:nvSpPr>
          <p:cNvPr id="161" name="Shape 159"/>
          <p:cNvSpPr/>
          <p:nvPr/>
        </p:nvSpPr>
        <p:spPr>
          <a:xfrm>
            <a:off x="7969250" y="5634355"/>
            <a:ext cx="850265" cy="400685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 w="8890">
            <a:solidFill>
              <a:srgbClr val="AAB7C6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8005445" y="5688330"/>
            <a:ext cx="777240" cy="2749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Records &amp; Ledgers</a:t>
            </a:r>
            <a:endParaRPr lang="en-US" sz="800" dirty="0">
              <a:ea typeface="微软雅黑" panose="020B0503020204020204" charset="-122"/>
              <a:cs typeface="+mn-lt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(identical)</a:t>
            </a:r>
            <a:endParaRPr lang="en-US" sz="800" dirty="0">
              <a:solidFill>
                <a:srgbClr val="111827"/>
              </a:solidFill>
              <a:ea typeface="微软雅黑" panose="020B0503020204020204" charset="-122"/>
              <a:cs typeface="+mn-lt"/>
            </a:endParaRPr>
          </a:p>
        </p:txBody>
      </p:sp>
      <p:sp>
        <p:nvSpPr>
          <p:cNvPr id="163" name="Text 161"/>
          <p:cNvSpPr/>
          <p:nvPr/>
        </p:nvSpPr>
        <p:spPr>
          <a:xfrm>
            <a:off x="7443470" y="5716270"/>
            <a:ext cx="14605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-120"/>
              </a:rPr>
              <a:t>=</a:t>
            </a:r>
            <a:endParaRPr lang="en-US" sz="1200" b="1" dirty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-120"/>
            </a:endParaRPr>
          </a:p>
        </p:txBody>
      </p:sp>
      <p:sp>
        <p:nvSpPr>
          <p:cNvPr id="166" name="Shape 164"/>
          <p:cNvSpPr/>
          <p:nvPr/>
        </p:nvSpPr>
        <p:spPr>
          <a:xfrm>
            <a:off x="6263640" y="6121400"/>
            <a:ext cx="2497455" cy="528320"/>
          </a:xfrm>
          <a:prstGeom prst="roundRect">
            <a:avLst>
              <a:gd name="adj" fmla="val 7407"/>
            </a:avLst>
          </a:prstGeom>
          <a:solidFill>
            <a:srgbClr val="F0F8F0"/>
          </a:solidFill>
          <a:ln w="9525">
            <a:solidFill>
              <a:srgbClr val="4A9C5E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6292215" y="6139180"/>
            <a:ext cx="2441575" cy="16446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Exact Match  (zero numerical tolerance)</a:t>
            </a:r>
            <a:endParaRPr lang="en-US" sz="800" b="1" dirty="0">
              <a:solidFill>
                <a:srgbClr val="111827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169" name="Shape 167"/>
          <p:cNvSpPr/>
          <p:nvPr/>
        </p:nvSpPr>
        <p:spPr>
          <a:xfrm>
            <a:off x="9399905" y="4225925"/>
            <a:ext cx="850265" cy="45720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8890">
            <a:solidFill>
              <a:srgbClr val="D7A13B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9436735" y="4253230"/>
            <a:ext cx="777240" cy="40259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Parent World</a:t>
            </a:r>
            <a:endParaRPr lang="en-US" sz="800" dirty="0">
              <a:ea typeface="微软雅黑" panose="020B0503020204020204" charset="-122"/>
              <a:cs typeface="+mn-lt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(W</a:t>
            </a:r>
            <a:r>
              <a:rPr lang="en-US" sz="800" baseline="-250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pub</a:t>
            </a: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, θ</a:t>
            </a:r>
            <a:r>
              <a:rPr lang="en-US" sz="800" baseline="-250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p</a:t>
            </a: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)</a:t>
            </a:r>
            <a:endParaRPr lang="en-US" sz="800" dirty="0">
              <a:solidFill>
                <a:srgbClr val="111827"/>
              </a:solidFill>
              <a:ea typeface="微软雅黑" panose="020B0503020204020204" charset="-122"/>
              <a:cs typeface="+mn-lt"/>
            </a:endParaRPr>
          </a:p>
        </p:txBody>
      </p:sp>
      <p:sp>
        <p:nvSpPr>
          <p:cNvPr id="171" name="Shape 169"/>
          <p:cNvSpPr/>
          <p:nvPr/>
        </p:nvSpPr>
        <p:spPr>
          <a:xfrm>
            <a:off x="11118850" y="4225925"/>
            <a:ext cx="850265" cy="45720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8890">
            <a:solidFill>
              <a:srgbClr val="D7A13B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11155680" y="4253230"/>
            <a:ext cx="777240" cy="40259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Child World</a:t>
            </a:r>
            <a:endParaRPr lang="en-US" sz="800" dirty="0">
              <a:ea typeface="微软雅黑" panose="020B0503020204020204" charset="-122"/>
              <a:cs typeface="+mn-lt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(Wpub, θ</a:t>
            </a:r>
            <a:r>
              <a:rPr lang="en-US" sz="800" baseline="-250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c</a:t>
            </a: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 ≠ θ</a:t>
            </a:r>
            <a:r>
              <a:rPr lang="en-US" sz="800" baseline="-250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p</a:t>
            </a: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)</a:t>
            </a:r>
            <a:endParaRPr lang="en-US" sz="800" dirty="0">
              <a:solidFill>
                <a:srgbClr val="111827"/>
              </a:solidFill>
              <a:ea typeface="微软雅黑" panose="020B0503020204020204" charset="-122"/>
              <a:cs typeface="+mn-lt"/>
            </a:endParaRPr>
          </a:p>
        </p:txBody>
      </p:sp>
      <p:sp>
        <p:nvSpPr>
          <p:cNvPr id="173" name="Text 171"/>
          <p:cNvSpPr/>
          <p:nvPr/>
        </p:nvSpPr>
        <p:spPr>
          <a:xfrm>
            <a:off x="10332720" y="4161155"/>
            <a:ext cx="727075" cy="3111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Different</a:t>
            </a:r>
            <a:endParaRPr lang="en-US" sz="8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-120"/>
              </a:rPr>
              <a:t>parameter</a:t>
            </a:r>
            <a:endParaRPr lang="en-US" sz="800" dirty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-120"/>
            </a:endParaRPr>
          </a:p>
        </p:txBody>
      </p:sp>
      <p:sp>
        <p:nvSpPr>
          <p:cNvPr id="174" name="Shape 172"/>
          <p:cNvSpPr/>
          <p:nvPr/>
        </p:nvSpPr>
        <p:spPr>
          <a:xfrm>
            <a:off x="10250170" y="4454525"/>
            <a:ext cx="868680" cy="635"/>
          </a:xfrm>
          <a:prstGeom prst="line">
            <a:avLst/>
          </a:prstGeom>
          <a:noFill/>
          <a:ln w="8890">
            <a:solidFill>
              <a:srgbClr val="8A9098"/>
            </a:solidFill>
            <a:prstDash val="dash"/>
            <a:tailEnd type="triangle"/>
          </a:ln>
        </p:spPr>
      </p:sp>
      <p:sp>
        <p:nvSpPr>
          <p:cNvPr id="175" name="Shape 173"/>
          <p:cNvSpPr/>
          <p:nvPr/>
        </p:nvSpPr>
        <p:spPr>
          <a:xfrm>
            <a:off x="9399905" y="4801870"/>
            <a:ext cx="850265" cy="320040"/>
          </a:xfrm>
          <a:prstGeom prst="roundRect">
            <a:avLst>
              <a:gd name="adj" fmla="val 14286"/>
            </a:avLst>
          </a:prstGeom>
          <a:solidFill>
            <a:srgbClr val="FAFAFA"/>
          </a:solidFill>
          <a:ln w="8890">
            <a:solidFill>
              <a:srgbClr val="B0B5BD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9436735" y="4829175"/>
            <a:ext cx="777240" cy="26543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Same Actions</a:t>
            </a:r>
            <a:endParaRPr lang="en-US" sz="800" dirty="0">
              <a:ea typeface="微软雅黑" panose="020B0503020204020204" charset="-122"/>
              <a:cs typeface="+mn-lt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(a</a:t>
            </a:r>
            <a:r>
              <a:rPr lang="en-US" sz="800" baseline="-250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0</a:t>
            </a: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, …, a</a:t>
            </a:r>
            <a:r>
              <a:rPr lang="en-US" sz="800" baseline="-250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T-1</a:t>
            </a: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)</a:t>
            </a:r>
            <a:endParaRPr lang="en-US" sz="800" dirty="0">
              <a:solidFill>
                <a:srgbClr val="111827"/>
              </a:solidFill>
              <a:ea typeface="微软雅黑" panose="020B0503020204020204" charset="-122"/>
              <a:cs typeface="+mn-lt"/>
            </a:endParaRPr>
          </a:p>
        </p:txBody>
      </p:sp>
      <p:sp>
        <p:nvSpPr>
          <p:cNvPr id="177" name="Shape 175"/>
          <p:cNvSpPr/>
          <p:nvPr/>
        </p:nvSpPr>
        <p:spPr>
          <a:xfrm>
            <a:off x="11118850" y="4801870"/>
            <a:ext cx="850265" cy="320040"/>
          </a:xfrm>
          <a:prstGeom prst="roundRect">
            <a:avLst>
              <a:gd name="adj" fmla="val 14286"/>
            </a:avLst>
          </a:prstGeom>
          <a:solidFill>
            <a:srgbClr val="FAFAFA"/>
          </a:solidFill>
          <a:ln w="8890">
            <a:solidFill>
              <a:srgbClr val="B0B5BD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11155680" y="4829175"/>
            <a:ext cx="777240" cy="26543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Same Actions</a:t>
            </a:r>
            <a:endParaRPr lang="en-US" sz="800" dirty="0">
              <a:ea typeface="微软雅黑" panose="020B0503020204020204" charset="-122"/>
              <a:cs typeface="+mn-lt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(a</a:t>
            </a:r>
            <a:r>
              <a:rPr lang="en-US" sz="800" baseline="-250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0</a:t>
            </a: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, …, a</a:t>
            </a:r>
            <a:r>
              <a:rPr lang="en-US" sz="800" baseline="-250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T-1</a:t>
            </a: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)</a:t>
            </a:r>
            <a:endParaRPr lang="en-US" sz="800" dirty="0">
              <a:solidFill>
                <a:srgbClr val="111827"/>
              </a:solidFill>
              <a:ea typeface="微软雅黑" panose="020B0503020204020204" charset="-122"/>
              <a:cs typeface="+mn-lt"/>
            </a:endParaRPr>
          </a:p>
        </p:txBody>
      </p:sp>
      <p:sp>
        <p:nvSpPr>
          <p:cNvPr id="179" name="Shape 177"/>
          <p:cNvSpPr/>
          <p:nvPr/>
        </p:nvSpPr>
        <p:spPr>
          <a:xfrm>
            <a:off x="9825355" y="4683125"/>
            <a:ext cx="635" cy="109855"/>
          </a:xfrm>
          <a:prstGeom prst="line">
            <a:avLst/>
          </a:prstGeom>
          <a:noFill/>
          <a:ln w="6985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180" name="Shape 178"/>
          <p:cNvSpPr/>
          <p:nvPr/>
        </p:nvSpPr>
        <p:spPr>
          <a:xfrm>
            <a:off x="11544300" y="4683125"/>
            <a:ext cx="635" cy="109855"/>
          </a:xfrm>
          <a:prstGeom prst="line">
            <a:avLst/>
          </a:prstGeom>
          <a:noFill/>
          <a:ln w="6985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181" name="Shape 179"/>
          <p:cNvSpPr/>
          <p:nvPr/>
        </p:nvSpPr>
        <p:spPr>
          <a:xfrm>
            <a:off x="9399905" y="5240655"/>
            <a:ext cx="850265" cy="320040"/>
          </a:xfrm>
          <a:prstGeom prst="roundRect">
            <a:avLst>
              <a:gd name="adj" fmla="val 14286"/>
            </a:avLst>
          </a:prstGeom>
          <a:solidFill>
            <a:srgbClr val="FAFAFA"/>
          </a:solidFill>
          <a:ln w="8890">
            <a:solidFill>
              <a:srgbClr val="B0B5BD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9436735" y="5267960"/>
            <a:ext cx="777240" cy="26543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State Trajectories</a:t>
            </a:r>
            <a:endParaRPr lang="en-US" sz="800" dirty="0">
              <a:ea typeface="微软雅黑" panose="020B0503020204020204" charset="-122"/>
              <a:cs typeface="+mn-lt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s</a:t>
            </a:r>
            <a:r>
              <a:rPr lang="en-US" sz="800" baseline="-250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0</a:t>
            </a: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ᵖ, …, s</a:t>
            </a:r>
            <a:r>
              <a:rPr lang="en-US" sz="800" baseline="-250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T</a:t>
            </a: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ᵖ</a:t>
            </a:r>
            <a:endParaRPr lang="en-US" sz="800" dirty="0">
              <a:solidFill>
                <a:srgbClr val="111827"/>
              </a:solidFill>
              <a:ea typeface="微软雅黑" panose="020B0503020204020204" charset="-122"/>
              <a:cs typeface="+mn-lt"/>
            </a:endParaRPr>
          </a:p>
        </p:txBody>
      </p:sp>
      <p:sp>
        <p:nvSpPr>
          <p:cNvPr id="183" name="Shape 181"/>
          <p:cNvSpPr/>
          <p:nvPr/>
        </p:nvSpPr>
        <p:spPr>
          <a:xfrm>
            <a:off x="11118850" y="5240655"/>
            <a:ext cx="850265" cy="320040"/>
          </a:xfrm>
          <a:prstGeom prst="roundRect">
            <a:avLst>
              <a:gd name="adj" fmla="val 14286"/>
            </a:avLst>
          </a:prstGeom>
          <a:solidFill>
            <a:srgbClr val="FAFAFA"/>
          </a:solidFill>
          <a:ln w="8890">
            <a:solidFill>
              <a:srgbClr val="B0B5BD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11155680" y="5267960"/>
            <a:ext cx="777240" cy="26543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State Trajectories</a:t>
            </a:r>
            <a:endParaRPr lang="en-US" sz="800" dirty="0">
              <a:ea typeface="微软雅黑" panose="020B0503020204020204" charset="-122"/>
              <a:cs typeface="+mn-lt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s</a:t>
            </a:r>
            <a:r>
              <a:rPr lang="en-US" sz="800" baseline="-250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0</a:t>
            </a: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ᶜ, …, s</a:t>
            </a:r>
            <a:r>
              <a:rPr lang="en-US" sz="800" baseline="-250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T</a:t>
            </a: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ᶜ</a:t>
            </a:r>
            <a:endParaRPr lang="en-US" sz="800" dirty="0">
              <a:solidFill>
                <a:srgbClr val="111827"/>
              </a:solidFill>
              <a:ea typeface="微软雅黑" panose="020B0503020204020204" charset="-122"/>
              <a:cs typeface="+mn-lt"/>
            </a:endParaRPr>
          </a:p>
        </p:txBody>
      </p:sp>
      <p:sp>
        <p:nvSpPr>
          <p:cNvPr id="185" name="Shape 183"/>
          <p:cNvSpPr/>
          <p:nvPr/>
        </p:nvSpPr>
        <p:spPr>
          <a:xfrm>
            <a:off x="9825355" y="5121910"/>
            <a:ext cx="635" cy="109855"/>
          </a:xfrm>
          <a:prstGeom prst="line">
            <a:avLst/>
          </a:prstGeom>
          <a:noFill/>
          <a:ln w="6985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186" name="Shape 184"/>
          <p:cNvSpPr/>
          <p:nvPr/>
        </p:nvSpPr>
        <p:spPr>
          <a:xfrm>
            <a:off x="11544300" y="5121910"/>
            <a:ext cx="635" cy="109855"/>
          </a:xfrm>
          <a:prstGeom prst="line">
            <a:avLst/>
          </a:prstGeom>
          <a:noFill/>
          <a:ln w="6985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187" name="Shape 185"/>
          <p:cNvSpPr/>
          <p:nvPr/>
        </p:nvSpPr>
        <p:spPr>
          <a:xfrm>
            <a:off x="9399905" y="5679440"/>
            <a:ext cx="850265" cy="320040"/>
          </a:xfrm>
          <a:prstGeom prst="roundRect">
            <a:avLst>
              <a:gd name="adj" fmla="val 14286"/>
            </a:avLst>
          </a:prstGeom>
          <a:solidFill>
            <a:srgbClr val="FAFAFA"/>
          </a:solidFill>
          <a:ln w="8890">
            <a:solidFill>
              <a:srgbClr val="B0B5BD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9436735" y="5706745"/>
            <a:ext cx="777240" cy="26543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Observations</a:t>
            </a:r>
            <a:endParaRPr lang="en-US" sz="800" dirty="0">
              <a:ea typeface="微软雅黑" panose="020B0503020204020204" charset="-122"/>
              <a:cs typeface="+mn-lt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o</a:t>
            </a:r>
            <a:r>
              <a:rPr lang="en-US" sz="800" baseline="-250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0</a:t>
            </a: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ᵖ, …, o</a:t>
            </a:r>
            <a:r>
              <a:rPr lang="en-US" sz="800" baseline="-250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T</a:t>
            </a: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ᵖ</a:t>
            </a:r>
            <a:endParaRPr lang="en-US" sz="800" dirty="0">
              <a:solidFill>
                <a:srgbClr val="111827"/>
              </a:solidFill>
              <a:ea typeface="微软雅黑" panose="020B0503020204020204" charset="-122"/>
              <a:cs typeface="+mn-lt"/>
            </a:endParaRPr>
          </a:p>
        </p:txBody>
      </p:sp>
      <p:sp>
        <p:nvSpPr>
          <p:cNvPr id="189" name="Shape 187"/>
          <p:cNvSpPr/>
          <p:nvPr/>
        </p:nvSpPr>
        <p:spPr>
          <a:xfrm>
            <a:off x="11118850" y="5679440"/>
            <a:ext cx="850265" cy="320040"/>
          </a:xfrm>
          <a:prstGeom prst="roundRect">
            <a:avLst>
              <a:gd name="adj" fmla="val 14286"/>
            </a:avLst>
          </a:prstGeom>
          <a:solidFill>
            <a:srgbClr val="FAFAFA"/>
          </a:solidFill>
          <a:ln w="8890">
            <a:solidFill>
              <a:srgbClr val="B0B5BD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11155680" y="5706745"/>
            <a:ext cx="777240" cy="26543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Observations</a:t>
            </a:r>
            <a:endParaRPr lang="en-US" sz="800" dirty="0">
              <a:ea typeface="微软雅黑" panose="020B0503020204020204" charset="-122"/>
              <a:cs typeface="+mn-lt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o</a:t>
            </a:r>
            <a:r>
              <a:rPr lang="en-US" sz="800" baseline="-250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0</a:t>
            </a: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ᶜ, …, o</a:t>
            </a:r>
            <a:r>
              <a:rPr lang="en-US" sz="800" baseline="-250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T</a:t>
            </a: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ᶜ</a:t>
            </a:r>
            <a:endParaRPr lang="en-US" sz="800" dirty="0">
              <a:solidFill>
                <a:srgbClr val="111827"/>
              </a:solidFill>
              <a:ea typeface="微软雅黑" panose="020B0503020204020204" charset="-122"/>
              <a:cs typeface="+mn-lt"/>
            </a:endParaRPr>
          </a:p>
        </p:txBody>
      </p:sp>
      <p:sp>
        <p:nvSpPr>
          <p:cNvPr id="191" name="Shape 189"/>
          <p:cNvSpPr/>
          <p:nvPr/>
        </p:nvSpPr>
        <p:spPr>
          <a:xfrm>
            <a:off x="10255885" y="5999480"/>
            <a:ext cx="411480" cy="635"/>
          </a:xfrm>
          <a:prstGeom prst="line">
            <a:avLst/>
          </a:prstGeom>
          <a:noFill/>
          <a:ln w="8890">
            <a:solidFill>
              <a:srgbClr val="D94C4C"/>
            </a:solidFill>
            <a:prstDash val="dash"/>
          </a:ln>
        </p:spPr>
      </p:sp>
      <p:sp>
        <p:nvSpPr>
          <p:cNvPr id="192" name="Shape 190"/>
          <p:cNvSpPr/>
          <p:nvPr/>
        </p:nvSpPr>
        <p:spPr>
          <a:xfrm>
            <a:off x="10667365" y="5999480"/>
            <a:ext cx="457200" cy="635"/>
          </a:xfrm>
          <a:prstGeom prst="line">
            <a:avLst/>
          </a:prstGeom>
          <a:noFill/>
          <a:ln w="8890">
            <a:solidFill>
              <a:srgbClr val="D94C4C"/>
            </a:solidFill>
            <a:prstDash val="dash"/>
          </a:ln>
        </p:spPr>
      </p:sp>
      <p:sp>
        <p:nvSpPr>
          <p:cNvPr id="193" name="Text 191"/>
          <p:cNvSpPr/>
          <p:nvPr/>
        </p:nvSpPr>
        <p:spPr>
          <a:xfrm>
            <a:off x="10351135" y="5670550"/>
            <a:ext cx="658495" cy="2565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D52525"/>
                </a:solidFill>
                <a:ea typeface="微软雅黑" panose="020B0503020204020204" charset="-122"/>
                <a:cs typeface="+mn-lt"/>
              </a:rPr>
              <a:t>Diverge</a:t>
            </a:r>
            <a:endParaRPr lang="en-US" sz="800" dirty="0">
              <a:ea typeface="微软雅黑" panose="020B0503020204020204" charset="-122"/>
              <a:cs typeface="+mn-lt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D52525"/>
                </a:solidFill>
                <a:ea typeface="微软雅黑" panose="020B0503020204020204" charset="-122"/>
                <a:cs typeface="+mn-lt"/>
              </a:rPr>
              <a:t>as expected</a:t>
            </a:r>
            <a:endParaRPr lang="en-US" sz="800" dirty="0">
              <a:solidFill>
                <a:srgbClr val="D52525"/>
              </a:solidFill>
              <a:ea typeface="微软雅黑" panose="020B0503020204020204" charset="-122"/>
              <a:cs typeface="+mn-lt"/>
            </a:endParaRPr>
          </a:p>
        </p:txBody>
      </p:sp>
      <p:sp>
        <p:nvSpPr>
          <p:cNvPr id="194" name="Shape 192"/>
          <p:cNvSpPr/>
          <p:nvPr/>
        </p:nvSpPr>
        <p:spPr>
          <a:xfrm>
            <a:off x="9825355" y="5560695"/>
            <a:ext cx="635" cy="109855"/>
          </a:xfrm>
          <a:prstGeom prst="line">
            <a:avLst/>
          </a:prstGeom>
          <a:noFill/>
          <a:ln w="6985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195" name="Shape 193"/>
          <p:cNvSpPr/>
          <p:nvPr/>
        </p:nvSpPr>
        <p:spPr>
          <a:xfrm>
            <a:off x="11544300" y="5560695"/>
            <a:ext cx="635" cy="109855"/>
          </a:xfrm>
          <a:prstGeom prst="line">
            <a:avLst/>
          </a:prstGeom>
          <a:noFill/>
          <a:ln w="6985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196" name="Shape 194"/>
          <p:cNvSpPr/>
          <p:nvPr/>
        </p:nvSpPr>
        <p:spPr>
          <a:xfrm>
            <a:off x="9399905" y="6139180"/>
            <a:ext cx="2578735" cy="494030"/>
          </a:xfrm>
          <a:prstGeom prst="roundRect">
            <a:avLst>
              <a:gd name="adj" fmla="val 7407"/>
            </a:avLst>
          </a:prstGeom>
          <a:solidFill>
            <a:srgbClr val="FFF7E8"/>
          </a:solidFill>
          <a:ln w="9525">
            <a:solidFill>
              <a:srgbClr val="D7A13B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9445625" y="6176010"/>
            <a:ext cx="2487295" cy="16446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827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Differences attributable only to private-law change</a:t>
            </a:r>
            <a:endParaRPr lang="en-US" sz="800" b="1" dirty="0">
              <a:solidFill>
                <a:srgbClr val="111827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198" name="Text 196"/>
          <p:cNvSpPr/>
          <p:nvPr/>
        </p:nvSpPr>
        <p:spPr>
          <a:xfrm>
            <a:off x="9464040" y="6395720"/>
            <a:ext cx="2450465" cy="1460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public contract, actions, instruments, </a:t>
            </a:r>
            <a:endParaRPr lang="en-US" sz="800" dirty="0">
              <a:solidFill>
                <a:srgbClr val="111827"/>
              </a:solidFill>
              <a:ea typeface="微软雅黑" panose="020B0503020204020204" charset="-122"/>
              <a:cs typeface="+mn-lt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resources identical</a:t>
            </a:r>
            <a:endParaRPr lang="en-US" sz="800" dirty="0">
              <a:solidFill>
                <a:srgbClr val="111827"/>
              </a:solidFill>
              <a:ea typeface="微软雅黑" panose="020B0503020204020204" charset="-122"/>
              <a:cs typeface="+mn-lt"/>
            </a:endParaRPr>
          </a:p>
        </p:txBody>
      </p:sp>
      <p:sp>
        <p:nvSpPr>
          <p:cNvPr id="199" name="Shape 192"/>
          <p:cNvSpPr/>
          <p:nvPr/>
        </p:nvSpPr>
        <p:spPr>
          <a:xfrm>
            <a:off x="6651625" y="5524500"/>
            <a:ext cx="635" cy="109855"/>
          </a:xfrm>
          <a:prstGeom prst="line">
            <a:avLst/>
          </a:prstGeom>
          <a:noFill/>
          <a:ln w="6985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200" name="Shape 193"/>
          <p:cNvSpPr/>
          <p:nvPr/>
        </p:nvSpPr>
        <p:spPr>
          <a:xfrm>
            <a:off x="8394065" y="5524500"/>
            <a:ext cx="635" cy="109855"/>
          </a:xfrm>
          <a:prstGeom prst="line">
            <a:avLst/>
          </a:prstGeom>
          <a:noFill/>
          <a:ln w="6985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164" name="Text 2"/>
          <p:cNvSpPr/>
          <p:nvPr/>
        </p:nvSpPr>
        <p:spPr>
          <a:xfrm>
            <a:off x="111125" y="118745"/>
            <a:ext cx="5239385" cy="2559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A. Composable Components</a:t>
            </a:r>
            <a:endParaRPr lang="en-US" sz="1400" b="1" dirty="0">
              <a:solidFill>
                <a:srgbClr val="111827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165" name="Text 10"/>
          <p:cNvSpPr/>
          <p:nvPr/>
        </p:nvSpPr>
        <p:spPr>
          <a:xfrm>
            <a:off x="111125" y="3401695"/>
            <a:ext cx="5367655" cy="2559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C. Transaction Semantics (per step)</a:t>
            </a:r>
            <a:endParaRPr lang="en-US" sz="1400" b="1" dirty="0">
              <a:solidFill>
                <a:srgbClr val="111827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204" name="Text 3"/>
          <p:cNvSpPr/>
          <p:nvPr/>
        </p:nvSpPr>
        <p:spPr>
          <a:xfrm>
            <a:off x="487045" y="374650"/>
            <a:ext cx="5147945" cy="20129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11827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Reusable process and instrument modules with declared interfaces</a:t>
            </a:r>
            <a:endParaRPr lang="en-US" sz="1000" i="1" dirty="0">
              <a:solidFill>
                <a:srgbClr val="111827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pic>
        <p:nvPicPr>
          <p:cNvPr id="210" name="图片 209" descr="reac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940" y="708025"/>
            <a:ext cx="762000" cy="859790"/>
          </a:xfrm>
          <a:prstGeom prst="rect">
            <a:avLst/>
          </a:prstGeom>
        </p:spPr>
      </p:pic>
      <p:sp>
        <p:nvSpPr>
          <p:cNvPr id="211" name="文本框 210"/>
          <p:cNvSpPr txBox="1"/>
          <p:nvPr/>
        </p:nvSpPr>
        <p:spPr>
          <a:xfrm>
            <a:off x="165100" y="521970"/>
            <a:ext cx="2028825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100" b="1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Chemical Transformation</a:t>
            </a:r>
            <a:endParaRPr lang="en-US" sz="1100" b="1" dirty="0">
              <a:solidFill>
                <a:schemeClr val="accent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</p:txBody>
      </p:sp>
      <p:pic>
        <p:nvPicPr>
          <p:cNvPr id="212" name="图片 211" descr="electrochemist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160" y="708025"/>
            <a:ext cx="730250" cy="906780"/>
          </a:xfrm>
          <a:prstGeom prst="rect">
            <a:avLst/>
          </a:prstGeom>
        </p:spPr>
      </p:pic>
      <p:sp>
        <p:nvSpPr>
          <p:cNvPr id="213" name="文本框 212"/>
          <p:cNvSpPr txBox="1"/>
          <p:nvPr/>
        </p:nvSpPr>
        <p:spPr>
          <a:xfrm>
            <a:off x="2094865" y="521970"/>
            <a:ext cx="2028825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1100" b="1" dirty="0">
                <a:solidFill>
                  <a:srgbClr val="7030A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State &amp; Phase Behavior</a:t>
            </a:r>
            <a:endParaRPr lang="en-US" sz="1100" b="1" dirty="0">
              <a:solidFill>
                <a:srgbClr val="7030A0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</p:txBody>
      </p:sp>
      <p:pic>
        <p:nvPicPr>
          <p:cNvPr id="214" name="图片 213" descr="therm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4565" y="754380"/>
            <a:ext cx="445770" cy="843915"/>
          </a:xfrm>
          <a:prstGeom prst="rect">
            <a:avLst/>
          </a:prstGeom>
        </p:spPr>
      </p:pic>
      <p:pic>
        <p:nvPicPr>
          <p:cNvPr id="215" name="图片 214" descr="phase-behavio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4475" y="810895"/>
            <a:ext cx="658495" cy="756285"/>
          </a:xfrm>
          <a:prstGeom prst="rect">
            <a:avLst/>
          </a:prstGeom>
        </p:spPr>
      </p:pic>
      <p:pic>
        <p:nvPicPr>
          <p:cNvPr id="216" name="图片 215" descr="crystalliza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2505" y="767080"/>
            <a:ext cx="554355" cy="831215"/>
          </a:xfrm>
          <a:prstGeom prst="rect">
            <a:avLst/>
          </a:prstGeom>
        </p:spPr>
      </p:pic>
      <p:sp>
        <p:nvSpPr>
          <p:cNvPr id="217" name="文本框 216"/>
          <p:cNvSpPr txBox="1"/>
          <p:nvPr/>
        </p:nvSpPr>
        <p:spPr>
          <a:xfrm>
            <a:off x="3987800" y="521970"/>
            <a:ext cx="2028825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1100" b="1" dirty="0">
                <a:solidFill>
                  <a:schemeClr val="accent6">
                    <a:lumMod val="7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Transport &amp; Separation</a:t>
            </a:r>
            <a:endParaRPr lang="en-US" sz="1100" b="1" dirty="0">
              <a:solidFill>
                <a:schemeClr val="accent6">
                  <a:lumMod val="75000"/>
                </a:schemeClr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</p:txBody>
      </p:sp>
      <p:pic>
        <p:nvPicPr>
          <p:cNvPr id="218" name="图片 217" descr="flo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7205" y="770255"/>
            <a:ext cx="612775" cy="793115"/>
          </a:xfrm>
          <a:prstGeom prst="rect">
            <a:avLst/>
          </a:prstGeom>
        </p:spPr>
      </p:pic>
      <p:pic>
        <p:nvPicPr>
          <p:cNvPr id="219" name="图片 218" descr="distillati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5400" y="722630"/>
            <a:ext cx="584835" cy="875665"/>
          </a:xfrm>
          <a:prstGeom prst="rect">
            <a:avLst/>
          </a:prstGeom>
        </p:spPr>
      </p:pic>
      <p:sp>
        <p:nvSpPr>
          <p:cNvPr id="220" name="Text 84"/>
          <p:cNvSpPr/>
          <p:nvPr/>
        </p:nvSpPr>
        <p:spPr>
          <a:xfrm>
            <a:off x="205105" y="1614170"/>
            <a:ext cx="621665" cy="16446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Reaction</a:t>
            </a:r>
            <a:endParaRPr lang="en-US" sz="10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222" name="Text 84"/>
          <p:cNvSpPr/>
          <p:nvPr/>
        </p:nvSpPr>
        <p:spPr>
          <a:xfrm>
            <a:off x="876935" y="1602105"/>
            <a:ext cx="126365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Electrochemistry</a:t>
            </a:r>
            <a:endParaRPr lang="en-US" sz="10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223" name="Text 84"/>
          <p:cNvSpPr/>
          <p:nvPr/>
        </p:nvSpPr>
        <p:spPr>
          <a:xfrm>
            <a:off x="2094865" y="1614805"/>
            <a:ext cx="621665" cy="16446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Thermal</a:t>
            </a:r>
            <a:endParaRPr lang="en-US" sz="10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224" name="Text 84"/>
          <p:cNvSpPr/>
          <p:nvPr/>
        </p:nvSpPr>
        <p:spPr>
          <a:xfrm>
            <a:off x="2730500" y="1452880"/>
            <a:ext cx="71247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Phase</a:t>
            </a:r>
            <a:endParaRPr lang="en-US" sz="10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Behavior</a:t>
            </a:r>
            <a:endParaRPr lang="en-US" sz="10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225" name="Text 84"/>
          <p:cNvSpPr/>
          <p:nvPr/>
        </p:nvSpPr>
        <p:spPr>
          <a:xfrm>
            <a:off x="3431540" y="1560195"/>
            <a:ext cx="829310" cy="27495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Crystallization</a:t>
            </a:r>
            <a:endParaRPr lang="en-US" sz="10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226" name="Text 84"/>
          <p:cNvSpPr/>
          <p:nvPr/>
        </p:nvSpPr>
        <p:spPr>
          <a:xfrm>
            <a:off x="4356735" y="1602105"/>
            <a:ext cx="621665" cy="16446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Flow</a:t>
            </a:r>
            <a:endParaRPr lang="en-US" sz="10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227" name="Text 84"/>
          <p:cNvSpPr/>
          <p:nvPr/>
        </p:nvSpPr>
        <p:spPr>
          <a:xfrm>
            <a:off x="5120640" y="1598930"/>
            <a:ext cx="621665" cy="16446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Distillation</a:t>
            </a:r>
            <a:endParaRPr lang="en-US" sz="10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pic>
        <p:nvPicPr>
          <p:cNvPr id="228" name="图片 227" descr="ph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5105" y="2149475"/>
            <a:ext cx="412115" cy="699135"/>
          </a:xfrm>
          <a:prstGeom prst="rect">
            <a:avLst/>
          </a:prstGeom>
        </p:spPr>
      </p:pic>
      <p:pic>
        <p:nvPicPr>
          <p:cNvPr id="229" name="图片 228" descr="uv-vis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0410" y="2218690"/>
            <a:ext cx="882650" cy="668020"/>
          </a:xfrm>
          <a:prstGeom prst="rect">
            <a:avLst/>
          </a:prstGeom>
        </p:spPr>
      </p:pic>
      <p:pic>
        <p:nvPicPr>
          <p:cNvPr id="230" name="图片 229" descr="hplc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89430" y="2181860"/>
            <a:ext cx="724535" cy="666750"/>
          </a:xfrm>
          <a:prstGeom prst="rect">
            <a:avLst/>
          </a:prstGeom>
        </p:spPr>
      </p:pic>
      <p:pic>
        <p:nvPicPr>
          <p:cNvPr id="231" name="图片 230" descr="gc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28265" y="2160270"/>
            <a:ext cx="544195" cy="726440"/>
          </a:xfrm>
          <a:prstGeom prst="rect">
            <a:avLst/>
          </a:prstGeom>
        </p:spPr>
      </p:pic>
      <p:cxnSp>
        <p:nvCxnSpPr>
          <p:cNvPr id="233" name="直接连接符 232"/>
          <p:cNvCxnSpPr/>
          <p:nvPr/>
        </p:nvCxnSpPr>
        <p:spPr>
          <a:xfrm>
            <a:off x="205105" y="1872615"/>
            <a:ext cx="5595620" cy="0"/>
          </a:xfrm>
          <a:prstGeom prst="line">
            <a:avLst/>
          </a:prstGeom>
          <a:ln w="25400" cap="flat" cmpd="sng">
            <a:solidFill>
              <a:schemeClr val="bg1">
                <a:lumMod val="65000"/>
              </a:schemeClr>
            </a:solidFill>
            <a:prstDash val="dash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4" name="文本框 233"/>
          <p:cNvSpPr txBox="1"/>
          <p:nvPr/>
        </p:nvSpPr>
        <p:spPr>
          <a:xfrm>
            <a:off x="205740" y="1911985"/>
            <a:ext cx="202882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200" b="1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Instrument Modules</a:t>
            </a:r>
            <a:endParaRPr lang="en-US" sz="1200" b="1" dirty="0">
              <a:solidFill>
                <a:schemeClr val="accent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235" name="Text 84"/>
          <p:cNvSpPr/>
          <p:nvPr/>
        </p:nvSpPr>
        <p:spPr>
          <a:xfrm>
            <a:off x="38735" y="2887345"/>
            <a:ext cx="621665" cy="16446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pH</a:t>
            </a:r>
            <a:endParaRPr lang="en-US" sz="10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236" name="Text 84"/>
          <p:cNvSpPr/>
          <p:nvPr/>
        </p:nvSpPr>
        <p:spPr>
          <a:xfrm>
            <a:off x="864870" y="2887980"/>
            <a:ext cx="621665" cy="16446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UV-</a:t>
            </a:r>
            <a:r>
              <a:rPr lang="en-US" sz="10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vis</a:t>
            </a:r>
            <a:endParaRPr lang="en-US" sz="10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237" name="Text 84"/>
          <p:cNvSpPr/>
          <p:nvPr/>
        </p:nvSpPr>
        <p:spPr>
          <a:xfrm>
            <a:off x="2578100" y="2889250"/>
            <a:ext cx="621665" cy="16446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GC</a:t>
            </a:r>
            <a:endParaRPr lang="en-US" sz="10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238" name="Text 84"/>
          <p:cNvSpPr/>
          <p:nvPr/>
        </p:nvSpPr>
        <p:spPr>
          <a:xfrm>
            <a:off x="1789430" y="2889885"/>
            <a:ext cx="621665" cy="16446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HPLC</a:t>
            </a:r>
            <a:endParaRPr lang="en-US" sz="10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239" name="Text 84"/>
          <p:cNvSpPr/>
          <p:nvPr/>
        </p:nvSpPr>
        <p:spPr>
          <a:xfrm>
            <a:off x="2129790" y="1995805"/>
            <a:ext cx="621665" cy="1644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...</a:t>
            </a:r>
            <a:endParaRPr lang="en-US" sz="2400" b="1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240" name="圆角矩形 239"/>
          <p:cNvSpPr/>
          <p:nvPr/>
        </p:nvSpPr>
        <p:spPr>
          <a:xfrm>
            <a:off x="3339465" y="1995805"/>
            <a:ext cx="2496820" cy="1146810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1" name="文本框 240"/>
          <p:cNvSpPr txBox="1"/>
          <p:nvPr/>
        </p:nvSpPr>
        <p:spPr>
          <a:xfrm>
            <a:off x="3602355" y="1995805"/>
            <a:ext cx="202882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1200" b="1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Shared Declarations</a:t>
            </a:r>
            <a:endParaRPr lang="en-US" sz="1200" b="1" dirty="0">
              <a:solidFill>
                <a:schemeClr val="accent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</p:txBody>
      </p:sp>
      <p:pic>
        <p:nvPicPr>
          <p:cNvPr id="242" name="图片 241" descr="stat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16300" y="2218690"/>
            <a:ext cx="393700" cy="461010"/>
          </a:xfrm>
          <a:prstGeom prst="rect">
            <a:avLst/>
          </a:prstGeom>
        </p:spPr>
      </p:pic>
      <p:pic>
        <p:nvPicPr>
          <p:cNvPr id="244" name="图片 243" descr="parameters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49445" y="2218690"/>
            <a:ext cx="467360" cy="447040"/>
          </a:xfrm>
          <a:prstGeom prst="rect">
            <a:avLst/>
          </a:prstGeom>
        </p:spPr>
      </p:pic>
      <p:pic>
        <p:nvPicPr>
          <p:cNvPr id="245" name="图片 244" descr="interfac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81375" y="2665730"/>
            <a:ext cx="459740" cy="473710"/>
          </a:xfrm>
          <a:prstGeom prst="rect">
            <a:avLst/>
          </a:prstGeom>
        </p:spPr>
      </p:pic>
      <p:pic>
        <p:nvPicPr>
          <p:cNvPr id="246" name="图片 245" descr="constraints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55160" y="2625725"/>
            <a:ext cx="467360" cy="527685"/>
          </a:xfrm>
          <a:prstGeom prst="rect">
            <a:avLst/>
          </a:prstGeom>
        </p:spPr>
      </p:pic>
      <p:sp>
        <p:nvSpPr>
          <p:cNvPr id="247" name="Text 84"/>
          <p:cNvSpPr/>
          <p:nvPr/>
        </p:nvSpPr>
        <p:spPr>
          <a:xfrm>
            <a:off x="3785235" y="2367280"/>
            <a:ext cx="621665" cy="1644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State</a:t>
            </a:r>
            <a:endParaRPr lang="en-US" sz="12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249" name="Text 84"/>
          <p:cNvSpPr/>
          <p:nvPr/>
        </p:nvSpPr>
        <p:spPr>
          <a:xfrm>
            <a:off x="4892675" y="2339975"/>
            <a:ext cx="849630" cy="19177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Parameters</a:t>
            </a:r>
            <a:endParaRPr lang="en-US" sz="12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250" name="Text 84"/>
          <p:cNvSpPr/>
          <p:nvPr/>
        </p:nvSpPr>
        <p:spPr>
          <a:xfrm>
            <a:off x="3785235" y="2830195"/>
            <a:ext cx="716915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Interface</a:t>
            </a:r>
            <a:endParaRPr lang="en-US" sz="12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251" name="Text 84"/>
          <p:cNvSpPr/>
          <p:nvPr/>
        </p:nvSpPr>
        <p:spPr>
          <a:xfrm>
            <a:off x="4889500" y="2776220"/>
            <a:ext cx="1060450" cy="2368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Constraints</a:t>
            </a:r>
            <a:endParaRPr lang="en-US" sz="12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pic>
        <p:nvPicPr>
          <p:cNvPr id="252" name="图片 251" descr="components-topology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81395" y="614045"/>
            <a:ext cx="570230" cy="584835"/>
          </a:xfrm>
          <a:prstGeom prst="rect">
            <a:avLst/>
          </a:prstGeom>
        </p:spPr>
      </p:pic>
      <p:pic>
        <p:nvPicPr>
          <p:cNvPr id="253" name="图片 252" descr="parameters-conditions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9810" y="1214755"/>
            <a:ext cx="628650" cy="564515"/>
          </a:xfrm>
          <a:prstGeom prst="rect">
            <a:avLst/>
          </a:prstGeom>
        </p:spPr>
      </p:pic>
      <p:pic>
        <p:nvPicPr>
          <p:cNvPr id="254" name="图片 253" descr="instruments-recipe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81395" y="1834515"/>
            <a:ext cx="617220" cy="532765"/>
          </a:xfrm>
          <a:prstGeom prst="rect">
            <a:avLst/>
          </a:prstGeom>
        </p:spPr>
      </p:pic>
      <p:pic>
        <p:nvPicPr>
          <p:cNvPr id="255" name="图片 254" descr="public-task-interface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99810" y="2395855"/>
            <a:ext cx="584835" cy="676910"/>
          </a:xfrm>
          <a:prstGeom prst="rect">
            <a:avLst/>
          </a:prstGeom>
        </p:spPr>
      </p:pic>
      <p:sp>
        <p:nvSpPr>
          <p:cNvPr id="256" name="Shape 55"/>
          <p:cNvSpPr/>
          <p:nvPr/>
        </p:nvSpPr>
        <p:spPr>
          <a:xfrm>
            <a:off x="9925050" y="1834515"/>
            <a:ext cx="247015" cy="1270"/>
          </a:xfrm>
          <a:prstGeom prst="line">
            <a:avLst/>
          </a:prstGeom>
          <a:noFill/>
          <a:ln w="11430">
            <a:solidFill>
              <a:srgbClr val="385724"/>
            </a:solidFill>
            <a:prstDash val="solid"/>
            <a:tailEnd type="triangle"/>
          </a:ln>
        </p:spPr>
      </p:sp>
      <p:sp>
        <p:nvSpPr>
          <p:cNvPr id="257" name="Text 84"/>
          <p:cNvSpPr/>
          <p:nvPr/>
        </p:nvSpPr>
        <p:spPr>
          <a:xfrm>
            <a:off x="6617335" y="637540"/>
            <a:ext cx="1217295" cy="5226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Components &amp;</a:t>
            </a:r>
            <a:endParaRPr lang="en-US" sz="12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Topology</a:t>
            </a:r>
            <a:endParaRPr lang="en-US" sz="12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4" name="Text 84"/>
          <p:cNvSpPr/>
          <p:nvPr/>
        </p:nvSpPr>
        <p:spPr>
          <a:xfrm>
            <a:off x="6651625" y="1295400"/>
            <a:ext cx="1217295" cy="5226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Parameters &amp;</a:t>
            </a:r>
            <a:endParaRPr lang="en-US" sz="12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Conditions</a:t>
            </a:r>
            <a:endParaRPr lang="en-US" sz="12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5" name="Text 84"/>
          <p:cNvSpPr/>
          <p:nvPr/>
        </p:nvSpPr>
        <p:spPr>
          <a:xfrm>
            <a:off x="6651625" y="1888490"/>
            <a:ext cx="1217295" cy="5226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Instruments</a:t>
            </a:r>
            <a:endParaRPr lang="en-US" sz="12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7" name="Text 84"/>
          <p:cNvSpPr/>
          <p:nvPr/>
        </p:nvSpPr>
        <p:spPr>
          <a:xfrm>
            <a:off x="6651625" y="2505710"/>
            <a:ext cx="1217295" cy="5226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Public Task</a:t>
            </a:r>
            <a:endParaRPr lang="en-US" sz="12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Interface</a:t>
            </a:r>
            <a:endParaRPr lang="en-US" sz="12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15" name="右大括号 14"/>
          <p:cNvSpPr/>
          <p:nvPr/>
        </p:nvSpPr>
        <p:spPr>
          <a:xfrm>
            <a:off x="7805420" y="722630"/>
            <a:ext cx="346710" cy="2305685"/>
          </a:xfrm>
          <a:prstGeom prst="rightBrac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8245475" y="701675"/>
            <a:ext cx="1667510" cy="1829435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Shape 55"/>
          <p:cNvSpPr/>
          <p:nvPr/>
        </p:nvSpPr>
        <p:spPr>
          <a:xfrm>
            <a:off x="7998460" y="1873250"/>
            <a:ext cx="247015" cy="635"/>
          </a:xfrm>
          <a:prstGeom prst="line">
            <a:avLst/>
          </a:prstGeom>
          <a:noFill/>
          <a:ln w="11430">
            <a:solidFill>
              <a:srgbClr val="385724"/>
            </a:solidFill>
            <a:prstDash val="solid"/>
            <a:tailEnd type="triangle"/>
          </a:ln>
        </p:spPr>
      </p:sp>
      <p:sp>
        <p:nvSpPr>
          <p:cNvPr id="19" name="文本框 18"/>
          <p:cNvSpPr txBox="1"/>
          <p:nvPr/>
        </p:nvSpPr>
        <p:spPr>
          <a:xfrm>
            <a:off x="8264525" y="754380"/>
            <a:ext cx="1561465" cy="2838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sz="1100" b="1" dirty="0">
                <a:solidFill>
                  <a:schemeClr val="accent6">
                    <a:lumMod val="7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Compile &amp; Validate</a:t>
            </a:r>
            <a:endParaRPr lang="en-US" sz="1100" b="1" dirty="0">
              <a:solidFill>
                <a:schemeClr val="accent6">
                  <a:lumMod val="75000"/>
                </a:schemeClr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</p:txBody>
      </p:sp>
      <p:pic>
        <p:nvPicPr>
          <p:cNvPr id="20" name="图片 19" descr="compatibility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45475" y="1038225"/>
            <a:ext cx="441325" cy="456565"/>
          </a:xfrm>
          <a:prstGeom prst="rect">
            <a:avLst/>
          </a:prstGeom>
        </p:spPr>
      </p:pic>
      <p:pic>
        <p:nvPicPr>
          <p:cNvPr id="21" name="图片 20" descr="feasibility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45475" y="1464945"/>
            <a:ext cx="1680210" cy="412115"/>
          </a:xfrm>
          <a:prstGeom prst="rect">
            <a:avLst/>
          </a:prstGeom>
        </p:spPr>
      </p:pic>
      <p:pic>
        <p:nvPicPr>
          <p:cNvPr id="22" name="图片 21" descr="lifecycle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68970" y="1945640"/>
            <a:ext cx="450215" cy="450215"/>
          </a:xfrm>
          <a:prstGeom prst="rect">
            <a:avLst/>
          </a:prstGeom>
        </p:spPr>
      </p:pic>
      <p:sp>
        <p:nvSpPr>
          <p:cNvPr id="23" name="Text 84"/>
          <p:cNvSpPr/>
          <p:nvPr/>
        </p:nvSpPr>
        <p:spPr>
          <a:xfrm>
            <a:off x="8558530" y="1160145"/>
            <a:ext cx="1138555" cy="1955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Compatibility</a:t>
            </a:r>
            <a:endParaRPr lang="en-US" sz="12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25" name="Text 84"/>
          <p:cNvSpPr/>
          <p:nvPr/>
        </p:nvSpPr>
        <p:spPr>
          <a:xfrm>
            <a:off x="8714105" y="1598295"/>
            <a:ext cx="777240" cy="21018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Feasibility</a:t>
            </a:r>
            <a:endParaRPr lang="en-US" sz="12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26" name="Text 84"/>
          <p:cNvSpPr/>
          <p:nvPr/>
        </p:nvSpPr>
        <p:spPr>
          <a:xfrm>
            <a:off x="8714105" y="2061210"/>
            <a:ext cx="777240" cy="21018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Life Cycle</a:t>
            </a:r>
            <a:endParaRPr lang="en-US" sz="12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28" name="Shape 120"/>
          <p:cNvSpPr/>
          <p:nvPr/>
        </p:nvSpPr>
        <p:spPr>
          <a:xfrm>
            <a:off x="9044940" y="2531745"/>
            <a:ext cx="635" cy="191770"/>
          </a:xfrm>
          <a:prstGeom prst="line">
            <a:avLst/>
          </a:prstGeom>
          <a:noFill/>
          <a:ln w="11430">
            <a:solidFill>
              <a:srgbClr val="D52525"/>
            </a:solidFill>
            <a:prstDash val="solid"/>
            <a:tailEnd type="triangle"/>
          </a:ln>
        </p:spPr>
      </p:sp>
      <p:sp>
        <p:nvSpPr>
          <p:cNvPr id="29" name="Text 84"/>
          <p:cNvSpPr/>
          <p:nvPr/>
        </p:nvSpPr>
        <p:spPr>
          <a:xfrm>
            <a:off x="8488045" y="2817495"/>
            <a:ext cx="1138555" cy="1955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C0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Compilation Rejected</a:t>
            </a:r>
            <a:endParaRPr lang="en-US" sz="1200" dirty="0">
              <a:solidFill>
                <a:srgbClr val="C00000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pic>
        <p:nvPicPr>
          <p:cNvPr id="30" name="图片 29" descr="compilation-rejected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472930" y="2689225"/>
            <a:ext cx="368935" cy="364490"/>
          </a:xfrm>
          <a:prstGeom prst="rect">
            <a:avLst/>
          </a:prstGeom>
        </p:spPr>
      </p:pic>
      <p:sp>
        <p:nvSpPr>
          <p:cNvPr id="31" name="矩形 30"/>
          <p:cNvSpPr/>
          <p:nvPr/>
        </p:nvSpPr>
        <p:spPr>
          <a:xfrm>
            <a:off x="10213975" y="701675"/>
            <a:ext cx="1785620" cy="234505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10286365" y="708025"/>
            <a:ext cx="1646555" cy="3016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6">
                    <a:lumMod val="7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Compiled World</a:t>
            </a:r>
            <a:endParaRPr lang="en-US" sz="1100" b="1" dirty="0">
              <a:solidFill>
                <a:schemeClr val="accent6">
                  <a:lumMod val="75000"/>
                </a:schemeClr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13813028" y="1639570"/>
            <a:ext cx="0" cy="1719072"/>
          </a:xfrm>
          <a:prstGeom prst="line">
            <a:avLst/>
          </a:prstGeom>
          <a:noFill/>
          <a:ln w="8890">
            <a:solidFill>
              <a:srgbClr val="B8C5B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518013" y="995172"/>
            <a:ext cx="1216152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Public Contract (W</a:t>
            </a:r>
            <a:r>
              <a:rPr lang="en-US" sz="850" baseline="-250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pub</a:t>
            </a:r>
            <a:r>
              <a:rPr lang="en-US" sz="85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)</a:t>
            </a:r>
            <a:endParaRPr lang="en-US" sz="850" dirty="0">
              <a:solidFill>
                <a:srgbClr val="111827"/>
              </a:solidFill>
              <a:ea typeface="微软雅黑" panose="020B0503020204020204" charset="-122"/>
              <a:cs typeface="+mn-lt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10490962" y="1950212"/>
            <a:ext cx="124358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-120"/>
              </a:rPr>
              <a:t>Private Mechanisms</a:t>
            </a:r>
            <a:endParaRPr lang="en-US" sz="850" b="1" dirty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-120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0371455" y="1233805"/>
            <a:ext cx="1820545" cy="603250"/>
            <a:chOff x="16423" y="1961"/>
            <a:chExt cx="2867" cy="950"/>
          </a:xfrm>
        </p:grpSpPr>
        <p:sp>
          <p:nvSpPr>
            <p:cNvPr id="65" name="Text 63"/>
            <p:cNvSpPr/>
            <p:nvPr/>
          </p:nvSpPr>
          <p:spPr>
            <a:xfrm>
              <a:off x="16423" y="1971"/>
              <a:ext cx="1757" cy="24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111827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90204" pitchFamily="34" charset="-120"/>
                </a:rPr>
                <a:t>• Task card </a:t>
              </a:r>
              <a:endParaRPr lang="en-US" sz="800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-120"/>
              </a:endParaRPr>
            </a:p>
          </p:txBody>
        </p:sp>
        <p:sp>
          <p:nvSpPr>
            <p:cNvPr id="66" name="Text 64"/>
            <p:cNvSpPr/>
            <p:nvPr/>
          </p:nvSpPr>
          <p:spPr>
            <a:xfrm>
              <a:off x="16423" y="2309"/>
              <a:ext cx="1757" cy="24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111827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90204" pitchFamily="34" charset="-120"/>
                </a:rPr>
                <a:t>• Operations </a:t>
              </a:r>
              <a:endParaRPr lang="en-US" sz="800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-120"/>
              </a:endParaRPr>
            </a:p>
          </p:txBody>
        </p:sp>
        <p:sp>
          <p:nvSpPr>
            <p:cNvPr id="67" name="Text 65"/>
            <p:cNvSpPr/>
            <p:nvPr/>
          </p:nvSpPr>
          <p:spPr>
            <a:xfrm>
              <a:off x="16423" y="2648"/>
              <a:ext cx="1757" cy="24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111827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90204" pitchFamily="34" charset="-120"/>
                </a:rPr>
                <a:t>• Instruments</a:t>
              </a:r>
              <a:endParaRPr lang="en-US" sz="800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-120"/>
              </a:endParaRPr>
            </a:p>
          </p:txBody>
        </p:sp>
        <p:sp>
          <p:nvSpPr>
            <p:cNvPr id="68" name="Text 66"/>
            <p:cNvSpPr/>
            <p:nvPr/>
          </p:nvSpPr>
          <p:spPr>
            <a:xfrm>
              <a:off x="17534" y="1961"/>
              <a:ext cx="1757" cy="24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111827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90204" pitchFamily="34" charset="-120"/>
                </a:rPr>
                <a:t>• Observables</a:t>
              </a:r>
              <a:endParaRPr lang="en-US" sz="800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-120"/>
              </a:endParaRPr>
            </a:p>
          </p:txBody>
        </p:sp>
        <p:sp>
          <p:nvSpPr>
            <p:cNvPr id="69" name="Text 67"/>
            <p:cNvSpPr/>
            <p:nvPr/>
          </p:nvSpPr>
          <p:spPr>
            <a:xfrm>
              <a:off x="17534" y="2300"/>
              <a:ext cx="1757" cy="24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111827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90204" pitchFamily="34" charset="-120"/>
                </a:rPr>
                <a:t>• Resources</a:t>
              </a:r>
              <a:endParaRPr lang="en-US" sz="800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-120"/>
              </a:endParaRPr>
            </a:p>
          </p:txBody>
        </p:sp>
        <p:sp>
          <p:nvSpPr>
            <p:cNvPr id="71" name="Text 69"/>
            <p:cNvSpPr/>
            <p:nvPr/>
          </p:nvSpPr>
          <p:spPr>
            <a:xfrm>
              <a:off x="17525" y="2667"/>
              <a:ext cx="1757" cy="24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111827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90204" pitchFamily="34" charset="-120"/>
                </a:rPr>
                <a:t>• Failure </a:t>
              </a:r>
              <a:r>
                <a:rPr lang="en-US" sz="800" dirty="0">
                  <a:solidFill>
                    <a:srgbClr val="111827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90204" pitchFamily="34" charset="-120"/>
                </a:rPr>
                <a:t>rules</a:t>
              </a:r>
              <a:endParaRPr lang="en-US" sz="800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-120"/>
              </a:endParaRPr>
            </a:p>
          </p:txBody>
        </p:sp>
      </p:grpSp>
      <p:sp>
        <p:nvSpPr>
          <p:cNvPr id="72" name="Text 70"/>
          <p:cNvSpPr/>
          <p:nvPr/>
        </p:nvSpPr>
        <p:spPr>
          <a:xfrm>
            <a:off x="10249916" y="2218690"/>
            <a:ext cx="1106424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-120"/>
              </a:rPr>
              <a:t>• Constitutive laws</a:t>
            </a:r>
            <a:endParaRPr lang="en-US" sz="800" dirty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-120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10249916" y="2483866"/>
            <a:ext cx="1106424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-120"/>
              </a:rPr>
              <a:t>• Material identities</a:t>
            </a:r>
            <a:endParaRPr lang="en-US" sz="800" dirty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-120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10249916" y="2749042"/>
            <a:ext cx="1106424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-120"/>
              </a:rPr>
              <a:t>• Hidden simulator</a:t>
            </a:r>
            <a:endParaRPr lang="en-US" sz="800" dirty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-120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11295380" y="2211070"/>
            <a:ext cx="671195" cy="2730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-120"/>
              </a:rPr>
              <a:t>• Private</a:t>
            </a:r>
            <a:endParaRPr lang="en-US" sz="800" dirty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-120"/>
            </a:endParaRPr>
          </a:p>
          <a:p>
            <a:pPr marL="0" indent="0" algn="l">
              <a:buNone/>
            </a:pPr>
            <a:r>
              <a:rPr lang="en-US" sz="800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-120"/>
              </a:rPr>
              <a:t>   parameters</a:t>
            </a:r>
            <a:endParaRPr lang="en-US" sz="800" dirty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-120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11290300" y="2574925"/>
            <a:ext cx="585470" cy="32956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-120"/>
              </a:rPr>
              <a:t>• Internal </a:t>
            </a:r>
            <a:endParaRPr lang="en-US" sz="800" dirty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-120"/>
            </a:endParaRPr>
          </a:p>
          <a:p>
            <a:pPr marL="0" indent="0" algn="l">
              <a:buNone/>
            </a:pPr>
            <a:r>
              <a:rPr lang="en-US" sz="800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-120"/>
              </a:rPr>
              <a:t>   events</a:t>
            </a:r>
            <a:endParaRPr lang="en-US" sz="800" dirty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-120"/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10250170" y="1910080"/>
            <a:ext cx="1743710" cy="0"/>
          </a:xfrm>
          <a:prstGeom prst="line">
            <a:avLst/>
          </a:prstGeom>
          <a:ln w="12700" cap="flat" cmpd="sng">
            <a:solidFill>
              <a:schemeClr val="bg1">
                <a:lumMod val="65000"/>
              </a:schemeClr>
            </a:solidFill>
            <a:prstDash val="dash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Text 166"/>
          <p:cNvSpPr/>
          <p:nvPr/>
        </p:nvSpPr>
        <p:spPr>
          <a:xfrm>
            <a:off x="6347460" y="6297930"/>
            <a:ext cx="2386330" cy="3111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Rewards, observations, terminations, metadata,</a:t>
            </a:r>
            <a:endParaRPr lang="en-US" sz="800" dirty="0">
              <a:ea typeface="微软雅黑" panose="020B0503020204020204" charset="-122"/>
              <a:cs typeface="+mn-lt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  <a:ea typeface="微软雅黑" panose="020B0503020204020204" charset="-122"/>
                <a:cs typeface="+mn-lt"/>
              </a:rPr>
              <a:t>resource ledgers, events, state hashes</a:t>
            </a:r>
            <a:endParaRPr lang="en-US" sz="800" dirty="0">
              <a:solidFill>
                <a:srgbClr val="111827"/>
              </a:solidFill>
              <a:ea typeface="微软雅黑" panose="020B0503020204020204" charset="-122"/>
              <a:cs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2391</Words>
  <Application>WPS 演示</Application>
  <PresentationFormat>On-screen Show (16:9)</PresentationFormat>
  <Paragraphs>266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方正雅意黑 GB18030L2</vt:lpstr>
      <vt:lpstr>Arial</vt:lpstr>
      <vt:lpstr>Wingdings</vt:lpstr>
      <vt:lpstr>Calibri</vt:lpstr>
      <vt:lpstr>Helvetica Neue</vt:lpstr>
      <vt:lpstr>汉仪书宋二KW</vt:lpstr>
      <vt:lpstr>等线</vt:lpstr>
      <vt:lpstr>汉仪中等线KW</vt:lpstr>
      <vt:lpstr>宋体</vt:lpstr>
      <vt:lpstr>Arial Unicode MS</vt:lpstr>
      <vt:lpstr>微软雅黑</vt:lpstr>
      <vt:lpstr>Office Theme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ChemWorld Figure 1 — Editable Reconstruction</dc:title>
  <dc:creator>OpenAI</dc:creator>
  <dc:subject>Editable reconstruction of ChemWorld Figure 1</dc:subject>
  <cp:lastModifiedBy>李奕均(2022013127)</cp:lastModifiedBy>
  <cp:revision>11</cp:revision>
  <dcterms:created xsi:type="dcterms:W3CDTF">2026-08-09T09:44:23Z</dcterms:created>
  <dcterms:modified xsi:type="dcterms:W3CDTF">2026-08-09T09:44:23Z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2052-12.1.26046.26046</vt:lpwstr>
  </property>
  <property fmtid="{D5CDD505-2E9C-101B-9397-08002B2CF9AE}" pid="3" name="ICV">
    <vt:lpwstr>CD3081C864A543458BF063D3DFE01813_12</vt:lpwstr>
  </property>
</Properties>
</file>