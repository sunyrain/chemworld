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469C5"/>
    <a:srgbClr val="103C7B"/>
    <a:srgbClr val="E5A000"/>
    <a:srgbClr val="CFAA37"/>
    <a:srgbClr val="DED03A"/>
    <a:srgbClr val="176329"/>
    <a:srgbClr val="2E8B45"/>
    <a:srgbClr val="946500"/>
    <a:srgbClr val="547E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矩形 100"/>
          <p:cNvSpPr/>
          <p:nvPr/>
        </p:nvSpPr>
        <p:spPr>
          <a:xfrm>
            <a:off x="9487535" y="1860550"/>
            <a:ext cx="2251710" cy="937895"/>
          </a:xfrm>
          <a:prstGeom prst="rect">
            <a:avLst/>
          </a:prstGeom>
          <a:pattFill prst="wdUpDiag">
            <a:fgClr>
              <a:schemeClr val="accent3">
                <a:lumMod val="40000"/>
                <a:lumOff val="60000"/>
              </a:schemeClr>
            </a:fgClr>
            <a:bgClr>
              <a:schemeClr val="bg1"/>
            </a:bgClr>
          </a:pattFill>
          <a:ln w="9525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9" name="Shape 207"/>
          <p:cNvSpPr/>
          <p:nvPr/>
        </p:nvSpPr>
        <p:spPr>
          <a:xfrm>
            <a:off x="167005" y="4149090"/>
            <a:ext cx="5744845" cy="779780"/>
          </a:xfrm>
          <a:prstGeom prst="roundRect">
            <a:avLst>
              <a:gd name="adj" fmla="val 6424"/>
            </a:avLst>
          </a:prstGeom>
          <a:solidFill>
            <a:srgbClr val="FFFFFF"/>
          </a:solidFill>
          <a:ln w="8890">
            <a:solidFill>
              <a:srgbClr val="E5A000"/>
            </a:solidFill>
            <a:prstDash val="solid"/>
          </a:ln>
        </p:spPr>
      </p:sp>
      <p:sp>
        <p:nvSpPr>
          <p:cNvPr id="366" name="Shape 262"/>
          <p:cNvSpPr/>
          <p:nvPr/>
        </p:nvSpPr>
        <p:spPr>
          <a:xfrm>
            <a:off x="3594165" y="4850635"/>
            <a:ext cx="1144794" cy="0"/>
          </a:xfrm>
          <a:prstGeom prst="line">
            <a:avLst/>
          </a:prstGeom>
          <a:noFill/>
          <a:ln w="11430">
            <a:solidFill>
              <a:srgbClr val="E5A000"/>
            </a:solidFill>
            <a:prstDash val="solid"/>
          </a:ln>
        </p:spPr>
      </p:sp>
      <p:sp>
        <p:nvSpPr>
          <p:cNvPr id="358" name="Shape 262"/>
          <p:cNvSpPr/>
          <p:nvPr/>
        </p:nvSpPr>
        <p:spPr>
          <a:xfrm>
            <a:off x="3594165" y="4682995"/>
            <a:ext cx="1144794" cy="0"/>
          </a:xfrm>
          <a:prstGeom prst="line">
            <a:avLst/>
          </a:prstGeom>
          <a:noFill/>
          <a:ln w="11430">
            <a:solidFill>
              <a:srgbClr val="E5A000"/>
            </a:solidFill>
            <a:prstDash val="solid"/>
          </a:ln>
        </p:spPr>
      </p:sp>
      <p:sp>
        <p:nvSpPr>
          <p:cNvPr id="360" name="Shape 262"/>
          <p:cNvSpPr/>
          <p:nvPr/>
        </p:nvSpPr>
        <p:spPr>
          <a:xfrm>
            <a:off x="3842450" y="4538850"/>
            <a:ext cx="1144794" cy="0"/>
          </a:xfrm>
          <a:prstGeom prst="line">
            <a:avLst/>
          </a:prstGeom>
          <a:noFill/>
          <a:ln w="11430">
            <a:solidFill>
              <a:srgbClr val="E5A000"/>
            </a:solidFill>
            <a:prstDash val="solid"/>
          </a:ln>
        </p:spPr>
      </p:sp>
      <p:sp>
        <p:nvSpPr>
          <p:cNvPr id="362" name="Shape 262"/>
          <p:cNvSpPr/>
          <p:nvPr/>
        </p:nvSpPr>
        <p:spPr>
          <a:xfrm>
            <a:off x="3843085" y="4392800"/>
            <a:ext cx="1144794" cy="0"/>
          </a:xfrm>
          <a:prstGeom prst="line">
            <a:avLst/>
          </a:prstGeom>
          <a:noFill/>
          <a:ln w="11430">
            <a:solidFill>
              <a:srgbClr val="E5A000"/>
            </a:solidFill>
            <a:prstDash val="solid"/>
          </a:ln>
        </p:spPr>
      </p:sp>
      <p:sp>
        <p:nvSpPr>
          <p:cNvPr id="364" name="Shape 262"/>
          <p:cNvSpPr/>
          <p:nvPr/>
        </p:nvSpPr>
        <p:spPr>
          <a:xfrm>
            <a:off x="3843720" y="4250560"/>
            <a:ext cx="1144794" cy="0"/>
          </a:xfrm>
          <a:prstGeom prst="line">
            <a:avLst/>
          </a:prstGeom>
          <a:noFill/>
          <a:ln w="11430">
            <a:solidFill>
              <a:srgbClr val="E5A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281" y="505872"/>
            <a:ext cx="4375010" cy="2040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A. From reference tasks to generated world families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93751" y="775557"/>
            <a:ext cx="350001" cy="131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0"/>
              </a:rPr>
              <a:t>rxn</a:t>
            </a:r>
            <a:endParaRPr lang="en-US" sz="800" b="1" dirty="0">
              <a:solidFill>
                <a:srgbClr val="111111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72918" y="775557"/>
            <a:ext cx="350001" cy="131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0"/>
              </a:rPr>
              <a:t>thermal</a:t>
            </a:r>
            <a:endParaRPr lang="en-US" sz="700" b="1" dirty="0">
              <a:solidFill>
                <a:srgbClr val="111111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159378" y="775557"/>
            <a:ext cx="350001" cy="131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0"/>
              </a:rPr>
              <a:t>phase</a:t>
            </a:r>
            <a:endParaRPr lang="en-US" sz="800" b="1" dirty="0">
              <a:solidFill>
                <a:srgbClr val="111111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538545" y="775557"/>
            <a:ext cx="350001" cy="131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0"/>
              </a:rPr>
              <a:t>sep.</a:t>
            </a:r>
            <a:endParaRPr lang="en-US" sz="800" b="1" dirty="0">
              <a:solidFill>
                <a:srgbClr val="111111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917713" y="775557"/>
            <a:ext cx="350001" cy="131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0"/>
              </a:rPr>
              <a:t>cryst.</a:t>
            </a:r>
            <a:endParaRPr lang="en-US" sz="800" b="1" dirty="0">
              <a:solidFill>
                <a:srgbClr val="111111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304172" y="775557"/>
            <a:ext cx="350001" cy="131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0"/>
              </a:rPr>
              <a:t>distill.</a:t>
            </a:r>
            <a:endParaRPr lang="en-US" sz="800" b="1" dirty="0">
              <a:solidFill>
                <a:srgbClr val="111111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683340" y="775557"/>
            <a:ext cx="350001" cy="131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0"/>
              </a:rPr>
              <a:t>flow</a:t>
            </a:r>
            <a:endParaRPr lang="en-US" sz="800" b="1" dirty="0">
              <a:solidFill>
                <a:srgbClr val="111111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062507" y="775557"/>
            <a:ext cx="350001" cy="131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 algn="ctr">
              <a:buNone/>
            </a:pPr>
            <a:r>
              <a:rPr lang="en-US" sz="890" b="1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0"/>
              </a:rPr>
              <a:t>electro</a:t>
            </a:r>
            <a:endParaRPr lang="en-US" sz="890" b="1" dirty="0">
              <a:solidFill>
                <a:srgbClr val="111111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448966" y="775557"/>
            <a:ext cx="350001" cy="131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0"/>
              </a:rPr>
              <a:t>obs.</a:t>
            </a:r>
            <a:endParaRPr lang="en-US" sz="800" b="1" dirty="0">
              <a:solidFill>
                <a:srgbClr val="111111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67709" y="972333"/>
            <a:ext cx="196875" cy="14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970" b="1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P1</a:t>
            </a:r>
            <a:endParaRPr lang="en-US" sz="970" dirty="0"/>
          </a:p>
        </p:txBody>
      </p:sp>
      <p:sp>
        <p:nvSpPr>
          <p:cNvPr id="20" name="Text 18"/>
          <p:cNvSpPr/>
          <p:nvPr/>
        </p:nvSpPr>
        <p:spPr>
          <a:xfrm>
            <a:off x="167709" y="1190973"/>
            <a:ext cx="196875" cy="14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970" b="1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P2</a:t>
            </a:r>
            <a:endParaRPr lang="en-US" sz="970" dirty="0"/>
          </a:p>
        </p:txBody>
      </p:sp>
      <p:sp>
        <p:nvSpPr>
          <p:cNvPr id="21" name="Text 19"/>
          <p:cNvSpPr/>
          <p:nvPr/>
        </p:nvSpPr>
        <p:spPr>
          <a:xfrm>
            <a:off x="167709" y="1409612"/>
            <a:ext cx="196875" cy="14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970" b="1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P3</a:t>
            </a:r>
            <a:endParaRPr lang="en-US" sz="970" dirty="0"/>
          </a:p>
        </p:txBody>
      </p:sp>
      <p:sp>
        <p:nvSpPr>
          <p:cNvPr id="22" name="Text 20"/>
          <p:cNvSpPr/>
          <p:nvPr/>
        </p:nvSpPr>
        <p:spPr>
          <a:xfrm>
            <a:off x="167709" y="1628252"/>
            <a:ext cx="196875" cy="14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970" b="1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P4</a:t>
            </a:r>
            <a:endParaRPr lang="en-US" sz="970" dirty="0"/>
          </a:p>
        </p:txBody>
      </p:sp>
      <p:sp>
        <p:nvSpPr>
          <p:cNvPr id="23" name="Text 21"/>
          <p:cNvSpPr/>
          <p:nvPr/>
        </p:nvSpPr>
        <p:spPr>
          <a:xfrm>
            <a:off x="167709" y="1846892"/>
            <a:ext cx="196875" cy="14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970" b="1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P5</a:t>
            </a:r>
            <a:endParaRPr lang="en-US" sz="970" dirty="0"/>
          </a:p>
        </p:txBody>
      </p:sp>
      <p:sp>
        <p:nvSpPr>
          <p:cNvPr id="24" name="Text 22"/>
          <p:cNvSpPr/>
          <p:nvPr/>
        </p:nvSpPr>
        <p:spPr>
          <a:xfrm>
            <a:off x="167709" y="2065532"/>
            <a:ext cx="196875" cy="14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970" b="1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P6</a:t>
            </a:r>
            <a:endParaRPr lang="en-US" sz="970" dirty="0"/>
          </a:p>
        </p:txBody>
      </p:sp>
      <p:sp>
        <p:nvSpPr>
          <p:cNvPr id="25" name="Text 23"/>
          <p:cNvSpPr/>
          <p:nvPr/>
        </p:nvSpPr>
        <p:spPr>
          <a:xfrm>
            <a:off x="167709" y="2284171"/>
            <a:ext cx="196875" cy="14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970" b="1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P7</a:t>
            </a:r>
            <a:endParaRPr lang="en-US" sz="970" dirty="0"/>
          </a:p>
        </p:txBody>
      </p:sp>
      <p:sp>
        <p:nvSpPr>
          <p:cNvPr id="26" name="Text 24"/>
          <p:cNvSpPr/>
          <p:nvPr/>
        </p:nvSpPr>
        <p:spPr>
          <a:xfrm>
            <a:off x="167709" y="2502811"/>
            <a:ext cx="196875" cy="14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970" b="1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P8</a:t>
            </a:r>
            <a:endParaRPr lang="en-US" sz="970" dirty="0"/>
          </a:p>
        </p:txBody>
      </p:sp>
      <p:sp>
        <p:nvSpPr>
          <p:cNvPr id="27" name="Shape 25"/>
          <p:cNvSpPr/>
          <p:nvPr/>
        </p:nvSpPr>
        <p:spPr>
          <a:xfrm>
            <a:off x="473959" y="986909"/>
            <a:ext cx="211459" cy="17491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C7CAC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53127" y="986909"/>
            <a:ext cx="211459" cy="17491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C7CAC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239586" y="986909"/>
            <a:ext cx="211459" cy="17491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C7CAC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618754" y="986909"/>
            <a:ext cx="211459" cy="17491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C7CAC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97921" y="986909"/>
            <a:ext cx="211459" cy="17491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C7CAC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384381" y="986909"/>
            <a:ext cx="211459" cy="17491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C7CAC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63548" y="986909"/>
            <a:ext cx="211459" cy="17491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C7CAC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142716" y="986909"/>
            <a:ext cx="211459" cy="17491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C7CAC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529175" y="986909"/>
            <a:ext cx="211459" cy="17491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C7CAC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3959" y="1205549"/>
            <a:ext cx="211459" cy="17491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C7CAC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53127" y="1205549"/>
            <a:ext cx="211459" cy="17491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C7CAC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239586" y="1205549"/>
            <a:ext cx="211459" cy="17491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C7CAC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618754" y="1205549"/>
            <a:ext cx="211459" cy="17491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C7CAC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997921" y="1205549"/>
            <a:ext cx="211459" cy="17491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C7CAC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384381" y="1205549"/>
            <a:ext cx="211459" cy="17491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C7CAC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763548" y="1205549"/>
            <a:ext cx="211459" cy="17491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C7CAC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142716" y="1205549"/>
            <a:ext cx="211459" cy="17491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C7CAC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529175" y="1205549"/>
            <a:ext cx="211459" cy="17491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C7CAC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73959" y="1424188"/>
            <a:ext cx="211459" cy="17491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C7CAC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53127" y="1424188"/>
            <a:ext cx="211459" cy="17491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C7CAC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239586" y="1424188"/>
            <a:ext cx="211459" cy="17491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C7CAC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618754" y="1424188"/>
            <a:ext cx="211459" cy="17491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C7CAC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997921" y="1424188"/>
            <a:ext cx="211459" cy="17491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C7CAC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384381" y="1424188"/>
            <a:ext cx="211459" cy="17491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C7CAC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763548" y="1424188"/>
            <a:ext cx="211459" cy="17491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C7CAC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142716" y="1424188"/>
            <a:ext cx="211459" cy="17491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C7CAC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529175" y="1424188"/>
            <a:ext cx="211459" cy="17491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C7CAC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73959" y="1642828"/>
            <a:ext cx="211459" cy="17491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C7CAC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53127" y="1642828"/>
            <a:ext cx="211459" cy="17491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C7CAC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239586" y="1642828"/>
            <a:ext cx="211459" cy="17491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C7CAC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618754" y="1642828"/>
            <a:ext cx="211459" cy="17491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C7CACC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997921" y="1642828"/>
            <a:ext cx="211459" cy="17491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C7CACC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384381" y="1642828"/>
            <a:ext cx="211459" cy="17491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C7CACC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763548" y="1642828"/>
            <a:ext cx="211459" cy="17491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C7CACC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142716" y="1642828"/>
            <a:ext cx="211459" cy="17491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C7CACC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529175" y="1642828"/>
            <a:ext cx="211459" cy="17491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C7CACC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73959" y="1861468"/>
            <a:ext cx="211459" cy="17491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C7CACC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53127" y="1861468"/>
            <a:ext cx="211459" cy="17491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C7CACC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239586" y="1861468"/>
            <a:ext cx="211459" cy="17491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C7CACC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618754" y="1861468"/>
            <a:ext cx="211459" cy="17491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C7CACC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997921" y="1861468"/>
            <a:ext cx="211459" cy="17491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C7CACC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384381" y="1861468"/>
            <a:ext cx="211459" cy="17491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C7CACC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763548" y="1861468"/>
            <a:ext cx="211459" cy="17491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C7CACC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142716" y="1861468"/>
            <a:ext cx="211459" cy="17491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C7CACC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529175" y="1861468"/>
            <a:ext cx="211459" cy="17491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C7CACC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73959" y="2080107"/>
            <a:ext cx="211459" cy="17491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C7CACC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53127" y="2080107"/>
            <a:ext cx="211459" cy="17491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C7CACC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239586" y="2080107"/>
            <a:ext cx="211459" cy="17491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C7CACC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618754" y="2080107"/>
            <a:ext cx="211459" cy="17491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C7CACC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997921" y="2080107"/>
            <a:ext cx="211459" cy="17491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C7CACC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384381" y="2080107"/>
            <a:ext cx="211459" cy="17491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C7CACC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763548" y="2080107"/>
            <a:ext cx="211459" cy="17491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C7CACC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3142716" y="2080107"/>
            <a:ext cx="211459" cy="17491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C7CACC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3529175" y="2080107"/>
            <a:ext cx="211459" cy="17491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C7CACC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473959" y="2298747"/>
            <a:ext cx="211459" cy="17491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C7CACC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53127" y="2298747"/>
            <a:ext cx="211459" cy="17491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C7CACC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239586" y="2298747"/>
            <a:ext cx="211459" cy="17491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C7CACC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618754" y="2298747"/>
            <a:ext cx="211459" cy="17491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C7CACC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997921" y="2298747"/>
            <a:ext cx="211459" cy="17491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C7CACC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2384381" y="2298747"/>
            <a:ext cx="211459" cy="17491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C7CACC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2763548" y="2298747"/>
            <a:ext cx="211459" cy="17491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C7CACC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142716" y="2298747"/>
            <a:ext cx="211459" cy="17491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C7CACC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529175" y="2298747"/>
            <a:ext cx="211459" cy="17491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C7CACC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473959" y="2517387"/>
            <a:ext cx="211459" cy="17491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C7CACC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53127" y="2517387"/>
            <a:ext cx="211459" cy="17491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C7CACC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239586" y="2517387"/>
            <a:ext cx="211459" cy="17491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C7CACC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618754" y="2517387"/>
            <a:ext cx="211459" cy="17491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C7CACC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997921" y="2517387"/>
            <a:ext cx="211459" cy="17491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C7CACC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2384381" y="2517387"/>
            <a:ext cx="211459" cy="17491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C7CACC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2763548" y="2517387"/>
            <a:ext cx="211459" cy="17491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C7CACC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142716" y="2517387"/>
            <a:ext cx="211459" cy="17491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C7CACC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529175" y="2517387"/>
            <a:ext cx="211459" cy="17491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C7CACC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290628" y="1241988"/>
            <a:ext cx="109375" cy="102032"/>
          </a:xfrm>
          <a:prstGeom prst="roundRect">
            <a:avLst/>
          </a:prstGeom>
          <a:solidFill>
            <a:srgbClr val="2E8B45"/>
          </a:solidFill>
          <a:ln w="6350">
            <a:solidFill>
              <a:srgbClr val="2E8B45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3580217" y="1241988"/>
            <a:ext cx="109375" cy="102032"/>
          </a:xfrm>
          <a:prstGeom prst="roundRect">
            <a:avLst/>
          </a:prstGeom>
          <a:solidFill>
            <a:srgbClr val="2E8B45"/>
          </a:solidFill>
          <a:ln w="6350">
            <a:solidFill>
              <a:srgbClr val="2E8B45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1290628" y="1460628"/>
            <a:ext cx="109375" cy="102032"/>
          </a:xfrm>
          <a:prstGeom prst="roundRect">
            <a:avLst/>
          </a:prstGeom>
          <a:solidFill>
            <a:srgbClr val="2E8B45"/>
          </a:solidFill>
          <a:ln w="6350">
            <a:solidFill>
              <a:srgbClr val="2E8B45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3580217" y="1460628"/>
            <a:ext cx="109375" cy="102032"/>
          </a:xfrm>
          <a:prstGeom prst="roundRect">
            <a:avLst/>
          </a:prstGeom>
          <a:solidFill>
            <a:srgbClr val="2E8B45"/>
          </a:solidFill>
          <a:ln w="6350">
            <a:solidFill>
              <a:srgbClr val="2E8B45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525001" y="1679268"/>
            <a:ext cx="109375" cy="102032"/>
          </a:xfrm>
          <a:prstGeom prst="roundRect">
            <a:avLst/>
          </a:prstGeom>
          <a:solidFill>
            <a:srgbClr val="2469C5"/>
          </a:solidFill>
          <a:ln w="6350">
            <a:solidFill>
              <a:srgbClr val="2469C5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525001" y="1897908"/>
            <a:ext cx="109375" cy="102032"/>
          </a:xfrm>
          <a:prstGeom prst="roundRect">
            <a:avLst/>
          </a:prstGeom>
          <a:solidFill>
            <a:srgbClr val="2469C5"/>
          </a:solidFill>
          <a:ln w="6350">
            <a:solidFill>
              <a:srgbClr val="2469C5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904169" y="1897908"/>
            <a:ext cx="109375" cy="102032"/>
          </a:xfrm>
          <a:prstGeom prst="roundRect">
            <a:avLst/>
          </a:prstGeom>
          <a:solidFill>
            <a:srgbClr val="2469C5"/>
          </a:solidFill>
          <a:ln w="6350">
            <a:solidFill>
              <a:srgbClr val="2469C5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2435422" y="1897908"/>
            <a:ext cx="109375" cy="102032"/>
          </a:xfrm>
          <a:prstGeom prst="roundRect">
            <a:avLst/>
          </a:prstGeom>
          <a:solidFill>
            <a:srgbClr val="E5A000"/>
          </a:solidFill>
          <a:ln w="6350">
            <a:solidFill>
              <a:srgbClr val="E5A000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3580217" y="1897908"/>
            <a:ext cx="109375" cy="102032"/>
          </a:xfrm>
          <a:prstGeom prst="roundRect">
            <a:avLst/>
          </a:prstGeom>
          <a:solidFill>
            <a:srgbClr val="F18400"/>
          </a:solidFill>
          <a:ln w="6350">
            <a:solidFill>
              <a:srgbClr val="F18400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525001" y="2116547"/>
            <a:ext cx="109375" cy="102032"/>
          </a:xfrm>
          <a:prstGeom prst="roundRect">
            <a:avLst/>
          </a:prstGeom>
          <a:solidFill>
            <a:srgbClr val="2469C5"/>
          </a:solidFill>
          <a:ln w="6350">
            <a:solidFill>
              <a:srgbClr val="2469C5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3580217" y="2116547"/>
            <a:ext cx="109375" cy="102032"/>
          </a:xfrm>
          <a:prstGeom prst="roundRect">
            <a:avLst/>
          </a:prstGeom>
          <a:solidFill>
            <a:srgbClr val="7648AB"/>
          </a:solidFill>
          <a:ln w="6350">
            <a:solidFill>
              <a:srgbClr val="7648AB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2435422" y="2335187"/>
            <a:ext cx="109375" cy="102032"/>
          </a:xfrm>
          <a:prstGeom prst="roundRect">
            <a:avLst/>
          </a:prstGeom>
          <a:solidFill>
            <a:srgbClr val="E5A000"/>
          </a:solidFill>
          <a:ln w="6350">
            <a:solidFill>
              <a:srgbClr val="E5A000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525001" y="2553827"/>
            <a:ext cx="109375" cy="102032"/>
          </a:xfrm>
          <a:prstGeom prst="roundRect">
            <a:avLst/>
          </a:prstGeom>
          <a:solidFill>
            <a:srgbClr val="2469C5"/>
          </a:solidFill>
          <a:ln w="6350">
            <a:solidFill>
              <a:srgbClr val="2469C5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904169" y="2553827"/>
            <a:ext cx="109375" cy="102032"/>
          </a:xfrm>
          <a:prstGeom prst="roundRect">
            <a:avLst/>
          </a:prstGeom>
          <a:solidFill>
            <a:srgbClr val="92D050"/>
          </a:solidFill>
          <a:ln w="6350">
            <a:solidFill>
              <a:srgbClr val="92D050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401043" y="1833557"/>
            <a:ext cx="3368758" cy="211352"/>
          </a:xfrm>
          <a:prstGeom prst="roundRect">
            <a:avLst>
              <a:gd name="adj" fmla="val 10346"/>
            </a:avLst>
          </a:prstGeom>
          <a:solidFill>
            <a:srgbClr val="FFFFFF"/>
          </a:solidFill>
          <a:ln w="9525">
            <a:solidFill>
              <a:srgbClr val="E8A13C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125" name="Shape 123"/>
          <p:cNvSpPr/>
          <p:nvPr/>
        </p:nvSpPr>
        <p:spPr>
          <a:xfrm>
            <a:off x="473959" y="1861468"/>
            <a:ext cx="211459" cy="17491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C7CACC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853127" y="1861468"/>
            <a:ext cx="211459" cy="17491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C7CACC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1239586" y="1861468"/>
            <a:ext cx="211459" cy="17491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C7CACC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1618754" y="1861468"/>
            <a:ext cx="211459" cy="17491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C7CACC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1997921" y="1861468"/>
            <a:ext cx="211459" cy="17491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C7CACC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2384381" y="1861468"/>
            <a:ext cx="211459" cy="17491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C7CACC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2763548" y="1861468"/>
            <a:ext cx="211459" cy="17491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C7CACC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3142716" y="1861468"/>
            <a:ext cx="211459" cy="17491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C7CACC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3529175" y="1861468"/>
            <a:ext cx="211459" cy="17491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C7CACC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525001" y="1897908"/>
            <a:ext cx="109375" cy="102032"/>
          </a:xfrm>
          <a:prstGeom prst="roundRect">
            <a:avLst/>
          </a:prstGeom>
          <a:solidFill>
            <a:srgbClr val="2469C5"/>
          </a:solidFill>
          <a:ln w="6350">
            <a:solidFill>
              <a:srgbClr val="2469C5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2435422" y="1897908"/>
            <a:ext cx="109375" cy="102032"/>
          </a:xfrm>
          <a:prstGeom prst="roundRect">
            <a:avLst/>
          </a:prstGeom>
          <a:solidFill>
            <a:srgbClr val="E5A000"/>
          </a:solidFill>
          <a:ln w="6350">
            <a:solidFill>
              <a:srgbClr val="E5A000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1232295" y="1198261"/>
            <a:ext cx="226042" cy="189488"/>
          </a:xfrm>
          <a:prstGeom prst="roundRect">
            <a:avLst/>
          </a:prstGeom>
          <a:solidFill>
            <a:srgbClr val="FFFFFF"/>
          </a:solidFill>
          <a:ln w="5715">
            <a:solidFill>
              <a:srgbClr val="BCDCC2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1290628" y="1023548"/>
            <a:ext cx="109375" cy="102032"/>
          </a:xfrm>
          <a:prstGeom prst="roundRect">
            <a:avLst/>
          </a:prstGeom>
          <a:solidFill>
            <a:srgbClr val="2E8B45"/>
          </a:solidFill>
          <a:ln w="6350">
            <a:solidFill>
              <a:srgbClr val="2E8B45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3521883" y="1198261"/>
            <a:ext cx="226042" cy="189488"/>
          </a:xfrm>
          <a:prstGeom prst="roundRect">
            <a:avLst/>
          </a:prstGeom>
          <a:solidFill>
            <a:srgbClr val="FFFFFF"/>
          </a:solidFill>
          <a:ln w="5715">
            <a:solidFill>
              <a:srgbClr val="BCDCC2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1232295" y="1416900"/>
            <a:ext cx="226042" cy="189488"/>
          </a:xfrm>
          <a:prstGeom prst="roundRect">
            <a:avLst/>
          </a:prstGeom>
          <a:solidFill>
            <a:srgbClr val="FFFFFF"/>
          </a:solidFill>
          <a:ln w="5715">
            <a:solidFill>
              <a:srgbClr val="BCDCC2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1290628" y="1460628"/>
            <a:ext cx="109375" cy="102032"/>
          </a:xfrm>
          <a:prstGeom prst="roundRect">
            <a:avLst/>
          </a:prstGeom>
          <a:solidFill>
            <a:srgbClr val="2E8B45"/>
          </a:solidFill>
          <a:ln w="6350">
            <a:solidFill>
              <a:srgbClr val="2E8B45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3521883" y="1416900"/>
            <a:ext cx="226042" cy="189488"/>
          </a:xfrm>
          <a:prstGeom prst="roundRect">
            <a:avLst/>
          </a:prstGeom>
          <a:solidFill>
            <a:srgbClr val="FFFFFF"/>
          </a:solidFill>
          <a:ln w="5715">
            <a:solidFill>
              <a:srgbClr val="BCDCC2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3908425" y="942975"/>
            <a:ext cx="2005330" cy="1068705"/>
          </a:xfrm>
          <a:prstGeom prst="roundRect">
            <a:avLst>
              <a:gd name="adj" fmla="val 6001"/>
            </a:avLst>
          </a:prstGeom>
          <a:solidFill>
            <a:srgbClr val="FFFFFF"/>
          </a:solidFill>
          <a:ln w="10160">
            <a:solidFill>
              <a:srgbClr val="2E8B45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4010660" y="1009015"/>
            <a:ext cx="190119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7632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Topology-new generated families</a:t>
            </a:r>
            <a:endParaRPr lang="en-US" sz="900" b="1" dirty="0">
              <a:solidFill>
                <a:srgbClr val="176329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48" name="Text 146"/>
          <p:cNvSpPr/>
          <p:nvPr/>
        </p:nvSpPr>
        <p:spPr>
          <a:xfrm>
            <a:off x="4010426" y="1198261"/>
            <a:ext cx="204167" cy="131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 lnSpcReduction="10000"/>
          </a:bodyPr>
          <a:lstStyle/>
          <a:p>
            <a:pPr marL="0" indent="0" algn="l">
              <a:buNone/>
            </a:pPr>
            <a:r>
              <a:rPr lang="en-US" sz="980" b="1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P1</a:t>
            </a:r>
            <a:endParaRPr lang="en-US" sz="980" dirty="0"/>
          </a:p>
        </p:txBody>
      </p:sp>
      <p:sp>
        <p:nvSpPr>
          <p:cNvPr id="149" name="Text 147"/>
          <p:cNvSpPr/>
          <p:nvPr/>
        </p:nvSpPr>
        <p:spPr>
          <a:xfrm>
            <a:off x="4251052" y="1198261"/>
            <a:ext cx="1509379" cy="131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 lnSpcReduction="10000"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phase + observation</a:t>
            </a:r>
            <a:endParaRPr lang="en-US" sz="950" dirty="0"/>
          </a:p>
        </p:txBody>
      </p:sp>
      <p:sp>
        <p:nvSpPr>
          <p:cNvPr id="150" name="Text 148"/>
          <p:cNvSpPr/>
          <p:nvPr/>
        </p:nvSpPr>
        <p:spPr>
          <a:xfrm>
            <a:off x="4010426" y="1434161"/>
            <a:ext cx="204167" cy="131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 lnSpcReduction="10000"/>
          </a:bodyPr>
          <a:lstStyle/>
          <a:p>
            <a:pPr marL="0" indent="0" algn="l">
              <a:buNone/>
            </a:pPr>
            <a:r>
              <a:rPr lang="en-US" sz="980" b="1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P3</a:t>
            </a:r>
            <a:endParaRPr lang="en-US" sz="980" dirty="0"/>
          </a:p>
        </p:txBody>
      </p:sp>
      <p:sp>
        <p:nvSpPr>
          <p:cNvPr id="151" name="Text 149"/>
          <p:cNvSpPr/>
          <p:nvPr/>
        </p:nvSpPr>
        <p:spPr>
          <a:xfrm>
            <a:off x="4251325" y="1367790"/>
            <a:ext cx="1647825" cy="2603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phase + separation + observation</a:t>
            </a:r>
            <a:endParaRPr lang="en-US" sz="900" dirty="0">
              <a:solidFill>
                <a:srgbClr val="111111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56" name="Shape 154"/>
          <p:cNvSpPr/>
          <p:nvPr/>
        </p:nvSpPr>
        <p:spPr>
          <a:xfrm>
            <a:off x="3908342" y="2058244"/>
            <a:ext cx="2005213" cy="677783"/>
          </a:xfrm>
          <a:prstGeom prst="roundRect">
            <a:avLst>
              <a:gd name="adj" fmla="val 9943"/>
            </a:avLst>
          </a:prstGeom>
          <a:solidFill>
            <a:srgbClr val="FFFFFF"/>
          </a:solidFill>
          <a:ln w="10160">
            <a:solidFill>
              <a:srgbClr val="E5A000"/>
            </a:solidFill>
            <a:prstDash val="solid"/>
          </a:ln>
        </p:spPr>
      </p:sp>
      <p:sp>
        <p:nvSpPr>
          <p:cNvPr id="157" name="Text 155"/>
          <p:cNvSpPr/>
          <p:nvPr/>
        </p:nvSpPr>
        <p:spPr>
          <a:xfrm>
            <a:off x="4010426" y="2116547"/>
            <a:ext cx="1750004" cy="2769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5A0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Registered topology,</a:t>
            </a:r>
            <a:endParaRPr lang="en-US" sz="900" dirty="0">
              <a:solidFill>
                <a:srgbClr val="E5A000"/>
              </a:solidFill>
            </a:endParaRPr>
          </a:p>
          <a:p>
            <a:pPr marL="0" indent="0" algn="l">
              <a:buNone/>
            </a:pPr>
            <a:r>
              <a:rPr lang="en-US" sz="900" b="1" dirty="0">
                <a:solidFill>
                  <a:srgbClr val="E5A0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identity-new (distillation)</a:t>
            </a:r>
            <a:endParaRPr lang="en-US" sz="900" b="1" dirty="0">
              <a:solidFill>
                <a:srgbClr val="E5A00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58" name="Text 156"/>
          <p:cNvSpPr/>
          <p:nvPr/>
        </p:nvSpPr>
        <p:spPr>
          <a:xfrm>
            <a:off x="4010426" y="2444507"/>
            <a:ext cx="204167" cy="131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 lnSpcReduction="10000"/>
          </a:bodyPr>
          <a:lstStyle/>
          <a:p>
            <a:pPr marL="0" indent="0" algn="l">
              <a:buNone/>
            </a:pPr>
            <a:r>
              <a:rPr lang="en-US" sz="980" b="1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P5</a:t>
            </a:r>
            <a:endParaRPr lang="en-US" sz="980" dirty="0"/>
          </a:p>
        </p:txBody>
      </p:sp>
      <p:sp>
        <p:nvSpPr>
          <p:cNvPr id="159" name="Text 157"/>
          <p:cNvSpPr/>
          <p:nvPr/>
        </p:nvSpPr>
        <p:spPr>
          <a:xfrm>
            <a:off x="4251052" y="2415355"/>
            <a:ext cx="1531254" cy="2915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reaction–thermal–distillation–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observation</a:t>
            </a:r>
            <a:endParaRPr lang="en-US" sz="900" dirty="0"/>
          </a:p>
        </p:txBody>
      </p:sp>
      <p:sp>
        <p:nvSpPr>
          <p:cNvPr id="160" name="Shape 158"/>
          <p:cNvSpPr/>
          <p:nvPr/>
        </p:nvSpPr>
        <p:spPr>
          <a:xfrm>
            <a:off x="357293" y="2830771"/>
            <a:ext cx="5264596" cy="386264"/>
          </a:xfrm>
          <a:prstGeom prst="roundRect">
            <a:avLst/>
          </a:prstGeom>
          <a:solidFill>
            <a:srgbClr val="FFFFFF"/>
          </a:solidFill>
          <a:ln w="10160">
            <a:solidFill>
              <a:schemeClr val="bg1">
                <a:lumMod val="50000"/>
              </a:schemeClr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634365" y="2874010"/>
            <a:ext cx="4681220" cy="33083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20000"/>
          </a:bodyPr>
          <a:lstStyle/>
          <a:p>
            <a:pPr marL="0" indent="0" algn="ctr">
              <a:buNone/>
            </a:pPr>
            <a:r>
              <a:rPr lang="en-US" sz="1090" b="1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52 generated compositions = </a:t>
            </a:r>
            <a:r>
              <a:rPr lang="en-US" sz="1090" b="1" dirty="0">
                <a:solidFill>
                  <a:srgbClr val="17632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18 topology-new</a:t>
            </a:r>
            <a:r>
              <a:rPr lang="en-US" sz="1090" b="1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 +  </a:t>
            </a:r>
            <a:r>
              <a:rPr lang="en-US" sz="1100" b="1" dirty="0">
                <a:solidFill>
                  <a:srgbClr val="E5A0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8 identity-new distillation</a:t>
            </a:r>
            <a:r>
              <a:rPr lang="en-US" sz="1100" b="1" dirty="0">
                <a:solidFill>
                  <a:srgbClr val="9465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</a:t>
            </a:r>
            <a:r>
              <a:rPr lang="en-US" sz="1090" b="1" dirty="0">
                <a:solidFill>
                  <a:srgbClr val="103C7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  <a:sym typeface="+mn-ea"/>
              </a:rPr>
              <a:t>+  26 additional registered-topology coverage rows</a:t>
            </a:r>
            <a:endParaRPr lang="en-US" sz="1090" dirty="0"/>
          </a:p>
        </p:txBody>
      </p:sp>
      <p:sp>
        <p:nvSpPr>
          <p:cNvPr id="165" name="Text 163"/>
          <p:cNvSpPr/>
          <p:nvPr/>
        </p:nvSpPr>
        <p:spPr>
          <a:xfrm>
            <a:off x="6189179" y="505872"/>
            <a:ext cx="4375010" cy="2040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B. Topology novelty vs. world-identity novelty</a:t>
            </a:r>
            <a:endParaRPr lang="en-US" sz="1300" dirty="0"/>
          </a:p>
        </p:txBody>
      </p:sp>
      <p:sp>
        <p:nvSpPr>
          <p:cNvPr id="167" name="Shape 165"/>
          <p:cNvSpPr/>
          <p:nvPr/>
        </p:nvSpPr>
        <p:spPr>
          <a:xfrm>
            <a:off x="6912758" y="2798434"/>
            <a:ext cx="4936470" cy="0"/>
          </a:xfrm>
          <a:prstGeom prst="line">
            <a:avLst/>
          </a:prstGeom>
          <a:noFill/>
          <a:ln w="12065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168" name="Shape 166"/>
          <p:cNvSpPr/>
          <p:nvPr/>
        </p:nvSpPr>
        <p:spPr>
          <a:xfrm>
            <a:off x="6912758" y="1850995"/>
            <a:ext cx="4885428" cy="0"/>
          </a:xfrm>
          <a:prstGeom prst="line">
            <a:avLst/>
          </a:prstGeom>
          <a:noFill/>
          <a:ln w="10160">
            <a:solidFill>
              <a:srgbClr val="666A6E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9486900" y="892175"/>
            <a:ext cx="635" cy="1906270"/>
          </a:xfrm>
          <a:prstGeom prst="line">
            <a:avLst/>
          </a:prstGeom>
          <a:noFill/>
          <a:ln w="10160">
            <a:solidFill>
              <a:srgbClr val="666A6E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6138545" y="830580"/>
            <a:ext cx="701040" cy="37909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new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identity</a:t>
            </a:r>
            <a:endParaRPr lang="en-US" sz="1000" dirty="0"/>
          </a:p>
        </p:txBody>
      </p:sp>
      <p:sp>
        <p:nvSpPr>
          <p:cNvPr id="171" name="Text 169"/>
          <p:cNvSpPr/>
          <p:nvPr/>
        </p:nvSpPr>
        <p:spPr>
          <a:xfrm>
            <a:off x="6139796" y="1595841"/>
            <a:ext cx="700002" cy="58303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 algn="ctr">
              <a:buNone/>
            </a:pPr>
            <a:r>
              <a:rPr lang="en-US" sz="1160" b="1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task/world</a:t>
            </a:r>
            <a:endParaRPr lang="en-US" sz="1160" dirty="0"/>
          </a:p>
          <a:p>
            <a:pPr marL="0" indent="0" algn="ctr">
              <a:buNone/>
            </a:pPr>
            <a:r>
              <a:rPr lang="en-US" sz="1160" b="1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identity</a:t>
            </a:r>
            <a:endParaRPr lang="en-US" sz="1160" dirty="0"/>
          </a:p>
          <a:p>
            <a:pPr marL="0" indent="0" algn="ctr">
              <a:buNone/>
            </a:pPr>
            <a:r>
              <a:rPr lang="en-US" sz="1160" b="1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novelty</a:t>
            </a:r>
            <a:endParaRPr lang="en-US" sz="1160" dirty="0"/>
          </a:p>
        </p:txBody>
      </p:sp>
      <p:sp>
        <p:nvSpPr>
          <p:cNvPr id="172" name="Text 170"/>
          <p:cNvSpPr/>
          <p:nvPr/>
        </p:nvSpPr>
        <p:spPr>
          <a:xfrm>
            <a:off x="6158230" y="2484755"/>
            <a:ext cx="681355" cy="31369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reference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overlap</a:t>
            </a:r>
            <a:endParaRPr lang="en-US" sz="1000" dirty="0">
              <a:solidFill>
                <a:srgbClr val="111111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73" name="Text 171"/>
          <p:cNvSpPr/>
          <p:nvPr/>
        </p:nvSpPr>
        <p:spPr>
          <a:xfrm>
            <a:off x="6912015" y="2878747"/>
            <a:ext cx="1276045" cy="160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registered topology</a:t>
            </a:r>
            <a:endParaRPr lang="en-US" sz="950" dirty="0"/>
          </a:p>
        </p:txBody>
      </p:sp>
      <p:sp>
        <p:nvSpPr>
          <p:cNvPr id="174" name="Text 172"/>
          <p:cNvSpPr/>
          <p:nvPr/>
        </p:nvSpPr>
        <p:spPr>
          <a:xfrm>
            <a:off x="10857866" y="2878747"/>
            <a:ext cx="875002" cy="160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new topology</a:t>
            </a:r>
            <a:endParaRPr lang="en-US" sz="950" dirty="0"/>
          </a:p>
        </p:txBody>
      </p:sp>
      <p:sp>
        <p:nvSpPr>
          <p:cNvPr id="175" name="Text 173"/>
          <p:cNvSpPr/>
          <p:nvPr/>
        </p:nvSpPr>
        <p:spPr>
          <a:xfrm>
            <a:off x="8677035" y="2841685"/>
            <a:ext cx="1604170" cy="19677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topology novelty</a:t>
            </a:r>
            <a:endParaRPr lang="en-US" sz="1000" b="1" dirty="0">
              <a:solidFill>
                <a:srgbClr val="111111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76" name="Shape 174"/>
          <p:cNvSpPr/>
          <p:nvPr/>
        </p:nvSpPr>
        <p:spPr>
          <a:xfrm>
            <a:off x="8411845" y="932180"/>
            <a:ext cx="922020" cy="83883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469C5"/>
            </a:solidFill>
            <a:prstDash val="solid"/>
          </a:ln>
        </p:spPr>
      </p:sp>
      <p:sp>
        <p:nvSpPr>
          <p:cNvPr id="179" name="Text 177"/>
          <p:cNvSpPr/>
          <p:nvPr/>
        </p:nvSpPr>
        <p:spPr>
          <a:xfrm>
            <a:off x="8411845" y="1034415"/>
            <a:ext cx="959485" cy="6267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3C7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26 registered-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03C7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topology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03C7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generated rows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03C7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used for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03C7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coverage</a:t>
            </a:r>
            <a:endParaRPr lang="en-US" sz="900" b="1" dirty="0">
              <a:solidFill>
                <a:srgbClr val="103C7B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80" name="Shape 178"/>
          <p:cNvSpPr/>
          <p:nvPr/>
        </p:nvSpPr>
        <p:spPr>
          <a:xfrm>
            <a:off x="7496219" y="2004198"/>
            <a:ext cx="1451045" cy="670495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9A9DA0"/>
            </a:solidFill>
            <a:prstDash val="solid"/>
          </a:ln>
        </p:spPr>
      </p:sp>
      <p:sp>
        <p:nvSpPr>
          <p:cNvPr id="181" name="Text 179"/>
          <p:cNvSpPr/>
          <p:nvPr/>
        </p:nvSpPr>
        <p:spPr>
          <a:xfrm>
            <a:off x="7620177" y="2142670"/>
            <a:ext cx="1210419" cy="37897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64 reference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task–world units</a:t>
            </a:r>
            <a:endParaRPr lang="en-US" sz="1000" dirty="0"/>
          </a:p>
        </p:txBody>
      </p:sp>
      <p:sp>
        <p:nvSpPr>
          <p:cNvPr id="182" name="Shape 180"/>
          <p:cNvSpPr/>
          <p:nvPr/>
        </p:nvSpPr>
        <p:spPr>
          <a:xfrm>
            <a:off x="9792970" y="939800"/>
            <a:ext cx="1665605" cy="83121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E8B45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9954938" y="1147700"/>
            <a:ext cx="1341670" cy="4154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632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18 topology-new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7632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generated worlds</a:t>
            </a:r>
            <a:endParaRPr lang="en-US" sz="1000" b="1" dirty="0">
              <a:solidFill>
                <a:srgbClr val="176329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87" name="Text 185"/>
          <p:cNvSpPr/>
          <p:nvPr/>
        </p:nvSpPr>
        <p:spPr>
          <a:xfrm>
            <a:off x="195566" y="3342097"/>
            <a:ext cx="4083343" cy="2040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C. What actually varies in generated worlds</a:t>
            </a:r>
            <a:endParaRPr lang="en-US" sz="1300" dirty="0"/>
          </a:p>
        </p:txBody>
      </p:sp>
      <p:sp>
        <p:nvSpPr>
          <p:cNvPr id="188" name="Shape 186"/>
          <p:cNvSpPr/>
          <p:nvPr/>
        </p:nvSpPr>
        <p:spPr>
          <a:xfrm>
            <a:off x="167005" y="3754755"/>
            <a:ext cx="5744845" cy="349885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2469C5"/>
            </a:solidFill>
            <a:prstDash val="solid"/>
          </a:ln>
        </p:spPr>
      </p:sp>
      <p:sp>
        <p:nvSpPr>
          <p:cNvPr id="189" name="Text 187"/>
          <p:cNvSpPr/>
          <p:nvPr/>
        </p:nvSpPr>
        <p:spPr>
          <a:xfrm>
            <a:off x="200577" y="3790980"/>
            <a:ext cx="160417" cy="174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70000"/>
          </a:bodyPr>
          <a:lstStyle/>
          <a:p>
            <a:pPr marL="0" indent="0" algn="ctr">
              <a:buNone/>
            </a:pPr>
            <a:r>
              <a:rPr lang="en-US" sz="1460" b="1" dirty="0">
                <a:solidFill>
                  <a:srgbClr val="103C7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</a:t>
            </a:r>
            <a:endParaRPr lang="en-US" sz="1460" dirty="0"/>
          </a:p>
        </p:txBody>
      </p:sp>
      <p:sp>
        <p:nvSpPr>
          <p:cNvPr id="190" name="Text 188"/>
          <p:cNvSpPr/>
          <p:nvPr/>
        </p:nvSpPr>
        <p:spPr>
          <a:xfrm>
            <a:off x="366395" y="3783965"/>
            <a:ext cx="1250950" cy="29146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3C7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reaction – thermal – observation</a:t>
            </a:r>
            <a:endParaRPr lang="en-US" sz="1000" b="1" dirty="0">
              <a:solidFill>
                <a:srgbClr val="103C7B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91" name="Shape 189"/>
          <p:cNvSpPr/>
          <p:nvPr/>
        </p:nvSpPr>
        <p:spPr>
          <a:xfrm>
            <a:off x="1712120" y="3790980"/>
            <a:ext cx="0" cy="276944"/>
          </a:xfrm>
          <a:prstGeom prst="line">
            <a:avLst/>
          </a:prstGeom>
          <a:noFill/>
          <a:ln w="8255">
            <a:solidFill>
              <a:srgbClr val="A7A9AB"/>
            </a:solidFill>
            <a:prstDash val="solid"/>
          </a:ln>
        </p:spPr>
      </p:sp>
      <p:sp>
        <p:nvSpPr>
          <p:cNvPr id="192" name="Text 190"/>
          <p:cNvSpPr/>
          <p:nvPr/>
        </p:nvSpPr>
        <p:spPr>
          <a:xfrm>
            <a:off x="1807111" y="3783692"/>
            <a:ext cx="1312503" cy="14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10" b="1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heat (K)</a:t>
            </a:r>
            <a:endParaRPr lang="en-US" sz="910" dirty="0"/>
          </a:p>
        </p:txBody>
      </p:sp>
      <p:sp>
        <p:nvSpPr>
          <p:cNvPr id="193" name="Text 191"/>
          <p:cNvSpPr/>
          <p:nvPr/>
        </p:nvSpPr>
        <p:spPr>
          <a:xfrm>
            <a:off x="3211646" y="3783692"/>
            <a:ext cx="320834" cy="14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350</a:t>
            </a:r>
            <a:endParaRPr lang="en-US" sz="900" dirty="0">
              <a:solidFill>
                <a:srgbClr val="111111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94" name="Shape 192"/>
          <p:cNvSpPr/>
          <p:nvPr/>
        </p:nvSpPr>
        <p:spPr>
          <a:xfrm>
            <a:off x="3594165" y="3856572"/>
            <a:ext cx="1144794" cy="0"/>
          </a:xfrm>
          <a:prstGeom prst="line">
            <a:avLst/>
          </a:prstGeom>
          <a:noFill/>
          <a:ln w="11430">
            <a:solidFill>
              <a:srgbClr val="2469C5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3580311" y="3842725"/>
            <a:ext cx="27708" cy="27694"/>
          </a:xfrm>
          <a:prstGeom prst="ellipse">
            <a:avLst/>
          </a:prstGeom>
          <a:solidFill>
            <a:srgbClr val="2469C5"/>
          </a:solidFill>
          <a:ln w="1905">
            <a:solidFill>
              <a:srgbClr val="2469C5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3969541" y="3842725"/>
            <a:ext cx="27708" cy="27694"/>
          </a:xfrm>
          <a:prstGeom prst="ellipse">
            <a:avLst/>
          </a:prstGeom>
          <a:solidFill>
            <a:srgbClr val="2469C5"/>
          </a:solidFill>
          <a:ln w="1905">
            <a:solidFill>
              <a:srgbClr val="2469C5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4175604" y="3842725"/>
            <a:ext cx="27708" cy="27694"/>
          </a:xfrm>
          <a:prstGeom prst="ellipse">
            <a:avLst/>
          </a:prstGeom>
          <a:solidFill>
            <a:srgbClr val="2469C5"/>
          </a:solidFill>
          <a:ln w="1905">
            <a:solidFill>
              <a:srgbClr val="2469C5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4358771" y="3842725"/>
            <a:ext cx="27708" cy="27694"/>
          </a:xfrm>
          <a:prstGeom prst="ellipse">
            <a:avLst/>
          </a:prstGeom>
          <a:solidFill>
            <a:srgbClr val="2469C5"/>
          </a:solidFill>
          <a:ln w="1905">
            <a:solidFill>
              <a:srgbClr val="2469C5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4564834" y="3842725"/>
            <a:ext cx="27708" cy="27694"/>
          </a:xfrm>
          <a:prstGeom prst="ellipse">
            <a:avLst/>
          </a:prstGeom>
          <a:solidFill>
            <a:srgbClr val="2469C5"/>
          </a:solidFill>
          <a:ln w="1905">
            <a:solidFill>
              <a:srgbClr val="2469C5"/>
            </a:solidFill>
            <a:prstDash val="solid"/>
          </a:ln>
        </p:spPr>
      </p:sp>
      <p:sp>
        <p:nvSpPr>
          <p:cNvPr id="200" name="Text 198"/>
          <p:cNvSpPr/>
          <p:nvPr/>
        </p:nvSpPr>
        <p:spPr>
          <a:xfrm>
            <a:off x="4841043" y="3783692"/>
            <a:ext cx="350001" cy="14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390</a:t>
            </a:r>
            <a:endParaRPr lang="en-US" sz="900" dirty="0">
              <a:solidFill>
                <a:srgbClr val="111111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201" name="Text 199"/>
          <p:cNvSpPr/>
          <p:nvPr/>
        </p:nvSpPr>
        <p:spPr>
          <a:xfrm>
            <a:off x="1807111" y="3929452"/>
            <a:ext cx="1312503" cy="14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10" b="1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duration (s)</a:t>
            </a:r>
            <a:endParaRPr lang="en-US" sz="910" dirty="0"/>
          </a:p>
        </p:txBody>
      </p:sp>
      <p:sp>
        <p:nvSpPr>
          <p:cNvPr id="202" name="Text 200"/>
          <p:cNvSpPr/>
          <p:nvPr/>
        </p:nvSpPr>
        <p:spPr>
          <a:xfrm>
            <a:off x="3211646" y="3929452"/>
            <a:ext cx="320834" cy="14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600</a:t>
            </a:r>
            <a:endParaRPr lang="en-US" sz="900" dirty="0">
              <a:solidFill>
                <a:srgbClr val="111111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203" name="Shape 201"/>
          <p:cNvSpPr/>
          <p:nvPr/>
        </p:nvSpPr>
        <p:spPr>
          <a:xfrm>
            <a:off x="3594165" y="4002332"/>
            <a:ext cx="1144794" cy="0"/>
          </a:xfrm>
          <a:prstGeom prst="line">
            <a:avLst/>
          </a:prstGeom>
          <a:noFill/>
          <a:ln w="11430">
            <a:solidFill>
              <a:srgbClr val="2469C5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3580311" y="3988485"/>
            <a:ext cx="27708" cy="27694"/>
          </a:xfrm>
          <a:prstGeom prst="ellipse">
            <a:avLst/>
          </a:prstGeom>
          <a:solidFill>
            <a:srgbClr val="2469C5"/>
          </a:solidFill>
          <a:ln w="1905">
            <a:solidFill>
              <a:srgbClr val="2469C5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4038229" y="3988485"/>
            <a:ext cx="27708" cy="27694"/>
          </a:xfrm>
          <a:prstGeom prst="ellipse">
            <a:avLst/>
          </a:prstGeom>
          <a:solidFill>
            <a:srgbClr val="2469C5"/>
          </a:solidFill>
          <a:ln w="1905">
            <a:solidFill>
              <a:srgbClr val="2469C5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4278635" y="3988485"/>
            <a:ext cx="27708" cy="27694"/>
          </a:xfrm>
          <a:prstGeom prst="ellipse">
            <a:avLst/>
          </a:prstGeom>
          <a:solidFill>
            <a:srgbClr val="2469C5"/>
          </a:solidFill>
          <a:ln w="1905">
            <a:solidFill>
              <a:srgbClr val="2469C5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4725105" y="3988485"/>
            <a:ext cx="27708" cy="27694"/>
          </a:xfrm>
          <a:prstGeom prst="ellipse">
            <a:avLst/>
          </a:prstGeom>
          <a:solidFill>
            <a:srgbClr val="2469C5"/>
          </a:solidFill>
          <a:ln w="1905">
            <a:solidFill>
              <a:srgbClr val="2469C5"/>
            </a:solidFill>
            <a:prstDash val="solid"/>
          </a:ln>
        </p:spPr>
      </p:sp>
      <p:sp>
        <p:nvSpPr>
          <p:cNvPr id="208" name="Text 206"/>
          <p:cNvSpPr/>
          <p:nvPr/>
        </p:nvSpPr>
        <p:spPr>
          <a:xfrm>
            <a:off x="4841043" y="3929452"/>
            <a:ext cx="350001" cy="14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1,800</a:t>
            </a:r>
            <a:endParaRPr lang="en-US" sz="900" dirty="0">
              <a:solidFill>
                <a:srgbClr val="111111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210" name="Text 208"/>
          <p:cNvSpPr/>
          <p:nvPr/>
        </p:nvSpPr>
        <p:spPr>
          <a:xfrm>
            <a:off x="200577" y="4185528"/>
            <a:ext cx="160417" cy="174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70000"/>
          </a:bodyPr>
          <a:lstStyle/>
          <a:p>
            <a:pPr marL="0" indent="0" algn="ctr">
              <a:buNone/>
            </a:pPr>
            <a:r>
              <a:rPr lang="en-US" sz="1460" b="1" dirty="0">
                <a:solidFill>
                  <a:srgbClr val="E5A0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</a:t>
            </a:r>
            <a:endParaRPr lang="en-US" sz="1460" b="1" dirty="0">
              <a:solidFill>
                <a:srgbClr val="E5A00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211" name="Text 209"/>
          <p:cNvSpPr/>
          <p:nvPr/>
        </p:nvSpPr>
        <p:spPr>
          <a:xfrm>
            <a:off x="366395" y="4178300"/>
            <a:ext cx="1250950" cy="7213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5A0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reaction – thermal – distillation –</a:t>
            </a:r>
            <a:endParaRPr lang="en-US" sz="1000" dirty="0">
              <a:solidFill>
                <a:srgbClr val="E5A000"/>
              </a:solidFill>
            </a:endParaRPr>
          </a:p>
          <a:p>
            <a:pPr marL="0" indent="0" algn="l">
              <a:buNone/>
            </a:pPr>
            <a:r>
              <a:rPr lang="en-US" sz="1000" b="1" dirty="0">
                <a:solidFill>
                  <a:srgbClr val="E5A0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observation</a:t>
            </a:r>
            <a:endParaRPr lang="en-US" sz="1000" b="1" dirty="0">
              <a:solidFill>
                <a:srgbClr val="E5A00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212" name="Shape 210"/>
          <p:cNvSpPr/>
          <p:nvPr/>
        </p:nvSpPr>
        <p:spPr>
          <a:xfrm>
            <a:off x="1712120" y="4185528"/>
            <a:ext cx="0" cy="706935"/>
          </a:xfrm>
          <a:prstGeom prst="line">
            <a:avLst/>
          </a:prstGeom>
          <a:noFill/>
          <a:ln w="8255">
            <a:solidFill>
              <a:srgbClr val="A7A9AB"/>
            </a:solidFill>
            <a:prstDash val="solid"/>
          </a:ln>
        </p:spPr>
      </p:sp>
      <p:sp>
        <p:nvSpPr>
          <p:cNvPr id="213" name="Text 211"/>
          <p:cNvSpPr/>
          <p:nvPr/>
        </p:nvSpPr>
        <p:spPr>
          <a:xfrm>
            <a:off x="1807111" y="4178240"/>
            <a:ext cx="1312503" cy="14430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10" b="1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reaction (K / s)</a:t>
            </a:r>
            <a:endParaRPr lang="en-US" sz="910" dirty="0"/>
          </a:p>
        </p:txBody>
      </p:sp>
      <p:sp>
        <p:nvSpPr>
          <p:cNvPr id="214" name="Text 212"/>
          <p:cNvSpPr/>
          <p:nvPr/>
        </p:nvSpPr>
        <p:spPr>
          <a:xfrm>
            <a:off x="3211830" y="4177665"/>
            <a:ext cx="569595" cy="1447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350 / 600</a:t>
            </a:r>
            <a:endParaRPr lang="en-US" sz="900" dirty="0">
              <a:solidFill>
                <a:srgbClr val="111111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216" name="Shape 214"/>
          <p:cNvSpPr/>
          <p:nvPr/>
        </p:nvSpPr>
        <p:spPr>
          <a:xfrm>
            <a:off x="3829231" y="4236544"/>
            <a:ext cx="27708" cy="27694"/>
          </a:xfrm>
          <a:prstGeom prst="ellipse">
            <a:avLst/>
          </a:prstGeom>
          <a:solidFill>
            <a:srgbClr val="E5A000"/>
          </a:solidFill>
          <a:ln w="1905">
            <a:solidFill>
              <a:srgbClr val="E5A000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3957565" y="4236544"/>
            <a:ext cx="27708" cy="27694"/>
          </a:xfrm>
          <a:prstGeom prst="ellipse">
            <a:avLst/>
          </a:prstGeom>
          <a:solidFill>
            <a:srgbClr val="E5A000"/>
          </a:solidFill>
          <a:ln w="1905">
            <a:solidFill>
              <a:srgbClr val="E5A000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4085898" y="4236544"/>
            <a:ext cx="27708" cy="27694"/>
          </a:xfrm>
          <a:prstGeom prst="ellipse">
            <a:avLst/>
          </a:prstGeom>
          <a:solidFill>
            <a:srgbClr val="E5A000"/>
          </a:solidFill>
          <a:ln w="1905">
            <a:solidFill>
              <a:srgbClr val="E5A000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4294440" y="4236544"/>
            <a:ext cx="27708" cy="27694"/>
          </a:xfrm>
          <a:prstGeom prst="ellipse">
            <a:avLst/>
          </a:prstGeom>
          <a:solidFill>
            <a:srgbClr val="E5A000"/>
          </a:solidFill>
          <a:ln w="1905">
            <a:solidFill>
              <a:srgbClr val="E5A000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4631316" y="4236544"/>
            <a:ext cx="27708" cy="27694"/>
          </a:xfrm>
          <a:prstGeom prst="ellipse">
            <a:avLst/>
          </a:prstGeom>
          <a:solidFill>
            <a:srgbClr val="E5A000"/>
          </a:solidFill>
          <a:ln w="1905">
            <a:solidFill>
              <a:srgbClr val="E5A000"/>
            </a:solidFill>
            <a:prstDash val="solid"/>
          </a:ln>
        </p:spPr>
      </p:sp>
      <p:sp>
        <p:nvSpPr>
          <p:cNvPr id="221" name="Text 219"/>
          <p:cNvSpPr/>
          <p:nvPr/>
        </p:nvSpPr>
        <p:spPr>
          <a:xfrm>
            <a:off x="5090160" y="4178300"/>
            <a:ext cx="690880" cy="14414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390 / 1800</a:t>
            </a:r>
            <a:endParaRPr lang="en-US" sz="900" dirty="0">
              <a:solidFill>
                <a:srgbClr val="111111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223" name="Text 221"/>
          <p:cNvSpPr/>
          <p:nvPr/>
        </p:nvSpPr>
        <p:spPr>
          <a:xfrm>
            <a:off x="1807111" y="4322542"/>
            <a:ext cx="1312503" cy="14430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10" b="1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evaporation (K / s)</a:t>
            </a:r>
            <a:endParaRPr lang="en-US" sz="910" dirty="0"/>
          </a:p>
        </p:txBody>
      </p:sp>
      <p:sp>
        <p:nvSpPr>
          <p:cNvPr id="224" name="Text 222"/>
          <p:cNvSpPr/>
          <p:nvPr/>
        </p:nvSpPr>
        <p:spPr>
          <a:xfrm>
            <a:off x="3211830" y="4322445"/>
            <a:ext cx="555625" cy="14414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325 / 300</a:t>
            </a:r>
            <a:endParaRPr lang="en-US" sz="900" dirty="0">
              <a:solidFill>
                <a:srgbClr val="111111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226" name="Shape 224"/>
          <p:cNvSpPr/>
          <p:nvPr/>
        </p:nvSpPr>
        <p:spPr>
          <a:xfrm>
            <a:off x="3829231" y="4380846"/>
            <a:ext cx="27708" cy="27694"/>
          </a:xfrm>
          <a:prstGeom prst="ellipse">
            <a:avLst/>
          </a:prstGeom>
          <a:solidFill>
            <a:srgbClr val="E5A000"/>
          </a:solidFill>
          <a:ln w="1905">
            <a:solidFill>
              <a:srgbClr val="E5A000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4085898" y="4380846"/>
            <a:ext cx="27708" cy="27694"/>
          </a:xfrm>
          <a:prstGeom prst="ellipse">
            <a:avLst/>
          </a:prstGeom>
          <a:solidFill>
            <a:srgbClr val="E5A000"/>
          </a:solidFill>
          <a:ln w="1905">
            <a:solidFill>
              <a:srgbClr val="E5A000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4302461" y="4380846"/>
            <a:ext cx="27708" cy="27694"/>
          </a:xfrm>
          <a:prstGeom prst="ellipse">
            <a:avLst/>
          </a:prstGeom>
          <a:solidFill>
            <a:srgbClr val="E5A000"/>
          </a:solidFill>
          <a:ln w="1905">
            <a:solidFill>
              <a:srgbClr val="E5A000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4414753" y="4380846"/>
            <a:ext cx="27708" cy="27694"/>
          </a:xfrm>
          <a:prstGeom prst="ellipse">
            <a:avLst/>
          </a:prstGeom>
          <a:solidFill>
            <a:srgbClr val="E5A000"/>
          </a:solidFill>
          <a:ln w="1905">
            <a:solidFill>
              <a:srgbClr val="E5A000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4631316" y="4380846"/>
            <a:ext cx="27708" cy="27694"/>
          </a:xfrm>
          <a:prstGeom prst="ellipse">
            <a:avLst/>
          </a:prstGeom>
          <a:solidFill>
            <a:srgbClr val="E5A000"/>
          </a:solidFill>
          <a:ln w="1905">
            <a:solidFill>
              <a:srgbClr val="E5A000"/>
            </a:solidFill>
            <a:prstDash val="solid"/>
          </a:ln>
        </p:spPr>
      </p:sp>
      <p:sp>
        <p:nvSpPr>
          <p:cNvPr id="231" name="Text 229"/>
          <p:cNvSpPr/>
          <p:nvPr/>
        </p:nvSpPr>
        <p:spPr>
          <a:xfrm>
            <a:off x="5090160" y="4322445"/>
            <a:ext cx="669925" cy="14414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345 / 900</a:t>
            </a:r>
            <a:endParaRPr lang="en-US" sz="900" dirty="0">
              <a:solidFill>
                <a:srgbClr val="111111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233" name="Text 231"/>
          <p:cNvSpPr/>
          <p:nvPr/>
        </p:nvSpPr>
        <p:spPr>
          <a:xfrm>
            <a:off x="1807111" y="4466844"/>
            <a:ext cx="1312503" cy="14430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10" b="1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distillation (K / s)</a:t>
            </a:r>
            <a:endParaRPr lang="en-US" sz="910" dirty="0"/>
          </a:p>
        </p:txBody>
      </p:sp>
      <p:sp>
        <p:nvSpPr>
          <p:cNvPr id="234" name="Text 232"/>
          <p:cNvSpPr/>
          <p:nvPr/>
        </p:nvSpPr>
        <p:spPr>
          <a:xfrm>
            <a:off x="3211830" y="4466590"/>
            <a:ext cx="572135" cy="14414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350 / 900</a:t>
            </a:r>
            <a:endParaRPr lang="en-US" sz="900" dirty="0">
              <a:solidFill>
                <a:srgbClr val="111111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236" name="Shape 234"/>
          <p:cNvSpPr/>
          <p:nvPr/>
        </p:nvSpPr>
        <p:spPr>
          <a:xfrm>
            <a:off x="3829231" y="4525148"/>
            <a:ext cx="27708" cy="27694"/>
          </a:xfrm>
          <a:prstGeom prst="ellipse">
            <a:avLst/>
          </a:prstGeom>
          <a:solidFill>
            <a:srgbClr val="E5A000"/>
          </a:solidFill>
          <a:ln w="1905">
            <a:solidFill>
              <a:srgbClr val="E5A000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3957565" y="4525148"/>
            <a:ext cx="27708" cy="27694"/>
          </a:xfrm>
          <a:prstGeom prst="ellipse">
            <a:avLst/>
          </a:prstGeom>
          <a:solidFill>
            <a:srgbClr val="E5A000"/>
          </a:solidFill>
          <a:ln w="1905">
            <a:solidFill>
              <a:srgbClr val="E5A000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4085898" y="4525148"/>
            <a:ext cx="27708" cy="27694"/>
          </a:xfrm>
          <a:prstGeom prst="ellipse">
            <a:avLst/>
          </a:prstGeom>
          <a:solidFill>
            <a:srgbClr val="E5A000"/>
          </a:solidFill>
          <a:ln w="1905">
            <a:solidFill>
              <a:srgbClr val="E5A000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4302461" y="4525148"/>
            <a:ext cx="27708" cy="27694"/>
          </a:xfrm>
          <a:prstGeom prst="ellipse">
            <a:avLst/>
          </a:prstGeom>
          <a:solidFill>
            <a:srgbClr val="E5A000"/>
          </a:solidFill>
          <a:ln w="1905">
            <a:solidFill>
              <a:srgbClr val="E5A000"/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4631316" y="4525148"/>
            <a:ext cx="27708" cy="27694"/>
          </a:xfrm>
          <a:prstGeom prst="ellipse">
            <a:avLst/>
          </a:prstGeom>
          <a:solidFill>
            <a:srgbClr val="E5A000"/>
          </a:solidFill>
          <a:ln w="1905">
            <a:solidFill>
              <a:srgbClr val="E5A000"/>
            </a:solidFill>
            <a:prstDash val="solid"/>
          </a:ln>
        </p:spPr>
      </p:sp>
      <p:sp>
        <p:nvSpPr>
          <p:cNvPr id="241" name="Text 239"/>
          <p:cNvSpPr/>
          <p:nvPr/>
        </p:nvSpPr>
        <p:spPr>
          <a:xfrm>
            <a:off x="5090160" y="4466590"/>
            <a:ext cx="694690" cy="14414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390 / 2400</a:t>
            </a:r>
            <a:endParaRPr lang="en-US" sz="900" dirty="0">
              <a:solidFill>
                <a:srgbClr val="111111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243" name="Text 241"/>
          <p:cNvSpPr/>
          <p:nvPr/>
        </p:nvSpPr>
        <p:spPr>
          <a:xfrm>
            <a:off x="1807111" y="4611147"/>
            <a:ext cx="1312503" cy="14430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10" b="1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reflux</a:t>
            </a:r>
            <a:endParaRPr lang="en-US" sz="910" dirty="0"/>
          </a:p>
        </p:txBody>
      </p:sp>
      <p:sp>
        <p:nvSpPr>
          <p:cNvPr id="244" name="Text 242"/>
          <p:cNvSpPr/>
          <p:nvPr/>
        </p:nvSpPr>
        <p:spPr>
          <a:xfrm>
            <a:off x="3211646" y="4611147"/>
            <a:ext cx="320834" cy="14430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1.0</a:t>
            </a:r>
            <a:endParaRPr lang="en-US" sz="900" dirty="0">
              <a:solidFill>
                <a:srgbClr val="111111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246" name="Shape 244"/>
          <p:cNvSpPr/>
          <p:nvPr/>
        </p:nvSpPr>
        <p:spPr>
          <a:xfrm>
            <a:off x="3580311" y="4669451"/>
            <a:ext cx="27708" cy="27694"/>
          </a:xfrm>
          <a:prstGeom prst="ellipse">
            <a:avLst/>
          </a:prstGeom>
          <a:solidFill>
            <a:srgbClr val="E5A000"/>
          </a:solidFill>
          <a:ln w="1905">
            <a:solidFill>
              <a:srgbClr val="E5A000"/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3915145" y="4669148"/>
            <a:ext cx="27708" cy="27694"/>
          </a:xfrm>
          <a:prstGeom prst="ellipse">
            <a:avLst/>
          </a:prstGeom>
          <a:solidFill>
            <a:srgbClr val="E5A000"/>
          </a:solidFill>
          <a:ln w="1905">
            <a:solidFill>
              <a:srgbClr val="E5A000"/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4142354" y="4669451"/>
            <a:ext cx="27708" cy="27694"/>
          </a:xfrm>
          <a:prstGeom prst="ellipse">
            <a:avLst/>
          </a:prstGeom>
          <a:solidFill>
            <a:srgbClr val="E5A000"/>
          </a:solidFill>
          <a:ln w="1905">
            <a:solidFill>
              <a:srgbClr val="E5A000"/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4393479" y="4669451"/>
            <a:ext cx="27708" cy="27694"/>
          </a:xfrm>
          <a:prstGeom prst="ellipse">
            <a:avLst/>
          </a:prstGeom>
          <a:solidFill>
            <a:srgbClr val="E5A000"/>
          </a:solidFill>
          <a:ln w="1905">
            <a:solidFill>
              <a:srgbClr val="E5A000"/>
            </a:solidFill>
            <a:prstDash val="solid"/>
          </a:ln>
        </p:spPr>
      </p:sp>
      <p:sp>
        <p:nvSpPr>
          <p:cNvPr id="250" name="Text 248"/>
          <p:cNvSpPr/>
          <p:nvPr/>
        </p:nvSpPr>
        <p:spPr>
          <a:xfrm>
            <a:off x="4841043" y="4611147"/>
            <a:ext cx="350001" cy="14430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3.0</a:t>
            </a:r>
            <a:endParaRPr lang="en-US" sz="900" dirty="0">
              <a:solidFill>
                <a:srgbClr val="111111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251" name="Text 249"/>
          <p:cNvSpPr/>
          <p:nvPr/>
        </p:nvSpPr>
        <p:spPr>
          <a:xfrm>
            <a:off x="1807111" y="4755449"/>
            <a:ext cx="1312503" cy="14430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10" b="1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transfer</a:t>
            </a:r>
            <a:endParaRPr lang="en-US" sz="910" dirty="0"/>
          </a:p>
        </p:txBody>
      </p:sp>
      <p:sp>
        <p:nvSpPr>
          <p:cNvPr id="252" name="Text 250"/>
          <p:cNvSpPr/>
          <p:nvPr/>
        </p:nvSpPr>
        <p:spPr>
          <a:xfrm>
            <a:off x="3211646" y="4755449"/>
            <a:ext cx="320834" cy="14430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0.65</a:t>
            </a:r>
            <a:endParaRPr lang="en-US" sz="900" dirty="0">
              <a:solidFill>
                <a:srgbClr val="111111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254" name="Shape 252"/>
          <p:cNvSpPr/>
          <p:nvPr/>
        </p:nvSpPr>
        <p:spPr>
          <a:xfrm>
            <a:off x="3580311" y="4836613"/>
            <a:ext cx="27708" cy="27694"/>
          </a:xfrm>
          <a:prstGeom prst="ellipse">
            <a:avLst/>
          </a:prstGeom>
          <a:solidFill>
            <a:srgbClr val="E5A000"/>
          </a:solidFill>
          <a:ln w="1905">
            <a:solidFill>
              <a:srgbClr val="E5A000"/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3843395" y="4836613"/>
            <a:ext cx="27708" cy="27694"/>
          </a:xfrm>
          <a:prstGeom prst="ellipse">
            <a:avLst/>
          </a:prstGeom>
          <a:solidFill>
            <a:srgbClr val="E5A000"/>
          </a:solidFill>
          <a:ln w="1905">
            <a:solidFill>
              <a:srgbClr val="E5A000"/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>
            <a:off x="4130396" y="4836613"/>
            <a:ext cx="27708" cy="27694"/>
          </a:xfrm>
          <a:prstGeom prst="ellipse">
            <a:avLst/>
          </a:prstGeom>
          <a:solidFill>
            <a:srgbClr val="E5A000"/>
          </a:solidFill>
          <a:ln w="1905">
            <a:solidFill>
              <a:srgbClr val="E5A000"/>
            </a:solidFill>
            <a:prstDash val="solid"/>
          </a:ln>
        </p:spPr>
      </p:sp>
      <p:sp>
        <p:nvSpPr>
          <p:cNvPr id="257" name="Text 255"/>
          <p:cNvSpPr/>
          <p:nvPr/>
        </p:nvSpPr>
        <p:spPr>
          <a:xfrm>
            <a:off x="4841043" y="4755449"/>
            <a:ext cx="350001" cy="14430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0.95</a:t>
            </a:r>
            <a:endParaRPr lang="en-US" sz="900" dirty="0">
              <a:solidFill>
                <a:srgbClr val="111111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258" name="Shape 256"/>
          <p:cNvSpPr/>
          <p:nvPr/>
        </p:nvSpPr>
        <p:spPr>
          <a:xfrm>
            <a:off x="167005" y="4973320"/>
            <a:ext cx="5744845" cy="466725"/>
          </a:xfrm>
          <a:prstGeom prst="roundRect">
            <a:avLst>
              <a:gd name="adj" fmla="val 8425"/>
            </a:avLst>
          </a:prstGeom>
          <a:solidFill>
            <a:srgbClr val="FFFFFF"/>
          </a:solidFill>
          <a:ln w="8890">
            <a:solidFill>
              <a:srgbClr val="2E8B45"/>
            </a:solidFill>
            <a:prstDash val="solid"/>
          </a:ln>
        </p:spPr>
      </p:sp>
      <p:sp>
        <p:nvSpPr>
          <p:cNvPr id="259" name="Text 257"/>
          <p:cNvSpPr/>
          <p:nvPr/>
        </p:nvSpPr>
        <p:spPr>
          <a:xfrm>
            <a:off x="200577" y="5010067"/>
            <a:ext cx="160417" cy="174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70000"/>
          </a:bodyPr>
          <a:lstStyle/>
          <a:p>
            <a:pPr marL="0" indent="0" algn="ctr">
              <a:buNone/>
            </a:pPr>
            <a:r>
              <a:rPr lang="en-US" sz="1460" b="1" dirty="0">
                <a:solidFill>
                  <a:srgbClr val="17632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3</a:t>
            </a:r>
            <a:endParaRPr lang="en-US" sz="1460" b="1" dirty="0">
              <a:solidFill>
                <a:srgbClr val="176329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260" name="Text 258"/>
          <p:cNvSpPr/>
          <p:nvPr/>
        </p:nvSpPr>
        <p:spPr>
          <a:xfrm>
            <a:off x="366395" y="5002530"/>
            <a:ext cx="1250950" cy="40830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20000"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632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reaction – thermal – flow – observation</a:t>
            </a:r>
            <a:endParaRPr lang="en-US" sz="1000" b="1" dirty="0">
              <a:solidFill>
                <a:srgbClr val="176329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261" name="Shape 259"/>
          <p:cNvSpPr/>
          <p:nvPr/>
        </p:nvSpPr>
        <p:spPr>
          <a:xfrm>
            <a:off x="1712120" y="5010067"/>
            <a:ext cx="0" cy="393552"/>
          </a:xfrm>
          <a:prstGeom prst="line">
            <a:avLst/>
          </a:prstGeom>
          <a:noFill/>
          <a:ln w="8255">
            <a:solidFill>
              <a:srgbClr val="A7A9AB"/>
            </a:solidFill>
            <a:prstDash val="solid"/>
          </a:ln>
        </p:spPr>
      </p:sp>
      <p:sp>
        <p:nvSpPr>
          <p:cNvPr id="262" name="Text 260"/>
          <p:cNvSpPr/>
          <p:nvPr/>
        </p:nvSpPr>
        <p:spPr>
          <a:xfrm>
            <a:off x="1807111" y="5002779"/>
            <a:ext cx="1312503" cy="13604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 algn="l">
              <a:buNone/>
            </a:pPr>
            <a:r>
              <a:rPr lang="en-US" sz="910" b="1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flow (mL min⁻¹)</a:t>
            </a:r>
            <a:endParaRPr lang="en-US" sz="910" dirty="0"/>
          </a:p>
        </p:txBody>
      </p:sp>
      <p:sp>
        <p:nvSpPr>
          <p:cNvPr id="263" name="Text 261"/>
          <p:cNvSpPr/>
          <p:nvPr/>
        </p:nvSpPr>
        <p:spPr>
          <a:xfrm>
            <a:off x="3211646" y="5002779"/>
            <a:ext cx="320834" cy="13604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0.5</a:t>
            </a:r>
            <a:endParaRPr lang="en-US" sz="900" dirty="0">
              <a:solidFill>
                <a:srgbClr val="111111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264" name="Shape 262"/>
          <p:cNvSpPr/>
          <p:nvPr/>
        </p:nvSpPr>
        <p:spPr>
          <a:xfrm>
            <a:off x="3594165" y="5070800"/>
            <a:ext cx="1144794" cy="0"/>
          </a:xfrm>
          <a:prstGeom prst="line">
            <a:avLst/>
          </a:prstGeom>
          <a:noFill/>
          <a:ln w="11430">
            <a:solidFill>
              <a:srgbClr val="2E8B45"/>
            </a:solidFill>
            <a:prstDash val="solid"/>
          </a:ln>
        </p:spPr>
      </p:sp>
      <p:sp>
        <p:nvSpPr>
          <p:cNvPr id="265" name="Shape 263"/>
          <p:cNvSpPr/>
          <p:nvPr/>
        </p:nvSpPr>
        <p:spPr>
          <a:xfrm>
            <a:off x="3580311" y="5056953"/>
            <a:ext cx="27708" cy="27694"/>
          </a:xfrm>
          <a:prstGeom prst="ellipse">
            <a:avLst/>
          </a:prstGeom>
          <a:solidFill>
            <a:srgbClr val="176329"/>
          </a:solidFill>
          <a:ln w="1905">
            <a:solidFill>
              <a:srgbClr val="2E8B45"/>
            </a:solidFill>
            <a:prstDash val="solid"/>
          </a:ln>
        </p:spPr>
      </p:sp>
      <p:sp>
        <p:nvSpPr>
          <p:cNvPr id="266" name="Shape 264"/>
          <p:cNvSpPr/>
          <p:nvPr/>
        </p:nvSpPr>
        <p:spPr>
          <a:xfrm>
            <a:off x="3832166" y="5056953"/>
            <a:ext cx="27708" cy="27694"/>
          </a:xfrm>
          <a:prstGeom prst="ellipse">
            <a:avLst/>
          </a:prstGeom>
          <a:solidFill>
            <a:srgbClr val="176329"/>
          </a:solidFill>
          <a:ln w="1905">
            <a:solidFill>
              <a:srgbClr val="2E8B45"/>
            </a:solidFill>
            <a:prstDash val="solid"/>
          </a:ln>
        </p:spPr>
      </p:sp>
      <p:sp>
        <p:nvSpPr>
          <p:cNvPr id="267" name="Shape 265"/>
          <p:cNvSpPr/>
          <p:nvPr/>
        </p:nvSpPr>
        <p:spPr>
          <a:xfrm>
            <a:off x="4084020" y="5056953"/>
            <a:ext cx="27708" cy="27694"/>
          </a:xfrm>
          <a:prstGeom prst="ellipse">
            <a:avLst/>
          </a:prstGeom>
          <a:solidFill>
            <a:srgbClr val="176329"/>
          </a:solidFill>
          <a:ln w="1905">
            <a:solidFill>
              <a:srgbClr val="2E8B45"/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>
            <a:off x="4335875" y="5056953"/>
            <a:ext cx="27708" cy="27694"/>
          </a:xfrm>
          <a:prstGeom prst="ellipse">
            <a:avLst/>
          </a:prstGeom>
          <a:solidFill>
            <a:srgbClr val="176329"/>
          </a:solidFill>
          <a:ln w="1905">
            <a:solidFill>
              <a:srgbClr val="2E8B45"/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>
            <a:off x="4725105" y="5056953"/>
            <a:ext cx="27708" cy="27694"/>
          </a:xfrm>
          <a:prstGeom prst="ellipse">
            <a:avLst/>
          </a:prstGeom>
          <a:solidFill>
            <a:srgbClr val="176329"/>
          </a:solidFill>
          <a:ln w="1905">
            <a:solidFill>
              <a:srgbClr val="2E8B45"/>
            </a:solidFill>
            <a:prstDash val="solid"/>
          </a:ln>
        </p:spPr>
      </p:sp>
      <p:sp>
        <p:nvSpPr>
          <p:cNvPr id="270" name="Text 268"/>
          <p:cNvSpPr/>
          <p:nvPr/>
        </p:nvSpPr>
        <p:spPr>
          <a:xfrm>
            <a:off x="4841043" y="5002779"/>
            <a:ext cx="350001" cy="13604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5.0</a:t>
            </a:r>
            <a:endParaRPr lang="en-US" sz="900" dirty="0">
              <a:solidFill>
                <a:srgbClr val="111111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271" name="Text 269"/>
          <p:cNvSpPr/>
          <p:nvPr/>
        </p:nvSpPr>
        <p:spPr>
          <a:xfrm>
            <a:off x="1807111" y="5138822"/>
            <a:ext cx="1312503" cy="13604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910" b="1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residence (s)</a:t>
            </a:r>
            <a:endParaRPr lang="en-US" sz="910" dirty="0"/>
          </a:p>
        </p:txBody>
      </p:sp>
      <p:sp>
        <p:nvSpPr>
          <p:cNvPr id="272" name="Text 270"/>
          <p:cNvSpPr/>
          <p:nvPr/>
        </p:nvSpPr>
        <p:spPr>
          <a:xfrm>
            <a:off x="3211646" y="5138822"/>
            <a:ext cx="320834" cy="13604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60</a:t>
            </a:r>
            <a:endParaRPr lang="en-US" sz="900" dirty="0">
              <a:solidFill>
                <a:srgbClr val="111111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273" name="Shape 271"/>
          <p:cNvSpPr/>
          <p:nvPr/>
        </p:nvSpPr>
        <p:spPr>
          <a:xfrm>
            <a:off x="3594165" y="5206843"/>
            <a:ext cx="1144794" cy="0"/>
          </a:xfrm>
          <a:prstGeom prst="line">
            <a:avLst/>
          </a:prstGeom>
          <a:noFill/>
          <a:ln w="11430">
            <a:solidFill>
              <a:srgbClr val="2E8B45"/>
            </a:solidFill>
            <a:prstDash val="solid"/>
          </a:ln>
        </p:spPr>
      </p:sp>
      <p:sp>
        <p:nvSpPr>
          <p:cNvPr id="274" name="Shape 272"/>
          <p:cNvSpPr/>
          <p:nvPr/>
        </p:nvSpPr>
        <p:spPr>
          <a:xfrm>
            <a:off x="3580311" y="5192996"/>
            <a:ext cx="27708" cy="27694"/>
          </a:xfrm>
          <a:prstGeom prst="ellipse">
            <a:avLst/>
          </a:prstGeom>
          <a:solidFill>
            <a:srgbClr val="176329"/>
          </a:solidFill>
          <a:ln w="1905">
            <a:solidFill>
              <a:srgbClr val="2E8B45"/>
            </a:solidFill>
            <a:prstDash val="solid"/>
          </a:ln>
        </p:spPr>
      </p:sp>
      <p:sp>
        <p:nvSpPr>
          <p:cNvPr id="275" name="Shape 273"/>
          <p:cNvSpPr/>
          <p:nvPr/>
        </p:nvSpPr>
        <p:spPr>
          <a:xfrm>
            <a:off x="3969541" y="5192996"/>
            <a:ext cx="27708" cy="27694"/>
          </a:xfrm>
          <a:prstGeom prst="ellipse">
            <a:avLst/>
          </a:prstGeom>
          <a:solidFill>
            <a:srgbClr val="176329"/>
          </a:solidFill>
          <a:ln w="1905">
            <a:solidFill>
              <a:srgbClr val="2E8B45"/>
            </a:solidFill>
            <a:prstDash val="solid"/>
          </a:ln>
        </p:spPr>
      </p:sp>
      <p:sp>
        <p:nvSpPr>
          <p:cNvPr id="276" name="Shape 274"/>
          <p:cNvSpPr/>
          <p:nvPr/>
        </p:nvSpPr>
        <p:spPr>
          <a:xfrm>
            <a:off x="4473250" y="5192996"/>
            <a:ext cx="27708" cy="27694"/>
          </a:xfrm>
          <a:prstGeom prst="ellipse">
            <a:avLst/>
          </a:prstGeom>
          <a:solidFill>
            <a:srgbClr val="176329"/>
          </a:solidFill>
          <a:ln w="1905">
            <a:solidFill>
              <a:srgbClr val="2E8B45"/>
            </a:solidFill>
            <a:prstDash val="solid"/>
          </a:ln>
        </p:spPr>
      </p:sp>
      <p:sp>
        <p:nvSpPr>
          <p:cNvPr id="277" name="Shape 275"/>
          <p:cNvSpPr/>
          <p:nvPr/>
        </p:nvSpPr>
        <p:spPr>
          <a:xfrm>
            <a:off x="4725105" y="5192996"/>
            <a:ext cx="27708" cy="27694"/>
          </a:xfrm>
          <a:prstGeom prst="ellipse">
            <a:avLst/>
          </a:prstGeom>
          <a:solidFill>
            <a:srgbClr val="176329"/>
          </a:solidFill>
          <a:ln w="1905">
            <a:solidFill>
              <a:srgbClr val="2E8B45"/>
            </a:solidFill>
            <a:prstDash val="solid"/>
          </a:ln>
        </p:spPr>
      </p:sp>
      <p:sp>
        <p:nvSpPr>
          <p:cNvPr id="278" name="Text 276"/>
          <p:cNvSpPr/>
          <p:nvPr/>
        </p:nvSpPr>
        <p:spPr>
          <a:xfrm>
            <a:off x="4841043" y="5138822"/>
            <a:ext cx="350001" cy="13604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600</a:t>
            </a:r>
            <a:endParaRPr lang="en-US" sz="900" dirty="0">
              <a:solidFill>
                <a:srgbClr val="111111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279" name="Text 277"/>
          <p:cNvSpPr/>
          <p:nvPr/>
        </p:nvSpPr>
        <p:spPr>
          <a:xfrm>
            <a:off x="1807111" y="5274864"/>
            <a:ext cx="1312503" cy="13604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910" b="1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temperature (K)</a:t>
            </a:r>
            <a:endParaRPr lang="en-US" sz="910" dirty="0"/>
          </a:p>
        </p:txBody>
      </p:sp>
      <p:sp>
        <p:nvSpPr>
          <p:cNvPr id="280" name="Text 278"/>
          <p:cNvSpPr/>
          <p:nvPr/>
        </p:nvSpPr>
        <p:spPr>
          <a:xfrm>
            <a:off x="3211646" y="5274864"/>
            <a:ext cx="320834" cy="13604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330</a:t>
            </a:r>
            <a:endParaRPr lang="en-US" sz="900" dirty="0">
              <a:solidFill>
                <a:srgbClr val="111111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281" name="Shape 279"/>
          <p:cNvSpPr/>
          <p:nvPr/>
        </p:nvSpPr>
        <p:spPr>
          <a:xfrm>
            <a:off x="3594165" y="5342885"/>
            <a:ext cx="1144794" cy="0"/>
          </a:xfrm>
          <a:prstGeom prst="line">
            <a:avLst/>
          </a:prstGeom>
          <a:noFill/>
          <a:ln w="11430">
            <a:solidFill>
              <a:srgbClr val="2E8B45"/>
            </a:solidFill>
            <a:prstDash val="solid"/>
          </a:ln>
        </p:spPr>
      </p:sp>
      <p:sp>
        <p:nvSpPr>
          <p:cNvPr id="282" name="Shape 280"/>
          <p:cNvSpPr/>
          <p:nvPr/>
        </p:nvSpPr>
        <p:spPr>
          <a:xfrm>
            <a:off x="3580311" y="5329038"/>
            <a:ext cx="27708" cy="27694"/>
          </a:xfrm>
          <a:prstGeom prst="ellipse">
            <a:avLst/>
          </a:prstGeom>
          <a:solidFill>
            <a:srgbClr val="176329"/>
          </a:solidFill>
          <a:ln w="1905">
            <a:solidFill>
              <a:srgbClr val="2E8B45"/>
            </a:solidFill>
            <a:prstDash val="solid"/>
          </a:ln>
        </p:spPr>
      </p:sp>
      <p:sp>
        <p:nvSpPr>
          <p:cNvPr id="283" name="Shape 281"/>
          <p:cNvSpPr/>
          <p:nvPr/>
        </p:nvSpPr>
        <p:spPr>
          <a:xfrm>
            <a:off x="4038229" y="5329038"/>
            <a:ext cx="27708" cy="27694"/>
          </a:xfrm>
          <a:prstGeom prst="ellipse">
            <a:avLst/>
          </a:prstGeom>
          <a:solidFill>
            <a:srgbClr val="176329"/>
          </a:solidFill>
          <a:ln w="1905">
            <a:solidFill>
              <a:srgbClr val="2E8B45"/>
            </a:solidFill>
            <a:prstDash val="solid"/>
          </a:ln>
        </p:spPr>
      </p:sp>
      <p:sp>
        <p:nvSpPr>
          <p:cNvPr id="284" name="Shape 282"/>
          <p:cNvSpPr/>
          <p:nvPr/>
        </p:nvSpPr>
        <p:spPr>
          <a:xfrm>
            <a:off x="4290083" y="5329038"/>
            <a:ext cx="27708" cy="27694"/>
          </a:xfrm>
          <a:prstGeom prst="ellipse">
            <a:avLst/>
          </a:prstGeom>
          <a:solidFill>
            <a:srgbClr val="176329"/>
          </a:solidFill>
          <a:ln w="1905">
            <a:solidFill>
              <a:srgbClr val="2E8B45"/>
            </a:solidFill>
            <a:prstDash val="solid"/>
          </a:ln>
        </p:spPr>
      </p:sp>
      <p:sp>
        <p:nvSpPr>
          <p:cNvPr id="285" name="Shape 283"/>
          <p:cNvSpPr/>
          <p:nvPr/>
        </p:nvSpPr>
        <p:spPr>
          <a:xfrm>
            <a:off x="4725105" y="5329038"/>
            <a:ext cx="27708" cy="27694"/>
          </a:xfrm>
          <a:prstGeom prst="ellipse">
            <a:avLst/>
          </a:prstGeom>
          <a:solidFill>
            <a:srgbClr val="176329"/>
          </a:solidFill>
          <a:ln w="1905">
            <a:solidFill>
              <a:srgbClr val="2E8B45"/>
            </a:solidFill>
            <a:prstDash val="solid"/>
          </a:ln>
        </p:spPr>
      </p:sp>
      <p:sp>
        <p:nvSpPr>
          <p:cNvPr id="286" name="Text 284"/>
          <p:cNvSpPr/>
          <p:nvPr/>
        </p:nvSpPr>
        <p:spPr>
          <a:xfrm>
            <a:off x="4841043" y="5274864"/>
            <a:ext cx="350001" cy="13604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390</a:t>
            </a:r>
            <a:endParaRPr lang="en-US" sz="900" dirty="0">
              <a:solidFill>
                <a:srgbClr val="111111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287" name="Shape 285"/>
          <p:cNvSpPr/>
          <p:nvPr/>
        </p:nvSpPr>
        <p:spPr>
          <a:xfrm>
            <a:off x="167005" y="5499100"/>
            <a:ext cx="5744845" cy="466725"/>
          </a:xfrm>
          <a:prstGeom prst="roundRect">
            <a:avLst>
              <a:gd name="adj" fmla="val 10876"/>
            </a:avLst>
          </a:prstGeom>
          <a:solidFill>
            <a:srgbClr val="FFFFFF"/>
          </a:solidFill>
          <a:ln w="8890">
            <a:solidFill>
              <a:srgbClr val="2469C5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288" name="Text 286"/>
          <p:cNvSpPr/>
          <p:nvPr/>
        </p:nvSpPr>
        <p:spPr>
          <a:xfrm>
            <a:off x="200577" y="5535798"/>
            <a:ext cx="160417" cy="174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70000"/>
          </a:bodyPr>
          <a:lstStyle/>
          <a:p>
            <a:pPr marL="0" indent="0" algn="ctr">
              <a:buNone/>
            </a:pPr>
            <a:r>
              <a:rPr lang="en-US" sz="1460" b="1" dirty="0">
                <a:solidFill>
                  <a:srgbClr val="103C7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4</a:t>
            </a:r>
            <a:endParaRPr lang="en-US" sz="1460" b="1" dirty="0">
              <a:solidFill>
                <a:srgbClr val="103C7B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289" name="Text 287"/>
          <p:cNvSpPr/>
          <p:nvPr/>
        </p:nvSpPr>
        <p:spPr>
          <a:xfrm>
            <a:off x="366395" y="5528310"/>
            <a:ext cx="1250950" cy="40830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 lnSpcReduction="10000"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3C7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reaction – electrochemistry – </a:t>
            </a:r>
            <a:endParaRPr lang="en-US" sz="1000" dirty="0">
              <a:solidFill>
                <a:srgbClr val="103C7B"/>
              </a:solidFill>
            </a:endParaRPr>
          </a:p>
          <a:p>
            <a:pPr marL="0" indent="0" algn="l">
              <a:buNone/>
            </a:pPr>
            <a:r>
              <a:rPr lang="en-US" sz="1000" b="1" dirty="0">
                <a:solidFill>
                  <a:srgbClr val="103C7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observation</a:t>
            </a:r>
            <a:endParaRPr lang="en-US" sz="1000" b="1" dirty="0">
              <a:solidFill>
                <a:srgbClr val="103C7B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290" name="Shape 288"/>
          <p:cNvSpPr/>
          <p:nvPr/>
        </p:nvSpPr>
        <p:spPr>
          <a:xfrm>
            <a:off x="1712120" y="5535798"/>
            <a:ext cx="0" cy="393552"/>
          </a:xfrm>
          <a:prstGeom prst="line">
            <a:avLst/>
          </a:prstGeom>
          <a:noFill/>
          <a:ln w="8255">
            <a:solidFill>
              <a:srgbClr val="A7A9AB"/>
            </a:solidFill>
            <a:prstDash val="solid"/>
          </a:ln>
        </p:spPr>
      </p:sp>
      <p:sp>
        <p:nvSpPr>
          <p:cNvPr id="291" name="Text 289"/>
          <p:cNvSpPr/>
          <p:nvPr/>
        </p:nvSpPr>
        <p:spPr>
          <a:xfrm>
            <a:off x="1807111" y="5528510"/>
            <a:ext cx="1312503" cy="13604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910" b="1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potential (V)</a:t>
            </a:r>
            <a:endParaRPr lang="en-US" sz="910" dirty="0"/>
          </a:p>
        </p:txBody>
      </p:sp>
      <p:sp>
        <p:nvSpPr>
          <p:cNvPr id="292" name="Text 290"/>
          <p:cNvSpPr/>
          <p:nvPr/>
        </p:nvSpPr>
        <p:spPr>
          <a:xfrm>
            <a:off x="3211646" y="5528510"/>
            <a:ext cx="320834" cy="13604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0.5</a:t>
            </a:r>
            <a:endParaRPr lang="en-US" sz="900" dirty="0">
              <a:solidFill>
                <a:srgbClr val="111111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293" name="Shape 291"/>
          <p:cNvSpPr/>
          <p:nvPr/>
        </p:nvSpPr>
        <p:spPr>
          <a:xfrm>
            <a:off x="3594165" y="5596532"/>
            <a:ext cx="1144794" cy="0"/>
          </a:xfrm>
          <a:prstGeom prst="line">
            <a:avLst/>
          </a:prstGeom>
          <a:solidFill>
            <a:srgbClr val="2469C5"/>
          </a:solidFill>
          <a:ln w="11430">
            <a:solidFill>
              <a:srgbClr val="2469C5"/>
            </a:solidFill>
            <a:prstDash val="solid"/>
          </a:ln>
        </p:spPr>
      </p:sp>
      <p:sp>
        <p:nvSpPr>
          <p:cNvPr id="294" name="Shape 292"/>
          <p:cNvSpPr/>
          <p:nvPr/>
        </p:nvSpPr>
        <p:spPr>
          <a:xfrm>
            <a:off x="3580311" y="5582684"/>
            <a:ext cx="27708" cy="27694"/>
          </a:xfrm>
          <a:prstGeom prst="ellipse">
            <a:avLst/>
          </a:prstGeom>
          <a:solidFill>
            <a:srgbClr val="2469C5"/>
          </a:solidFill>
          <a:ln w="1905">
            <a:solidFill>
              <a:srgbClr val="2469C5"/>
            </a:solidFill>
            <a:prstDash val="solid"/>
          </a:ln>
        </p:spPr>
      </p:sp>
      <p:sp>
        <p:nvSpPr>
          <p:cNvPr id="295" name="Shape 293"/>
          <p:cNvSpPr/>
          <p:nvPr/>
        </p:nvSpPr>
        <p:spPr>
          <a:xfrm>
            <a:off x="3969541" y="5582684"/>
            <a:ext cx="27708" cy="27694"/>
          </a:xfrm>
          <a:prstGeom prst="ellipse">
            <a:avLst/>
          </a:prstGeom>
          <a:solidFill>
            <a:srgbClr val="2469C5"/>
          </a:solidFill>
          <a:ln w="1905">
            <a:solidFill>
              <a:srgbClr val="2469C5"/>
            </a:solidFill>
            <a:prstDash val="solid"/>
          </a:ln>
        </p:spPr>
      </p:sp>
      <p:sp>
        <p:nvSpPr>
          <p:cNvPr id="296" name="Shape 294"/>
          <p:cNvSpPr/>
          <p:nvPr/>
        </p:nvSpPr>
        <p:spPr>
          <a:xfrm>
            <a:off x="4324427" y="5582684"/>
            <a:ext cx="27708" cy="27694"/>
          </a:xfrm>
          <a:prstGeom prst="ellipse">
            <a:avLst/>
          </a:prstGeom>
          <a:solidFill>
            <a:srgbClr val="2469C5"/>
          </a:solidFill>
          <a:ln w="1905">
            <a:solidFill>
              <a:srgbClr val="2469C5"/>
            </a:solidFill>
            <a:prstDash val="solid"/>
          </a:ln>
        </p:spPr>
      </p:sp>
      <p:sp>
        <p:nvSpPr>
          <p:cNvPr id="297" name="Shape 295"/>
          <p:cNvSpPr/>
          <p:nvPr/>
        </p:nvSpPr>
        <p:spPr>
          <a:xfrm>
            <a:off x="4725105" y="5582684"/>
            <a:ext cx="27708" cy="27694"/>
          </a:xfrm>
          <a:prstGeom prst="ellipse">
            <a:avLst/>
          </a:prstGeom>
          <a:solidFill>
            <a:srgbClr val="2469C5"/>
          </a:solidFill>
          <a:ln w="1905">
            <a:solidFill>
              <a:srgbClr val="2469C5"/>
            </a:solidFill>
            <a:prstDash val="solid"/>
          </a:ln>
        </p:spPr>
      </p:sp>
      <p:sp>
        <p:nvSpPr>
          <p:cNvPr id="298" name="Text 296"/>
          <p:cNvSpPr/>
          <p:nvPr/>
        </p:nvSpPr>
        <p:spPr>
          <a:xfrm>
            <a:off x="4841043" y="5528510"/>
            <a:ext cx="350001" cy="13604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1.8</a:t>
            </a:r>
            <a:endParaRPr lang="en-US" sz="900" dirty="0">
              <a:solidFill>
                <a:srgbClr val="111111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299" name="Text 297"/>
          <p:cNvSpPr/>
          <p:nvPr/>
        </p:nvSpPr>
        <p:spPr>
          <a:xfrm>
            <a:off x="1807111" y="5664553"/>
            <a:ext cx="1312503" cy="13604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910" b="1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current (mA)</a:t>
            </a:r>
            <a:endParaRPr lang="en-US" sz="910" dirty="0"/>
          </a:p>
        </p:txBody>
      </p:sp>
      <p:sp>
        <p:nvSpPr>
          <p:cNvPr id="300" name="Text 298"/>
          <p:cNvSpPr/>
          <p:nvPr/>
        </p:nvSpPr>
        <p:spPr>
          <a:xfrm>
            <a:off x="3211646" y="5664553"/>
            <a:ext cx="320834" cy="13604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25</a:t>
            </a:r>
            <a:endParaRPr lang="en-US" sz="900" dirty="0">
              <a:solidFill>
                <a:srgbClr val="111111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301" name="Shape 299"/>
          <p:cNvSpPr/>
          <p:nvPr/>
        </p:nvSpPr>
        <p:spPr>
          <a:xfrm>
            <a:off x="3594165" y="5732574"/>
            <a:ext cx="1144794" cy="0"/>
          </a:xfrm>
          <a:prstGeom prst="line">
            <a:avLst/>
          </a:prstGeom>
          <a:solidFill>
            <a:srgbClr val="2469C5"/>
          </a:solidFill>
          <a:ln w="11430">
            <a:solidFill>
              <a:srgbClr val="2469C5"/>
            </a:solidFill>
            <a:prstDash val="solid"/>
          </a:ln>
        </p:spPr>
      </p:sp>
      <p:sp>
        <p:nvSpPr>
          <p:cNvPr id="302" name="Shape 300"/>
          <p:cNvSpPr/>
          <p:nvPr/>
        </p:nvSpPr>
        <p:spPr>
          <a:xfrm>
            <a:off x="3580311" y="5718727"/>
            <a:ext cx="27708" cy="27694"/>
          </a:xfrm>
          <a:prstGeom prst="ellipse">
            <a:avLst/>
          </a:prstGeom>
          <a:solidFill>
            <a:srgbClr val="2469C5"/>
          </a:solidFill>
          <a:ln w="1905">
            <a:solidFill>
              <a:srgbClr val="2469C5"/>
            </a:solidFill>
            <a:prstDash val="solid"/>
          </a:ln>
        </p:spPr>
      </p:sp>
      <p:sp>
        <p:nvSpPr>
          <p:cNvPr id="303" name="Shape 301"/>
          <p:cNvSpPr/>
          <p:nvPr/>
        </p:nvSpPr>
        <p:spPr>
          <a:xfrm>
            <a:off x="3820718" y="5718727"/>
            <a:ext cx="27708" cy="27694"/>
          </a:xfrm>
          <a:prstGeom prst="ellipse">
            <a:avLst/>
          </a:prstGeom>
          <a:solidFill>
            <a:srgbClr val="2469C5"/>
          </a:solidFill>
          <a:ln w="1905">
            <a:solidFill>
              <a:srgbClr val="2469C5"/>
            </a:solidFill>
            <a:prstDash val="solid"/>
          </a:ln>
        </p:spPr>
      </p:sp>
      <p:sp>
        <p:nvSpPr>
          <p:cNvPr id="304" name="Shape 302"/>
          <p:cNvSpPr/>
          <p:nvPr/>
        </p:nvSpPr>
        <p:spPr>
          <a:xfrm>
            <a:off x="4106916" y="5718727"/>
            <a:ext cx="27708" cy="27694"/>
          </a:xfrm>
          <a:prstGeom prst="ellipse">
            <a:avLst/>
          </a:prstGeom>
          <a:solidFill>
            <a:srgbClr val="2469C5"/>
          </a:solidFill>
          <a:ln w="1905">
            <a:solidFill>
              <a:srgbClr val="2469C5"/>
            </a:solidFill>
            <a:prstDash val="solid"/>
          </a:ln>
        </p:spPr>
      </p:sp>
      <p:sp>
        <p:nvSpPr>
          <p:cNvPr id="305" name="Shape 303"/>
          <p:cNvSpPr/>
          <p:nvPr/>
        </p:nvSpPr>
        <p:spPr>
          <a:xfrm>
            <a:off x="4484698" y="5718727"/>
            <a:ext cx="27708" cy="27694"/>
          </a:xfrm>
          <a:prstGeom prst="ellipse">
            <a:avLst/>
          </a:prstGeom>
          <a:solidFill>
            <a:srgbClr val="2469C5"/>
          </a:solidFill>
          <a:ln w="1905">
            <a:solidFill>
              <a:srgbClr val="2469C5"/>
            </a:solidFill>
            <a:prstDash val="solid"/>
          </a:ln>
        </p:spPr>
      </p:sp>
      <p:sp>
        <p:nvSpPr>
          <p:cNvPr id="306" name="Shape 304"/>
          <p:cNvSpPr/>
          <p:nvPr/>
        </p:nvSpPr>
        <p:spPr>
          <a:xfrm>
            <a:off x="4725105" y="5718727"/>
            <a:ext cx="27708" cy="27694"/>
          </a:xfrm>
          <a:prstGeom prst="ellipse">
            <a:avLst/>
          </a:prstGeom>
          <a:solidFill>
            <a:srgbClr val="2469C5"/>
          </a:solidFill>
          <a:ln w="1905">
            <a:solidFill>
              <a:srgbClr val="2469C5"/>
            </a:solidFill>
            <a:prstDash val="solid"/>
          </a:ln>
        </p:spPr>
      </p:sp>
      <p:sp>
        <p:nvSpPr>
          <p:cNvPr id="307" name="Text 305"/>
          <p:cNvSpPr/>
          <p:nvPr/>
        </p:nvSpPr>
        <p:spPr>
          <a:xfrm>
            <a:off x="4841043" y="5664553"/>
            <a:ext cx="350001" cy="13604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150</a:t>
            </a:r>
            <a:endParaRPr lang="en-US" sz="900" dirty="0">
              <a:solidFill>
                <a:srgbClr val="111111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308" name="Text 306"/>
          <p:cNvSpPr/>
          <p:nvPr/>
        </p:nvSpPr>
        <p:spPr>
          <a:xfrm>
            <a:off x="1807111" y="5800595"/>
            <a:ext cx="1312503" cy="13604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910" b="1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electrolysis (s)</a:t>
            </a:r>
            <a:endParaRPr lang="en-US" sz="910" dirty="0"/>
          </a:p>
        </p:txBody>
      </p:sp>
      <p:sp>
        <p:nvSpPr>
          <p:cNvPr id="309" name="Text 307"/>
          <p:cNvSpPr/>
          <p:nvPr/>
        </p:nvSpPr>
        <p:spPr>
          <a:xfrm>
            <a:off x="3211646" y="5800595"/>
            <a:ext cx="320834" cy="13604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300</a:t>
            </a:r>
            <a:endParaRPr lang="en-US" sz="900" dirty="0">
              <a:solidFill>
                <a:srgbClr val="111111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310" name="Shape 308"/>
          <p:cNvSpPr/>
          <p:nvPr/>
        </p:nvSpPr>
        <p:spPr>
          <a:xfrm>
            <a:off x="3594165" y="5868617"/>
            <a:ext cx="1144794" cy="0"/>
          </a:xfrm>
          <a:prstGeom prst="line">
            <a:avLst/>
          </a:prstGeom>
          <a:solidFill>
            <a:srgbClr val="2469C5"/>
          </a:solidFill>
          <a:ln w="11430">
            <a:solidFill>
              <a:srgbClr val="2469C5"/>
            </a:solidFill>
            <a:prstDash val="solid"/>
          </a:ln>
        </p:spPr>
      </p:sp>
      <p:sp>
        <p:nvSpPr>
          <p:cNvPr id="311" name="Shape 309"/>
          <p:cNvSpPr/>
          <p:nvPr/>
        </p:nvSpPr>
        <p:spPr>
          <a:xfrm>
            <a:off x="3580311" y="5854770"/>
            <a:ext cx="27708" cy="27694"/>
          </a:xfrm>
          <a:prstGeom prst="ellipse">
            <a:avLst/>
          </a:prstGeom>
          <a:solidFill>
            <a:srgbClr val="2469C5"/>
          </a:solidFill>
          <a:ln w="1905">
            <a:solidFill>
              <a:srgbClr val="2469C5"/>
            </a:solidFill>
            <a:prstDash val="solid"/>
          </a:ln>
        </p:spPr>
      </p:sp>
      <p:sp>
        <p:nvSpPr>
          <p:cNvPr id="312" name="Shape 310"/>
          <p:cNvSpPr/>
          <p:nvPr/>
        </p:nvSpPr>
        <p:spPr>
          <a:xfrm>
            <a:off x="4038229" y="5854770"/>
            <a:ext cx="27708" cy="27694"/>
          </a:xfrm>
          <a:prstGeom prst="ellipse">
            <a:avLst/>
          </a:prstGeom>
          <a:solidFill>
            <a:srgbClr val="2469C5"/>
          </a:solidFill>
          <a:ln w="1905">
            <a:solidFill>
              <a:srgbClr val="2469C5"/>
            </a:solidFill>
            <a:prstDash val="solid"/>
          </a:ln>
        </p:spPr>
      </p:sp>
      <p:sp>
        <p:nvSpPr>
          <p:cNvPr id="313" name="Shape 311"/>
          <p:cNvSpPr/>
          <p:nvPr/>
        </p:nvSpPr>
        <p:spPr>
          <a:xfrm>
            <a:off x="4290083" y="5854770"/>
            <a:ext cx="27708" cy="27694"/>
          </a:xfrm>
          <a:prstGeom prst="ellipse">
            <a:avLst/>
          </a:prstGeom>
          <a:solidFill>
            <a:srgbClr val="2469C5"/>
          </a:solidFill>
          <a:ln w="1905">
            <a:solidFill>
              <a:srgbClr val="2469C5"/>
            </a:solidFill>
            <a:prstDash val="solid"/>
          </a:ln>
        </p:spPr>
      </p:sp>
      <p:sp>
        <p:nvSpPr>
          <p:cNvPr id="314" name="Shape 312"/>
          <p:cNvSpPr/>
          <p:nvPr/>
        </p:nvSpPr>
        <p:spPr>
          <a:xfrm>
            <a:off x="4725105" y="5854770"/>
            <a:ext cx="27708" cy="27694"/>
          </a:xfrm>
          <a:prstGeom prst="ellipse">
            <a:avLst/>
          </a:prstGeom>
          <a:solidFill>
            <a:srgbClr val="2469C5"/>
          </a:solidFill>
          <a:ln w="1905">
            <a:solidFill>
              <a:srgbClr val="2469C5"/>
            </a:solidFill>
            <a:prstDash val="solid"/>
          </a:ln>
        </p:spPr>
      </p:sp>
      <p:sp>
        <p:nvSpPr>
          <p:cNvPr id="315" name="Text 313"/>
          <p:cNvSpPr/>
          <p:nvPr/>
        </p:nvSpPr>
        <p:spPr>
          <a:xfrm>
            <a:off x="4841043" y="5800595"/>
            <a:ext cx="350001" cy="13604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1,800</a:t>
            </a:r>
            <a:endParaRPr lang="en-US" sz="900" dirty="0">
              <a:solidFill>
                <a:srgbClr val="111111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318" name="Text 316"/>
          <p:cNvSpPr/>
          <p:nvPr/>
        </p:nvSpPr>
        <p:spPr>
          <a:xfrm>
            <a:off x="6208229" y="3340827"/>
            <a:ext cx="4375010" cy="2040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D. Composition changes the experiment surface</a:t>
            </a:r>
            <a:endParaRPr lang="en-US" sz="1300" dirty="0"/>
          </a:p>
        </p:txBody>
      </p:sp>
      <p:sp>
        <p:nvSpPr>
          <p:cNvPr id="319" name="Shape 317"/>
          <p:cNvSpPr/>
          <p:nvPr/>
        </p:nvSpPr>
        <p:spPr>
          <a:xfrm>
            <a:off x="6292088" y="3711244"/>
            <a:ext cx="2705215" cy="896423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E8B45"/>
            </a:solidFill>
            <a:prstDash val="solid"/>
          </a:ln>
        </p:spPr>
      </p:sp>
      <p:sp>
        <p:nvSpPr>
          <p:cNvPr id="321" name="Text 319"/>
          <p:cNvSpPr/>
          <p:nvPr/>
        </p:nvSpPr>
        <p:spPr>
          <a:xfrm>
            <a:off x="6736881" y="3754972"/>
            <a:ext cx="1815629" cy="167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632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phase–observation</a:t>
            </a:r>
            <a:endParaRPr lang="en-US" sz="1000" dirty="0"/>
          </a:p>
        </p:txBody>
      </p:sp>
      <p:sp>
        <p:nvSpPr>
          <p:cNvPr id="322" name="Shape 320"/>
          <p:cNvSpPr/>
          <p:nvPr/>
        </p:nvSpPr>
        <p:spPr>
          <a:xfrm>
            <a:off x="7356674" y="4017340"/>
            <a:ext cx="0" cy="502871"/>
          </a:xfrm>
          <a:prstGeom prst="line">
            <a:avLst/>
          </a:prstGeom>
          <a:noFill/>
          <a:ln w="8255">
            <a:solidFill>
              <a:srgbClr val="B0B2B4"/>
            </a:solidFill>
            <a:prstDash val="solid"/>
          </a:ln>
        </p:spPr>
      </p:sp>
      <p:sp>
        <p:nvSpPr>
          <p:cNvPr id="323" name="Shape 321"/>
          <p:cNvSpPr/>
          <p:nvPr/>
        </p:nvSpPr>
        <p:spPr>
          <a:xfrm>
            <a:off x="6379588" y="4308860"/>
            <a:ext cx="2530214" cy="0"/>
          </a:xfrm>
          <a:prstGeom prst="line">
            <a:avLst/>
          </a:prstGeom>
          <a:noFill/>
          <a:ln w="8255">
            <a:solidFill>
              <a:srgbClr val="B0B2B4"/>
            </a:solidFill>
            <a:prstDash val="solid"/>
          </a:ln>
        </p:spPr>
      </p:sp>
      <p:sp>
        <p:nvSpPr>
          <p:cNvPr id="324" name="Text 322"/>
          <p:cNvSpPr/>
          <p:nvPr/>
        </p:nvSpPr>
        <p:spPr>
          <a:xfrm>
            <a:off x="6394172" y="4039204"/>
            <a:ext cx="860419" cy="182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Workflow</a:t>
            </a:r>
            <a:endParaRPr lang="en-US" sz="1020" dirty="0"/>
          </a:p>
        </p:txBody>
      </p:sp>
      <p:sp>
        <p:nvSpPr>
          <p:cNvPr id="325" name="Text 323"/>
          <p:cNvSpPr/>
          <p:nvPr/>
        </p:nvSpPr>
        <p:spPr>
          <a:xfrm>
            <a:off x="6394172" y="4323436"/>
            <a:ext cx="933336" cy="167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0000"/>
          </a:bodyPr>
          <a:lstStyle/>
          <a:p>
            <a:pPr marL="0" indent="0" algn="l">
              <a:buNone/>
            </a:pPr>
            <a:r>
              <a:rPr lang="en-US" sz="990" b="1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Public instruments</a:t>
            </a:r>
            <a:endParaRPr lang="en-US" sz="990" dirty="0"/>
          </a:p>
        </p:txBody>
      </p:sp>
      <p:sp>
        <p:nvSpPr>
          <p:cNvPr id="326" name="Text 324"/>
          <p:cNvSpPr/>
          <p:nvPr/>
        </p:nvSpPr>
        <p:spPr>
          <a:xfrm>
            <a:off x="7436882" y="4017340"/>
            <a:ext cx="1480212" cy="2915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add solvent  →  add reagent  → measure  →  terminate</a:t>
            </a:r>
            <a:endParaRPr lang="en-US" sz="900" dirty="0">
              <a:solidFill>
                <a:srgbClr val="111111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327" name="Text 325"/>
          <p:cNvSpPr/>
          <p:nvPr/>
        </p:nvSpPr>
        <p:spPr>
          <a:xfrm>
            <a:off x="7436882" y="4323436"/>
            <a:ext cx="1480212" cy="167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pH, UV–vis, final assay</a:t>
            </a:r>
            <a:endParaRPr lang="en-US" sz="900" dirty="0">
              <a:solidFill>
                <a:srgbClr val="111111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328" name="Shape 326"/>
          <p:cNvSpPr/>
          <p:nvPr/>
        </p:nvSpPr>
        <p:spPr>
          <a:xfrm>
            <a:off x="9092095" y="3711244"/>
            <a:ext cx="2829173" cy="896423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E8B45"/>
            </a:solidFill>
            <a:prstDash val="solid"/>
          </a:ln>
        </p:spPr>
      </p:sp>
      <p:sp>
        <p:nvSpPr>
          <p:cNvPr id="330" name="Text 328"/>
          <p:cNvSpPr/>
          <p:nvPr/>
        </p:nvSpPr>
        <p:spPr>
          <a:xfrm>
            <a:off x="9536888" y="3754972"/>
            <a:ext cx="1939588" cy="167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632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phase–separation–observation</a:t>
            </a:r>
            <a:endParaRPr lang="en-US" sz="1000" dirty="0"/>
          </a:p>
        </p:txBody>
      </p:sp>
      <p:sp>
        <p:nvSpPr>
          <p:cNvPr id="331" name="Shape 329"/>
          <p:cNvSpPr/>
          <p:nvPr/>
        </p:nvSpPr>
        <p:spPr>
          <a:xfrm>
            <a:off x="10156680" y="4017340"/>
            <a:ext cx="0" cy="502871"/>
          </a:xfrm>
          <a:prstGeom prst="line">
            <a:avLst/>
          </a:prstGeom>
          <a:noFill/>
          <a:ln w="8255">
            <a:solidFill>
              <a:srgbClr val="B0B2B4"/>
            </a:solidFill>
            <a:prstDash val="solid"/>
          </a:ln>
        </p:spPr>
      </p:sp>
      <p:sp>
        <p:nvSpPr>
          <p:cNvPr id="332" name="Shape 330"/>
          <p:cNvSpPr/>
          <p:nvPr/>
        </p:nvSpPr>
        <p:spPr>
          <a:xfrm>
            <a:off x="9179595" y="4308860"/>
            <a:ext cx="2654173" cy="0"/>
          </a:xfrm>
          <a:prstGeom prst="line">
            <a:avLst/>
          </a:prstGeom>
          <a:noFill/>
          <a:ln w="8255">
            <a:solidFill>
              <a:srgbClr val="B0B2B4"/>
            </a:solidFill>
            <a:prstDash val="solid"/>
          </a:ln>
        </p:spPr>
      </p:sp>
      <p:sp>
        <p:nvSpPr>
          <p:cNvPr id="333" name="Text 331"/>
          <p:cNvSpPr/>
          <p:nvPr/>
        </p:nvSpPr>
        <p:spPr>
          <a:xfrm>
            <a:off x="9194178" y="4039204"/>
            <a:ext cx="860419" cy="182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Workflow</a:t>
            </a:r>
            <a:endParaRPr lang="en-US" sz="1020" dirty="0"/>
          </a:p>
        </p:txBody>
      </p:sp>
      <p:sp>
        <p:nvSpPr>
          <p:cNvPr id="334" name="Text 332"/>
          <p:cNvSpPr/>
          <p:nvPr/>
        </p:nvSpPr>
        <p:spPr>
          <a:xfrm>
            <a:off x="9194178" y="4323436"/>
            <a:ext cx="933336" cy="167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0000"/>
          </a:bodyPr>
          <a:lstStyle/>
          <a:p>
            <a:pPr marL="0" indent="0" algn="l">
              <a:buNone/>
            </a:pPr>
            <a:r>
              <a:rPr lang="en-US" sz="990" b="1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Public instruments</a:t>
            </a:r>
            <a:endParaRPr lang="en-US" sz="990" dirty="0"/>
          </a:p>
        </p:txBody>
      </p:sp>
      <p:sp>
        <p:nvSpPr>
          <p:cNvPr id="335" name="Text 333"/>
          <p:cNvSpPr/>
          <p:nvPr/>
        </p:nvSpPr>
        <p:spPr>
          <a:xfrm>
            <a:off x="10236889" y="4017340"/>
            <a:ext cx="1604170" cy="2915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mix  →  settle  →  separate  →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wash  →  transfer</a:t>
            </a:r>
            <a:endParaRPr lang="en-US" sz="1000" dirty="0"/>
          </a:p>
        </p:txBody>
      </p:sp>
      <p:sp>
        <p:nvSpPr>
          <p:cNvPr id="336" name="Text 334"/>
          <p:cNvSpPr/>
          <p:nvPr/>
        </p:nvSpPr>
        <p:spPr>
          <a:xfrm>
            <a:off x="10236889" y="4323436"/>
            <a:ext cx="1604170" cy="167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HPLC, final assay</a:t>
            </a:r>
            <a:endParaRPr lang="en-US" sz="900" dirty="0">
              <a:solidFill>
                <a:srgbClr val="111111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337" name="Shape 335"/>
          <p:cNvSpPr/>
          <p:nvPr/>
        </p:nvSpPr>
        <p:spPr>
          <a:xfrm>
            <a:off x="6292088" y="4687835"/>
            <a:ext cx="2705215" cy="94743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E8B45"/>
            </a:solidFill>
            <a:prstDash val="solid"/>
          </a:ln>
        </p:spPr>
      </p:sp>
      <p:sp>
        <p:nvSpPr>
          <p:cNvPr id="339" name="Text 337"/>
          <p:cNvSpPr/>
          <p:nvPr/>
        </p:nvSpPr>
        <p:spPr>
          <a:xfrm>
            <a:off x="6292215" y="4731385"/>
            <a:ext cx="2707005" cy="167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7632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reaction–thermal–flow–observation</a:t>
            </a:r>
            <a:endParaRPr lang="en-US" sz="900" b="1" dirty="0">
              <a:solidFill>
                <a:srgbClr val="176329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340" name="Shape 338"/>
          <p:cNvSpPr/>
          <p:nvPr/>
        </p:nvSpPr>
        <p:spPr>
          <a:xfrm>
            <a:off x="7356674" y="4993931"/>
            <a:ext cx="0" cy="553887"/>
          </a:xfrm>
          <a:prstGeom prst="line">
            <a:avLst/>
          </a:prstGeom>
          <a:noFill/>
          <a:ln w="8255">
            <a:solidFill>
              <a:srgbClr val="B0B2B4"/>
            </a:solidFill>
            <a:prstDash val="solid"/>
          </a:ln>
        </p:spPr>
      </p:sp>
      <p:sp>
        <p:nvSpPr>
          <p:cNvPr id="341" name="Shape 339"/>
          <p:cNvSpPr/>
          <p:nvPr/>
        </p:nvSpPr>
        <p:spPr>
          <a:xfrm>
            <a:off x="6379588" y="5285451"/>
            <a:ext cx="2530214" cy="0"/>
          </a:xfrm>
          <a:prstGeom prst="line">
            <a:avLst/>
          </a:prstGeom>
          <a:noFill/>
          <a:ln w="8255">
            <a:solidFill>
              <a:srgbClr val="B0B2B4"/>
            </a:solidFill>
            <a:prstDash val="solid"/>
          </a:ln>
        </p:spPr>
      </p:sp>
      <p:sp>
        <p:nvSpPr>
          <p:cNvPr id="342" name="Text 340"/>
          <p:cNvSpPr/>
          <p:nvPr/>
        </p:nvSpPr>
        <p:spPr>
          <a:xfrm>
            <a:off x="6394172" y="5015795"/>
            <a:ext cx="860419" cy="182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Workflow</a:t>
            </a:r>
            <a:endParaRPr lang="en-US" sz="1020" dirty="0"/>
          </a:p>
        </p:txBody>
      </p:sp>
      <p:sp>
        <p:nvSpPr>
          <p:cNvPr id="343" name="Text 341"/>
          <p:cNvSpPr/>
          <p:nvPr/>
        </p:nvSpPr>
        <p:spPr>
          <a:xfrm>
            <a:off x="6394172" y="5300026"/>
            <a:ext cx="933336" cy="167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0000"/>
          </a:bodyPr>
          <a:lstStyle/>
          <a:p>
            <a:pPr marL="0" indent="0" algn="l">
              <a:buNone/>
            </a:pPr>
            <a:r>
              <a:rPr lang="en-US" sz="990" b="1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Public instruments</a:t>
            </a:r>
            <a:endParaRPr lang="en-US" sz="990" dirty="0"/>
          </a:p>
        </p:txBody>
      </p:sp>
      <p:sp>
        <p:nvSpPr>
          <p:cNvPr id="344" name="Text 342"/>
          <p:cNvSpPr/>
          <p:nvPr/>
        </p:nvSpPr>
        <p:spPr>
          <a:xfrm>
            <a:off x="7436882" y="4993931"/>
            <a:ext cx="1480212" cy="2915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set flow  →  set temperature  → run  →  sample</a:t>
            </a:r>
            <a:endParaRPr lang="en-US" sz="900" dirty="0">
              <a:solidFill>
                <a:srgbClr val="111111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345" name="Text 343"/>
          <p:cNvSpPr/>
          <p:nvPr/>
        </p:nvSpPr>
        <p:spPr>
          <a:xfrm>
            <a:off x="7436882" y="5300026"/>
            <a:ext cx="1480212" cy="167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HPLC, GC, final assay</a:t>
            </a:r>
            <a:endParaRPr lang="en-US" sz="900" dirty="0">
              <a:solidFill>
                <a:srgbClr val="111111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346" name="Shape 344"/>
          <p:cNvSpPr/>
          <p:nvPr/>
        </p:nvSpPr>
        <p:spPr>
          <a:xfrm>
            <a:off x="9092095" y="4687835"/>
            <a:ext cx="2829173" cy="94743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A000"/>
            </a:solidFill>
            <a:prstDash val="solid"/>
          </a:ln>
        </p:spPr>
      </p:sp>
      <p:sp>
        <p:nvSpPr>
          <p:cNvPr id="348" name="Text 346"/>
          <p:cNvSpPr/>
          <p:nvPr/>
        </p:nvSpPr>
        <p:spPr>
          <a:xfrm>
            <a:off x="9091930" y="4731385"/>
            <a:ext cx="2830195" cy="167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5A0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reaction–thermal–distillation–observation</a:t>
            </a:r>
            <a:endParaRPr lang="en-US" sz="1000" b="1" dirty="0">
              <a:solidFill>
                <a:srgbClr val="E5A00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349" name="Shape 347"/>
          <p:cNvSpPr/>
          <p:nvPr/>
        </p:nvSpPr>
        <p:spPr>
          <a:xfrm>
            <a:off x="10156680" y="4993931"/>
            <a:ext cx="0" cy="553887"/>
          </a:xfrm>
          <a:prstGeom prst="line">
            <a:avLst/>
          </a:prstGeom>
          <a:noFill/>
          <a:ln w="8255">
            <a:solidFill>
              <a:srgbClr val="B0B2B4"/>
            </a:solidFill>
            <a:prstDash val="solid"/>
          </a:ln>
        </p:spPr>
      </p:sp>
      <p:sp>
        <p:nvSpPr>
          <p:cNvPr id="350" name="Shape 348"/>
          <p:cNvSpPr/>
          <p:nvPr/>
        </p:nvSpPr>
        <p:spPr>
          <a:xfrm>
            <a:off x="9179595" y="5285451"/>
            <a:ext cx="2654173" cy="0"/>
          </a:xfrm>
          <a:prstGeom prst="line">
            <a:avLst/>
          </a:prstGeom>
          <a:noFill/>
          <a:ln w="8255">
            <a:solidFill>
              <a:srgbClr val="B0B2B4"/>
            </a:solidFill>
            <a:prstDash val="solid"/>
          </a:ln>
        </p:spPr>
      </p:sp>
      <p:sp>
        <p:nvSpPr>
          <p:cNvPr id="351" name="Text 349"/>
          <p:cNvSpPr/>
          <p:nvPr/>
        </p:nvSpPr>
        <p:spPr>
          <a:xfrm>
            <a:off x="9194178" y="5015795"/>
            <a:ext cx="860419" cy="182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Workflow</a:t>
            </a:r>
            <a:endParaRPr lang="en-US" sz="1020" dirty="0"/>
          </a:p>
        </p:txBody>
      </p:sp>
      <p:sp>
        <p:nvSpPr>
          <p:cNvPr id="352" name="Text 350"/>
          <p:cNvSpPr/>
          <p:nvPr/>
        </p:nvSpPr>
        <p:spPr>
          <a:xfrm>
            <a:off x="9194178" y="5300026"/>
            <a:ext cx="933336" cy="167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0000"/>
          </a:bodyPr>
          <a:lstStyle/>
          <a:p>
            <a:pPr marL="0" indent="0" algn="l">
              <a:buNone/>
            </a:pPr>
            <a:r>
              <a:rPr lang="en-US" sz="990" b="1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Public instruments</a:t>
            </a:r>
            <a:endParaRPr lang="en-US" sz="990" dirty="0"/>
          </a:p>
        </p:txBody>
      </p:sp>
      <p:sp>
        <p:nvSpPr>
          <p:cNvPr id="353" name="Text 351"/>
          <p:cNvSpPr/>
          <p:nvPr/>
        </p:nvSpPr>
        <p:spPr>
          <a:xfrm>
            <a:off x="10236889" y="4993931"/>
            <a:ext cx="1604170" cy="2915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heat  →  quench  →  evaporate  → distill  →  collect</a:t>
            </a:r>
            <a:endParaRPr lang="en-US" sz="900" dirty="0">
              <a:solidFill>
                <a:srgbClr val="111111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354" name="Text 352"/>
          <p:cNvSpPr/>
          <p:nvPr/>
        </p:nvSpPr>
        <p:spPr>
          <a:xfrm>
            <a:off x="10236889" y="5300026"/>
            <a:ext cx="1604170" cy="167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HPLC, GC, final assay</a:t>
            </a:r>
            <a:endParaRPr lang="en-US" sz="900" dirty="0">
              <a:solidFill>
                <a:srgbClr val="111111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355" name="Shape 353"/>
          <p:cNvSpPr/>
          <p:nvPr/>
        </p:nvSpPr>
        <p:spPr>
          <a:xfrm>
            <a:off x="6292088" y="5722730"/>
            <a:ext cx="5629180" cy="466431"/>
          </a:xfrm>
          <a:prstGeom prst="roundRect">
            <a:avLst/>
          </a:prstGeom>
          <a:solidFill>
            <a:srgbClr val="FFFFFF"/>
          </a:solidFill>
          <a:ln w="9525">
            <a:solidFill>
              <a:schemeClr val="bg1">
                <a:lumMod val="50000"/>
              </a:schemeClr>
            </a:solidFill>
            <a:prstDash val="solid"/>
          </a:ln>
        </p:spPr>
      </p:sp>
      <p:sp>
        <p:nvSpPr>
          <p:cNvPr id="356" name="Text 354"/>
          <p:cNvSpPr/>
          <p:nvPr/>
        </p:nvSpPr>
        <p:spPr>
          <a:xfrm>
            <a:off x="6510839" y="5793734"/>
            <a:ext cx="5191679" cy="32067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3C7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Composition changes topology, operating conditions, workflow order,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03C7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and public instrument surface under one common contract.</a:t>
            </a:r>
            <a:endParaRPr lang="en-US" sz="1100" b="1" dirty="0">
              <a:solidFill>
                <a:srgbClr val="103C7B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357" name="Shape 164"/>
          <p:cNvSpPr/>
          <p:nvPr/>
        </p:nvSpPr>
        <p:spPr>
          <a:xfrm rot="10800000">
            <a:off x="6911975" y="862965"/>
            <a:ext cx="635" cy="1935480"/>
          </a:xfrm>
          <a:prstGeom prst="line">
            <a:avLst/>
          </a:prstGeom>
          <a:noFill/>
          <a:ln w="12065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359" name="Shape 267"/>
          <p:cNvSpPr/>
          <p:nvPr/>
        </p:nvSpPr>
        <p:spPr>
          <a:xfrm>
            <a:off x="4725105" y="4668968"/>
            <a:ext cx="27708" cy="27694"/>
          </a:xfrm>
          <a:prstGeom prst="ellipse">
            <a:avLst/>
          </a:prstGeom>
          <a:solidFill>
            <a:srgbClr val="E5A000"/>
          </a:solidFill>
          <a:ln w="1905">
            <a:solidFill>
              <a:srgbClr val="E5A000"/>
            </a:solidFill>
            <a:prstDash val="solid"/>
          </a:ln>
        </p:spPr>
      </p:sp>
      <p:sp>
        <p:nvSpPr>
          <p:cNvPr id="361" name="Shape 267"/>
          <p:cNvSpPr/>
          <p:nvPr/>
        </p:nvSpPr>
        <p:spPr>
          <a:xfrm>
            <a:off x="4973390" y="4524823"/>
            <a:ext cx="27708" cy="27694"/>
          </a:xfrm>
          <a:prstGeom prst="ellipse">
            <a:avLst/>
          </a:prstGeom>
          <a:solidFill>
            <a:srgbClr val="E5A000"/>
          </a:solidFill>
          <a:ln w="1905">
            <a:solidFill>
              <a:srgbClr val="E5A000"/>
            </a:solidFill>
            <a:prstDash val="solid"/>
          </a:ln>
        </p:spPr>
        <p:txBody>
          <a:bodyPr/>
          <a:p>
            <a:endParaRPr lang="zh-CN" altLang="en-US" sz="900"/>
          </a:p>
        </p:txBody>
      </p:sp>
      <p:sp>
        <p:nvSpPr>
          <p:cNvPr id="363" name="Shape 267"/>
          <p:cNvSpPr/>
          <p:nvPr/>
        </p:nvSpPr>
        <p:spPr>
          <a:xfrm>
            <a:off x="4974025" y="4378773"/>
            <a:ext cx="27708" cy="27694"/>
          </a:xfrm>
          <a:prstGeom prst="ellipse">
            <a:avLst/>
          </a:prstGeom>
          <a:solidFill>
            <a:srgbClr val="E5A000"/>
          </a:solidFill>
          <a:ln w="1905">
            <a:solidFill>
              <a:srgbClr val="E5A000"/>
            </a:solidFill>
            <a:prstDash val="solid"/>
          </a:ln>
        </p:spPr>
        <p:txBody>
          <a:bodyPr/>
          <a:p>
            <a:endParaRPr lang="zh-CN" altLang="en-US" sz="900"/>
          </a:p>
        </p:txBody>
      </p:sp>
      <p:sp>
        <p:nvSpPr>
          <p:cNvPr id="365" name="Shape 267"/>
          <p:cNvSpPr/>
          <p:nvPr/>
        </p:nvSpPr>
        <p:spPr>
          <a:xfrm>
            <a:off x="4974660" y="4236533"/>
            <a:ext cx="27708" cy="27694"/>
          </a:xfrm>
          <a:prstGeom prst="ellipse">
            <a:avLst/>
          </a:prstGeom>
          <a:solidFill>
            <a:srgbClr val="E5A000"/>
          </a:solidFill>
          <a:ln w="1905">
            <a:solidFill>
              <a:srgbClr val="E5A000"/>
            </a:solidFill>
            <a:prstDash val="solid"/>
          </a:ln>
        </p:spPr>
        <p:txBody>
          <a:bodyPr/>
          <a:p>
            <a:endParaRPr lang="zh-CN" altLang="en-US" sz="900"/>
          </a:p>
        </p:txBody>
      </p:sp>
      <p:sp>
        <p:nvSpPr>
          <p:cNvPr id="367" name="Shape 267"/>
          <p:cNvSpPr/>
          <p:nvPr/>
        </p:nvSpPr>
        <p:spPr>
          <a:xfrm>
            <a:off x="4725105" y="4836608"/>
            <a:ext cx="27708" cy="27694"/>
          </a:xfrm>
          <a:prstGeom prst="ellipse">
            <a:avLst/>
          </a:prstGeom>
          <a:solidFill>
            <a:srgbClr val="E5A000"/>
          </a:solidFill>
          <a:ln w="1905">
            <a:solidFill>
              <a:srgbClr val="E5A000"/>
            </a:solidFill>
            <a:prstDash val="solid"/>
          </a:ln>
        </p:spPr>
        <p:txBody>
          <a:bodyPr/>
          <a:p>
            <a:endParaRPr lang="zh-CN" altLang="en-US" sz="900"/>
          </a:p>
        </p:txBody>
      </p:sp>
      <p:sp>
        <p:nvSpPr>
          <p:cNvPr id="368" name="Shape 205"/>
          <p:cNvSpPr/>
          <p:nvPr/>
        </p:nvSpPr>
        <p:spPr>
          <a:xfrm>
            <a:off x="4725740" y="3843070"/>
            <a:ext cx="27708" cy="27694"/>
          </a:xfrm>
          <a:prstGeom prst="ellipse">
            <a:avLst/>
          </a:prstGeom>
          <a:solidFill>
            <a:srgbClr val="2469C5"/>
          </a:solidFill>
          <a:ln w="1905">
            <a:solidFill>
              <a:srgbClr val="2469C5"/>
            </a:solidFill>
            <a:prstDash val="solid"/>
          </a:ln>
        </p:spPr>
      </p:sp>
      <p:sp>
        <p:nvSpPr>
          <p:cNvPr id="369" name="Shape 116"/>
          <p:cNvSpPr/>
          <p:nvPr/>
        </p:nvSpPr>
        <p:spPr>
          <a:xfrm>
            <a:off x="3580852" y="1898742"/>
            <a:ext cx="109375" cy="102032"/>
          </a:xfrm>
          <a:prstGeom prst="roundRect">
            <a:avLst/>
          </a:prstGeom>
          <a:solidFill>
            <a:srgbClr val="7648AB"/>
          </a:solidFill>
          <a:ln w="6350">
            <a:solidFill>
              <a:srgbClr val="7648AB"/>
            </a:solidFill>
            <a:prstDash val="solid"/>
          </a:ln>
        </p:spPr>
      </p:sp>
      <p:sp>
        <p:nvSpPr>
          <p:cNvPr id="370" name="Shape 116"/>
          <p:cNvSpPr/>
          <p:nvPr/>
        </p:nvSpPr>
        <p:spPr>
          <a:xfrm>
            <a:off x="3580852" y="1679667"/>
            <a:ext cx="109375" cy="102032"/>
          </a:xfrm>
          <a:prstGeom prst="roundRect">
            <a:avLst/>
          </a:prstGeom>
          <a:solidFill>
            <a:srgbClr val="7648AB"/>
          </a:solidFill>
          <a:ln w="6350">
            <a:solidFill>
              <a:srgbClr val="7648AB"/>
            </a:solidFill>
            <a:prstDash val="solid"/>
          </a:ln>
        </p:spPr>
      </p:sp>
      <p:sp>
        <p:nvSpPr>
          <p:cNvPr id="371" name="Shape 116"/>
          <p:cNvSpPr/>
          <p:nvPr/>
        </p:nvSpPr>
        <p:spPr>
          <a:xfrm>
            <a:off x="3581487" y="1461227"/>
            <a:ext cx="109375" cy="102032"/>
          </a:xfrm>
          <a:prstGeom prst="roundRect">
            <a:avLst/>
          </a:prstGeom>
          <a:solidFill>
            <a:srgbClr val="7648AB"/>
          </a:solidFill>
          <a:ln w="6350">
            <a:solidFill>
              <a:srgbClr val="7648AB"/>
            </a:solidFill>
            <a:prstDash val="solid"/>
          </a:ln>
        </p:spPr>
      </p:sp>
      <p:sp>
        <p:nvSpPr>
          <p:cNvPr id="372" name="Shape 116"/>
          <p:cNvSpPr/>
          <p:nvPr/>
        </p:nvSpPr>
        <p:spPr>
          <a:xfrm>
            <a:off x="3580852" y="1242787"/>
            <a:ext cx="109375" cy="102032"/>
          </a:xfrm>
          <a:prstGeom prst="roundRect">
            <a:avLst/>
          </a:prstGeom>
          <a:solidFill>
            <a:srgbClr val="7648AB"/>
          </a:solidFill>
          <a:ln w="6350">
            <a:solidFill>
              <a:srgbClr val="7648AB"/>
            </a:solidFill>
            <a:prstDash val="solid"/>
          </a:ln>
        </p:spPr>
      </p:sp>
      <p:sp>
        <p:nvSpPr>
          <p:cNvPr id="373" name="Shape 116"/>
          <p:cNvSpPr/>
          <p:nvPr/>
        </p:nvSpPr>
        <p:spPr>
          <a:xfrm>
            <a:off x="3580852" y="1023712"/>
            <a:ext cx="109375" cy="102032"/>
          </a:xfrm>
          <a:prstGeom prst="roundRect">
            <a:avLst/>
          </a:prstGeom>
          <a:solidFill>
            <a:srgbClr val="7648AB"/>
          </a:solidFill>
          <a:ln w="6350">
            <a:solidFill>
              <a:srgbClr val="7648AB"/>
            </a:solidFill>
            <a:prstDash val="solid"/>
          </a:ln>
        </p:spPr>
      </p:sp>
      <p:sp>
        <p:nvSpPr>
          <p:cNvPr id="374" name="Shape 116"/>
          <p:cNvSpPr/>
          <p:nvPr/>
        </p:nvSpPr>
        <p:spPr>
          <a:xfrm>
            <a:off x="3580852" y="2335622"/>
            <a:ext cx="109375" cy="102032"/>
          </a:xfrm>
          <a:prstGeom prst="roundRect">
            <a:avLst/>
          </a:prstGeom>
          <a:solidFill>
            <a:srgbClr val="7648AB"/>
          </a:solidFill>
          <a:ln w="6350">
            <a:solidFill>
              <a:srgbClr val="7648AB"/>
            </a:solidFill>
            <a:prstDash val="solid"/>
          </a:ln>
        </p:spPr>
      </p:sp>
      <p:sp>
        <p:nvSpPr>
          <p:cNvPr id="375" name="Shape 116"/>
          <p:cNvSpPr/>
          <p:nvPr/>
        </p:nvSpPr>
        <p:spPr>
          <a:xfrm>
            <a:off x="3580852" y="2554062"/>
            <a:ext cx="109375" cy="102032"/>
          </a:xfrm>
          <a:prstGeom prst="roundRect">
            <a:avLst/>
          </a:prstGeom>
          <a:solidFill>
            <a:srgbClr val="7648AB"/>
          </a:solidFill>
          <a:ln w="6350">
            <a:solidFill>
              <a:srgbClr val="7648AB"/>
            </a:solidFill>
            <a:prstDash val="solid"/>
          </a:ln>
        </p:spPr>
      </p:sp>
      <p:sp>
        <p:nvSpPr>
          <p:cNvPr id="376" name="Shape 122"/>
          <p:cNvSpPr/>
          <p:nvPr/>
        </p:nvSpPr>
        <p:spPr>
          <a:xfrm>
            <a:off x="393700" y="978535"/>
            <a:ext cx="3369310" cy="201295"/>
          </a:xfrm>
          <a:prstGeom prst="roundRect">
            <a:avLst>
              <a:gd name="adj" fmla="val 8517"/>
            </a:avLst>
          </a:prstGeom>
          <a:ln w="9525">
            <a:solidFill>
              <a:srgbClr val="176329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377" name="Shape 120"/>
          <p:cNvSpPr/>
          <p:nvPr/>
        </p:nvSpPr>
        <p:spPr>
          <a:xfrm>
            <a:off x="1290249" y="2553827"/>
            <a:ext cx="109375" cy="102032"/>
          </a:xfrm>
          <a:prstGeom prst="roundRect">
            <a:avLst/>
          </a:prstGeom>
          <a:solidFill>
            <a:srgbClr val="2E8B45"/>
          </a:solidFill>
          <a:ln w="6350">
            <a:solidFill>
              <a:srgbClr val="2E8B45"/>
            </a:solidFill>
            <a:prstDash val="solid"/>
          </a:ln>
        </p:spPr>
      </p:sp>
      <p:sp>
        <p:nvSpPr>
          <p:cNvPr id="378" name="Shape 120"/>
          <p:cNvSpPr/>
          <p:nvPr/>
        </p:nvSpPr>
        <p:spPr>
          <a:xfrm>
            <a:off x="1669979" y="2553192"/>
            <a:ext cx="109375" cy="102032"/>
          </a:xfrm>
          <a:prstGeom prst="roundRect">
            <a:avLst/>
          </a:prstGeom>
          <a:solidFill>
            <a:srgbClr val="002060"/>
          </a:solidFill>
          <a:ln w="6350">
            <a:solidFill>
              <a:srgbClr val="002060"/>
            </a:solidFill>
            <a:prstDash val="solid"/>
          </a:ln>
        </p:spPr>
      </p:sp>
      <p:sp>
        <p:nvSpPr>
          <p:cNvPr id="383" name="Shape 119"/>
          <p:cNvSpPr/>
          <p:nvPr/>
        </p:nvSpPr>
        <p:spPr>
          <a:xfrm>
            <a:off x="525001" y="2334752"/>
            <a:ext cx="109375" cy="102032"/>
          </a:xfrm>
          <a:prstGeom prst="roundRect">
            <a:avLst/>
          </a:prstGeom>
          <a:solidFill>
            <a:srgbClr val="2469C5"/>
          </a:solidFill>
          <a:ln w="6350">
            <a:solidFill>
              <a:srgbClr val="2469C5"/>
            </a:solidFill>
            <a:prstDash val="solid"/>
          </a:ln>
        </p:spPr>
      </p:sp>
      <p:sp>
        <p:nvSpPr>
          <p:cNvPr id="384" name="Shape 105"/>
          <p:cNvSpPr/>
          <p:nvPr/>
        </p:nvSpPr>
        <p:spPr>
          <a:xfrm>
            <a:off x="525001" y="1241753"/>
            <a:ext cx="109375" cy="102032"/>
          </a:xfrm>
          <a:prstGeom prst="roundRect">
            <a:avLst/>
          </a:prstGeom>
          <a:solidFill>
            <a:srgbClr val="2469C5"/>
          </a:solidFill>
          <a:ln w="6350">
            <a:solidFill>
              <a:srgbClr val="2469C5"/>
            </a:solidFill>
            <a:prstDash val="solid"/>
          </a:ln>
        </p:spPr>
      </p:sp>
      <p:sp>
        <p:nvSpPr>
          <p:cNvPr id="386" name="Shape 120"/>
          <p:cNvSpPr/>
          <p:nvPr/>
        </p:nvSpPr>
        <p:spPr>
          <a:xfrm>
            <a:off x="1669979" y="1460992"/>
            <a:ext cx="109375" cy="102032"/>
          </a:xfrm>
          <a:prstGeom prst="roundRect">
            <a:avLst/>
          </a:prstGeom>
          <a:solidFill>
            <a:srgbClr val="002060"/>
          </a:solidFill>
          <a:ln w="6350">
            <a:solidFill>
              <a:srgbClr val="002060"/>
            </a:solidFill>
            <a:prstDash val="solid"/>
          </a:ln>
        </p:spPr>
      </p:sp>
      <p:sp>
        <p:nvSpPr>
          <p:cNvPr id="389" name="Shape 120"/>
          <p:cNvSpPr/>
          <p:nvPr/>
        </p:nvSpPr>
        <p:spPr>
          <a:xfrm>
            <a:off x="2049074" y="1678797"/>
            <a:ext cx="109375" cy="102032"/>
          </a:xfrm>
          <a:prstGeom prst="roundRect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390" name="Shape 120"/>
          <p:cNvSpPr/>
          <p:nvPr/>
        </p:nvSpPr>
        <p:spPr>
          <a:xfrm>
            <a:off x="2814249" y="2116312"/>
            <a:ext cx="109375" cy="102032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6350">
            <a:solidFill>
              <a:schemeClr val="accent4">
                <a:lumMod val="60000"/>
                <a:lumOff val="40000"/>
              </a:schemeClr>
            </a:solidFill>
            <a:prstDash val="solid"/>
          </a:ln>
        </p:spPr>
      </p:sp>
      <p:sp>
        <p:nvSpPr>
          <p:cNvPr id="391" name="Shape 120"/>
          <p:cNvSpPr/>
          <p:nvPr/>
        </p:nvSpPr>
        <p:spPr>
          <a:xfrm>
            <a:off x="3193344" y="2335387"/>
            <a:ext cx="109375" cy="102032"/>
          </a:xfrm>
          <a:prstGeom prst="roundRect">
            <a:avLst/>
          </a:prstGeom>
          <a:solidFill>
            <a:srgbClr val="547E96"/>
          </a:solidFill>
          <a:ln w="6350">
            <a:solidFill>
              <a:srgbClr val="547E96"/>
            </a:solidFill>
            <a:prstDash val="solid"/>
          </a:ln>
        </p:spPr>
      </p:sp>
      <p:sp>
        <p:nvSpPr>
          <p:cNvPr id="397" name="Text 148"/>
          <p:cNvSpPr/>
          <p:nvPr/>
        </p:nvSpPr>
        <p:spPr>
          <a:xfrm>
            <a:off x="4009791" y="1678636"/>
            <a:ext cx="204167" cy="131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 lnSpcReduction="10000"/>
          </a:bodyPr>
          <a:lstStyle/>
          <a:p>
            <a:pPr marL="0" indent="0" algn="l">
              <a:buNone/>
            </a:pPr>
            <a:r>
              <a:rPr lang="en-US" sz="980" b="1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P6</a:t>
            </a:r>
            <a:endParaRPr lang="en-US" sz="980" dirty="0"/>
          </a:p>
        </p:txBody>
      </p:sp>
      <p:sp>
        <p:nvSpPr>
          <p:cNvPr id="398" name="Text 149"/>
          <p:cNvSpPr/>
          <p:nvPr/>
        </p:nvSpPr>
        <p:spPr>
          <a:xfrm>
            <a:off x="4250690" y="1598295"/>
            <a:ext cx="1736090" cy="35750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altLang="zh-CN" sz="935" dirty="0"/>
              <a:t>reaction + thermal + </a:t>
            </a:r>
            <a:endParaRPr lang="en-US" altLang="zh-CN" sz="935" dirty="0"/>
          </a:p>
          <a:p>
            <a:pPr marL="0" indent="0" algn="l">
              <a:buNone/>
            </a:pPr>
            <a:r>
              <a:rPr lang="en-US" altLang="zh-CN" sz="935" dirty="0"/>
              <a:t>continuous-flow + observation</a:t>
            </a:r>
            <a:endParaRPr lang="en-US" altLang="zh-CN" sz="935" dirty="0"/>
          </a:p>
        </p:txBody>
      </p:sp>
      <p:sp>
        <p:nvSpPr>
          <p:cNvPr id="399" name="Shape 122"/>
          <p:cNvSpPr/>
          <p:nvPr/>
        </p:nvSpPr>
        <p:spPr>
          <a:xfrm>
            <a:off x="401320" y="1416685"/>
            <a:ext cx="3369310" cy="201295"/>
          </a:xfrm>
          <a:prstGeom prst="roundRect">
            <a:avLst>
              <a:gd name="adj" fmla="val 8517"/>
            </a:avLst>
          </a:prstGeom>
          <a:ln w="9525">
            <a:solidFill>
              <a:srgbClr val="176329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400" name="Shape 122"/>
          <p:cNvSpPr/>
          <p:nvPr/>
        </p:nvSpPr>
        <p:spPr>
          <a:xfrm>
            <a:off x="401320" y="2058035"/>
            <a:ext cx="3369310" cy="201295"/>
          </a:xfrm>
          <a:prstGeom prst="roundRect">
            <a:avLst>
              <a:gd name="adj" fmla="val 9463"/>
            </a:avLst>
          </a:prstGeom>
          <a:ln w="9525">
            <a:solidFill>
              <a:srgbClr val="176329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401" name="Shape 120"/>
          <p:cNvSpPr/>
          <p:nvPr/>
        </p:nvSpPr>
        <p:spPr>
          <a:xfrm>
            <a:off x="904169" y="1242552"/>
            <a:ext cx="109375" cy="102032"/>
          </a:xfrm>
          <a:prstGeom prst="roundRect">
            <a:avLst/>
          </a:prstGeom>
          <a:solidFill>
            <a:srgbClr val="92D050"/>
          </a:solidFill>
          <a:ln w="6350">
            <a:solidFill>
              <a:srgbClr val="92D050"/>
            </a:solidFill>
            <a:prstDash val="solid"/>
          </a:ln>
        </p:spPr>
      </p:sp>
      <p:sp>
        <p:nvSpPr>
          <p:cNvPr id="402" name="Shape 120"/>
          <p:cNvSpPr/>
          <p:nvPr/>
        </p:nvSpPr>
        <p:spPr>
          <a:xfrm>
            <a:off x="904169" y="1678162"/>
            <a:ext cx="109375" cy="102032"/>
          </a:xfrm>
          <a:prstGeom prst="roundRect">
            <a:avLst/>
          </a:prstGeom>
          <a:solidFill>
            <a:srgbClr val="92D050"/>
          </a:solidFill>
          <a:ln w="6350">
            <a:solidFill>
              <a:srgbClr val="92D050"/>
            </a:solidFill>
            <a:prstDash val="solid"/>
          </a:ln>
        </p:spPr>
      </p:sp>
      <p:sp>
        <p:nvSpPr>
          <p:cNvPr id="403" name="Shape 120"/>
          <p:cNvSpPr/>
          <p:nvPr/>
        </p:nvSpPr>
        <p:spPr>
          <a:xfrm>
            <a:off x="904169" y="1898507"/>
            <a:ext cx="109375" cy="102032"/>
          </a:xfrm>
          <a:prstGeom prst="roundRect">
            <a:avLst/>
          </a:prstGeom>
          <a:solidFill>
            <a:srgbClr val="92D050"/>
          </a:solidFill>
          <a:ln w="6350">
            <a:solidFill>
              <a:srgbClr val="92D050"/>
            </a:solidFill>
            <a:prstDash val="solid"/>
          </a:ln>
        </p:spPr>
      </p:sp>
      <p:sp>
        <p:nvSpPr>
          <p:cNvPr id="404" name="Shape 120"/>
          <p:cNvSpPr/>
          <p:nvPr/>
        </p:nvSpPr>
        <p:spPr>
          <a:xfrm>
            <a:off x="904169" y="2115677"/>
            <a:ext cx="109375" cy="102032"/>
          </a:xfrm>
          <a:prstGeom prst="roundRect">
            <a:avLst/>
          </a:prstGeom>
          <a:solidFill>
            <a:srgbClr val="92D050"/>
          </a:solidFill>
          <a:ln w="6350">
            <a:solidFill>
              <a:srgbClr val="92D050"/>
            </a:solidFill>
            <a:prstDash val="solid"/>
          </a:ln>
        </p:spPr>
      </p:sp>
      <p:sp>
        <p:nvSpPr>
          <p:cNvPr id="3" name="Shape 174"/>
          <p:cNvSpPr/>
          <p:nvPr/>
        </p:nvSpPr>
        <p:spPr>
          <a:xfrm>
            <a:off x="7021195" y="1061720"/>
            <a:ext cx="1210945" cy="60515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A000"/>
            </a:solidFill>
            <a:prstDash val="solid"/>
          </a:ln>
        </p:spPr>
      </p:sp>
      <p:sp>
        <p:nvSpPr>
          <p:cNvPr id="178" name="Text 176"/>
          <p:cNvSpPr/>
          <p:nvPr/>
        </p:nvSpPr>
        <p:spPr>
          <a:xfrm>
            <a:off x="7086600" y="1061720"/>
            <a:ext cx="1101725" cy="6051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5A0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8 protocol-frozen</a:t>
            </a:r>
            <a:endParaRPr lang="en-US" sz="900" dirty="0">
              <a:solidFill>
                <a:srgbClr val="E5A000"/>
              </a:solidFill>
            </a:endParaRPr>
          </a:p>
          <a:p>
            <a:pPr marL="0" indent="0" algn="ctr">
              <a:buNone/>
            </a:pPr>
            <a:r>
              <a:rPr lang="en-US" sz="900" b="1" dirty="0">
                <a:solidFill>
                  <a:srgbClr val="E5A0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non-reference</a:t>
            </a:r>
            <a:endParaRPr lang="en-US" sz="900" dirty="0">
              <a:solidFill>
                <a:srgbClr val="E5A000"/>
              </a:solidFill>
            </a:endParaRPr>
          </a:p>
          <a:p>
            <a:pPr marL="0" indent="0" algn="ctr">
              <a:buNone/>
            </a:pPr>
            <a:r>
              <a:rPr lang="en-US" sz="900" b="1" dirty="0">
                <a:solidFill>
                  <a:srgbClr val="E5A0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reaction–distillation</a:t>
            </a:r>
            <a:endParaRPr lang="en-US" sz="900" dirty="0">
              <a:solidFill>
                <a:srgbClr val="E5A000"/>
              </a:solidFill>
            </a:endParaRPr>
          </a:p>
          <a:p>
            <a:pPr marL="0" indent="0" algn="ctr">
              <a:buNone/>
            </a:pPr>
            <a:r>
              <a:rPr lang="en-US" sz="900" b="1" dirty="0">
                <a:solidFill>
                  <a:srgbClr val="E5A0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worlds</a:t>
            </a:r>
            <a:endParaRPr lang="en-US" sz="900" b="1" dirty="0">
              <a:solidFill>
                <a:srgbClr val="E5A00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1950</Words>
  <Application>WPS 演示</Application>
  <PresentationFormat>On-screen Show (16:9)</PresentationFormat>
  <Paragraphs>240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6" baseType="lpstr">
      <vt:lpstr>Arial</vt:lpstr>
      <vt:lpstr>宋体</vt:lpstr>
      <vt:lpstr>Wingdings</vt:lpstr>
      <vt:lpstr>Arial</vt:lpstr>
      <vt:lpstr>Arial</vt:lpstr>
      <vt:lpstr>Arial Unicode MS</vt:lpstr>
      <vt:lpstr>微软雅黑</vt:lpstr>
      <vt:lpstr>方正雅意黑 GB18030L2</vt:lpstr>
      <vt:lpstr>Calibri</vt:lpstr>
      <vt:lpstr>Helvetica Neue</vt:lpstr>
      <vt:lpstr>汉仪书宋二KW</vt:lpstr>
      <vt:lpstr>等线</vt:lpstr>
      <vt:lpstr>汉仪中等线KW</vt:lpstr>
      <vt:lpstr>宋体</vt:lpstr>
      <vt:lpstr>Office Theme</vt:lpstr>
      <vt:lpstr>PowerPoint 演示文稿</vt:lpstr>
    </vt:vector>
  </TitlesOfParts>
  <Company>OpenAI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Figure 2. Compositional world design space beyond a fixed task catalogue</dc:title>
  <dc:creator>OpenAI</dc:creator>
  <dc:subject>Editable reconstruction of Figure 2</dc:subject>
  <cp:lastModifiedBy>李奕均(2022013127)</cp:lastModifiedBy>
  <cp:revision>10</cp:revision>
  <dcterms:created xsi:type="dcterms:W3CDTF">2026-08-09T09:42:01Z</dcterms:created>
  <dcterms:modified xsi:type="dcterms:W3CDTF">2026-08-09T09:42:01Z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2052-12.1.26046.26046</vt:lpwstr>
  </property>
  <property fmtid="{D5CDD505-2E9C-101B-9397-08002B2CF9AE}" pid="3" name="ICV">
    <vt:lpwstr>7E05E24D3D4241789176483A8DF41406_12</vt:lpwstr>
  </property>
</Properties>
</file>