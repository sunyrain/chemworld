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61820" y="81381"/>
            <a:ext cx="217627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01820"/>
                </a:solidFill>
                <a:latin typeface="Arial Narrow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17852" y="94183"/>
            <a:ext cx="3200400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1" i="0">
                <a:solidFill>
                  <a:srgbClr val="101820"/>
                </a:solidFill>
                <a:latin typeface="Arial Narrow"/>
              </a:rPr>
              <a:t>Complementary experimental regimes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98412" y="81381"/>
            <a:ext cx="217627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01820"/>
                </a:solidFill>
                <a:latin typeface="Arial Narrow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4444" y="94183"/>
            <a:ext cx="3968496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1" i="0">
                <a:solidFill>
                  <a:srgbClr val="101820"/>
                </a:solidFill>
                <a:latin typeface="Arial Narrow"/>
              </a:rPr>
              <a:t>From composable components to a public task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1820" y="3307384"/>
            <a:ext cx="217627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01820"/>
                </a:solidFill>
                <a:latin typeface="Arial Narrow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17852" y="3320186"/>
            <a:ext cx="3200400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1" i="0">
                <a:solidFill>
                  <a:srgbClr val="101820"/>
                </a:solidFill>
                <a:latin typeface="Arial Narrow"/>
              </a:rPr>
              <a:t>Transactional experiment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8412" y="3307384"/>
            <a:ext cx="217627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639" b="1" i="0">
                <a:solidFill>
                  <a:srgbClr val="101820"/>
                </a:solidFill>
                <a:latin typeface="Arial Narrow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4444" y="3320186"/>
            <a:ext cx="3968496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290" b="1" i="0">
                <a:solidFill>
                  <a:srgbClr val="101820"/>
                </a:solidFill>
                <a:latin typeface="Arial Narrow"/>
              </a:rPr>
              <a:t>A complete record enables new 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2289" y="382219"/>
            <a:ext cx="1088136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E31A1C"/>
                </a:solidFill>
                <a:latin typeface="Arial Narrow"/>
              </a:rPr>
              <a:t>Physical SDL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8970" y="382219"/>
            <a:ext cx="1216152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007774"/>
                </a:solidFill>
                <a:latin typeface="Arial Narrow"/>
              </a:rPr>
              <a:t>ChemWorld</a:t>
            </a:r>
          </a:p>
        </p:txBody>
      </p:sp>
      <p:sp>
        <p:nvSpPr>
          <p:cNvPr id="12" name="Oval 11"/>
          <p:cNvSpPr/>
          <p:nvPr/>
        </p:nvSpPr>
        <p:spPr>
          <a:xfrm>
            <a:off x="1589836" y="574243"/>
            <a:ext cx="1625803" cy="1945843"/>
          </a:xfrm>
          <a:prstGeom prst="ellipse">
            <a:avLst/>
          </a:prstGeom>
          <a:noFill/>
          <a:ln w="1270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092549" y="574243"/>
            <a:ext cx="1561795" cy="1945843"/>
          </a:xfrm>
          <a:prstGeom prst="ellipse">
            <a:avLst/>
          </a:prstGeom>
          <a:noFill/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45031" y="1163116"/>
            <a:ext cx="128016" cy="4160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1615439" y="1099108"/>
            <a:ext cx="0" cy="345644"/>
          </a:xfrm>
          <a:prstGeom prst="line">
            <a:avLst/>
          </a:prstGeom>
          <a:ln w="12700">
            <a:solidFill>
              <a:srgbClr val="E31A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571134" y="1086307"/>
            <a:ext cx="128016" cy="47365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5622340" y="1060704"/>
            <a:ext cx="0" cy="403250"/>
          </a:xfrm>
          <a:prstGeom prst="line">
            <a:avLst/>
          </a:prstGeom>
          <a:ln w="12700">
            <a:solidFill>
              <a:srgbClr val="0077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physical_l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662" y="753465"/>
            <a:ext cx="1248156" cy="806500"/>
          </a:xfrm>
          <a:prstGeom prst="rect">
            <a:avLst/>
          </a:prstGeom>
        </p:spPr>
      </p:pic>
      <p:pic>
        <p:nvPicPr>
          <p:cNvPr id="19" name="Picture 18" descr="chemworld_mon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184" y="727862"/>
            <a:ext cx="972921" cy="832104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939320" y="1611172"/>
            <a:ext cx="30723" cy="59143"/>
          </a:xfrm>
          <a:prstGeom prst="rect">
            <a:avLst/>
          </a:prstGeom>
          <a:solidFill>
            <a:srgbClr val="FFFFFF"/>
          </a:solidFill>
          <a:ln w="1270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rapezoid 20"/>
          <p:cNvSpPr/>
          <p:nvPr/>
        </p:nvSpPr>
        <p:spPr>
          <a:xfrm>
            <a:off x="1900915" y="1655978"/>
            <a:ext cx="107533" cy="125455"/>
          </a:xfrm>
          <a:prstGeom prst="trapezoid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1919349" y="1736628"/>
            <a:ext cx="70665" cy="0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930103" y="1720498"/>
            <a:ext cx="10753" cy="10753"/>
          </a:xfrm>
          <a:prstGeom prst="ellipse">
            <a:avLst/>
          </a:prstGeom>
          <a:solidFill>
            <a:srgbClr val="E31A1C"/>
          </a:solidFill>
          <a:ln w="508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60827" y="1704368"/>
            <a:ext cx="9217" cy="9217"/>
          </a:xfrm>
          <a:prstGeom prst="ellipse">
            <a:avLst/>
          </a:prstGeom>
          <a:solidFill>
            <a:srgbClr val="E31A1C"/>
          </a:solidFill>
          <a:ln w="508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976188" y="1729459"/>
            <a:ext cx="7680" cy="7680"/>
          </a:xfrm>
          <a:prstGeom prst="ellipse">
            <a:avLst/>
          </a:prstGeom>
          <a:solidFill>
            <a:srgbClr val="E31A1C"/>
          </a:solidFill>
          <a:ln w="508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8301" y="1585569"/>
            <a:ext cx="960120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820"/>
                </a:solidFill>
                <a:latin typeface="Arial Narrow"/>
              </a:rPr>
              <a:t>Real materials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871471" y="1932492"/>
            <a:ext cx="24003" cy="0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895474" y="1871045"/>
            <a:ext cx="16002" cy="61447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11476" y="1871045"/>
            <a:ext cx="20803" cy="115214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932279" y="1912522"/>
            <a:ext cx="19202" cy="73737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51481" y="1912522"/>
            <a:ext cx="25604" cy="19970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977085" y="1932492"/>
            <a:ext cx="54406" cy="0"/>
          </a:xfrm>
          <a:prstGeom prst="line">
            <a:avLst/>
          </a:prstGeom>
          <a:ln w="1270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08301" y="1822399"/>
            <a:ext cx="992124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820"/>
                </a:solidFill>
                <a:latin typeface="Arial Narrow"/>
              </a:rPr>
              <a:t>Hardware + sensors</a:t>
            </a:r>
          </a:p>
        </p:txBody>
      </p:sp>
      <p:sp>
        <p:nvSpPr>
          <p:cNvPr id="34" name="Oval 33"/>
          <p:cNvSpPr/>
          <p:nvPr/>
        </p:nvSpPr>
        <p:spPr>
          <a:xfrm>
            <a:off x="1884273" y="2065629"/>
            <a:ext cx="140817" cy="14081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922678" y="2132838"/>
            <a:ext cx="20482" cy="19202"/>
          </a:xfrm>
          <a:prstGeom prst="line">
            <a:avLst/>
          </a:prstGeom>
          <a:ln w="1397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1943160" y="2097633"/>
            <a:ext cx="43526" cy="54407"/>
          </a:xfrm>
          <a:prstGeom prst="line">
            <a:avLst/>
          </a:prstGeom>
          <a:ln w="1397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108301" y="2040026"/>
            <a:ext cx="960120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820"/>
                </a:solidFill>
                <a:latin typeface="Arial Narrow"/>
              </a:rPr>
              <a:t>Empirical validity</a:t>
            </a:r>
          </a:p>
        </p:txBody>
      </p:sp>
      <p:sp>
        <p:nvSpPr>
          <p:cNvPr id="38" name="Cloud 37"/>
          <p:cNvSpPr/>
          <p:nvPr/>
        </p:nvSpPr>
        <p:spPr>
          <a:xfrm>
            <a:off x="4284573" y="1598371"/>
            <a:ext cx="160020" cy="115214"/>
          </a:xfrm>
          <a:prstGeom prst="cloud">
            <a:avLst/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15002" y="1566367"/>
            <a:ext cx="992124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820"/>
                </a:solidFill>
                <a:latin typeface="Arial Narrow"/>
              </a:rPr>
              <a:t>Software access</a:t>
            </a:r>
          </a:p>
        </p:txBody>
      </p:sp>
      <p:sp>
        <p:nvSpPr>
          <p:cNvPr id="40" name="Circular Arrow 39"/>
          <p:cNvSpPr/>
          <p:nvPr/>
        </p:nvSpPr>
        <p:spPr>
          <a:xfrm>
            <a:off x="4297375" y="1783994"/>
            <a:ext cx="147218" cy="147218"/>
          </a:xfrm>
          <a:prstGeom prst="circularArrow">
            <a:avLst>
              <a:gd name="adj1" fmla="val 12000"/>
              <a:gd name="adj2" fmla="val 1142319"/>
              <a:gd name="adj3" fmla="val 20457681"/>
              <a:gd name="adj4" fmla="val 10800000"/>
              <a:gd name="adj5" fmla="val 12500"/>
            </a:avLst>
          </a:prstGeom>
          <a:noFill/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15002" y="1783994"/>
            <a:ext cx="992124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820"/>
                </a:solidFill>
                <a:latin typeface="Arial Narrow"/>
              </a:rPr>
              <a:t>Exact reset</a:t>
            </a:r>
          </a:p>
        </p:txBody>
      </p:sp>
      <p:sp>
        <p:nvSpPr>
          <p:cNvPr id="42" name="Pentagon 41"/>
          <p:cNvSpPr/>
          <p:nvPr/>
        </p:nvSpPr>
        <p:spPr>
          <a:xfrm rot="10800000">
            <a:off x="4303775" y="1995220"/>
            <a:ext cx="140817" cy="160020"/>
          </a:xfrm>
          <a:prstGeom prst="homePlate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4342180" y="2075230"/>
            <a:ext cx="20483" cy="19203"/>
          </a:xfrm>
          <a:prstGeom prst="line">
            <a:avLst/>
          </a:prstGeom>
          <a:ln w="127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4362663" y="2040026"/>
            <a:ext cx="43525" cy="54407"/>
          </a:xfrm>
          <a:prstGeom prst="line">
            <a:avLst/>
          </a:prstGeom>
          <a:ln w="127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515002" y="1988820"/>
            <a:ext cx="1088136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101820"/>
                </a:solidFill>
                <a:latin typeface="Arial Narrow"/>
              </a:rPr>
              <a:t>No direct wet-lab exposure</a:t>
            </a:r>
          </a:p>
        </p:txBody>
      </p:sp>
      <p:sp>
        <p:nvSpPr>
          <p:cNvPr id="46" name="Arc 45"/>
          <p:cNvSpPr/>
          <p:nvPr/>
        </p:nvSpPr>
        <p:spPr>
          <a:xfrm>
            <a:off x="4297375" y="2225649"/>
            <a:ext cx="160020" cy="115214"/>
          </a:xfrm>
          <a:prstGeom prst="arc">
            <a:avLst>
              <a:gd name="adj1" fmla="val 12000"/>
              <a:gd name="adj2" fmla="val 0"/>
            </a:avLst>
          </a:prstGeom>
          <a:noFill/>
          <a:ln w="1524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c 46"/>
          <p:cNvSpPr/>
          <p:nvPr/>
        </p:nvSpPr>
        <p:spPr>
          <a:xfrm rot="10800000">
            <a:off x="4297375" y="2225649"/>
            <a:ext cx="160020" cy="115214"/>
          </a:xfrm>
          <a:prstGeom prst="arc">
            <a:avLst>
              <a:gd name="adj1" fmla="val 12000"/>
              <a:gd name="adj2" fmla="val 0"/>
            </a:avLst>
          </a:prstGeom>
          <a:noFill/>
          <a:ln w="1524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359782" y="2259061"/>
            <a:ext cx="26499" cy="26499"/>
          </a:xfrm>
          <a:prstGeom prst="ellipse">
            <a:avLst/>
          </a:prstGeom>
          <a:solidFill>
            <a:srgbClr val="007774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15002" y="2200046"/>
            <a:ext cx="1132941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101820"/>
                </a:solidFill>
                <a:latin typeface="Arial Narrow"/>
              </a:rPr>
              <a:t>Complete simulator observability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92449" y="887882"/>
            <a:ext cx="800100" cy="2880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1820"/>
                </a:solidFill>
                <a:latin typeface="Arial Narrow"/>
              </a:rPr>
              <a:t>Complementary,
not competing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3254044" y="1329537"/>
            <a:ext cx="224028" cy="0"/>
          </a:xfrm>
          <a:prstGeom prst="line">
            <a:avLst/>
          </a:prstGeom>
          <a:ln w="1524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836517" y="1329537"/>
            <a:ext cx="224028" cy="0"/>
          </a:xfrm>
          <a:prstGeom prst="line">
            <a:avLst/>
          </a:prstGeom>
          <a:ln w="1524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3548481" y="1252728"/>
            <a:ext cx="179222" cy="179222"/>
          </a:xfrm>
          <a:prstGeom prst="ellipse">
            <a:avLst/>
          </a:prstGeom>
          <a:noFill/>
          <a:ln w="2794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644493" y="1252728"/>
            <a:ext cx="179222" cy="179222"/>
          </a:xfrm>
          <a:prstGeom prst="ellipse">
            <a:avLst/>
          </a:prstGeom>
          <a:noFill/>
          <a:ln w="2794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18890" y="1233525"/>
            <a:ext cx="57607" cy="2176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rc 55"/>
          <p:cNvSpPr/>
          <p:nvPr/>
        </p:nvSpPr>
        <p:spPr>
          <a:xfrm>
            <a:off x="3548481" y="1252728"/>
            <a:ext cx="179222" cy="179222"/>
          </a:xfrm>
          <a:prstGeom prst="arc">
            <a:avLst>
              <a:gd name="adj1" fmla="val 12000"/>
              <a:gd name="adj2" fmla="val 0"/>
            </a:avLst>
          </a:prstGeom>
          <a:noFill/>
          <a:ln w="2794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Arc 56"/>
          <p:cNvSpPr/>
          <p:nvPr/>
        </p:nvSpPr>
        <p:spPr>
          <a:xfrm rot="10800000">
            <a:off x="3644493" y="1252728"/>
            <a:ext cx="179222" cy="179222"/>
          </a:xfrm>
          <a:prstGeom prst="arc">
            <a:avLst>
              <a:gd name="adj1" fmla="val 12000"/>
              <a:gd name="adj2" fmla="val 0"/>
            </a:avLst>
          </a:prstGeom>
          <a:noFill/>
          <a:ln w="2794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466746" y="2667304"/>
            <a:ext cx="2342692" cy="4608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8DA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562758" y="2756916"/>
            <a:ext cx="249631" cy="249631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610188" y="2804345"/>
            <a:ext cx="154771" cy="15477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660114" y="2854272"/>
            <a:ext cx="54918" cy="54918"/>
          </a:xfrm>
          <a:prstGeom prst="ellipse">
            <a:avLst/>
          </a:prstGeom>
          <a:solidFill>
            <a:srgbClr val="102C67"/>
          </a:solidFill>
          <a:ln w="1016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 flipV="1">
            <a:off x="2700055" y="2769397"/>
            <a:ext cx="99852" cy="99853"/>
          </a:xfrm>
          <a:prstGeom prst="line">
            <a:avLst/>
          </a:prstGeom>
          <a:ln w="1778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978810" y="2724912"/>
            <a:ext cx="1728216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Software control and scale guide
physical validation when real matter is required.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197912" y="2488082"/>
            <a:ext cx="25603" cy="115214"/>
          </a:xfrm>
          <a:prstGeom prst="line">
            <a:avLst/>
          </a:prstGeom>
          <a:ln w="1270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223515" y="2603296"/>
            <a:ext cx="166421" cy="108814"/>
          </a:xfrm>
          <a:prstGeom prst="line">
            <a:avLst/>
          </a:prstGeom>
          <a:ln w="1270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5020665" y="2481681"/>
            <a:ext cx="38405" cy="128016"/>
          </a:xfrm>
          <a:prstGeom prst="line">
            <a:avLst/>
          </a:prstGeom>
          <a:ln w="1270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>
            <a:off x="4835042" y="2609697"/>
            <a:ext cx="185623" cy="102413"/>
          </a:xfrm>
          <a:prstGeom prst="line">
            <a:avLst/>
          </a:prstGeom>
          <a:ln w="1270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6236817" y="478231"/>
            <a:ext cx="1216152" cy="56327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30121" y="587044"/>
            <a:ext cx="48646" cy="114062"/>
          </a:xfrm>
          <a:prstGeom prst="rect">
            <a:avLst/>
          </a:prstGeom>
          <a:solidFill>
            <a:srgbClr val="FFFFFF"/>
          </a:solidFill>
          <a:ln w="1270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rapezoid 69"/>
          <p:cNvSpPr/>
          <p:nvPr/>
        </p:nvSpPr>
        <p:spPr>
          <a:xfrm>
            <a:off x="6369314" y="673455"/>
            <a:ext cx="170261" cy="241950"/>
          </a:xfrm>
          <a:prstGeom prst="trapezoid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6398501" y="828995"/>
            <a:ext cx="111886" cy="0"/>
          </a:xfrm>
          <a:prstGeom prst="line">
            <a:avLst/>
          </a:prstGeom>
          <a:ln w="1270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6415527" y="797887"/>
            <a:ext cx="17026" cy="17026"/>
          </a:xfrm>
          <a:prstGeom prst="ellipse">
            <a:avLst/>
          </a:prstGeom>
          <a:solidFill>
            <a:srgbClr val="17479E"/>
          </a:solidFill>
          <a:ln w="508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464173" y="766779"/>
            <a:ext cx="14593" cy="14593"/>
          </a:xfrm>
          <a:prstGeom prst="ellipse">
            <a:avLst/>
          </a:prstGeom>
          <a:solidFill>
            <a:srgbClr val="17479E"/>
          </a:solidFill>
          <a:ln w="508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488496" y="815169"/>
            <a:ext cx="12161" cy="12161"/>
          </a:xfrm>
          <a:prstGeom prst="ellipse">
            <a:avLst/>
          </a:prstGeom>
          <a:solidFill>
            <a:srgbClr val="17479E"/>
          </a:solidFill>
          <a:ln w="508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646468" y="542239"/>
            <a:ext cx="716889" cy="17282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102C67"/>
                </a:solidFill>
                <a:latin typeface="Arial Narrow"/>
              </a:rPr>
              <a:t>Chemistry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646468" y="715060"/>
            <a:ext cx="704088" cy="14081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101820"/>
                </a:solidFill>
                <a:latin typeface="Arial Narrow"/>
              </a:rPr>
              <a:t>reaction • phase</a:t>
            </a:r>
          </a:p>
        </p:txBody>
      </p:sp>
      <p:sp>
        <p:nvSpPr>
          <p:cNvPr id="77" name="Oval 76"/>
          <p:cNvSpPr/>
          <p:nvPr/>
        </p:nvSpPr>
        <p:spPr>
          <a:xfrm>
            <a:off x="6659270" y="887882"/>
            <a:ext cx="32004" cy="32004"/>
          </a:xfrm>
          <a:prstGeom prst="ellipse">
            <a:avLst/>
          </a:prstGeom>
          <a:solidFill>
            <a:srgbClr val="17479E"/>
          </a:solidFill>
          <a:ln w="381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6697675" y="903884"/>
            <a:ext cx="76809" cy="0"/>
          </a:xfrm>
          <a:prstGeom prst="line">
            <a:avLst/>
          </a:prstGeom>
          <a:ln w="1016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6793687" y="887882"/>
            <a:ext cx="32004" cy="32004"/>
          </a:xfrm>
          <a:prstGeom prst="ellipse">
            <a:avLst/>
          </a:prstGeom>
          <a:solidFill>
            <a:srgbClr val="17479E"/>
          </a:solidFill>
          <a:ln w="381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0" name="Connector 79"/>
          <p:cNvCxnSpPr/>
          <p:nvPr/>
        </p:nvCxnSpPr>
        <p:spPr>
          <a:xfrm>
            <a:off x="6832091" y="903884"/>
            <a:ext cx="76810" cy="0"/>
          </a:xfrm>
          <a:prstGeom prst="line">
            <a:avLst/>
          </a:prstGeom>
          <a:ln w="1016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6928103" y="887882"/>
            <a:ext cx="32004" cy="32004"/>
          </a:xfrm>
          <a:prstGeom prst="ellipse">
            <a:avLst/>
          </a:prstGeom>
          <a:solidFill>
            <a:srgbClr val="17479E"/>
          </a:solidFill>
          <a:ln w="381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6966508" y="903884"/>
            <a:ext cx="76810" cy="0"/>
          </a:xfrm>
          <a:prstGeom prst="line">
            <a:avLst/>
          </a:prstGeom>
          <a:ln w="1016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062520" y="887882"/>
            <a:ext cx="32004" cy="32004"/>
          </a:xfrm>
          <a:prstGeom prst="ellipse">
            <a:avLst/>
          </a:prstGeom>
          <a:solidFill>
            <a:srgbClr val="17479E"/>
          </a:solidFill>
          <a:ln w="381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7100925" y="903884"/>
            <a:ext cx="76810" cy="0"/>
          </a:xfrm>
          <a:prstGeom prst="line">
            <a:avLst/>
          </a:prstGeom>
          <a:ln w="1016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196937" y="887882"/>
            <a:ext cx="32004" cy="32004"/>
          </a:xfrm>
          <a:prstGeom prst="ellipse">
            <a:avLst/>
          </a:prstGeom>
          <a:solidFill>
            <a:srgbClr val="17479E"/>
          </a:solidFill>
          <a:ln w="381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236817" y="1188720"/>
            <a:ext cx="1216152" cy="58887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6373154" y="1543836"/>
            <a:ext cx="94091" cy="940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6402278" y="1278331"/>
            <a:ext cx="38084" cy="320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6422440" y="1348611"/>
            <a:ext cx="0" cy="234270"/>
          </a:xfrm>
          <a:prstGeom prst="line">
            <a:avLst/>
          </a:prstGeom>
          <a:ln w="228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6471726" y="1340803"/>
            <a:ext cx="40325" cy="0"/>
          </a:xfrm>
          <a:prstGeom prst="line">
            <a:avLst/>
          </a:prstGeom>
          <a:ln w="889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471726" y="1403274"/>
            <a:ext cx="40325" cy="0"/>
          </a:xfrm>
          <a:prstGeom prst="line">
            <a:avLst/>
          </a:prstGeom>
          <a:ln w="889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6471726" y="1465746"/>
            <a:ext cx="40325" cy="0"/>
          </a:xfrm>
          <a:prstGeom prst="line">
            <a:avLst/>
          </a:prstGeom>
          <a:ln w="889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6471726" y="1528218"/>
            <a:ext cx="40325" cy="0"/>
          </a:xfrm>
          <a:prstGeom prst="line">
            <a:avLst/>
          </a:prstGeom>
          <a:ln w="889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646468" y="1259128"/>
            <a:ext cx="704088" cy="17922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007774"/>
                </a:solidFill>
                <a:latin typeface="Arial Narrow"/>
              </a:rPr>
              <a:t>Process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46468" y="1438351"/>
            <a:ext cx="755294" cy="14081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 i="0">
                <a:solidFill>
                  <a:srgbClr val="101820"/>
                </a:solidFill>
                <a:latin typeface="Arial Narrow"/>
              </a:rPr>
              <a:t>thermal • separation</a:t>
            </a:r>
          </a:p>
        </p:txBody>
      </p:sp>
      <p:sp>
        <p:nvSpPr>
          <p:cNvPr id="96" name="Oval 95"/>
          <p:cNvSpPr/>
          <p:nvPr/>
        </p:nvSpPr>
        <p:spPr>
          <a:xfrm>
            <a:off x="6659270" y="1617573"/>
            <a:ext cx="32004" cy="32004"/>
          </a:xfrm>
          <a:prstGeom prst="ellipse">
            <a:avLst/>
          </a:prstGeom>
          <a:solidFill>
            <a:srgbClr val="007774"/>
          </a:solidFill>
          <a:ln w="381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Connector 96"/>
          <p:cNvCxnSpPr/>
          <p:nvPr/>
        </p:nvCxnSpPr>
        <p:spPr>
          <a:xfrm>
            <a:off x="6697675" y="1633575"/>
            <a:ext cx="89611" cy="0"/>
          </a:xfrm>
          <a:prstGeom prst="line">
            <a:avLst/>
          </a:prstGeom>
          <a:ln w="101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Oval 97"/>
          <p:cNvSpPr/>
          <p:nvPr/>
        </p:nvSpPr>
        <p:spPr>
          <a:xfrm>
            <a:off x="6806488" y="1617573"/>
            <a:ext cx="32004" cy="32004"/>
          </a:xfrm>
          <a:prstGeom prst="ellipse">
            <a:avLst/>
          </a:prstGeom>
          <a:solidFill>
            <a:srgbClr val="007774"/>
          </a:solidFill>
          <a:ln w="381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6844893" y="1633575"/>
            <a:ext cx="89611" cy="0"/>
          </a:xfrm>
          <a:prstGeom prst="line">
            <a:avLst/>
          </a:prstGeom>
          <a:ln w="101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Oval 99"/>
          <p:cNvSpPr/>
          <p:nvPr/>
        </p:nvSpPr>
        <p:spPr>
          <a:xfrm>
            <a:off x="6953707" y="1617573"/>
            <a:ext cx="32004" cy="32004"/>
          </a:xfrm>
          <a:prstGeom prst="ellipse">
            <a:avLst/>
          </a:prstGeom>
          <a:solidFill>
            <a:srgbClr val="007774"/>
          </a:solidFill>
          <a:ln w="381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>
            <a:off x="6992111" y="1633575"/>
            <a:ext cx="89612" cy="0"/>
          </a:xfrm>
          <a:prstGeom prst="line">
            <a:avLst/>
          </a:prstGeom>
          <a:ln w="101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Oval 101"/>
          <p:cNvSpPr/>
          <p:nvPr/>
        </p:nvSpPr>
        <p:spPr>
          <a:xfrm>
            <a:off x="7100925" y="1617573"/>
            <a:ext cx="32004" cy="32004"/>
          </a:xfrm>
          <a:prstGeom prst="ellipse">
            <a:avLst/>
          </a:prstGeom>
          <a:solidFill>
            <a:srgbClr val="007774"/>
          </a:solidFill>
          <a:ln w="381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6236817" y="1937613"/>
            <a:ext cx="1216152" cy="62727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6373154" y="2079711"/>
            <a:ext cx="112910" cy="26985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6429609" y="2040026"/>
            <a:ext cx="0" cy="39685"/>
          </a:xfrm>
          <a:prstGeom prst="line">
            <a:avLst/>
          </a:prstGeom>
          <a:ln w="1270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6400037" y="2040026"/>
            <a:ext cx="59144" cy="0"/>
          </a:xfrm>
          <a:prstGeom prst="line">
            <a:avLst/>
          </a:prstGeom>
          <a:ln w="1270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6429609" y="2349569"/>
            <a:ext cx="0" cy="87307"/>
          </a:xfrm>
          <a:prstGeom prst="line">
            <a:avLst/>
          </a:prstGeom>
          <a:ln w="1270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488752" y="2250356"/>
            <a:ext cx="64520" cy="0"/>
          </a:xfrm>
          <a:prstGeom prst="line">
            <a:avLst/>
          </a:prstGeom>
          <a:ln w="1270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6547896" y="2218608"/>
            <a:ext cx="48390" cy="4839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646468" y="1988820"/>
            <a:ext cx="742492" cy="17922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70" b="1" i="0">
                <a:solidFill>
                  <a:srgbClr val="E64A00"/>
                </a:solidFill>
                <a:latin typeface="Arial Narrow"/>
              </a:rPr>
              <a:t>Apparatus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46468" y="2168042"/>
            <a:ext cx="755294" cy="2304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01820"/>
                </a:solidFill>
                <a:latin typeface="Arial Narrow"/>
              </a:rPr>
              <a:t>flow • electrochemistry •
observation</a:t>
            </a:r>
          </a:p>
        </p:txBody>
      </p:sp>
      <p:sp>
        <p:nvSpPr>
          <p:cNvPr id="112" name="Oval 111"/>
          <p:cNvSpPr/>
          <p:nvPr/>
        </p:nvSpPr>
        <p:spPr>
          <a:xfrm>
            <a:off x="6659270" y="2456078"/>
            <a:ext cx="32004" cy="32004"/>
          </a:xfrm>
          <a:prstGeom prst="ellipse">
            <a:avLst/>
          </a:prstGeom>
          <a:solidFill>
            <a:srgbClr val="E64A00"/>
          </a:solidFill>
          <a:ln w="381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6697675" y="2472080"/>
            <a:ext cx="76809" cy="0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6793687" y="2456078"/>
            <a:ext cx="32004" cy="32004"/>
          </a:xfrm>
          <a:prstGeom prst="ellipse">
            <a:avLst/>
          </a:prstGeom>
          <a:solidFill>
            <a:srgbClr val="E64A00"/>
          </a:solidFill>
          <a:ln w="381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6832091" y="2472080"/>
            <a:ext cx="76810" cy="0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6928103" y="2456078"/>
            <a:ext cx="32004" cy="32004"/>
          </a:xfrm>
          <a:prstGeom prst="ellipse">
            <a:avLst/>
          </a:prstGeom>
          <a:solidFill>
            <a:srgbClr val="E64A00"/>
          </a:solidFill>
          <a:ln w="381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6966508" y="2472080"/>
            <a:ext cx="76810" cy="0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7062520" y="2456078"/>
            <a:ext cx="32004" cy="32004"/>
          </a:xfrm>
          <a:prstGeom prst="ellipse">
            <a:avLst/>
          </a:prstGeom>
          <a:solidFill>
            <a:srgbClr val="E64A00"/>
          </a:solidFill>
          <a:ln w="381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100925" y="2472080"/>
            <a:ext cx="76810" cy="0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7196937" y="2456078"/>
            <a:ext cx="32004" cy="32004"/>
          </a:xfrm>
          <a:prstGeom prst="ellipse">
            <a:avLst/>
          </a:prstGeom>
          <a:solidFill>
            <a:srgbClr val="E64A00"/>
          </a:solidFill>
          <a:ln w="381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7926628" y="708660"/>
            <a:ext cx="896112" cy="1593799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3970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Gear 6 121"/>
          <p:cNvSpPr/>
          <p:nvPr/>
        </p:nvSpPr>
        <p:spPr>
          <a:xfrm>
            <a:off x="8182660" y="811072"/>
            <a:ext cx="339242" cy="339242"/>
          </a:xfrm>
          <a:prstGeom prst="gear6">
            <a:avLst>
              <a:gd name="adj1" fmla="val 12000"/>
              <a:gd name="adj2" fmla="val 3526"/>
            </a:avLst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278672" y="907084"/>
            <a:ext cx="147218" cy="147218"/>
          </a:xfrm>
          <a:prstGeom prst="ellipse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Pentagon 123"/>
          <p:cNvSpPr/>
          <p:nvPr/>
        </p:nvSpPr>
        <p:spPr>
          <a:xfrm rot="10800000">
            <a:off x="8432291" y="1003096"/>
            <a:ext cx="140817" cy="153619"/>
          </a:xfrm>
          <a:prstGeom prst="homePlate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51494" y="1009497"/>
            <a:ext cx="102412" cy="11521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1820"/>
                </a:solidFill>
                <a:latin typeface="Arial Narrow"/>
              </a:rPr>
              <a:t>+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016239" y="1207922"/>
            <a:ext cx="716889" cy="2880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01820"/>
                </a:solidFill>
                <a:latin typeface="Arial Narrow"/>
              </a:rPr>
              <a:t>Compatibility
compiler</a:t>
            </a:r>
          </a:p>
        </p:txBody>
      </p:sp>
      <p:cxnSp>
        <p:nvCxnSpPr>
          <p:cNvPr id="127" name="Connector 126"/>
          <p:cNvCxnSpPr/>
          <p:nvPr/>
        </p:nvCxnSpPr>
        <p:spPr>
          <a:xfrm>
            <a:off x="8035442" y="1614373"/>
            <a:ext cx="20482" cy="19202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8055924" y="1579168"/>
            <a:ext cx="43526" cy="54407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/>
          <p:cNvSpPr txBox="1"/>
          <p:nvPr/>
        </p:nvSpPr>
        <p:spPr>
          <a:xfrm>
            <a:off x="8157057" y="1521561"/>
            <a:ext cx="576072" cy="185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Dependencies</a:t>
            </a:r>
          </a:p>
        </p:txBody>
      </p:sp>
      <p:cxnSp>
        <p:nvCxnSpPr>
          <p:cNvPr id="130" name="Connector 129"/>
          <p:cNvCxnSpPr/>
          <p:nvPr/>
        </p:nvCxnSpPr>
        <p:spPr>
          <a:xfrm>
            <a:off x="8035442" y="1799996"/>
            <a:ext cx="20482" cy="19202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055924" y="1764792"/>
            <a:ext cx="43526" cy="54406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8157057" y="1707184"/>
            <a:ext cx="576072" cy="185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Units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8035442" y="1985619"/>
            <a:ext cx="20482" cy="19203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8055924" y="1950415"/>
            <a:ext cx="43526" cy="54407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extBox 134"/>
          <p:cNvSpPr txBox="1"/>
          <p:nvPr/>
        </p:nvSpPr>
        <p:spPr>
          <a:xfrm>
            <a:off x="8157057" y="1892808"/>
            <a:ext cx="576072" cy="185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Ownership</a:t>
            </a:r>
          </a:p>
        </p:txBody>
      </p:sp>
      <p:cxnSp>
        <p:nvCxnSpPr>
          <p:cNvPr id="136" name="Connector 135"/>
          <p:cNvCxnSpPr/>
          <p:nvPr/>
        </p:nvCxnSpPr>
        <p:spPr>
          <a:xfrm>
            <a:off x="8035442" y="2171242"/>
            <a:ext cx="20482" cy="19203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055924" y="2136038"/>
            <a:ext cx="43526" cy="54407"/>
          </a:xfrm>
          <a:prstGeom prst="line">
            <a:avLst/>
          </a:prstGeom>
          <a:ln w="12700">
            <a:solidFill>
              <a:srgbClr val="10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8157057" y="2078431"/>
            <a:ext cx="576072" cy="18562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Budgets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7452969" y="721461"/>
            <a:ext cx="275234" cy="0"/>
          </a:xfrm>
          <a:prstGeom prst="line">
            <a:avLst/>
          </a:prstGeom>
          <a:ln w="1524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728203" y="721461"/>
            <a:ext cx="0" cy="556870"/>
          </a:xfrm>
          <a:prstGeom prst="line">
            <a:avLst/>
          </a:prstGeom>
          <a:ln w="1524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728203" y="1278331"/>
            <a:ext cx="166421" cy="0"/>
          </a:xfrm>
          <a:prstGeom prst="line">
            <a:avLst/>
          </a:prstGeom>
          <a:ln w="15240">
            <a:solidFill>
              <a:srgbClr val="17479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452969" y="1483156"/>
            <a:ext cx="441655" cy="0"/>
          </a:xfrm>
          <a:prstGeom prst="line">
            <a:avLst/>
          </a:prstGeom>
          <a:ln w="15240">
            <a:solidFill>
              <a:srgbClr val="0077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452969" y="2257653"/>
            <a:ext cx="281635" cy="0"/>
          </a:xfrm>
          <a:prstGeom prst="line">
            <a:avLst/>
          </a:prstGeom>
          <a:ln w="1524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7734604" y="1623974"/>
            <a:ext cx="0" cy="633679"/>
          </a:xfrm>
          <a:prstGeom prst="line">
            <a:avLst/>
          </a:prstGeom>
          <a:ln w="1524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734604" y="1623974"/>
            <a:ext cx="160020" cy="0"/>
          </a:xfrm>
          <a:prstGeom prst="line">
            <a:avLst/>
          </a:prstGeom>
          <a:ln w="15240">
            <a:solidFill>
              <a:srgbClr val="E64A0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ounded Rectangle 145"/>
          <p:cNvSpPr/>
          <p:nvPr/>
        </p:nvSpPr>
        <p:spPr>
          <a:xfrm>
            <a:off x="9206788" y="478231"/>
            <a:ext cx="1446580" cy="187543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97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Down Arrow 146"/>
          <p:cNvSpPr/>
          <p:nvPr/>
        </p:nvSpPr>
        <p:spPr>
          <a:xfrm>
            <a:off x="10442143" y="478231"/>
            <a:ext cx="128016" cy="140817"/>
          </a:xfrm>
          <a:prstGeom prst="downArrow">
            <a:avLst>
              <a:gd name="adj1" fmla="val 72000"/>
              <a:gd name="adj2" fmla="val 38000"/>
            </a:avLst>
          </a:prstGeom>
          <a:solidFill>
            <a:srgbClr val="102C67"/>
          </a:solidFill>
          <a:ln w="381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322003" y="548640"/>
            <a:ext cx="1241755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10" b="1" i="0">
                <a:solidFill>
                  <a:srgbClr val="102C67"/>
                </a:solidFill>
                <a:latin typeface="Arial Narrow"/>
              </a:rPr>
              <a:t>World + task contract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9315602" y="779068"/>
            <a:ext cx="1228953" cy="0"/>
          </a:xfrm>
          <a:prstGeom prst="line">
            <a:avLst/>
          </a:prstGeom>
          <a:ln w="1143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Isosceles Triangle 149"/>
          <p:cNvSpPr/>
          <p:nvPr/>
        </p:nvSpPr>
        <p:spPr>
          <a:xfrm rot="5400000">
            <a:off x="9360407" y="862279"/>
            <a:ext cx="115214" cy="140817"/>
          </a:xfrm>
          <a:prstGeom prst="triangle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584435" y="830275"/>
            <a:ext cx="864108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Actions</a:t>
            </a:r>
          </a:p>
        </p:txBody>
      </p:sp>
      <p:cxnSp>
        <p:nvCxnSpPr>
          <p:cNvPr id="152" name="Connector 151"/>
          <p:cNvCxnSpPr/>
          <p:nvPr/>
        </p:nvCxnSpPr>
        <p:spPr>
          <a:xfrm>
            <a:off x="9322003" y="1054303"/>
            <a:ext cx="1228953" cy="0"/>
          </a:xfrm>
          <a:prstGeom prst="line">
            <a:avLst/>
          </a:prstGeom>
          <a:ln w="8890">
            <a:solidFill>
              <a:srgbClr val="9BB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Arc 152"/>
          <p:cNvSpPr/>
          <p:nvPr/>
        </p:nvSpPr>
        <p:spPr>
          <a:xfrm>
            <a:off x="9347606" y="1099108"/>
            <a:ext cx="115214" cy="115214"/>
          </a:xfrm>
          <a:prstGeom prst="arc">
            <a:avLst>
              <a:gd name="adj1" fmla="val 12000"/>
              <a:gd name="adj2" fmla="val 0"/>
            </a:avLst>
          </a:prstGeom>
          <a:noFill/>
          <a:ln w="1524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9424415" y="1182319"/>
            <a:ext cx="70409" cy="70409"/>
          </a:xfrm>
          <a:prstGeom prst="line">
            <a:avLst/>
          </a:prstGeom>
          <a:ln w="2286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Oval 154"/>
          <p:cNvSpPr/>
          <p:nvPr/>
        </p:nvSpPr>
        <p:spPr>
          <a:xfrm>
            <a:off x="9475622" y="1233525"/>
            <a:ext cx="32004" cy="3200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9584435" y="1079906"/>
            <a:ext cx="864108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Instruments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9322003" y="1303934"/>
            <a:ext cx="1228953" cy="0"/>
          </a:xfrm>
          <a:prstGeom prst="line">
            <a:avLst/>
          </a:prstGeom>
          <a:ln w="8890">
            <a:solidFill>
              <a:srgbClr val="9BB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Arc 157"/>
          <p:cNvSpPr/>
          <p:nvPr/>
        </p:nvSpPr>
        <p:spPr>
          <a:xfrm>
            <a:off x="9347606" y="1374343"/>
            <a:ext cx="153619" cy="96012"/>
          </a:xfrm>
          <a:prstGeom prst="arc">
            <a:avLst>
              <a:gd name="adj1" fmla="val 12000"/>
              <a:gd name="adj2" fmla="val 0"/>
            </a:avLst>
          </a:prstGeom>
          <a:noFill/>
          <a:ln w="1524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Arc 158"/>
          <p:cNvSpPr/>
          <p:nvPr/>
        </p:nvSpPr>
        <p:spPr>
          <a:xfrm rot="10800000">
            <a:off x="9347606" y="1374343"/>
            <a:ext cx="153619" cy="96012"/>
          </a:xfrm>
          <a:prstGeom prst="arc">
            <a:avLst>
              <a:gd name="adj1" fmla="val 12000"/>
              <a:gd name="adj2" fmla="val 0"/>
            </a:avLst>
          </a:prstGeom>
          <a:noFill/>
          <a:ln w="1524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9407517" y="1402186"/>
            <a:ext cx="22082" cy="22082"/>
          </a:xfrm>
          <a:prstGeom prst="ellipse">
            <a:avLst/>
          </a:prstGeom>
          <a:solidFill>
            <a:srgbClr val="17479E"/>
          </a:solidFill>
          <a:ln w="762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584435" y="1329537"/>
            <a:ext cx="864108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Observations</a:t>
            </a:r>
          </a:p>
        </p:txBody>
      </p:sp>
      <p:cxnSp>
        <p:nvCxnSpPr>
          <p:cNvPr id="162" name="Connector 161"/>
          <p:cNvCxnSpPr/>
          <p:nvPr/>
        </p:nvCxnSpPr>
        <p:spPr>
          <a:xfrm>
            <a:off x="9322003" y="1553565"/>
            <a:ext cx="1228953" cy="0"/>
          </a:xfrm>
          <a:prstGeom prst="line">
            <a:avLst/>
          </a:prstGeom>
          <a:ln w="8890">
            <a:solidFill>
              <a:srgbClr val="9BB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Rectangle 162"/>
          <p:cNvSpPr/>
          <p:nvPr/>
        </p:nvSpPr>
        <p:spPr>
          <a:xfrm>
            <a:off x="9360407" y="1629735"/>
            <a:ext cx="121615" cy="113166"/>
          </a:xfrm>
          <a:prstGeom prst="rect">
            <a:avLst/>
          </a:prstGeom>
          <a:solidFill>
            <a:srgbClr val="FFFFFF"/>
          </a:solidFill>
          <a:ln w="1270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9360407" y="1604772"/>
            <a:ext cx="121615" cy="5325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Arc 164"/>
          <p:cNvSpPr/>
          <p:nvPr/>
        </p:nvSpPr>
        <p:spPr>
          <a:xfrm rot="10800000">
            <a:off x="9360407" y="1658026"/>
            <a:ext cx="121615" cy="53254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Arc 165"/>
          <p:cNvSpPr/>
          <p:nvPr/>
        </p:nvSpPr>
        <p:spPr>
          <a:xfrm rot="10800000">
            <a:off x="9360407" y="1701296"/>
            <a:ext cx="121615" cy="53254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584435" y="1579168"/>
            <a:ext cx="864108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Resources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9322003" y="1803196"/>
            <a:ext cx="1228953" cy="0"/>
          </a:xfrm>
          <a:prstGeom prst="line">
            <a:avLst/>
          </a:prstGeom>
          <a:ln w="8890">
            <a:solidFill>
              <a:srgbClr val="9BB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9385755" y="1854403"/>
            <a:ext cx="0" cy="160020"/>
          </a:xfrm>
          <a:prstGeom prst="line">
            <a:avLst/>
          </a:prstGeom>
          <a:ln w="15240">
            <a:solidFill>
              <a:srgbClr val="1747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Isosceles Triangle 169"/>
          <p:cNvSpPr/>
          <p:nvPr/>
        </p:nvSpPr>
        <p:spPr>
          <a:xfrm rot="5400000">
            <a:off x="9385755" y="1854403"/>
            <a:ext cx="81674" cy="70408"/>
          </a:xfrm>
          <a:prstGeom prst="triangle">
            <a:avLst>
              <a:gd name="adj" fmla="val 12000"/>
            </a:avLst>
          </a:prstGeom>
          <a:solidFill>
            <a:srgbClr val="17479E"/>
          </a:solidFill>
          <a:ln w="635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584435" y="1828800"/>
            <a:ext cx="864108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Termination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9322003" y="2052828"/>
            <a:ext cx="1228953" cy="0"/>
          </a:xfrm>
          <a:prstGeom prst="line">
            <a:avLst/>
          </a:prstGeom>
          <a:ln w="8890">
            <a:solidFill>
              <a:srgbClr val="9BB2D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9360407" y="2203246"/>
            <a:ext cx="23938" cy="67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9402653" y="2161641"/>
            <a:ext cx="23938" cy="108813"/>
          </a:xfrm>
          <a:prstGeom prst="rect">
            <a:avLst/>
          </a:prstGeom>
          <a:solidFill>
            <a:srgbClr val="FFFFFF"/>
          </a:solidFill>
          <a:ln w="1270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9444898" y="2110435"/>
            <a:ext cx="23938" cy="160020"/>
          </a:xfrm>
          <a:prstGeom prst="rect">
            <a:avLst/>
          </a:prstGeom>
          <a:solidFill>
            <a:srgbClr val="FFFFFF"/>
          </a:solidFill>
          <a:ln w="12700">
            <a:solidFill>
              <a:srgbClr val="174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9584435" y="2078431"/>
            <a:ext cx="864108" cy="21762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101820"/>
                </a:solidFill>
                <a:latin typeface="Arial Narrow"/>
              </a:rPr>
              <a:t>Evaluation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8822740" y="1374343"/>
            <a:ext cx="313639" cy="0"/>
          </a:xfrm>
          <a:prstGeom prst="line">
            <a:avLst/>
          </a:prstGeom>
          <a:ln w="1651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Rounded Rectangle 177"/>
          <p:cNvSpPr/>
          <p:nvPr/>
        </p:nvSpPr>
        <p:spPr>
          <a:xfrm>
            <a:off x="7254544" y="2660904"/>
            <a:ext cx="2144268" cy="4160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102C6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ounded Rectangle 178"/>
          <p:cNvSpPr/>
          <p:nvPr/>
        </p:nvSpPr>
        <p:spPr>
          <a:xfrm>
            <a:off x="7401763" y="2820924"/>
            <a:ext cx="153619" cy="17282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Arc 179"/>
          <p:cNvSpPr/>
          <p:nvPr/>
        </p:nvSpPr>
        <p:spPr>
          <a:xfrm>
            <a:off x="7420965" y="2731312"/>
            <a:ext cx="115214" cy="160020"/>
          </a:xfrm>
          <a:prstGeom prst="arc">
            <a:avLst>
              <a:gd name="adj1" fmla="val 12000"/>
              <a:gd name="adj2" fmla="val 0"/>
            </a:avLst>
          </a:prstGeom>
          <a:noFill/>
          <a:ln w="12700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651394" y="2699308"/>
            <a:ext cx="1600200" cy="30723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101820"/>
                </a:solidFill>
                <a:latin typeface="Arial Narrow"/>
              </a:rPr>
              <a:t>Private state and laws
evaluator-owned (not in contract)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8368283" y="2302459"/>
            <a:ext cx="0" cy="358445"/>
          </a:xfrm>
          <a:prstGeom prst="line">
            <a:avLst/>
          </a:prstGeom>
          <a:ln w="11430">
            <a:solidFill>
              <a:srgbClr val="102C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H="1">
            <a:off x="7222540" y="2660904"/>
            <a:ext cx="1145743" cy="0"/>
          </a:xfrm>
          <a:prstGeom prst="line">
            <a:avLst/>
          </a:prstGeom>
          <a:ln w="11430">
            <a:solidFill>
              <a:srgbClr val="102C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22540" y="2660904"/>
            <a:ext cx="0" cy="198424"/>
          </a:xfrm>
          <a:prstGeom prst="line">
            <a:avLst/>
          </a:prstGeom>
          <a:ln w="11430">
            <a:solidFill>
              <a:srgbClr val="102C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222540" y="2859328"/>
            <a:ext cx="12802" cy="0"/>
          </a:xfrm>
          <a:prstGeom prst="line">
            <a:avLst/>
          </a:prstGeom>
          <a:ln w="11430">
            <a:solidFill>
              <a:srgbClr val="102C67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9782860" y="2353665"/>
            <a:ext cx="0" cy="499263"/>
          </a:xfrm>
          <a:prstGeom prst="line">
            <a:avLst/>
          </a:prstGeom>
          <a:ln w="11430">
            <a:solidFill>
              <a:srgbClr val="102C6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9424415" y="2852928"/>
            <a:ext cx="358445" cy="0"/>
          </a:xfrm>
          <a:prstGeom prst="line">
            <a:avLst/>
          </a:prstGeom>
          <a:ln w="11430">
            <a:solidFill>
              <a:srgbClr val="102C67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7"/>
          <p:cNvSpPr/>
          <p:nvPr/>
        </p:nvSpPr>
        <p:spPr>
          <a:xfrm>
            <a:off x="1487423" y="3704234"/>
            <a:ext cx="3648456" cy="75529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ounded Rectangle 188"/>
          <p:cNvSpPr/>
          <p:nvPr/>
        </p:nvSpPr>
        <p:spPr>
          <a:xfrm>
            <a:off x="5263895" y="3704234"/>
            <a:ext cx="614476" cy="75529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1711451" y="3621024"/>
            <a:ext cx="166420" cy="166420"/>
          </a:xfrm>
          <a:prstGeom prst="ellipse">
            <a:avLst/>
          </a:prstGeom>
          <a:solidFill>
            <a:srgbClr val="102C6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724253" y="3630625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679447" y="3832250"/>
            <a:ext cx="230428" cy="256032"/>
          </a:xfrm>
          <a:prstGeom prst="rect">
            <a:avLst/>
          </a:prstGeom>
          <a:solidFill>
            <a:srgbClr val="FFFFFF"/>
          </a:solidFill>
          <a:ln w="1397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716316" y="3878336"/>
            <a:ext cx="16130" cy="16130"/>
          </a:xfrm>
          <a:prstGeom prst="ellipse">
            <a:avLst/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4" name="Connector 193"/>
          <p:cNvCxnSpPr/>
          <p:nvPr/>
        </p:nvCxnSpPr>
        <p:spPr>
          <a:xfrm>
            <a:off x="1757793" y="3896258"/>
            <a:ext cx="112910" cy="0"/>
          </a:xfrm>
          <a:prstGeom prst="line">
            <a:avLst/>
          </a:prstGeom>
          <a:ln w="889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757793" y="3942344"/>
            <a:ext cx="112910" cy="0"/>
          </a:xfrm>
          <a:prstGeom prst="line">
            <a:avLst/>
          </a:prstGeom>
          <a:ln w="889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757793" y="3988429"/>
            <a:ext cx="112910" cy="0"/>
          </a:xfrm>
          <a:prstGeom prst="line">
            <a:avLst/>
          </a:prstGeom>
          <a:ln w="889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TextBox 196"/>
          <p:cNvSpPr txBox="1"/>
          <p:nvPr/>
        </p:nvSpPr>
        <p:spPr>
          <a:xfrm>
            <a:off x="1487423" y="4107484"/>
            <a:ext cx="614476" cy="2944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Task card
+ public history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1909876" y="3704234"/>
            <a:ext cx="499263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2441143" y="3621024"/>
            <a:ext cx="166420" cy="166420"/>
          </a:xfrm>
          <a:prstGeom prst="ellipse">
            <a:avLst/>
          </a:prstGeom>
          <a:solidFill>
            <a:srgbClr val="00777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3944" y="3630625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201" name="Oval 200"/>
          <p:cNvSpPr/>
          <p:nvPr/>
        </p:nvSpPr>
        <p:spPr>
          <a:xfrm>
            <a:off x="2482876" y="3832250"/>
            <a:ext cx="80650" cy="80650"/>
          </a:xfrm>
          <a:prstGeom prst="ellipse">
            <a:avLst/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2446007" y="3927110"/>
            <a:ext cx="154387" cy="137297"/>
          </a:xfrm>
          <a:prstGeom prst="roundRect">
            <a:avLst>
              <a:gd name="adj" fmla="val 12000"/>
            </a:avLst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217115" y="4107484"/>
            <a:ext cx="614476" cy="2944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Agent or
frozen policy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2639567" y="3704234"/>
            <a:ext cx="588874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Oval 204"/>
          <p:cNvSpPr/>
          <p:nvPr/>
        </p:nvSpPr>
        <p:spPr>
          <a:xfrm>
            <a:off x="3260445" y="3621024"/>
            <a:ext cx="166420" cy="166420"/>
          </a:xfrm>
          <a:prstGeom prst="ellipse">
            <a:avLst/>
          </a:prstGeom>
          <a:solidFill>
            <a:srgbClr val="00777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3273247" y="3630625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207" name="Isosceles Triangle 206"/>
          <p:cNvSpPr/>
          <p:nvPr/>
        </p:nvSpPr>
        <p:spPr>
          <a:xfrm rot="5400000">
            <a:off x="3241243" y="3838651"/>
            <a:ext cx="217627" cy="243230"/>
          </a:xfrm>
          <a:prstGeom prst="triangle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036417" y="4107484"/>
            <a:ext cx="614476" cy="2944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Typed action
or instrument</a:t>
            </a:r>
          </a:p>
        </p:txBody>
      </p:sp>
      <p:cxnSp>
        <p:nvCxnSpPr>
          <p:cNvPr id="209" name="Connector 208"/>
          <p:cNvCxnSpPr/>
          <p:nvPr/>
        </p:nvCxnSpPr>
        <p:spPr>
          <a:xfrm>
            <a:off x="3458870" y="3704234"/>
            <a:ext cx="556869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Oval 209"/>
          <p:cNvSpPr/>
          <p:nvPr/>
        </p:nvSpPr>
        <p:spPr>
          <a:xfrm>
            <a:off x="4047743" y="3621024"/>
            <a:ext cx="166420" cy="166420"/>
          </a:xfrm>
          <a:prstGeom prst="ellipse">
            <a:avLst/>
          </a:prstGeom>
          <a:solidFill>
            <a:srgbClr val="E64A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4060545" y="3630625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4028541" y="3825849"/>
            <a:ext cx="204825" cy="268833"/>
          </a:xfrm>
          <a:prstGeom prst="rect">
            <a:avLst/>
          </a:prstGeom>
          <a:solidFill>
            <a:srgbClr val="FFFFFF"/>
          </a:solidFill>
          <a:ln w="1397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3" name="Connector 212"/>
          <p:cNvCxnSpPr/>
          <p:nvPr/>
        </p:nvCxnSpPr>
        <p:spPr>
          <a:xfrm>
            <a:off x="4053120" y="3900764"/>
            <a:ext cx="9176" cy="8603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4062296" y="3884992"/>
            <a:ext cx="19500" cy="24375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4104326" y="3901123"/>
            <a:ext cx="92172" cy="0"/>
          </a:xfrm>
          <a:prstGeom prst="line">
            <a:avLst/>
          </a:prstGeom>
          <a:ln w="889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4053120" y="3962596"/>
            <a:ext cx="9176" cy="8602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 flipV="1">
            <a:off x="4062296" y="3946824"/>
            <a:ext cx="19500" cy="24374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4104326" y="3962954"/>
            <a:ext cx="92172" cy="0"/>
          </a:xfrm>
          <a:prstGeom prst="line">
            <a:avLst/>
          </a:prstGeom>
          <a:ln w="889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4053120" y="4024428"/>
            <a:ext cx="9176" cy="8602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4062296" y="4008656"/>
            <a:ext cx="19500" cy="24374"/>
          </a:xfrm>
          <a:prstGeom prst="line">
            <a:avLst/>
          </a:prstGeom>
          <a:ln w="1016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4104326" y="4024786"/>
            <a:ext cx="92172" cy="0"/>
          </a:xfrm>
          <a:prstGeom prst="line">
            <a:avLst/>
          </a:prstGeom>
          <a:ln w="889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>
            <a:off x="3823715" y="4107484"/>
            <a:ext cx="614476" cy="2944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Schema +
preflight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4246168" y="3704234"/>
            <a:ext cx="448056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Oval 223"/>
          <p:cNvSpPr/>
          <p:nvPr/>
        </p:nvSpPr>
        <p:spPr>
          <a:xfrm>
            <a:off x="4726228" y="3621024"/>
            <a:ext cx="166420" cy="166420"/>
          </a:xfrm>
          <a:prstGeom prst="ellipse">
            <a:avLst/>
          </a:prstGeom>
          <a:solidFill>
            <a:srgbClr val="E31A1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4739030" y="3630625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5</a:t>
            </a:r>
          </a:p>
        </p:txBody>
      </p:sp>
      <p:sp>
        <p:nvSpPr>
          <p:cNvPr id="226" name="Hexagon 225"/>
          <p:cNvSpPr/>
          <p:nvPr/>
        </p:nvSpPr>
        <p:spPr>
          <a:xfrm rot="5400000">
            <a:off x="4694224" y="3832250"/>
            <a:ext cx="230428" cy="188951"/>
          </a:xfrm>
          <a:prstGeom prst="hexagon">
            <a:avLst>
              <a:gd name="adj" fmla="val 12000"/>
              <a:gd name="vf" fmla="val 115470"/>
            </a:avLst>
          </a:prstGeom>
          <a:solidFill>
            <a:srgbClr val="FFFFFF"/>
          </a:solidFill>
          <a:ln w="1397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Connector 226"/>
          <p:cNvCxnSpPr/>
          <p:nvPr/>
        </p:nvCxnSpPr>
        <p:spPr>
          <a:xfrm>
            <a:off x="4809439" y="3864510"/>
            <a:ext cx="0" cy="124431"/>
          </a:xfrm>
          <a:prstGeom prst="line">
            <a:avLst/>
          </a:prstGeom>
          <a:ln w="1016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4735701" y="3896770"/>
            <a:ext cx="73738" cy="36869"/>
          </a:xfrm>
          <a:prstGeom prst="line">
            <a:avLst/>
          </a:prstGeom>
          <a:ln w="1016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H="1">
            <a:off x="4809439" y="3896770"/>
            <a:ext cx="73737" cy="36869"/>
          </a:xfrm>
          <a:prstGeom prst="line">
            <a:avLst/>
          </a:prstGeom>
          <a:ln w="1016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TextBox 229"/>
          <p:cNvSpPr txBox="1"/>
          <p:nvPr/>
        </p:nvSpPr>
        <p:spPr>
          <a:xfrm>
            <a:off x="4502200" y="4107484"/>
            <a:ext cx="614476" cy="2944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Transaction /
candidate
execution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4924653" y="3704234"/>
            <a:ext cx="505663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Oval 231"/>
          <p:cNvSpPr/>
          <p:nvPr/>
        </p:nvSpPr>
        <p:spPr>
          <a:xfrm>
            <a:off x="5462320" y="3621024"/>
            <a:ext cx="166420" cy="166420"/>
          </a:xfrm>
          <a:prstGeom prst="ellipse">
            <a:avLst/>
          </a:prstGeom>
          <a:solidFill>
            <a:srgbClr val="E31A1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5475122" y="3630625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423915" y="3862654"/>
            <a:ext cx="243230" cy="1958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5423915" y="3819448"/>
            <a:ext cx="243230" cy="9217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Arc 235"/>
          <p:cNvSpPr/>
          <p:nvPr/>
        </p:nvSpPr>
        <p:spPr>
          <a:xfrm rot="10800000">
            <a:off x="5423915" y="3911620"/>
            <a:ext cx="243230" cy="92171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Arc 236"/>
          <p:cNvSpPr/>
          <p:nvPr/>
        </p:nvSpPr>
        <p:spPr>
          <a:xfrm rot="10800000">
            <a:off x="5423915" y="3986509"/>
            <a:ext cx="243230" cy="92171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238292" y="4107484"/>
            <a:ext cx="614476" cy="2944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Commit
or rollback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487423" y="4766767"/>
            <a:ext cx="3648456" cy="8705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685848" y="4683556"/>
            <a:ext cx="166420" cy="166420"/>
          </a:xfrm>
          <a:prstGeom prst="ellipse">
            <a:avLst/>
          </a:prstGeom>
          <a:solidFill>
            <a:srgbClr val="102C6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698650" y="4693158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10</a:t>
            </a:r>
          </a:p>
        </p:txBody>
      </p:sp>
      <p:cxnSp>
        <p:nvCxnSpPr>
          <p:cNvPr id="242" name="Connector 241"/>
          <p:cNvCxnSpPr/>
          <p:nvPr/>
        </p:nvCxnSpPr>
        <p:spPr>
          <a:xfrm>
            <a:off x="1699418" y="4894783"/>
            <a:ext cx="0" cy="236829"/>
          </a:xfrm>
          <a:prstGeom prst="line">
            <a:avLst/>
          </a:prstGeom>
          <a:ln w="1524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Isosceles Triangle 242"/>
          <p:cNvSpPr/>
          <p:nvPr/>
        </p:nvSpPr>
        <p:spPr>
          <a:xfrm rot="5400000">
            <a:off x="1699418" y="4894783"/>
            <a:ext cx="126223" cy="104205"/>
          </a:xfrm>
          <a:prstGeom prst="triangle">
            <a:avLst>
              <a:gd name="adj" fmla="val 12000"/>
            </a:avLst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468221" y="5150815"/>
            <a:ext cx="601675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01820"/>
                </a:solidFill>
                <a:latin typeface="Arial Narrow"/>
              </a:rPr>
              <a:t>Explicit
terminate +
final assay +
evaluation</a:t>
            </a:r>
          </a:p>
        </p:txBody>
      </p:sp>
      <p:cxnSp>
        <p:nvCxnSpPr>
          <p:cNvPr id="245" name="Connector 244"/>
          <p:cNvCxnSpPr/>
          <p:nvPr/>
        </p:nvCxnSpPr>
        <p:spPr>
          <a:xfrm>
            <a:off x="1884273" y="4766767"/>
            <a:ext cx="441655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Oval 245"/>
          <p:cNvSpPr/>
          <p:nvPr/>
        </p:nvSpPr>
        <p:spPr>
          <a:xfrm>
            <a:off x="2357932" y="4683556"/>
            <a:ext cx="166420" cy="166420"/>
          </a:xfrm>
          <a:prstGeom prst="ellipse">
            <a:avLst/>
          </a:prstGeom>
          <a:solidFill>
            <a:srgbClr val="08783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2370734" y="4693158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9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332329" y="5043921"/>
            <a:ext cx="36996" cy="94091"/>
          </a:xfrm>
          <a:prstGeom prst="rect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2397617" y="4985674"/>
            <a:ext cx="36996" cy="152339"/>
          </a:xfrm>
          <a:prstGeom prst="rect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2462905" y="4913985"/>
            <a:ext cx="36996" cy="2240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140305" y="5150815"/>
            <a:ext cx="601675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01820"/>
                </a:solidFill>
                <a:latin typeface="Arial Narrow"/>
              </a:rPr>
              <a:t>Resource
delta</a:t>
            </a:r>
          </a:p>
        </p:txBody>
      </p:sp>
      <p:cxnSp>
        <p:nvCxnSpPr>
          <p:cNvPr id="252" name="Connector 251"/>
          <p:cNvCxnSpPr/>
          <p:nvPr/>
        </p:nvCxnSpPr>
        <p:spPr>
          <a:xfrm>
            <a:off x="2556357" y="4766767"/>
            <a:ext cx="492862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Oval 252"/>
          <p:cNvSpPr/>
          <p:nvPr/>
        </p:nvSpPr>
        <p:spPr>
          <a:xfrm>
            <a:off x="3081223" y="4683556"/>
            <a:ext cx="166420" cy="166420"/>
          </a:xfrm>
          <a:prstGeom prst="ellipse">
            <a:avLst/>
          </a:prstGeom>
          <a:solidFill>
            <a:srgbClr val="08783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094024" y="4693158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8</a:t>
            </a:r>
          </a:p>
        </p:txBody>
      </p:sp>
      <p:sp>
        <p:nvSpPr>
          <p:cNvPr id="255" name="Oval 254"/>
          <p:cNvSpPr/>
          <p:nvPr/>
        </p:nvSpPr>
        <p:spPr>
          <a:xfrm>
            <a:off x="3049219" y="4901184"/>
            <a:ext cx="230428" cy="17973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Isosceles Triangle 255"/>
          <p:cNvSpPr/>
          <p:nvPr/>
        </p:nvSpPr>
        <p:spPr>
          <a:xfrm rot="12000000">
            <a:off x="3095304" y="5039441"/>
            <a:ext cx="41477" cy="62215"/>
          </a:xfrm>
          <a:prstGeom prst="triangle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118347" y="4970312"/>
            <a:ext cx="12673" cy="12673"/>
          </a:xfrm>
          <a:prstGeom prst="ellipse">
            <a:avLst/>
          </a:prstGeom>
          <a:solidFill>
            <a:srgbClr val="007774"/>
          </a:solidFill>
          <a:ln w="508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159824" y="4970312"/>
            <a:ext cx="12673" cy="12673"/>
          </a:xfrm>
          <a:prstGeom prst="ellipse">
            <a:avLst/>
          </a:prstGeom>
          <a:solidFill>
            <a:srgbClr val="007774"/>
          </a:solidFill>
          <a:ln w="508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3201302" y="4970312"/>
            <a:ext cx="12673" cy="12673"/>
          </a:xfrm>
          <a:prstGeom prst="ellipse">
            <a:avLst/>
          </a:prstGeom>
          <a:solidFill>
            <a:srgbClr val="007774"/>
          </a:solidFill>
          <a:ln w="508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863595" y="5150815"/>
            <a:ext cx="601675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01820"/>
                </a:solidFill>
                <a:latin typeface="Arial Narrow"/>
              </a:rPr>
              <a:t>Public
observation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3279647" y="4766767"/>
            <a:ext cx="460858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3772509" y="4683556"/>
            <a:ext cx="166420" cy="166420"/>
          </a:xfrm>
          <a:prstGeom prst="ellipse">
            <a:avLst/>
          </a:prstGeom>
          <a:solidFill>
            <a:srgbClr val="08783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3785311" y="4693158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8</a:t>
            </a:r>
          </a:p>
        </p:txBody>
      </p:sp>
      <p:cxnSp>
        <p:nvCxnSpPr>
          <p:cNvPr id="264" name="Connector 263"/>
          <p:cNvCxnSpPr/>
          <p:nvPr/>
        </p:nvCxnSpPr>
        <p:spPr>
          <a:xfrm flipV="1">
            <a:off x="3758427" y="4952902"/>
            <a:ext cx="76810" cy="129040"/>
          </a:xfrm>
          <a:prstGeom prst="line">
            <a:avLst/>
          </a:prstGeom>
          <a:ln w="12700">
            <a:solidFill>
              <a:srgbClr val="087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3835237" y="4952902"/>
            <a:ext cx="81930" cy="48390"/>
          </a:xfrm>
          <a:prstGeom prst="line">
            <a:avLst/>
          </a:prstGeom>
          <a:ln w="12700">
            <a:solidFill>
              <a:srgbClr val="087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3917167" y="5001292"/>
            <a:ext cx="35845" cy="96780"/>
          </a:xfrm>
          <a:prstGeom prst="line">
            <a:avLst/>
          </a:prstGeom>
          <a:ln w="12700">
            <a:solidFill>
              <a:srgbClr val="087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 flipV="1">
            <a:off x="3758427" y="5001292"/>
            <a:ext cx="158740" cy="80650"/>
          </a:xfrm>
          <a:prstGeom prst="line">
            <a:avLst/>
          </a:prstGeom>
          <a:ln w="12700">
            <a:solidFill>
              <a:srgbClr val="0878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Oval 267"/>
          <p:cNvSpPr/>
          <p:nvPr/>
        </p:nvSpPr>
        <p:spPr>
          <a:xfrm>
            <a:off x="3739225" y="5062740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3816034" y="4933700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3897965" y="4982090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933809" y="5078870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3554882" y="5150815"/>
            <a:ext cx="601675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01820"/>
                </a:solidFill>
                <a:latin typeface="Arial Narrow"/>
              </a:rPr>
              <a:t>State
transition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3970934" y="4766767"/>
            <a:ext cx="742493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Oval 273"/>
          <p:cNvSpPr/>
          <p:nvPr/>
        </p:nvSpPr>
        <p:spPr>
          <a:xfrm>
            <a:off x="4745431" y="4683556"/>
            <a:ext cx="166420" cy="166420"/>
          </a:xfrm>
          <a:prstGeom prst="ellipse">
            <a:avLst/>
          </a:prstGeom>
          <a:solidFill>
            <a:srgbClr val="E31A1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4758232" y="4693158"/>
            <a:ext cx="140817" cy="14721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Arial Narrow"/>
              </a:rPr>
              <a:t>6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700625" y="4928067"/>
            <a:ext cx="256032" cy="208922"/>
          </a:xfrm>
          <a:prstGeom prst="rect">
            <a:avLst/>
          </a:prstGeom>
          <a:solidFill>
            <a:srgbClr val="FFFFFF"/>
          </a:solidFill>
          <a:ln w="1270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4700625" y="4881981"/>
            <a:ext cx="256032" cy="9831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Arc 277"/>
          <p:cNvSpPr/>
          <p:nvPr/>
        </p:nvSpPr>
        <p:spPr>
          <a:xfrm rot="10800000">
            <a:off x="4700625" y="4980297"/>
            <a:ext cx="256032" cy="98316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Arc 278"/>
          <p:cNvSpPr/>
          <p:nvPr/>
        </p:nvSpPr>
        <p:spPr>
          <a:xfrm rot="10800000">
            <a:off x="4700625" y="5060179"/>
            <a:ext cx="256032" cy="98316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4527803" y="5150815"/>
            <a:ext cx="601675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101820"/>
                </a:solidFill>
                <a:latin typeface="Arial Narrow"/>
              </a:rPr>
              <a:t>Commit
or rollback</a:t>
            </a:r>
          </a:p>
        </p:txBody>
      </p:sp>
      <p:cxnSp>
        <p:nvCxnSpPr>
          <p:cNvPr id="281" name="Connector 280"/>
          <p:cNvCxnSpPr/>
          <p:nvPr/>
        </p:nvCxnSpPr>
        <p:spPr>
          <a:xfrm>
            <a:off x="5135879" y="4005072"/>
            <a:ext cx="128016" cy="0"/>
          </a:xfrm>
          <a:prstGeom prst="line">
            <a:avLst/>
          </a:prstGeom>
          <a:ln w="13970">
            <a:solidFill>
              <a:srgbClr val="08783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 flipH="1">
            <a:off x="5135879" y="4811572"/>
            <a:ext cx="128016" cy="0"/>
          </a:xfrm>
          <a:prstGeom prst="line">
            <a:avLst/>
          </a:prstGeom>
          <a:ln w="12700">
            <a:solidFill>
              <a:srgbClr val="E31A1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 flipV="1">
            <a:off x="5135879" y="4389120"/>
            <a:ext cx="0" cy="422452"/>
          </a:xfrm>
          <a:prstGeom prst="line">
            <a:avLst/>
          </a:prstGeom>
          <a:ln w="12700">
            <a:solidFill>
              <a:srgbClr val="E31A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5135879" y="4389120"/>
            <a:ext cx="102413" cy="0"/>
          </a:xfrm>
          <a:prstGeom prst="line">
            <a:avLst/>
          </a:prstGeom>
          <a:ln w="12700">
            <a:solidFill>
              <a:srgbClr val="E31A1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5238292" y="4389120"/>
            <a:ext cx="0" cy="64008"/>
          </a:xfrm>
          <a:prstGeom prst="line">
            <a:avLst/>
          </a:prstGeom>
          <a:ln w="12700">
            <a:solidFill>
              <a:srgbClr val="E31A1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3324453" y="4363516"/>
            <a:ext cx="0" cy="326441"/>
          </a:xfrm>
          <a:prstGeom prst="line">
            <a:avLst/>
          </a:prstGeom>
          <a:ln w="12700">
            <a:solidFill>
              <a:srgbClr val="E31A1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3356457" y="4497933"/>
            <a:ext cx="371246" cy="1536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E31A1C"/>
                </a:solidFill>
                <a:latin typeface="Arial Narrow"/>
              </a:rPr>
              <a:t>Invalid</a:t>
            </a:r>
          </a:p>
        </p:txBody>
      </p:sp>
      <p:cxnSp>
        <p:nvCxnSpPr>
          <p:cNvPr id="288" name="Connector 287"/>
          <p:cNvCxnSpPr/>
          <p:nvPr/>
        </p:nvCxnSpPr>
        <p:spPr>
          <a:xfrm>
            <a:off x="4111751" y="4363516"/>
            <a:ext cx="0" cy="326441"/>
          </a:xfrm>
          <a:prstGeom prst="line">
            <a:avLst/>
          </a:prstGeom>
          <a:ln w="12700">
            <a:solidFill>
              <a:srgbClr val="E31A1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TextBox 288"/>
          <p:cNvSpPr txBox="1"/>
          <p:nvPr/>
        </p:nvSpPr>
        <p:spPr>
          <a:xfrm>
            <a:off x="4150156" y="4497933"/>
            <a:ext cx="371246" cy="1536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E31A1C"/>
                </a:solidFill>
                <a:latin typeface="Arial Narrow"/>
              </a:rPr>
              <a:t>Failed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2140305" y="5406847"/>
            <a:ext cx="3597249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1430">
            <a:solidFill>
              <a:srgbClr val="E31A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2274722" y="552846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31A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>
            <a:off x="2357932" y="5605272"/>
            <a:ext cx="83211" cy="89611"/>
          </a:xfrm>
          <a:prstGeom prst="line">
            <a:avLst/>
          </a:prstGeom>
          <a:ln w="1651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H="1">
            <a:off x="2357932" y="5605272"/>
            <a:ext cx="83211" cy="89611"/>
          </a:xfrm>
          <a:prstGeom prst="line">
            <a:avLst/>
          </a:prstGeom>
          <a:ln w="1651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extBox 293"/>
          <p:cNvSpPr txBox="1"/>
          <p:nvPr/>
        </p:nvSpPr>
        <p:spPr>
          <a:xfrm>
            <a:off x="2562758" y="5490057"/>
            <a:ext cx="480060" cy="26883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101820"/>
                </a:solidFill>
                <a:latin typeface="Arial Narrow"/>
              </a:rPr>
              <a:t>Failure is
recorded</a:t>
            </a:r>
          </a:p>
        </p:txBody>
      </p:sp>
      <p:cxnSp>
        <p:nvCxnSpPr>
          <p:cNvPr id="295" name="Connector 294"/>
          <p:cNvCxnSpPr/>
          <p:nvPr/>
        </p:nvCxnSpPr>
        <p:spPr>
          <a:xfrm>
            <a:off x="2998012" y="5669280"/>
            <a:ext cx="294437" cy="0"/>
          </a:xfrm>
          <a:prstGeom prst="line">
            <a:avLst/>
          </a:prstGeom>
          <a:ln w="12700">
            <a:solidFill>
              <a:srgbClr val="E31A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Oval 295"/>
          <p:cNvSpPr/>
          <p:nvPr/>
        </p:nvSpPr>
        <p:spPr>
          <a:xfrm>
            <a:off x="3362858" y="552846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31A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Hexagon 296"/>
          <p:cNvSpPr/>
          <p:nvPr/>
        </p:nvSpPr>
        <p:spPr>
          <a:xfrm rot="5400000">
            <a:off x="3433267" y="5592470"/>
            <a:ext cx="128016" cy="104973"/>
          </a:xfrm>
          <a:prstGeom prst="hexagon">
            <a:avLst>
              <a:gd name="adj" fmla="val 12000"/>
              <a:gd name="vf" fmla="val 115470"/>
            </a:avLst>
          </a:prstGeom>
          <a:solidFill>
            <a:srgbClr val="FFFFFF"/>
          </a:solidFill>
          <a:ln w="1397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Connector 297"/>
          <p:cNvCxnSpPr/>
          <p:nvPr/>
        </p:nvCxnSpPr>
        <p:spPr>
          <a:xfrm>
            <a:off x="3497275" y="5610392"/>
            <a:ext cx="0" cy="69129"/>
          </a:xfrm>
          <a:prstGeom prst="line">
            <a:avLst/>
          </a:prstGeom>
          <a:ln w="1016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3456309" y="5628314"/>
            <a:ext cx="40966" cy="20483"/>
          </a:xfrm>
          <a:prstGeom prst="line">
            <a:avLst/>
          </a:prstGeom>
          <a:ln w="1016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 flipH="1">
            <a:off x="3497275" y="5628314"/>
            <a:ext cx="40965" cy="20483"/>
          </a:xfrm>
          <a:prstGeom prst="line">
            <a:avLst/>
          </a:prstGeom>
          <a:ln w="10160">
            <a:solidFill>
              <a:srgbClr val="E3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1" name="TextBox 300"/>
          <p:cNvSpPr txBox="1"/>
          <p:nvPr/>
        </p:nvSpPr>
        <p:spPr>
          <a:xfrm>
            <a:off x="3689299" y="5490057"/>
            <a:ext cx="768096" cy="26883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01820"/>
                </a:solidFill>
                <a:latin typeface="Arial Narrow"/>
              </a:rPr>
              <a:t>Rejected candidate
state is not installed</a:t>
            </a:r>
          </a:p>
        </p:txBody>
      </p:sp>
      <p:cxnSp>
        <p:nvCxnSpPr>
          <p:cNvPr id="302" name="Connector 301"/>
          <p:cNvCxnSpPr/>
          <p:nvPr/>
        </p:nvCxnSpPr>
        <p:spPr>
          <a:xfrm>
            <a:off x="4470196" y="5669280"/>
            <a:ext cx="243231" cy="0"/>
          </a:xfrm>
          <a:prstGeom prst="line">
            <a:avLst/>
          </a:prstGeom>
          <a:ln w="12700">
            <a:solidFill>
              <a:srgbClr val="E31A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Oval 302"/>
          <p:cNvSpPr/>
          <p:nvPr/>
        </p:nvSpPr>
        <p:spPr>
          <a:xfrm>
            <a:off x="4739030" y="5528462"/>
            <a:ext cx="256032" cy="256032"/>
          </a:xfrm>
          <a:prstGeom prst="ellipse">
            <a:avLst/>
          </a:prstGeom>
          <a:solidFill>
            <a:srgbClr val="FFFFFF"/>
          </a:solidFill>
          <a:ln w="10160">
            <a:solidFill>
              <a:srgbClr val="E31A1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809439" y="5611992"/>
            <a:ext cx="121615" cy="117518"/>
          </a:xfrm>
          <a:prstGeom prst="rect">
            <a:avLst/>
          </a:prstGeom>
          <a:solidFill>
            <a:srgbClr val="FFFFFF"/>
          </a:solidFill>
          <a:ln w="1270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4809439" y="5586069"/>
            <a:ext cx="121615" cy="5530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Arc 305"/>
          <p:cNvSpPr/>
          <p:nvPr/>
        </p:nvSpPr>
        <p:spPr>
          <a:xfrm rot="10800000">
            <a:off x="4809439" y="5641372"/>
            <a:ext cx="121615" cy="55302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Arc 306"/>
          <p:cNvSpPr/>
          <p:nvPr/>
        </p:nvSpPr>
        <p:spPr>
          <a:xfrm rot="10800000">
            <a:off x="4809439" y="5686306"/>
            <a:ext cx="121615" cy="55302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31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5020665" y="5490057"/>
            <a:ext cx="640080" cy="26883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101820"/>
                </a:solidFill>
                <a:latin typeface="Arial Narrow"/>
              </a:rPr>
              <a:t>Rollback preserves
last committed state</a:t>
            </a:r>
          </a:p>
        </p:txBody>
      </p:sp>
      <p:sp>
        <p:nvSpPr>
          <p:cNvPr id="309" name="Rounded Rectangle 308"/>
          <p:cNvSpPr/>
          <p:nvPr/>
        </p:nvSpPr>
        <p:spPr>
          <a:xfrm>
            <a:off x="1980285" y="6034125"/>
            <a:ext cx="3763670" cy="24963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2991611" y="6101974"/>
            <a:ext cx="115214" cy="104461"/>
          </a:xfrm>
          <a:prstGeom prst="rect">
            <a:avLst/>
          </a:prstGeom>
          <a:solidFill>
            <a:srgbClr val="FFFFFF"/>
          </a:solidFill>
          <a:ln w="1270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2991611" y="6078931"/>
            <a:ext cx="115214" cy="49158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Arc 311"/>
          <p:cNvSpPr/>
          <p:nvPr/>
        </p:nvSpPr>
        <p:spPr>
          <a:xfrm rot="10800000">
            <a:off x="2991611" y="6128089"/>
            <a:ext cx="115214" cy="49158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Arc 312"/>
          <p:cNvSpPr/>
          <p:nvPr/>
        </p:nvSpPr>
        <p:spPr>
          <a:xfrm rot="10800000">
            <a:off x="2991611" y="6168030"/>
            <a:ext cx="115214" cy="49158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087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TextBox 313"/>
          <p:cNvSpPr txBox="1"/>
          <p:nvPr/>
        </p:nvSpPr>
        <p:spPr>
          <a:xfrm>
            <a:off x="3202838" y="6046927"/>
            <a:ext cx="1536192" cy="20482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101820"/>
                </a:solidFill>
                <a:latin typeface="Arial Narrow"/>
              </a:rPr>
              <a:t>Only committed state persists</a:t>
            </a:r>
          </a:p>
        </p:txBody>
      </p:sp>
      <p:sp>
        <p:nvSpPr>
          <p:cNvPr id="315" name="Rounded Rectangle 314"/>
          <p:cNvSpPr/>
          <p:nvPr/>
        </p:nvSpPr>
        <p:spPr>
          <a:xfrm>
            <a:off x="6236817" y="3672230"/>
            <a:ext cx="1965045" cy="6144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358432" y="3787444"/>
            <a:ext cx="236829" cy="358444"/>
          </a:xfrm>
          <a:prstGeom prst="rect">
            <a:avLst/>
          </a:prstGeom>
          <a:solidFill>
            <a:srgbClr val="FFFFFF"/>
          </a:solidFill>
          <a:ln w="1397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6396325" y="3851964"/>
            <a:ext cx="16578" cy="16578"/>
          </a:xfrm>
          <a:prstGeom prst="ellipse">
            <a:avLst/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8" name="Connector 317"/>
          <p:cNvCxnSpPr/>
          <p:nvPr/>
        </p:nvCxnSpPr>
        <p:spPr>
          <a:xfrm>
            <a:off x="6438954" y="3877056"/>
            <a:ext cx="116047" cy="0"/>
          </a:xfrm>
          <a:prstGeom prst="line">
            <a:avLst/>
          </a:prstGeom>
          <a:ln w="889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6438954" y="3941576"/>
            <a:ext cx="116047" cy="0"/>
          </a:xfrm>
          <a:prstGeom prst="line">
            <a:avLst/>
          </a:prstGeom>
          <a:ln w="889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6438954" y="4006096"/>
            <a:ext cx="116047" cy="0"/>
          </a:xfrm>
          <a:prstGeom prst="line">
            <a:avLst/>
          </a:prstGeom>
          <a:ln w="8890">
            <a:solidFill>
              <a:srgbClr val="102C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6755282" y="3755440"/>
            <a:ext cx="1120140" cy="2944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02C67"/>
                </a:solidFill>
                <a:latin typeface="Arial Narrow"/>
              </a:rPr>
              <a:t>Typed actions +
transactions</a:t>
            </a:r>
          </a:p>
        </p:txBody>
      </p:sp>
      <p:cxnSp>
        <p:nvCxnSpPr>
          <p:cNvPr id="322" name="Connector 321"/>
          <p:cNvCxnSpPr/>
          <p:nvPr/>
        </p:nvCxnSpPr>
        <p:spPr>
          <a:xfrm>
            <a:off x="6768083" y="4145889"/>
            <a:ext cx="966521" cy="0"/>
          </a:xfrm>
          <a:prstGeom prst="line">
            <a:avLst/>
          </a:prstGeom>
          <a:ln w="1143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Oval 322"/>
          <p:cNvSpPr/>
          <p:nvPr/>
        </p:nvSpPr>
        <p:spPr>
          <a:xfrm>
            <a:off x="6800087" y="4107484"/>
            <a:ext cx="70408" cy="7040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036917" y="4107484"/>
            <a:ext cx="70408" cy="7040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7273747" y="4107484"/>
            <a:ext cx="70408" cy="7040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10576" y="4107484"/>
            <a:ext cx="70408" cy="70408"/>
          </a:xfrm>
          <a:prstGeom prst="ellipse">
            <a:avLst/>
          </a:prstGeom>
          <a:solidFill>
            <a:srgbClr val="FFFFFF"/>
          </a:solidFill>
          <a:ln w="1143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7811414" y="4069080"/>
            <a:ext cx="230428" cy="14081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02C67"/>
                </a:solidFill>
                <a:latin typeface="Arial Narrow"/>
              </a:rPr>
              <a:t>•••</a:t>
            </a:r>
          </a:p>
        </p:txBody>
      </p:sp>
      <p:sp>
        <p:nvSpPr>
          <p:cNvPr id="328" name="Rounded Rectangle 327"/>
          <p:cNvSpPr/>
          <p:nvPr/>
        </p:nvSpPr>
        <p:spPr>
          <a:xfrm>
            <a:off x="6236817" y="4376318"/>
            <a:ext cx="1965045" cy="6144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Chevron 328"/>
          <p:cNvSpPr/>
          <p:nvPr/>
        </p:nvSpPr>
        <p:spPr>
          <a:xfrm rot="5400000">
            <a:off x="6352031" y="4491532"/>
            <a:ext cx="268833" cy="163988"/>
          </a:xfrm>
          <a:prstGeom prst="chevron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Chevron 329"/>
          <p:cNvSpPr/>
          <p:nvPr/>
        </p:nvSpPr>
        <p:spPr>
          <a:xfrm rot="5400000">
            <a:off x="6352031" y="4581336"/>
            <a:ext cx="268833" cy="163988"/>
          </a:xfrm>
          <a:prstGeom prst="chevron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Chevron 330"/>
          <p:cNvSpPr/>
          <p:nvPr/>
        </p:nvSpPr>
        <p:spPr>
          <a:xfrm rot="5400000">
            <a:off x="6352031" y="4671139"/>
            <a:ext cx="268833" cy="163988"/>
          </a:xfrm>
          <a:prstGeom prst="chevron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TextBox 331"/>
          <p:cNvSpPr txBox="1"/>
          <p:nvPr/>
        </p:nvSpPr>
        <p:spPr>
          <a:xfrm>
            <a:off x="6768083" y="4446727"/>
            <a:ext cx="1248156" cy="27523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774"/>
                </a:solidFill>
                <a:latin typeface="Arial Narrow"/>
              </a:rPr>
              <a:t>Hidden/public state +
observations</a:t>
            </a:r>
          </a:p>
        </p:txBody>
      </p:sp>
      <p:cxnSp>
        <p:nvCxnSpPr>
          <p:cNvPr id="333" name="Connector 332"/>
          <p:cNvCxnSpPr/>
          <p:nvPr/>
        </p:nvCxnSpPr>
        <p:spPr>
          <a:xfrm flipV="1">
            <a:off x="6848733" y="4779568"/>
            <a:ext cx="153620" cy="76810"/>
          </a:xfrm>
          <a:prstGeom prst="line">
            <a:avLst/>
          </a:prstGeom>
          <a:ln w="127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7002353" y="4779568"/>
            <a:ext cx="163860" cy="28804"/>
          </a:xfrm>
          <a:prstGeom prst="line">
            <a:avLst/>
          </a:prstGeom>
          <a:ln w="127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7166213" y="4808372"/>
            <a:ext cx="71689" cy="57607"/>
          </a:xfrm>
          <a:prstGeom prst="line">
            <a:avLst/>
          </a:prstGeom>
          <a:ln w="127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 flipV="1">
            <a:off x="6848733" y="4808372"/>
            <a:ext cx="317480" cy="48006"/>
          </a:xfrm>
          <a:prstGeom prst="line">
            <a:avLst/>
          </a:prstGeom>
          <a:ln w="127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Oval 336"/>
          <p:cNvSpPr/>
          <p:nvPr/>
        </p:nvSpPr>
        <p:spPr>
          <a:xfrm>
            <a:off x="6829531" y="4837176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6983150" y="4760366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147011" y="4789170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7218700" y="4846777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7440167" y="4734763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7529779" y="4734763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7619390" y="4734763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7709001" y="4734763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440167" y="4824374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529779" y="4824374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7619390" y="4824374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7709001" y="4824374"/>
            <a:ext cx="89611" cy="89611"/>
          </a:xfrm>
          <a:prstGeom prst="rect">
            <a:avLst/>
          </a:prstGeom>
          <a:solidFill>
            <a:srgbClr val="FFFFFF"/>
          </a:solidFill>
          <a:ln w="762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Hexagon 348"/>
          <p:cNvSpPr/>
          <p:nvPr/>
        </p:nvSpPr>
        <p:spPr>
          <a:xfrm rot="5400000">
            <a:off x="7888223" y="4734763"/>
            <a:ext cx="160020" cy="131216"/>
          </a:xfrm>
          <a:prstGeom prst="hexagon">
            <a:avLst>
              <a:gd name="adj" fmla="val 12000"/>
              <a:gd name="vf" fmla="val 115470"/>
            </a:avLst>
          </a:prstGeom>
          <a:solidFill>
            <a:srgbClr val="FFFFFF"/>
          </a:solidFill>
          <a:ln w="1397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>
            <a:off x="7968233" y="4757166"/>
            <a:ext cx="0" cy="86410"/>
          </a:xfrm>
          <a:prstGeom prst="line">
            <a:avLst/>
          </a:prstGeom>
          <a:ln w="101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>
            <a:off x="7917027" y="4779568"/>
            <a:ext cx="51206" cy="25604"/>
          </a:xfrm>
          <a:prstGeom prst="line">
            <a:avLst/>
          </a:prstGeom>
          <a:ln w="101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 flipH="1">
            <a:off x="7968233" y="4779568"/>
            <a:ext cx="51207" cy="25604"/>
          </a:xfrm>
          <a:prstGeom prst="line">
            <a:avLst/>
          </a:prstGeom>
          <a:ln w="1016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Rounded Rectangle 352"/>
          <p:cNvSpPr/>
          <p:nvPr/>
        </p:nvSpPr>
        <p:spPr>
          <a:xfrm>
            <a:off x="6236817" y="5048402"/>
            <a:ext cx="1965045" cy="6144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 flipV="1">
            <a:off x="6380195" y="5242474"/>
            <a:ext cx="86411" cy="208922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>
            <a:off x="6466606" y="5242474"/>
            <a:ext cx="92171" cy="78346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>
            <a:off x="6558777" y="5320820"/>
            <a:ext cx="40325" cy="156692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6380195" y="5320820"/>
            <a:ext cx="178582" cy="130576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Oval 357"/>
          <p:cNvSpPr/>
          <p:nvPr/>
        </p:nvSpPr>
        <p:spPr>
          <a:xfrm>
            <a:off x="6360992" y="5432194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6447403" y="5223272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6539575" y="5301618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6579900" y="5458309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TextBox 361"/>
          <p:cNvSpPr txBox="1"/>
          <p:nvPr/>
        </p:nvSpPr>
        <p:spPr>
          <a:xfrm>
            <a:off x="6768083" y="5112410"/>
            <a:ext cx="1228953" cy="28163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4A00"/>
                </a:solidFill>
                <a:latin typeface="Arial Narrow"/>
              </a:rPr>
              <a:t>Resources +
failures + lineage</a:t>
            </a:r>
          </a:p>
        </p:txBody>
      </p:sp>
      <p:sp>
        <p:nvSpPr>
          <p:cNvPr id="363" name="Rectangle 362"/>
          <p:cNvSpPr/>
          <p:nvPr/>
        </p:nvSpPr>
        <p:spPr>
          <a:xfrm>
            <a:off x="6800087" y="5475655"/>
            <a:ext cx="153619" cy="108813"/>
          </a:xfrm>
          <a:prstGeom prst="rect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6800087" y="5451652"/>
            <a:ext cx="153619" cy="5120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Arc 364"/>
          <p:cNvSpPr/>
          <p:nvPr/>
        </p:nvSpPr>
        <p:spPr>
          <a:xfrm rot="10800000">
            <a:off x="6800087" y="5502859"/>
            <a:ext cx="153619" cy="51206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Arc 365"/>
          <p:cNvSpPr/>
          <p:nvPr/>
        </p:nvSpPr>
        <p:spPr>
          <a:xfrm rot="10800000">
            <a:off x="6800087" y="5544464"/>
            <a:ext cx="153619" cy="51206"/>
          </a:xfrm>
          <a:prstGeom prst="arc">
            <a:avLst>
              <a:gd name="adj1" fmla="val 12000"/>
              <a:gd name="adj2" fmla="val 0"/>
            </a:avLst>
          </a:prstGeom>
          <a:noFill/>
          <a:ln w="1143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Isosceles Triangle 366"/>
          <p:cNvSpPr/>
          <p:nvPr/>
        </p:nvSpPr>
        <p:spPr>
          <a:xfrm>
            <a:off x="7152131" y="5438851"/>
            <a:ext cx="172821" cy="160020"/>
          </a:xfrm>
          <a:prstGeom prst="triangle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7184135" y="5438851"/>
            <a:ext cx="108813" cy="14081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64A00"/>
                </a:solidFill>
                <a:latin typeface="Arial Narrow"/>
              </a:rPr>
              <a:t>!</a:t>
            </a:r>
          </a:p>
        </p:txBody>
      </p:sp>
      <p:cxnSp>
        <p:nvCxnSpPr>
          <p:cNvPr id="369" name="Connector 368"/>
          <p:cNvCxnSpPr/>
          <p:nvPr/>
        </p:nvCxnSpPr>
        <p:spPr>
          <a:xfrm>
            <a:off x="7510576" y="5528462"/>
            <a:ext cx="390449" cy="0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0" name="Connector 369"/>
          <p:cNvCxnSpPr/>
          <p:nvPr/>
        </p:nvCxnSpPr>
        <p:spPr>
          <a:xfrm>
            <a:off x="7510576" y="5451652"/>
            <a:ext cx="0" cy="153620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1" name="Connector 370"/>
          <p:cNvCxnSpPr/>
          <p:nvPr/>
        </p:nvCxnSpPr>
        <p:spPr>
          <a:xfrm flipV="1">
            <a:off x="7869533" y="5440899"/>
            <a:ext cx="65288" cy="132112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>
            <a:off x="7934821" y="5440899"/>
            <a:ext cx="69641" cy="49542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>
            <a:off x="8004462" y="5490441"/>
            <a:ext cx="30468" cy="99085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7869533" y="5490441"/>
            <a:ext cx="134929" cy="82570"/>
          </a:xfrm>
          <a:prstGeom prst="line">
            <a:avLst/>
          </a:prstGeom>
          <a:ln w="127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Oval 374"/>
          <p:cNvSpPr/>
          <p:nvPr/>
        </p:nvSpPr>
        <p:spPr>
          <a:xfrm>
            <a:off x="7850331" y="5553809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7915619" y="5421697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7985259" y="5471239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8015727" y="5570323"/>
            <a:ext cx="38404" cy="384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ounded Rectangle 378"/>
          <p:cNvSpPr/>
          <p:nvPr/>
        </p:nvSpPr>
        <p:spPr>
          <a:xfrm>
            <a:off x="8573109" y="3672230"/>
            <a:ext cx="1971446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Circular Arrow 379"/>
          <p:cNvSpPr/>
          <p:nvPr/>
        </p:nvSpPr>
        <p:spPr>
          <a:xfrm>
            <a:off x="8694724" y="3787444"/>
            <a:ext cx="326440" cy="326440"/>
          </a:xfrm>
          <a:prstGeom prst="circularArrow">
            <a:avLst>
              <a:gd name="adj1" fmla="val 12000"/>
              <a:gd name="adj2" fmla="val 1142319"/>
              <a:gd name="adj3" fmla="val 20457681"/>
              <a:gd name="adj4" fmla="val 10800000"/>
              <a:gd name="adj5" fmla="val 12500"/>
            </a:avLst>
          </a:prstGeom>
          <a:solidFill>
            <a:srgbClr val="102C67"/>
          </a:solidFill>
          <a:ln w="63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8786128" y="3878848"/>
            <a:ext cx="143633" cy="143633"/>
          </a:xfrm>
          <a:prstGeom prst="ellipse">
            <a:avLst/>
          </a:prstGeom>
          <a:solidFill>
            <a:srgbClr val="FFFFFF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9155582" y="3755440"/>
            <a:ext cx="1248156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102C67"/>
                </a:solidFill>
                <a:latin typeface="Arial Narrow"/>
              </a:rPr>
              <a:t>EXACT REPLAY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9155582" y="3941064"/>
            <a:ext cx="1248156" cy="1984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Reconstruct the environment</a:t>
            </a:r>
          </a:p>
        </p:txBody>
      </p:sp>
      <p:sp>
        <p:nvSpPr>
          <p:cNvPr id="384" name="Rounded Rectangle 383"/>
          <p:cNvSpPr/>
          <p:nvPr/>
        </p:nvSpPr>
        <p:spPr>
          <a:xfrm>
            <a:off x="8573109" y="4376318"/>
            <a:ext cx="1971446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5" name="Connector 384"/>
          <p:cNvCxnSpPr/>
          <p:nvPr/>
        </p:nvCxnSpPr>
        <p:spPr>
          <a:xfrm flipV="1">
            <a:off x="8760012" y="4674595"/>
            <a:ext cx="0" cy="149779"/>
          </a:xfrm>
          <a:prstGeom prst="line">
            <a:avLst/>
          </a:prstGeom>
          <a:ln w="381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6" name="Connector 385"/>
          <p:cNvCxnSpPr/>
          <p:nvPr/>
        </p:nvCxnSpPr>
        <p:spPr>
          <a:xfrm flipH="1" flipV="1">
            <a:off x="8706246" y="4558101"/>
            <a:ext cx="53766" cy="116494"/>
          </a:xfrm>
          <a:prstGeom prst="line">
            <a:avLst/>
          </a:prstGeom>
          <a:ln w="38100">
            <a:solidFill>
              <a:srgbClr val="0077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7" name="Connector 386"/>
          <p:cNvCxnSpPr/>
          <p:nvPr/>
        </p:nvCxnSpPr>
        <p:spPr>
          <a:xfrm flipV="1">
            <a:off x="8760012" y="4541459"/>
            <a:ext cx="136209" cy="133136"/>
          </a:xfrm>
          <a:prstGeom prst="line">
            <a:avLst/>
          </a:prstGeom>
          <a:ln w="38100">
            <a:solidFill>
              <a:srgbClr val="0077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8" name="Connector 387"/>
          <p:cNvCxnSpPr/>
          <p:nvPr/>
        </p:nvCxnSpPr>
        <p:spPr>
          <a:xfrm>
            <a:off x="8760012" y="4674595"/>
            <a:ext cx="222236" cy="0"/>
          </a:xfrm>
          <a:prstGeom prst="line">
            <a:avLst/>
          </a:prstGeom>
          <a:ln w="38100">
            <a:solidFill>
              <a:srgbClr val="00777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TextBox 388"/>
          <p:cNvSpPr txBox="1"/>
          <p:nvPr/>
        </p:nvSpPr>
        <p:spPr>
          <a:xfrm>
            <a:off x="9155582" y="4459528"/>
            <a:ext cx="1248156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007774"/>
                </a:solidFill>
                <a:latin typeface="Arial Narrow"/>
              </a:rPr>
              <a:t>CONTROLLED FORK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9155582" y="4645152"/>
            <a:ext cx="1248156" cy="1984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Change one private law</a:t>
            </a:r>
          </a:p>
        </p:txBody>
      </p:sp>
      <p:sp>
        <p:nvSpPr>
          <p:cNvPr id="391" name="Rounded Rectangle 390"/>
          <p:cNvSpPr/>
          <p:nvPr/>
        </p:nvSpPr>
        <p:spPr>
          <a:xfrm>
            <a:off x="8573109" y="5067604"/>
            <a:ext cx="1971446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8694724" y="5157216"/>
            <a:ext cx="256800" cy="2568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3" name="Connector 392"/>
          <p:cNvCxnSpPr/>
          <p:nvPr/>
        </p:nvCxnSpPr>
        <p:spPr>
          <a:xfrm>
            <a:off x="8894877" y="5364921"/>
            <a:ext cx="171094" cy="169942"/>
          </a:xfrm>
          <a:prstGeom prst="line">
            <a:avLst/>
          </a:prstGeom>
          <a:ln w="38100">
            <a:solidFill>
              <a:srgbClr val="E64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Rectangle 393"/>
          <p:cNvSpPr/>
          <p:nvPr/>
        </p:nvSpPr>
        <p:spPr>
          <a:xfrm>
            <a:off x="8762701" y="5308274"/>
            <a:ext cx="26435" cy="45317"/>
          </a:xfrm>
          <a:prstGeom prst="rect">
            <a:avLst/>
          </a:prstGeom>
          <a:solidFill>
            <a:srgbClr val="E64A00"/>
          </a:solidFill>
          <a:ln w="508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8811795" y="5279951"/>
            <a:ext cx="26435" cy="73641"/>
          </a:xfrm>
          <a:prstGeom prst="rect">
            <a:avLst/>
          </a:prstGeom>
          <a:solidFill>
            <a:srgbClr val="E64A00"/>
          </a:solidFill>
          <a:ln w="508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8860889" y="5253893"/>
            <a:ext cx="26435" cy="99698"/>
          </a:xfrm>
          <a:prstGeom prst="rect">
            <a:avLst/>
          </a:prstGeom>
          <a:solidFill>
            <a:srgbClr val="E64A00"/>
          </a:solidFill>
          <a:ln w="5080">
            <a:solidFill>
              <a:srgbClr val="E64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9155582" y="5150815"/>
            <a:ext cx="1248156" cy="1920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40" b="1" i="0">
                <a:solidFill>
                  <a:srgbClr val="E64A00"/>
                </a:solidFill>
                <a:latin typeface="Arial Narrow"/>
              </a:rPr>
              <a:t>PROCESS READOUTS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9155582" y="5336438"/>
            <a:ext cx="1248156" cy="1984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101820"/>
                </a:solidFill>
                <a:latin typeface="Arial Narrow"/>
              </a:rPr>
              <a:t>Observe how the result arose</a:t>
            </a:r>
          </a:p>
        </p:txBody>
      </p:sp>
      <p:cxnSp>
        <p:nvCxnSpPr>
          <p:cNvPr id="399" name="Connector 398"/>
          <p:cNvCxnSpPr/>
          <p:nvPr/>
        </p:nvCxnSpPr>
        <p:spPr>
          <a:xfrm>
            <a:off x="8201863" y="3966667"/>
            <a:ext cx="300837" cy="0"/>
          </a:xfrm>
          <a:prstGeom prst="line">
            <a:avLst/>
          </a:prstGeom>
          <a:ln w="1397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8201863" y="4670755"/>
            <a:ext cx="300837" cy="0"/>
          </a:xfrm>
          <a:prstGeom prst="line">
            <a:avLst/>
          </a:prstGeom>
          <a:ln w="1397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8201863" y="5355640"/>
            <a:ext cx="300837" cy="0"/>
          </a:xfrm>
          <a:prstGeom prst="line">
            <a:avLst/>
          </a:prstGeom>
          <a:ln w="13970">
            <a:solidFill>
              <a:srgbClr val="102C6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Rounded Rectangle 401"/>
          <p:cNvSpPr/>
          <p:nvPr/>
        </p:nvSpPr>
        <p:spPr>
          <a:xfrm>
            <a:off x="6243218" y="5842101"/>
            <a:ext cx="4288536" cy="39684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8DA0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Pentagon 402"/>
          <p:cNvSpPr/>
          <p:nvPr/>
        </p:nvSpPr>
        <p:spPr>
          <a:xfrm rot="10800000">
            <a:off x="6377635" y="5912510"/>
            <a:ext cx="243230" cy="256032"/>
          </a:xfrm>
          <a:prstGeom prst="homePlate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2C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TextBox 403"/>
          <p:cNvSpPr txBox="1"/>
          <p:nvPr/>
        </p:nvSpPr>
        <p:spPr>
          <a:xfrm>
            <a:off x="6435242" y="5950915"/>
            <a:ext cx="128016" cy="1536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C67"/>
                </a:solidFill>
                <a:latin typeface="Arial Narrow"/>
              </a:rPr>
              <a:t>+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6716877" y="5893308"/>
            <a:ext cx="3648456" cy="26883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10" b="0" i="0">
                <a:solidFill>
                  <a:srgbClr val="101820"/>
                </a:solidFill>
                <a:latin typeface="Arial Narrow"/>
              </a:rPr>
              <a:t>Worlds and private laws are programmable within the declared interfaces.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3887723" y="6456578"/>
            <a:ext cx="4416552" cy="23682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02C67"/>
                </a:solidFill>
                <a:latin typeface="Arial Narrow"/>
              </a:rPr>
              <a:t>Software control narrows hypotheses; physical execution supplies real-material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ChemWorld — editable reconstruction</dc:title>
  <dc:subject>Editable 16:9 reconstruction of the supplied four-panel diagram</dc:subject>
  <dc:creator>OpenAI Codex</dc:creator>
  <cp:keywords/>
  <dc:description>All wording, cards, arrows, connectors and simple icons are editable PowerPoint objects. Only the two dense apparatus/monitor illustrations are independent raster crops.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