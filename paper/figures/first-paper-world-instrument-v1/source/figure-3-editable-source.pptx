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3A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/>
          <p:cNvSpPr/>
          <p:nvPr/>
        </p:nvSpPr>
        <p:spPr>
          <a:xfrm>
            <a:off x="4709160" y="3300095"/>
            <a:ext cx="4324985" cy="309118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13970">
            <a:solidFill>
              <a:srgbClr val="69737D"/>
            </a:solidFill>
            <a:prstDash val="solid"/>
          </a:ln>
        </p:spPr>
      </p:sp>
      <p:sp>
        <p:nvSpPr>
          <p:cNvPr id="23" name="Shape 2"/>
          <p:cNvSpPr/>
          <p:nvPr/>
        </p:nvSpPr>
        <p:spPr>
          <a:xfrm>
            <a:off x="109855" y="3300095"/>
            <a:ext cx="4482465" cy="309118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13970">
            <a:solidFill>
              <a:srgbClr val="6973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67512"/>
            <a:ext cx="4480560" cy="2532888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13970">
            <a:solidFill>
              <a:srgbClr val="6973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626" y="736092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A. Frozen execution cases across workflows</a:t>
            </a:r>
            <a:endParaRPr lang="en-US" sz="12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667512"/>
            <a:ext cx="4325112" cy="2532888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13970">
            <a:solidFill>
              <a:srgbClr val="6973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1235" y="735965"/>
            <a:ext cx="4159885" cy="2273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B. Rollback stays inside the same experimental record</a:t>
            </a:r>
            <a:endParaRPr lang="en-US" sz="12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" y="3397250"/>
            <a:ext cx="4324350" cy="275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C。Controlled private-law counterfactuals</a:t>
            </a:r>
            <a:endParaRPr lang="en-US" sz="12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93040" y="2820670"/>
            <a:ext cx="951230" cy="301625"/>
          </a:xfrm>
          <a:prstGeom prst="chevron">
            <a:avLst/>
          </a:prstGeom>
          <a:solidFill>
            <a:srgbClr val="F6F8FF"/>
          </a:solidFill>
          <a:ln w="12700">
            <a:solidFill>
              <a:srgbClr val="1A50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9344" y="2852420"/>
            <a:ext cx="7589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Typed </a:t>
            </a: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Actions</a:t>
            </a:r>
            <a:endParaRPr lang="en-US" sz="88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43305" y="2820670"/>
            <a:ext cx="951230" cy="301625"/>
          </a:xfrm>
          <a:prstGeom prst="chevron">
            <a:avLst/>
          </a:prstGeom>
          <a:solidFill>
            <a:srgbClr val="F4FBFB"/>
          </a:solidFill>
          <a:ln w="12700">
            <a:solidFill>
              <a:srgbClr val="007E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4143" y="2852420"/>
            <a:ext cx="7589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Measure</a:t>
            </a:r>
            <a:endParaRPr lang="en-US" sz="88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894840" y="2820670"/>
            <a:ext cx="951230" cy="301625"/>
          </a:xfrm>
          <a:prstGeom prst="chevron">
            <a:avLst/>
          </a:prstGeom>
          <a:solidFill>
            <a:srgbClr val="FFF7F2"/>
          </a:solidFill>
          <a:ln w="12700">
            <a:solidFill>
              <a:srgbClr val="F05A1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6407" y="2852420"/>
            <a:ext cx="7589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Failure / Rollback</a:t>
            </a:r>
            <a:endParaRPr lang="en-US" sz="88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745105" y="2820670"/>
            <a:ext cx="951230" cy="301625"/>
          </a:xfrm>
          <a:prstGeom prst="chevron">
            <a:avLst/>
          </a:prstGeom>
          <a:solidFill>
            <a:srgbClr val="F7FBF3"/>
          </a:solidFill>
          <a:ln w="12700">
            <a:solidFill>
              <a:srgbClr val="2D7E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45816" y="2852420"/>
            <a:ext cx="7589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Termination</a:t>
            </a:r>
            <a:endParaRPr lang="en-US" sz="88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594735" y="2820670"/>
            <a:ext cx="951230" cy="301625"/>
          </a:xfrm>
          <a:prstGeom prst="chevron">
            <a:avLst/>
          </a:prstGeom>
          <a:solidFill>
            <a:srgbClr val="FAF7FF"/>
          </a:solidFill>
          <a:ln w="12700">
            <a:solidFill>
              <a:srgbClr val="6A16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88080" y="2852420"/>
            <a:ext cx="7589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Final Assay</a:t>
            </a:r>
            <a:endParaRPr lang="en-US" sz="88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074920" y="1609344"/>
            <a:ext cx="350215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1490472"/>
            <a:ext cx="237744" cy="237744"/>
          </a:xfrm>
          <a:prstGeom prst="ellipse">
            <a:avLst/>
          </a:prstGeom>
          <a:solidFill>
            <a:srgbClr val="FFF4EE"/>
          </a:solidFill>
          <a:ln w="20320">
            <a:solidFill>
              <a:srgbClr val="F05A1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11496" y="1527048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F05A1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56632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5A1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000" b="1" dirty="0">
              <a:solidFill>
                <a:srgbClr val="F05A1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605272" y="1490472"/>
            <a:ext cx="237744" cy="237744"/>
          </a:xfrm>
          <a:prstGeom prst="ellipse">
            <a:avLst/>
          </a:prstGeom>
          <a:solidFill>
            <a:srgbClr val="F5F8F8"/>
          </a:solidFill>
          <a:ln w="20320">
            <a:solidFill>
              <a:srgbClr val="007E8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6984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135624" y="1490472"/>
            <a:ext cx="237744" cy="237744"/>
          </a:xfrm>
          <a:prstGeom prst="ellipse">
            <a:avLst/>
          </a:prstGeom>
          <a:solidFill>
            <a:srgbClr val="F5F8F8"/>
          </a:solidFill>
          <a:ln w="20320">
            <a:solidFill>
              <a:srgbClr val="007E8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17336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665976" y="1490472"/>
            <a:ext cx="237744" cy="237744"/>
          </a:xfrm>
          <a:prstGeom prst="ellipse">
            <a:avLst/>
          </a:prstGeom>
          <a:solidFill>
            <a:srgbClr val="F5F8F8"/>
          </a:solidFill>
          <a:ln w="20320">
            <a:solidFill>
              <a:srgbClr val="007E8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47688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424928" y="1490472"/>
            <a:ext cx="237744" cy="237744"/>
          </a:xfrm>
          <a:prstGeom prst="ellipse">
            <a:avLst/>
          </a:prstGeom>
          <a:solidFill>
            <a:srgbClr val="F5F8F8"/>
          </a:solidFill>
          <a:ln w="20320">
            <a:solidFill>
              <a:srgbClr val="007E8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946136" y="1490472"/>
            <a:ext cx="237744" cy="237744"/>
          </a:xfrm>
          <a:prstGeom prst="ellipse">
            <a:avLst/>
          </a:prstGeom>
          <a:solidFill>
            <a:srgbClr val="F5F8F8"/>
          </a:solidFill>
          <a:ln w="20320">
            <a:solidFill>
              <a:srgbClr val="007E8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27848" y="127101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19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004939" y="156311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…</a:t>
            </a:r>
            <a:endParaRPr lang="en-US" sz="16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8485632" y="1481328"/>
            <a:ext cx="283464" cy="28346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57616" y="1143000"/>
            <a:ext cx="5303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assay</a:t>
            </a:r>
            <a:endParaRPr lang="en-US" sz="10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193792" y="1737360"/>
            <a:ext cx="0" cy="292608"/>
          </a:xfrm>
          <a:prstGeom prst="line">
            <a:avLst/>
          </a:prstGeom>
          <a:noFill/>
          <a:ln w="19050">
            <a:solidFill>
              <a:srgbClr val="F05A19"/>
            </a:solidFill>
            <a:prstDash val="dash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4800600" y="2066290"/>
            <a:ext cx="168275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4B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Runtime Precondition Failure</a:t>
            </a:r>
            <a:endParaRPr lang="en-US" sz="1000" dirty="0">
              <a:solidFill>
                <a:srgbClr val="FF4B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140325" y="2626360"/>
            <a:ext cx="3437255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F4B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recovery resumes from last committed state</a:t>
            </a:r>
            <a:endParaRPr lang="en-US" sz="1200" dirty="0">
              <a:solidFill>
                <a:srgbClr val="FF4B0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724144" y="1746504"/>
            <a:ext cx="0" cy="192024"/>
          </a:xfrm>
          <a:prstGeom prst="line">
            <a:avLst/>
          </a:prstGeom>
          <a:noFill/>
          <a:ln w="16510">
            <a:solidFill>
              <a:srgbClr val="007E83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724144" y="1938528"/>
            <a:ext cx="2340864" cy="0"/>
          </a:xfrm>
          <a:prstGeom prst="line">
            <a:avLst/>
          </a:prstGeom>
          <a:noFill/>
          <a:ln w="16510">
            <a:solidFill>
              <a:srgbClr val="007E83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8065008" y="1746504"/>
            <a:ext cx="0" cy="192024"/>
          </a:xfrm>
          <a:prstGeom prst="line">
            <a:avLst/>
          </a:prstGeom>
          <a:noFill/>
          <a:ln w="16510">
            <a:solidFill>
              <a:srgbClr val="007E83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6483350" y="205740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E8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 subsequent commits</a:t>
            </a:r>
            <a:endParaRPr lang="en-US" sz="1000" b="1" dirty="0">
              <a:solidFill>
                <a:srgbClr val="007E8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76910" y="3707130"/>
            <a:ext cx="2258695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F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Controlled private-law forks</a:t>
            </a:r>
            <a:endParaRPr lang="en-US" sz="1200" dirty="0">
              <a:solidFill>
                <a:srgbClr val="0D3F9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47650" y="4164330"/>
            <a:ext cx="1124585" cy="612775"/>
          </a:xfrm>
          <a:prstGeom prst="roundRect">
            <a:avLst>
              <a:gd name="adj" fmla="val 10448"/>
            </a:avLst>
          </a:prstGeom>
          <a:solidFill>
            <a:srgbClr val="F7F9FF"/>
          </a:solidFill>
          <a:ln w="13970">
            <a:solidFill>
              <a:srgbClr val="1A50B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565" y="4210050"/>
            <a:ext cx="953135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F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Parent world</a:t>
            </a:r>
            <a:endParaRPr lang="en-US" sz="1000" b="1" dirty="0">
              <a:solidFill>
                <a:srgbClr val="0D3F9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47650" y="4411345"/>
            <a:ext cx="1124585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W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p  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(W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, θ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)</a:t>
            </a:r>
            <a:endParaRPr lang="en-US" sz="900" baseline="-25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247650" y="5403215"/>
            <a:ext cx="1123950" cy="612775"/>
          </a:xfrm>
          <a:prstGeom prst="roundRect">
            <a:avLst>
              <a:gd name="adj" fmla="val 10448"/>
            </a:avLst>
          </a:prstGeom>
          <a:solidFill>
            <a:srgbClr val="F5FBFB"/>
          </a:solidFill>
          <a:ln w="13970">
            <a:solidFill>
              <a:srgbClr val="007E8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9565" y="5448935"/>
            <a:ext cx="96520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E8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Child world</a:t>
            </a:r>
            <a:endParaRPr lang="en-US" sz="1000" b="1" dirty="0">
              <a:solidFill>
                <a:srgbClr val="007E8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936240" y="3935730"/>
            <a:ext cx="1477645" cy="1005205"/>
          </a:xfrm>
          <a:prstGeom prst="roundRect">
            <a:avLst>
              <a:gd name="adj" fmla="val 8235"/>
            </a:avLst>
          </a:prstGeom>
          <a:solidFill>
            <a:srgbClr val="F8FCF6"/>
          </a:solidFill>
          <a:ln w="13970">
            <a:solidFill>
              <a:srgbClr val="2D7E2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370898" y="4063873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Partition law</a:t>
            </a:r>
            <a:endParaRPr lang="en-US" sz="1000" b="1" dirty="0">
              <a:solidFill>
                <a:srgbClr val="2D7E2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3439478" y="422859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</a:t>
            </a:r>
            <a:r>
              <a:rPr lang="en-US" sz="1000" b="1" baseline="30000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1.00</a:t>
            </a:r>
            <a:r>
              <a:rPr lang="en-US" sz="1000" b="1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→ K</a:t>
            </a:r>
            <a:r>
              <a:rPr lang="en-US" sz="1000" b="1" baseline="30000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1.75</a:t>
            </a:r>
            <a:endParaRPr lang="en-US" sz="1000" b="1" baseline="30000" dirty="0">
              <a:solidFill>
                <a:srgbClr val="2D7E2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3138170" y="4484370"/>
            <a:ext cx="1209675" cy="2927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organic product ↑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product in organic </a:t>
            </a:r>
            <a:r>
              <a:rPr lang="en-US" sz="900" dirty="0">
                <a:solidFill>
                  <a:srgbClr val="2D7E2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↑</a:t>
            </a:r>
            <a:endParaRPr lang="en-US" sz="900" dirty="0">
              <a:solidFill>
                <a:srgbClr val="2D7E2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2935605" y="5143500"/>
            <a:ext cx="1490345" cy="1068705"/>
          </a:xfrm>
          <a:prstGeom prst="roundRect">
            <a:avLst>
              <a:gd name="adj" fmla="val 7609"/>
            </a:avLst>
          </a:prstGeom>
          <a:solidFill>
            <a:srgbClr val="FCF9FF"/>
          </a:solidFill>
          <a:ln w="13970">
            <a:solidFill>
              <a:srgbClr val="6A16B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68015" y="5207635"/>
            <a:ext cx="1477010" cy="298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Electrochemical material law</a:t>
            </a:r>
            <a:endParaRPr lang="en-US" sz="10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3049270" y="5506085"/>
            <a:ext cx="1263015" cy="3143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hidden row </a:t>
            </a:r>
            <a:endParaRPr lang="en-US" sz="8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r">
              <a:buNone/>
            </a:pPr>
            <a:r>
              <a:rPr lang="en-US" sz="8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mapping changes</a:t>
            </a:r>
            <a:endParaRPr lang="en-US" sz="8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3036570" y="5828665"/>
            <a:ext cx="1263015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buNone/>
            </a:pPr>
            <a:r>
              <a:rPr lang="en-US" sz="900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selective product ↓</a:t>
            </a:r>
            <a:endParaRPr lang="en-US" sz="900" dirty="0"/>
          </a:p>
          <a:p>
            <a:pPr indent="0" algn="ctr">
              <a:buNone/>
            </a:pPr>
            <a:r>
              <a:rPr lang="en-US" sz="900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ohmic efficiency </a:t>
            </a:r>
            <a:r>
              <a:rPr lang="en-US" sz="900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↓</a:t>
            </a:r>
            <a:endParaRPr lang="en-US" sz="900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  <a:sym typeface="+mn-ea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5128260" y="3656330"/>
            <a:ext cx="3608705" cy="2279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D3F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Non-reference world: separate agent-facing lifecycle</a:t>
            </a:r>
            <a:endParaRPr lang="en-US" sz="1200" dirty="0">
              <a:solidFill>
                <a:srgbClr val="0D3F9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5786628" y="456742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3F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same public contract</a:t>
            </a:r>
            <a:endParaRPr lang="en-US" sz="1100" b="1" dirty="0">
              <a:solidFill>
                <a:srgbClr val="0D3F9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4979035" y="4872990"/>
            <a:ext cx="1723390" cy="942340"/>
          </a:xfrm>
          <a:prstGeom prst="roundRect">
            <a:avLst>
              <a:gd name="adj" fmla="val 8861"/>
            </a:avLst>
          </a:prstGeom>
          <a:solidFill>
            <a:srgbClr val="F6FBFB"/>
          </a:solidFill>
          <a:ln w="13970">
            <a:solidFill>
              <a:srgbClr val="007E83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2" name="Text 110"/>
          <p:cNvSpPr/>
          <p:nvPr/>
        </p:nvSpPr>
        <p:spPr>
          <a:xfrm>
            <a:off x="5079365" y="4927600"/>
            <a:ext cx="1463040" cy="3194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E8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Deterministic qualification path</a:t>
            </a:r>
            <a:endParaRPr lang="en-US" sz="1000" b="1" dirty="0">
              <a:solidFill>
                <a:srgbClr val="007E8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5253228" y="5274945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E8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actions</a:t>
            </a:r>
            <a:endParaRPr lang="en-US" sz="1200" b="1" dirty="0">
              <a:solidFill>
                <a:srgbClr val="007E8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5142738" y="5476240"/>
            <a:ext cx="139903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007E8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construction, closure, replay</a:t>
            </a:r>
            <a:endParaRPr lang="en-US" sz="820" dirty="0">
              <a:solidFill>
                <a:srgbClr val="007E83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7018655" y="4872990"/>
            <a:ext cx="1718310" cy="942340"/>
          </a:xfrm>
          <a:prstGeom prst="roundRect">
            <a:avLst>
              <a:gd name="adj" fmla="val 8861"/>
            </a:avLst>
          </a:prstGeom>
          <a:solidFill>
            <a:srgbClr val="FBF8FF"/>
          </a:solidFill>
          <a:ln w="13970">
            <a:solidFill>
              <a:srgbClr val="6A16B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200900" y="4927600"/>
            <a:ext cx="1417320" cy="3384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Provider-driven </a:t>
            </a:r>
            <a:endParaRPr lang="en-US" sz="10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run</a:t>
            </a:r>
            <a:endParaRPr lang="en-US" sz="10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7201027" y="5274945"/>
            <a:ext cx="136245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actions</a:t>
            </a:r>
            <a:endParaRPr lang="en-US" sz="1200" b="1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7173849" y="5475986"/>
            <a:ext cx="1408176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typed tools, explicit termination,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6A16B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final assay</a:t>
            </a:r>
            <a:endParaRPr lang="en-US" sz="780" dirty="0">
              <a:solidFill>
                <a:srgbClr val="6A16B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4" name="Shape 88"/>
          <p:cNvSpPr/>
          <p:nvPr/>
        </p:nvSpPr>
        <p:spPr>
          <a:xfrm>
            <a:off x="5844159" y="4480687"/>
            <a:ext cx="0" cy="3200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5" name="Shape 88"/>
          <p:cNvSpPr/>
          <p:nvPr/>
        </p:nvSpPr>
        <p:spPr>
          <a:xfrm>
            <a:off x="7895209" y="4481322"/>
            <a:ext cx="0" cy="3200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6" name="文本框 135"/>
          <p:cNvSpPr txBox="1"/>
          <p:nvPr/>
        </p:nvSpPr>
        <p:spPr>
          <a:xfrm>
            <a:off x="4979670" y="5888355"/>
            <a:ext cx="17233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/>
              <a:t>World Qualification</a:t>
            </a:r>
            <a:endParaRPr lang="en-US" altLang="zh-CN" sz="1200" b="1"/>
          </a:p>
        </p:txBody>
      </p:sp>
      <p:sp>
        <p:nvSpPr>
          <p:cNvPr id="137" name="文本框 136"/>
          <p:cNvSpPr txBox="1"/>
          <p:nvPr/>
        </p:nvSpPr>
        <p:spPr>
          <a:xfrm>
            <a:off x="7013575" y="5888355"/>
            <a:ext cx="1723390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200" b="1"/>
              <a:t>Agent Experiment</a:t>
            </a:r>
            <a:endParaRPr lang="en-US" altLang="zh-CN" sz="1200" b="1"/>
          </a:p>
        </p:txBody>
      </p:sp>
      <p:pic>
        <p:nvPicPr>
          <p:cNvPr id="5" name="图片 4" descr="crystalliz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1010285"/>
            <a:ext cx="703580" cy="606425"/>
          </a:xfrm>
          <a:prstGeom prst="rect">
            <a:avLst/>
          </a:prstGeom>
        </p:spPr>
      </p:pic>
      <p:pic>
        <p:nvPicPr>
          <p:cNvPr id="6" name="图片 5" descr="resource-limited-characteriz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1010285"/>
            <a:ext cx="638175" cy="612775"/>
          </a:xfrm>
          <a:prstGeom prst="rect">
            <a:avLst/>
          </a:prstGeom>
        </p:spPr>
      </p:pic>
      <p:pic>
        <p:nvPicPr>
          <p:cNvPr id="9" name="图片 8" descr="failure-recove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890" y="974090"/>
            <a:ext cx="758190" cy="662940"/>
          </a:xfrm>
          <a:prstGeom prst="rect">
            <a:avLst/>
          </a:prstGeom>
        </p:spPr>
      </p:pic>
      <p:sp>
        <p:nvSpPr>
          <p:cNvPr id="13" name="Text 39"/>
          <p:cNvSpPr/>
          <p:nvPr/>
        </p:nvSpPr>
        <p:spPr>
          <a:xfrm>
            <a:off x="328930" y="161671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Crystallization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World 1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14" name="图片 13" descr="electrochemist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" y="1938655"/>
            <a:ext cx="637540" cy="675005"/>
          </a:xfrm>
          <a:prstGeom prst="rect">
            <a:avLst/>
          </a:prstGeom>
        </p:spPr>
      </p:pic>
      <p:cxnSp>
        <p:nvCxnSpPr>
          <p:cNvPr id="233" name="直接连接符 232"/>
          <p:cNvCxnSpPr/>
          <p:nvPr/>
        </p:nvCxnSpPr>
        <p:spPr>
          <a:xfrm>
            <a:off x="256540" y="1938655"/>
            <a:ext cx="4289425" cy="0"/>
          </a:xfrm>
          <a:prstGeom prst="line">
            <a:avLst/>
          </a:prstGeom>
          <a:ln w="19050" cap="flat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Text 39"/>
          <p:cNvSpPr/>
          <p:nvPr/>
        </p:nvSpPr>
        <p:spPr>
          <a:xfrm>
            <a:off x="219075" y="2545715"/>
            <a:ext cx="1188720" cy="274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Electrochemistry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1205230" y="1609090"/>
            <a:ext cx="1262380" cy="394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Resource-limited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Charaterization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" name="Text 39"/>
          <p:cNvSpPr/>
          <p:nvPr/>
        </p:nvSpPr>
        <p:spPr>
          <a:xfrm>
            <a:off x="1458595" y="2573655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Distillation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3" name="图片 2" descr="crystallization-world-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6335" y="2029460"/>
            <a:ext cx="678180" cy="596265"/>
          </a:xfrm>
          <a:prstGeom prst="rect">
            <a:avLst/>
          </a:prstGeom>
        </p:spPr>
      </p:pic>
      <p:pic>
        <p:nvPicPr>
          <p:cNvPr id="10" name="图片 9" descr="parti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7955" y="1938655"/>
            <a:ext cx="480060" cy="687705"/>
          </a:xfrm>
          <a:prstGeom prst="rect">
            <a:avLst/>
          </a:prstGeom>
        </p:spPr>
      </p:pic>
      <p:pic>
        <p:nvPicPr>
          <p:cNvPr id="16" name="图片 15" descr="distill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890" y="1995170"/>
            <a:ext cx="563880" cy="618490"/>
          </a:xfrm>
          <a:prstGeom prst="rect">
            <a:avLst/>
          </a:prstGeom>
        </p:spPr>
      </p:pic>
      <p:sp>
        <p:nvSpPr>
          <p:cNvPr id="17" name="Text 39"/>
          <p:cNvSpPr/>
          <p:nvPr/>
        </p:nvSpPr>
        <p:spPr>
          <a:xfrm>
            <a:off x="2495550" y="160909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Failure &amp;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Recovery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18" name="图片 17" descr="continuous-flow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4895" y="991235"/>
            <a:ext cx="827405" cy="631825"/>
          </a:xfrm>
          <a:prstGeom prst="rect">
            <a:avLst/>
          </a:prstGeom>
        </p:spPr>
      </p:pic>
      <p:sp>
        <p:nvSpPr>
          <p:cNvPr id="19" name="Text 39"/>
          <p:cNvSpPr/>
          <p:nvPr/>
        </p:nvSpPr>
        <p:spPr>
          <a:xfrm>
            <a:off x="2573020" y="2573655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Partition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0" name="Text 39"/>
          <p:cNvSpPr/>
          <p:nvPr/>
        </p:nvSpPr>
        <p:spPr>
          <a:xfrm>
            <a:off x="3644265" y="162306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Continuous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Flow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" name="Text 39"/>
          <p:cNvSpPr/>
          <p:nvPr/>
        </p:nvSpPr>
        <p:spPr>
          <a:xfrm>
            <a:off x="3688080" y="2573655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World 2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2" name="Text 39"/>
          <p:cNvSpPr/>
          <p:nvPr/>
        </p:nvSpPr>
        <p:spPr>
          <a:xfrm>
            <a:off x="4709160" y="2231390"/>
            <a:ext cx="1889760" cy="292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 Candidate State Committed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370965" y="5506085"/>
            <a:ext cx="1555750" cy="356870"/>
            <a:chOff x="2159" y="6631"/>
            <a:chExt cx="2450" cy="562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9"/>
            <a:srcRect r="64615"/>
            <a:stretch>
              <a:fillRect/>
            </a:stretch>
          </p:blipFill>
          <p:spPr>
            <a:xfrm>
              <a:off x="2159" y="6631"/>
              <a:ext cx="1196" cy="562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9"/>
            <a:srcRect l="62899"/>
            <a:stretch>
              <a:fillRect/>
            </a:stretch>
          </p:blipFill>
          <p:spPr>
            <a:xfrm>
              <a:off x="3355" y="6631"/>
              <a:ext cx="1254" cy="562"/>
            </a:xfrm>
            <a:prstGeom prst="rect">
              <a:avLst/>
            </a:prstGeom>
          </p:spPr>
        </p:pic>
      </p:grpSp>
      <p:sp>
        <p:nvSpPr>
          <p:cNvPr id="28" name="Text 78"/>
          <p:cNvSpPr/>
          <p:nvPr/>
        </p:nvSpPr>
        <p:spPr>
          <a:xfrm>
            <a:off x="256540" y="5649595"/>
            <a:ext cx="1124585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W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c  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(W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pub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, θ</a:t>
            </a:r>
            <a:r>
              <a:rPr lang="en-US" sz="900" baseline="-25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</a:t>
            </a:r>
            <a:r>
              <a:rPr lang="en-US" sz="9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)</a:t>
            </a:r>
            <a:endParaRPr lang="en-US" sz="900" baseline="-25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rcRect r="64975"/>
          <a:stretch>
            <a:fillRect/>
          </a:stretch>
        </p:blipFill>
        <p:spPr>
          <a:xfrm>
            <a:off x="1381125" y="4301490"/>
            <a:ext cx="723265" cy="33909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0"/>
          <a:srcRect l="63284"/>
          <a:stretch>
            <a:fillRect/>
          </a:stretch>
        </p:blipFill>
        <p:spPr>
          <a:xfrm>
            <a:off x="2130425" y="4301490"/>
            <a:ext cx="758190" cy="339090"/>
          </a:xfrm>
          <a:prstGeom prst="rect">
            <a:avLst/>
          </a:prstGeom>
        </p:spPr>
      </p:pic>
      <p:pic>
        <p:nvPicPr>
          <p:cNvPr id="31" name="图片 30" descr="private-law-change-circle-arrow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4685" y="4654550"/>
            <a:ext cx="213995" cy="851535"/>
          </a:xfrm>
          <a:prstGeom prst="rect">
            <a:avLst/>
          </a:prstGeom>
        </p:spPr>
      </p:pic>
      <p:pic>
        <p:nvPicPr>
          <p:cNvPr id="34" name="图片 33" descr="partition-la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80690" y="3999865"/>
            <a:ext cx="479425" cy="479425"/>
          </a:xfrm>
          <a:prstGeom prst="rect">
            <a:avLst/>
          </a:prstGeom>
        </p:spPr>
      </p:pic>
      <p:pic>
        <p:nvPicPr>
          <p:cNvPr id="35" name="图片 34" descr="electrochemical-material-law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0690" y="5201920"/>
            <a:ext cx="440690" cy="464185"/>
          </a:xfrm>
          <a:prstGeom prst="rect">
            <a:avLst/>
          </a:prstGeom>
        </p:spPr>
      </p:pic>
      <p:sp>
        <p:nvSpPr>
          <p:cNvPr id="36" name="Text 75"/>
          <p:cNvSpPr/>
          <p:nvPr/>
        </p:nvSpPr>
        <p:spPr>
          <a:xfrm>
            <a:off x="998855" y="4931410"/>
            <a:ext cx="1097915" cy="2705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73A0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Change one private law</a:t>
            </a:r>
            <a:endParaRPr lang="en-US" sz="1000" dirty="0">
              <a:solidFill>
                <a:srgbClr val="F73A0C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4800600" y="3380740"/>
            <a:ext cx="4324350" cy="275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D。Separate agent-facing lifecycle on a non-reference </a:t>
            </a:r>
            <a:r>
              <a:rPr lang="en-US" sz="1200" b="1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world</a:t>
            </a:r>
            <a:endParaRPr lang="en-US" sz="1200" b="1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38" name="图片 37" descr="reacti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1235" y="3980180"/>
            <a:ext cx="457200" cy="479425"/>
          </a:xfrm>
          <a:prstGeom prst="rect">
            <a:avLst/>
          </a:prstGeom>
        </p:spPr>
      </p:pic>
      <p:pic>
        <p:nvPicPr>
          <p:cNvPr id="39" name="图片 38" descr="thermal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6120" y="3980180"/>
            <a:ext cx="480060" cy="495300"/>
          </a:xfrm>
          <a:prstGeom prst="rect">
            <a:avLst/>
          </a:prstGeom>
        </p:spPr>
      </p:pic>
      <p:pic>
        <p:nvPicPr>
          <p:cNvPr id="50" name="图片 49" descr="distillati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80530" y="3980180"/>
            <a:ext cx="443230" cy="464820"/>
          </a:xfrm>
          <a:prstGeom prst="rect">
            <a:avLst/>
          </a:prstGeom>
        </p:spPr>
      </p:pic>
      <p:pic>
        <p:nvPicPr>
          <p:cNvPr id="87" name="图片 86" descr="observati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08595" y="3999865"/>
            <a:ext cx="435610" cy="445135"/>
          </a:xfrm>
          <a:prstGeom prst="rect">
            <a:avLst/>
          </a:prstGeom>
        </p:spPr>
      </p:pic>
      <p:sp>
        <p:nvSpPr>
          <p:cNvPr id="88" name="Text 39"/>
          <p:cNvSpPr/>
          <p:nvPr/>
        </p:nvSpPr>
        <p:spPr>
          <a:xfrm>
            <a:off x="5090160" y="406400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9" name="Text 39"/>
          <p:cNvSpPr/>
          <p:nvPr/>
        </p:nvSpPr>
        <p:spPr>
          <a:xfrm>
            <a:off x="6085840" y="406400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Thermal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9" name="Text 39"/>
          <p:cNvSpPr/>
          <p:nvPr/>
        </p:nvSpPr>
        <p:spPr>
          <a:xfrm>
            <a:off x="7077710" y="406400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Distillation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8183880" y="4064000"/>
            <a:ext cx="824230" cy="2470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0101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</a:t>
            </a:r>
            <a:endParaRPr lang="en-US" sz="1000" dirty="0">
              <a:solidFill>
                <a:srgbClr val="101010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WPS 演示</Application>
  <PresentationFormat>On-screen Show (16:9)</PresentationFormat>
  <Paragraphs>121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Arial</vt:lpstr>
      <vt:lpstr>汉仪书宋二KW</vt:lpstr>
      <vt:lpstr>微软雅黑</vt:lpstr>
      <vt:lpstr>方正雅意黑 GB18030L2</vt:lpstr>
      <vt:lpstr>Calibri</vt:lpstr>
      <vt:lpstr>Helvetica Neue</vt:lpstr>
      <vt:lpstr>等线</vt:lpstr>
      <vt:lpstr>汉仪中等线KW</vt:lpstr>
      <vt:lpstr>宋体</vt:lpstr>
      <vt:lpstr>Arial Unicode MS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3. Execution, intervention and agent access</dc:title>
  <dc:creator>OpenAI</dc:creator>
  <dc:subject>ChemWorld Figure 3 editable reconstruction</dc:subject>
  <cp:lastModifiedBy>李奕均(2022013127)</cp:lastModifiedBy>
  <cp:revision>18</cp:revision>
  <dcterms:created xsi:type="dcterms:W3CDTF">2026-08-09T12:46:13Z</dcterms:created>
  <dcterms:modified xsi:type="dcterms:W3CDTF">2026-08-09T12:46:13Z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AC4A6725F35D4BF296A3DAE38DD9BDC1_12</vt:lpwstr>
  </property>
</Properties>
</file>