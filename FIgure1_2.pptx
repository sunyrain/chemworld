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57" r:id="rId6"/>
    <p:sldId id="258" r:id="rId7"/>
  </p:sldIdLst>
  <p:sldSz cx="13792200" cy="1034415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Reconstruction source: /Users/knitua/Downloads/ChemWorld_all_generated_figures/11_figure1_RX_same_style_revision.png. All pictograms were extracted from that source image into transparent PNG files in /Users/knitua/Desktop/Chemworld/Figure1/icon. Text, panels, arrows, and labels are editable PowerPoint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4" Type="http://schemas.openxmlformats.org/officeDocument/2006/relationships/notesSlide" Target="../notesSlides/notesSlide1.xml"/><Relationship Id="rId53" Type="http://schemas.openxmlformats.org/officeDocument/2006/relationships/slideLayout" Target="../slideLayouts/slideLayout1.xml"/><Relationship Id="rId52" Type="http://schemas.openxmlformats.org/officeDocument/2006/relationships/image" Target="../media/image52.png"/><Relationship Id="rId51" Type="http://schemas.openxmlformats.org/officeDocument/2006/relationships/image" Target="../media/image51.png"/><Relationship Id="rId50" Type="http://schemas.openxmlformats.org/officeDocument/2006/relationships/image" Target="../media/image50.png"/><Relationship Id="rId5" Type="http://schemas.openxmlformats.org/officeDocument/2006/relationships/image" Target="../media/image5.png"/><Relationship Id="rId49" Type="http://schemas.openxmlformats.org/officeDocument/2006/relationships/image" Target="../media/image49.png"/><Relationship Id="rId48" Type="http://schemas.openxmlformats.org/officeDocument/2006/relationships/image" Target="../media/image48.png"/><Relationship Id="rId47" Type="http://schemas.openxmlformats.org/officeDocument/2006/relationships/image" Target="../media/image47.png"/><Relationship Id="rId46" Type="http://schemas.openxmlformats.org/officeDocument/2006/relationships/image" Target="../media/image46.png"/><Relationship Id="rId45" Type="http://schemas.openxmlformats.org/officeDocument/2006/relationships/image" Target="../media/image45.png"/><Relationship Id="rId44" Type="http://schemas.openxmlformats.org/officeDocument/2006/relationships/image" Target="../media/image44.png"/><Relationship Id="rId43" Type="http://schemas.openxmlformats.org/officeDocument/2006/relationships/image" Target="../media/image43.png"/><Relationship Id="rId42" Type="http://schemas.openxmlformats.org/officeDocument/2006/relationships/image" Target="../media/image42.png"/><Relationship Id="rId41" Type="http://schemas.openxmlformats.org/officeDocument/2006/relationships/image" Target="../media/image41.png"/><Relationship Id="rId40" Type="http://schemas.openxmlformats.org/officeDocument/2006/relationships/image" Target="../media/image40.png"/><Relationship Id="rId4" Type="http://schemas.openxmlformats.org/officeDocument/2006/relationships/image" Target="../media/image4.png"/><Relationship Id="rId39" Type="http://schemas.openxmlformats.org/officeDocument/2006/relationships/image" Target="../media/image39.png"/><Relationship Id="rId38" Type="http://schemas.openxmlformats.org/officeDocument/2006/relationships/image" Target="../media/image38.png"/><Relationship Id="rId37" Type="http://schemas.openxmlformats.org/officeDocument/2006/relationships/image" Target="../media/image37.png"/><Relationship Id="rId36" Type="http://schemas.openxmlformats.org/officeDocument/2006/relationships/image" Target="../media/image36.png"/><Relationship Id="rId35" Type="http://schemas.openxmlformats.org/officeDocument/2006/relationships/image" Target="../media/image35.png"/><Relationship Id="rId34" Type="http://schemas.openxmlformats.org/officeDocument/2006/relationships/image" Target="../media/image34.png"/><Relationship Id="rId33" Type="http://schemas.openxmlformats.org/officeDocument/2006/relationships/image" Target="../media/image33.png"/><Relationship Id="rId32" Type="http://schemas.openxmlformats.org/officeDocument/2006/relationships/image" Target="../media/image32.png"/><Relationship Id="rId31" Type="http://schemas.openxmlformats.org/officeDocument/2006/relationships/image" Target="../media/image31.png"/><Relationship Id="rId30" Type="http://schemas.openxmlformats.org/officeDocument/2006/relationships/image" Target="../media/image30.png"/><Relationship Id="rId3" Type="http://schemas.openxmlformats.org/officeDocument/2006/relationships/image" Target="../media/image3.pn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1.png"/><Relationship Id="rId8" Type="http://schemas.openxmlformats.org/officeDocument/2006/relationships/image" Target="../media/image60.png"/><Relationship Id="rId7" Type="http://schemas.openxmlformats.org/officeDocument/2006/relationships/image" Target="../media/image59.png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Relationship Id="rId3" Type="http://schemas.openxmlformats.org/officeDocument/2006/relationships/image" Target="../media/image55.png"/><Relationship Id="rId25" Type="http://schemas.openxmlformats.org/officeDocument/2006/relationships/notesSlide" Target="../notesSlides/notesSlide2.xml"/><Relationship Id="rId24" Type="http://schemas.openxmlformats.org/officeDocument/2006/relationships/slideLayout" Target="../slideLayouts/slideLayout2.xml"/><Relationship Id="rId23" Type="http://schemas.openxmlformats.org/officeDocument/2006/relationships/image" Target="../media/image75.png"/><Relationship Id="rId22" Type="http://schemas.openxmlformats.org/officeDocument/2006/relationships/image" Target="../media/image74.png"/><Relationship Id="rId21" Type="http://schemas.openxmlformats.org/officeDocument/2006/relationships/image" Target="../media/image73.png"/><Relationship Id="rId20" Type="http://schemas.openxmlformats.org/officeDocument/2006/relationships/image" Target="../media/image72.png"/><Relationship Id="rId2" Type="http://schemas.openxmlformats.org/officeDocument/2006/relationships/image" Target="../media/image54.png"/><Relationship Id="rId19" Type="http://schemas.openxmlformats.org/officeDocument/2006/relationships/image" Target="../media/image71.png"/><Relationship Id="rId18" Type="http://schemas.openxmlformats.org/officeDocument/2006/relationships/image" Target="../media/image70.png"/><Relationship Id="rId17" Type="http://schemas.openxmlformats.org/officeDocument/2006/relationships/image" Target="../media/image69.png"/><Relationship Id="rId16" Type="http://schemas.openxmlformats.org/officeDocument/2006/relationships/image" Target="../media/image68.png"/><Relationship Id="rId15" Type="http://schemas.openxmlformats.org/officeDocument/2006/relationships/image" Target="../media/image67.png"/><Relationship Id="rId14" Type="http://schemas.openxmlformats.org/officeDocument/2006/relationships/image" Target="../media/image66.png"/><Relationship Id="rId13" Type="http://schemas.openxmlformats.org/officeDocument/2006/relationships/image" Target="../media/image65.png"/><Relationship Id="rId12" Type="http://schemas.openxmlformats.org/officeDocument/2006/relationships/image" Target="../media/image64.png"/><Relationship Id="rId11" Type="http://schemas.openxmlformats.org/officeDocument/2006/relationships/image" Target="../media/image63.png"/><Relationship Id="rId10" Type="http://schemas.openxmlformats.org/officeDocument/2006/relationships/image" Target="../media/image62.png"/><Relationship Id="rId1" Type="http://schemas.openxmlformats.org/officeDocument/2006/relationships/image" Target="../media/image5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6.pn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82.png"/><Relationship Id="rId5" Type="http://schemas.openxmlformats.org/officeDocument/2006/relationships/image" Target="../media/image81.png"/><Relationship Id="rId4" Type="http://schemas.openxmlformats.org/officeDocument/2006/relationships/image" Target="../media/image80.png"/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image" Target="../media/image7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82" name="矩形 181"/>
          <p:cNvSpPr>
            <a:spLocks noGrp="1"/>
          </p:cNvSpPr>
          <p:nvPr/>
        </p:nvSpPr>
        <p:spPr>
          <a:xfrm>
            <a:off x="161925" y="171450"/>
            <a:ext cx="28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2250" b="1" i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 i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endParaRPr sz="2250" b="1" i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476250" y="390525"/>
            <a:ext cx="4057650" cy="1228725"/>
          </a:xfrm>
          <a:prstGeom prst="rect">
            <a:avLst/>
          </a:prstGeom>
          <a:solidFill>
            <a:srgbClr val="F5FAFE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4705350" y="390525"/>
            <a:ext cx="4362450" cy="1228725"/>
          </a:xfrm>
          <a:prstGeom prst="rect">
            <a:avLst/>
          </a:prstGeom>
          <a:solidFill>
            <a:srgbClr val="F5FAFE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9239250" y="390525"/>
            <a:ext cx="4343400" cy="1228725"/>
          </a:xfrm>
          <a:prstGeom prst="rect">
            <a:avLst/>
          </a:prstGeom>
          <a:solidFill>
            <a:srgbClr val="F5FAFE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554355" y="419100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Static benchmarks</a:t>
            </a:r>
            <a:endParaRPr sz="1575" b="1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41" name="图片 18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755" y="752475"/>
            <a:ext cx="514741" cy="657225"/>
          </a:xfrm>
          <a:prstGeom prst="rect">
            <a:avLst/>
          </a:prstGeom>
        </p:spPr>
      </p:pic>
      <p:pic>
        <p:nvPicPr>
          <p:cNvPr id="242" name="图片 18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730375"/>
            <a:ext cx="685800" cy="729999"/>
          </a:xfrm>
          <a:prstGeom prst="rect">
            <a:avLst/>
          </a:prstGeom>
        </p:spPr>
      </p:pic>
      <p:sp>
        <p:nvSpPr>
          <p:cNvPr id="8" name="右箭头 7"/>
          <p:cNvSpPr>
            <a:spLocks noGrp="1"/>
          </p:cNvSpPr>
          <p:nvPr/>
        </p:nvSpPr>
        <p:spPr>
          <a:xfrm>
            <a:off x="2028825" y="1028700"/>
            <a:ext cx="285750" cy="16192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9125" y="1409700"/>
            <a:ext cx="1381125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Fixed dataset</a:t>
            </a:r>
            <a:endParaRPr sz="105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3195955" y="800100"/>
            <a:ext cx="1766570" cy="4857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/>
          <a:lstStyle/>
          <a:p>
            <a:pPr algn="l">
              <a:buNone/>
              <a:def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No persistent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experimental state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766945" y="419735"/>
            <a:ext cx="2286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Real laboratories</a:t>
            </a:r>
            <a:endParaRPr sz="1575" b="1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48" name="图片 196"/>
          <p:cNvPicPr>
            <a:picLocks noChangeAspect="1"/>
          </p:cNvPicPr>
          <p:nvPr/>
        </p:nvPicPr>
        <p:blipFill>
          <a:blip r:embed="rId3"/>
          <a:srcRect l="11619"/>
          <a:stretch>
            <a:fillRect/>
          </a:stretch>
        </p:blipFill>
        <p:spPr>
          <a:xfrm>
            <a:off x="6887845" y="686435"/>
            <a:ext cx="589280" cy="645795"/>
          </a:xfrm>
          <a:prstGeom prst="rect">
            <a:avLst/>
          </a:prstGeom>
        </p:spPr>
      </p:pic>
      <p:sp>
        <p:nvSpPr>
          <p:cNvPr id="17" name="矩形 16"/>
          <p:cNvSpPr>
            <a:spLocks noGrp="1"/>
          </p:cNvSpPr>
          <p:nvPr/>
        </p:nvSpPr>
        <p:spPr>
          <a:xfrm>
            <a:off x="7616190" y="847090"/>
            <a:ext cx="1381125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/>
          <a:lstStyle/>
          <a:p>
            <a:pPr algn="l">
              <a:buNone/>
              <a:def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Hidden laws and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unmatched worlds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9272270" y="419735"/>
            <a:ext cx="34290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75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Single-endpoint evaluation</a:t>
            </a:r>
            <a:endParaRPr sz="1575" b="1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1668125" y="815340"/>
            <a:ext cx="17716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/>
          <a:lstStyle/>
          <a:p>
            <a:pPr algn="l">
              <a:buNone/>
              <a:def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Task success ≠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scientific generalization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161925" y="1771650"/>
            <a:ext cx="28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2250" b="1" i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 i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</a:t>
            </a:r>
            <a:endParaRPr sz="2250" b="1" i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476250" y="1859915"/>
            <a:ext cx="13106400" cy="3286125"/>
          </a:xfrm>
          <a:prstGeom prst="rect">
            <a:avLst/>
          </a:prstGeom>
          <a:solidFill>
            <a:srgbClr val="FFFF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628650" y="1838325"/>
            <a:ext cx="2233295" cy="5429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2700" b="1" i="1">
                <a:solidFill>
                  <a:srgbClr val="FF5A1F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700" b="1" i="1">
                <a:solidFill>
                  <a:srgbClr val="FF5A1F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Chem</a:t>
            </a:r>
            <a:r>
              <a:rPr>
                <a:solidFill>
                  <a:srgbClr val="173F72"/>
                </a:solidFill>
                <a:sym typeface="+mn-ea"/>
              </a:rPr>
              <a:t>World</a:t>
            </a:r>
            <a:endParaRPr sz="2700" b="1" i="1">
              <a:solidFill>
                <a:srgbClr val="FF5A1F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466850" y="1971675"/>
            <a:ext cx="1190625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l">
              <a:buNone/>
              <a:defRPr sz="2700" b="1" i="1">
                <a:solidFill>
                  <a:srgbClr val="173F7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endParaRPr sz="2700" b="1" i="1">
              <a:solidFill>
                <a:srgbClr val="173F7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31190" y="2291715"/>
            <a:ext cx="2381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 fontScale="89334"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programmable chemical world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for autonomous scientific discovery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57" name="图片 2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5" y="2825750"/>
            <a:ext cx="628650" cy="628650"/>
          </a:xfrm>
          <a:prstGeom prst="rect">
            <a:avLst/>
          </a:prstGeom>
        </p:spPr>
      </p:pic>
      <p:sp>
        <p:nvSpPr>
          <p:cNvPr id="29" name="矩形 28"/>
          <p:cNvSpPr>
            <a:spLocks noGrp="1"/>
          </p:cNvSpPr>
          <p:nvPr/>
        </p:nvSpPr>
        <p:spPr>
          <a:xfrm>
            <a:off x="1314450" y="2921000"/>
            <a:ext cx="121920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rm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Controllable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hidden laws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59" name="图片 2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32" y="3502025"/>
            <a:ext cx="593335" cy="542925"/>
          </a:xfrm>
          <a:prstGeom prst="rect">
            <a:avLst/>
          </a:prstGeom>
        </p:spPr>
      </p:pic>
      <p:sp>
        <p:nvSpPr>
          <p:cNvPr id="31" name="矩形 30"/>
          <p:cNvSpPr>
            <a:spLocks noGrp="1"/>
          </p:cNvSpPr>
          <p:nvPr/>
        </p:nvSpPr>
        <p:spPr>
          <a:xfrm>
            <a:off x="1314450" y="3587750"/>
            <a:ext cx="126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rmAutofit fontScale="88934"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Virtual instruments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and resources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261" name="图片 2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248" y="4159250"/>
            <a:ext cx="572505" cy="657225"/>
          </a:xfrm>
          <a:prstGeom prst="rect">
            <a:avLst/>
          </a:prstGeom>
        </p:spPr>
      </p:pic>
      <p:sp>
        <p:nvSpPr>
          <p:cNvPr id="33" name="矩形 32"/>
          <p:cNvSpPr>
            <a:spLocks noGrp="1"/>
          </p:cNvSpPr>
          <p:nvPr/>
        </p:nvSpPr>
        <p:spPr>
          <a:xfrm>
            <a:off x="1314450" y="4292600"/>
            <a:ext cx="1190625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rmAutofit/>
          </a:bodyPr>
          <a:lstStyle/>
          <a:p>
            <a:pPr algn="l">
              <a:buNone/>
              <a:def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Persistent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l">
              <a:buNone/>
              <a:def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physical state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2476500" y="2825750"/>
            <a:ext cx="57150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2533650" y="2825750"/>
            <a:ext cx="0" cy="194310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2476500" y="4768850"/>
            <a:ext cx="57150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3233420" y="2114550"/>
            <a:ext cx="6424930" cy="4254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425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 </a:t>
            </a:r>
            <a:r>
              <a:rPr lang="en-US" sz="18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</a:t>
            </a:r>
            <a:r>
              <a:rPr sz="18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epresentative </a:t>
            </a:r>
            <a:r>
              <a:rPr lang="en-US" sz="18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</a:t>
            </a:r>
            <a:r>
              <a:rPr sz="18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utonomous </a:t>
            </a:r>
            <a:r>
              <a:rPr lang="en-US" sz="18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</a:t>
            </a:r>
            <a:r>
              <a:rPr sz="18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ampaign in ChemWorld</a:t>
            </a:r>
            <a:endParaRPr sz="1800" b="1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1" name="梯形 70"/>
          <p:cNvSpPr>
            <a:spLocks noGrp="1"/>
          </p:cNvSpPr>
          <p:nvPr/>
        </p:nvSpPr>
        <p:spPr>
          <a:xfrm>
            <a:off x="2714625" y="4229100"/>
            <a:ext cx="7162800" cy="820420"/>
          </a:xfrm>
          <a:prstGeom prst="trapezoid">
            <a:avLst/>
          </a:prstGeom>
          <a:solidFill>
            <a:srgbClr val="F8FCFF"/>
          </a:solidFill>
          <a:ln w="11430">
            <a:noFill/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4686300" y="4229100"/>
            <a:ext cx="14287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r">
              <a:buNone/>
              <a:defRPr sz="1125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Persistent state</a:t>
            </a:r>
            <a:endParaRPr sz="1125" b="1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3" name="矩形 72"/>
          <p:cNvSpPr>
            <a:spLocks noGrp="1"/>
          </p:cNvSpPr>
          <p:nvPr/>
        </p:nvSpPr>
        <p:spPr>
          <a:xfrm>
            <a:off x="6220460" y="4238625"/>
            <a:ext cx="23336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975" b="0" i="0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334155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(updated after every experiment)</a:t>
            </a:r>
            <a:endParaRPr sz="975" b="0" i="0">
              <a:solidFill>
                <a:srgbClr val="334155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01" name="图片 25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43225" y="4410174"/>
            <a:ext cx="800100" cy="612577"/>
          </a:xfrm>
          <a:prstGeom prst="rect">
            <a:avLst/>
          </a:prstGeom>
        </p:spPr>
      </p:pic>
      <p:sp>
        <p:nvSpPr>
          <p:cNvPr id="75" name="矩形 74"/>
          <p:cNvSpPr>
            <a:spLocks noGrp="1"/>
          </p:cNvSpPr>
          <p:nvPr/>
        </p:nvSpPr>
        <p:spPr>
          <a:xfrm>
            <a:off x="3781425" y="4596130"/>
            <a:ext cx="904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rmAutofit/>
          </a:bodyPr>
          <a:lstStyle/>
          <a:p>
            <a:pPr algn="l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Composition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7" name="矩形 76"/>
          <p:cNvSpPr>
            <a:spLocks noGrp="1"/>
          </p:cNvSpPr>
          <p:nvPr/>
        </p:nvSpPr>
        <p:spPr>
          <a:xfrm>
            <a:off x="5353050" y="4632325"/>
            <a:ext cx="5238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rmAutofit/>
          </a:bodyPr>
          <a:lstStyle/>
          <a:p>
            <a:pPr algn="l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Phase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79" name="矩形 78"/>
          <p:cNvSpPr>
            <a:spLocks noGrp="1"/>
          </p:cNvSpPr>
          <p:nvPr/>
        </p:nvSpPr>
        <p:spPr>
          <a:xfrm>
            <a:off x="6767195" y="4514215"/>
            <a:ext cx="1143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Autofit/>
          </a:bodyPr>
          <a:lstStyle/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Thermal 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history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1" name="矩形 80"/>
          <p:cNvSpPr>
            <a:spLocks noGrp="1"/>
          </p:cNvSpPr>
          <p:nvPr/>
        </p:nvSpPr>
        <p:spPr>
          <a:xfrm>
            <a:off x="8696325" y="4523740"/>
            <a:ext cx="93345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ctr">
            <a:normAutofit/>
          </a:bodyPr>
          <a:lstStyle/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Remaining </a:t>
            </a:r>
            <a:endParaRPr sz="105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material</a:t>
            </a:r>
            <a:endParaRPr sz="105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82" name="圆角矩形 81"/>
          <p:cNvSpPr>
            <a:spLocks noGrp="1"/>
          </p:cNvSpPr>
          <p:nvPr/>
        </p:nvSpPr>
        <p:spPr>
          <a:xfrm>
            <a:off x="10096500" y="1971675"/>
            <a:ext cx="3362325" cy="1304925"/>
          </a:xfrm>
          <a:prstGeom prst="roundRect">
            <a:avLst>
              <a:gd name="adj" fmla="val 4380"/>
            </a:avLst>
          </a:prstGeom>
          <a:solidFill>
            <a:srgbClr val="F8FCFF"/>
          </a:solidFill>
          <a:ln w="11430">
            <a:noFill/>
            <a:prstDash val="solid"/>
          </a:ln>
        </p:spPr>
      </p:sp>
      <p:sp>
        <p:nvSpPr>
          <p:cNvPr id="83" name="矩形 82"/>
          <p:cNvSpPr>
            <a:spLocks noGrp="1"/>
          </p:cNvSpPr>
          <p:nvPr/>
        </p:nvSpPr>
        <p:spPr>
          <a:xfrm>
            <a:off x="10153650" y="2038350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1275" b="0" i="0">
                <a:solidFill>
                  <a:srgbClr val="114AE8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00" b="1" i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Operational validation</a:t>
            </a:r>
            <a:endParaRPr sz="1300" b="1" i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90204" pitchFamily="34" charset="0"/>
              <a:ea typeface="Arial" panose="020B0604020202090204"/>
              <a:cs typeface="Arial" panose="020B0604020202090204" pitchFamily="34" charset="0"/>
            </a:endParaRPr>
          </a:p>
        </p:txBody>
      </p:sp>
      <p:pic>
        <p:nvPicPr>
          <p:cNvPr id="311" name="图片 26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01300" y="2257425"/>
            <a:ext cx="676275" cy="676275"/>
          </a:xfrm>
          <a:prstGeom prst="rect">
            <a:avLst/>
          </a:prstGeom>
        </p:spPr>
      </p:pic>
      <p:pic>
        <p:nvPicPr>
          <p:cNvPr id="313" name="图片 26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565285" y="2238375"/>
            <a:ext cx="510480" cy="666750"/>
          </a:xfrm>
          <a:prstGeom prst="rect">
            <a:avLst/>
          </a:prstGeom>
        </p:spPr>
      </p:pic>
      <p:pic>
        <p:nvPicPr>
          <p:cNvPr id="315" name="图片 26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607603" y="2209800"/>
            <a:ext cx="692795" cy="723900"/>
          </a:xfrm>
          <a:prstGeom prst="rect">
            <a:avLst/>
          </a:prstGeom>
        </p:spPr>
      </p:pic>
      <p:sp>
        <p:nvSpPr>
          <p:cNvPr id="89" name="矩形 88"/>
          <p:cNvSpPr>
            <a:spLocks noGrp="1"/>
          </p:cNvSpPr>
          <p:nvPr/>
        </p:nvSpPr>
        <p:spPr>
          <a:xfrm>
            <a:off x="10210800" y="2886075"/>
            <a:ext cx="10477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Sealed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recommendation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11420475" y="2886075"/>
            <a:ext cx="78105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Independent</a:t>
            </a:r>
            <a:endParaRPr sz="97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retest</a:t>
            </a:r>
            <a:endParaRPr sz="97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1" name="矩形 90"/>
          <p:cNvSpPr>
            <a:spLocks noGrp="1"/>
          </p:cNvSpPr>
          <p:nvPr/>
        </p:nvSpPr>
        <p:spPr>
          <a:xfrm>
            <a:off x="12544425" y="2886075"/>
            <a:ext cx="838200" cy="3714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Operational</a:t>
            </a:r>
            <a:endParaRPr sz="97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achievement</a:t>
            </a:r>
            <a:endParaRPr sz="97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2" name="圆角矩形 91"/>
          <p:cNvSpPr>
            <a:spLocks noGrp="1"/>
          </p:cNvSpPr>
          <p:nvPr/>
        </p:nvSpPr>
        <p:spPr>
          <a:xfrm>
            <a:off x="10096500" y="3400425"/>
            <a:ext cx="3362325" cy="1460500"/>
          </a:xfrm>
          <a:prstGeom prst="roundRect">
            <a:avLst>
              <a:gd name="adj" fmla="val 3636"/>
            </a:avLst>
          </a:prstGeom>
          <a:solidFill>
            <a:srgbClr val="FFFCF7"/>
          </a:solidFill>
          <a:ln w="11430">
            <a:noFill/>
            <a:prstDash val="solid"/>
          </a:ln>
        </p:spPr>
      </p:sp>
      <p:sp>
        <p:nvSpPr>
          <p:cNvPr id="93" name="矩形 92"/>
          <p:cNvSpPr>
            <a:spLocks noGrp="1"/>
          </p:cNvSpPr>
          <p:nvPr/>
        </p:nvSpPr>
        <p:spPr>
          <a:xfrm>
            <a:off x="10153650" y="3457575"/>
            <a:ext cx="342138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l">
              <a:buNone/>
              <a:defRPr sz="12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300" b="1" i="0">
                <a:solidFill>
                  <a:srgbClr val="111827"/>
                </a:solidFill>
                <a:latin typeface="Arial" panose="020B0604020202090204" pitchFamily="34" charset="0"/>
                <a:ea typeface="Arial" panose="020B0604020202090204"/>
                <a:cs typeface="Arial" panose="020B0604020202090204" pitchFamily="34" charset="0"/>
              </a:rPr>
              <a:t>Scientific understanding and prediction</a:t>
            </a:r>
            <a:endParaRPr sz="1300" b="1" i="0">
              <a:solidFill>
                <a:srgbClr val="111827"/>
              </a:solidFill>
              <a:latin typeface="Arial" panose="020B0604020202090204" pitchFamily="34" charset="0"/>
              <a:ea typeface="Arial" panose="020B0604020202090204"/>
              <a:cs typeface="Arial" panose="020B0604020202090204" pitchFamily="34" charset="0"/>
            </a:endParaRPr>
          </a:p>
        </p:txBody>
      </p:sp>
      <p:pic>
        <p:nvPicPr>
          <p:cNvPr id="321" name="图片 27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31338" y="3705225"/>
            <a:ext cx="530423" cy="628650"/>
          </a:xfrm>
          <a:prstGeom prst="rect">
            <a:avLst/>
          </a:prstGeom>
        </p:spPr>
      </p:pic>
      <p:sp>
        <p:nvSpPr>
          <p:cNvPr id="95" name="矩形 94"/>
          <p:cNvSpPr>
            <a:spLocks noGrp="1"/>
          </p:cNvSpPr>
          <p:nvPr/>
        </p:nvSpPr>
        <p:spPr>
          <a:xfrm>
            <a:off x="10734675" y="38862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 fontScale="97222" lnSpcReduction="10000"/>
          </a:bodyPr>
          <a:lstStyle/>
          <a:p>
            <a:pPr algn="ctr">
              <a:buNone/>
              <a:defRPr sz="1800" b="1" i="0">
                <a:solidFill>
                  <a:srgbClr val="173F7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73F7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endParaRPr sz="1800" b="1" i="0">
              <a:solidFill>
                <a:srgbClr val="173F7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23" name="图片 27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77550" y="3735898"/>
            <a:ext cx="638175" cy="557780"/>
          </a:xfrm>
          <a:prstGeom prst="rect">
            <a:avLst/>
          </a:prstGeom>
        </p:spPr>
      </p:pic>
      <p:sp>
        <p:nvSpPr>
          <p:cNvPr id="97" name="矩形 96"/>
          <p:cNvSpPr>
            <a:spLocks noGrp="1"/>
          </p:cNvSpPr>
          <p:nvPr/>
        </p:nvSpPr>
        <p:spPr>
          <a:xfrm>
            <a:off x="11458575" y="3886200"/>
            <a:ext cx="2286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 fontScale="97222" lnSpcReduction="10000"/>
          </a:bodyPr>
          <a:lstStyle/>
          <a:p>
            <a:pPr algn="ctr">
              <a:buNone/>
              <a:defRPr sz="1800" b="1" i="0">
                <a:solidFill>
                  <a:srgbClr val="173F72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800" b="1" i="0">
                <a:solidFill>
                  <a:srgbClr val="173F72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+</a:t>
            </a:r>
            <a:endParaRPr sz="1800" b="1" i="0">
              <a:solidFill>
                <a:srgbClr val="173F72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25" name="图片 27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05236" y="3695700"/>
            <a:ext cx="602028" cy="638175"/>
          </a:xfrm>
          <a:prstGeom prst="rect">
            <a:avLst/>
          </a:prstGeom>
        </p:spPr>
      </p:pic>
      <p:pic>
        <p:nvPicPr>
          <p:cNvPr id="327" name="图片 28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334875" y="3719243"/>
            <a:ext cx="1047750" cy="600615"/>
          </a:xfrm>
          <a:prstGeom prst="rect">
            <a:avLst/>
          </a:prstGeom>
        </p:spPr>
      </p:pic>
      <p:sp>
        <p:nvSpPr>
          <p:cNvPr id="101" name="矩形 100"/>
          <p:cNvSpPr>
            <a:spLocks noGrp="1"/>
          </p:cNvSpPr>
          <p:nvPr/>
        </p:nvSpPr>
        <p:spPr>
          <a:xfrm>
            <a:off x="10134600" y="4371975"/>
            <a:ext cx="74295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Scientific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account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(K1)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2" name="矩形 101"/>
          <p:cNvSpPr>
            <a:spLocks noGrp="1"/>
          </p:cNvSpPr>
          <p:nvPr/>
        </p:nvSpPr>
        <p:spPr>
          <a:xfrm>
            <a:off x="10868025" y="4371975"/>
            <a:ext cx="647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Unseen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conditions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(Q)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3" name="矩形 102"/>
          <p:cNvSpPr>
            <a:spLocks noGrp="1"/>
          </p:cNvSpPr>
          <p:nvPr/>
        </p:nvSpPr>
        <p:spPr>
          <a:xfrm>
            <a:off x="11572875" y="4371975"/>
            <a:ext cx="647700" cy="6096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Evidence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review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(K2)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4" name="矩形 103"/>
          <p:cNvSpPr>
            <a:spLocks noGrp="1"/>
          </p:cNvSpPr>
          <p:nvPr/>
        </p:nvSpPr>
        <p:spPr>
          <a:xfrm>
            <a:off x="12296775" y="4410075"/>
            <a:ext cx="1104900" cy="4667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 fontScale="97868"/>
          </a:bodyPr>
          <a:lstStyle/>
          <a:p>
            <a:pPr algn="ctr">
              <a:buNone/>
              <a:defRPr sz="8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Prediction    Uncertainty</a:t>
            </a:r>
            <a:endParaRPr sz="82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8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8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(with full evidence history)</a:t>
            </a:r>
            <a:endParaRPr sz="82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05" name="直接连接符 104"/>
          <p:cNvSpPr>
            <a:spLocks noGrp="1"/>
          </p:cNvSpPr>
          <p:nvPr/>
        </p:nvSpPr>
        <p:spPr>
          <a:xfrm>
            <a:off x="9791700" y="3457575"/>
            <a:ext cx="114300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106" name="直接连接符 105"/>
          <p:cNvSpPr>
            <a:spLocks noGrp="1"/>
          </p:cNvSpPr>
          <p:nvPr/>
        </p:nvSpPr>
        <p:spPr>
          <a:xfrm>
            <a:off x="9906000" y="2609850"/>
            <a:ext cx="0" cy="171450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sp>
        <p:nvSpPr>
          <p:cNvPr id="109" name="矩形 108"/>
          <p:cNvSpPr>
            <a:spLocks noGrp="1"/>
          </p:cNvSpPr>
          <p:nvPr/>
        </p:nvSpPr>
        <p:spPr>
          <a:xfrm>
            <a:off x="476250" y="5324475"/>
            <a:ext cx="4171950" cy="1304925"/>
          </a:xfrm>
          <a:prstGeom prst="rect">
            <a:avLst/>
          </a:prstGeom>
          <a:solidFill>
            <a:srgbClr val="F8FC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10" name="矩形 109"/>
          <p:cNvSpPr>
            <a:spLocks noGrp="1"/>
          </p:cNvSpPr>
          <p:nvPr/>
        </p:nvSpPr>
        <p:spPr>
          <a:xfrm>
            <a:off x="4800600" y="5324475"/>
            <a:ext cx="4171950" cy="1304925"/>
          </a:xfrm>
          <a:prstGeom prst="rect">
            <a:avLst/>
          </a:prstGeom>
          <a:solidFill>
            <a:srgbClr val="F8FC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11" name="矩形 110"/>
          <p:cNvSpPr>
            <a:spLocks noGrp="1"/>
          </p:cNvSpPr>
          <p:nvPr/>
        </p:nvSpPr>
        <p:spPr>
          <a:xfrm>
            <a:off x="9124950" y="5324475"/>
            <a:ext cx="4457700" cy="1304925"/>
          </a:xfrm>
          <a:prstGeom prst="rect">
            <a:avLst/>
          </a:prstGeom>
          <a:solidFill>
            <a:srgbClr val="F8FC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12" name="矩形 111"/>
          <p:cNvSpPr>
            <a:spLocks noGrp="1"/>
          </p:cNvSpPr>
          <p:nvPr/>
        </p:nvSpPr>
        <p:spPr>
          <a:xfrm>
            <a:off x="554355" y="53371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Controllability</a:t>
            </a:r>
            <a:endParaRPr sz="1500" b="1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40" name="图片 29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5967" y="5543550"/>
            <a:ext cx="761981" cy="781050"/>
          </a:xfrm>
          <a:prstGeom prst="rect">
            <a:avLst/>
          </a:prstGeom>
        </p:spPr>
      </p:pic>
      <p:sp>
        <p:nvSpPr>
          <p:cNvPr id="114" name="矩形 113"/>
          <p:cNvSpPr>
            <a:spLocks noGrp="1"/>
          </p:cNvSpPr>
          <p:nvPr/>
        </p:nvSpPr>
        <p:spPr>
          <a:xfrm>
            <a:off x="1333500" y="5776595"/>
            <a:ext cx="11906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Hidden laws</a:t>
            </a:r>
            <a:endParaRPr sz="112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(physical world)</a:t>
            </a:r>
            <a:endParaRPr sz="112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5" name="直接连接符 114"/>
          <p:cNvSpPr>
            <a:spLocks noGrp="1"/>
          </p:cNvSpPr>
          <p:nvPr/>
        </p:nvSpPr>
        <p:spPr>
          <a:xfrm>
            <a:off x="2476500" y="5562600"/>
            <a:ext cx="0" cy="752475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pic>
        <p:nvPicPr>
          <p:cNvPr id="343" name="图片 296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81275" y="5603875"/>
            <a:ext cx="643255" cy="718820"/>
          </a:xfrm>
          <a:prstGeom prst="rect">
            <a:avLst/>
          </a:prstGeom>
        </p:spPr>
      </p:pic>
      <p:sp>
        <p:nvSpPr>
          <p:cNvPr id="117" name="矩形 116"/>
          <p:cNvSpPr>
            <a:spLocks noGrp="1"/>
          </p:cNvSpPr>
          <p:nvPr/>
        </p:nvSpPr>
        <p:spPr>
          <a:xfrm>
            <a:off x="3286125" y="5748020"/>
            <a:ext cx="130492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Public information</a:t>
            </a:r>
            <a:endParaRPr sz="112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12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(agent view)</a:t>
            </a:r>
            <a:endParaRPr sz="112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356870" y="6372225"/>
            <a:ext cx="4410075" cy="22796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Physics and information can be manipulated independently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19" name="矩形 118"/>
          <p:cNvSpPr>
            <a:spLocks noGrp="1"/>
          </p:cNvSpPr>
          <p:nvPr/>
        </p:nvSpPr>
        <p:spPr>
          <a:xfrm>
            <a:off x="4867275" y="53371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Traceability</a:t>
            </a:r>
            <a:endParaRPr sz="1500" b="1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48" name="图片 30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52765" y="5560060"/>
            <a:ext cx="767715" cy="676910"/>
          </a:xfrm>
          <a:prstGeom prst="rect">
            <a:avLst/>
          </a:prstGeom>
        </p:spPr>
      </p:pic>
      <p:sp>
        <p:nvSpPr>
          <p:cNvPr id="122" name="矩形 121"/>
          <p:cNvSpPr>
            <a:spLocks noGrp="1"/>
          </p:cNvSpPr>
          <p:nvPr/>
        </p:nvSpPr>
        <p:spPr>
          <a:xfrm>
            <a:off x="5062220" y="6377940"/>
            <a:ext cx="3676650" cy="25146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Full research histories can be replayed and audited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3" name="矩形 122"/>
          <p:cNvSpPr>
            <a:spLocks noGrp="1"/>
          </p:cNvSpPr>
          <p:nvPr/>
        </p:nvSpPr>
        <p:spPr>
          <a:xfrm>
            <a:off x="9199880" y="5337175"/>
            <a:ext cx="2381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Separability</a:t>
            </a:r>
            <a:endParaRPr sz="1500" b="1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51" name="图片 30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633091" y="5566410"/>
            <a:ext cx="536293" cy="619125"/>
          </a:xfrm>
          <a:prstGeom prst="rect">
            <a:avLst/>
          </a:prstGeom>
        </p:spPr>
      </p:pic>
      <p:pic>
        <p:nvPicPr>
          <p:cNvPr id="352" name="图片 305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891838" y="5518785"/>
            <a:ext cx="666750" cy="666750"/>
          </a:xfrm>
          <a:prstGeom prst="rect">
            <a:avLst/>
          </a:prstGeom>
        </p:spPr>
      </p:pic>
      <p:pic>
        <p:nvPicPr>
          <p:cNvPr id="353" name="图片 306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2163425" y="5566335"/>
            <a:ext cx="1000125" cy="583081"/>
          </a:xfrm>
          <a:prstGeom prst="rect">
            <a:avLst/>
          </a:prstGeom>
        </p:spPr>
      </p:pic>
      <p:sp>
        <p:nvSpPr>
          <p:cNvPr id="127" name="直接连接符 126"/>
          <p:cNvSpPr>
            <a:spLocks noGrp="1"/>
          </p:cNvSpPr>
          <p:nvPr/>
        </p:nvSpPr>
        <p:spPr>
          <a:xfrm>
            <a:off x="10572750" y="5553075"/>
            <a:ext cx="0" cy="714375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sp>
        <p:nvSpPr>
          <p:cNvPr id="128" name="直接连接符 127"/>
          <p:cNvSpPr>
            <a:spLocks noGrp="1"/>
          </p:cNvSpPr>
          <p:nvPr/>
        </p:nvSpPr>
        <p:spPr>
          <a:xfrm>
            <a:off x="11925300" y="5553075"/>
            <a:ext cx="0" cy="714375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sp>
        <p:nvSpPr>
          <p:cNvPr id="129" name="矩形 128"/>
          <p:cNvSpPr>
            <a:spLocks noGrp="1"/>
          </p:cNvSpPr>
          <p:nvPr/>
        </p:nvSpPr>
        <p:spPr>
          <a:xfrm>
            <a:off x="9372600" y="6105525"/>
            <a:ext cx="1047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Operation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(what was done)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0" name="矩形 129"/>
          <p:cNvSpPr>
            <a:spLocks noGrp="1"/>
          </p:cNvSpPr>
          <p:nvPr/>
        </p:nvSpPr>
        <p:spPr>
          <a:xfrm>
            <a:off x="10687050" y="6108065"/>
            <a:ext cx="1066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Prediction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(what will happen)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1" name="矩形 130"/>
          <p:cNvSpPr>
            <a:spLocks noGrp="1"/>
          </p:cNvSpPr>
          <p:nvPr/>
        </p:nvSpPr>
        <p:spPr>
          <a:xfrm>
            <a:off x="12058650" y="6108065"/>
            <a:ext cx="1190625" cy="30607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Uncertainty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(how certain)</a:t>
            </a:r>
            <a:endParaRPr sz="9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2" name="矩形 131"/>
          <p:cNvSpPr>
            <a:spLocks noGrp="1"/>
          </p:cNvSpPr>
          <p:nvPr/>
        </p:nvSpPr>
        <p:spPr>
          <a:xfrm>
            <a:off x="9077325" y="6396355"/>
            <a:ext cx="4431665" cy="25209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Operation, prediction and uncertainty are evaluated separately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3" name="矩形 132"/>
          <p:cNvSpPr>
            <a:spLocks noGrp="1"/>
          </p:cNvSpPr>
          <p:nvPr/>
        </p:nvSpPr>
        <p:spPr>
          <a:xfrm>
            <a:off x="161925" y="6800850"/>
            <a:ext cx="28575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2250" b="1" i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250" b="1" i="0">
                <a:solidFill>
                  <a:srgbClr val="000000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</a:t>
            </a:r>
            <a:endParaRPr sz="2250" b="1" i="0">
              <a:solidFill>
                <a:srgbClr val="000000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4" name="矩形 133"/>
          <p:cNvSpPr>
            <a:spLocks noGrp="1"/>
          </p:cNvSpPr>
          <p:nvPr/>
        </p:nvSpPr>
        <p:spPr>
          <a:xfrm>
            <a:off x="476250" y="6829425"/>
            <a:ext cx="6457950" cy="2428875"/>
          </a:xfrm>
          <a:prstGeom prst="rect">
            <a:avLst/>
          </a:prstGeom>
          <a:solidFill>
            <a:srgbClr val="FFFF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35" name="矩形 134"/>
          <p:cNvSpPr>
            <a:spLocks noGrp="1"/>
          </p:cNvSpPr>
          <p:nvPr/>
        </p:nvSpPr>
        <p:spPr>
          <a:xfrm>
            <a:off x="7105650" y="6829425"/>
            <a:ext cx="6477000" cy="2428875"/>
          </a:xfrm>
          <a:prstGeom prst="rect">
            <a:avLst/>
          </a:prstGeom>
          <a:solidFill>
            <a:srgbClr val="FFFFFF"/>
          </a:solidFill>
          <a:ln w="11430">
            <a:solidFill>
              <a:srgbClr val="496B8F"/>
            </a:solidFill>
            <a:prstDash val="solid"/>
          </a:ln>
        </p:spPr>
      </p:sp>
      <p:sp>
        <p:nvSpPr>
          <p:cNvPr id="136" name="矩形 135"/>
          <p:cNvSpPr>
            <a:spLocks noGrp="1"/>
          </p:cNvSpPr>
          <p:nvPr/>
        </p:nvSpPr>
        <p:spPr>
          <a:xfrm>
            <a:off x="619125" y="6905625"/>
            <a:ext cx="266700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Controlled study design</a:t>
            </a:r>
            <a:endParaRPr sz="1500" b="1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7" name="矩形 136"/>
          <p:cNvSpPr>
            <a:spLocks noGrp="1"/>
          </p:cNvSpPr>
          <p:nvPr/>
        </p:nvSpPr>
        <p:spPr>
          <a:xfrm>
            <a:off x="579120" y="7229475"/>
            <a:ext cx="1238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Opaque information</a:t>
            </a:r>
            <a:endParaRPr sz="10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8" name="矩形 137"/>
          <p:cNvSpPr>
            <a:spLocks noGrp="1"/>
          </p:cNvSpPr>
          <p:nvPr/>
        </p:nvSpPr>
        <p:spPr>
          <a:xfrm>
            <a:off x="1855470" y="7229475"/>
            <a:ext cx="12382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Aligned information</a:t>
            </a:r>
            <a:endParaRPr sz="10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39" name="矩形 138"/>
          <p:cNvSpPr>
            <a:spLocks noGrp="1"/>
          </p:cNvSpPr>
          <p:nvPr/>
        </p:nvSpPr>
        <p:spPr>
          <a:xfrm>
            <a:off x="3093720" y="7229475"/>
            <a:ext cx="1381125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Mismatched information</a:t>
            </a:r>
            <a:endParaRPr sz="10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40" name="矩形 139"/>
          <p:cNvSpPr>
            <a:spLocks noGrp="1"/>
          </p:cNvSpPr>
          <p:nvPr/>
        </p:nvSpPr>
        <p:spPr>
          <a:xfrm>
            <a:off x="4933950" y="7229475"/>
            <a:ext cx="1390650" cy="20955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Research envelope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68" name="图片 32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28025" y="7394575"/>
            <a:ext cx="744251" cy="723900"/>
          </a:xfrm>
          <a:prstGeom prst="rect">
            <a:avLst/>
          </a:prstGeom>
        </p:spPr>
      </p:pic>
      <p:pic>
        <p:nvPicPr>
          <p:cNvPr id="369" name="图片 322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095500" y="7410779"/>
            <a:ext cx="800100" cy="691493"/>
          </a:xfrm>
          <a:prstGeom prst="rect">
            <a:avLst/>
          </a:prstGeom>
        </p:spPr>
      </p:pic>
      <p:pic>
        <p:nvPicPr>
          <p:cNvPr id="370" name="图片 323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352800" y="7400621"/>
            <a:ext cx="800100" cy="711808"/>
          </a:xfrm>
          <a:prstGeom prst="rect">
            <a:avLst/>
          </a:prstGeom>
        </p:spPr>
      </p:pic>
      <p:pic>
        <p:nvPicPr>
          <p:cNvPr id="374" name="图片 327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43386" y="8166100"/>
            <a:ext cx="713529" cy="752475"/>
          </a:xfrm>
          <a:prstGeom prst="rect">
            <a:avLst/>
          </a:prstGeom>
        </p:spPr>
      </p:pic>
      <p:pic>
        <p:nvPicPr>
          <p:cNvPr id="375" name="图片 32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2148311" y="8165465"/>
            <a:ext cx="713529" cy="752475"/>
          </a:xfrm>
          <a:prstGeom prst="rect">
            <a:avLst/>
          </a:prstGeom>
        </p:spPr>
      </p:pic>
      <p:pic>
        <p:nvPicPr>
          <p:cNvPr id="376" name="图片 329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396086" y="8175625"/>
            <a:ext cx="713529" cy="752475"/>
          </a:xfrm>
          <a:prstGeom prst="rect">
            <a:avLst/>
          </a:prstGeom>
        </p:spPr>
      </p:pic>
      <p:sp>
        <p:nvSpPr>
          <p:cNvPr id="150" name="直接连接符 149"/>
          <p:cNvSpPr>
            <a:spLocks noGrp="1"/>
          </p:cNvSpPr>
          <p:nvPr/>
        </p:nvSpPr>
        <p:spPr>
          <a:xfrm>
            <a:off x="843280" y="8851900"/>
            <a:ext cx="0" cy="95250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sp>
      <p:sp>
        <p:nvSpPr>
          <p:cNvPr id="151" name="直接连接符 150"/>
          <p:cNvSpPr>
            <a:spLocks noGrp="1"/>
          </p:cNvSpPr>
          <p:nvPr/>
        </p:nvSpPr>
        <p:spPr>
          <a:xfrm>
            <a:off x="843280" y="8947150"/>
            <a:ext cx="3238500" cy="0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sp>
      <p:sp>
        <p:nvSpPr>
          <p:cNvPr id="152" name="直接连接符 151"/>
          <p:cNvSpPr>
            <a:spLocks noGrp="1"/>
          </p:cNvSpPr>
          <p:nvPr/>
        </p:nvSpPr>
        <p:spPr>
          <a:xfrm>
            <a:off x="4081780" y="8851900"/>
            <a:ext cx="0" cy="95250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sp>
      <p:sp>
        <p:nvSpPr>
          <p:cNvPr id="153" name="矩形 152"/>
          <p:cNvSpPr>
            <a:spLocks noGrp="1"/>
          </p:cNvSpPr>
          <p:nvPr/>
        </p:nvSpPr>
        <p:spPr>
          <a:xfrm>
            <a:off x="1114425" y="9022080"/>
            <a:ext cx="2667000" cy="1778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ctr">
              <a:buNone/>
              <a:defRPr sz="9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Same world, different information</a:t>
            </a:r>
            <a:endParaRPr sz="120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4" name="直接连接符 153"/>
          <p:cNvSpPr>
            <a:spLocks noGrp="1"/>
          </p:cNvSpPr>
          <p:nvPr/>
        </p:nvSpPr>
        <p:spPr>
          <a:xfrm>
            <a:off x="4543425" y="7172325"/>
            <a:ext cx="0" cy="2009775"/>
          </a:xfrm>
          <a:prstGeom prst="line">
            <a:avLst/>
          </a:prstGeom>
          <a:noFill/>
          <a:ln w="9525">
            <a:solidFill>
              <a:srgbClr val="8EA4BC"/>
            </a:solidFill>
            <a:prstDash val="dash"/>
          </a:ln>
        </p:spPr>
      </p:sp>
      <p:pic>
        <p:nvPicPr>
          <p:cNvPr id="382" name="图片 335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91050" y="7705939"/>
            <a:ext cx="933450" cy="752047"/>
          </a:xfrm>
          <a:prstGeom prst="rect">
            <a:avLst/>
          </a:prstGeom>
        </p:spPr>
      </p:pic>
      <p:pic>
        <p:nvPicPr>
          <p:cNvPr id="383" name="图片 336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580975" y="7448550"/>
            <a:ext cx="1220550" cy="1076325"/>
          </a:xfrm>
          <a:prstGeom prst="rect">
            <a:avLst/>
          </a:prstGeom>
        </p:spPr>
      </p:pic>
      <p:sp>
        <p:nvSpPr>
          <p:cNvPr id="157" name="矩形 156"/>
          <p:cNvSpPr>
            <a:spLocks noGrp="1"/>
          </p:cNvSpPr>
          <p:nvPr/>
        </p:nvSpPr>
        <p:spPr>
          <a:xfrm>
            <a:off x="4686300" y="8515350"/>
            <a:ext cx="666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12</a:t>
            </a:r>
            <a:endParaRPr sz="105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batches</a:t>
            </a:r>
            <a:endParaRPr sz="105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8" name="矩形 157"/>
          <p:cNvSpPr>
            <a:spLocks noGrp="1"/>
          </p:cNvSpPr>
          <p:nvPr/>
        </p:nvSpPr>
        <p:spPr>
          <a:xfrm>
            <a:off x="5905500" y="8515350"/>
            <a:ext cx="66675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24</a:t>
            </a:r>
            <a:endParaRPr sz="105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batches</a:t>
            </a:r>
            <a:endParaRPr sz="1050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9" name="矩形 158"/>
          <p:cNvSpPr>
            <a:spLocks noGrp="1"/>
          </p:cNvSpPr>
          <p:nvPr/>
        </p:nvSpPr>
        <p:spPr>
          <a:xfrm>
            <a:off x="7267575" y="6905625"/>
            <a:ext cx="1809750" cy="2762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500" b="1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Study scope</a:t>
            </a:r>
            <a:endParaRPr sz="1500" b="1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0" name="矩形 159"/>
          <p:cNvSpPr>
            <a:spLocks noGrp="1"/>
          </p:cNvSpPr>
          <p:nvPr/>
        </p:nvSpPr>
        <p:spPr>
          <a:xfrm>
            <a:off x="9199245" y="6915150"/>
            <a:ext cx="420243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Autofit/>
          </a:bodyPr>
          <a:lstStyle/>
          <a:p>
            <a:pPr algn="r">
              <a:buNone/>
              <a:defRPr sz="90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1200" b="1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240</a:t>
            </a:r>
            <a:r>
              <a:rPr sz="120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autonomous campaigns  </a:t>
            </a:r>
            <a:r>
              <a:rPr lang="en-US" sz="120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&amp;</a:t>
            </a:r>
            <a:r>
              <a:rPr sz="120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 </a:t>
            </a:r>
            <a:r>
              <a:rPr sz="1200" b="1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6</a:t>
            </a:r>
            <a:r>
              <a:rPr sz="120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 chemical system families</a:t>
            </a:r>
            <a:endParaRPr sz="120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2" name="直接连接符 161"/>
          <p:cNvSpPr>
            <a:spLocks noGrp="1"/>
          </p:cNvSpPr>
          <p:nvPr/>
        </p:nvSpPr>
        <p:spPr>
          <a:xfrm>
            <a:off x="8510270" y="7289800"/>
            <a:ext cx="0" cy="1857375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sp>
        <p:nvSpPr>
          <p:cNvPr id="163" name="直接连接符 162"/>
          <p:cNvSpPr>
            <a:spLocks noGrp="1"/>
          </p:cNvSpPr>
          <p:nvPr/>
        </p:nvSpPr>
        <p:spPr>
          <a:xfrm>
            <a:off x="9796145" y="7289800"/>
            <a:ext cx="0" cy="1857375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sp>
        <p:nvSpPr>
          <p:cNvPr id="164" name="直接连接符 163"/>
          <p:cNvSpPr>
            <a:spLocks noGrp="1"/>
          </p:cNvSpPr>
          <p:nvPr/>
        </p:nvSpPr>
        <p:spPr>
          <a:xfrm>
            <a:off x="7357745" y="8147050"/>
            <a:ext cx="3752850" cy="0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pic>
        <p:nvPicPr>
          <p:cNvPr id="392" name="图片 345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491095" y="7263569"/>
            <a:ext cx="800100" cy="595387"/>
          </a:xfrm>
          <a:prstGeom prst="rect">
            <a:avLst/>
          </a:prstGeom>
        </p:spPr>
      </p:pic>
      <p:pic>
        <p:nvPicPr>
          <p:cNvPr id="393" name="图片 346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027795" y="7235825"/>
            <a:ext cx="377825" cy="676275"/>
          </a:xfrm>
          <a:prstGeom prst="rect">
            <a:avLst/>
          </a:prstGeom>
        </p:spPr>
      </p:pic>
      <p:pic>
        <p:nvPicPr>
          <p:cNvPr id="394" name="图片 347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10187656" y="7194550"/>
            <a:ext cx="579053" cy="752475"/>
          </a:xfrm>
          <a:prstGeom prst="rect">
            <a:avLst/>
          </a:prstGeom>
        </p:spPr>
      </p:pic>
      <p:sp>
        <p:nvSpPr>
          <p:cNvPr id="168" name="矩形 167"/>
          <p:cNvSpPr>
            <a:spLocks noGrp="1"/>
          </p:cNvSpPr>
          <p:nvPr/>
        </p:nvSpPr>
        <p:spPr>
          <a:xfrm>
            <a:off x="7405370" y="7861300"/>
            <a:ext cx="9906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Electrochemistry</a:t>
            </a:r>
            <a:endParaRPr sz="97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69" name="矩形 168"/>
          <p:cNvSpPr>
            <a:spLocks noGrp="1"/>
          </p:cNvSpPr>
          <p:nvPr/>
        </p:nvSpPr>
        <p:spPr>
          <a:xfrm>
            <a:off x="8738870" y="7861300"/>
            <a:ext cx="962025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Partitioning</a:t>
            </a:r>
            <a:endParaRPr sz="97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0" name="矩形 169"/>
          <p:cNvSpPr>
            <a:spLocks noGrp="1"/>
          </p:cNvSpPr>
          <p:nvPr/>
        </p:nvSpPr>
        <p:spPr>
          <a:xfrm>
            <a:off x="9881870" y="7861300"/>
            <a:ext cx="11620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Reaction / thermal</a:t>
            </a:r>
            <a:endParaRPr sz="97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398" name="图片 351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443470" y="8139162"/>
            <a:ext cx="914400" cy="749201"/>
          </a:xfrm>
          <a:prstGeom prst="rect">
            <a:avLst/>
          </a:prstGeom>
        </p:spPr>
      </p:pic>
      <p:pic>
        <p:nvPicPr>
          <p:cNvPr id="399" name="图片 352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733790" y="8137525"/>
            <a:ext cx="909320" cy="748030"/>
          </a:xfrm>
          <a:prstGeom prst="rect">
            <a:avLst/>
          </a:prstGeom>
        </p:spPr>
      </p:pic>
      <p:pic>
        <p:nvPicPr>
          <p:cNvPr id="400" name="图片 353"/>
          <p:cNvPicPr>
            <a:picLocks noChangeAspect="1"/>
          </p:cNvPicPr>
          <p:nvPr/>
        </p:nvPicPr>
        <p:blipFill>
          <a:blip r:embed="rId32"/>
          <a:srcRect t="25000" r="46341" b="21739"/>
          <a:stretch>
            <a:fillRect/>
          </a:stretch>
        </p:blipFill>
        <p:spPr>
          <a:xfrm>
            <a:off x="10329545" y="8231505"/>
            <a:ext cx="308610" cy="687070"/>
          </a:xfrm>
          <a:prstGeom prst="rect">
            <a:avLst/>
          </a:prstGeom>
        </p:spPr>
      </p:pic>
      <p:sp>
        <p:nvSpPr>
          <p:cNvPr id="174" name="矩形 173"/>
          <p:cNvSpPr>
            <a:spLocks noGrp="1"/>
          </p:cNvSpPr>
          <p:nvPr/>
        </p:nvSpPr>
        <p:spPr>
          <a:xfrm>
            <a:off x="7443470" y="8918575"/>
            <a:ext cx="9144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Equilibrium</a:t>
            </a:r>
            <a:endParaRPr sz="97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5" name="矩形 174"/>
          <p:cNvSpPr>
            <a:spLocks noGrp="1"/>
          </p:cNvSpPr>
          <p:nvPr/>
        </p:nvSpPr>
        <p:spPr>
          <a:xfrm>
            <a:off x="8653145" y="8918575"/>
            <a:ext cx="1143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Crystallization</a:t>
            </a:r>
            <a:endParaRPr sz="97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6" name="矩形 175"/>
          <p:cNvSpPr>
            <a:spLocks noGrp="1"/>
          </p:cNvSpPr>
          <p:nvPr/>
        </p:nvSpPr>
        <p:spPr>
          <a:xfrm>
            <a:off x="10064115" y="8943975"/>
            <a:ext cx="9525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Purification</a:t>
            </a:r>
            <a:endParaRPr sz="975" b="0" i="0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77" name="直接连接符 176"/>
          <p:cNvSpPr>
            <a:spLocks noGrp="1"/>
          </p:cNvSpPr>
          <p:nvPr/>
        </p:nvSpPr>
        <p:spPr>
          <a:xfrm>
            <a:off x="11243945" y="7232650"/>
            <a:ext cx="0" cy="1962150"/>
          </a:xfrm>
          <a:prstGeom prst="line">
            <a:avLst/>
          </a:prstGeom>
          <a:noFill/>
          <a:ln w="9525">
            <a:solidFill>
              <a:srgbClr val="C7D4E1"/>
            </a:solidFill>
            <a:prstDash val="dash"/>
          </a:ln>
        </p:spPr>
      </p:sp>
      <p:sp>
        <p:nvSpPr>
          <p:cNvPr id="179" name="矩形 178"/>
          <p:cNvSpPr>
            <a:spLocks noGrp="1"/>
          </p:cNvSpPr>
          <p:nvPr/>
        </p:nvSpPr>
        <p:spPr>
          <a:xfrm>
            <a:off x="11715750" y="7229475"/>
            <a:ext cx="1362075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9525" tIns="0" rIns="9525" bIns="0" anchor="t">
            <a:normAutofit/>
          </a:bodyPr>
          <a:lstStyle/>
          <a:p>
            <a:pPr algn="ctr">
              <a:buNone/>
              <a:defRPr sz="975" b="0" i="0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Does the learned</a:t>
            </a:r>
            <a:endParaRPr sz="975" b="0" i="0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  <a:p>
            <a:pPr algn="ctr">
              <a:buNone/>
              <a:defRPr sz="975" b="0" i="0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975" b="0" i="0">
                <a:solidFill>
                  <a:srgbClr val="475569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relationship still apply?</a:t>
            </a:r>
            <a:endParaRPr sz="975" b="0" i="0">
              <a:solidFill>
                <a:srgbClr val="475569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pic>
        <p:nvPicPr>
          <p:cNvPr id="407" name="图片 360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11582400" y="7637497"/>
            <a:ext cx="1647825" cy="936557"/>
          </a:xfrm>
          <a:prstGeom prst="rect">
            <a:avLst/>
          </a:prstGeom>
        </p:spPr>
      </p:pic>
      <p:pic>
        <p:nvPicPr>
          <p:cNvPr id="408" name="图片 361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1410950" y="8608470"/>
            <a:ext cx="1952625" cy="461460"/>
          </a:xfrm>
          <a:prstGeom prst="rect">
            <a:avLst/>
          </a:prstGeom>
        </p:spPr>
      </p:pic>
      <p:pic>
        <p:nvPicPr>
          <p:cNvPr id="409" name="图片 5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4867275" y="756920"/>
            <a:ext cx="697230" cy="819150"/>
          </a:xfrm>
          <a:prstGeom prst="rect">
            <a:avLst/>
          </a:prstGeom>
        </p:spPr>
      </p:pic>
      <p:pic>
        <p:nvPicPr>
          <p:cNvPr id="410" name="图片 6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5347335" y="685800"/>
            <a:ext cx="748665" cy="890270"/>
          </a:xfrm>
          <a:prstGeom prst="rect">
            <a:avLst/>
          </a:prstGeom>
        </p:spPr>
      </p:pic>
      <p:pic>
        <p:nvPicPr>
          <p:cNvPr id="411" name="图片 8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9488170" y="664210"/>
            <a:ext cx="781050" cy="955675"/>
          </a:xfrm>
          <a:prstGeom prst="rect">
            <a:avLst/>
          </a:prstGeom>
        </p:spPr>
      </p:pic>
      <p:sp>
        <p:nvSpPr>
          <p:cNvPr id="13" name="文本框 12"/>
          <p:cNvSpPr>
            <a:spLocks noGrp="1"/>
          </p:cNvSpPr>
          <p:nvPr/>
        </p:nvSpPr>
        <p:spPr>
          <a:xfrm>
            <a:off x="9535160" y="843915"/>
            <a:ext cx="676910" cy="23812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buNone/>
            </a:pPr>
            <a:r>
              <a:rPr sz="1200" b="1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score</a:t>
            </a:r>
            <a:endParaRPr sz="1200" b="1">
              <a:solidFill>
                <a:srgbClr val="111827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右箭头 14"/>
          <p:cNvSpPr>
            <a:spLocks noGrp="1"/>
          </p:cNvSpPr>
          <p:nvPr/>
        </p:nvSpPr>
        <p:spPr>
          <a:xfrm>
            <a:off x="10352405" y="1053465"/>
            <a:ext cx="285750" cy="16192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pic>
        <p:nvPicPr>
          <p:cNvPr id="414" name="图片 15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2370455" y="596265"/>
            <a:ext cx="820420" cy="956310"/>
          </a:xfrm>
          <a:prstGeom prst="rect">
            <a:avLst/>
          </a:prstGeom>
        </p:spPr>
      </p:pic>
      <p:pic>
        <p:nvPicPr>
          <p:cNvPr id="415" name="图片 20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0723880" y="662940"/>
            <a:ext cx="820420" cy="956310"/>
          </a:xfrm>
          <a:prstGeom prst="rect">
            <a:avLst/>
          </a:prstGeom>
        </p:spPr>
      </p:pic>
      <p:pic>
        <p:nvPicPr>
          <p:cNvPr id="6" name="图片 328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220566" y="800100"/>
            <a:ext cx="713529" cy="752475"/>
          </a:xfrm>
          <a:prstGeom prst="rect">
            <a:avLst/>
          </a:prstGeom>
        </p:spPr>
      </p:pic>
      <p:grpSp>
        <p:nvGrpSpPr>
          <p:cNvPr id="9" name="组合 8"/>
          <p:cNvGrpSpPr/>
          <p:nvPr/>
        </p:nvGrpSpPr>
        <p:grpSpPr>
          <a:xfrm>
            <a:off x="2632710" y="2866390"/>
            <a:ext cx="7158990" cy="1412240"/>
            <a:chOff x="4185" y="4200"/>
            <a:chExt cx="11274" cy="2224"/>
          </a:xfrm>
        </p:grpSpPr>
        <p:pic>
          <p:nvPicPr>
            <p:cNvPr id="268" name="图片 219"/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336" y="4645"/>
              <a:ext cx="928" cy="1020"/>
            </a:xfrm>
            <a:prstGeom prst="rect">
              <a:avLst/>
            </a:prstGeom>
          </p:spPr>
        </p:pic>
        <p:pic>
          <p:nvPicPr>
            <p:cNvPr id="269" name="图片 220"/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752" y="4508"/>
              <a:ext cx="1080" cy="1190"/>
            </a:xfrm>
            <a:prstGeom prst="rect">
              <a:avLst/>
            </a:prstGeom>
          </p:spPr>
        </p:pic>
        <p:pic>
          <p:nvPicPr>
            <p:cNvPr id="271" name="图片 222"/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9639" y="4200"/>
              <a:ext cx="1057" cy="1560"/>
            </a:xfrm>
            <a:prstGeom prst="rect">
              <a:avLst/>
            </a:prstGeom>
          </p:spPr>
        </p:pic>
        <p:pic>
          <p:nvPicPr>
            <p:cNvPr id="272" name="图片 223"/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11229" y="4543"/>
              <a:ext cx="1380" cy="1131"/>
            </a:xfrm>
            <a:prstGeom prst="rect">
              <a:avLst/>
            </a:prstGeom>
          </p:spPr>
        </p:pic>
        <p:pic>
          <p:nvPicPr>
            <p:cNvPr id="273" name="图片 224"/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13050" y="4653"/>
              <a:ext cx="900" cy="920"/>
            </a:xfrm>
            <a:prstGeom prst="rect">
              <a:avLst/>
            </a:prstGeom>
          </p:spPr>
        </p:pic>
        <p:pic>
          <p:nvPicPr>
            <p:cNvPr id="274" name="图片 225"/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14409" y="4645"/>
              <a:ext cx="884" cy="1005"/>
            </a:xfrm>
            <a:prstGeom prst="rect">
              <a:avLst/>
            </a:prstGeom>
          </p:spPr>
        </p:pic>
        <p:sp>
          <p:nvSpPr>
            <p:cNvPr id="52" name="矩形 51"/>
            <p:cNvSpPr>
              <a:spLocks noGrp="1"/>
            </p:cNvSpPr>
            <p:nvPr/>
          </p:nvSpPr>
          <p:spPr>
            <a:xfrm>
              <a:off x="4185" y="5665"/>
              <a:ext cx="1230" cy="6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rmAutofit/>
            </a:bodyPr>
            <a:lstStyle/>
            <a:p>
              <a:pPr algn="ctr">
                <a:buNone/>
                <a:def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r>
                <a: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Scientific</a:t>
              </a:r>
              <a:endPara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ctr">
                <a:buNone/>
                <a:def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r>
                <a: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question</a:t>
              </a:r>
              <a:endPara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53" name="矩形 52"/>
            <p:cNvSpPr>
              <a:spLocks noGrp="1"/>
            </p:cNvSpPr>
            <p:nvPr/>
          </p:nvSpPr>
          <p:spPr>
            <a:xfrm>
              <a:off x="5707" y="5764"/>
              <a:ext cx="1125" cy="3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rmAutofit/>
            </a:bodyPr>
            <a:lstStyle/>
            <a:p>
              <a:pPr algn="ctr">
                <a:buNone/>
                <a:def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r>
                <a: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Agent</a:t>
              </a:r>
              <a:endPara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54" name="矩形 53"/>
            <p:cNvSpPr>
              <a:spLocks noGrp="1"/>
            </p:cNvSpPr>
            <p:nvPr/>
          </p:nvSpPr>
          <p:spPr>
            <a:xfrm>
              <a:off x="7155" y="5764"/>
              <a:ext cx="2175" cy="3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rmAutofit/>
            </a:bodyPr>
            <a:lstStyle/>
            <a:p>
              <a:pPr algn="ctr">
                <a:buNone/>
                <a:def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r>
                <a: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Choose conditions</a:t>
              </a:r>
              <a:endPara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56" name="矩形 55"/>
            <p:cNvSpPr>
              <a:spLocks noGrp="1"/>
            </p:cNvSpPr>
            <p:nvPr/>
          </p:nvSpPr>
          <p:spPr>
            <a:xfrm>
              <a:off x="9499" y="5764"/>
              <a:ext cx="1560" cy="66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rmAutofit/>
            </a:bodyPr>
            <a:lstStyle/>
            <a:p>
              <a:pPr algn="ctr">
                <a:buNone/>
                <a:def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r>
                <a: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Reaction /</a:t>
              </a:r>
              <a:endPara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ctr">
                <a:buNone/>
                <a:def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r>
                <a: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thermal process</a:t>
              </a:r>
              <a:endPara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57" name="矩形 56"/>
            <p:cNvSpPr>
              <a:spLocks noGrp="1"/>
            </p:cNvSpPr>
            <p:nvPr/>
          </p:nvSpPr>
          <p:spPr>
            <a:xfrm>
              <a:off x="11145" y="5764"/>
              <a:ext cx="1545" cy="33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rmAutofit/>
            </a:bodyPr>
            <a:lstStyle/>
            <a:p>
              <a:pPr algn="ctr">
                <a:buNone/>
                <a:def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r>
                <a:rPr sz="1050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Measurement</a:t>
              </a:r>
              <a:endParaRPr sz="1050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59" name="矩形 58"/>
            <p:cNvSpPr>
              <a:spLocks noGrp="1"/>
            </p:cNvSpPr>
            <p:nvPr/>
          </p:nvSpPr>
          <p:spPr>
            <a:xfrm>
              <a:off x="13021" y="5775"/>
              <a:ext cx="1005" cy="34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rmAutofit/>
            </a:bodyPr>
            <a:lstStyle/>
            <a:p>
              <a:pPr algn="ctr">
                <a:buNone/>
                <a:defRPr sz="975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r>
                <a:rPr sz="975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Adaptation</a:t>
              </a:r>
              <a:endPara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sp>
          <p:nvSpPr>
            <p:cNvPr id="60" name="矩形 59"/>
            <p:cNvSpPr>
              <a:spLocks noGrp="1"/>
            </p:cNvSpPr>
            <p:nvPr/>
          </p:nvSpPr>
          <p:spPr>
            <a:xfrm>
              <a:off x="14169" y="5760"/>
              <a:ext cx="1290" cy="54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9525" tIns="0" rIns="9525" bIns="0" anchor="t">
              <a:normAutofit/>
            </a:bodyPr>
            <a:lstStyle/>
            <a:p>
              <a:pPr algn="ctr">
                <a:buNone/>
                <a:defRPr sz="975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r>
                <a:rPr sz="975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Evidence</a:t>
              </a:r>
              <a:endPara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ctr">
                <a:buNone/>
                <a:defRPr sz="975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r>
                <a:rPr sz="975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rPr>
                <a:t>accumulation</a:t>
              </a:r>
              <a:endPara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  <a:p>
              <a:pPr algn="ctr">
                <a:buNone/>
                <a:defRPr sz="975" b="0" i="0">
                  <a:solidFill>
                    <a:srgbClr val="111827"/>
                  </a:solidFill>
                  <a:latin typeface="Arial" panose="020B0604020202090204"/>
                  <a:ea typeface="Arial" panose="020B0604020202090204"/>
                  <a:cs typeface="Arial" panose="020B0604020202090204"/>
                </a:defRPr>
              </a:pPr>
              <a:endParaRPr sz="975" b="0" i="0">
                <a:solidFill>
                  <a:srgbClr val="111827"/>
                </a:solidFill>
                <a:latin typeface="Arial" panose="020B0604020202090204"/>
                <a:ea typeface="Arial" panose="020B0604020202090204"/>
                <a:cs typeface="Arial" panose="020B0604020202090204"/>
              </a:endParaRPr>
            </a:p>
          </p:txBody>
        </p:sp>
        <p:cxnSp>
          <p:nvCxnSpPr>
            <p:cNvPr id="7" name="曲线连接符 6"/>
            <p:cNvCxnSpPr>
              <a:stCxn id="274" idx="0"/>
              <a:endCxn id="269" idx="0"/>
            </p:cNvCxnSpPr>
            <p:nvPr/>
          </p:nvCxnSpPr>
          <p:spPr>
            <a:xfrm rot="16200000" flipV="1">
              <a:off x="10503" y="297"/>
              <a:ext cx="137" cy="8559"/>
            </a:xfrm>
            <a:prstGeom prst="curvedConnector3">
              <a:avLst>
                <a:gd name="adj1" fmla="val 373723"/>
              </a:avLst>
            </a:prstGeom>
            <a:ln w="25400">
              <a:solidFill>
                <a:schemeClr val="tx2">
                  <a:lumMod val="50000"/>
                  <a:lumOff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4" name="右箭头 13"/>
          <p:cNvSpPr>
            <a:spLocks noGrp="1"/>
          </p:cNvSpPr>
          <p:nvPr/>
        </p:nvSpPr>
        <p:spPr>
          <a:xfrm>
            <a:off x="3342005" y="3400425"/>
            <a:ext cx="285750" cy="16192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19" name="右箭头 18"/>
          <p:cNvSpPr>
            <a:spLocks noGrp="1"/>
          </p:cNvSpPr>
          <p:nvPr/>
        </p:nvSpPr>
        <p:spPr>
          <a:xfrm>
            <a:off x="4313555" y="3400425"/>
            <a:ext cx="285750" cy="16192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20" name="右箭头 19"/>
          <p:cNvSpPr>
            <a:spLocks noGrp="1"/>
          </p:cNvSpPr>
          <p:nvPr/>
        </p:nvSpPr>
        <p:spPr>
          <a:xfrm>
            <a:off x="5857875" y="3400425"/>
            <a:ext cx="285750" cy="16192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21" name="右箭头 20"/>
          <p:cNvSpPr>
            <a:spLocks noGrp="1"/>
          </p:cNvSpPr>
          <p:nvPr/>
        </p:nvSpPr>
        <p:spPr>
          <a:xfrm>
            <a:off x="6767195" y="3400425"/>
            <a:ext cx="285750" cy="16192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28" name="右箭头 27"/>
          <p:cNvSpPr>
            <a:spLocks noGrp="1"/>
          </p:cNvSpPr>
          <p:nvPr/>
        </p:nvSpPr>
        <p:spPr>
          <a:xfrm>
            <a:off x="7950200" y="3371850"/>
            <a:ext cx="285750" cy="16192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30" name="右箭头 29"/>
          <p:cNvSpPr>
            <a:spLocks noGrp="1"/>
          </p:cNvSpPr>
          <p:nvPr/>
        </p:nvSpPr>
        <p:spPr>
          <a:xfrm>
            <a:off x="8858250" y="3371850"/>
            <a:ext cx="285750" cy="16192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32" name="直接连接符 31"/>
          <p:cNvSpPr>
            <a:spLocks noGrp="1"/>
          </p:cNvSpPr>
          <p:nvPr/>
        </p:nvSpPr>
        <p:spPr>
          <a:xfrm>
            <a:off x="2524125" y="3559175"/>
            <a:ext cx="57150" cy="0"/>
          </a:xfrm>
          <a:prstGeom prst="line">
            <a:avLst/>
          </a:prstGeom>
          <a:noFill/>
          <a:ln w="11430">
            <a:solidFill>
              <a:srgbClr val="173F72"/>
            </a:solidFill>
            <a:prstDash val="solid"/>
          </a:ln>
        </p:spPr>
      </p:sp>
      <p:cxnSp>
        <p:nvCxnSpPr>
          <p:cNvPr id="41" name="直接箭头连接符 40"/>
          <p:cNvCxnSpPr/>
          <p:nvPr/>
        </p:nvCxnSpPr>
        <p:spPr>
          <a:xfrm>
            <a:off x="9906000" y="2609850"/>
            <a:ext cx="205740" cy="0"/>
          </a:xfrm>
          <a:prstGeom prst="straightConnector1">
            <a:avLst/>
          </a:prstGeom>
          <a:noFill/>
          <a:ln w="11430">
            <a:solidFill>
              <a:srgbClr val="173F72"/>
            </a:solidFill>
            <a:prstDash val="solid"/>
            <a:tailEnd type="triangle"/>
          </a:ln>
        </p:spPr>
      </p:cxnSp>
      <p:cxnSp>
        <p:nvCxnSpPr>
          <p:cNvPr id="42" name="直接箭头连接符 41"/>
          <p:cNvCxnSpPr/>
          <p:nvPr/>
        </p:nvCxnSpPr>
        <p:spPr>
          <a:xfrm>
            <a:off x="9906000" y="4319905"/>
            <a:ext cx="205740" cy="0"/>
          </a:xfrm>
          <a:prstGeom prst="straightConnector1">
            <a:avLst/>
          </a:prstGeom>
          <a:noFill/>
          <a:ln w="11430">
            <a:solidFill>
              <a:srgbClr val="173F72"/>
            </a:solidFill>
            <a:prstDash val="solid"/>
            <a:tailEnd type="triangle"/>
          </a:ln>
        </p:spPr>
      </p:cxnSp>
      <p:cxnSp>
        <p:nvCxnSpPr>
          <p:cNvPr id="43" name="直接箭头连接符 42"/>
          <p:cNvCxnSpPr/>
          <p:nvPr/>
        </p:nvCxnSpPr>
        <p:spPr>
          <a:xfrm>
            <a:off x="1177290" y="805815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>
            <a:off x="2505075" y="805815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3743325" y="8058150"/>
            <a:ext cx="0" cy="177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2476500" y="8947150"/>
            <a:ext cx="0" cy="74930"/>
          </a:xfrm>
          <a:prstGeom prst="line">
            <a:avLst/>
          </a:prstGeom>
          <a:noFill/>
          <a:ln w="11430">
            <a:solidFill>
              <a:srgbClr val="6A83B2"/>
            </a:solidFill>
            <a:prstDash val="solid"/>
          </a:ln>
        </p:spPr>
      </p:cxnSp>
      <p:sp>
        <p:nvSpPr>
          <p:cNvPr id="74" name="右箭头 73"/>
          <p:cNvSpPr>
            <a:spLocks noGrp="1"/>
          </p:cNvSpPr>
          <p:nvPr/>
        </p:nvSpPr>
        <p:spPr>
          <a:xfrm>
            <a:off x="11077575" y="2501265"/>
            <a:ext cx="285750" cy="16192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sp>
        <p:nvSpPr>
          <p:cNvPr id="76" name="右箭头 75"/>
          <p:cNvSpPr>
            <a:spLocks noGrp="1"/>
          </p:cNvSpPr>
          <p:nvPr/>
        </p:nvSpPr>
        <p:spPr>
          <a:xfrm>
            <a:off x="12152630" y="2501265"/>
            <a:ext cx="285750" cy="161925"/>
          </a:xfrm>
          <a:prstGeom prst="rightArrow">
            <a:avLst>
              <a:gd name="adj1" fmla="val 37500"/>
              <a:gd name="adj2" fmla="val 72083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tx2">
                  <a:lumMod val="75000"/>
                  <a:lumOff val="25000"/>
                </a:schemeClr>
              </a:gs>
            </a:gsLst>
            <a:lin ang="0" scaled="0"/>
          </a:gradFill>
          <a:ln w="0">
            <a:noFill/>
          </a:ln>
        </p:spPr>
      </p:sp>
      <p:cxnSp>
        <p:nvCxnSpPr>
          <p:cNvPr id="80" name="直接箭头连接符 79"/>
          <p:cNvCxnSpPr/>
          <p:nvPr/>
        </p:nvCxnSpPr>
        <p:spPr>
          <a:xfrm>
            <a:off x="10657205" y="8542020"/>
            <a:ext cx="2063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4" name="文本框 83"/>
          <p:cNvSpPr txBox="1"/>
          <p:nvPr/>
        </p:nvSpPr>
        <p:spPr>
          <a:xfrm>
            <a:off x="5181600" y="2455545"/>
            <a:ext cx="2528570" cy="370205"/>
          </a:xfrm>
          <a:prstGeom prst="rect">
            <a:avLst/>
          </a:prstGeom>
        </p:spPr>
        <p:txBody>
          <a:bodyPr>
            <a:noAutofit/>
          </a:bodyPr>
          <a:p>
            <a:pPr marL="0" indent="0" algn="ctr"/>
            <a:r>
              <a:rPr lang="en-US" altLang="zh-CN" sz="1400" i="0">
                <a:solidFill>
                  <a:srgbClr val="000000"/>
                </a:solidFill>
              </a:rPr>
              <a:t>Evidence-guided iteration</a:t>
            </a:r>
            <a:endParaRPr lang="en-US" altLang="zh-CN" sz="1400" i="0">
              <a:solidFill>
                <a:srgbClr val="000000"/>
              </a:solidFill>
            </a:endParaRPr>
          </a:p>
        </p:txBody>
      </p:sp>
      <p:pic>
        <p:nvPicPr>
          <p:cNvPr id="181" name="图片 180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591050" y="2957830"/>
            <a:ext cx="1236980" cy="928370"/>
          </a:xfrm>
          <a:prstGeom prst="rect">
            <a:avLst/>
          </a:prstGeom>
        </p:spPr>
      </p:pic>
      <p:grpSp>
        <p:nvGrpSpPr>
          <p:cNvPr id="194" name="组合 193"/>
          <p:cNvGrpSpPr/>
          <p:nvPr/>
        </p:nvGrpSpPr>
        <p:grpSpPr>
          <a:xfrm>
            <a:off x="4952365" y="5659755"/>
            <a:ext cx="3128010" cy="612140"/>
            <a:chOff x="7799" y="8869"/>
            <a:chExt cx="4926" cy="964"/>
          </a:xfrm>
        </p:grpSpPr>
        <p:pic>
          <p:nvPicPr>
            <p:cNvPr id="184" name="图片 183"/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7799" y="8897"/>
              <a:ext cx="935" cy="935"/>
            </a:xfrm>
            <a:prstGeom prst="rect">
              <a:avLst/>
            </a:prstGeom>
          </p:spPr>
        </p:pic>
        <p:pic>
          <p:nvPicPr>
            <p:cNvPr id="185" name="图片 184"/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9121" y="8897"/>
              <a:ext cx="937" cy="937"/>
            </a:xfrm>
            <a:prstGeom prst="rect">
              <a:avLst/>
            </a:prstGeom>
          </p:spPr>
        </p:pic>
        <p:pic>
          <p:nvPicPr>
            <p:cNvPr id="189" name="图片 188"/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10445" y="8869"/>
              <a:ext cx="965" cy="965"/>
            </a:xfrm>
            <a:prstGeom prst="rect">
              <a:avLst/>
            </a:prstGeom>
          </p:spPr>
        </p:pic>
        <p:pic>
          <p:nvPicPr>
            <p:cNvPr id="190" name="图片 189"/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11797" y="8897"/>
              <a:ext cx="929" cy="929"/>
            </a:xfrm>
            <a:prstGeom prst="rect">
              <a:avLst/>
            </a:prstGeom>
          </p:spPr>
        </p:pic>
        <p:cxnSp>
          <p:nvCxnSpPr>
            <p:cNvPr id="191" name="直接箭头连接符 190"/>
            <p:cNvCxnSpPr/>
            <p:nvPr/>
          </p:nvCxnSpPr>
          <p:spPr>
            <a:xfrm>
              <a:off x="8789" y="9365"/>
              <a:ext cx="3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/>
            <p:nvPr/>
          </p:nvCxnSpPr>
          <p:spPr>
            <a:xfrm>
              <a:off x="10066" y="9365"/>
              <a:ext cx="3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93" name="直接箭头连接符 192"/>
            <p:cNvCxnSpPr/>
            <p:nvPr/>
          </p:nvCxnSpPr>
          <p:spPr>
            <a:xfrm>
              <a:off x="11445" y="9365"/>
              <a:ext cx="3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pic>
        <p:nvPicPr>
          <p:cNvPr id="198" name="图片 197"/>
          <p:cNvPicPr>
            <a:picLocks noChangeAspect="1"/>
          </p:cNvPicPr>
          <p:nvPr/>
        </p:nvPicPr>
        <p:blipFill>
          <a:blip r:embed="rId50"/>
          <a:srcRect l="26364" t="12566" r="24545" b="15821"/>
          <a:stretch>
            <a:fillRect/>
          </a:stretch>
        </p:blipFill>
        <p:spPr>
          <a:xfrm>
            <a:off x="4808220" y="4457700"/>
            <a:ext cx="457200" cy="534035"/>
          </a:xfrm>
          <a:prstGeom prst="rect">
            <a:avLst/>
          </a:prstGeom>
        </p:spPr>
      </p:pic>
      <p:pic>
        <p:nvPicPr>
          <p:cNvPr id="200" name="图片 199"/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7842250" y="4371975"/>
            <a:ext cx="991235" cy="661035"/>
          </a:xfrm>
          <a:prstGeom prst="rect">
            <a:avLst/>
          </a:prstGeom>
        </p:spPr>
      </p:pic>
      <p:pic>
        <p:nvPicPr>
          <p:cNvPr id="201" name="图片 200"/>
          <p:cNvPicPr/>
          <p:nvPr/>
        </p:nvPicPr>
        <p:blipFill>
          <a:blip r:embed="rId52"/>
          <a:srcRect l="12309" t="12033" r="6741" b="11789"/>
          <a:stretch>
            <a:fillRect/>
          </a:stretch>
        </p:blipFill>
        <p:spPr>
          <a:xfrm>
            <a:off x="6137910" y="4413250"/>
            <a:ext cx="915035" cy="60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664" y="1344739"/>
            <a:ext cx="6642525" cy="3620453"/>
          </a:xfrm>
          <a:prstGeom prst="rect">
            <a:avLst/>
          </a:prstGeom>
          <a:solidFill>
            <a:srgbClr val="F3F7FB"/>
          </a:solidFill>
          <a:ln w="10160">
            <a:solidFill>
              <a:schemeClr val="tx1"/>
            </a:solidFill>
            <a:miter lim="800000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endParaRPr lang="zh-CN" altLang="en-US" sz="2035"/>
          </a:p>
        </p:txBody>
      </p:sp>
      <p:sp>
        <p:nvSpPr>
          <p:cNvPr id="6" name="Shape 4"/>
          <p:cNvSpPr/>
          <p:nvPr/>
        </p:nvSpPr>
        <p:spPr>
          <a:xfrm>
            <a:off x="6744529" y="1344739"/>
            <a:ext cx="7003133" cy="3617579"/>
          </a:xfrm>
          <a:prstGeom prst="rect">
            <a:avLst/>
          </a:prstGeom>
          <a:solidFill>
            <a:srgbClr val="F8FCF7"/>
          </a:solidFill>
          <a:ln w="10160">
            <a:solidFill>
              <a:srgbClr val="20324A"/>
            </a:solidFill>
            <a:prstDash val="solid"/>
            <a:miter lim="800000"/>
          </a:ln>
        </p:spPr>
      </p:sp>
      <p:sp>
        <p:nvSpPr>
          <p:cNvPr id="8" name="Text 6"/>
          <p:cNvSpPr/>
          <p:nvPr/>
        </p:nvSpPr>
        <p:spPr>
          <a:xfrm>
            <a:off x="6847253" y="1427349"/>
            <a:ext cx="6434205" cy="2894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8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B. World Compiler</a:t>
            </a:r>
            <a:endParaRPr lang="en-US" sz="1585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220073" y="1737674"/>
            <a:ext cx="6214392" cy="25932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buNone/>
            </a:pPr>
            <a:r>
              <a:rPr lang="en-US" sz="1130" i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Composes components into an executable world with a public contract and private mechanisms</a:t>
            </a:r>
            <a:endParaRPr lang="en-US" sz="1130" i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19" y="5058577"/>
            <a:ext cx="6641088" cy="3848167"/>
          </a:xfrm>
          <a:prstGeom prst="rect">
            <a:avLst/>
          </a:prstGeom>
          <a:solidFill>
            <a:srgbClr val="FEF2D0">
              <a:alpha val="15000"/>
            </a:srgbClr>
          </a:solidFill>
          <a:ln w="10160">
            <a:solidFill>
              <a:srgbClr val="20324A"/>
            </a:solidFill>
            <a:prstDash val="solid"/>
            <a:miter lim="800000"/>
          </a:ln>
        </p:spPr>
      </p:sp>
      <p:sp>
        <p:nvSpPr>
          <p:cNvPr id="13" name="Text 11"/>
          <p:cNvSpPr/>
          <p:nvPr/>
        </p:nvSpPr>
        <p:spPr>
          <a:xfrm>
            <a:off x="517208" y="5575784"/>
            <a:ext cx="5968718" cy="2277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i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Typed action → validated execution → commit or rollback → observations &amp; record</a:t>
            </a:r>
            <a:endParaRPr lang="en-US" sz="1130" i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44529" y="5058577"/>
            <a:ext cx="6988048" cy="3848167"/>
          </a:xfrm>
          <a:prstGeom prst="rect">
            <a:avLst/>
          </a:prstGeom>
          <a:solidFill>
            <a:srgbClr val="FEF9F5"/>
          </a:solidFill>
          <a:ln w="10160">
            <a:solidFill>
              <a:srgbClr val="20324A"/>
            </a:solidFill>
            <a:prstDash val="solid"/>
            <a:miter lim="800000"/>
          </a:ln>
        </p:spPr>
      </p:sp>
      <p:sp>
        <p:nvSpPr>
          <p:cNvPr id="16" name="Text 14"/>
          <p:cNvSpPr/>
          <p:nvPr/>
        </p:nvSpPr>
        <p:spPr>
          <a:xfrm>
            <a:off x="6847253" y="5141186"/>
            <a:ext cx="6371709" cy="2894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8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D. Deterministic Replay &amp; Controlled Forks</a:t>
            </a:r>
            <a:endParaRPr lang="en-US" sz="1585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83" name="Text 81"/>
          <p:cNvSpPr/>
          <p:nvPr/>
        </p:nvSpPr>
        <p:spPr>
          <a:xfrm>
            <a:off x="33762" y="6125317"/>
            <a:ext cx="703977" cy="3002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Typed Action</a:t>
            </a:r>
            <a:endParaRPr lang="en-US" sz="790" b="1" dirty="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790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from Agent</a:t>
            </a:r>
            <a:endParaRPr lang="en-US" sz="790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33762" y="6446417"/>
            <a:ext cx="662313" cy="15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i="1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a</a:t>
            </a:r>
            <a:r>
              <a:rPr lang="en-US" sz="905" i="1" baseline="-25000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t</a:t>
            </a:r>
            <a:endParaRPr lang="en-US" sz="905" i="1" baseline="-25000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85" name="Shape 83"/>
          <p:cNvSpPr/>
          <p:nvPr/>
        </p:nvSpPr>
        <p:spPr>
          <a:xfrm>
            <a:off x="856266" y="5980930"/>
            <a:ext cx="825377" cy="1075361"/>
          </a:xfrm>
          <a:prstGeom prst="roundRect">
            <a:avLst>
              <a:gd name="adj" fmla="val 5405"/>
            </a:avLst>
          </a:prstGeom>
          <a:solidFill>
            <a:srgbClr val="F3F7FC"/>
          </a:solidFill>
          <a:ln w="10160">
            <a:solidFill>
              <a:srgbClr val="6F95C7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97211" y="6063540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b="1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Preflight</a:t>
            </a:r>
            <a:endParaRPr lang="en-US" sz="905" b="1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87" name="Text 85"/>
          <p:cNvSpPr/>
          <p:nvPr/>
        </p:nvSpPr>
        <p:spPr>
          <a:xfrm>
            <a:off x="897211" y="6291255"/>
            <a:ext cx="703259" cy="15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60" i="1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P</a:t>
            </a:r>
            <a:endParaRPr lang="en-US" sz="960" i="1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88" name="Text 86"/>
          <p:cNvSpPr/>
          <p:nvPr/>
        </p:nvSpPr>
        <p:spPr>
          <a:xfrm>
            <a:off x="893620" y="6590804"/>
            <a:ext cx="785150" cy="2586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Schema, compatibility,</a:t>
            </a:r>
            <a:endParaRPr lang="en-US" sz="102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resources</a:t>
            </a:r>
            <a:endParaRPr lang="en-US" sz="102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89" name="Shape 87"/>
          <p:cNvSpPr/>
          <p:nvPr/>
        </p:nvSpPr>
        <p:spPr>
          <a:xfrm>
            <a:off x="612747" y="6526153"/>
            <a:ext cx="207601" cy="718"/>
          </a:xfrm>
          <a:prstGeom prst="line">
            <a:avLst/>
          </a:prstGeom>
          <a:noFill/>
          <a:ln w="1016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90" name="Shape 88"/>
          <p:cNvSpPr/>
          <p:nvPr/>
        </p:nvSpPr>
        <p:spPr>
          <a:xfrm>
            <a:off x="1977600" y="5980930"/>
            <a:ext cx="938157" cy="1075361"/>
          </a:xfrm>
          <a:prstGeom prst="roundRect">
            <a:avLst>
              <a:gd name="adj" fmla="val 5128"/>
            </a:avLst>
          </a:prstGeom>
          <a:solidFill>
            <a:srgbClr val="FFF7E8"/>
          </a:solidFill>
          <a:ln w="10160">
            <a:solidFill>
              <a:srgbClr val="D7A13B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2027884" y="5981648"/>
            <a:ext cx="862013" cy="341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Runtime</a:t>
            </a:r>
            <a:endParaRPr lang="en-US" sz="905" b="1" dirty="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90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Precondition</a:t>
            </a:r>
            <a:endParaRPr lang="en-US" sz="905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92" name="Text 90"/>
          <p:cNvSpPr/>
          <p:nvPr/>
        </p:nvSpPr>
        <p:spPr>
          <a:xfrm>
            <a:off x="2094690" y="6389668"/>
            <a:ext cx="714034" cy="15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5" i="1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C</a:t>
            </a:r>
            <a:r>
              <a:rPr lang="en-US" sz="825" i="1" baseline="-25000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pre</a:t>
            </a:r>
            <a:endParaRPr lang="en-US" sz="825" i="1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93" name="Text 91"/>
          <p:cNvSpPr/>
          <p:nvPr/>
        </p:nvSpPr>
        <p:spPr>
          <a:xfrm>
            <a:off x="2027884" y="6642525"/>
            <a:ext cx="846209" cy="32038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Context-dependent</a:t>
            </a:r>
            <a:endParaRPr lang="en-US" sz="102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checks</a:t>
            </a:r>
            <a:endParaRPr lang="en-US" sz="102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94" name="Shape 92"/>
          <p:cNvSpPr/>
          <p:nvPr/>
        </p:nvSpPr>
        <p:spPr>
          <a:xfrm>
            <a:off x="3256971" y="5980930"/>
            <a:ext cx="908705" cy="1101939"/>
          </a:xfrm>
          <a:prstGeom prst="roundRect">
            <a:avLst>
              <a:gd name="adj" fmla="val 4651"/>
            </a:avLst>
          </a:prstGeom>
          <a:solidFill>
            <a:srgbClr val="F0F8F0"/>
          </a:solidFill>
          <a:ln w="10160">
            <a:solidFill>
              <a:srgbClr val="4A9C5E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221053" y="6053483"/>
            <a:ext cx="982694" cy="2686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Execute World Dynamics</a:t>
            </a:r>
            <a:endParaRPr lang="en-US" sz="905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96" name="Text 94"/>
          <p:cNvSpPr/>
          <p:nvPr/>
        </p:nvSpPr>
        <p:spPr>
          <a:xfrm>
            <a:off x="3332397" y="6425585"/>
            <a:ext cx="785868" cy="15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i="1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F</a:t>
            </a:r>
            <a:r>
              <a:rPr lang="en-US" sz="870" i="1" baseline="-25000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θ</a:t>
            </a:r>
            <a:endParaRPr lang="en-US" sz="870" i="1" baseline="-25000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97" name="Text 95"/>
          <p:cNvSpPr/>
          <p:nvPr/>
        </p:nvSpPr>
        <p:spPr>
          <a:xfrm>
            <a:off x="3307255" y="6666948"/>
            <a:ext cx="811010" cy="29595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Generate candidate</a:t>
            </a:r>
            <a:endParaRPr lang="en-US" sz="102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98" name="Shape 96"/>
          <p:cNvSpPr/>
          <p:nvPr/>
        </p:nvSpPr>
        <p:spPr>
          <a:xfrm>
            <a:off x="4400574" y="5981648"/>
            <a:ext cx="925227" cy="1101939"/>
          </a:xfrm>
          <a:prstGeom prst="roundRect">
            <a:avLst>
              <a:gd name="adj" fmla="val 4762"/>
            </a:avLst>
          </a:prstGeom>
          <a:solidFill>
            <a:srgbClr val="FFF7F1"/>
          </a:solidFill>
          <a:ln w="10160">
            <a:solidFill>
              <a:srgbClr val="DD875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00574" y="6032651"/>
            <a:ext cx="961144" cy="26866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Post-Execution</a:t>
            </a:r>
            <a:endParaRPr lang="en-US" sz="905" b="1" dirty="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90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Validation</a:t>
            </a:r>
            <a:endParaRPr lang="en-US" sz="905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00" name="Text 98"/>
          <p:cNvSpPr/>
          <p:nvPr/>
        </p:nvSpPr>
        <p:spPr>
          <a:xfrm>
            <a:off x="4459478" y="6389668"/>
            <a:ext cx="846209" cy="15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15" i="1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C</a:t>
            </a:r>
            <a:r>
              <a:rPr lang="en-US" sz="815" i="1" baseline="-25000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post</a:t>
            </a:r>
            <a:endParaRPr lang="en-US" sz="815" i="1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101" name="Text 99"/>
          <p:cNvSpPr/>
          <p:nvPr/>
        </p:nvSpPr>
        <p:spPr>
          <a:xfrm>
            <a:off x="4399855" y="6617383"/>
            <a:ext cx="961862" cy="39293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State integrity, solver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invariants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02" name="Shape 100"/>
          <p:cNvSpPr/>
          <p:nvPr/>
        </p:nvSpPr>
        <p:spPr>
          <a:xfrm>
            <a:off x="5764709" y="5979493"/>
            <a:ext cx="820349" cy="161771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868E99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5811401" y="6138966"/>
            <a:ext cx="719780" cy="3002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Observations</a:t>
            </a:r>
            <a:endParaRPr lang="en-US" sz="850" b="1" dirty="0"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850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&amp; Record</a:t>
            </a:r>
            <a:endParaRPr lang="en-US" sz="850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04" name="Text 102"/>
          <p:cNvSpPr/>
          <p:nvPr/>
        </p:nvSpPr>
        <p:spPr>
          <a:xfrm>
            <a:off x="5858093" y="6563507"/>
            <a:ext cx="620649" cy="848364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ea typeface="微软雅黑" charset="-122"/>
                <a:cs typeface="+mn-lt"/>
              </a:rPr>
              <a:t>Public o</a:t>
            </a:r>
            <a:r>
              <a:rPr lang="en-US" sz="880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t+1</a:t>
            </a:r>
            <a:endParaRPr lang="en-US" sz="88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ea typeface="微软雅黑" charset="-122"/>
                <a:cs typeface="+mn-lt"/>
              </a:rPr>
              <a:t>to agent</a:t>
            </a:r>
            <a:endParaRPr lang="en-US" sz="88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endParaRPr lang="en-US" sz="88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ea typeface="微软雅黑" charset="-122"/>
                <a:cs typeface="+mn-lt"/>
              </a:rPr>
              <a:t>+</a:t>
            </a:r>
            <a:endParaRPr lang="en-US" sz="88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endParaRPr lang="en-US" sz="88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ea typeface="微软雅黑" charset="-122"/>
                <a:cs typeface="+mn-lt"/>
              </a:rPr>
              <a:t>Evaluator record</a:t>
            </a:r>
            <a:endParaRPr lang="en-US" sz="88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880" dirty="0">
                <a:solidFill>
                  <a:srgbClr val="111827"/>
                </a:solidFill>
                <a:ea typeface="微软雅黑" charset="-122"/>
                <a:cs typeface="+mn-lt"/>
              </a:rPr>
              <a:t>(privileged)</a:t>
            </a:r>
            <a:endParaRPr lang="en-US" sz="88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05" name="Shape 103"/>
          <p:cNvSpPr/>
          <p:nvPr/>
        </p:nvSpPr>
        <p:spPr>
          <a:xfrm>
            <a:off x="1681643" y="6523998"/>
            <a:ext cx="295958" cy="718"/>
          </a:xfrm>
          <a:prstGeom prst="line">
            <a:avLst/>
          </a:prstGeom>
          <a:noFill/>
          <a:ln w="11430">
            <a:solidFill>
              <a:srgbClr val="16803B"/>
            </a:solidFill>
            <a:prstDash val="solid"/>
            <a:tailEnd type="triangle"/>
          </a:ln>
        </p:spPr>
      </p:sp>
      <p:sp>
        <p:nvSpPr>
          <p:cNvPr id="106" name="Text 104"/>
          <p:cNvSpPr/>
          <p:nvPr/>
        </p:nvSpPr>
        <p:spPr>
          <a:xfrm>
            <a:off x="1681643" y="6322143"/>
            <a:ext cx="289493" cy="1652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5" b="1" dirty="0">
                <a:solidFill>
                  <a:srgbClr val="16803B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P = 1</a:t>
            </a:r>
            <a:endParaRPr lang="en-US" sz="715" b="1" dirty="0">
              <a:solidFill>
                <a:srgbClr val="16803B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107" name="Shape 105"/>
          <p:cNvSpPr/>
          <p:nvPr/>
        </p:nvSpPr>
        <p:spPr>
          <a:xfrm>
            <a:off x="2915757" y="6525435"/>
            <a:ext cx="341213" cy="718"/>
          </a:xfrm>
          <a:prstGeom prst="line">
            <a:avLst/>
          </a:prstGeom>
          <a:noFill/>
          <a:ln w="11430">
            <a:solidFill>
              <a:srgbClr val="16803B"/>
            </a:solidFill>
            <a:prstDash val="solid"/>
            <a:tailEnd type="triangle"/>
          </a:ln>
        </p:spPr>
      </p:sp>
      <p:sp>
        <p:nvSpPr>
          <p:cNvPr id="108" name="Text 106"/>
          <p:cNvSpPr/>
          <p:nvPr/>
        </p:nvSpPr>
        <p:spPr>
          <a:xfrm>
            <a:off x="2904982" y="6322143"/>
            <a:ext cx="279436" cy="18174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b="1" dirty="0">
                <a:solidFill>
                  <a:srgbClr val="16803B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Pass</a:t>
            </a:r>
            <a:endParaRPr lang="en-US" sz="690" b="1" dirty="0">
              <a:solidFill>
                <a:srgbClr val="16803B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109" name="Shape 107"/>
          <p:cNvSpPr/>
          <p:nvPr/>
        </p:nvSpPr>
        <p:spPr>
          <a:xfrm>
            <a:off x="4165675" y="6508194"/>
            <a:ext cx="208320" cy="718"/>
          </a:xfrm>
          <a:prstGeom prst="line">
            <a:avLst/>
          </a:prstGeom>
          <a:noFill/>
          <a:ln w="11430">
            <a:solidFill>
              <a:srgbClr val="16803B"/>
            </a:solidFill>
            <a:prstDash val="solid"/>
            <a:tailEnd type="triangle"/>
          </a:ln>
        </p:spPr>
      </p:sp>
      <p:sp>
        <p:nvSpPr>
          <p:cNvPr id="110" name="Shape 108"/>
          <p:cNvSpPr/>
          <p:nvPr/>
        </p:nvSpPr>
        <p:spPr>
          <a:xfrm>
            <a:off x="5326519" y="6507476"/>
            <a:ext cx="435316" cy="1437"/>
          </a:xfrm>
          <a:prstGeom prst="line">
            <a:avLst/>
          </a:prstGeom>
          <a:noFill/>
          <a:ln w="11430">
            <a:solidFill>
              <a:srgbClr val="16803B"/>
            </a:solidFill>
            <a:prstDash val="solid"/>
            <a:tailEnd type="triangle"/>
          </a:ln>
        </p:spPr>
      </p:sp>
      <p:sp>
        <p:nvSpPr>
          <p:cNvPr id="111" name="Text 109"/>
          <p:cNvSpPr/>
          <p:nvPr/>
        </p:nvSpPr>
        <p:spPr>
          <a:xfrm>
            <a:off x="5268333" y="6151896"/>
            <a:ext cx="496376" cy="351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5" b="1" dirty="0">
                <a:solidFill>
                  <a:srgbClr val="16803B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Pass</a:t>
            </a:r>
            <a:endParaRPr lang="en-US" sz="735" dirty="0">
              <a:latin typeface="微软雅黑" charset="-122"/>
              <a:ea typeface="微软雅黑" charset="-122"/>
            </a:endParaRPr>
          </a:p>
          <a:p>
            <a:pPr marL="0" indent="0" algn="ctr">
              <a:buNone/>
            </a:pPr>
            <a:r>
              <a:rPr lang="en-US" sz="735" b="1" dirty="0">
                <a:solidFill>
                  <a:srgbClr val="16803B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(C = 1)</a:t>
            </a:r>
            <a:endParaRPr lang="en-US" sz="735" dirty="0">
              <a:latin typeface="微软雅黑" charset="-122"/>
              <a:ea typeface="微软雅黑" charset="-122"/>
            </a:endParaRPr>
          </a:p>
        </p:txBody>
      </p:sp>
      <p:sp>
        <p:nvSpPr>
          <p:cNvPr id="112" name="Shape 110"/>
          <p:cNvSpPr/>
          <p:nvPr/>
        </p:nvSpPr>
        <p:spPr>
          <a:xfrm>
            <a:off x="1310977" y="7064911"/>
            <a:ext cx="1437" cy="753543"/>
          </a:xfrm>
          <a:prstGeom prst="line">
            <a:avLst/>
          </a:prstGeom>
          <a:noFill/>
          <a:ln w="11430">
            <a:solidFill>
              <a:srgbClr val="D52525"/>
            </a:solidFill>
            <a:prstDash val="solid"/>
            <a:tailEnd type="triangle"/>
          </a:ln>
        </p:spPr>
      </p:sp>
      <p:sp>
        <p:nvSpPr>
          <p:cNvPr id="113" name="Text 111"/>
          <p:cNvSpPr/>
          <p:nvPr/>
        </p:nvSpPr>
        <p:spPr>
          <a:xfrm>
            <a:off x="770065" y="7303401"/>
            <a:ext cx="517208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D52525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P = 0</a:t>
            </a:r>
            <a:endParaRPr lang="en-US" sz="1020" b="1" dirty="0">
              <a:solidFill>
                <a:srgbClr val="D52525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114" name="Shape 112"/>
          <p:cNvSpPr/>
          <p:nvPr/>
        </p:nvSpPr>
        <p:spPr>
          <a:xfrm>
            <a:off x="696075" y="7832102"/>
            <a:ext cx="1376347" cy="860576"/>
          </a:xfrm>
          <a:prstGeom prst="roundRect">
            <a:avLst>
              <a:gd name="adj" fmla="val 5479"/>
            </a:avLst>
          </a:prstGeom>
          <a:solidFill>
            <a:srgbClr val="FDF2F2"/>
          </a:solidFill>
          <a:ln w="10160">
            <a:solidFill>
              <a:srgbClr val="D94C4C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50819" y="7904655"/>
            <a:ext cx="1479788" cy="21191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Preflight Reject</a:t>
            </a:r>
            <a:endParaRPr lang="en-US" sz="1130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16" name="Text 114"/>
          <p:cNvSpPr/>
          <p:nvPr/>
        </p:nvSpPr>
        <p:spPr>
          <a:xfrm>
            <a:off x="671651" y="8131651"/>
            <a:ext cx="1423039" cy="41232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No execution</a:t>
            </a:r>
            <a:endParaRPr lang="en-US" sz="102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State unchanged</a:t>
            </a:r>
            <a:endParaRPr lang="en-US" sz="102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Charge attempt cost</a:t>
            </a:r>
            <a:endParaRPr lang="en-US" sz="102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17" name="Shape 115"/>
          <p:cNvSpPr/>
          <p:nvPr/>
        </p:nvSpPr>
        <p:spPr>
          <a:xfrm>
            <a:off x="2607588" y="7106575"/>
            <a:ext cx="718" cy="496376"/>
          </a:xfrm>
          <a:prstGeom prst="line">
            <a:avLst/>
          </a:prstGeom>
          <a:noFill/>
          <a:ln w="10160">
            <a:solidFill>
              <a:srgbClr val="D52525"/>
            </a:solidFill>
            <a:prstDash val="solid"/>
            <a:tailEnd type="triangle"/>
          </a:ln>
        </p:spPr>
      </p:sp>
      <p:sp>
        <p:nvSpPr>
          <p:cNvPr id="118" name="Text 116"/>
          <p:cNvSpPr/>
          <p:nvPr/>
        </p:nvSpPr>
        <p:spPr>
          <a:xfrm>
            <a:off x="2245543" y="7241623"/>
            <a:ext cx="289493" cy="1652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D52525"/>
                </a:solidFill>
                <a:latin typeface="微软雅黑" charset="0"/>
                <a:ea typeface="微软雅黑" charset="0"/>
                <a:cs typeface="+mn-lt"/>
              </a:rPr>
              <a:t>Fail</a:t>
            </a:r>
            <a:endParaRPr lang="en-US" sz="905" dirty="0">
              <a:solidFill>
                <a:srgbClr val="D52525"/>
              </a:solidFill>
              <a:latin typeface="微软雅黑" charset="0"/>
              <a:ea typeface="微软雅黑" charset="0"/>
              <a:cs typeface="+mn-lt"/>
            </a:endParaRPr>
          </a:p>
        </p:txBody>
      </p:sp>
      <p:sp>
        <p:nvSpPr>
          <p:cNvPr id="119" name="Shape 117"/>
          <p:cNvSpPr/>
          <p:nvPr/>
        </p:nvSpPr>
        <p:spPr>
          <a:xfrm>
            <a:off x="4852412" y="7106575"/>
            <a:ext cx="718" cy="496376"/>
          </a:xfrm>
          <a:prstGeom prst="line">
            <a:avLst/>
          </a:prstGeom>
          <a:noFill/>
          <a:ln w="10160">
            <a:solidFill>
              <a:srgbClr val="D52525"/>
            </a:solidFill>
            <a:prstDash val="solid"/>
            <a:tailEnd type="triangle"/>
          </a:ln>
        </p:spPr>
      </p:sp>
      <p:sp>
        <p:nvSpPr>
          <p:cNvPr id="120" name="Text 118"/>
          <p:cNvSpPr/>
          <p:nvPr/>
        </p:nvSpPr>
        <p:spPr>
          <a:xfrm>
            <a:off x="4945797" y="7251680"/>
            <a:ext cx="289493" cy="16521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D52525"/>
                </a:solidFill>
                <a:latin typeface="微软雅黑" charset="0"/>
                <a:ea typeface="微软雅黑" charset="0"/>
                <a:cs typeface="+mn-lt"/>
              </a:rPr>
              <a:t>Fail</a:t>
            </a:r>
            <a:endParaRPr lang="en-US" sz="905" dirty="0">
              <a:solidFill>
                <a:srgbClr val="D52525"/>
              </a:solidFill>
              <a:latin typeface="微软雅黑" charset="0"/>
              <a:ea typeface="微软雅黑" charset="0"/>
              <a:cs typeface="+mn-lt"/>
            </a:endParaRPr>
          </a:p>
        </p:txBody>
      </p:sp>
      <p:sp>
        <p:nvSpPr>
          <p:cNvPr id="121" name="Shape 119"/>
          <p:cNvSpPr/>
          <p:nvPr/>
        </p:nvSpPr>
        <p:spPr>
          <a:xfrm>
            <a:off x="2607588" y="7602950"/>
            <a:ext cx="2244824" cy="718"/>
          </a:xfrm>
          <a:prstGeom prst="line">
            <a:avLst/>
          </a:prstGeom>
          <a:noFill/>
          <a:ln w="10160">
            <a:solidFill>
              <a:srgbClr val="D52525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3714556" y="7602950"/>
            <a:ext cx="718" cy="216940"/>
          </a:xfrm>
          <a:prstGeom prst="line">
            <a:avLst/>
          </a:prstGeom>
          <a:noFill/>
          <a:ln w="11430">
            <a:solidFill>
              <a:srgbClr val="D52525"/>
            </a:solidFill>
            <a:prstDash val="solid"/>
            <a:tailEnd type="triangle"/>
          </a:ln>
        </p:spPr>
      </p:sp>
      <p:sp>
        <p:nvSpPr>
          <p:cNvPr id="123" name="Shape 121"/>
          <p:cNvSpPr/>
          <p:nvPr/>
        </p:nvSpPr>
        <p:spPr>
          <a:xfrm>
            <a:off x="2437340" y="7832102"/>
            <a:ext cx="2889179" cy="855547"/>
          </a:xfrm>
          <a:prstGeom prst="roundRect">
            <a:avLst>
              <a:gd name="adj" fmla="val 6061"/>
            </a:avLst>
          </a:prstGeom>
          <a:solidFill>
            <a:srgbClr val="FDF2F2"/>
          </a:solidFill>
          <a:ln w="10160">
            <a:solidFill>
              <a:srgbClr val="D94C4C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379873" y="7883823"/>
            <a:ext cx="2888460" cy="25932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Rollback  (C = 0)</a:t>
            </a:r>
            <a:endParaRPr lang="en-US" sz="1130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25" name="Text 123"/>
          <p:cNvSpPr/>
          <p:nvPr/>
        </p:nvSpPr>
        <p:spPr>
          <a:xfrm>
            <a:off x="2328870" y="8116566"/>
            <a:ext cx="3124795" cy="5215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Discard candidate, restore committed </a:t>
            </a:r>
            <a:endParaRPr lang="en-US" sz="1020" dirty="0">
              <a:solidFill>
                <a:srgbClr val="111827"/>
              </a:solidFill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state st and RNG, discard resource changes, </a:t>
            </a:r>
            <a:endParaRPr lang="en-US" sz="1020" dirty="0">
              <a:solidFill>
                <a:srgbClr val="111827"/>
              </a:solidFill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charge attempt cost, write receipt</a:t>
            </a:r>
            <a:endParaRPr lang="en-US" sz="102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26" name="Shape 124"/>
          <p:cNvSpPr/>
          <p:nvPr/>
        </p:nvSpPr>
        <p:spPr>
          <a:xfrm>
            <a:off x="5325082" y="8057662"/>
            <a:ext cx="92666" cy="2873"/>
          </a:xfrm>
          <a:prstGeom prst="line">
            <a:avLst/>
          </a:prstGeom>
          <a:noFill/>
          <a:ln w="8890">
            <a:solidFill>
              <a:srgbClr val="111827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5417030" y="7284006"/>
            <a:ext cx="1437" cy="775811"/>
          </a:xfrm>
          <a:prstGeom prst="line">
            <a:avLst/>
          </a:prstGeom>
          <a:noFill/>
          <a:ln w="8890">
            <a:solidFill>
              <a:srgbClr val="111827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5413439" y="7282569"/>
            <a:ext cx="370665" cy="2873"/>
          </a:xfrm>
          <a:prstGeom prst="line">
            <a:avLst/>
          </a:prstGeom>
          <a:noFill/>
          <a:ln w="1016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30" name="Shape 128"/>
          <p:cNvSpPr/>
          <p:nvPr/>
        </p:nvSpPr>
        <p:spPr>
          <a:xfrm>
            <a:off x="5514007" y="8316984"/>
            <a:ext cx="268661" cy="718"/>
          </a:xfrm>
          <a:prstGeom prst="line">
            <a:avLst/>
          </a:prstGeom>
          <a:noFill/>
          <a:ln w="10160">
            <a:solidFill>
              <a:srgbClr val="16803B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5857375" y="8232938"/>
            <a:ext cx="805982" cy="181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Success path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32" name="Shape 130"/>
          <p:cNvSpPr/>
          <p:nvPr/>
        </p:nvSpPr>
        <p:spPr>
          <a:xfrm>
            <a:off x="5514007" y="8513092"/>
            <a:ext cx="268661" cy="718"/>
          </a:xfrm>
          <a:prstGeom prst="line">
            <a:avLst/>
          </a:prstGeom>
          <a:noFill/>
          <a:ln w="10160">
            <a:solidFill>
              <a:srgbClr val="D5252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5857375" y="8429764"/>
            <a:ext cx="805982" cy="18102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Failure path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34" name="Shape 132"/>
          <p:cNvSpPr/>
          <p:nvPr/>
        </p:nvSpPr>
        <p:spPr>
          <a:xfrm>
            <a:off x="10282372" y="5575784"/>
            <a:ext cx="718" cy="3051524"/>
          </a:xfrm>
          <a:prstGeom prst="line">
            <a:avLst/>
          </a:prstGeom>
          <a:noFill/>
          <a:ln w="7620">
            <a:solidFill>
              <a:srgbClr val="D1D5DB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7323515" y="5472343"/>
            <a:ext cx="2430875" cy="2277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rgbClr val="111827"/>
                </a:solidFill>
                <a:ea typeface="微软雅黑" charset="-122"/>
                <a:cs typeface="+mn-lt"/>
              </a:rPr>
              <a:t>Deterministic Replay</a:t>
            </a:r>
            <a:endParaRPr lang="en-US" sz="136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36" name="Text 134"/>
          <p:cNvSpPr/>
          <p:nvPr/>
        </p:nvSpPr>
        <p:spPr>
          <a:xfrm>
            <a:off x="6684907" y="5582968"/>
            <a:ext cx="3803630" cy="3929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Reconstruct and replay exactly the same trajectory</a:t>
            </a:r>
            <a:endParaRPr lang="en-US" sz="102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37" name="Text 135"/>
          <p:cNvSpPr/>
          <p:nvPr/>
        </p:nvSpPr>
        <p:spPr>
          <a:xfrm>
            <a:off x="10716252" y="5450792"/>
            <a:ext cx="2668647" cy="227715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rgbClr val="111827"/>
                </a:solidFill>
                <a:ea typeface="微软雅黑" charset="-122"/>
                <a:cs typeface="+mn-lt"/>
              </a:rPr>
              <a:t>Controlled Forks (Counterfactuals)</a:t>
            </a:r>
            <a:endParaRPr lang="en-US" sz="136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38" name="Text 136"/>
          <p:cNvSpPr/>
          <p:nvPr/>
        </p:nvSpPr>
        <p:spPr>
          <a:xfrm>
            <a:off x="10812510" y="5639717"/>
            <a:ext cx="2461764" cy="392934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Same public contract and actions;</a:t>
            </a:r>
            <a:endParaRPr lang="en-US" sz="1020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1020" dirty="0">
                <a:solidFill>
                  <a:srgbClr val="111827"/>
                </a:solidFill>
                <a:ea typeface="微软雅黑" charset="-122"/>
                <a:cs typeface="+mn-lt"/>
              </a:rPr>
              <a:t>change one private law parameter</a:t>
            </a:r>
            <a:endParaRPr lang="en-US" sz="102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39" name="Shape 137"/>
          <p:cNvSpPr/>
          <p:nvPr/>
        </p:nvSpPr>
        <p:spPr>
          <a:xfrm>
            <a:off x="7044079" y="6032651"/>
            <a:ext cx="961862" cy="509306"/>
          </a:xfrm>
          <a:prstGeom prst="roundRect">
            <a:avLst>
              <a:gd name="adj" fmla="val 9259"/>
            </a:avLst>
          </a:prstGeom>
          <a:solidFill>
            <a:srgbClr val="F3F7FC"/>
          </a:solidFill>
          <a:ln w="8890">
            <a:solidFill>
              <a:srgbClr val="6F95C7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085743" y="6063540"/>
            <a:ext cx="879253" cy="4963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Original Run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World W, 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seed ζ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， 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actions </a:t>
            </a:r>
            <a:endParaRPr lang="en-US" sz="905" baseline="-2500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41" name="Shape 139"/>
          <p:cNvSpPr/>
          <p:nvPr/>
        </p:nvSpPr>
        <p:spPr>
          <a:xfrm>
            <a:off x="9015214" y="6032651"/>
            <a:ext cx="961862" cy="505714"/>
          </a:xfrm>
          <a:prstGeom prst="roundRect">
            <a:avLst>
              <a:gd name="adj" fmla="val 9259"/>
            </a:avLst>
          </a:prstGeom>
          <a:solidFill>
            <a:srgbClr val="F3F7FC"/>
          </a:solidFill>
          <a:ln w="8890">
            <a:solidFill>
              <a:srgbClr val="6F95C7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056160" y="6063540"/>
            <a:ext cx="879253" cy="49637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Replay Run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Same W and ζ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Same actions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43" name="Text 141"/>
          <p:cNvSpPr/>
          <p:nvPr/>
        </p:nvSpPr>
        <p:spPr>
          <a:xfrm>
            <a:off x="8071310" y="5980212"/>
            <a:ext cx="855547" cy="351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Reconstruct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world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44" name="Shape 142"/>
          <p:cNvSpPr/>
          <p:nvPr/>
        </p:nvSpPr>
        <p:spPr>
          <a:xfrm>
            <a:off x="8071310" y="6332200"/>
            <a:ext cx="879253" cy="718"/>
          </a:xfrm>
          <a:prstGeom prst="line">
            <a:avLst/>
          </a:prstGeom>
          <a:noFill/>
          <a:ln w="8890">
            <a:solidFill>
              <a:srgbClr val="8A9098"/>
            </a:solidFill>
            <a:prstDash val="dash"/>
            <a:tailEnd type="triangle"/>
          </a:ln>
        </p:spPr>
      </p:sp>
      <p:sp>
        <p:nvSpPr>
          <p:cNvPr id="145" name="Shape 143"/>
          <p:cNvSpPr/>
          <p:nvPr/>
        </p:nvSpPr>
        <p:spPr>
          <a:xfrm>
            <a:off x="7044079" y="6684189"/>
            <a:ext cx="961862" cy="361327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7085743" y="6715796"/>
            <a:ext cx="879253" cy="341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State Trajectory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0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s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1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…, s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</a:t>
            </a:r>
            <a:endParaRPr lang="en-US" sz="905" baseline="-2500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47" name="Shape 145"/>
          <p:cNvSpPr/>
          <p:nvPr/>
        </p:nvSpPr>
        <p:spPr>
          <a:xfrm>
            <a:off x="9015214" y="6684189"/>
            <a:ext cx="961862" cy="362045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9056160" y="6715796"/>
            <a:ext cx="879253" cy="341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State Trajectory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s′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0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s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  <a:sym typeface="+mn-ea"/>
              </a:rPr>
              <a:t>′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1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…, s′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</a:t>
            </a:r>
            <a:endParaRPr lang="en-US" sz="905" baseline="-2500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49" name="Shape 147"/>
          <p:cNvSpPr/>
          <p:nvPr/>
        </p:nvSpPr>
        <p:spPr>
          <a:xfrm>
            <a:off x="7525369" y="6549858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50" name="Shape 148"/>
          <p:cNvSpPr/>
          <p:nvPr/>
        </p:nvSpPr>
        <p:spPr>
          <a:xfrm>
            <a:off x="9495786" y="6549858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51" name="Text 149"/>
          <p:cNvSpPr/>
          <p:nvPr/>
        </p:nvSpPr>
        <p:spPr>
          <a:xfrm>
            <a:off x="8420425" y="6776855"/>
            <a:ext cx="165219" cy="15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=</a:t>
            </a:r>
            <a:endParaRPr lang="en-US" sz="1360" b="1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152" name="Shape 150"/>
          <p:cNvSpPr/>
          <p:nvPr/>
        </p:nvSpPr>
        <p:spPr>
          <a:xfrm>
            <a:off x="7044079" y="7180564"/>
            <a:ext cx="961862" cy="362045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7085743" y="7211453"/>
            <a:ext cx="879253" cy="341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Observations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o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0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o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1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…, o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</a:t>
            </a:r>
            <a:endParaRPr lang="en-US" sz="905" baseline="-2500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54" name="Shape 152"/>
          <p:cNvSpPr/>
          <p:nvPr/>
        </p:nvSpPr>
        <p:spPr>
          <a:xfrm>
            <a:off x="9015214" y="7180564"/>
            <a:ext cx="961862" cy="362045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9056160" y="7211453"/>
            <a:ext cx="879253" cy="341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Observations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o′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0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o′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1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…, o′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</a:t>
            </a:r>
            <a:endParaRPr lang="en-US" sz="905" baseline="-2500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56" name="Shape 154"/>
          <p:cNvSpPr/>
          <p:nvPr/>
        </p:nvSpPr>
        <p:spPr>
          <a:xfrm>
            <a:off x="7525369" y="7046234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57" name="Shape 155"/>
          <p:cNvSpPr/>
          <p:nvPr/>
        </p:nvSpPr>
        <p:spPr>
          <a:xfrm>
            <a:off x="9495786" y="7046234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58" name="Text 156"/>
          <p:cNvSpPr/>
          <p:nvPr/>
        </p:nvSpPr>
        <p:spPr>
          <a:xfrm>
            <a:off x="8420425" y="7273230"/>
            <a:ext cx="165219" cy="15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=</a:t>
            </a:r>
            <a:endParaRPr lang="en-US" sz="1360" b="1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159" name="Shape 157"/>
          <p:cNvSpPr/>
          <p:nvPr/>
        </p:nvSpPr>
        <p:spPr>
          <a:xfrm>
            <a:off x="7044079" y="7666883"/>
            <a:ext cx="961862" cy="453275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60" name="Text 158"/>
          <p:cNvSpPr/>
          <p:nvPr/>
        </p:nvSpPr>
        <p:spPr>
          <a:xfrm>
            <a:off x="7085743" y="7729379"/>
            <a:ext cx="879253" cy="31032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Records &amp; Ledgers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(identical)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61" name="Shape 159"/>
          <p:cNvSpPr/>
          <p:nvPr/>
        </p:nvSpPr>
        <p:spPr>
          <a:xfrm>
            <a:off x="9015214" y="7666883"/>
            <a:ext cx="961862" cy="453275"/>
          </a:xfrm>
          <a:prstGeom prst="roundRect">
            <a:avLst>
              <a:gd name="adj" fmla="val 12821"/>
            </a:avLst>
          </a:prstGeom>
          <a:solidFill>
            <a:srgbClr val="F8FAFC"/>
          </a:solidFill>
          <a:ln w="8890">
            <a:solidFill>
              <a:srgbClr val="AAB7C6"/>
            </a:solidFill>
            <a:prstDash val="solid"/>
          </a:ln>
        </p:spPr>
      </p:sp>
      <p:sp>
        <p:nvSpPr>
          <p:cNvPr id="162" name="Text 160"/>
          <p:cNvSpPr/>
          <p:nvPr/>
        </p:nvSpPr>
        <p:spPr>
          <a:xfrm>
            <a:off x="9056160" y="7727942"/>
            <a:ext cx="879253" cy="311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Records &amp; Ledgers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(identical)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63" name="Text 161"/>
          <p:cNvSpPr/>
          <p:nvPr/>
        </p:nvSpPr>
        <p:spPr>
          <a:xfrm>
            <a:off x="8420425" y="7759549"/>
            <a:ext cx="165219" cy="15516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b="1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=</a:t>
            </a:r>
            <a:endParaRPr lang="en-US" sz="1360" b="1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166" name="Shape 164"/>
          <p:cNvSpPr/>
          <p:nvPr/>
        </p:nvSpPr>
        <p:spPr>
          <a:xfrm>
            <a:off x="7085743" y="8217853"/>
            <a:ext cx="2825246" cy="597662"/>
          </a:xfrm>
          <a:prstGeom prst="roundRect">
            <a:avLst>
              <a:gd name="adj" fmla="val 7407"/>
            </a:avLst>
          </a:prstGeom>
          <a:solidFill>
            <a:srgbClr val="F0F8F0"/>
          </a:solidFill>
          <a:ln w="9525">
            <a:solidFill>
              <a:srgbClr val="4A9C5E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7118068" y="8237966"/>
            <a:ext cx="2762032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Exact Match  (zero numerical tolerance)</a:t>
            </a:r>
            <a:endParaRPr lang="en-US" sz="905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69" name="Shape 167"/>
          <p:cNvSpPr/>
          <p:nvPr/>
        </p:nvSpPr>
        <p:spPr>
          <a:xfrm>
            <a:off x="10633643" y="6073596"/>
            <a:ext cx="961862" cy="51720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8890">
            <a:solidFill>
              <a:srgbClr val="D7A13B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675306" y="6104485"/>
            <a:ext cx="879253" cy="455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Parent World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(W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pub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θ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p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)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71" name="Shape 169"/>
          <p:cNvSpPr/>
          <p:nvPr/>
        </p:nvSpPr>
        <p:spPr>
          <a:xfrm>
            <a:off x="12578199" y="6073596"/>
            <a:ext cx="961862" cy="517208"/>
          </a:xfrm>
          <a:prstGeom prst="roundRect">
            <a:avLst>
              <a:gd name="adj" fmla="val 10000"/>
            </a:avLst>
          </a:prstGeom>
          <a:solidFill>
            <a:srgbClr val="FFF7E8"/>
          </a:solidFill>
          <a:ln w="8890">
            <a:solidFill>
              <a:srgbClr val="D7A13B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12619863" y="6104485"/>
            <a:ext cx="879253" cy="45543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Child World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(Wpub, θ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c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 ≠ θ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p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)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73" name="Text 171"/>
          <p:cNvSpPr/>
          <p:nvPr/>
        </p:nvSpPr>
        <p:spPr>
          <a:xfrm>
            <a:off x="11688890" y="6000325"/>
            <a:ext cx="822504" cy="351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Different</a:t>
            </a:r>
            <a:endParaRPr lang="en-US" sz="905" dirty="0">
              <a:latin typeface="微软雅黑" charset="-122"/>
              <a:ea typeface="微软雅黑" charset="-122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parameter</a:t>
            </a:r>
            <a:endParaRPr lang="en-US" sz="905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174" name="Shape 172"/>
          <p:cNvSpPr/>
          <p:nvPr/>
        </p:nvSpPr>
        <p:spPr>
          <a:xfrm>
            <a:off x="11595505" y="6332200"/>
            <a:ext cx="982694" cy="718"/>
          </a:xfrm>
          <a:prstGeom prst="line">
            <a:avLst/>
          </a:prstGeom>
          <a:noFill/>
          <a:ln w="8890">
            <a:solidFill>
              <a:srgbClr val="8A9098"/>
            </a:solidFill>
            <a:prstDash val="dash"/>
            <a:tailEnd type="triangle"/>
          </a:ln>
        </p:spPr>
      </p:sp>
      <p:sp>
        <p:nvSpPr>
          <p:cNvPr id="175" name="Shape 173"/>
          <p:cNvSpPr/>
          <p:nvPr/>
        </p:nvSpPr>
        <p:spPr>
          <a:xfrm>
            <a:off x="10633643" y="6725134"/>
            <a:ext cx="961862" cy="362045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10675306" y="6756023"/>
            <a:ext cx="879253" cy="3002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Same Actions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(a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0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…, a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T-1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)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77" name="Shape 175"/>
          <p:cNvSpPr/>
          <p:nvPr/>
        </p:nvSpPr>
        <p:spPr>
          <a:xfrm>
            <a:off x="12578199" y="6725134"/>
            <a:ext cx="961862" cy="362045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78" name="Text 176"/>
          <p:cNvSpPr/>
          <p:nvPr/>
        </p:nvSpPr>
        <p:spPr>
          <a:xfrm>
            <a:off x="12619863" y="6756023"/>
            <a:ext cx="879253" cy="3002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Same Actions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(a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0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, …, a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T-1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)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79" name="Shape 177"/>
          <p:cNvSpPr/>
          <p:nvPr/>
        </p:nvSpPr>
        <p:spPr>
          <a:xfrm>
            <a:off x="11114933" y="6590804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80" name="Shape 178"/>
          <p:cNvSpPr/>
          <p:nvPr/>
        </p:nvSpPr>
        <p:spPr>
          <a:xfrm>
            <a:off x="13059489" y="6590804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81" name="Shape 179"/>
          <p:cNvSpPr/>
          <p:nvPr/>
        </p:nvSpPr>
        <p:spPr>
          <a:xfrm>
            <a:off x="10633643" y="7221510"/>
            <a:ext cx="961862" cy="362045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10675306" y="7252399"/>
            <a:ext cx="879253" cy="3002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State Trajectories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0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ᵖ, …, s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ᵖ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83" name="Shape 181"/>
          <p:cNvSpPr/>
          <p:nvPr/>
        </p:nvSpPr>
        <p:spPr>
          <a:xfrm>
            <a:off x="12578199" y="7221510"/>
            <a:ext cx="961862" cy="362045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12619863" y="7252399"/>
            <a:ext cx="879253" cy="30026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State Trajectories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s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0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ᶜ, …, s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ᶜ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85" name="Shape 183"/>
          <p:cNvSpPr/>
          <p:nvPr/>
        </p:nvSpPr>
        <p:spPr>
          <a:xfrm>
            <a:off x="11114933" y="7087179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86" name="Shape 184"/>
          <p:cNvSpPr/>
          <p:nvPr/>
        </p:nvSpPr>
        <p:spPr>
          <a:xfrm>
            <a:off x="13059489" y="7087179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87" name="Shape 185"/>
          <p:cNvSpPr/>
          <p:nvPr/>
        </p:nvSpPr>
        <p:spPr>
          <a:xfrm>
            <a:off x="10633643" y="7717885"/>
            <a:ext cx="961862" cy="362045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10675306" y="7748774"/>
            <a:ext cx="879253" cy="3002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Observations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o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0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ᵖ, …, o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ᵖ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89" name="Shape 187"/>
          <p:cNvSpPr/>
          <p:nvPr/>
        </p:nvSpPr>
        <p:spPr>
          <a:xfrm>
            <a:off x="12578199" y="7717885"/>
            <a:ext cx="961862" cy="362045"/>
          </a:xfrm>
          <a:prstGeom prst="roundRect">
            <a:avLst>
              <a:gd name="adj" fmla="val 14286"/>
            </a:avLst>
          </a:prstGeom>
          <a:solidFill>
            <a:srgbClr val="FAFAFA"/>
          </a:solidFill>
          <a:ln w="8890">
            <a:solidFill>
              <a:srgbClr val="B0B5BD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12619863" y="7748774"/>
            <a:ext cx="879253" cy="3002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Observations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o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0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ᶜ, …, o</a:t>
            </a:r>
            <a:r>
              <a:rPr lang="en-US" sz="905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T</a:t>
            </a: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ᶜ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91" name="Shape 189"/>
          <p:cNvSpPr/>
          <p:nvPr/>
        </p:nvSpPr>
        <p:spPr>
          <a:xfrm>
            <a:off x="11601970" y="8079931"/>
            <a:ext cx="465487" cy="718"/>
          </a:xfrm>
          <a:prstGeom prst="line">
            <a:avLst/>
          </a:prstGeom>
          <a:noFill/>
          <a:ln w="8890">
            <a:solidFill>
              <a:srgbClr val="D94C4C"/>
            </a:solidFill>
            <a:prstDash val="dash"/>
          </a:ln>
        </p:spPr>
      </p:sp>
      <p:sp>
        <p:nvSpPr>
          <p:cNvPr id="192" name="Shape 190"/>
          <p:cNvSpPr/>
          <p:nvPr/>
        </p:nvSpPr>
        <p:spPr>
          <a:xfrm>
            <a:off x="12067457" y="8079931"/>
            <a:ext cx="517208" cy="718"/>
          </a:xfrm>
          <a:prstGeom prst="line">
            <a:avLst/>
          </a:prstGeom>
          <a:noFill/>
          <a:ln w="8890">
            <a:solidFill>
              <a:srgbClr val="D94C4C"/>
            </a:solidFill>
            <a:prstDash val="dash"/>
          </a:ln>
        </p:spPr>
      </p:sp>
      <p:sp>
        <p:nvSpPr>
          <p:cNvPr id="193" name="Text 191"/>
          <p:cNvSpPr/>
          <p:nvPr/>
        </p:nvSpPr>
        <p:spPr>
          <a:xfrm>
            <a:off x="11709721" y="7707828"/>
            <a:ext cx="744922" cy="29021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D52525"/>
                </a:solidFill>
                <a:ea typeface="微软雅黑" charset="-122"/>
                <a:cs typeface="+mn-lt"/>
              </a:rPr>
              <a:t>Diverge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D52525"/>
                </a:solidFill>
                <a:ea typeface="微软雅黑" charset="-122"/>
                <a:cs typeface="+mn-lt"/>
              </a:rPr>
              <a:t>as expected</a:t>
            </a:r>
            <a:endParaRPr lang="en-US" sz="905" dirty="0">
              <a:solidFill>
                <a:srgbClr val="D52525"/>
              </a:solidFill>
              <a:ea typeface="微软雅黑" charset="-122"/>
              <a:cs typeface="+mn-lt"/>
            </a:endParaRPr>
          </a:p>
        </p:txBody>
      </p:sp>
      <p:sp>
        <p:nvSpPr>
          <p:cNvPr id="194" name="Shape 192"/>
          <p:cNvSpPr/>
          <p:nvPr/>
        </p:nvSpPr>
        <p:spPr>
          <a:xfrm>
            <a:off x="11114933" y="7583555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95" name="Shape 193"/>
          <p:cNvSpPr/>
          <p:nvPr/>
        </p:nvSpPr>
        <p:spPr>
          <a:xfrm>
            <a:off x="13059489" y="7583555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96" name="Shape 194"/>
          <p:cNvSpPr/>
          <p:nvPr/>
        </p:nvSpPr>
        <p:spPr>
          <a:xfrm>
            <a:off x="10633643" y="8237966"/>
            <a:ext cx="2917194" cy="558871"/>
          </a:xfrm>
          <a:prstGeom prst="roundRect">
            <a:avLst>
              <a:gd name="adj" fmla="val 7407"/>
            </a:avLst>
          </a:prstGeom>
          <a:solidFill>
            <a:srgbClr val="FFF7E8"/>
          </a:solidFill>
          <a:ln w="9525">
            <a:solidFill>
              <a:srgbClr val="D7A13B"/>
            </a:solidFill>
            <a:prstDash val="solid"/>
          </a:ln>
        </p:spPr>
      </p:sp>
      <p:sp>
        <p:nvSpPr>
          <p:cNvPr id="197" name="Text 195"/>
          <p:cNvSpPr/>
          <p:nvPr/>
        </p:nvSpPr>
        <p:spPr>
          <a:xfrm>
            <a:off x="10685363" y="8279630"/>
            <a:ext cx="2813752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Differences attributable only to private-law change</a:t>
            </a:r>
            <a:endParaRPr lang="en-US" sz="905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98" name="Text 196"/>
          <p:cNvSpPr/>
          <p:nvPr/>
        </p:nvSpPr>
        <p:spPr>
          <a:xfrm>
            <a:off x="10706195" y="8528177"/>
            <a:ext cx="2772089" cy="165219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public contract, actions, instruments, 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resources identical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199" name="Shape 192"/>
          <p:cNvSpPr/>
          <p:nvPr/>
        </p:nvSpPr>
        <p:spPr>
          <a:xfrm>
            <a:off x="7524651" y="7542609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200" name="Shape 193"/>
          <p:cNvSpPr/>
          <p:nvPr/>
        </p:nvSpPr>
        <p:spPr>
          <a:xfrm>
            <a:off x="9495786" y="7542609"/>
            <a:ext cx="718" cy="124273"/>
          </a:xfrm>
          <a:prstGeom prst="line">
            <a:avLst/>
          </a:prstGeom>
          <a:noFill/>
          <a:ln w="6985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164" name="Text 2"/>
          <p:cNvSpPr/>
          <p:nvPr/>
        </p:nvSpPr>
        <p:spPr>
          <a:xfrm>
            <a:off x="125710" y="1427349"/>
            <a:ext cx="5927054" cy="2894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8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A. Composable Components</a:t>
            </a:r>
            <a:endParaRPr lang="en-US" sz="1585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125710" y="5141186"/>
            <a:ext cx="6072160" cy="28949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85" b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C. Transaction Semantics (per step)</a:t>
            </a:r>
            <a:endParaRPr lang="en-US" sz="1585" b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04" name="Text 3"/>
          <p:cNvSpPr/>
          <p:nvPr/>
        </p:nvSpPr>
        <p:spPr>
          <a:xfrm>
            <a:off x="550970" y="1716842"/>
            <a:ext cx="5823613" cy="2277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30" i="1" dirty="0">
                <a:solidFill>
                  <a:srgbClr val="111827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Reusable process and instrument modules with declared interfaces</a:t>
            </a:r>
            <a:endParaRPr lang="en-US" sz="1130" i="1" dirty="0">
              <a:solidFill>
                <a:srgbClr val="111827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pic>
        <p:nvPicPr>
          <p:cNvPr id="210" name="图片 209" descr="reac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945" y="2093972"/>
            <a:ext cx="862013" cy="972637"/>
          </a:xfrm>
          <a:prstGeom prst="rect">
            <a:avLst/>
          </a:prstGeom>
        </p:spPr>
      </p:pic>
      <p:sp>
        <p:nvSpPr>
          <p:cNvPr id="211" name="文本框 210"/>
          <p:cNvSpPr txBox="1"/>
          <p:nvPr/>
        </p:nvSpPr>
        <p:spPr>
          <a:xfrm>
            <a:off x="186769" y="1883497"/>
            <a:ext cx="2295108" cy="283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sz="1245" b="1" dirty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Chemical Transformation</a:t>
            </a:r>
            <a:endParaRPr lang="en-US" sz="1245" b="1" dirty="0">
              <a:solidFill>
                <a:schemeClr val="accent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212" name="图片 211" descr="electrochemist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4512" y="2093972"/>
            <a:ext cx="826095" cy="1025795"/>
          </a:xfrm>
          <a:prstGeom prst="rect">
            <a:avLst/>
          </a:prstGeom>
        </p:spPr>
      </p:pic>
      <p:sp>
        <p:nvSpPr>
          <p:cNvPr id="213" name="文本框 212"/>
          <p:cNvSpPr txBox="1"/>
          <p:nvPr/>
        </p:nvSpPr>
        <p:spPr>
          <a:xfrm>
            <a:off x="2369816" y="1883497"/>
            <a:ext cx="2295108" cy="283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245" b="1" dirty="0">
                <a:solidFill>
                  <a:srgbClr val="7030A0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State &amp; Phase Behavior</a:t>
            </a:r>
            <a:endParaRPr lang="en-US" sz="1245" b="1" dirty="0">
              <a:solidFill>
                <a:srgbClr val="7030A0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214" name="图片 213" descr="therm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7852" y="2146411"/>
            <a:ext cx="504277" cy="954679"/>
          </a:xfrm>
          <a:prstGeom prst="rect">
            <a:avLst/>
          </a:prstGeom>
        </p:spPr>
      </p:pic>
      <p:pic>
        <p:nvPicPr>
          <p:cNvPr id="215" name="图片 214" descr="phase-behavio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9937" y="2210344"/>
            <a:ext cx="744922" cy="855547"/>
          </a:xfrm>
          <a:prstGeom prst="rect">
            <a:avLst/>
          </a:prstGeom>
        </p:spPr>
      </p:pic>
      <p:pic>
        <p:nvPicPr>
          <p:cNvPr id="216" name="图片 215" descr="crystallizati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96146" y="2160778"/>
            <a:ext cx="627114" cy="940312"/>
          </a:xfrm>
          <a:prstGeom prst="rect">
            <a:avLst/>
          </a:prstGeom>
        </p:spPr>
      </p:pic>
      <p:sp>
        <p:nvSpPr>
          <p:cNvPr id="217" name="文本框 216"/>
          <p:cNvSpPr txBox="1"/>
          <p:nvPr/>
        </p:nvSpPr>
        <p:spPr>
          <a:xfrm>
            <a:off x="4511199" y="1883497"/>
            <a:ext cx="2295108" cy="283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245" b="1" dirty="0">
                <a:solidFill>
                  <a:schemeClr val="accent6">
                    <a:lumMod val="75000"/>
                  </a:schemeClr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Transport &amp; Separation</a:t>
            </a:r>
            <a:endParaRPr lang="en-US" sz="1245" b="1" dirty="0">
              <a:solidFill>
                <a:schemeClr val="accent6">
                  <a:lumMod val="75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218" name="图片 217" descr="flow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2526" y="2164370"/>
            <a:ext cx="693202" cy="897211"/>
          </a:xfrm>
          <a:prstGeom prst="rect">
            <a:avLst/>
          </a:prstGeom>
        </p:spPr>
      </p:pic>
      <p:pic>
        <p:nvPicPr>
          <p:cNvPr id="219" name="图片 218" descr="distillati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5484" y="2110494"/>
            <a:ext cx="661595" cy="990596"/>
          </a:xfrm>
          <a:prstGeom prst="rect">
            <a:avLst/>
          </a:prstGeom>
        </p:spPr>
      </p:pic>
      <p:sp>
        <p:nvSpPr>
          <p:cNvPr id="220" name="Text 84"/>
          <p:cNvSpPr/>
          <p:nvPr/>
        </p:nvSpPr>
        <p:spPr>
          <a:xfrm>
            <a:off x="232025" y="3119049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Reaction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22" name="Text 84"/>
          <p:cNvSpPr/>
          <p:nvPr/>
        </p:nvSpPr>
        <p:spPr>
          <a:xfrm>
            <a:off x="992033" y="3105400"/>
            <a:ext cx="1429504" cy="20041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Electrochemistry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23" name="Text 84"/>
          <p:cNvSpPr/>
          <p:nvPr/>
        </p:nvSpPr>
        <p:spPr>
          <a:xfrm>
            <a:off x="2369816" y="3119767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Thermal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24" name="Text 84"/>
          <p:cNvSpPr/>
          <p:nvPr/>
        </p:nvSpPr>
        <p:spPr>
          <a:xfrm>
            <a:off x="3088878" y="2936589"/>
            <a:ext cx="805982" cy="5172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Phase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Behavior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25" name="Text 84"/>
          <p:cNvSpPr/>
          <p:nvPr/>
        </p:nvSpPr>
        <p:spPr>
          <a:xfrm>
            <a:off x="3881930" y="3057989"/>
            <a:ext cx="938157" cy="31104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Crystallization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26" name="Text 84"/>
          <p:cNvSpPr/>
          <p:nvPr/>
        </p:nvSpPr>
        <p:spPr>
          <a:xfrm>
            <a:off x="4928556" y="3105400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Flow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27" name="Text 84"/>
          <p:cNvSpPr/>
          <p:nvPr/>
        </p:nvSpPr>
        <p:spPr>
          <a:xfrm>
            <a:off x="5792724" y="3101808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Distillation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pic>
        <p:nvPicPr>
          <p:cNvPr id="228" name="图片 227" descr="ph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2025" y="3724612"/>
            <a:ext cx="466205" cy="790896"/>
          </a:xfrm>
          <a:prstGeom prst="rect">
            <a:avLst/>
          </a:prstGeom>
        </p:spPr>
      </p:pic>
      <p:pic>
        <p:nvPicPr>
          <p:cNvPr id="229" name="图片 228" descr="uv-vi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89" y="3802912"/>
            <a:ext cx="998498" cy="755698"/>
          </a:xfrm>
          <a:prstGeom prst="rect">
            <a:avLst/>
          </a:prstGeom>
        </p:spPr>
      </p:pic>
      <p:pic>
        <p:nvPicPr>
          <p:cNvPr id="230" name="图片 229" descr="hpl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24293" y="3761248"/>
            <a:ext cx="819630" cy="754261"/>
          </a:xfrm>
          <a:prstGeom prst="rect">
            <a:avLst/>
          </a:prstGeom>
        </p:spPr>
      </p:pic>
      <p:pic>
        <p:nvPicPr>
          <p:cNvPr id="231" name="图片 230" descr="gc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973225" y="3736824"/>
            <a:ext cx="615621" cy="821785"/>
          </a:xfrm>
          <a:prstGeom prst="rect">
            <a:avLst/>
          </a:prstGeom>
        </p:spPr>
      </p:pic>
      <p:cxnSp>
        <p:nvCxnSpPr>
          <p:cNvPr id="233" name="直接连接符 232"/>
          <p:cNvCxnSpPr/>
          <p:nvPr/>
        </p:nvCxnSpPr>
        <p:spPr>
          <a:xfrm>
            <a:off x="232025" y="3411414"/>
            <a:ext cx="6330045" cy="0"/>
          </a:xfrm>
          <a:prstGeom prst="line">
            <a:avLst/>
          </a:prstGeom>
          <a:ln w="25400" cap="flat" cmpd="sng">
            <a:solidFill>
              <a:schemeClr val="bg1">
                <a:lumMod val="65000"/>
              </a:schemeClr>
            </a:solidFill>
            <a:prstDash val="dash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4" name="文本框 233"/>
          <p:cNvSpPr txBox="1"/>
          <p:nvPr/>
        </p:nvSpPr>
        <p:spPr>
          <a:xfrm>
            <a:off x="232743" y="3455952"/>
            <a:ext cx="2295108" cy="300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/>
            <a:r>
              <a:rPr lang="en-US" sz="1360" b="1" dirty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Instrument Modules</a:t>
            </a:r>
            <a:endParaRPr lang="en-US" sz="1360" b="1" dirty="0">
              <a:solidFill>
                <a:schemeClr val="accent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235" name="Text 84"/>
          <p:cNvSpPr/>
          <p:nvPr/>
        </p:nvSpPr>
        <p:spPr>
          <a:xfrm>
            <a:off x="43819" y="4559328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pH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36" name="Text 84"/>
          <p:cNvSpPr/>
          <p:nvPr/>
        </p:nvSpPr>
        <p:spPr>
          <a:xfrm>
            <a:off x="978384" y="4560046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UV-vis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37" name="Text 84"/>
          <p:cNvSpPr/>
          <p:nvPr/>
        </p:nvSpPr>
        <p:spPr>
          <a:xfrm>
            <a:off x="2916476" y="4561483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GC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38" name="Text 84"/>
          <p:cNvSpPr/>
          <p:nvPr/>
        </p:nvSpPr>
        <p:spPr>
          <a:xfrm>
            <a:off x="2024293" y="4562201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HPLC</a:t>
            </a:r>
            <a:endParaRPr lang="en-US" sz="113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39" name="Text 84"/>
          <p:cNvSpPr/>
          <p:nvPr/>
        </p:nvSpPr>
        <p:spPr>
          <a:xfrm>
            <a:off x="2409325" y="3550773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2715" b="1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...</a:t>
            </a:r>
            <a:endParaRPr lang="en-US" sz="2715" b="1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40" name="圆角矩形 239"/>
          <p:cNvSpPr/>
          <p:nvPr/>
        </p:nvSpPr>
        <p:spPr>
          <a:xfrm>
            <a:off x="3777770" y="3550773"/>
            <a:ext cx="2824528" cy="1297329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35"/>
          </a:p>
        </p:txBody>
      </p:sp>
      <p:sp>
        <p:nvSpPr>
          <p:cNvPr id="241" name="文本框 240"/>
          <p:cNvSpPr txBox="1"/>
          <p:nvPr/>
        </p:nvSpPr>
        <p:spPr>
          <a:xfrm>
            <a:off x="4075164" y="3550773"/>
            <a:ext cx="2295108" cy="3003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sz="1360" b="1" dirty="0">
                <a:solidFill>
                  <a:schemeClr val="accent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Shared Declarations</a:t>
            </a:r>
            <a:endParaRPr lang="en-US" sz="1360" b="1" dirty="0">
              <a:solidFill>
                <a:schemeClr val="accent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242" name="图片 241" descr="stat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64689" y="3802912"/>
            <a:ext cx="445373" cy="521518"/>
          </a:xfrm>
          <a:prstGeom prst="rect">
            <a:avLst/>
          </a:prstGeom>
        </p:spPr>
      </p:pic>
      <p:pic>
        <p:nvPicPr>
          <p:cNvPr id="244" name="图片 243" descr="parameter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33435" y="3802912"/>
            <a:ext cx="528701" cy="505714"/>
          </a:xfrm>
          <a:prstGeom prst="rect">
            <a:avLst/>
          </a:prstGeom>
        </p:spPr>
      </p:pic>
      <p:pic>
        <p:nvPicPr>
          <p:cNvPr id="245" name="图片 244" descr="interfac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25180" y="4308626"/>
            <a:ext cx="520081" cy="535884"/>
          </a:xfrm>
          <a:prstGeom prst="rect">
            <a:avLst/>
          </a:prstGeom>
        </p:spPr>
      </p:pic>
      <p:pic>
        <p:nvPicPr>
          <p:cNvPr id="246" name="图片 245" descr="constraints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39900" y="4263370"/>
            <a:ext cx="528701" cy="596944"/>
          </a:xfrm>
          <a:prstGeom prst="rect">
            <a:avLst/>
          </a:prstGeom>
        </p:spPr>
      </p:pic>
      <p:sp>
        <p:nvSpPr>
          <p:cNvPr id="247" name="Text 84"/>
          <p:cNvSpPr/>
          <p:nvPr/>
        </p:nvSpPr>
        <p:spPr>
          <a:xfrm>
            <a:off x="4282047" y="3971004"/>
            <a:ext cx="703259" cy="18605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State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49" name="Text 84"/>
          <p:cNvSpPr/>
          <p:nvPr/>
        </p:nvSpPr>
        <p:spPr>
          <a:xfrm>
            <a:off x="5534839" y="3940115"/>
            <a:ext cx="961144" cy="21694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Parameters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50" name="Text 84"/>
          <p:cNvSpPr/>
          <p:nvPr/>
        </p:nvSpPr>
        <p:spPr>
          <a:xfrm>
            <a:off x="4282047" y="4494677"/>
            <a:ext cx="811010" cy="20688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Interface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51" name="Text 84"/>
          <p:cNvSpPr/>
          <p:nvPr/>
        </p:nvSpPr>
        <p:spPr>
          <a:xfrm>
            <a:off x="5531247" y="4433618"/>
            <a:ext cx="1199634" cy="26794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Constraints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pic>
        <p:nvPicPr>
          <p:cNvPr id="252" name="图片 251" descr="components-topology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79578" y="1987657"/>
            <a:ext cx="645073" cy="661595"/>
          </a:xfrm>
          <a:prstGeom prst="rect">
            <a:avLst/>
          </a:prstGeom>
        </p:spPr>
      </p:pic>
      <p:pic>
        <p:nvPicPr>
          <p:cNvPr id="253" name="图片 252" descr="parameters-conditions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00410" y="2667210"/>
            <a:ext cx="711160" cy="638608"/>
          </a:xfrm>
          <a:prstGeom prst="rect">
            <a:avLst/>
          </a:prstGeom>
        </p:spPr>
      </p:pic>
      <p:pic>
        <p:nvPicPr>
          <p:cNvPr id="254" name="图片 253" descr="instruments-recip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879578" y="3368314"/>
            <a:ext cx="698230" cy="602690"/>
          </a:xfrm>
          <a:prstGeom prst="rect">
            <a:avLst/>
          </a:prstGeom>
        </p:spPr>
      </p:pic>
      <p:pic>
        <p:nvPicPr>
          <p:cNvPr id="255" name="图片 254" descr="public-task-interfac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900410" y="4003330"/>
            <a:ext cx="661595" cy="765754"/>
          </a:xfrm>
          <a:prstGeom prst="rect">
            <a:avLst/>
          </a:prstGeom>
        </p:spPr>
      </p:pic>
      <p:sp>
        <p:nvSpPr>
          <p:cNvPr id="256" name="Shape 55"/>
          <p:cNvSpPr/>
          <p:nvPr/>
        </p:nvSpPr>
        <p:spPr>
          <a:xfrm>
            <a:off x="11227713" y="3368314"/>
            <a:ext cx="279436" cy="1437"/>
          </a:xfrm>
          <a:prstGeom prst="line">
            <a:avLst/>
          </a:prstGeom>
          <a:noFill/>
          <a:ln w="11430">
            <a:solidFill>
              <a:srgbClr val="385724"/>
            </a:solidFill>
            <a:prstDash val="solid"/>
            <a:tailEnd type="triangle"/>
          </a:ln>
        </p:spPr>
      </p:sp>
      <p:sp>
        <p:nvSpPr>
          <p:cNvPr id="257" name="Text 84"/>
          <p:cNvSpPr/>
          <p:nvPr/>
        </p:nvSpPr>
        <p:spPr>
          <a:xfrm>
            <a:off x="7485860" y="2014236"/>
            <a:ext cx="1377065" cy="5911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Components &amp;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Topology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4" name="Text 84"/>
          <p:cNvSpPr/>
          <p:nvPr/>
        </p:nvSpPr>
        <p:spPr>
          <a:xfrm>
            <a:off x="7524651" y="2758440"/>
            <a:ext cx="1377065" cy="5911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Parameters &amp;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Conditions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5" name="Text 84"/>
          <p:cNvSpPr/>
          <p:nvPr/>
        </p:nvSpPr>
        <p:spPr>
          <a:xfrm>
            <a:off x="7524651" y="3429373"/>
            <a:ext cx="1377065" cy="5911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Instruments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7" name="Text 84"/>
          <p:cNvSpPr/>
          <p:nvPr/>
        </p:nvSpPr>
        <p:spPr>
          <a:xfrm>
            <a:off x="7524651" y="4127603"/>
            <a:ext cx="1377065" cy="59119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Public Task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  <a:p>
            <a:pPr marL="0" indent="0" algn="ctr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Interface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15" name="右大括号 14"/>
          <p:cNvSpPr/>
          <p:nvPr/>
        </p:nvSpPr>
        <p:spPr>
          <a:xfrm>
            <a:off x="8829881" y="2110494"/>
            <a:ext cx="392216" cy="2608306"/>
          </a:xfrm>
          <a:prstGeom prst="rightBrace">
            <a:avLst/>
          </a:prstGeom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 sz="2035"/>
          </a:p>
        </p:txBody>
      </p:sp>
      <p:sp>
        <p:nvSpPr>
          <p:cNvPr id="17" name="圆角矩形 16"/>
          <p:cNvSpPr/>
          <p:nvPr/>
        </p:nvSpPr>
        <p:spPr>
          <a:xfrm>
            <a:off x="9327694" y="2086789"/>
            <a:ext cx="1886371" cy="2069548"/>
          </a:xfrm>
          <a:prstGeom prst="round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35"/>
          </a:p>
        </p:txBody>
      </p:sp>
      <p:sp>
        <p:nvSpPr>
          <p:cNvPr id="18" name="Shape 55"/>
          <p:cNvSpPr/>
          <p:nvPr/>
        </p:nvSpPr>
        <p:spPr>
          <a:xfrm>
            <a:off x="9048258" y="3412133"/>
            <a:ext cx="279436" cy="718"/>
          </a:xfrm>
          <a:prstGeom prst="line">
            <a:avLst/>
          </a:prstGeom>
          <a:noFill/>
          <a:ln w="11430">
            <a:solidFill>
              <a:srgbClr val="385724"/>
            </a:solidFill>
            <a:prstDash val="solid"/>
            <a:tailEnd type="triangle"/>
          </a:ln>
        </p:spPr>
      </p:sp>
      <p:sp>
        <p:nvSpPr>
          <p:cNvPr id="19" name="文本框 18"/>
          <p:cNvSpPr txBox="1"/>
          <p:nvPr/>
        </p:nvSpPr>
        <p:spPr>
          <a:xfrm>
            <a:off x="9349244" y="2146411"/>
            <a:ext cx="1766407" cy="321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sz="1245" b="1" dirty="0">
                <a:solidFill>
                  <a:schemeClr val="accent6">
                    <a:lumMod val="75000"/>
                  </a:schemeClr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  <a:sym typeface="+mn-ea"/>
              </a:rPr>
              <a:t>Compile &amp; Validate</a:t>
            </a:r>
            <a:endParaRPr lang="en-US" sz="1245" b="1" dirty="0">
              <a:solidFill>
                <a:schemeClr val="accent6">
                  <a:lumMod val="75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  <a:sym typeface="+mn-ea"/>
            </a:endParaRPr>
          </a:p>
        </p:txBody>
      </p:sp>
      <p:pic>
        <p:nvPicPr>
          <p:cNvPr id="20" name="图片 19" descr="compatibility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327694" y="2467511"/>
            <a:ext cx="499249" cy="516489"/>
          </a:xfrm>
          <a:prstGeom prst="rect">
            <a:avLst/>
          </a:prstGeom>
        </p:spPr>
      </p:pic>
      <p:pic>
        <p:nvPicPr>
          <p:cNvPr id="21" name="图片 20" descr="feasibility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27694" y="2950238"/>
            <a:ext cx="1900738" cy="466205"/>
          </a:xfrm>
          <a:prstGeom prst="rect">
            <a:avLst/>
          </a:prstGeom>
        </p:spPr>
      </p:pic>
      <p:pic>
        <p:nvPicPr>
          <p:cNvPr id="22" name="图片 21" descr="lifecycl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354272" y="3494024"/>
            <a:ext cx="509306" cy="509306"/>
          </a:xfrm>
          <a:prstGeom prst="rect">
            <a:avLst/>
          </a:prstGeom>
        </p:spPr>
      </p:pic>
      <p:sp>
        <p:nvSpPr>
          <p:cNvPr id="23" name="Text 84"/>
          <p:cNvSpPr/>
          <p:nvPr/>
        </p:nvSpPr>
        <p:spPr>
          <a:xfrm>
            <a:off x="9681837" y="2605433"/>
            <a:ext cx="1287990" cy="2212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Compatibility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5" name="Text 84"/>
          <p:cNvSpPr/>
          <p:nvPr/>
        </p:nvSpPr>
        <p:spPr>
          <a:xfrm>
            <a:off x="9857831" y="3101090"/>
            <a:ext cx="879253" cy="2377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Feasibility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6" name="Text 84"/>
          <p:cNvSpPr/>
          <p:nvPr/>
        </p:nvSpPr>
        <p:spPr>
          <a:xfrm>
            <a:off x="9857831" y="3624763"/>
            <a:ext cx="879253" cy="23777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chemeClr val="tx1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Life Cycle</a:t>
            </a:r>
            <a:endParaRPr lang="en-US" sz="1360" dirty="0">
              <a:solidFill>
                <a:schemeClr val="tx1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28" name="Shape 120"/>
          <p:cNvSpPr/>
          <p:nvPr/>
        </p:nvSpPr>
        <p:spPr>
          <a:xfrm>
            <a:off x="10232088" y="4157055"/>
            <a:ext cx="718" cy="216940"/>
          </a:xfrm>
          <a:prstGeom prst="line">
            <a:avLst/>
          </a:prstGeom>
          <a:noFill/>
          <a:ln w="11430">
            <a:solidFill>
              <a:srgbClr val="D52525"/>
            </a:solidFill>
            <a:prstDash val="solid"/>
            <a:tailEnd type="triangle"/>
          </a:ln>
        </p:spPr>
      </p:sp>
      <p:sp>
        <p:nvSpPr>
          <p:cNvPr id="29" name="Text 84"/>
          <p:cNvSpPr/>
          <p:nvPr/>
        </p:nvSpPr>
        <p:spPr>
          <a:xfrm>
            <a:off x="9602101" y="4480310"/>
            <a:ext cx="1287990" cy="2212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360" dirty="0">
                <a:solidFill>
                  <a:srgbClr val="C00000"/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Compilation Rejected</a:t>
            </a:r>
            <a:endParaRPr lang="en-US" sz="1360" dirty="0">
              <a:solidFill>
                <a:srgbClr val="C00000"/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pic>
        <p:nvPicPr>
          <p:cNvPr id="30" name="图片 29" descr="compilation-rejected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0716252" y="4335205"/>
            <a:ext cx="417358" cy="412329"/>
          </a:xfrm>
          <a:prstGeom prst="rect">
            <a:avLst/>
          </a:prstGeom>
        </p:spPr>
      </p:pic>
      <p:sp>
        <p:nvSpPr>
          <p:cNvPr id="31" name="矩形 30"/>
          <p:cNvSpPr/>
          <p:nvPr/>
        </p:nvSpPr>
        <p:spPr>
          <a:xfrm>
            <a:off x="11554559" y="2086789"/>
            <a:ext cx="2019983" cy="2652843"/>
          </a:xfrm>
          <a:prstGeom prst="rect">
            <a:avLst/>
          </a:prstGeom>
          <a:noFill/>
          <a:ln>
            <a:solidFill>
              <a:schemeClr val="accent6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035"/>
          </a:p>
        </p:txBody>
      </p:sp>
      <p:sp>
        <p:nvSpPr>
          <p:cNvPr id="61" name="Text 59"/>
          <p:cNvSpPr/>
          <p:nvPr/>
        </p:nvSpPr>
        <p:spPr>
          <a:xfrm>
            <a:off x="11636450" y="2093972"/>
            <a:ext cx="1862665" cy="341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45" b="1" dirty="0">
                <a:solidFill>
                  <a:schemeClr val="accent6">
                    <a:lumMod val="75000"/>
                  </a:schemeClr>
                </a:solidFill>
                <a:latin typeface="Arial" panose="020B0604020202090204" pitchFamily="34" charset="0"/>
                <a:ea typeface="微软雅黑" charset="-122"/>
                <a:cs typeface="Arial" panose="020B0604020202090204" pitchFamily="34" charset="0"/>
              </a:rPr>
              <a:t>Compiled World</a:t>
            </a:r>
            <a:endParaRPr lang="en-US" sz="1245" b="1" dirty="0">
              <a:solidFill>
                <a:schemeClr val="accent6">
                  <a:lumMod val="75000"/>
                </a:schemeClr>
              </a:solidFill>
              <a:latin typeface="Arial" panose="020B0604020202090204" pitchFamily="34" charset="0"/>
              <a:ea typeface="微软雅黑" charset="-122"/>
              <a:cs typeface="Arial" panose="020B060402020209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5625988" y="3147782"/>
            <a:ext cx="0" cy="1944700"/>
          </a:xfrm>
          <a:prstGeom prst="line">
            <a:avLst/>
          </a:prstGeom>
          <a:noFill/>
          <a:ln w="8890">
            <a:solidFill>
              <a:srgbClr val="B8C5B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898502" y="2418807"/>
            <a:ext cx="1375772" cy="268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111827"/>
                </a:solidFill>
                <a:ea typeface="微软雅黑" charset="-122"/>
                <a:cs typeface="+mn-lt"/>
              </a:rPr>
              <a:t>Public Contract (W</a:t>
            </a:r>
            <a:r>
              <a:rPr lang="en-US" sz="960" baseline="-25000" dirty="0">
                <a:solidFill>
                  <a:srgbClr val="111827"/>
                </a:solidFill>
                <a:ea typeface="微软雅黑" charset="-122"/>
                <a:cs typeface="+mn-lt"/>
              </a:rPr>
              <a:t>pub</a:t>
            </a:r>
            <a:r>
              <a:rPr lang="en-US" sz="960" dirty="0">
                <a:solidFill>
                  <a:srgbClr val="111827"/>
                </a:solidFill>
                <a:ea typeface="微软雅黑" charset="-122"/>
                <a:cs typeface="+mn-lt"/>
              </a:rPr>
              <a:t>)</a:t>
            </a:r>
            <a:endParaRPr lang="en-US" sz="960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1867901" y="3499196"/>
            <a:ext cx="1406804" cy="26894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Private Mechanisms</a:t>
            </a:r>
            <a:endParaRPr lang="en-US" sz="960" b="1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grpSp>
        <p:nvGrpSpPr>
          <p:cNvPr id="33" name="组合 32"/>
          <p:cNvGrpSpPr/>
          <p:nvPr/>
        </p:nvGrpSpPr>
        <p:grpSpPr>
          <a:xfrm>
            <a:off x="11732708" y="2688761"/>
            <a:ext cx="2059492" cy="682427"/>
            <a:chOff x="16423" y="1961"/>
            <a:chExt cx="2867" cy="950"/>
          </a:xfrm>
        </p:grpSpPr>
        <p:sp>
          <p:nvSpPr>
            <p:cNvPr id="65" name="Text 63"/>
            <p:cNvSpPr/>
            <p:nvPr/>
          </p:nvSpPr>
          <p:spPr>
            <a:xfrm>
              <a:off x="16423" y="1971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0" indent="0" algn="l">
                <a:buNone/>
              </a:pPr>
              <a:r>
                <a:rPr lang="en-US" sz="905" dirty="0">
                  <a:solidFill>
                    <a:srgbClr val="111827"/>
                  </a:solidFill>
                  <a:latin typeface="微软雅黑" charset="-122"/>
                  <a:ea typeface="微软雅黑" charset="-122"/>
                  <a:cs typeface="Arial" panose="020B0604020202090204" pitchFamily="34" charset="-120"/>
                </a:rPr>
                <a:t>• Task card </a:t>
              </a:r>
              <a:endPara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endParaRPr>
            </a:p>
          </p:txBody>
        </p:sp>
        <p:sp>
          <p:nvSpPr>
            <p:cNvPr id="66" name="Text 64"/>
            <p:cNvSpPr/>
            <p:nvPr/>
          </p:nvSpPr>
          <p:spPr>
            <a:xfrm>
              <a:off x="16423" y="2309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05" dirty="0">
                  <a:solidFill>
                    <a:srgbClr val="111827"/>
                  </a:solidFill>
                  <a:latin typeface="微软雅黑" charset="-122"/>
                  <a:ea typeface="微软雅黑" charset="-122"/>
                  <a:cs typeface="Arial" panose="020B0604020202090204" pitchFamily="34" charset="-120"/>
                </a:rPr>
                <a:t>• Operations </a:t>
              </a:r>
              <a:endPara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endParaRPr>
            </a:p>
          </p:txBody>
        </p:sp>
        <p:sp>
          <p:nvSpPr>
            <p:cNvPr id="67" name="Text 65"/>
            <p:cNvSpPr/>
            <p:nvPr/>
          </p:nvSpPr>
          <p:spPr>
            <a:xfrm>
              <a:off x="16423" y="2648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05" dirty="0">
                  <a:solidFill>
                    <a:srgbClr val="111827"/>
                  </a:solidFill>
                  <a:latin typeface="微软雅黑" charset="-122"/>
                  <a:ea typeface="微软雅黑" charset="-122"/>
                  <a:cs typeface="Arial" panose="020B0604020202090204" pitchFamily="34" charset="-120"/>
                </a:rPr>
                <a:t>• Instruments</a:t>
              </a:r>
              <a:endPara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endParaRPr>
            </a:p>
          </p:txBody>
        </p:sp>
        <p:sp>
          <p:nvSpPr>
            <p:cNvPr id="68" name="Text 66"/>
            <p:cNvSpPr/>
            <p:nvPr/>
          </p:nvSpPr>
          <p:spPr>
            <a:xfrm>
              <a:off x="17534" y="1961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05" dirty="0">
                  <a:solidFill>
                    <a:srgbClr val="111827"/>
                  </a:solidFill>
                  <a:latin typeface="微软雅黑" charset="-122"/>
                  <a:ea typeface="微软雅黑" charset="-122"/>
                  <a:cs typeface="Arial" panose="020B0604020202090204" pitchFamily="34" charset="-120"/>
                </a:rPr>
                <a:t>• Observables</a:t>
              </a:r>
              <a:endPara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endParaRPr>
            </a:p>
          </p:txBody>
        </p:sp>
        <p:sp>
          <p:nvSpPr>
            <p:cNvPr id="69" name="Text 67"/>
            <p:cNvSpPr/>
            <p:nvPr/>
          </p:nvSpPr>
          <p:spPr>
            <a:xfrm>
              <a:off x="17534" y="2300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05" dirty="0">
                  <a:solidFill>
                    <a:srgbClr val="111827"/>
                  </a:solidFill>
                  <a:latin typeface="微软雅黑" charset="-122"/>
                  <a:ea typeface="微软雅黑" charset="-122"/>
                  <a:cs typeface="Arial" panose="020B0604020202090204" pitchFamily="34" charset="-120"/>
                </a:rPr>
                <a:t>• Resources</a:t>
              </a:r>
              <a:endPara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endParaRPr>
            </a:p>
          </p:txBody>
        </p:sp>
        <p:sp>
          <p:nvSpPr>
            <p:cNvPr id="71" name="Text 69"/>
            <p:cNvSpPr/>
            <p:nvPr/>
          </p:nvSpPr>
          <p:spPr>
            <a:xfrm>
              <a:off x="17525" y="2667"/>
              <a:ext cx="1757" cy="24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l">
                <a:buNone/>
              </a:pPr>
              <a:r>
                <a:rPr lang="en-US" sz="905" dirty="0">
                  <a:solidFill>
                    <a:srgbClr val="111827"/>
                  </a:solidFill>
                  <a:latin typeface="微软雅黑" charset="-122"/>
                  <a:ea typeface="微软雅黑" charset="-122"/>
                  <a:cs typeface="Arial" panose="020B0604020202090204" pitchFamily="34" charset="-120"/>
                </a:rPr>
                <a:t>• Failure rules</a:t>
              </a:r>
              <a:endPara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endParaRPr>
            </a:p>
          </p:txBody>
        </p:sp>
      </p:grpSp>
      <p:sp>
        <p:nvSpPr>
          <p:cNvPr id="72" name="Text 70"/>
          <p:cNvSpPr/>
          <p:nvPr/>
        </p:nvSpPr>
        <p:spPr>
          <a:xfrm>
            <a:off x="11595217" y="3802912"/>
            <a:ext cx="1251642" cy="1758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• Constitutive laws</a:t>
            </a:r>
            <a:endParaRPr lang="en-US" sz="905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1595217" y="4102892"/>
            <a:ext cx="1251642" cy="175851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• Material identities</a:t>
            </a:r>
            <a:endParaRPr lang="en-US" sz="905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11595217" y="4402873"/>
            <a:ext cx="1251642" cy="17585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• Hidden simulator</a:t>
            </a:r>
            <a:endParaRPr lang="en-US" sz="905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75" name="Text 73"/>
          <p:cNvSpPr/>
          <p:nvPr/>
        </p:nvSpPr>
        <p:spPr>
          <a:xfrm>
            <a:off x="12777899" y="3794292"/>
            <a:ext cx="759289" cy="30888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• Private</a:t>
            </a:r>
            <a:endParaRPr lang="en-US" sz="905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  <a:p>
            <a:pPr marL="0" indent="0" algn="l">
              <a:buNone/>
            </a:pPr>
            <a:r>
              <a: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   parameters</a:t>
            </a:r>
            <a:endParaRPr lang="en-US" sz="905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12772152" y="4205903"/>
            <a:ext cx="662313" cy="37282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• Internal </a:t>
            </a:r>
            <a:endParaRPr lang="en-US" sz="905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  <a:p>
            <a:pPr marL="0" indent="0" algn="l">
              <a:buNone/>
            </a:pPr>
            <a:r>
              <a:rPr lang="en-US" sz="905" dirty="0">
                <a:solidFill>
                  <a:srgbClr val="111827"/>
                </a:solidFill>
                <a:latin typeface="微软雅黑" charset="-122"/>
                <a:ea typeface="微软雅黑" charset="-122"/>
                <a:cs typeface="Arial" panose="020B0604020202090204" pitchFamily="34" charset="-120"/>
              </a:rPr>
              <a:t>   events</a:t>
            </a:r>
            <a:endParaRPr lang="en-US" sz="905" dirty="0">
              <a:solidFill>
                <a:srgbClr val="111827"/>
              </a:solidFill>
              <a:latin typeface="微软雅黑" charset="-122"/>
              <a:ea typeface="微软雅黑" charset="-122"/>
              <a:cs typeface="Arial" panose="020B0604020202090204" pitchFamily="34" charset="-120"/>
            </a:endParaRPr>
          </a:p>
        </p:txBody>
      </p:sp>
      <p:cxnSp>
        <p:nvCxnSpPr>
          <p:cNvPr id="32" name="直接连接符 31"/>
          <p:cNvCxnSpPr/>
          <p:nvPr/>
        </p:nvCxnSpPr>
        <p:spPr>
          <a:xfrm>
            <a:off x="11595505" y="3453797"/>
            <a:ext cx="1972572" cy="0"/>
          </a:xfrm>
          <a:prstGeom prst="line">
            <a:avLst/>
          </a:prstGeom>
          <a:ln w="12700" cap="flat" cmpd="sng">
            <a:solidFill>
              <a:schemeClr val="bg1">
                <a:lumMod val="65000"/>
              </a:schemeClr>
            </a:solidFill>
            <a:prstDash val="dash"/>
            <a:miter lim="800000"/>
            <a:headEnd type="non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Text 166"/>
          <p:cNvSpPr/>
          <p:nvPr/>
        </p:nvSpPr>
        <p:spPr>
          <a:xfrm>
            <a:off x="7180564" y="8417552"/>
            <a:ext cx="2699536" cy="3519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Rewards, observations, terminations, metadata,</a:t>
            </a:r>
            <a:endParaRPr lang="en-US" sz="905" dirty="0">
              <a:ea typeface="微软雅黑" charset="-122"/>
              <a:cs typeface="+mn-lt"/>
            </a:endParaRPr>
          </a:p>
          <a:p>
            <a:pPr marL="0" indent="0" algn="ctr">
              <a:buNone/>
            </a:pPr>
            <a:r>
              <a:rPr lang="en-US" sz="905" dirty="0">
                <a:solidFill>
                  <a:srgbClr val="111827"/>
                </a:solidFill>
                <a:ea typeface="微软雅黑" charset="-122"/>
                <a:cs typeface="+mn-lt"/>
              </a:rPr>
              <a:t>resource ledgers, events, state hashes</a:t>
            </a:r>
            <a:endParaRPr lang="en-US" sz="905" dirty="0">
              <a:solidFill>
                <a:srgbClr val="111827"/>
              </a:solidFill>
              <a:ea typeface="微软雅黑" charset="-122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32410" y="0"/>
            <a:ext cx="13792200" cy="10344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" name="矩形 109"/>
          <p:cNvSpPr>
            <a:spLocks noGrp="1"/>
          </p:cNvSpPr>
          <p:nvPr/>
        </p:nvSpPr>
        <p:spPr>
          <a:xfrm>
            <a:off x="735965" y="1416050"/>
            <a:ext cx="10379710" cy="2469515"/>
          </a:xfrm>
          <a:prstGeom prst="rect">
            <a:avLst/>
          </a:prstGeom>
          <a:solidFill>
            <a:srgbClr val="F8FCFF"/>
          </a:solidFill>
          <a:ln w="11430">
            <a:noFill/>
            <a:prstDash val="solid"/>
          </a:ln>
        </p:spPr>
      </p:sp>
      <p:sp>
        <p:nvSpPr>
          <p:cNvPr id="28" name="Outer border"/>
          <p:cNvSpPr>
            <a:spLocks noGrp="1"/>
          </p:cNvSpPr>
          <p:nvPr/>
        </p:nvSpPr>
        <p:spPr>
          <a:xfrm>
            <a:off x="476250" y="647700"/>
            <a:ext cx="15240000" cy="4038600"/>
          </a:xfrm>
          <a:prstGeom prst="rect">
            <a:avLst/>
          </a:prstGeom>
          <a:noFill/>
          <a:ln w="23813">
            <a:solidFill>
              <a:srgbClr val="245D83"/>
            </a:solidFill>
            <a:prstDash val="solid"/>
          </a:ln>
        </p:spPr>
      </p:sp>
      <p:sp>
        <p:nvSpPr>
          <p:cNvPr id="2" name="Title"/>
          <p:cNvSpPr>
            <a:spLocks noGrp="1"/>
          </p:cNvSpPr>
          <p:nvPr/>
        </p:nvSpPr>
        <p:spPr>
          <a:xfrm>
            <a:off x="714375" y="781050"/>
            <a:ext cx="409575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l">
              <a:defRPr sz="4050" b="1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4050" b="1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Traceability</a:t>
            </a:r>
            <a:endParaRPr sz="4050" b="1">
              <a:solidFill>
                <a:srgbClr val="0916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971550" y="1657350"/>
            <a:ext cx="1447800" cy="1447800"/>
            <a:chOff x="1530" y="2610"/>
            <a:chExt cx="2280" cy="2280"/>
          </a:xfrm>
        </p:grpSpPr>
        <p:sp>
          <p:nvSpPr>
            <p:cNvPr id="3" name="Plan circle"/>
            <p:cNvSpPr>
              <a:spLocks noGrp="1"/>
            </p:cNvSpPr>
            <p:nvPr/>
          </p:nvSpPr>
          <p:spPr>
            <a:xfrm>
              <a:off x="1530" y="2610"/>
              <a:ext cx="2280" cy="228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A3276"/>
              </a:solidFill>
              <a:prstDash val="solid"/>
            </a:ln>
          </p:spPr>
        </p:sp>
        <p:pic>
          <p:nvPicPr>
            <p:cNvPr id="31" name="图片 3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620" y="2700"/>
              <a:ext cx="2100" cy="2100"/>
            </a:xfrm>
            <a:prstGeom prst="rect">
              <a:avLst/>
            </a:prstGeom>
          </p:spPr>
        </p:pic>
      </p:grpSp>
      <p:sp>
        <p:nvSpPr>
          <p:cNvPr id="5" name="Plan label"/>
          <p:cNvSpPr>
            <a:spLocks noGrp="1"/>
          </p:cNvSpPr>
          <p:nvPr/>
        </p:nvSpPr>
        <p:spPr>
          <a:xfrm>
            <a:off x="876300" y="3190875"/>
            <a:ext cx="16383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75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Plan</a:t>
            </a:r>
            <a:endParaRPr sz="2175" b="0">
              <a:solidFill>
                <a:srgbClr val="0916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009900" y="1644650"/>
            <a:ext cx="1447800" cy="1447800"/>
            <a:chOff x="4890" y="2610"/>
            <a:chExt cx="2280" cy="2280"/>
          </a:xfrm>
        </p:grpSpPr>
        <p:sp>
          <p:nvSpPr>
            <p:cNvPr id="6" name="Act circle"/>
            <p:cNvSpPr>
              <a:spLocks noGrp="1"/>
            </p:cNvSpPr>
            <p:nvPr/>
          </p:nvSpPr>
          <p:spPr>
            <a:xfrm>
              <a:off x="4890" y="2610"/>
              <a:ext cx="2280" cy="228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0A3276"/>
              </a:solidFill>
              <a:prstDash val="solid"/>
            </a:ln>
          </p:spPr>
        </p:sp>
        <p:pic>
          <p:nvPicPr>
            <p:cNvPr id="34" name="图片 3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80" y="2700"/>
              <a:ext cx="2100" cy="2100"/>
            </a:xfrm>
            <a:prstGeom prst="rect">
              <a:avLst/>
            </a:prstGeom>
          </p:spPr>
        </p:pic>
      </p:grpSp>
      <p:sp>
        <p:nvSpPr>
          <p:cNvPr id="8" name="Act label"/>
          <p:cNvSpPr>
            <a:spLocks noGrp="1"/>
          </p:cNvSpPr>
          <p:nvPr/>
        </p:nvSpPr>
        <p:spPr>
          <a:xfrm>
            <a:off x="3009900" y="3190875"/>
            <a:ext cx="16383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75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Act</a:t>
            </a:r>
            <a:endParaRPr sz="2175" b="0">
              <a:solidFill>
                <a:srgbClr val="0916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9" name="Observe circle"/>
          <p:cNvSpPr>
            <a:spLocks noGrp="1"/>
          </p:cNvSpPr>
          <p:nvPr/>
        </p:nvSpPr>
        <p:spPr>
          <a:xfrm>
            <a:off x="5238750" y="1657350"/>
            <a:ext cx="1447800" cy="1447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3276"/>
            </a:solidFill>
            <a:prstDash val="solid"/>
          </a:ln>
        </p:spPr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5900" y="1714500"/>
            <a:ext cx="1333500" cy="1333500"/>
          </a:xfrm>
          <a:prstGeom prst="rect">
            <a:avLst/>
          </a:prstGeom>
        </p:spPr>
      </p:pic>
      <p:sp>
        <p:nvSpPr>
          <p:cNvPr id="11" name="Observe label"/>
          <p:cNvSpPr>
            <a:spLocks noGrp="1"/>
          </p:cNvSpPr>
          <p:nvPr/>
        </p:nvSpPr>
        <p:spPr>
          <a:xfrm>
            <a:off x="5143500" y="3190875"/>
            <a:ext cx="16383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75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Observe</a:t>
            </a:r>
            <a:endParaRPr sz="2175" b="0">
              <a:solidFill>
                <a:srgbClr val="0916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2" name="Update circle"/>
          <p:cNvSpPr>
            <a:spLocks noGrp="1"/>
          </p:cNvSpPr>
          <p:nvPr/>
        </p:nvSpPr>
        <p:spPr>
          <a:xfrm>
            <a:off x="7372350" y="1657350"/>
            <a:ext cx="1447800" cy="1447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3276"/>
            </a:solidFill>
            <a:prstDash val="solid"/>
          </a:ln>
        </p:spPr>
      </p:sp>
      <p:pic>
        <p:nvPicPr>
          <p:cNvPr id="40" name="图片 3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0" y="1714500"/>
            <a:ext cx="1333500" cy="1333500"/>
          </a:xfrm>
          <a:prstGeom prst="rect">
            <a:avLst/>
          </a:prstGeom>
        </p:spPr>
      </p:pic>
      <p:sp>
        <p:nvSpPr>
          <p:cNvPr id="14" name="Update label"/>
          <p:cNvSpPr>
            <a:spLocks noGrp="1"/>
          </p:cNvSpPr>
          <p:nvPr/>
        </p:nvSpPr>
        <p:spPr>
          <a:xfrm>
            <a:off x="7277100" y="3190875"/>
            <a:ext cx="16383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75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Update</a:t>
            </a:r>
            <a:endParaRPr sz="2175" b="0">
              <a:solidFill>
                <a:srgbClr val="0916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15" name="Record circle"/>
          <p:cNvSpPr>
            <a:spLocks noGrp="1"/>
          </p:cNvSpPr>
          <p:nvPr/>
        </p:nvSpPr>
        <p:spPr>
          <a:xfrm>
            <a:off x="9505950" y="1657350"/>
            <a:ext cx="1447800" cy="1447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A3276"/>
            </a:solidFill>
            <a:prstDash val="solid"/>
          </a:ln>
        </p:spPr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63100" y="1714500"/>
            <a:ext cx="1333500" cy="1333500"/>
          </a:xfrm>
          <a:prstGeom prst="rect">
            <a:avLst/>
          </a:prstGeom>
        </p:spPr>
      </p:pic>
      <p:sp>
        <p:nvSpPr>
          <p:cNvPr id="17" name="Record label"/>
          <p:cNvSpPr>
            <a:spLocks noGrp="1"/>
          </p:cNvSpPr>
          <p:nvPr/>
        </p:nvSpPr>
        <p:spPr>
          <a:xfrm>
            <a:off x="9410700" y="3190875"/>
            <a:ext cx="16383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75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75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Record</a:t>
            </a:r>
            <a:endParaRPr sz="2175" b="0">
              <a:solidFill>
                <a:srgbClr val="0916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  <p:sp>
        <p:nvSpPr>
          <p:cNvPr id="22" name="Process arrow"/>
          <p:cNvSpPr>
            <a:spLocks noGrp="1"/>
          </p:cNvSpPr>
          <p:nvPr/>
        </p:nvSpPr>
        <p:spPr>
          <a:xfrm>
            <a:off x="10568305" y="5387975"/>
            <a:ext cx="438150" cy="266700"/>
          </a:xfrm>
          <a:prstGeom prst="rightArrow">
            <a:avLst/>
          </a:prstGeom>
          <a:solidFill>
            <a:srgbClr val="1E9FF2"/>
          </a:solidFill>
          <a:ln w="0">
            <a:noFill/>
          </a:ln>
        </p:spPr>
      </p:sp>
      <p:sp>
        <p:nvSpPr>
          <p:cNvPr id="23" name="Replay and audit panel"/>
          <p:cNvSpPr>
            <a:spLocks noGrp="1"/>
          </p:cNvSpPr>
          <p:nvPr/>
        </p:nvSpPr>
        <p:spPr>
          <a:xfrm>
            <a:off x="11525250" y="1352550"/>
            <a:ext cx="3905250" cy="2171700"/>
          </a:xfrm>
          <a:prstGeom prst="roundRect">
            <a:avLst>
              <a:gd name="adj" fmla="val 3509"/>
            </a:avLst>
          </a:prstGeom>
          <a:solidFill>
            <a:srgbClr val="EAF7FF"/>
          </a:solidFill>
          <a:ln w="0">
            <a:noFill/>
          </a:ln>
        </p:spPr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34800" y="1733550"/>
            <a:ext cx="1219200" cy="1219200"/>
          </a:xfrm>
          <a:prstGeom prst="rect">
            <a:avLst/>
          </a:prstGeom>
        </p:spPr>
      </p:pic>
      <p:sp>
        <p:nvSpPr>
          <p:cNvPr id="25" name="Replay transition arrow"/>
          <p:cNvSpPr>
            <a:spLocks noGrp="1"/>
          </p:cNvSpPr>
          <p:nvPr/>
        </p:nvSpPr>
        <p:spPr>
          <a:xfrm>
            <a:off x="13068300" y="2228850"/>
            <a:ext cx="495300" cy="266700"/>
          </a:xfrm>
          <a:prstGeom prst="rightArrow">
            <a:avLst/>
          </a:prstGeom>
          <a:solidFill>
            <a:srgbClr val="1E9FF2"/>
          </a:solidFill>
          <a:ln w="0">
            <a:noFill/>
          </a:ln>
        </p:spPr>
      </p:sp>
      <p:pic>
        <p:nvPicPr>
          <p:cNvPr id="53" name="图片 5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68375" y="1581150"/>
            <a:ext cx="1543050" cy="1543050"/>
          </a:xfrm>
          <a:prstGeom prst="rect">
            <a:avLst/>
          </a:prstGeom>
        </p:spPr>
      </p:pic>
      <p:sp>
        <p:nvSpPr>
          <p:cNvPr id="27" name="Summary"/>
          <p:cNvSpPr>
            <a:spLocks noGrp="1"/>
          </p:cNvSpPr>
          <p:nvPr/>
        </p:nvSpPr>
        <p:spPr>
          <a:xfrm>
            <a:off x="3095625" y="3981450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rmAutofit/>
          </a:bodyPr>
          <a:lstStyle/>
          <a:p>
            <a:pPr algn="ctr">
              <a:defRPr sz="2100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defRPr>
            </a:pPr>
            <a:r>
              <a:rPr sz="2100" b="0">
                <a:solidFill>
                  <a:srgbClr val="09162E"/>
                </a:solidFill>
                <a:latin typeface="Arial" panose="020B0604020202090204"/>
                <a:ea typeface="Arial" panose="020B0604020202090204"/>
                <a:cs typeface="Arial" panose="020B0604020202090204"/>
              </a:rPr>
              <a:t>Actions, observations and state transitions are recorded for replay and audit</a:t>
            </a:r>
            <a:endParaRPr sz="2100" b="0">
              <a:solidFill>
                <a:srgbClr val="09162E"/>
              </a:solidFill>
              <a:latin typeface="Arial" panose="020B0604020202090204"/>
              <a:ea typeface="Arial" panose="020B0604020202090204"/>
              <a:cs typeface="Arial" panose="020B060402020209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4032</Words>
  <Application>WPS 文字</Application>
  <PresentationFormat>Converted Presentation</PresentationFormat>
  <Paragraphs>451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8" baseType="lpstr">
      <vt:lpstr>Arial</vt:lpstr>
      <vt:lpstr>宋体</vt:lpstr>
      <vt:lpstr>Wingdings</vt:lpstr>
      <vt:lpstr>Arial</vt:lpstr>
      <vt:lpstr>汉仪书宋二KW</vt:lpstr>
      <vt:lpstr>微软雅黑</vt:lpstr>
      <vt:lpstr>方正雅意黑 GB18030L2</vt:lpstr>
      <vt:lpstr>Calibri</vt:lpstr>
      <vt:lpstr>Helvetica Neue</vt:lpstr>
      <vt:lpstr>宋体</vt:lpstr>
      <vt:lpstr>Arial Unicode MS</vt:lpstr>
      <vt:lpstr>Arial</vt:lpstr>
      <vt:lpstr>微软雅黑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李奕均(2026311072)</cp:lastModifiedBy>
  <cp:revision>5</cp:revision>
  <dcterms:created xsi:type="dcterms:W3CDTF">2026-09-23T05:56:33Z</dcterms:created>
  <dcterms:modified xsi:type="dcterms:W3CDTF">2026-09-23T05:56:33Z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BD1A6436506217AC4058B36A2B4344C3_42</vt:lpwstr>
  </property>
</Properties>
</file>